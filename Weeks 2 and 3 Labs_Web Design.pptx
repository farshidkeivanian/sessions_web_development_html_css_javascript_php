
<file path=[Content_Types].xml><?xml version="1.0" encoding="utf-8"?>
<Types xmlns="http://schemas.openxmlformats.org/package/2006/content-types">
  <Default Extension="jpeg" ContentType="image/jpeg"/>
  <Default Extension="jpg" ContentType="image/jp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 id="2147483660" r:id="rId2"/>
  </p:sldMasterIdLst>
  <p:notesMasterIdLst>
    <p:notesMasterId r:id="rId124"/>
  </p:notesMasterIdLst>
  <p:sldIdLst>
    <p:sldId id="287" r:id="rId3"/>
    <p:sldId id="323" r:id="rId4"/>
    <p:sldId id="353" r:id="rId5"/>
    <p:sldId id="356" r:id="rId6"/>
    <p:sldId id="354" r:id="rId7"/>
    <p:sldId id="355" r:id="rId8"/>
    <p:sldId id="357" r:id="rId9"/>
    <p:sldId id="358" r:id="rId10"/>
    <p:sldId id="1851" r:id="rId11"/>
    <p:sldId id="1852" r:id="rId12"/>
    <p:sldId id="1853" r:id="rId13"/>
    <p:sldId id="1854" r:id="rId14"/>
    <p:sldId id="1855" r:id="rId15"/>
    <p:sldId id="1856" r:id="rId16"/>
    <p:sldId id="1857" r:id="rId17"/>
    <p:sldId id="1858" r:id="rId18"/>
    <p:sldId id="1859" r:id="rId19"/>
    <p:sldId id="1860" r:id="rId20"/>
    <p:sldId id="1861" r:id="rId21"/>
    <p:sldId id="1862" r:id="rId22"/>
    <p:sldId id="1863" r:id="rId23"/>
    <p:sldId id="1864" r:id="rId24"/>
    <p:sldId id="1865" r:id="rId25"/>
    <p:sldId id="1866" r:id="rId26"/>
    <p:sldId id="1867" r:id="rId27"/>
    <p:sldId id="1868" r:id="rId28"/>
    <p:sldId id="1869" r:id="rId29"/>
    <p:sldId id="1870" r:id="rId30"/>
    <p:sldId id="1871" r:id="rId31"/>
    <p:sldId id="1872" r:id="rId32"/>
    <p:sldId id="1873" r:id="rId33"/>
    <p:sldId id="1874" r:id="rId34"/>
    <p:sldId id="1875" r:id="rId35"/>
    <p:sldId id="1876" r:id="rId36"/>
    <p:sldId id="1877" r:id="rId37"/>
    <p:sldId id="359" r:id="rId38"/>
    <p:sldId id="361" r:id="rId39"/>
    <p:sldId id="362" r:id="rId40"/>
    <p:sldId id="363" r:id="rId41"/>
    <p:sldId id="364" r:id="rId42"/>
    <p:sldId id="365" r:id="rId43"/>
    <p:sldId id="366" r:id="rId44"/>
    <p:sldId id="367" r:id="rId45"/>
    <p:sldId id="368" r:id="rId46"/>
    <p:sldId id="369" r:id="rId47"/>
    <p:sldId id="370" r:id="rId48"/>
    <p:sldId id="371" r:id="rId49"/>
    <p:sldId id="372" r:id="rId50"/>
    <p:sldId id="373" r:id="rId51"/>
    <p:sldId id="374" r:id="rId52"/>
    <p:sldId id="375" r:id="rId53"/>
    <p:sldId id="376" r:id="rId54"/>
    <p:sldId id="377" r:id="rId55"/>
    <p:sldId id="378" r:id="rId56"/>
    <p:sldId id="379" r:id="rId57"/>
    <p:sldId id="381" r:id="rId58"/>
    <p:sldId id="382" r:id="rId59"/>
    <p:sldId id="383" r:id="rId60"/>
    <p:sldId id="384" r:id="rId61"/>
    <p:sldId id="380" r:id="rId62"/>
    <p:sldId id="385" r:id="rId63"/>
    <p:sldId id="386" r:id="rId64"/>
    <p:sldId id="387" r:id="rId65"/>
    <p:sldId id="388" r:id="rId66"/>
    <p:sldId id="389" r:id="rId67"/>
    <p:sldId id="390" r:id="rId68"/>
    <p:sldId id="391" r:id="rId69"/>
    <p:sldId id="392" r:id="rId70"/>
    <p:sldId id="393" r:id="rId71"/>
    <p:sldId id="394" r:id="rId72"/>
    <p:sldId id="395" r:id="rId73"/>
    <p:sldId id="396" r:id="rId74"/>
    <p:sldId id="397" r:id="rId75"/>
    <p:sldId id="398" r:id="rId76"/>
    <p:sldId id="399" r:id="rId77"/>
    <p:sldId id="400" r:id="rId78"/>
    <p:sldId id="401" r:id="rId79"/>
    <p:sldId id="402" r:id="rId80"/>
    <p:sldId id="352" r:id="rId81"/>
    <p:sldId id="1884" r:id="rId82"/>
    <p:sldId id="1893" r:id="rId83"/>
    <p:sldId id="1879" r:id="rId84"/>
    <p:sldId id="1894" r:id="rId85"/>
    <p:sldId id="1880" r:id="rId86"/>
    <p:sldId id="1881" r:id="rId87"/>
    <p:sldId id="1895" r:id="rId88"/>
    <p:sldId id="1882" r:id="rId89"/>
    <p:sldId id="1896" r:id="rId90"/>
    <p:sldId id="1883" r:id="rId91"/>
    <p:sldId id="1897" r:id="rId92"/>
    <p:sldId id="1885" r:id="rId93"/>
    <p:sldId id="1886" r:id="rId94"/>
    <p:sldId id="1887" r:id="rId95"/>
    <p:sldId id="1888" r:id="rId96"/>
    <p:sldId id="1889" r:id="rId97"/>
    <p:sldId id="1890" r:id="rId98"/>
    <p:sldId id="1891" r:id="rId99"/>
    <p:sldId id="1892" r:id="rId100"/>
    <p:sldId id="333" r:id="rId101"/>
    <p:sldId id="334" r:id="rId102"/>
    <p:sldId id="335" r:id="rId103"/>
    <p:sldId id="336" r:id="rId104"/>
    <p:sldId id="1878" r:id="rId105"/>
    <p:sldId id="337" r:id="rId106"/>
    <p:sldId id="338" r:id="rId107"/>
    <p:sldId id="329" r:id="rId108"/>
    <p:sldId id="330" r:id="rId109"/>
    <p:sldId id="331" r:id="rId110"/>
    <p:sldId id="332" r:id="rId111"/>
    <p:sldId id="324" r:id="rId112"/>
    <p:sldId id="340" r:id="rId113"/>
    <p:sldId id="341" r:id="rId114"/>
    <p:sldId id="342" r:id="rId115"/>
    <p:sldId id="344" r:id="rId116"/>
    <p:sldId id="348" r:id="rId117"/>
    <p:sldId id="349" r:id="rId118"/>
    <p:sldId id="345" r:id="rId119"/>
    <p:sldId id="346" r:id="rId120"/>
    <p:sldId id="347" r:id="rId121"/>
    <p:sldId id="1817" r:id="rId122"/>
    <p:sldId id="1850" r:id="rId12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BDBED569-4797-4DF1-A0F4-6AAB3CD982D8}" styleName="Light Style 3 - Accent 5">
    <a:wholeTbl>
      <a:tcTxStyle>
        <a:fontRef idx="minor">
          <a:scrgbClr r="0" g="0" b="0"/>
        </a:fontRef>
        <a:schemeClr val="tx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w="12700" cmpd="sng">
              <a:solidFill>
                <a:schemeClr val="accent5"/>
              </a:solidFill>
            </a:ln>
          </a:insideV>
        </a:tcBdr>
        <a:fill>
          <a:noFill/>
        </a:fill>
      </a:tcStyle>
    </a:wholeTbl>
    <a:band1H>
      <a:tcStyle>
        <a:tcBdr/>
        <a:fill>
          <a:solidFill>
            <a:schemeClr val="accent5">
              <a:alpha val="20000"/>
            </a:schemeClr>
          </a:solidFill>
        </a:fill>
      </a:tcStyle>
    </a:band1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noFill/>
        </a:fill>
      </a:tcStyle>
    </a:lastRow>
    <a:firstRow>
      <a:tcTxStyle b="on"/>
      <a:tcStyle>
        <a:tcBdr>
          <a:bottom>
            <a:ln w="25400" cmpd="sng">
              <a:solidFill>
                <a:schemeClr val="accent5"/>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9987" autoAdjust="0"/>
    <p:restoredTop sz="94660"/>
  </p:normalViewPr>
  <p:slideViewPr>
    <p:cSldViewPr snapToGrid="0">
      <p:cViewPr>
        <p:scale>
          <a:sx n="50" d="100"/>
          <a:sy n="50" d="100"/>
        </p:scale>
        <p:origin x="1502" y="49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4.xml"/><Relationship Id="rId117" Type="http://schemas.openxmlformats.org/officeDocument/2006/relationships/slide" Target="slides/slide115.xml"/><Relationship Id="rId21" Type="http://schemas.openxmlformats.org/officeDocument/2006/relationships/slide" Target="slides/slide19.xml"/><Relationship Id="rId42" Type="http://schemas.openxmlformats.org/officeDocument/2006/relationships/slide" Target="slides/slide40.xml"/><Relationship Id="rId47" Type="http://schemas.openxmlformats.org/officeDocument/2006/relationships/slide" Target="slides/slide45.xml"/><Relationship Id="rId63" Type="http://schemas.openxmlformats.org/officeDocument/2006/relationships/slide" Target="slides/slide61.xml"/><Relationship Id="rId68" Type="http://schemas.openxmlformats.org/officeDocument/2006/relationships/slide" Target="slides/slide66.xml"/><Relationship Id="rId84" Type="http://schemas.openxmlformats.org/officeDocument/2006/relationships/slide" Target="slides/slide82.xml"/><Relationship Id="rId89" Type="http://schemas.openxmlformats.org/officeDocument/2006/relationships/slide" Target="slides/slide87.xml"/><Relationship Id="rId112" Type="http://schemas.openxmlformats.org/officeDocument/2006/relationships/slide" Target="slides/slide110.xml"/><Relationship Id="rId16" Type="http://schemas.openxmlformats.org/officeDocument/2006/relationships/slide" Target="slides/slide14.xml"/><Relationship Id="rId107" Type="http://schemas.openxmlformats.org/officeDocument/2006/relationships/slide" Target="slides/slide105.xml"/><Relationship Id="rId11" Type="http://schemas.openxmlformats.org/officeDocument/2006/relationships/slide" Target="slides/slide9.xml"/><Relationship Id="rId32" Type="http://schemas.openxmlformats.org/officeDocument/2006/relationships/slide" Target="slides/slide30.xml"/><Relationship Id="rId37" Type="http://schemas.openxmlformats.org/officeDocument/2006/relationships/slide" Target="slides/slide35.xml"/><Relationship Id="rId53" Type="http://schemas.openxmlformats.org/officeDocument/2006/relationships/slide" Target="slides/slide51.xml"/><Relationship Id="rId58" Type="http://schemas.openxmlformats.org/officeDocument/2006/relationships/slide" Target="slides/slide56.xml"/><Relationship Id="rId74" Type="http://schemas.openxmlformats.org/officeDocument/2006/relationships/slide" Target="slides/slide72.xml"/><Relationship Id="rId79" Type="http://schemas.openxmlformats.org/officeDocument/2006/relationships/slide" Target="slides/slide77.xml"/><Relationship Id="rId102" Type="http://schemas.openxmlformats.org/officeDocument/2006/relationships/slide" Target="slides/slide100.xml"/><Relationship Id="rId123" Type="http://schemas.openxmlformats.org/officeDocument/2006/relationships/slide" Target="slides/slide121.xml"/><Relationship Id="rId128" Type="http://schemas.openxmlformats.org/officeDocument/2006/relationships/tableStyles" Target="tableStyles.xml"/><Relationship Id="rId5" Type="http://schemas.openxmlformats.org/officeDocument/2006/relationships/slide" Target="slides/slide3.xml"/><Relationship Id="rId90" Type="http://schemas.openxmlformats.org/officeDocument/2006/relationships/slide" Target="slides/slide88.xml"/><Relationship Id="rId95" Type="http://schemas.openxmlformats.org/officeDocument/2006/relationships/slide" Target="slides/slide93.xml"/><Relationship Id="rId22" Type="http://schemas.openxmlformats.org/officeDocument/2006/relationships/slide" Target="slides/slide20.xml"/><Relationship Id="rId27" Type="http://schemas.openxmlformats.org/officeDocument/2006/relationships/slide" Target="slides/slide25.xml"/><Relationship Id="rId43" Type="http://schemas.openxmlformats.org/officeDocument/2006/relationships/slide" Target="slides/slide41.xml"/><Relationship Id="rId48" Type="http://schemas.openxmlformats.org/officeDocument/2006/relationships/slide" Target="slides/slide46.xml"/><Relationship Id="rId64" Type="http://schemas.openxmlformats.org/officeDocument/2006/relationships/slide" Target="slides/slide62.xml"/><Relationship Id="rId69" Type="http://schemas.openxmlformats.org/officeDocument/2006/relationships/slide" Target="slides/slide67.xml"/><Relationship Id="rId113" Type="http://schemas.openxmlformats.org/officeDocument/2006/relationships/slide" Target="slides/slide111.xml"/><Relationship Id="rId118" Type="http://schemas.openxmlformats.org/officeDocument/2006/relationships/slide" Target="slides/slide116.xml"/><Relationship Id="rId80" Type="http://schemas.openxmlformats.org/officeDocument/2006/relationships/slide" Target="slides/slide78.xml"/><Relationship Id="rId85" Type="http://schemas.openxmlformats.org/officeDocument/2006/relationships/slide" Target="slides/slide83.xml"/><Relationship Id="rId12" Type="http://schemas.openxmlformats.org/officeDocument/2006/relationships/slide" Target="slides/slide10.xml"/><Relationship Id="rId17" Type="http://schemas.openxmlformats.org/officeDocument/2006/relationships/slide" Target="slides/slide15.xml"/><Relationship Id="rId33" Type="http://schemas.openxmlformats.org/officeDocument/2006/relationships/slide" Target="slides/slide31.xml"/><Relationship Id="rId38" Type="http://schemas.openxmlformats.org/officeDocument/2006/relationships/slide" Target="slides/slide36.xml"/><Relationship Id="rId59" Type="http://schemas.openxmlformats.org/officeDocument/2006/relationships/slide" Target="slides/slide57.xml"/><Relationship Id="rId103" Type="http://schemas.openxmlformats.org/officeDocument/2006/relationships/slide" Target="slides/slide101.xml"/><Relationship Id="rId108" Type="http://schemas.openxmlformats.org/officeDocument/2006/relationships/slide" Target="slides/slide106.xml"/><Relationship Id="rId124" Type="http://schemas.openxmlformats.org/officeDocument/2006/relationships/notesMaster" Target="notesMasters/notesMaster1.xml"/><Relationship Id="rId54" Type="http://schemas.openxmlformats.org/officeDocument/2006/relationships/slide" Target="slides/slide52.xml"/><Relationship Id="rId70" Type="http://schemas.openxmlformats.org/officeDocument/2006/relationships/slide" Target="slides/slide68.xml"/><Relationship Id="rId75" Type="http://schemas.openxmlformats.org/officeDocument/2006/relationships/slide" Target="slides/slide73.xml"/><Relationship Id="rId91" Type="http://schemas.openxmlformats.org/officeDocument/2006/relationships/slide" Target="slides/slide89.xml"/><Relationship Id="rId96" Type="http://schemas.openxmlformats.org/officeDocument/2006/relationships/slide" Target="slides/slide94.xml"/><Relationship Id="rId1" Type="http://schemas.openxmlformats.org/officeDocument/2006/relationships/slideMaster" Target="slideMasters/slideMaster1.xml"/><Relationship Id="rId6" Type="http://schemas.openxmlformats.org/officeDocument/2006/relationships/slide" Target="slides/slide4.xml"/><Relationship Id="rId23" Type="http://schemas.openxmlformats.org/officeDocument/2006/relationships/slide" Target="slides/slide21.xml"/><Relationship Id="rId28" Type="http://schemas.openxmlformats.org/officeDocument/2006/relationships/slide" Target="slides/slide26.xml"/><Relationship Id="rId49" Type="http://schemas.openxmlformats.org/officeDocument/2006/relationships/slide" Target="slides/slide47.xml"/><Relationship Id="rId114" Type="http://schemas.openxmlformats.org/officeDocument/2006/relationships/slide" Target="slides/slide112.xml"/><Relationship Id="rId119" Type="http://schemas.openxmlformats.org/officeDocument/2006/relationships/slide" Target="slides/slide117.xml"/><Relationship Id="rId44" Type="http://schemas.openxmlformats.org/officeDocument/2006/relationships/slide" Target="slides/slide42.xml"/><Relationship Id="rId60" Type="http://schemas.openxmlformats.org/officeDocument/2006/relationships/slide" Target="slides/slide58.xml"/><Relationship Id="rId65" Type="http://schemas.openxmlformats.org/officeDocument/2006/relationships/slide" Target="slides/slide63.xml"/><Relationship Id="rId81" Type="http://schemas.openxmlformats.org/officeDocument/2006/relationships/slide" Target="slides/slide79.xml"/><Relationship Id="rId86" Type="http://schemas.openxmlformats.org/officeDocument/2006/relationships/slide" Target="slides/slide84.xml"/><Relationship Id="rId13" Type="http://schemas.openxmlformats.org/officeDocument/2006/relationships/slide" Target="slides/slide11.xml"/><Relationship Id="rId18" Type="http://schemas.openxmlformats.org/officeDocument/2006/relationships/slide" Target="slides/slide16.xml"/><Relationship Id="rId39" Type="http://schemas.openxmlformats.org/officeDocument/2006/relationships/slide" Target="slides/slide37.xml"/><Relationship Id="rId109" Type="http://schemas.openxmlformats.org/officeDocument/2006/relationships/slide" Target="slides/slide107.xml"/><Relationship Id="rId34" Type="http://schemas.openxmlformats.org/officeDocument/2006/relationships/slide" Target="slides/slide32.xml"/><Relationship Id="rId50" Type="http://schemas.openxmlformats.org/officeDocument/2006/relationships/slide" Target="slides/slide48.xml"/><Relationship Id="rId55" Type="http://schemas.openxmlformats.org/officeDocument/2006/relationships/slide" Target="slides/slide53.xml"/><Relationship Id="rId76" Type="http://schemas.openxmlformats.org/officeDocument/2006/relationships/slide" Target="slides/slide74.xml"/><Relationship Id="rId97" Type="http://schemas.openxmlformats.org/officeDocument/2006/relationships/slide" Target="slides/slide95.xml"/><Relationship Id="rId104" Type="http://schemas.openxmlformats.org/officeDocument/2006/relationships/slide" Target="slides/slide102.xml"/><Relationship Id="rId120" Type="http://schemas.openxmlformats.org/officeDocument/2006/relationships/slide" Target="slides/slide118.xml"/><Relationship Id="rId125" Type="http://schemas.openxmlformats.org/officeDocument/2006/relationships/presProps" Target="presProps.xml"/><Relationship Id="rId7" Type="http://schemas.openxmlformats.org/officeDocument/2006/relationships/slide" Target="slides/slide5.xml"/><Relationship Id="rId71" Type="http://schemas.openxmlformats.org/officeDocument/2006/relationships/slide" Target="slides/slide69.xml"/><Relationship Id="rId92" Type="http://schemas.openxmlformats.org/officeDocument/2006/relationships/slide" Target="slides/slide90.xml"/><Relationship Id="rId2" Type="http://schemas.openxmlformats.org/officeDocument/2006/relationships/slideMaster" Target="slideMasters/slideMaster2.xml"/><Relationship Id="rId29" Type="http://schemas.openxmlformats.org/officeDocument/2006/relationships/slide" Target="slides/slide27.xml"/><Relationship Id="rId24" Type="http://schemas.openxmlformats.org/officeDocument/2006/relationships/slide" Target="slides/slide22.xml"/><Relationship Id="rId40" Type="http://schemas.openxmlformats.org/officeDocument/2006/relationships/slide" Target="slides/slide38.xml"/><Relationship Id="rId45" Type="http://schemas.openxmlformats.org/officeDocument/2006/relationships/slide" Target="slides/slide43.xml"/><Relationship Id="rId66" Type="http://schemas.openxmlformats.org/officeDocument/2006/relationships/slide" Target="slides/slide64.xml"/><Relationship Id="rId87" Type="http://schemas.openxmlformats.org/officeDocument/2006/relationships/slide" Target="slides/slide85.xml"/><Relationship Id="rId110" Type="http://schemas.openxmlformats.org/officeDocument/2006/relationships/slide" Target="slides/slide108.xml"/><Relationship Id="rId115" Type="http://schemas.openxmlformats.org/officeDocument/2006/relationships/slide" Target="slides/slide113.xml"/><Relationship Id="rId61" Type="http://schemas.openxmlformats.org/officeDocument/2006/relationships/slide" Target="slides/slide59.xml"/><Relationship Id="rId82" Type="http://schemas.openxmlformats.org/officeDocument/2006/relationships/slide" Target="slides/slide80.xml"/><Relationship Id="rId19" Type="http://schemas.openxmlformats.org/officeDocument/2006/relationships/slide" Target="slides/slide17.xml"/><Relationship Id="rId14" Type="http://schemas.openxmlformats.org/officeDocument/2006/relationships/slide" Target="slides/slide12.xml"/><Relationship Id="rId30" Type="http://schemas.openxmlformats.org/officeDocument/2006/relationships/slide" Target="slides/slide28.xml"/><Relationship Id="rId35" Type="http://schemas.openxmlformats.org/officeDocument/2006/relationships/slide" Target="slides/slide33.xml"/><Relationship Id="rId56" Type="http://schemas.openxmlformats.org/officeDocument/2006/relationships/slide" Target="slides/slide54.xml"/><Relationship Id="rId77" Type="http://schemas.openxmlformats.org/officeDocument/2006/relationships/slide" Target="slides/slide75.xml"/><Relationship Id="rId100" Type="http://schemas.openxmlformats.org/officeDocument/2006/relationships/slide" Target="slides/slide98.xml"/><Relationship Id="rId105" Type="http://schemas.openxmlformats.org/officeDocument/2006/relationships/slide" Target="slides/slide103.xml"/><Relationship Id="rId126" Type="http://schemas.openxmlformats.org/officeDocument/2006/relationships/viewProps" Target="viewProps.xml"/><Relationship Id="rId8" Type="http://schemas.openxmlformats.org/officeDocument/2006/relationships/slide" Target="slides/slide6.xml"/><Relationship Id="rId51" Type="http://schemas.openxmlformats.org/officeDocument/2006/relationships/slide" Target="slides/slide49.xml"/><Relationship Id="rId72" Type="http://schemas.openxmlformats.org/officeDocument/2006/relationships/slide" Target="slides/slide70.xml"/><Relationship Id="rId93" Type="http://schemas.openxmlformats.org/officeDocument/2006/relationships/slide" Target="slides/slide91.xml"/><Relationship Id="rId98" Type="http://schemas.openxmlformats.org/officeDocument/2006/relationships/slide" Target="slides/slide96.xml"/><Relationship Id="rId121" Type="http://schemas.openxmlformats.org/officeDocument/2006/relationships/slide" Target="slides/slide119.xml"/><Relationship Id="rId3" Type="http://schemas.openxmlformats.org/officeDocument/2006/relationships/slide" Target="slides/slide1.xml"/><Relationship Id="rId25" Type="http://schemas.openxmlformats.org/officeDocument/2006/relationships/slide" Target="slides/slide23.xml"/><Relationship Id="rId46" Type="http://schemas.openxmlformats.org/officeDocument/2006/relationships/slide" Target="slides/slide44.xml"/><Relationship Id="rId67" Type="http://schemas.openxmlformats.org/officeDocument/2006/relationships/slide" Target="slides/slide65.xml"/><Relationship Id="rId116" Type="http://schemas.openxmlformats.org/officeDocument/2006/relationships/slide" Target="slides/slide114.xml"/><Relationship Id="rId20" Type="http://schemas.openxmlformats.org/officeDocument/2006/relationships/slide" Target="slides/slide18.xml"/><Relationship Id="rId41" Type="http://schemas.openxmlformats.org/officeDocument/2006/relationships/slide" Target="slides/slide39.xml"/><Relationship Id="rId62" Type="http://schemas.openxmlformats.org/officeDocument/2006/relationships/slide" Target="slides/slide60.xml"/><Relationship Id="rId83" Type="http://schemas.openxmlformats.org/officeDocument/2006/relationships/slide" Target="slides/slide81.xml"/><Relationship Id="rId88" Type="http://schemas.openxmlformats.org/officeDocument/2006/relationships/slide" Target="slides/slide86.xml"/><Relationship Id="rId111" Type="http://schemas.openxmlformats.org/officeDocument/2006/relationships/slide" Target="slides/slide109.xml"/><Relationship Id="rId15" Type="http://schemas.openxmlformats.org/officeDocument/2006/relationships/slide" Target="slides/slide13.xml"/><Relationship Id="rId36" Type="http://schemas.openxmlformats.org/officeDocument/2006/relationships/slide" Target="slides/slide34.xml"/><Relationship Id="rId57" Type="http://schemas.openxmlformats.org/officeDocument/2006/relationships/slide" Target="slides/slide55.xml"/><Relationship Id="rId106" Type="http://schemas.openxmlformats.org/officeDocument/2006/relationships/slide" Target="slides/slide104.xml"/><Relationship Id="rId127" Type="http://schemas.openxmlformats.org/officeDocument/2006/relationships/theme" Target="theme/theme1.xml"/><Relationship Id="rId10" Type="http://schemas.openxmlformats.org/officeDocument/2006/relationships/slide" Target="slides/slide8.xml"/><Relationship Id="rId31" Type="http://schemas.openxmlformats.org/officeDocument/2006/relationships/slide" Target="slides/slide29.xml"/><Relationship Id="rId52" Type="http://schemas.openxmlformats.org/officeDocument/2006/relationships/slide" Target="slides/slide50.xml"/><Relationship Id="rId73" Type="http://schemas.openxmlformats.org/officeDocument/2006/relationships/slide" Target="slides/slide71.xml"/><Relationship Id="rId78" Type="http://schemas.openxmlformats.org/officeDocument/2006/relationships/slide" Target="slides/slide76.xml"/><Relationship Id="rId94" Type="http://schemas.openxmlformats.org/officeDocument/2006/relationships/slide" Target="slides/slide92.xml"/><Relationship Id="rId99" Type="http://schemas.openxmlformats.org/officeDocument/2006/relationships/slide" Target="slides/slide97.xml"/><Relationship Id="rId101" Type="http://schemas.openxmlformats.org/officeDocument/2006/relationships/slide" Target="slides/slide99.xml"/><Relationship Id="rId122" Type="http://schemas.openxmlformats.org/officeDocument/2006/relationships/slide" Target="slides/slide120.xml"/><Relationship Id="rId4" Type="http://schemas.openxmlformats.org/officeDocument/2006/relationships/slide" Target="slides/slide2.xml"/><Relationship Id="rId9"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AU"/>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9311EC19-7E08-40F0-ACF2-22F660FC7C40}" type="datetimeFigureOut">
              <a:rPr lang="en-AU" smtClean="0"/>
              <a:t>14/05/2026</a:t>
            </a:fld>
            <a:endParaRPr lang="en-AU"/>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AU"/>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AU"/>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EDBD98D-E85B-4601-A77C-B7964013730D}" type="slidenum">
              <a:rPr lang="en-AU" smtClean="0"/>
              <a:t>‹#›</a:t>
            </a:fld>
            <a:endParaRPr lang="en-AU"/>
          </a:p>
        </p:txBody>
      </p:sp>
    </p:spTree>
    <p:extLst>
      <p:ext uri="{BB962C8B-B14F-4D97-AF65-F5344CB8AC3E}">
        <p14:creationId xmlns:p14="http://schemas.microsoft.com/office/powerpoint/2010/main" val="369712209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3.jpg"/><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3.jpg"/><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1B6C70-B768-65B1-6556-96BF184E4ABA}"/>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AU"/>
          </a:p>
        </p:txBody>
      </p:sp>
      <p:sp>
        <p:nvSpPr>
          <p:cNvPr id="3" name="Subtitle 2">
            <a:extLst>
              <a:ext uri="{FF2B5EF4-FFF2-40B4-BE49-F238E27FC236}">
                <a16:creationId xmlns:a16="http://schemas.microsoft.com/office/drawing/2014/main" id="{695F93E1-16D1-D364-FDE1-F5C43AA28E76}"/>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AU"/>
          </a:p>
        </p:txBody>
      </p:sp>
      <p:sp>
        <p:nvSpPr>
          <p:cNvPr id="4" name="Date Placeholder 3">
            <a:extLst>
              <a:ext uri="{FF2B5EF4-FFF2-40B4-BE49-F238E27FC236}">
                <a16:creationId xmlns:a16="http://schemas.microsoft.com/office/drawing/2014/main" id="{9CB9E7BB-4707-201F-EE06-A48A12D48944}"/>
              </a:ext>
            </a:extLst>
          </p:cNvPr>
          <p:cNvSpPr>
            <a:spLocks noGrp="1"/>
          </p:cNvSpPr>
          <p:nvPr>
            <p:ph type="dt" sz="half" idx="10"/>
          </p:nvPr>
        </p:nvSpPr>
        <p:spPr/>
        <p:txBody>
          <a:bodyPr/>
          <a:lstStyle/>
          <a:p>
            <a:fld id="{7036F693-4807-4ACB-9866-42E633ECA663}" type="datetimeFigureOut">
              <a:rPr lang="en-AU" smtClean="0"/>
              <a:t>14/05/2026</a:t>
            </a:fld>
            <a:endParaRPr lang="en-AU"/>
          </a:p>
        </p:txBody>
      </p:sp>
      <p:sp>
        <p:nvSpPr>
          <p:cNvPr id="5" name="Footer Placeholder 4">
            <a:extLst>
              <a:ext uri="{FF2B5EF4-FFF2-40B4-BE49-F238E27FC236}">
                <a16:creationId xmlns:a16="http://schemas.microsoft.com/office/drawing/2014/main" id="{64A58FB7-C93E-81F6-2E41-0C2CEE839C5A}"/>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C65B1B3D-3648-BA5A-F1E8-F3576B98545B}"/>
              </a:ext>
            </a:extLst>
          </p:cNvPr>
          <p:cNvSpPr>
            <a:spLocks noGrp="1"/>
          </p:cNvSpPr>
          <p:nvPr>
            <p:ph type="sldNum" sz="quarter" idx="12"/>
          </p:nvPr>
        </p:nvSpPr>
        <p:spPr/>
        <p:txBody>
          <a:bodyPr/>
          <a:lstStyle/>
          <a:p>
            <a:fld id="{7BF9DD6F-E86F-40A2-88B8-DD3E2998C092}" type="slidenum">
              <a:rPr lang="en-AU" smtClean="0"/>
              <a:t>‹#›</a:t>
            </a:fld>
            <a:endParaRPr lang="en-AU"/>
          </a:p>
        </p:txBody>
      </p:sp>
    </p:spTree>
    <p:extLst>
      <p:ext uri="{BB962C8B-B14F-4D97-AF65-F5344CB8AC3E}">
        <p14:creationId xmlns:p14="http://schemas.microsoft.com/office/powerpoint/2010/main" val="139599341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6AB4AE-322D-B6C3-A1DE-738FD7ED3400}"/>
              </a:ext>
            </a:extLst>
          </p:cNvPr>
          <p:cNvSpPr>
            <a:spLocks noGrp="1"/>
          </p:cNvSpPr>
          <p:nvPr>
            <p:ph type="title"/>
          </p:nvPr>
        </p:nvSpPr>
        <p:spPr/>
        <p:txBody>
          <a:bodyPr/>
          <a:lstStyle/>
          <a:p>
            <a:r>
              <a:rPr lang="en-US"/>
              <a:t>Click to edit Master title style</a:t>
            </a:r>
            <a:endParaRPr lang="en-AU"/>
          </a:p>
        </p:txBody>
      </p:sp>
      <p:sp>
        <p:nvSpPr>
          <p:cNvPr id="3" name="Content Placeholder 2">
            <a:extLst>
              <a:ext uri="{FF2B5EF4-FFF2-40B4-BE49-F238E27FC236}">
                <a16:creationId xmlns:a16="http://schemas.microsoft.com/office/drawing/2014/main" id="{399D54C3-19F9-02AD-025C-69DD9166D193}"/>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EDA2C77A-6A88-8738-8A39-76BAC476ADD6}"/>
              </a:ext>
            </a:extLst>
          </p:cNvPr>
          <p:cNvSpPr>
            <a:spLocks noGrp="1"/>
          </p:cNvSpPr>
          <p:nvPr>
            <p:ph type="dt" sz="half" idx="10"/>
          </p:nvPr>
        </p:nvSpPr>
        <p:spPr/>
        <p:txBody>
          <a:bodyPr/>
          <a:lstStyle/>
          <a:p>
            <a:fld id="{7036F693-4807-4ACB-9866-42E633ECA663}" type="datetimeFigureOut">
              <a:rPr lang="en-AU" smtClean="0"/>
              <a:t>14/05/2026</a:t>
            </a:fld>
            <a:endParaRPr lang="en-AU"/>
          </a:p>
        </p:txBody>
      </p:sp>
      <p:sp>
        <p:nvSpPr>
          <p:cNvPr id="5" name="Footer Placeholder 4">
            <a:extLst>
              <a:ext uri="{FF2B5EF4-FFF2-40B4-BE49-F238E27FC236}">
                <a16:creationId xmlns:a16="http://schemas.microsoft.com/office/drawing/2014/main" id="{57019BD3-F1D6-5FE6-72A9-07F9F9DB2BD2}"/>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E6632BB2-ED4D-4A8C-20BA-C64F1C360C7B}"/>
              </a:ext>
            </a:extLst>
          </p:cNvPr>
          <p:cNvSpPr>
            <a:spLocks noGrp="1"/>
          </p:cNvSpPr>
          <p:nvPr>
            <p:ph type="sldNum" sz="quarter" idx="12"/>
          </p:nvPr>
        </p:nvSpPr>
        <p:spPr/>
        <p:txBody>
          <a:bodyPr/>
          <a:lstStyle/>
          <a:p>
            <a:fld id="{7BF9DD6F-E86F-40A2-88B8-DD3E2998C092}" type="slidenum">
              <a:rPr lang="en-AU" smtClean="0"/>
              <a:t>‹#›</a:t>
            </a:fld>
            <a:endParaRPr lang="en-AU"/>
          </a:p>
        </p:txBody>
      </p:sp>
    </p:spTree>
    <p:extLst>
      <p:ext uri="{BB962C8B-B14F-4D97-AF65-F5344CB8AC3E}">
        <p14:creationId xmlns:p14="http://schemas.microsoft.com/office/powerpoint/2010/main" val="416908638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7CEACA-7AAE-C32F-ACC2-3D8D45E234AD}"/>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AU"/>
          </a:p>
        </p:txBody>
      </p:sp>
      <p:sp>
        <p:nvSpPr>
          <p:cNvPr id="3" name="Text Placeholder 2">
            <a:extLst>
              <a:ext uri="{FF2B5EF4-FFF2-40B4-BE49-F238E27FC236}">
                <a16:creationId xmlns:a16="http://schemas.microsoft.com/office/drawing/2014/main" id="{C41DE1E7-6228-8F00-4C8C-49BCF562ED8B}"/>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447B1251-888D-5407-DE40-24E0B5666EAD}"/>
              </a:ext>
            </a:extLst>
          </p:cNvPr>
          <p:cNvSpPr>
            <a:spLocks noGrp="1"/>
          </p:cNvSpPr>
          <p:nvPr>
            <p:ph type="dt" sz="half" idx="10"/>
          </p:nvPr>
        </p:nvSpPr>
        <p:spPr/>
        <p:txBody>
          <a:bodyPr/>
          <a:lstStyle/>
          <a:p>
            <a:fld id="{7036F693-4807-4ACB-9866-42E633ECA663}" type="datetimeFigureOut">
              <a:rPr lang="en-AU" smtClean="0"/>
              <a:t>14/05/2026</a:t>
            </a:fld>
            <a:endParaRPr lang="en-AU"/>
          </a:p>
        </p:txBody>
      </p:sp>
      <p:sp>
        <p:nvSpPr>
          <p:cNvPr id="5" name="Footer Placeholder 4">
            <a:extLst>
              <a:ext uri="{FF2B5EF4-FFF2-40B4-BE49-F238E27FC236}">
                <a16:creationId xmlns:a16="http://schemas.microsoft.com/office/drawing/2014/main" id="{1CDD5024-26A5-9A9C-921F-4553B2F00B67}"/>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4F3B14B6-C9EC-FC5A-AFAB-8BAA369AC616}"/>
              </a:ext>
            </a:extLst>
          </p:cNvPr>
          <p:cNvSpPr>
            <a:spLocks noGrp="1"/>
          </p:cNvSpPr>
          <p:nvPr>
            <p:ph type="sldNum" sz="quarter" idx="12"/>
          </p:nvPr>
        </p:nvSpPr>
        <p:spPr/>
        <p:txBody>
          <a:bodyPr/>
          <a:lstStyle/>
          <a:p>
            <a:fld id="{7BF9DD6F-E86F-40A2-88B8-DD3E2998C092}" type="slidenum">
              <a:rPr lang="en-AU" smtClean="0"/>
              <a:t>‹#›</a:t>
            </a:fld>
            <a:endParaRPr lang="en-AU"/>
          </a:p>
        </p:txBody>
      </p:sp>
    </p:spTree>
    <p:extLst>
      <p:ext uri="{BB962C8B-B14F-4D97-AF65-F5344CB8AC3E}">
        <p14:creationId xmlns:p14="http://schemas.microsoft.com/office/powerpoint/2010/main" val="196431921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A25A3B-F871-EAB2-E4CA-F479C9EFA4D2}"/>
              </a:ext>
            </a:extLst>
          </p:cNvPr>
          <p:cNvSpPr>
            <a:spLocks noGrp="1"/>
          </p:cNvSpPr>
          <p:nvPr>
            <p:ph type="title"/>
          </p:nvPr>
        </p:nvSpPr>
        <p:spPr/>
        <p:txBody>
          <a:bodyPr/>
          <a:lstStyle/>
          <a:p>
            <a:r>
              <a:rPr lang="en-US"/>
              <a:t>Click to edit Master title style</a:t>
            </a:r>
            <a:endParaRPr lang="en-AU"/>
          </a:p>
        </p:txBody>
      </p:sp>
      <p:sp>
        <p:nvSpPr>
          <p:cNvPr id="3" name="Content Placeholder 2">
            <a:extLst>
              <a:ext uri="{FF2B5EF4-FFF2-40B4-BE49-F238E27FC236}">
                <a16:creationId xmlns:a16="http://schemas.microsoft.com/office/drawing/2014/main" id="{00592C35-B8A5-0F3E-E963-C2D19DB88209}"/>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Content Placeholder 3">
            <a:extLst>
              <a:ext uri="{FF2B5EF4-FFF2-40B4-BE49-F238E27FC236}">
                <a16:creationId xmlns:a16="http://schemas.microsoft.com/office/drawing/2014/main" id="{2D3940B5-8BCA-4EF3-185B-F0CF288E553B}"/>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5" name="Date Placeholder 4">
            <a:extLst>
              <a:ext uri="{FF2B5EF4-FFF2-40B4-BE49-F238E27FC236}">
                <a16:creationId xmlns:a16="http://schemas.microsoft.com/office/drawing/2014/main" id="{44717141-9800-0D1B-F4A8-EC0024210BC9}"/>
              </a:ext>
            </a:extLst>
          </p:cNvPr>
          <p:cNvSpPr>
            <a:spLocks noGrp="1"/>
          </p:cNvSpPr>
          <p:nvPr>
            <p:ph type="dt" sz="half" idx="10"/>
          </p:nvPr>
        </p:nvSpPr>
        <p:spPr/>
        <p:txBody>
          <a:bodyPr/>
          <a:lstStyle/>
          <a:p>
            <a:fld id="{7036F693-4807-4ACB-9866-42E633ECA663}" type="datetimeFigureOut">
              <a:rPr lang="en-AU" smtClean="0"/>
              <a:t>14/05/2026</a:t>
            </a:fld>
            <a:endParaRPr lang="en-AU"/>
          </a:p>
        </p:txBody>
      </p:sp>
      <p:sp>
        <p:nvSpPr>
          <p:cNvPr id="6" name="Footer Placeholder 5">
            <a:extLst>
              <a:ext uri="{FF2B5EF4-FFF2-40B4-BE49-F238E27FC236}">
                <a16:creationId xmlns:a16="http://schemas.microsoft.com/office/drawing/2014/main" id="{F4C73B31-82FC-930B-CBCE-640290491911}"/>
              </a:ext>
            </a:extLst>
          </p:cNvPr>
          <p:cNvSpPr>
            <a:spLocks noGrp="1"/>
          </p:cNvSpPr>
          <p:nvPr>
            <p:ph type="ftr" sz="quarter" idx="11"/>
          </p:nvPr>
        </p:nvSpPr>
        <p:spPr/>
        <p:txBody>
          <a:bodyPr/>
          <a:lstStyle/>
          <a:p>
            <a:endParaRPr lang="en-AU"/>
          </a:p>
        </p:txBody>
      </p:sp>
      <p:sp>
        <p:nvSpPr>
          <p:cNvPr id="7" name="Slide Number Placeholder 6">
            <a:extLst>
              <a:ext uri="{FF2B5EF4-FFF2-40B4-BE49-F238E27FC236}">
                <a16:creationId xmlns:a16="http://schemas.microsoft.com/office/drawing/2014/main" id="{D6455AE7-9072-1FF9-7749-898A9ED13F41}"/>
              </a:ext>
            </a:extLst>
          </p:cNvPr>
          <p:cNvSpPr>
            <a:spLocks noGrp="1"/>
          </p:cNvSpPr>
          <p:nvPr>
            <p:ph type="sldNum" sz="quarter" idx="12"/>
          </p:nvPr>
        </p:nvSpPr>
        <p:spPr/>
        <p:txBody>
          <a:bodyPr/>
          <a:lstStyle/>
          <a:p>
            <a:fld id="{7BF9DD6F-E86F-40A2-88B8-DD3E2998C092}" type="slidenum">
              <a:rPr lang="en-AU" smtClean="0"/>
              <a:t>‹#›</a:t>
            </a:fld>
            <a:endParaRPr lang="en-AU"/>
          </a:p>
        </p:txBody>
      </p:sp>
    </p:spTree>
    <p:extLst>
      <p:ext uri="{BB962C8B-B14F-4D97-AF65-F5344CB8AC3E}">
        <p14:creationId xmlns:p14="http://schemas.microsoft.com/office/powerpoint/2010/main" val="13398494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3AA3EF-EF8F-F539-964B-C4820289D46A}"/>
              </a:ext>
            </a:extLst>
          </p:cNvPr>
          <p:cNvSpPr>
            <a:spLocks noGrp="1"/>
          </p:cNvSpPr>
          <p:nvPr>
            <p:ph type="title"/>
          </p:nvPr>
        </p:nvSpPr>
        <p:spPr>
          <a:xfrm>
            <a:off x="839788" y="365125"/>
            <a:ext cx="10515600" cy="1325563"/>
          </a:xfrm>
        </p:spPr>
        <p:txBody>
          <a:bodyPr/>
          <a:lstStyle/>
          <a:p>
            <a:r>
              <a:rPr lang="en-US"/>
              <a:t>Click to edit Master title style</a:t>
            </a:r>
            <a:endParaRPr lang="en-AU"/>
          </a:p>
        </p:txBody>
      </p:sp>
      <p:sp>
        <p:nvSpPr>
          <p:cNvPr id="3" name="Text Placeholder 2">
            <a:extLst>
              <a:ext uri="{FF2B5EF4-FFF2-40B4-BE49-F238E27FC236}">
                <a16:creationId xmlns:a16="http://schemas.microsoft.com/office/drawing/2014/main" id="{48393D2D-46D0-C65F-3CD4-8CA1DC1568B6}"/>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63504EA2-A069-2AB5-BE4D-5A9531F19FC9}"/>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5" name="Text Placeholder 4">
            <a:extLst>
              <a:ext uri="{FF2B5EF4-FFF2-40B4-BE49-F238E27FC236}">
                <a16:creationId xmlns:a16="http://schemas.microsoft.com/office/drawing/2014/main" id="{E1DD3DA3-5E8A-468F-D96D-DEF4FCA9D75B}"/>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620753A7-BCB6-8494-67C4-A2DE23125A5F}"/>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7" name="Date Placeholder 6">
            <a:extLst>
              <a:ext uri="{FF2B5EF4-FFF2-40B4-BE49-F238E27FC236}">
                <a16:creationId xmlns:a16="http://schemas.microsoft.com/office/drawing/2014/main" id="{796EAE1E-45A7-184F-1859-0151A0F6F174}"/>
              </a:ext>
            </a:extLst>
          </p:cNvPr>
          <p:cNvSpPr>
            <a:spLocks noGrp="1"/>
          </p:cNvSpPr>
          <p:nvPr>
            <p:ph type="dt" sz="half" idx="10"/>
          </p:nvPr>
        </p:nvSpPr>
        <p:spPr/>
        <p:txBody>
          <a:bodyPr/>
          <a:lstStyle/>
          <a:p>
            <a:fld id="{7036F693-4807-4ACB-9866-42E633ECA663}" type="datetimeFigureOut">
              <a:rPr lang="en-AU" smtClean="0"/>
              <a:t>14/05/2026</a:t>
            </a:fld>
            <a:endParaRPr lang="en-AU"/>
          </a:p>
        </p:txBody>
      </p:sp>
      <p:sp>
        <p:nvSpPr>
          <p:cNvPr id="8" name="Footer Placeholder 7">
            <a:extLst>
              <a:ext uri="{FF2B5EF4-FFF2-40B4-BE49-F238E27FC236}">
                <a16:creationId xmlns:a16="http://schemas.microsoft.com/office/drawing/2014/main" id="{CBE74A07-DECC-AF4C-A1B9-945896FF614C}"/>
              </a:ext>
            </a:extLst>
          </p:cNvPr>
          <p:cNvSpPr>
            <a:spLocks noGrp="1"/>
          </p:cNvSpPr>
          <p:nvPr>
            <p:ph type="ftr" sz="quarter" idx="11"/>
          </p:nvPr>
        </p:nvSpPr>
        <p:spPr/>
        <p:txBody>
          <a:bodyPr/>
          <a:lstStyle/>
          <a:p>
            <a:endParaRPr lang="en-AU"/>
          </a:p>
        </p:txBody>
      </p:sp>
      <p:sp>
        <p:nvSpPr>
          <p:cNvPr id="9" name="Slide Number Placeholder 8">
            <a:extLst>
              <a:ext uri="{FF2B5EF4-FFF2-40B4-BE49-F238E27FC236}">
                <a16:creationId xmlns:a16="http://schemas.microsoft.com/office/drawing/2014/main" id="{32B7527C-A026-733A-81F8-612A3672D2F6}"/>
              </a:ext>
            </a:extLst>
          </p:cNvPr>
          <p:cNvSpPr>
            <a:spLocks noGrp="1"/>
          </p:cNvSpPr>
          <p:nvPr>
            <p:ph type="sldNum" sz="quarter" idx="12"/>
          </p:nvPr>
        </p:nvSpPr>
        <p:spPr/>
        <p:txBody>
          <a:bodyPr/>
          <a:lstStyle/>
          <a:p>
            <a:fld id="{7BF9DD6F-E86F-40A2-88B8-DD3E2998C092}" type="slidenum">
              <a:rPr lang="en-AU" smtClean="0"/>
              <a:t>‹#›</a:t>
            </a:fld>
            <a:endParaRPr lang="en-AU"/>
          </a:p>
        </p:txBody>
      </p:sp>
    </p:spTree>
    <p:extLst>
      <p:ext uri="{BB962C8B-B14F-4D97-AF65-F5344CB8AC3E}">
        <p14:creationId xmlns:p14="http://schemas.microsoft.com/office/powerpoint/2010/main" val="180729027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4D8692-6A66-A81A-F64D-252A01D72B58}"/>
              </a:ext>
            </a:extLst>
          </p:cNvPr>
          <p:cNvSpPr>
            <a:spLocks noGrp="1"/>
          </p:cNvSpPr>
          <p:nvPr>
            <p:ph type="title"/>
          </p:nvPr>
        </p:nvSpPr>
        <p:spPr/>
        <p:txBody>
          <a:bodyPr/>
          <a:lstStyle/>
          <a:p>
            <a:r>
              <a:rPr lang="en-US"/>
              <a:t>Click to edit Master title style</a:t>
            </a:r>
            <a:endParaRPr lang="en-AU"/>
          </a:p>
        </p:txBody>
      </p:sp>
      <p:sp>
        <p:nvSpPr>
          <p:cNvPr id="3" name="Date Placeholder 2">
            <a:extLst>
              <a:ext uri="{FF2B5EF4-FFF2-40B4-BE49-F238E27FC236}">
                <a16:creationId xmlns:a16="http://schemas.microsoft.com/office/drawing/2014/main" id="{E5205C8B-6899-F7CD-218F-53B25A8C28A2}"/>
              </a:ext>
            </a:extLst>
          </p:cNvPr>
          <p:cNvSpPr>
            <a:spLocks noGrp="1"/>
          </p:cNvSpPr>
          <p:nvPr>
            <p:ph type="dt" sz="half" idx="10"/>
          </p:nvPr>
        </p:nvSpPr>
        <p:spPr/>
        <p:txBody>
          <a:bodyPr/>
          <a:lstStyle/>
          <a:p>
            <a:fld id="{7036F693-4807-4ACB-9866-42E633ECA663}" type="datetimeFigureOut">
              <a:rPr lang="en-AU" smtClean="0"/>
              <a:t>14/05/2026</a:t>
            </a:fld>
            <a:endParaRPr lang="en-AU"/>
          </a:p>
        </p:txBody>
      </p:sp>
      <p:sp>
        <p:nvSpPr>
          <p:cNvPr id="4" name="Footer Placeholder 3">
            <a:extLst>
              <a:ext uri="{FF2B5EF4-FFF2-40B4-BE49-F238E27FC236}">
                <a16:creationId xmlns:a16="http://schemas.microsoft.com/office/drawing/2014/main" id="{BC578AB9-14B5-81D7-6DB2-7A92246ECEDB}"/>
              </a:ext>
            </a:extLst>
          </p:cNvPr>
          <p:cNvSpPr>
            <a:spLocks noGrp="1"/>
          </p:cNvSpPr>
          <p:nvPr>
            <p:ph type="ftr" sz="quarter" idx="11"/>
          </p:nvPr>
        </p:nvSpPr>
        <p:spPr/>
        <p:txBody>
          <a:bodyPr/>
          <a:lstStyle/>
          <a:p>
            <a:endParaRPr lang="en-AU"/>
          </a:p>
        </p:txBody>
      </p:sp>
      <p:sp>
        <p:nvSpPr>
          <p:cNvPr id="5" name="Slide Number Placeholder 4">
            <a:extLst>
              <a:ext uri="{FF2B5EF4-FFF2-40B4-BE49-F238E27FC236}">
                <a16:creationId xmlns:a16="http://schemas.microsoft.com/office/drawing/2014/main" id="{FBE25876-36CF-424C-ABB5-B54C23E4EACF}"/>
              </a:ext>
            </a:extLst>
          </p:cNvPr>
          <p:cNvSpPr>
            <a:spLocks noGrp="1"/>
          </p:cNvSpPr>
          <p:nvPr>
            <p:ph type="sldNum" sz="quarter" idx="12"/>
          </p:nvPr>
        </p:nvSpPr>
        <p:spPr/>
        <p:txBody>
          <a:bodyPr/>
          <a:lstStyle/>
          <a:p>
            <a:fld id="{7BF9DD6F-E86F-40A2-88B8-DD3E2998C092}" type="slidenum">
              <a:rPr lang="en-AU" smtClean="0"/>
              <a:t>‹#›</a:t>
            </a:fld>
            <a:endParaRPr lang="en-AU"/>
          </a:p>
        </p:txBody>
      </p:sp>
    </p:spTree>
    <p:extLst>
      <p:ext uri="{BB962C8B-B14F-4D97-AF65-F5344CB8AC3E}">
        <p14:creationId xmlns:p14="http://schemas.microsoft.com/office/powerpoint/2010/main" val="245458593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8DD8F218-7BAB-6440-4B90-DD84170B86C6}"/>
              </a:ext>
            </a:extLst>
          </p:cNvPr>
          <p:cNvSpPr>
            <a:spLocks noGrp="1"/>
          </p:cNvSpPr>
          <p:nvPr>
            <p:ph type="dt" sz="half" idx="10"/>
          </p:nvPr>
        </p:nvSpPr>
        <p:spPr/>
        <p:txBody>
          <a:bodyPr/>
          <a:lstStyle/>
          <a:p>
            <a:fld id="{7036F693-4807-4ACB-9866-42E633ECA663}" type="datetimeFigureOut">
              <a:rPr lang="en-AU" smtClean="0"/>
              <a:t>14/05/2026</a:t>
            </a:fld>
            <a:endParaRPr lang="en-AU"/>
          </a:p>
        </p:txBody>
      </p:sp>
      <p:sp>
        <p:nvSpPr>
          <p:cNvPr id="3" name="Footer Placeholder 2">
            <a:extLst>
              <a:ext uri="{FF2B5EF4-FFF2-40B4-BE49-F238E27FC236}">
                <a16:creationId xmlns:a16="http://schemas.microsoft.com/office/drawing/2014/main" id="{98B0DA65-2C36-C5F9-E815-493215A422AB}"/>
              </a:ext>
            </a:extLst>
          </p:cNvPr>
          <p:cNvSpPr>
            <a:spLocks noGrp="1"/>
          </p:cNvSpPr>
          <p:nvPr>
            <p:ph type="ftr" sz="quarter" idx="11"/>
          </p:nvPr>
        </p:nvSpPr>
        <p:spPr/>
        <p:txBody>
          <a:bodyPr/>
          <a:lstStyle/>
          <a:p>
            <a:endParaRPr lang="en-AU"/>
          </a:p>
        </p:txBody>
      </p:sp>
      <p:sp>
        <p:nvSpPr>
          <p:cNvPr id="4" name="Slide Number Placeholder 3">
            <a:extLst>
              <a:ext uri="{FF2B5EF4-FFF2-40B4-BE49-F238E27FC236}">
                <a16:creationId xmlns:a16="http://schemas.microsoft.com/office/drawing/2014/main" id="{675990D7-0136-D22F-360A-B252C724BCF6}"/>
              </a:ext>
            </a:extLst>
          </p:cNvPr>
          <p:cNvSpPr>
            <a:spLocks noGrp="1"/>
          </p:cNvSpPr>
          <p:nvPr>
            <p:ph type="sldNum" sz="quarter" idx="12"/>
          </p:nvPr>
        </p:nvSpPr>
        <p:spPr/>
        <p:txBody>
          <a:bodyPr/>
          <a:lstStyle/>
          <a:p>
            <a:fld id="{7BF9DD6F-E86F-40A2-88B8-DD3E2998C092}" type="slidenum">
              <a:rPr lang="en-AU" smtClean="0"/>
              <a:t>‹#›</a:t>
            </a:fld>
            <a:endParaRPr lang="en-AU"/>
          </a:p>
        </p:txBody>
      </p:sp>
    </p:spTree>
    <p:extLst>
      <p:ext uri="{BB962C8B-B14F-4D97-AF65-F5344CB8AC3E}">
        <p14:creationId xmlns:p14="http://schemas.microsoft.com/office/powerpoint/2010/main" val="192072951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B182E2-A10E-6ABD-55B7-3CF2BB17A3FE}"/>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AU"/>
          </a:p>
        </p:txBody>
      </p:sp>
      <p:sp>
        <p:nvSpPr>
          <p:cNvPr id="3" name="Content Placeholder 2">
            <a:extLst>
              <a:ext uri="{FF2B5EF4-FFF2-40B4-BE49-F238E27FC236}">
                <a16:creationId xmlns:a16="http://schemas.microsoft.com/office/drawing/2014/main" id="{A8AFB820-3B67-54EE-9204-21E91A5B64D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Text Placeholder 3">
            <a:extLst>
              <a:ext uri="{FF2B5EF4-FFF2-40B4-BE49-F238E27FC236}">
                <a16:creationId xmlns:a16="http://schemas.microsoft.com/office/drawing/2014/main" id="{CC38F663-644F-F023-2E42-582EF5E9CCC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F3E879A-8E01-B66D-0599-3AC685A7BBDA}"/>
              </a:ext>
            </a:extLst>
          </p:cNvPr>
          <p:cNvSpPr>
            <a:spLocks noGrp="1"/>
          </p:cNvSpPr>
          <p:nvPr>
            <p:ph type="dt" sz="half" idx="10"/>
          </p:nvPr>
        </p:nvSpPr>
        <p:spPr/>
        <p:txBody>
          <a:bodyPr/>
          <a:lstStyle/>
          <a:p>
            <a:fld id="{7036F693-4807-4ACB-9866-42E633ECA663}" type="datetimeFigureOut">
              <a:rPr lang="en-AU" smtClean="0"/>
              <a:t>14/05/2026</a:t>
            </a:fld>
            <a:endParaRPr lang="en-AU"/>
          </a:p>
        </p:txBody>
      </p:sp>
      <p:sp>
        <p:nvSpPr>
          <p:cNvPr id="6" name="Footer Placeholder 5">
            <a:extLst>
              <a:ext uri="{FF2B5EF4-FFF2-40B4-BE49-F238E27FC236}">
                <a16:creationId xmlns:a16="http://schemas.microsoft.com/office/drawing/2014/main" id="{675E3D63-660A-D02B-96B2-4D753F7C062B}"/>
              </a:ext>
            </a:extLst>
          </p:cNvPr>
          <p:cNvSpPr>
            <a:spLocks noGrp="1"/>
          </p:cNvSpPr>
          <p:nvPr>
            <p:ph type="ftr" sz="quarter" idx="11"/>
          </p:nvPr>
        </p:nvSpPr>
        <p:spPr/>
        <p:txBody>
          <a:bodyPr/>
          <a:lstStyle/>
          <a:p>
            <a:endParaRPr lang="en-AU"/>
          </a:p>
        </p:txBody>
      </p:sp>
      <p:sp>
        <p:nvSpPr>
          <p:cNvPr id="7" name="Slide Number Placeholder 6">
            <a:extLst>
              <a:ext uri="{FF2B5EF4-FFF2-40B4-BE49-F238E27FC236}">
                <a16:creationId xmlns:a16="http://schemas.microsoft.com/office/drawing/2014/main" id="{279EB7DC-A1C1-DBE0-4D1D-DC8818D620F3}"/>
              </a:ext>
            </a:extLst>
          </p:cNvPr>
          <p:cNvSpPr>
            <a:spLocks noGrp="1"/>
          </p:cNvSpPr>
          <p:nvPr>
            <p:ph type="sldNum" sz="quarter" idx="12"/>
          </p:nvPr>
        </p:nvSpPr>
        <p:spPr/>
        <p:txBody>
          <a:bodyPr/>
          <a:lstStyle/>
          <a:p>
            <a:fld id="{7BF9DD6F-E86F-40A2-88B8-DD3E2998C092}" type="slidenum">
              <a:rPr lang="en-AU" smtClean="0"/>
              <a:t>‹#›</a:t>
            </a:fld>
            <a:endParaRPr lang="en-AU"/>
          </a:p>
        </p:txBody>
      </p:sp>
    </p:spTree>
    <p:extLst>
      <p:ext uri="{BB962C8B-B14F-4D97-AF65-F5344CB8AC3E}">
        <p14:creationId xmlns:p14="http://schemas.microsoft.com/office/powerpoint/2010/main" val="41868696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BAC59C-D9F3-8D06-AD72-B0ACFEC8A76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AU"/>
          </a:p>
        </p:txBody>
      </p:sp>
      <p:sp>
        <p:nvSpPr>
          <p:cNvPr id="3" name="Picture Placeholder 2">
            <a:extLst>
              <a:ext uri="{FF2B5EF4-FFF2-40B4-BE49-F238E27FC236}">
                <a16:creationId xmlns:a16="http://schemas.microsoft.com/office/drawing/2014/main" id="{D451E33A-D236-7697-03E8-F0AB97BD5FBA}"/>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AU"/>
          </a:p>
        </p:txBody>
      </p:sp>
      <p:sp>
        <p:nvSpPr>
          <p:cNvPr id="4" name="Text Placeholder 3">
            <a:extLst>
              <a:ext uri="{FF2B5EF4-FFF2-40B4-BE49-F238E27FC236}">
                <a16:creationId xmlns:a16="http://schemas.microsoft.com/office/drawing/2014/main" id="{747BB688-BC97-FCC2-C6B6-4BF70D2945E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EDF0714-9BF9-CEE3-2D93-A2D3000B4FBE}"/>
              </a:ext>
            </a:extLst>
          </p:cNvPr>
          <p:cNvSpPr>
            <a:spLocks noGrp="1"/>
          </p:cNvSpPr>
          <p:nvPr>
            <p:ph type="dt" sz="half" idx="10"/>
          </p:nvPr>
        </p:nvSpPr>
        <p:spPr/>
        <p:txBody>
          <a:bodyPr/>
          <a:lstStyle/>
          <a:p>
            <a:fld id="{7036F693-4807-4ACB-9866-42E633ECA663}" type="datetimeFigureOut">
              <a:rPr lang="en-AU" smtClean="0"/>
              <a:t>14/05/2026</a:t>
            </a:fld>
            <a:endParaRPr lang="en-AU"/>
          </a:p>
        </p:txBody>
      </p:sp>
      <p:sp>
        <p:nvSpPr>
          <p:cNvPr id="6" name="Footer Placeholder 5">
            <a:extLst>
              <a:ext uri="{FF2B5EF4-FFF2-40B4-BE49-F238E27FC236}">
                <a16:creationId xmlns:a16="http://schemas.microsoft.com/office/drawing/2014/main" id="{22D2D7F7-5B88-507C-DE4C-730E04E87A41}"/>
              </a:ext>
            </a:extLst>
          </p:cNvPr>
          <p:cNvSpPr>
            <a:spLocks noGrp="1"/>
          </p:cNvSpPr>
          <p:nvPr>
            <p:ph type="ftr" sz="quarter" idx="11"/>
          </p:nvPr>
        </p:nvSpPr>
        <p:spPr/>
        <p:txBody>
          <a:bodyPr/>
          <a:lstStyle/>
          <a:p>
            <a:endParaRPr lang="en-AU"/>
          </a:p>
        </p:txBody>
      </p:sp>
      <p:sp>
        <p:nvSpPr>
          <p:cNvPr id="7" name="Slide Number Placeholder 6">
            <a:extLst>
              <a:ext uri="{FF2B5EF4-FFF2-40B4-BE49-F238E27FC236}">
                <a16:creationId xmlns:a16="http://schemas.microsoft.com/office/drawing/2014/main" id="{FEE44157-7A04-856B-4C28-125F1006953A}"/>
              </a:ext>
            </a:extLst>
          </p:cNvPr>
          <p:cNvSpPr>
            <a:spLocks noGrp="1"/>
          </p:cNvSpPr>
          <p:nvPr>
            <p:ph type="sldNum" sz="quarter" idx="12"/>
          </p:nvPr>
        </p:nvSpPr>
        <p:spPr/>
        <p:txBody>
          <a:bodyPr/>
          <a:lstStyle/>
          <a:p>
            <a:fld id="{7BF9DD6F-E86F-40A2-88B8-DD3E2998C092}" type="slidenum">
              <a:rPr lang="en-AU" smtClean="0"/>
              <a:t>‹#›</a:t>
            </a:fld>
            <a:endParaRPr lang="en-AU"/>
          </a:p>
        </p:txBody>
      </p:sp>
    </p:spTree>
    <p:extLst>
      <p:ext uri="{BB962C8B-B14F-4D97-AF65-F5344CB8AC3E}">
        <p14:creationId xmlns:p14="http://schemas.microsoft.com/office/powerpoint/2010/main" val="348319892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145458-5F73-9470-8CAE-2E81515E0894}"/>
              </a:ext>
            </a:extLst>
          </p:cNvPr>
          <p:cNvSpPr>
            <a:spLocks noGrp="1"/>
          </p:cNvSpPr>
          <p:nvPr>
            <p:ph type="title"/>
          </p:nvPr>
        </p:nvSpPr>
        <p:spPr/>
        <p:txBody>
          <a:bodyPr/>
          <a:lstStyle/>
          <a:p>
            <a:r>
              <a:rPr lang="en-US"/>
              <a:t>Click to edit Master title style</a:t>
            </a:r>
            <a:endParaRPr lang="en-AU"/>
          </a:p>
        </p:txBody>
      </p:sp>
      <p:sp>
        <p:nvSpPr>
          <p:cNvPr id="3" name="Vertical Text Placeholder 2">
            <a:extLst>
              <a:ext uri="{FF2B5EF4-FFF2-40B4-BE49-F238E27FC236}">
                <a16:creationId xmlns:a16="http://schemas.microsoft.com/office/drawing/2014/main" id="{68D69212-ADB1-50EC-5CEA-45FC69553656}"/>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13DE07B7-9900-254A-5FCC-8FA7A36E9CDC}"/>
              </a:ext>
            </a:extLst>
          </p:cNvPr>
          <p:cNvSpPr>
            <a:spLocks noGrp="1"/>
          </p:cNvSpPr>
          <p:nvPr>
            <p:ph type="dt" sz="half" idx="10"/>
          </p:nvPr>
        </p:nvSpPr>
        <p:spPr/>
        <p:txBody>
          <a:bodyPr/>
          <a:lstStyle/>
          <a:p>
            <a:fld id="{7036F693-4807-4ACB-9866-42E633ECA663}" type="datetimeFigureOut">
              <a:rPr lang="en-AU" smtClean="0"/>
              <a:t>14/05/2026</a:t>
            </a:fld>
            <a:endParaRPr lang="en-AU"/>
          </a:p>
        </p:txBody>
      </p:sp>
      <p:sp>
        <p:nvSpPr>
          <p:cNvPr id="5" name="Footer Placeholder 4">
            <a:extLst>
              <a:ext uri="{FF2B5EF4-FFF2-40B4-BE49-F238E27FC236}">
                <a16:creationId xmlns:a16="http://schemas.microsoft.com/office/drawing/2014/main" id="{1462B5A4-5993-85D1-5468-04356E670847}"/>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C176EC13-E83E-ED79-64A4-4003E3E1652B}"/>
              </a:ext>
            </a:extLst>
          </p:cNvPr>
          <p:cNvSpPr>
            <a:spLocks noGrp="1"/>
          </p:cNvSpPr>
          <p:nvPr>
            <p:ph type="sldNum" sz="quarter" idx="12"/>
          </p:nvPr>
        </p:nvSpPr>
        <p:spPr/>
        <p:txBody>
          <a:bodyPr/>
          <a:lstStyle/>
          <a:p>
            <a:fld id="{7BF9DD6F-E86F-40A2-88B8-DD3E2998C092}" type="slidenum">
              <a:rPr lang="en-AU" smtClean="0"/>
              <a:t>‹#›</a:t>
            </a:fld>
            <a:endParaRPr lang="en-AU"/>
          </a:p>
        </p:txBody>
      </p:sp>
    </p:spTree>
    <p:extLst>
      <p:ext uri="{BB962C8B-B14F-4D97-AF65-F5344CB8AC3E}">
        <p14:creationId xmlns:p14="http://schemas.microsoft.com/office/powerpoint/2010/main" val="303171159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6B3886C-B88F-C1C9-1FB1-F136ADFDBAC4}"/>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AU"/>
          </a:p>
        </p:txBody>
      </p:sp>
      <p:sp>
        <p:nvSpPr>
          <p:cNvPr id="3" name="Vertical Text Placeholder 2">
            <a:extLst>
              <a:ext uri="{FF2B5EF4-FFF2-40B4-BE49-F238E27FC236}">
                <a16:creationId xmlns:a16="http://schemas.microsoft.com/office/drawing/2014/main" id="{68D7E0EB-AE17-BE86-7C82-F2CA8993E02A}"/>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3EDDFC22-96DC-6854-A720-1925CC85A54A}"/>
              </a:ext>
            </a:extLst>
          </p:cNvPr>
          <p:cNvSpPr>
            <a:spLocks noGrp="1"/>
          </p:cNvSpPr>
          <p:nvPr>
            <p:ph type="dt" sz="half" idx="10"/>
          </p:nvPr>
        </p:nvSpPr>
        <p:spPr/>
        <p:txBody>
          <a:bodyPr/>
          <a:lstStyle/>
          <a:p>
            <a:fld id="{7036F693-4807-4ACB-9866-42E633ECA663}" type="datetimeFigureOut">
              <a:rPr lang="en-AU" smtClean="0"/>
              <a:t>14/05/2026</a:t>
            </a:fld>
            <a:endParaRPr lang="en-AU"/>
          </a:p>
        </p:txBody>
      </p:sp>
      <p:sp>
        <p:nvSpPr>
          <p:cNvPr id="5" name="Footer Placeholder 4">
            <a:extLst>
              <a:ext uri="{FF2B5EF4-FFF2-40B4-BE49-F238E27FC236}">
                <a16:creationId xmlns:a16="http://schemas.microsoft.com/office/drawing/2014/main" id="{FC091287-7765-7759-35E1-6830A960FA69}"/>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BFAECDA5-B452-46B1-123F-041BF41F130E}"/>
              </a:ext>
            </a:extLst>
          </p:cNvPr>
          <p:cNvSpPr>
            <a:spLocks noGrp="1"/>
          </p:cNvSpPr>
          <p:nvPr>
            <p:ph type="sldNum" sz="quarter" idx="12"/>
          </p:nvPr>
        </p:nvSpPr>
        <p:spPr/>
        <p:txBody>
          <a:bodyPr/>
          <a:lstStyle/>
          <a:p>
            <a:fld id="{7BF9DD6F-E86F-40A2-88B8-DD3E2998C092}" type="slidenum">
              <a:rPr lang="en-AU" smtClean="0"/>
              <a:t>‹#›</a:t>
            </a:fld>
            <a:endParaRPr lang="en-AU"/>
          </a:p>
        </p:txBody>
      </p:sp>
    </p:spTree>
    <p:extLst>
      <p:ext uri="{BB962C8B-B14F-4D97-AF65-F5344CB8AC3E}">
        <p14:creationId xmlns:p14="http://schemas.microsoft.com/office/powerpoint/2010/main" val="90216256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type="obj" preserve="1">
  <p:cSld name="Title Slide">
    <p:bg>
      <p:bgPr>
        <a:solidFill>
          <a:schemeClr val="bg1"/>
        </a:solidFill>
        <a:effectLst/>
      </p:bgPr>
    </p:bg>
    <p:spTree>
      <p:nvGrpSpPr>
        <p:cNvPr id="1" name=""/>
        <p:cNvGrpSpPr/>
        <p:nvPr/>
      </p:nvGrpSpPr>
      <p:grpSpPr>
        <a:xfrm>
          <a:off x="0" y="0"/>
          <a:ext cx="0" cy="0"/>
          <a:chOff x="0" y="0"/>
          <a:chExt cx="0" cy="0"/>
        </a:xfrm>
      </p:grpSpPr>
      <p:pic>
        <p:nvPicPr>
          <p:cNvPr id="16" name="bg object 16"/>
          <p:cNvPicPr/>
          <p:nvPr/>
        </p:nvPicPr>
        <p:blipFill>
          <a:blip r:embed="rId2" cstate="print"/>
          <a:stretch>
            <a:fillRect/>
          </a:stretch>
        </p:blipFill>
        <p:spPr>
          <a:xfrm>
            <a:off x="0" y="0"/>
            <a:ext cx="12192000" cy="6857999"/>
          </a:xfrm>
          <a:prstGeom prst="rect">
            <a:avLst/>
          </a:prstGeom>
        </p:spPr>
      </p:pic>
      <p:pic>
        <p:nvPicPr>
          <p:cNvPr id="17" name="bg object 17"/>
          <p:cNvPicPr/>
          <p:nvPr/>
        </p:nvPicPr>
        <p:blipFill>
          <a:blip r:embed="rId3" cstate="print"/>
          <a:stretch>
            <a:fillRect/>
          </a:stretch>
        </p:blipFill>
        <p:spPr>
          <a:xfrm>
            <a:off x="3299459" y="77723"/>
            <a:ext cx="4029455" cy="1479803"/>
          </a:xfrm>
          <a:prstGeom prst="rect">
            <a:avLst/>
          </a:prstGeom>
        </p:spPr>
      </p:pic>
      <p:sp>
        <p:nvSpPr>
          <p:cNvPr id="2" name="Holder 2"/>
          <p:cNvSpPr>
            <a:spLocks noGrp="1"/>
          </p:cNvSpPr>
          <p:nvPr>
            <p:ph type="ctrTitle"/>
          </p:nvPr>
        </p:nvSpPr>
        <p:spPr>
          <a:xfrm>
            <a:off x="3055111" y="1967229"/>
            <a:ext cx="4791075" cy="452119"/>
          </a:xfrm>
          <a:prstGeom prst="rect">
            <a:avLst/>
          </a:prstGeom>
        </p:spPr>
        <p:txBody>
          <a:bodyPr wrap="square" lIns="0" tIns="0" rIns="0" bIns="0">
            <a:spAutoFit/>
          </a:bodyPr>
          <a:lstStyle>
            <a:lvl1pPr>
              <a:defRPr sz="3600" b="1" i="0">
                <a:solidFill>
                  <a:srgbClr val="AE230D"/>
                </a:solidFill>
                <a:latin typeface="Arial"/>
                <a:cs typeface="Arial"/>
              </a:defRPr>
            </a:lvl1pPr>
          </a:lstStyle>
          <a:p>
            <a:endParaRPr/>
          </a:p>
        </p:txBody>
      </p:sp>
      <p:sp>
        <p:nvSpPr>
          <p:cNvPr id="3" name="Holder 3"/>
          <p:cNvSpPr>
            <a:spLocks noGrp="1"/>
          </p:cNvSpPr>
          <p:nvPr>
            <p:ph type="subTitle" idx="4"/>
          </p:nvPr>
        </p:nvSpPr>
        <p:spPr>
          <a:xfrm>
            <a:off x="1828800" y="3840480"/>
            <a:ext cx="8534400" cy="1714500"/>
          </a:xfrm>
          <a:prstGeom prst="rect">
            <a:avLst/>
          </a:prstGeom>
        </p:spPr>
        <p:txBody>
          <a:bodyPr wrap="square" lIns="0" tIns="0" rIns="0" bIns="0">
            <a:spAutoFit/>
          </a:bodyPr>
          <a:lstStyle>
            <a:lvl1pPr>
              <a:defRPr/>
            </a:lvl1pPr>
          </a:lstStyle>
          <a:p>
            <a:endParaRPr/>
          </a:p>
        </p:txBody>
      </p:sp>
      <p:sp>
        <p:nvSpPr>
          <p:cNvPr id="4" name="Holder 4"/>
          <p:cNvSpPr>
            <a:spLocks noGrp="1"/>
          </p:cNvSpPr>
          <p:nvPr>
            <p:ph type="ftr" sz="quarter" idx="5"/>
          </p:nvPr>
        </p:nvSpPr>
        <p:spPr/>
        <p:txBody>
          <a:bodyPr lIns="0" tIns="0" rIns="0" bIns="0"/>
          <a:lstStyle>
            <a:lvl1pPr>
              <a:defRPr sz="1000" b="0" i="0">
                <a:solidFill>
                  <a:schemeClr val="tx1"/>
                </a:solidFill>
                <a:latin typeface="Tahoma"/>
                <a:cs typeface="Tahoma"/>
              </a:defRPr>
            </a:lvl1pPr>
          </a:lstStyle>
          <a:p>
            <a:pPr marL="12700">
              <a:lnSpc>
                <a:spcPct val="100000"/>
              </a:lnSpc>
              <a:spcBef>
                <a:spcPts val="95"/>
              </a:spcBef>
            </a:pPr>
            <a:r>
              <a:rPr dirty="0"/>
              <a:t>Holmes</a:t>
            </a:r>
            <a:r>
              <a:rPr spc="-35" dirty="0"/>
              <a:t> </a:t>
            </a:r>
            <a:r>
              <a:rPr spc="-10" dirty="0"/>
              <a:t>Institute</a:t>
            </a:r>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5/14/2026</a:t>
            </a:fld>
            <a:endParaRPr lang="en-US"/>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extLst>
      <p:ext uri="{BB962C8B-B14F-4D97-AF65-F5344CB8AC3E}">
        <p14:creationId xmlns:p14="http://schemas.microsoft.com/office/powerpoint/2010/main" val="7164711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3600" b="1" i="0">
                <a:solidFill>
                  <a:srgbClr val="AE230D"/>
                </a:solidFill>
                <a:latin typeface="Arial"/>
                <a:cs typeface="Arial"/>
              </a:defRPr>
            </a:lvl1pPr>
          </a:lstStyle>
          <a:p>
            <a:endParaRPr/>
          </a:p>
        </p:txBody>
      </p:sp>
      <p:sp>
        <p:nvSpPr>
          <p:cNvPr id="3" name="Holder 3"/>
          <p:cNvSpPr>
            <a:spLocks noGrp="1"/>
          </p:cNvSpPr>
          <p:nvPr>
            <p:ph type="body" idx="1"/>
          </p:nvPr>
        </p:nvSpPr>
        <p:spPr/>
        <p:txBody>
          <a:bodyPr lIns="0" tIns="0" rIns="0" bIns="0"/>
          <a:lstStyle>
            <a:lvl1pPr>
              <a:defRPr/>
            </a:lvl1pPr>
          </a:lstStyle>
          <a:p>
            <a:endParaRPr/>
          </a:p>
        </p:txBody>
      </p:sp>
      <p:sp>
        <p:nvSpPr>
          <p:cNvPr id="4" name="Holder 4"/>
          <p:cNvSpPr>
            <a:spLocks noGrp="1"/>
          </p:cNvSpPr>
          <p:nvPr>
            <p:ph type="ftr" sz="quarter" idx="5"/>
          </p:nvPr>
        </p:nvSpPr>
        <p:spPr/>
        <p:txBody>
          <a:bodyPr lIns="0" tIns="0" rIns="0" bIns="0"/>
          <a:lstStyle>
            <a:lvl1pPr>
              <a:defRPr sz="1000" b="0" i="0">
                <a:solidFill>
                  <a:schemeClr val="tx1"/>
                </a:solidFill>
                <a:latin typeface="Tahoma"/>
                <a:cs typeface="Tahoma"/>
              </a:defRPr>
            </a:lvl1pPr>
          </a:lstStyle>
          <a:p>
            <a:pPr marL="12700">
              <a:lnSpc>
                <a:spcPct val="100000"/>
              </a:lnSpc>
              <a:spcBef>
                <a:spcPts val="95"/>
              </a:spcBef>
            </a:pPr>
            <a:r>
              <a:rPr dirty="0"/>
              <a:t>Holmes</a:t>
            </a:r>
            <a:r>
              <a:rPr spc="-35" dirty="0"/>
              <a:t> </a:t>
            </a:r>
            <a:r>
              <a:rPr spc="-10" dirty="0"/>
              <a:t>Institute</a:t>
            </a:r>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5/14/2026</a:t>
            </a:fld>
            <a:endParaRPr lang="en-US"/>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extLst>
      <p:ext uri="{BB962C8B-B14F-4D97-AF65-F5344CB8AC3E}">
        <p14:creationId xmlns:p14="http://schemas.microsoft.com/office/powerpoint/2010/main" val="57253233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obj" preserve="1">
  <p:cSld name="Two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3600" b="1" i="0">
                <a:solidFill>
                  <a:srgbClr val="AE230D"/>
                </a:solidFill>
                <a:latin typeface="Arial"/>
                <a:cs typeface="Arial"/>
              </a:defRPr>
            </a:lvl1pPr>
          </a:lstStyle>
          <a:p>
            <a:endParaRPr/>
          </a:p>
        </p:txBody>
      </p:sp>
      <p:sp>
        <p:nvSpPr>
          <p:cNvPr id="3" name="Holder 3"/>
          <p:cNvSpPr>
            <a:spLocks noGrp="1"/>
          </p:cNvSpPr>
          <p:nvPr>
            <p:ph sz="half" idx="2"/>
          </p:nvPr>
        </p:nvSpPr>
        <p:spPr>
          <a:xfrm>
            <a:off x="609600" y="1577340"/>
            <a:ext cx="5303520" cy="4526280"/>
          </a:xfrm>
          <a:prstGeom prst="rect">
            <a:avLst/>
          </a:prstGeom>
        </p:spPr>
        <p:txBody>
          <a:bodyPr wrap="square" lIns="0" tIns="0" rIns="0" bIns="0">
            <a:spAutoFit/>
          </a:bodyPr>
          <a:lstStyle>
            <a:lvl1pPr>
              <a:defRPr/>
            </a:lvl1pPr>
          </a:lstStyle>
          <a:p>
            <a:endParaRPr/>
          </a:p>
        </p:txBody>
      </p:sp>
      <p:sp>
        <p:nvSpPr>
          <p:cNvPr id="4" name="Holder 4"/>
          <p:cNvSpPr>
            <a:spLocks noGrp="1"/>
          </p:cNvSpPr>
          <p:nvPr>
            <p:ph sz="half" idx="3"/>
          </p:nvPr>
        </p:nvSpPr>
        <p:spPr>
          <a:xfrm>
            <a:off x="6278880" y="1577340"/>
            <a:ext cx="5303520" cy="4526280"/>
          </a:xfrm>
          <a:prstGeom prst="rect">
            <a:avLst/>
          </a:prstGeom>
        </p:spPr>
        <p:txBody>
          <a:bodyPr wrap="square" lIns="0" tIns="0" rIns="0" bIns="0">
            <a:spAutoFit/>
          </a:bodyPr>
          <a:lstStyle>
            <a:lvl1pPr>
              <a:defRPr/>
            </a:lvl1pPr>
          </a:lstStyle>
          <a:p>
            <a:endParaRPr/>
          </a:p>
        </p:txBody>
      </p:sp>
      <p:sp>
        <p:nvSpPr>
          <p:cNvPr id="5" name="Holder 5"/>
          <p:cNvSpPr>
            <a:spLocks noGrp="1"/>
          </p:cNvSpPr>
          <p:nvPr>
            <p:ph type="ftr" sz="quarter" idx="5"/>
          </p:nvPr>
        </p:nvSpPr>
        <p:spPr/>
        <p:txBody>
          <a:bodyPr lIns="0" tIns="0" rIns="0" bIns="0"/>
          <a:lstStyle>
            <a:lvl1pPr>
              <a:defRPr sz="1000" b="0" i="0">
                <a:solidFill>
                  <a:schemeClr val="tx1"/>
                </a:solidFill>
                <a:latin typeface="Tahoma"/>
                <a:cs typeface="Tahoma"/>
              </a:defRPr>
            </a:lvl1pPr>
          </a:lstStyle>
          <a:p>
            <a:pPr marL="12700">
              <a:lnSpc>
                <a:spcPct val="100000"/>
              </a:lnSpc>
              <a:spcBef>
                <a:spcPts val="95"/>
              </a:spcBef>
            </a:pPr>
            <a:r>
              <a:rPr dirty="0"/>
              <a:t>Holmes</a:t>
            </a:r>
            <a:r>
              <a:rPr spc="-35" dirty="0"/>
              <a:t> </a:t>
            </a:r>
            <a:r>
              <a:rPr spc="-10" dirty="0"/>
              <a:t>Institute</a:t>
            </a:r>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5/14/2026</a:t>
            </a:fld>
            <a:endParaRPr lang="en-US"/>
          </a:p>
        </p:txBody>
      </p:sp>
      <p:sp>
        <p:nvSpPr>
          <p:cNvPr id="7" name="Holder 7"/>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extLst>
      <p:ext uri="{BB962C8B-B14F-4D97-AF65-F5344CB8AC3E}">
        <p14:creationId xmlns:p14="http://schemas.microsoft.com/office/powerpoint/2010/main" val="569160754"/>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type="obj" preserve="1">
  <p:cSld name="Title Only">
    <p:bg>
      <p:bgPr>
        <a:solidFill>
          <a:schemeClr val="bg1"/>
        </a:solidFill>
        <a:effectLst/>
      </p:bgPr>
    </p:bg>
    <p:spTree>
      <p:nvGrpSpPr>
        <p:cNvPr id="1" name=""/>
        <p:cNvGrpSpPr/>
        <p:nvPr/>
      </p:nvGrpSpPr>
      <p:grpSpPr>
        <a:xfrm>
          <a:off x="0" y="0"/>
          <a:ext cx="0" cy="0"/>
          <a:chOff x="0" y="0"/>
          <a:chExt cx="0" cy="0"/>
        </a:xfrm>
      </p:grpSpPr>
      <p:pic>
        <p:nvPicPr>
          <p:cNvPr id="16" name="bg object 16"/>
          <p:cNvPicPr/>
          <p:nvPr/>
        </p:nvPicPr>
        <p:blipFill>
          <a:blip r:embed="rId2" cstate="print"/>
          <a:stretch>
            <a:fillRect/>
          </a:stretch>
        </p:blipFill>
        <p:spPr>
          <a:xfrm>
            <a:off x="0" y="0"/>
            <a:ext cx="12192000" cy="6857999"/>
          </a:xfrm>
          <a:prstGeom prst="rect">
            <a:avLst/>
          </a:prstGeom>
        </p:spPr>
      </p:pic>
      <p:pic>
        <p:nvPicPr>
          <p:cNvPr id="17" name="bg object 17"/>
          <p:cNvPicPr/>
          <p:nvPr/>
        </p:nvPicPr>
        <p:blipFill>
          <a:blip r:embed="rId3" cstate="print"/>
          <a:stretch>
            <a:fillRect/>
          </a:stretch>
        </p:blipFill>
        <p:spPr>
          <a:xfrm>
            <a:off x="3299459" y="77723"/>
            <a:ext cx="4029455" cy="1479803"/>
          </a:xfrm>
          <a:prstGeom prst="rect">
            <a:avLst/>
          </a:prstGeom>
        </p:spPr>
      </p:pic>
      <p:sp>
        <p:nvSpPr>
          <p:cNvPr id="2" name="Holder 2"/>
          <p:cNvSpPr>
            <a:spLocks noGrp="1"/>
          </p:cNvSpPr>
          <p:nvPr>
            <p:ph type="title"/>
          </p:nvPr>
        </p:nvSpPr>
        <p:spPr/>
        <p:txBody>
          <a:bodyPr lIns="0" tIns="0" rIns="0" bIns="0"/>
          <a:lstStyle>
            <a:lvl1pPr>
              <a:defRPr sz="3600" b="1" i="0">
                <a:solidFill>
                  <a:srgbClr val="AE230D"/>
                </a:solidFill>
                <a:latin typeface="Arial"/>
                <a:cs typeface="Arial"/>
              </a:defRPr>
            </a:lvl1pPr>
          </a:lstStyle>
          <a:p>
            <a:endParaRPr/>
          </a:p>
        </p:txBody>
      </p:sp>
      <p:sp>
        <p:nvSpPr>
          <p:cNvPr id="3" name="Holder 3"/>
          <p:cNvSpPr>
            <a:spLocks noGrp="1"/>
          </p:cNvSpPr>
          <p:nvPr>
            <p:ph type="ftr" sz="quarter" idx="5"/>
          </p:nvPr>
        </p:nvSpPr>
        <p:spPr/>
        <p:txBody>
          <a:bodyPr lIns="0" tIns="0" rIns="0" bIns="0"/>
          <a:lstStyle>
            <a:lvl1pPr>
              <a:defRPr sz="1000" b="0" i="0">
                <a:solidFill>
                  <a:schemeClr val="tx1"/>
                </a:solidFill>
                <a:latin typeface="Tahoma"/>
                <a:cs typeface="Tahoma"/>
              </a:defRPr>
            </a:lvl1pPr>
          </a:lstStyle>
          <a:p>
            <a:pPr marL="12700">
              <a:lnSpc>
                <a:spcPct val="100000"/>
              </a:lnSpc>
              <a:spcBef>
                <a:spcPts val="95"/>
              </a:spcBef>
            </a:pPr>
            <a:r>
              <a:rPr dirty="0"/>
              <a:t>Holmes</a:t>
            </a:r>
            <a:r>
              <a:rPr spc="-35" dirty="0"/>
              <a:t> </a:t>
            </a:r>
            <a:r>
              <a:rPr spc="-10" dirty="0"/>
              <a:t>Institute</a:t>
            </a:r>
          </a:p>
        </p:txBody>
      </p:sp>
      <p:sp>
        <p:nvSpPr>
          <p:cNvPr id="4" name="Holder 4"/>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5/14/2026</a:t>
            </a:fld>
            <a:endParaRPr lang="en-US"/>
          </a:p>
        </p:txBody>
      </p:sp>
      <p:sp>
        <p:nvSpPr>
          <p:cNvPr id="5" name="Holder 5"/>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extLst>
      <p:ext uri="{BB962C8B-B14F-4D97-AF65-F5344CB8AC3E}">
        <p14:creationId xmlns:p14="http://schemas.microsoft.com/office/powerpoint/2010/main" val="602120781"/>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obj" preserve="1">
  <p:cSld name="Blank">
    <p:spTree>
      <p:nvGrpSpPr>
        <p:cNvPr id="1" name=""/>
        <p:cNvGrpSpPr/>
        <p:nvPr/>
      </p:nvGrpSpPr>
      <p:grpSpPr>
        <a:xfrm>
          <a:off x="0" y="0"/>
          <a:ext cx="0" cy="0"/>
          <a:chOff x="0" y="0"/>
          <a:chExt cx="0" cy="0"/>
        </a:xfrm>
      </p:grpSpPr>
      <p:sp>
        <p:nvSpPr>
          <p:cNvPr id="2" name="Holder 2"/>
          <p:cNvSpPr>
            <a:spLocks noGrp="1"/>
          </p:cNvSpPr>
          <p:nvPr>
            <p:ph type="ftr" sz="quarter" idx="5"/>
          </p:nvPr>
        </p:nvSpPr>
        <p:spPr/>
        <p:txBody>
          <a:bodyPr lIns="0" tIns="0" rIns="0" bIns="0"/>
          <a:lstStyle>
            <a:lvl1pPr>
              <a:defRPr sz="1000" b="0" i="0">
                <a:solidFill>
                  <a:schemeClr val="tx1"/>
                </a:solidFill>
                <a:latin typeface="Tahoma"/>
                <a:cs typeface="Tahoma"/>
              </a:defRPr>
            </a:lvl1pPr>
          </a:lstStyle>
          <a:p>
            <a:pPr marL="12700">
              <a:lnSpc>
                <a:spcPct val="100000"/>
              </a:lnSpc>
              <a:spcBef>
                <a:spcPts val="95"/>
              </a:spcBef>
            </a:pPr>
            <a:r>
              <a:rPr dirty="0"/>
              <a:t>Holmes</a:t>
            </a:r>
            <a:r>
              <a:rPr spc="-35" dirty="0"/>
              <a:t> </a:t>
            </a:r>
            <a:r>
              <a:rPr spc="-10" dirty="0"/>
              <a:t>Institute</a:t>
            </a:r>
          </a:p>
        </p:txBody>
      </p:sp>
      <p:sp>
        <p:nvSpPr>
          <p:cNvPr id="3" name="Holder 3"/>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5/14/2026</a:t>
            </a:fld>
            <a:endParaRPr lang="en-US"/>
          </a:p>
        </p:txBody>
      </p:sp>
      <p:sp>
        <p:nvSpPr>
          <p:cNvPr id="4" name="Holder 4"/>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extLst>
      <p:ext uri="{BB962C8B-B14F-4D97-AF65-F5344CB8AC3E}">
        <p14:creationId xmlns:p14="http://schemas.microsoft.com/office/powerpoint/2010/main" val="3839626324"/>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
  <p:cSld name="1_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A453BBB-F907-4623-65DB-FC3156B63CD1}"/>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D44D4CD2-2F0E-4232-0771-6C58ADBC1CA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C5E16003-E5BD-FEBA-3F09-15903EFE492B}"/>
              </a:ext>
            </a:extLst>
          </p:cNvPr>
          <p:cNvSpPr>
            <a:spLocks noGrp="1"/>
          </p:cNvSpPr>
          <p:nvPr>
            <p:ph type="dt" sz="half" idx="10"/>
          </p:nvPr>
        </p:nvSpPr>
        <p:spPr/>
        <p:txBody>
          <a:bodyPr/>
          <a:lstStyle/>
          <a:p>
            <a:fld id="{6C5FC939-4E48-422B-85CF-AE5DFF0E5B8E}" type="datetimeFigureOut">
              <a:rPr lang="en-US" smtClean="0"/>
              <a:t>5/14/2026</a:t>
            </a:fld>
            <a:endParaRPr lang="en-US"/>
          </a:p>
        </p:txBody>
      </p:sp>
      <p:sp>
        <p:nvSpPr>
          <p:cNvPr id="5" name="Footer Placeholder 4">
            <a:extLst>
              <a:ext uri="{FF2B5EF4-FFF2-40B4-BE49-F238E27FC236}">
                <a16:creationId xmlns:a16="http://schemas.microsoft.com/office/drawing/2014/main" id="{330DAAF6-9D4F-1019-FF4B-B1131596897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9DF9AF1-5889-CBF6-6AEB-C2F585F1C357}"/>
              </a:ext>
            </a:extLst>
          </p:cNvPr>
          <p:cNvSpPr>
            <a:spLocks noGrp="1"/>
          </p:cNvSpPr>
          <p:nvPr>
            <p:ph type="sldNum" sz="quarter" idx="12"/>
          </p:nvPr>
        </p:nvSpPr>
        <p:spPr/>
        <p:txBody>
          <a:bodyPr/>
          <a:lstStyle/>
          <a:p>
            <a:fld id="{83D507A6-8785-483D-BAF4-84DBECC94A15}" type="slidenum">
              <a:rPr lang="en-US" smtClean="0"/>
              <a:t>‹#›</a:t>
            </a:fld>
            <a:endParaRPr lang="en-US"/>
          </a:p>
        </p:txBody>
      </p:sp>
    </p:spTree>
    <p:extLst>
      <p:ext uri="{BB962C8B-B14F-4D97-AF65-F5344CB8AC3E}">
        <p14:creationId xmlns:p14="http://schemas.microsoft.com/office/powerpoint/2010/main" val="79963190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image" Target="../media/image1.jpg"/><Relationship Id="rId3" Type="http://schemas.openxmlformats.org/officeDocument/2006/relationships/slideLayout" Target="../slideLayouts/slideLayout14.xml"/><Relationship Id="rId7" Type="http://schemas.openxmlformats.org/officeDocument/2006/relationships/theme" Target="../theme/theme2.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5" Type="http://schemas.openxmlformats.org/officeDocument/2006/relationships/slideLayout" Target="../slideLayouts/slideLayout16.xml"/><Relationship Id="rId4" Type="http://schemas.openxmlformats.org/officeDocument/2006/relationships/slideLayout" Target="../slideLayouts/slideLayout15.xml"/><Relationship Id="rId9"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DEE6B418-3ADB-3D52-362F-EF8EB606CECC}"/>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AU"/>
          </a:p>
        </p:txBody>
      </p:sp>
      <p:sp>
        <p:nvSpPr>
          <p:cNvPr id="3" name="Text Placeholder 2">
            <a:extLst>
              <a:ext uri="{FF2B5EF4-FFF2-40B4-BE49-F238E27FC236}">
                <a16:creationId xmlns:a16="http://schemas.microsoft.com/office/drawing/2014/main" id="{2DF0B803-0FBE-9FD0-EA3C-E4F9B70AE859}"/>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4B6BA73C-3BBF-5A39-4403-330159E2A57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7036F693-4807-4ACB-9866-42E633ECA663}" type="datetimeFigureOut">
              <a:rPr lang="en-AU" smtClean="0"/>
              <a:t>14/05/2026</a:t>
            </a:fld>
            <a:endParaRPr lang="en-AU"/>
          </a:p>
        </p:txBody>
      </p:sp>
      <p:sp>
        <p:nvSpPr>
          <p:cNvPr id="5" name="Footer Placeholder 4">
            <a:extLst>
              <a:ext uri="{FF2B5EF4-FFF2-40B4-BE49-F238E27FC236}">
                <a16:creationId xmlns:a16="http://schemas.microsoft.com/office/drawing/2014/main" id="{A569C9B0-90EA-F790-C481-782B3C03BC99}"/>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AU"/>
          </a:p>
        </p:txBody>
      </p:sp>
      <p:sp>
        <p:nvSpPr>
          <p:cNvPr id="6" name="Slide Number Placeholder 5">
            <a:extLst>
              <a:ext uri="{FF2B5EF4-FFF2-40B4-BE49-F238E27FC236}">
                <a16:creationId xmlns:a16="http://schemas.microsoft.com/office/drawing/2014/main" id="{82F78BE7-9EF2-8115-D3BF-53CF0589BB25}"/>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7BF9DD6F-E86F-40A2-88B8-DD3E2998C092}" type="slidenum">
              <a:rPr lang="en-AU" smtClean="0"/>
              <a:t>‹#›</a:t>
            </a:fld>
            <a:endParaRPr lang="en-AU"/>
          </a:p>
        </p:txBody>
      </p:sp>
    </p:spTree>
    <p:extLst>
      <p:ext uri="{BB962C8B-B14F-4D97-AF65-F5344CB8AC3E}">
        <p14:creationId xmlns:p14="http://schemas.microsoft.com/office/powerpoint/2010/main" val="280653608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16" name="bg object 16"/>
          <p:cNvPicPr/>
          <p:nvPr/>
        </p:nvPicPr>
        <p:blipFill>
          <a:blip r:embed="rId8" cstate="print"/>
          <a:stretch>
            <a:fillRect/>
          </a:stretch>
        </p:blipFill>
        <p:spPr>
          <a:xfrm>
            <a:off x="0" y="0"/>
            <a:ext cx="12192000" cy="649224"/>
          </a:xfrm>
          <a:prstGeom prst="rect">
            <a:avLst/>
          </a:prstGeom>
        </p:spPr>
      </p:pic>
      <p:pic>
        <p:nvPicPr>
          <p:cNvPr id="17" name="bg object 17"/>
          <p:cNvPicPr/>
          <p:nvPr/>
        </p:nvPicPr>
        <p:blipFill>
          <a:blip r:embed="rId9" cstate="print"/>
          <a:stretch>
            <a:fillRect/>
          </a:stretch>
        </p:blipFill>
        <p:spPr>
          <a:xfrm>
            <a:off x="192023" y="42671"/>
            <a:ext cx="1531620" cy="562355"/>
          </a:xfrm>
          <a:prstGeom prst="rect">
            <a:avLst/>
          </a:prstGeom>
        </p:spPr>
      </p:pic>
      <p:sp>
        <p:nvSpPr>
          <p:cNvPr id="2" name="Holder 2"/>
          <p:cNvSpPr>
            <a:spLocks noGrp="1"/>
          </p:cNvSpPr>
          <p:nvPr>
            <p:ph type="title"/>
          </p:nvPr>
        </p:nvSpPr>
        <p:spPr>
          <a:xfrm>
            <a:off x="1422019" y="2747213"/>
            <a:ext cx="8163559" cy="574675"/>
          </a:xfrm>
          <a:prstGeom prst="rect">
            <a:avLst/>
          </a:prstGeom>
        </p:spPr>
        <p:txBody>
          <a:bodyPr wrap="square" lIns="0" tIns="0" rIns="0" bIns="0">
            <a:spAutoFit/>
          </a:bodyPr>
          <a:lstStyle>
            <a:lvl1pPr>
              <a:defRPr sz="3600" b="1" i="0">
                <a:solidFill>
                  <a:srgbClr val="AE230D"/>
                </a:solidFill>
                <a:latin typeface="Arial"/>
                <a:cs typeface="Arial"/>
              </a:defRPr>
            </a:lvl1pPr>
          </a:lstStyle>
          <a:p>
            <a:endParaRPr/>
          </a:p>
        </p:txBody>
      </p:sp>
      <p:sp>
        <p:nvSpPr>
          <p:cNvPr id="3" name="Holder 3"/>
          <p:cNvSpPr>
            <a:spLocks noGrp="1"/>
          </p:cNvSpPr>
          <p:nvPr>
            <p:ph type="body" idx="1"/>
          </p:nvPr>
        </p:nvSpPr>
        <p:spPr>
          <a:xfrm>
            <a:off x="609600" y="1577340"/>
            <a:ext cx="10972800" cy="4526280"/>
          </a:xfrm>
          <a:prstGeom prst="rect">
            <a:avLst/>
          </a:prstGeom>
        </p:spPr>
        <p:txBody>
          <a:bodyPr wrap="square" lIns="0" tIns="0" rIns="0" bIns="0">
            <a:spAutoFit/>
          </a:bodyPr>
          <a:lstStyle>
            <a:lvl1pPr>
              <a:defRPr/>
            </a:lvl1pPr>
          </a:lstStyle>
          <a:p>
            <a:endParaRPr/>
          </a:p>
        </p:txBody>
      </p:sp>
      <p:sp>
        <p:nvSpPr>
          <p:cNvPr id="4" name="Holder 4"/>
          <p:cNvSpPr>
            <a:spLocks noGrp="1"/>
          </p:cNvSpPr>
          <p:nvPr>
            <p:ph type="ftr" sz="quarter" idx="5"/>
          </p:nvPr>
        </p:nvSpPr>
        <p:spPr>
          <a:xfrm>
            <a:off x="10640059" y="6487707"/>
            <a:ext cx="944879" cy="178434"/>
          </a:xfrm>
          <a:prstGeom prst="rect">
            <a:avLst/>
          </a:prstGeom>
        </p:spPr>
        <p:txBody>
          <a:bodyPr wrap="square" lIns="0" tIns="0" rIns="0" bIns="0">
            <a:spAutoFit/>
          </a:bodyPr>
          <a:lstStyle>
            <a:lvl1pPr>
              <a:defRPr sz="1000" b="0" i="0">
                <a:solidFill>
                  <a:schemeClr val="tx1"/>
                </a:solidFill>
                <a:latin typeface="Tahoma"/>
                <a:cs typeface="Tahoma"/>
              </a:defRPr>
            </a:lvl1pPr>
          </a:lstStyle>
          <a:p>
            <a:pPr marL="12700">
              <a:lnSpc>
                <a:spcPct val="100000"/>
              </a:lnSpc>
              <a:spcBef>
                <a:spcPts val="95"/>
              </a:spcBef>
            </a:pPr>
            <a:r>
              <a:rPr dirty="0"/>
              <a:t>Holmes</a:t>
            </a:r>
            <a:r>
              <a:rPr spc="-35" dirty="0"/>
              <a:t> </a:t>
            </a:r>
            <a:r>
              <a:rPr spc="-10" dirty="0"/>
              <a:t>Institute</a:t>
            </a:r>
          </a:p>
        </p:txBody>
      </p:sp>
      <p:sp>
        <p:nvSpPr>
          <p:cNvPr id="5" name="Holder 5"/>
          <p:cNvSpPr>
            <a:spLocks noGrp="1"/>
          </p:cNvSpPr>
          <p:nvPr>
            <p:ph type="dt" sz="half" idx="6"/>
          </p:nvPr>
        </p:nvSpPr>
        <p:spPr>
          <a:xfrm>
            <a:off x="609600" y="6377940"/>
            <a:ext cx="2804160" cy="342900"/>
          </a:xfrm>
          <a:prstGeom prst="rect">
            <a:avLst/>
          </a:prstGeom>
        </p:spPr>
        <p:txBody>
          <a:bodyPr wrap="square" lIns="0" tIns="0" rIns="0" bIns="0">
            <a:spAutoFit/>
          </a:bodyPr>
          <a:lstStyle>
            <a:lvl1pPr algn="l">
              <a:defRPr>
                <a:solidFill>
                  <a:schemeClr val="tx1">
                    <a:tint val="75000"/>
                  </a:schemeClr>
                </a:solidFill>
              </a:defRPr>
            </a:lvl1pPr>
          </a:lstStyle>
          <a:p>
            <a:fld id="{1D8BD707-D9CF-40AE-B4C6-C98DA3205C09}" type="datetimeFigureOut">
              <a:rPr lang="en-US"/>
              <a:t>5/14/2026</a:t>
            </a:fld>
            <a:endParaRPr lang="en-US"/>
          </a:p>
        </p:txBody>
      </p:sp>
      <p:sp>
        <p:nvSpPr>
          <p:cNvPr id="6" name="Holder 6"/>
          <p:cNvSpPr>
            <a:spLocks noGrp="1"/>
          </p:cNvSpPr>
          <p:nvPr>
            <p:ph type="sldNum" sz="quarter" idx="7"/>
          </p:nvPr>
        </p:nvSpPr>
        <p:spPr>
          <a:xfrm>
            <a:off x="8778240" y="6377940"/>
            <a:ext cx="2804160" cy="342900"/>
          </a:xfrm>
          <a:prstGeom prst="rect">
            <a:avLst/>
          </a:prstGeom>
        </p:spPr>
        <p:txBody>
          <a:bodyPr wrap="square" lIns="0" tIns="0" rIns="0" bIns="0">
            <a:spAutoFit/>
          </a:bodyPr>
          <a:lstStyle>
            <a:lvl1pPr algn="r">
              <a:defRPr>
                <a:solidFill>
                  <a:schemeClr val="tx1">
                    <a:tint val="75000"/>
                  </a:schemeClr>
                </a:solidFill>
              </a:defRPr>
            </a:lvl1pPr>
          </a:lstStyle>
          <a:p>
            <a:fld id="{B6F15528-21DE-4FAA-801E-634DDDAF4B2B}" type="slidenum">
              <a:t>‹#›</a:t>
            </a:fld>
            <a:endParaRPr/>
          </a:p>
        </p:txBody>
      </p:sp>
    </p:spTree>
    <p:extLst>
      <p:ext uri="{BB962C8B-B14F-4D97-AF65-F5344CB8AC3E}">
        <p14:creationId xmlns:p14="http://schemas.microsoft.com/office/powerpoint/2010/main" val="1794762012"/>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Lst>
  <p:txStyles>
    <p:titleStyle>
      <a:lvl1pPr>
        <a:defRPr>
          <a:latin typeface="+mj-lt"/>
          <a:ea typeface="+mj-ea"/>
          <a:cs typeface="+mj-cs"/>
        </a:defRPr>
      </a:lvl1pPr>
    </p:titleStyle>
    <p:body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bodyStyle>
    <p:other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image" Target="../media/image4.jpe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hyperlink" Target="https://github.com/FarshidKeivanian/Sessions_Web_Development_HTML_CSS_Javascript_PHP" TargetMode="External"/><Relationship Id="rId1" Type="http://schemas.openxmlformats.org/officeDocument/2006/relationships/slideLayout" Target="../slideLayouts/slideLayout1.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2.xml.rels><?xml version="1.0" encoding="UTF-8" standalone="yes"?>
<Relationships xmlns="http://schemas.openxmlformats.org/package/2006/relationships"><Relationship Id="rId2" Type="http://schemas.openxmlformats.org/officeDocument/2006/relationships/hyperlink" Target="https://infinityfree.net/" TargetMode="External"/><Relationship Id="rId1" Type="http://schemas.openxmlformats.org/officeDocument/2006/relationships/slideLayout" Target="../slideLayouts/slideLayout1.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4.xml.rels><?xml version="1.0" encoding="UTF-8" standalone="yes"?>
<Relationships xmlns="http://schemas.openxmlformats.org/package/2006/relationships"><Relationship Id="rId2" Type="http://schemas.openxmlformats.org/officeDocument/2006/relationships/hyperlink" Target="https://forum.infinityfree.com/" TargetMode="External"/><Relationship Id="rId1" Type="http://schemas.openxmlformats.org/officeDocument/2006/relationships/slideLayout" Target="../slideLayouts/slideLayout1.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9.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1.xml"/></Relationships>
</file>

<file path=ppt/slides/_rels/slide100.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1.xml"/></Relationships>
</file>

<file path=ppt/slides/_rels/slide101.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1.xml"/></Relationships>
</file>

<file path=ppt/slides/_rels/slide102.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1.xml"/></Relationships>
</file>

<file path=ppt/slides/_rels/slide103.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1.xml"/></Relationships>
</file>

<file path=ppt/slides/_rels/slide104.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1.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hyperlink" Target="https://www.turbify.com/" TargetMode="External"/><Relationship Id="rId1" Type="http://schemas.openxmlformats.org/officeDocument/2006/relationships/slideLayout" Target="../slideLayouts/slideLayout1.xml"/></Relationships>
</file>

<file path=ppt/slides/_rels/slide107.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hyperlink" Target="https://www.godaddy.com/en-au" TargetMode="External"/><Relationship Id="rId1" Type="http://schemas.openxmlformats.org/officeDocument/2006/relationships/slideLayout" Target="../slideLayouts/slideLayout1.xml"/></Relationships>
</file>

<file path=ppt/slides/_rels/slide108.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hyperlink" Target="https://www.hostgator.com/" TargetMode="External"/><Relationship Id="rId1" Type="http://schemas.openxmlformats.org/officeDocument/2006/relationships/slideLayout" Target="../slideLayouts/slideLayout1.xml"/></Relationships>
</file>

<file path=ppt/slides/_rels/slide109.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hyperlink" Target="https://www.consumer-rankings.com/hosting/?a=148&amp;c=2968&amp;s1=76537702.78231060&amp;vn=nrd3-nbf&amp;ls=g&amp;gclid=CM-8u8fezcECFZeFaQodw3YANA" TargetMode="External"/><Relationship Id="rId1" Type="http://schemas.openxmlformats.org/officeDocument/2006/relationships/slideLayout" Target="../slideLayouts/slideLayout1.xml"/></Relationships>
</file>

<file path=ppt/slides/_rels/slide110.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1.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5.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1.xml"/></Relationships>
</file>

<file path=ppt/slides/_rels/slide116.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1.xml"/></Relationships>
</file>

<file path=ppt/slides/_rels/slide117.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1.xml"/></Relationships>
</file>

<file path=ppt/slides/_rels/slide118.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1.xml"/></Relationships>
</file>

<file path=ppt/slides/_rels/slide119.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1.xml"/></Relationships>
</file>

<file path=ppt/slides/_rels/slide120.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13.xml"/></Relationships>
</file>

<file path=ppt/slides/_rels/slide121.xml.rels><?xml version="1.0" encoding="UTF-8" standalone="yes"?>
<Relationships xmlns="http://schemas.openxmlformats.org/package/2006/relationships"><Relationship Id="rId3" Type="http://schemas.openxmlformats.org/officeDocument/2006/relationships/hyperlink" Target="https://www.linkedin.com/in/farshid-keivanian" TargetMode="External"/><Relationship Id="rId2" Type="http://schemas.openxmlformats.org/officeDocument/2006/relationships/image" Target="../media/image24.jpeg"/><Relationship Id="rId1" Type="http://schemas.openxmlformats.org/officeDocument/2006/relationships/slideLayout" Target="../slideLayouts/slideLayout13.xml"/><Relationship Id="rId4" Type="http://schemas.openxmlformats.org/officeDocument/2006/relationships/hyperlink" Target="https://github.com/FarshidKeivanian"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4658C80A-61B1-E3FD-99E2-625B7EEC66F6}"/>
              </a:ext>
            </a:extLst>
          </p:cNvPr>
          <p:cNvSpPr txBox="1"/>
          <p:nvPr/>
        </p:nvSpPr>
        <p:spPr>
          <a:xfrm>
            <a:off x="-1" y="838200"/>
            <a:ext cx="5954988" cy="4876800"/>
          </a:xfrm>
          <a:prstGeom prst="rect">
            <a:avLst/>
          </a:prstGeom>
        </p:spPr>
        <p:txBody>
          <a:bodyPr vert="horz" lIns="51434" tIns="25718" rIns="51434" bIns="25718" rtlCol="0" anchor="b">
            <a:noAutofit/>
          </a:bodyPr>
          <a:lstStyle/>
          <a:p>
            <a:pPr algn="ctr">
              <a:lnSpc>
                <a:spcPct val="90000"/>
              </a:lnSpc>
              <a:spcBef>
                <a:spcPct val="0"/>
              </a:spcBef>
              <a:spcAft>
                <a:spcPts val="338"/>
              </a:spcAft>
            </a:pPr>
            <a:r>
              <a:rPr lang="en-US" sz="3800" b="1" dirty="0">
                <a:solidFill>
                  <a:srgbClr val="595959"/>
                </a:solidFill>
                <a:latin typeface="Calibir"/>
                <a:ea typeface="+mj-ea"/>
                <a:cs typeface="+mj-cs"/>
              </a:rPr>
              <a:t>HS1021: Web Design</a:t>
            </a:r>
            <a:br>
              <a:rPr lang="en-US" sz="3800" b="1" dirty="0">
                <a:solidFill>
                  <a:srgbClr val="595959"/>
                </a:solidFill>
                <a:latin typeface="Calibir"/>
                <a:ea typeface="+mj-ea"/>
                <a:cs typeface="+mj-cs"/>
              </a:rPr>
            </a:br>
            <a:endParaRPr lang="en-US" sz="3800" b="1" dirty="0">
              <a:solidFill>
                <a:srgbClr val="595959"/>
              </a:solidFill>
              <a:latin typeface="Calibir"/>
              <a:ea typeface="+mj-ea"/>
              <a:cs typeface="+mj-cs"/>
            </a:endParaRPr>
          </a:p>
          <a:p>
            <a:pPr algn="ctr">
              <a:lnSpc>
                <a:spcPct val="90000"/>
              </a:lnSpc>
              <a:spcBef>
                <a:spcPct val="0"/>
              </a:spcBef>
              <a:spcAft>
                <a:spcPts val="338"/>
              </a:spcAft>
            </a:pPr>
            <a:r>
              <a:rPr lang="en-US" sz="3800" b="1" dirty="0">
                <a:solidFill>
                  <a:srgbClr val="595959"/>
                </a:solidFill>
                <a:latin typeface="Calibir"/>
                <a:ea typeface="+mj-ea"/>
                <a:cs typeface="+mj-cs"/>
              </a:rPr>
              <a:t>Student Success Guide and Weeks 2 and 3 Lab</a:t>
            </a:r>
          </a:p>
          <a:p>
            <a:pPr algn="ctr">
              <a:lnSpc>
                <a:spcPct val="90000"/>
              </a:lnSpc>
              <a:spcBef>
                <a:spcPct val="0"/>
              </a:spcBef>
              <a:spcAft>
                <a:spcPts val="338"/>
              </a:spcAft>
            </a:pPr>
            <a:endParaRPr lang="en-US" sz="3800" b="1" dirty="0">
              <a:solidFill>
                <a:srgbClr val="595959"/>
              </a:solidFill>
              <a:latin typeface="Calibir"/>
              <a:ea typeface="+mj-ea"/>
              <a:cs typeface="+mj-cs"/>
            </a:endParaRPr>
          </a:p>
          <a:p>
            <a:pPr algn="ctr">
              <a:lnSpc>
                <a:spcPct val="90000"/>
              </a:lnSpc>
              <a:spcBef>
                <a:spcPct val="0"/>
              </a:spcBef>
              <a:spcAft>
                <a:spcPts val="338"/>
              </a:spcAft>
            </a:pPr>
            <a:r>
              <a:rPr lang="en-US" sz="3800" b="1" dirty="0">
                <a:solidFill>
                  <a:srgbClr val="595959"/>
                </a:solidFill>
                <a:latin typeface="Calibir"/>
                <a:ea typeface="+mj-ea"/>
                <a:cs typeface="+mj-cs"/>
              </a:rPr>
              <a:t>Dr. Farshid Keivanian</a:t>
            </a:r>
          </a:p>
        </p:txBody>
      </p:sp>
      <p:pic>
        <p:nvPicPr>
          <p:cNvPr id="5" name="Picture 4">
            <a:extLst>
              <a:ext uri="{FF2B5EF4-FFF2-40B4-BE49-F238E27FC236}">
                <a16:creationId xmlns:a16="http://schemas.microsoft.com/office/drawing/2014/main" id="{14B0392A-D22F-C20C-A44D-F9E3D906B6F8}"/>
              </a:ext>
            </a:extLst>
          </p:cNvPr>
          <p:cNvPicPr>
            <a:picLocks noChangeAspect="1"/>
          </p:cNvPicPr>
          <p:nvPr/>
        </p:nvPicPr>
        <p:blipFill>
          <a:blip r:embed="rId2" cstate="print">
            <a:extLst>
              <a:ext uri="{28A0092B-C50C-407E-A947-70E740481C1C}">
                <a14:useLocalDpi xmlns:a14="http://schemas.microsoft.com/office/drawing/2010/main" val="0"/>
              </a:ext>
            </a:extLst>
          </a:blip>
          <a:srcRect l="4968" r="24813" b="1"/>
          <a:stretch>
            <a:fillRect/>
          </a:stretch>
        </p:blipFill>
        <p:spPr>
          <a:xfrm>
            <a:off x="5954987" y="73691"/>
            <a:ext cx="4607570" cy="6852948"/>
          </a:xfrm>
          <a:prstGeom prst="rect">
            <a:avLst/>
          </a:prstGeom>
        </p:spPr>
      </p:pic>
      <p:pic>
        <p:nvPicPr>
          <p:cNvPr id="6" name="object 3">
            <a:extLst>
              <a:ext uri="{FF2B5EF4-FFF2-40B4-BE49-F238E27FC236}">
                <a16:creationId xmlns:a16="http://schemas.microsoft.com/office/drawing/2014/main" id="{5AA71B59-8A46-5F90-66ED-C66E07C8DB19}"/>
              </a:ext>
            </a:extLst>
          </p:cNvPr>
          <p:cNvPicPr/>
          <p:nvPr/>
        </p:nvPicPr>
        <p:blipFill>
          <a:blip r:embed="rId3" cstate="print"/>
          <a:srcRect l="24413" r="9390"/>
          <a:stretch>
            <a:fillRect/>
          </a:stretch>
        </p:blipFill>
        <p:spPr>
          <a:xfrm>
            <a:off x="10710041" y="73691"/>
            <a:ext cx="1481959" cy="1944414"/>
          </a:xfrm>
          <a:prstGeom prst="rect">
            <a:avLst/>
          </a:prstGeom>
        </p:spPr>
      </p:pic>
    </p:spTree>
    <p:extLst>
      <p:ext uri="{BB962C8B-B14F-4D97-AF65-F5344CB8AC3E}">
        <p14:creationId xmlns:p14="http://schemas.microsoft.com/office/powerpoint/2010/main" val="375236516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41AE96B1-34CD-B44C-FC88-E15AFA30DB54}"/>
              </a:ext>
            </a:extLst>
          </p:cNvPr>
          <p:cNvSpPr txBox="1"/>
          <p:nvPr/>
        </p:nvSpPr>
        <p:spPr>
          <a:xfrm>
            <a:off x="0" y="0"/>
            <a:ext cx="8976732"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200" b="1" dirty="0">
                <a:solidFill>
                  <a:prstClr val="black"/>
                </a:solidFill>
                <a:latin typeface="Calibri" panose="020F0502020204030204" pitchFamily="34" charset="0"/>
                <a:cs typeface="Calibri" panose="020F0502020204030204" pitchFamily="34" charset="0"/>
              </a:rPr>
              <a:t>Unit Overview</a:t>
            </a:r>
            <a:endParaRPr kumimoji="0" lang="en-US" sz="3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3" name="TextBox 2">
            <a:extLst>
              <a:ext uri="{FF2B5EF4-FFF2-40B4-BE49-F238E27FC236}">
                <a16:creationId xmlns:a16="http://schemas.microsoft.com/office/drawing/2014/main" id="{2678ED34-D285-00F9-8D5F-BECDB3D9F256}"/>
              </a:ext>
            </a:extLst>
          </p:cNvPr>
          <p:cNvSpPr txBox="1"/>
          <p:nvPr/>
        </p:nvSpPr>
        <p:spPr>
          <a:xfrm>
            <a:off x="207579" y="1938084"/>
            <a:ext cx="11290737" cy="3903504"/>
          </a:xfrm>
          <a:prstGeom prst="rect">
            <a:avLst/>
          </a:prstGeom>
          <a:noFill/>
        </p:spPr>
        <p:txBody>
          <a:bodyPr wrap="square">
            <a:spAutoFit/>
          </a:bodyPr>
          <a:lstStyle/>
          <a:p>
            <a:pPr>
              <a:lnSpc>
                <a:spcPct val="150000"/>
              </a:lnSpc>
            </a:pPr>
            <a:r>
              <a:rPr lang="en-US" sz="2800" dirty="0">
                <a:latin typeface="Calibir"/>
              </a:rPr>
              <a:t>Web Design | Week 8–13 (Regular Term) / Intensive Mode Week 1–6</a:t>
            </a:r>
            <a:br>
              <a:rPr lang="en-US" sz="2800" dirty="0">
                <a:latin typeface="Calibir"/>
              </a:rPr>
            </a:br>
            <a:r>
              <a:rPr lang="en-US" sz="2800" dirty="0">
                <a:latin typeface="Calibir"/>
              </a:rPr>
              <a:t>Lecturer: Dr. Farshid Keivanian</a:t>
            </a:r>
            <a:br>
              <a:rPr lang="en-US" sz="2800" dirty="0">
                <a:latin typeface="Calibir"/>
              </a:rPr>
            </a:br>
            <a:r>
              <a:rPr lang="en-US" sz="2800" dirty="0">
                <a:latin typeface="Calibir"/>
              </a:rPr>
              <a:t>Class Location: Lab Level 10</a:t>
            </a:r>
            <a:br>
              <a:rPr lang="en-US" sz="2800" dirty="0">
                <a:latin typeface="Calibir"/>
              </a:rPr>
            </a:br>
            <a:r>
              <a:rPr lang="en-US" sz="2800" dirty="0">
                <a:latin typeface="Calibir"/>
              </a:rPr>
              <a:t>Thursdays: 3-5 PM</a:t>
            </a:r>
            <a:br>
              <a:rPr lang="en-US" sz="2800" dirty="0">
                <a:latin typeface="Calibir"/>
              </a:rPr>
            </a:br>
            <a:r>
              <a:rPr lang="en-US" sz="2800" dirty="0">
                <a:latin typeface="Calibir"/>
              </a:rPr>
              <a:t>Fridays: 3-5 PM</a:t>
            </a:r>
            <a:br>
              <a:rPr lang="en-US" sz="2800" dirty="0">
                <a:latin typeface="Calibir"/>
              </a:rPr>
            </a:br>
            <a:r>
              <a:rPr lang="en-US" sz="2800" dirty="0">
                <a:latin typeface="Calibir"/>
              </a:rPr>
              <a:t>(Only 15 May Friday and 29 May Friday starts at ~ 3:15 PM)</a:t>
            </a:r>
          </a:p>
        </p:txBody>
      </p:sp>
    </p:spTree>
    <p:extLst>
      <p:ext uri="{BB962C8B-B14F-4D97-AF65-F5344CB8AC3E}">
        <p14:creationId xmlns:p14="http://schemas.microsoft.com/office/powerpoint/2010/main" val="186277011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8F2D21-0D41-8ECD-17D9-66F9305C9EE7}"/>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6EB26AF3-A105-FF5A-4887-18B4621789E2}"/>
              </a:ext>
            </a:extLst>
          </p:cNvPr>
          <p:cNvSpPr txBox="1"/>
          <p:nvPr/>
        </p:nvSpPr>
        <p:spPr>
          <a:xfrm>
            <a:off x="0" y="0"/>
            <a:ext cx="8976732"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200" b="1" dirty="0">
                <a:solidFill>
                  <a:prstClr val="black"/>
                </a:solidFill>
                <a:latin typeface="Calibri" panose="020F0502020204030204" pitchFamily="34" charset="0"/>
                <a:cs typeface="Calibri" panose="020F0502020204030204" pitchFamily="34" charset="0"/>
              </a:rPr>
              <a:t>Unit Overview</a:t>
            </a:r>
            <a:endParaRPr kumimoji="0" lang="en-US" sz="3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3" name="TextBox 2">
            <a:extLst>
              <a:ext uri="{FF2B5EF4-FFF2-40B4-BE49-F238E27FC236}">
                <a16:creationId xmlns:a16="http://schemas.microsoft.com/office/drawing/2014/main" id="{1F6181E0-1B70-79D5-4C69-220DD282ADBD}"/>
              </a:ext>
            </a:extLst>
          </p:cNvPr>
          <p:cNvSpPr txBox="1"/>
          <p:nvPr/>
        </p:nvSpPr>
        <p:spPr>
          <a:xfrm>
            <a:off x="0" y="584775"/>
            <a:ext cx="11290737" cy="5842497"/>
          </a:xfrm>
          <a:prstGeom prst="rect">
            <a:avLst/>
          </a:prstGeom>
          <a:noFill/>
        </p:spPr>
        <p:txBody>
          <a:bodyPr wrap="square">
            <a:spAutoFit/>
          </a:bodyPr>
          <a:lstStyle/>
          <a:p>
            <a:pPr>
              <a:lnSpc>
                <a:spcPct val="150000"/>
              </a:lnSpc>
            </a:pPr>
            <a:r>
              <a:rPr lang="en-US" sz="2800" dirty="0">
                <a:latin typeface="Calibir"/>
              </a:rPr>
              <a:t>Welcome to HS1021 Web Design.</a:t>
            </a:r>
          </a:p>
          <a:p>
            <a:pPr>
              <a:lnSpc>
                <a:spcPct val="150000"/>
              </a:lnSpc>
            </a:pPr>
            <a:r>
              <a:rPr lang="en-US" sz="2800" dirty="0">
                <a:latin typeface="Calibir"/>
              </a:rPr>
              <a:t>This unit teaches you how websites work, how to design professional webpages, and how to create websites using HTML5 and CSS.</a:t>
            </a:r>
          </a:p>
          <a:p>
            <a:pPr>
              <a:lnSpc>
                <a:spcPct val="150000"/>
              </a:lnSpc>
            </a:pPr>
            <a:r>
              <a:rPr lang="en-US" sz="2800" dirty="0">
                <a:latin typeface="Calibir"/>
              </a:rPr>
              <a:t>You will learn:</a:t>
            </a:r>
          </a:p>
          <a:p>
            <a:pPr marL="811213" indent="-457200">
              <a:lnSpc>
                <a:spcPct val="150000"/>
              </a:lnSpc>
              <a:buFont typeface="Arial" panose="020B0604020202020204" pitchFamily="34" charset="0"/>
              <a:buChar char="•"/>
            </a:pPr>
            <a:r>
              <a:rPr lang="en-US" sz="2800" dirty="0">
                <a:latin typeface="Calibir"/>
              </a:rPr>
              <a:t>How the Internet and websites work </a:t>
            </a:r>
          </a:p>
          <a:p>
            <a:pPr marL="811213" indent="-457200">
              <a:lnSpc>
                <a:spcPct val="150000"/>
              </a:lnSpc>
              <a:buFont typeface="Arial" panose="020B0604020202020204" pitchFamily="34" charset="0"/>
              <a:buChar char="•"/>
            </a:pPr>
            <a:r>
              <a:rPr lang="en-US" sz="2800" dirty="0">
                <a:latin typeface="Calibir"/>
              </a:rPr>
              <a:t>Website planning and structure </a:t>
            </a:r>
          </a:p>
          <a:p>
            <a:pPr marL="811213" indent="-457200">
              <a:lnSpc>
                <a:spcPct val="150000"/>
              </a:lnSpc>
              <a:buFont typeface="Arial" panose="020B0604020202020204" pitchFamily="34" charset="0"/>
              <a:buChar char="•"/>
            </a:pPr>
            <a:r>
              <a:rPr lang="en-US" sz="2800" dirty="0">
                <a:latin typeface="Calibir"/>
              </a:rPr>
              <a:t>HTML5 webpage creation </a:t>
            </a:r>
          </a:p>
          <a:p>
            <a:pPr marL="811213" indent="-457200">
              <a:lnSpc>
                <a:spcPct val="150000"/>
              </a:lnSpc>
              <a:buFont typeface="Arial" panose="020B0604020202020204" pitchFamily="34" charset="0"/>
              <a:buChar char="•"/>
            </a:pPr>
            <a:r>
              <a:rPr lang="en-US" sz="2800" dirty="0">
                <a:latin typeface="Calibir"/>
              </a:rPr>
              <a:t>CSS styling and layouts </a:t>
            </a:r>
          </a:p>
          <a:p>
            <a:pPr marL="811213" indent="-457200">
              <a:lnSpc>
                <a:spcPct val="150000"/>
              </a:lnSpc>
              <a:buFont typeface="Arial" panose="020B0604020202020204" pitchFamily="34" charset="0"/>
              <a:buChar char="•"/>
            </a:pPr>
            <a:r>
              <a:rPr lang="en-US" sz="2800" dirty="0">
                <a:latin typeface="Calibir"/>
              </a:rPr>
              <a:t>Links, images, lists, and navigation</a:t>
            </a:r>
          </a:p>
        </p:txBody>
      </p:sp>
    </p:spTree>
    <p:extLst>
      <p:ext uri="{BB962C8B-B14F-4D97-AF65-F5344CB8AC3E}">
        <p14:creationId xmlns:p14="http://schemas.microsoft.com/office/powerpoint/2010/main" val="196501744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3349D1-E47B-A349-8CCA-557BE84125AE}"/>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5F9794DD-30AF-26AC-A5FC-0D08C2484C0F}"/>
              </a:ext>
            </a:extLst>
          </p:cNvPr>
          <p:cNvSpPr txBox="1"/>
          <p:nvPr/>
        </p:nvSpPr>
        <p:spPr>
          <a:xfrm>
            <a:off x="0" y="0"/>
            <a:ext cx="8976732"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200" b="1" dirty="0">
                <a:solidFill>
                  <a:prstClr val="black"/>
                </a:solidFill>
                <a:latin typeface="Calibri" panose="020F0502020204030204" pitchFamily="34" charset="0"/>
                <a:cs typeface="Calibri" panose="020F0502020204030204" pitchFamily="34" charset="0"/>
              </a:rPr>
              <a:t>Unit Overview</a:t>
            </a:r>
            <a:endParaRPr kumimoji="0" lang="en-US" sz="3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3" name="TextBox 2">
            <a:extLst>
              <a:ext uri="{FF2B5EF4-FFF2-40B4-BE49-F238E27FC236}">
                <a16:creationId xmlns:a16="http://schemas.microsoft.com/office/drawing/2014/main" id="{9CC60785-C042-B3FE-312A-9A46609E6B73}"/>
              </a:ext>
            </a:extLst>
          </p:cNvPr>
          <p:cNvSpPr txBox="1"/>
          <p:nvPr/>
        </p:nvSpPr>
        <p:spPr>
          <a:xfrm>
            <a:off x="0" y="584775"/>
            <a:ext cx="11290737" cy="3257174"/>
          </a:xfrm>
          <a:prstGeom prst="rect">
            <a:avLst/>
          </a:prstGeom>
          <a:noFill/>
        </p:spPr>
        <p:txBody>
          <a:bodyPr wrap="square">
            <a:spAutoFit/>
          </a:bodyPr>
          <a:lstStyle/>
          <a:p>
            <a:pPr>
              <a:lnSpc>
                <a:spcPct val="150000"/>
              </a:lnSpc>
            </a:pPr>
            <a:r>
              <a:rPr lang="en-US" sz="2800" dirty="0">
                <a:latin typeface="Calibir"/>
              </a:rPr>
              <a:t>This unit is very practical. Success comes from:</a:t>
            </a:r>
          </a:p>
          <a:p>
            <a:pPr marL="914400" lvl="1" indent="-457200">
              <a:lnSpc>
                <a:spcPct val="150000"/>
              </a:lnSpc>
              <a:buFont typeface="Arial" panose="020B0604020202020204" pitchFamily="34" charset="0"/>
              <a:buChar char="•"/>
            </a:pPr>
            <a:r>
              <a:rPr lang="en-US" sz="2800" dirty="0">
                <a:latin typeface="Calibir"/>
              </a:rPr>
              <a:t>attending classes, </a:t>
            </a:r>
          </a:p>
          <a:p>
            <a:pPr marL="914400" lvl="1" indent="-457200">
              <a:lnSpc>
                <a:spcPct val="150000"/>
              </a:lnSpc>
              <a:buFont typeface="Arial" panose="020B0604020202020204" pitchFamily="34" charset="0"/>
              <a:buChar char="•"/>
            </a:pPr>
            <a:r>
              <a:rPr lang="en-US" sz="2800" dirty="0" err="1">
                <a:latin typeface="Calibir"/>
              </a:rPr>
              <a:t>practising</a:t>
            </a:r>
            <a:r>
              <a:rPr lang="en-US" sz="2800" dirty="0">
                <a:latin typeface="Calibir"/>
              </a:rPr>
              <a:t> coding regularly, </a:t>
            </a:r>
          </a:p>
          <a:p>
            <a:pPr marL="914400" lvl="1" indent="-457200">
              <a:lnSpc>
                <a:spcPct val="150000"/>
              </a:lnSpc>
              <a:buFont typeface="Arial" panose="020B0604020202020204" pitchFamily="34" charset="0"/>
              <a:buChar char="•"/>
            </a:pPr>
            <a:r>
              <a:rPr lang="en-US" sz="2800" dirty="0">
                <a:latin typeface="Calibir"/>
              </a:rPr>
              <a:t>completing weekly tutorials, </a:t>
            </a:r>
          </a:p>
          <a:p>
            <a:pPr marL="914400" lvl="1" indent="-457200">
              <a:lnSpc>
                <a:spcPct val="150000"/>
              </a:lnSpc>
              <a:buFont typeface="Arial" panose="020B0604020202020204" pitchFamily="34" charset="0"/>
              <a:buChar char="•"/>
            </a:pPr>
            <a:r>
              <a:rPr lang="en-US" sz="2800" dirty="0">
                <a:latin typeface="Calibir"/>
              </a:rPr>
              <a:t>and building webpages every week.</a:t>
            </a:r>
          </a:p>
        </p:txBody>
      </p:sp>
    </p:spTree>
    <p:extLst>
      <p:ext uri="{BB962C8B-B14F-4D97-AF65-F5344CB8AC3E}">
        <p14:creationId xmlns:p14="http://schemas.microsoft.com/office/powerpoint/2010/main" val="395746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9CD8FF-874B-9C36-3079-3AE047CC8058}"/>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9765713-6F1D-2FBD-293E-1782BD1957FD}"/>
              </a:ext>
            </a:extLst>
          </p:cNvPr>
          <p:cNvSpPr txBox="1"/>
          <p:nvPr/>
        </p:nvSpPr>
        <p:spPr>
          <a:xfrm>
            <a:off x="0" y="0"/>
            <a:ext cx="8976732"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200" b="1" dirty="0">
                <a:solidFill>
                  <a:prstClr val="black"/>
                </a:solidFill>
                <a:latin typeface="Calibri" panose="020F0502020204030204" pitchFamily="34" charset="0"/>
                <a:cs typeface="Calibri" panose="020F0502020204030204" pitchFamily="34" charset="0"/>
              </a:rPr>
              <a:t>Unit Overview</a:t>
            </a:r>
            <a:endParaRPr kumimoji="0" lang="en-US" sz="3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3" name="TextBox 2">
            <a:extLst>
              <a:ext uri="{FF2B5EF4-FFF2-40B4-BE49-F238E27FC236}">
                <a16:creationId xmlns:a16="http://schemas.microsoft.com/office/drawing/2014/main" id="{A163BC4F-98E0-2312-BD35-73195596A0F6}"/>
              </a:ext>
            </a:extLst>
          </p:cNvPr>
          <p:cNvSpPr txBox="1"/>
          <p:nvPr/>
        </p:nvSpPr>
        <p:spPr>
          <a:xfrm>
            <a:off x="0" y="584775"/>
            <a:ext cx="11290737" cy="3257174"/>
          </a:xfrm>
          <a:prstGeom prst="rect">
            <a:avLst/>
          </a:prstGeom>
          <a:noFill/>
        </p:spPr>
        <p:txBody>
          <a:bodyPr wrap="square">
            <a:spAutoFit/>
          </a:bodyPr>
          <a:lstStyle/>
          <a:p>
            <a:pPr marL="811213" indent="-457200">
              <a:lnSpc>
                <a:spcPct val="150000"/>
              </a:lnSpc>
              <a:buFont typeface="Arial" panose="020B0604020202020204" pitchFamily="34" charset="0"/>
              <a:buChar char="•"/>
            </a:pPr>
            <a:r>
              <a:rPr lang="en-US" sz="2800" dirty="0">
                <a:latin typeface="Calibir"/>
              </a:rPr>
              <a:t>Responsive and user-friendly design </a:t>
            </a:r>
          </a:p>
          <a:p>
            <a:pPr marL="811213" indent="-457200">
              <a:lnSpc>
                <a:spcPct val="150000"/>
              </a:lnSpc>
              <a:buFont typeface="Arial" panose="020B0604020202020204" pitchFamily="34" charset="0"/>
              <a:buChar char="•"/>
            </a:pPr>
            <a:r>
              <a:rPr lang="en-US" sz="2800" dirty="0">
                <a:latin typeface="Calibir"/>
              </a:rPr>
              <a:t>Hosting and domain management </a:t>
            </a:r>
          </a:p>
          <a:p>
            <a:pPr marL="811213" indent="-457200">
              <a:lnSpc>
                <a:spcPct val="150000"/>
              </a:lnSpc>
              <a:buFont typeface="Arial" panose="020B0604020202020204" pitchFamily="34" charset="0"/>
              <a:buChar char="•"/>
            </a:pPr>
            <a:r>
              <a:rPr lang="en-US" sz="2800" dirty="0">
                <a:latin typeface="Calibir"/>
              </a:rPr>
              <a:t>Website accessibility and usability </a:t>
            </a:r>
          </a:p>
          <a:p>
            <a:pPr marL="811213" indent="-457200">
              <a:lnSpc>
                <a:spcPct val="150000"/>
              </a:lnSpc>
              <a:buFont typeface="Arial" panose="020B0604020202020204" pitchFamily="34" charset="0"/>
              <a:buChar char="•"/>
            </a:pPr>
            <a:r>
              <a:rPr lang="en-US" sz="2800" dirty="0">
                <a:latin typeface="Calibir"/>
              </a:rPr>
              <a:t>SEO (Search Engine Optimization) </a:t>
            </a:r>
          </a:p>
          <a:p>
            <a:pPr marL="811213" indent="-457200">
              <a:lnSpc>
                <a:spcPct val="150000"/>
              </a:lnSpc>
              <a:buFont typeface="Arial" panose="020B0604020202020204" pitchFamily="34" charset="0"/>
              <a:buChar char="•"/>
            </a:pPr>
            <a:r>
              <a:rPr lang="en-US" sz="2800" dirty="0">
                <a:latin typeface="Calibir"/>
              </a:rPr>
              <a:t>Teamwork and professional web development practices</a:t>
            </a:r>
          </a:p>
        </p:txBody>
      </p:sp>
    </p:spTree>
    <p:extLst>
      <p:ext uri="{BB962C8B-B14F-4D97-AF65-F5344CB8AC3E}">
        <p14:creationId xmlns:p14="http://schemas.microsoft.com/office/powerpoint/2010/main" val="279459331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BCDC7B-5F8E-7CD7-ED7F-728791D5C85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6BA508DF-7B4D-2FC7-4AEA-5A06E898906D}"/>
              </a:ext>
            </a:extLst>
          </p:cNvPr>
          <p:cNvSpPr txBox="1"/>
          <p:nvPr/>
        </p:nvSpPr>
        <p:spPr>
          <a:xfrm>
            <a:off x="0" y="0"/>
            <a:ext cx="8976732" cy="584775"/>
          </a:xfrm>
          <a:prstGeom prst="rect">
            <a:avLst/>
          </a:prstGeom>
          <a:noFill/>
        </p:spPr>
        <p:txBody>
          <a:bodyPr wrap="square" rtlCol="0">
            <a:spAutoFit/>
          </a:bodyPr>
          <a:lstStyle/>
          <a:p>
            <a:pPr lvl="0">
              <a:defRPr/>
            </a:pPr>
            <a:r>
              <a:rPr lang="en-US" sz="3200" b="1" dirty="0">
                <a:solidFill>
                  <a:prstClr val="black"/>
                </a:solidFill>
                <a:latin typeface="Calibri" panose="020F0502020204030204" pitchFamily="34" charset="0"/>
                <a:cs typeface="Calibri" panose="020F0502020204030204" pitchFamily="34" charset="0"/>
              </a:rPr>
              <a:t>Important Assessments</a:t>
            </a:r>
            <a:endParaRPr kumimoji="0" lang="en-US" sz="3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graphicFrame>
        <p:nvGraphicFramePr>
          <p:cNvPr id="2" name="Table 1">
            <a:extLst>
              <a:ext uri="{FF2B5EF4-FFF2-40B4-BE49-F238E27FC236}">
                <a16:creationId xmlns:a16="http://schemas.microsoft.com/office/drawing/2014/main" id="{0EE77106-E190-E2CE-9364-CD909B62E85D}"/>
              </a:ext>
            </a:extLst>
          </p:cNvPr>
          <p:cNvGraphicFramePr>
            <a:graphicFrameLocks noGrp="1"/>
          </p:cNvGraphicFramePr>
          <p:nvPr>
            <p:extLst>
              <p:ext uri="{D42A27DB-BD31-4B8C-83A1-F6EECF244321}">
                <p14:modId xmlns:p14="http://schemas.microsoft.com/office/powerpoint/2010/main" val="54137651"/>
              </p:ext>
            </p:extLst>
          </p:nvPr>
        </p:nvGraphicFramePr>
        <p:xfrm>
          <a:off x="838200" y="2098294"/>
          <a:ext cx="10515600" cy="2661412"/>
        </p:xfrm>
        <a:graphic>
          <a:graphicData uri="http://schemas.openxmlformats.org/drawingml/2006/table">
            <a:tbl>
              <a:tblPr>
                <a:tableStyleId>{BDBED569-4797-4DF1-A0F4-6AAB3CD982D8}</a:tableStyleId>
              </a:tblPr>
              <a:tblGrid>
                <a:gridCol w="3505200">
                  <a:extLst>
                    <a:ext uri="{9D8B030D-6E8A-4147-A177-3AD203B41FA5}">
                      <a16:colId xmlns:a16="http://schemas.microsoft.com/office/drawing/2014/main" val="3574859117"/>
                    </a:ext>
                  </a:extLst>
                </a:gridCol>
                <a:gridCol w="3505200">
                  <a:extLst>
                    <a:ext uri="{9D8B030D-6E8A-4147-A177-3AD203B41FA5}">
                      <a16:colId xmlns:a16="http://schemas.microsoft.com/office/drawing/2014/main" val="2431632962"/>
                    </a:ext>
                  </a:extLst>
                </a:gridCol>
                <a:gridCol w="3505200">
                  <a:extLst>
                    <a:ext uri="{9D8B030D-6E8A-4147-A177-3AD203B41FA5}">
                      <a16:colId xmlns:a16="http://schemas.microsoft.com/office/drawing/2014/main" val="426991555"/>
                    </a:ext>
                  </a:extLst>
                </a:gridCol>
              </a:tblGrid>
              <a:tr h="0">
                <a:tc>
                  <a:txBody>
                    <a:bodyPr/>
                    <a:lstStyle/>
                    <a:p>
                      <a:pPr>
                        <a:lnSpc>
                          <a:spcPct val="150000"/>
                        </a:lnSpc>
                        <a:buNone/>
                      </a:pPr>
                      <a:r>
                        <a:rPr lang="en-US" sz="2800" dirty="0">
                          <a:latin typeface="Calibir"/>
                        </a:rPr>
                        <a:t>Assessment</a:t>
                      </a:r>
                    </a:p>
                  </a:txBody>
                  <a:tcPr anchor="ctr">
                    <a:solidFill>
                      <a:schemeClr val="accent5">
                        <a:lumMod val="20000"/>
                        <a:lumOff val="80000"/>
                      </a:schemeClr>
                    </a:solidFill>
                  </a:tcPr>
                </a:tc>
                <a:tc>
                  <a:txBody>
                    <a:bodyPr/>
                    <a:lstStyle/>
                    <a:p>
                      <a:pPr>
                        <a:lnSpc>
                          <a:spcPct val="150000"/>
                        </a:lnSpc>
                        <a:buNone/>
                      </a:pPr>
                      <a:r>
                        <a:rPr lang="en-US" sz="2800" dirty="0">
                          <a:latin typeface="Calibir"/>
                        </a:rPr>
                        <a:t>Weight</a:t>
                      </a:r>
                    </a:p>
                  </a:txBody>
                  <a:tcPr anchor="ctr">
                    <a:solidFill>
                      <a:schemeClr val="accent5">
                        <a:lumMod val="20000"/>
                        <a:lumOff val="80000"/>
                      </a:schemeClr>
                    </a:solidFill>
                  </a:tcPr>
                </a:tc>
                <a:tc>
                  <a:txBody>
                    <a:bodyPr/>
                    <a:lstStyle/>
                    <a:p>
                      <a:pPr>
                        <a:lnSpc>
                          <a:spcPct val="150000"/>
                        </a:lnSpc>
                        <a:buNone/>
                      </a:pPr>
                      <a:r>
                        <a:rPr lang="en-US" sz="2800" dirty="0">
                          <a:latin typeface="Calibir"/>
                        </a:rPr>
                        <a:t>Type</a:t>
                      </a:r>
                    </a:p>
                  </a:txBody>
                  <a:tcPr anchor="ctr">
                    <a:solidFill>
                      <a:schemeClr val="accent5">
                        <a:lumMod val="20000"/>
                        <a:lumOff val="80000"/>
                      </a:schemeClr>
                    </a:solidFill>
                  </a:tcPr>
                </a:tc>
                <a:extLst>
                  <a:ext uri="{0D108BD9-81ED-4DB2-BD59-A6C34878D82A}">
                    <a16:rowId xmlns:a16="http://schemas.microsoft.com/office/drawing/2014/main" val="452292632"/>
                  </a:ext>
                </a:extLst>
              </a:tr>
              <a:tr h="0">
                <a:tc>
                  <a:txBody>
                    <a:bodyPr/>
                    <a:lstStyle/>
                    <a:p>
                      <a:pPr>
                        <a:lnSpc>
                          <a:spcPct val="150000"/>
                        </a:lnSpc>
                        <a:buNone/>
                      </a:pPr>
                      <a:r>
                        <a:rPr lang="en-US" sz="2800">
                          <a:latin typeface="Calibir"/>
                        </a:rPr>
                        <a:t>Lab Exercises</a:t>
                      </a:r>
                    </a:p>
                  </a:txBody>
                  <a:tcPr anchor="ctr"/>
                </a:tc>
                <a:tc>
                  <a:txBody>
                    <a:bodyPr/>
                    <a:lstStyle/>
                    <a:p>
                      <a:pPr>
                        <a:lnSpc>
                          <a:spcPct val="150000"/>
                        </a:lnSpc>
                        <a:buNone/>
                      </a:pPr>
                      <a:r>
                        <a:rPr lang="en-US" sz="2800">
                          <a:latin typeface="Calibir"/>
                        </a:rPr>
                        <a:t>20%</a:t>
                      </a:r>
                    </a:p>
                  </a:txBody>
                  <a:tcPr anchor="ctr"/>
                </a:tc>
                <a:tc>
                  <a:txBody>
                    <a:bodyPr/>
                    <a:lstStyle/>
                    <a:p>
                      <a:pPr>
                        <a:lnSpc>
                          <a:spcPct val="150000"/>
                        </a:lnSpc>
                        <a:buNone/>
                      </a:pPr>
                      <a:r>
                        <a:rPr lang="en-US" sz="2800">
                          <a:latin typeface="Calibir"/>
                        </a:rPr>
                        <a:t>Individual</a:t>
                      </a:r>
                    </a:p>
                  </a:txBody>
                  <a:tcPr anchor="ctr"/>
                </a:tc>
                <a:extLst>
                  <a:ext uri="{0D108BD9-81ED-4DB2-BD59-A6C34878D82A}">
                    <a16:rowId xmlns:a16="http://schemas.microsoft.com/office/drawing/2014/main" val="1428911273"/>
                  </a:ext>
                </a:extLst>
              </a:tr>
              <a:tr h="0">
                <a:tc>
                  <a:txBody>
                    <a:bodyPr/>
                    <a:lstStyle/>
                    <a:p>
                      <a:pPr>
                        <a:lnSpc>
                          <a:spcPct val="150000"/>
                        </a:lnSpc>
                        <a:buNone/>
                      </a:pPr>
                      <a:r>
                        <a:rPr lang="en-US" sz="2800">
                          <a:latin typeface="Calibir"/>
                        </a:rPr>
                        <a:t>Online Test</a:t>
                      </a:r>
                    </a:p>
                  </a:txBody>
                  <a:tcPr anchor="ctr"/>
                </a:tc>
                <a:tc>
                  <a:txBody>
                    <a:bodyPr/>
                    <a:lstStyle/>
                    <a:p>
                      <a:pPr>
                        <a:lnSpc>
                          <a:spcPct val="150000"/>
                        </a:lnSpc>
                        <a:buNone/>
                      </a:pPr>
                      <a:r>
                        <a:rPr lang="en-US" sz="2800">
                          <a:latin typeface="Calibir"/>
                        </a:rPr>
                        <a:t>20%</a:t>
                      </a:r>
                    </a:p>
                  </a:txBody>
                  <a:tcPr anchor="ctr"/>
                </a:tc>
                <a:tc>
                  <a:txBody>
                    <a:bodyPr/>
                    <a:lstStyle/>
                    <a:p>
                      <a:pPr>
                        <a:lnSpc>
                          <a:spcPct val="150000"/>
                        </a:lnSpc>
                        <a:buNone/>
                      </a:pPr>
                      <a:r>
                        <a:rPr lang="en-US" sz="2800">
                          <a:latin typeface="Calibir"/>
                        </a:rPr>
                        <a:t>Individual</a:t>
                      </a:r>
                    </a:p>
                  </a:txBody>
                  <a:tcPr anchor="ctr"/>
                </a:tc>
                <a:extLst>
                  <a:ext uri="{0D108BD9-81ED-4DB2-BD59-A6C34878D82A}">
                    <a16:rowId xmlns:a16="http://schemas.microsoft.com/office/drawing/2014/main" val="3447573828"/>
                  </a:ext>
                </a:extLst>
              </a:tr>
              <a:tr h="0">
                <a:tc>
                  <a:txBody>
                    <a:bodyPr/>
                    <a:lstStyle/>
                    <a:p>
                      <a:pPr>
                        <a:lnSpc>
                          <a:spcPct val="150000"/>
                        </a:lnSpc>
                        <a:buNone/>
                      </a:pPr>
                      <a:r>
                        <a:rPr lang="en-US" sz="2800">
                          <a:latin typeface="Calibir"/>
                        </a:rPr>
                        <a:t>Group Assignment</a:t>
                      </a:r>
                    </a:p>
                  </a:txBody>
                  <a:tcPr anchor="ctr"/>
                </a:tc>
                <a:tc>
                  <a:txBody>
                    <a:bodyPr/>
                    <a:lstStyle/>
                    <a:p>
                      <a:pPr>
                        <a:lnSpc>
                          <a:spcPct val="150000"/>
                        </a:lnSpc>
                        <a:buNone/>
                      </a:pPr>
                      <a:r>
                        <a:rPr lang="en-US" sz="2800">
                          <a:latin typeface="Calibir"/>
                        </a:rPr>
                        <a:t>60%</a:t>
                      </a:r>
                    </a:p>
                  </a:txBody>
                  <a:tcPr anchor="ctr"/>
                </a:tc>
                <a:tc>
                  <a:txBody>
                    <a:bodyPr/>
                    <a:lstStyle/>
                    <a:p>
                      <a:pPr>
                        <a:lnSpc>
                          <a:spcPct val="150000"/>
                        </a:lnSpc>
                        <a:buNone/>
                      </a:pPr>
                      <a:r>
                        <a:rPr lang="en-US" sz="2800" dirty="0">
                          <a:latin typeface="Calibir"/>
                        </a:rPr>
                        <a:t>Group</a:t>
                      </a:r>
                    </a:p>
                  </a:txBody>
                  <a:tcPr anchor="ctr"/>
                </a:tc>
                <a:extLst>
                  <a:ext uri="{0D108BD9-81ED-4DB2-BD59-A6C34878D82A}">
                    <a16:rowId xmlns:a16="http://schemas.microsoft.com/office/drawing/2014/main" val="1593261796"/>
                  </a:ext>
                </a:extLst>
              </a:tr>
            </a:tbl>
          </a:graphicData>
        </a:graphic>
      </p:graphicFrame>
    </p:spTree>
    <p:extLst>
      <p:ext uri="{BB962C8B-B14F-4D97-AF65-F5344CB8AC3E}">
        <p14:creationId xmlns:p14="http://schemas.microsoft.com/office/powerpoint/2010/main" val="211018095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B8966D-7F92-5D95-CC11-A6292FB7061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12134674-5612-4C11-A54A-415D98A2892D}"/>
              </a:ext>
            </a:extLst>
          </p:cNvPr>
          <p:cNvSpPr txBox="1"/>
          <p:nvPr/>
        </p:nvSpPr>
        <p:spPr>
          <a:xfrm>
            <a:off x="0" y="0"/>
            <a:ext cx="8976732" cy="584775"/>
          </a:xfrm>
          <a:prstGeom prst="rect">
            <a:avLst/>
          </a:prstGeom>
          <a:noFill/>
        </p:spPr>
        <p:txBody>
          <a:bodyPr wrap="square" rtlCol="0">
            <a:spAutoFit/>
          </a:bodyPr>
          <a:lstStyle/>
          <a:p>
            <a:pPr lvl="0">
              <a:defRPr/>
            </a:pPr>
            <a:r>
              <a:rPr lang="en-US" sz="3200" b="1" dirty="0">
                <a:solidFill>
                  <a:prstClr val="black"/>
                </a:solidFill>
                <a:latin typeface="Calibri" panose="020F0502020204030204" pitchFamily="34" charset="0"/>
                <a:cs typeface="Calibri" panose="020F0502020204030204" pitchFamily="34" charset="0"/>
              </a:rPr>
              <a:t>Understanding the Lab Test (Important)</a:t>
            </a:r>
            <a:endParaRPr kumimoji="0" lang="en-US" sz="3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5" name="TextBox 4">
            <a:extLst>
              <a:ext uri="{FF2B5EF4-FFF2-40B4-BE49-F238E27FC236}">
                <a16:creationId xmlns:a16="http://schemas.microsoft.com/office/drawing/2014/main" id="{4A2D568D-3CD9-388D-0B93-F5B8837791CF}"/>
              </a:ext>
            </a:extLst>
          </p:cNvPr>
          <p:cNvSpPr txBox="1"/>
          <p:nvPr/>
        </p:nvSpPr>
        <p:spPr>
          <a:xfrm>
            <a:off x="0" y="478955"/>
            <a:ext cx="12061603" cy="6632072"/>
          </a:xfrm>
          <a:prstGeom prst="rect">
            <a:avLst/>
          </a:prstGeom>
          <a:noFill/>
        </p:spPr>
        <p:txBody>
          <a:bodyPr wrap="square">
            <a:spAutoFit/>
          </a:bodyPr>
          <a:lstStyle/>
          <a:p>
            <a:pPr>
              <a:lnSpc>
                <a:spcPct val="150000"/>
              </a:lnSpc>
              <a:buNone/>
            </a:pPr>
            <a:r>
              <a:rPr lang="en-US" sz="2500" dirty="0">
                <a:latin typeface="Calibir"/>
              </a:rPr>
              <a:t>From the Blackboard screenshot:</a:t>
            </a:r>
          </a:p>
          <a:p>
            <a:pPr>
              <a:lnSpc>
                <a:spcPct val="150000"/>
              </a:lnSpc>
              <a:buNone/>
            </a:pPr>
            <a:r>
              <a:rPr lang="en-US" sz="2500" dirty="0">
                <a:latin typeface="Calibir"/>
              </a:rPr>
              <a:t>Lab Test 1</a:t>
            </a:r>
          </a:p>
          <a:p>
            <a:pPr marL="457200" indent="-457200">
              <a:lnSpc>
                <a:spcPct val="150000"/>
              </a:lnSpc>
              <a:buFont typeface="Arial" panose="020B0604020202020204" pitchFamily="34" charset="0"/>
              <a:buChar char="•"/>
            </a:pPr>
            <a:r>
              <a:rPr lang="en-US" sz="2500" dirty="0">
                <a:latin typeface="Calibir"/>
              </a:rPr>
              <a:t>Total Marks: 4 </a:t>
            </a:r>
          </a:p>
          <a:p>
            <a:pPr marL="457200" indent="-457200">
              <a:lnSpc>
                <a:spcPct val="150000"/>
              </a:lnSpc>
              <a:buFont typeface="Arial" panose="020B0604020202020204" pitchFamily="34" charset="0"/>
              <a:buChar char="•"/>
            </a:pPr>
            <a:r>
              <a:rPr lang="en-US" sz="2500" dirty="0">
                <a:latin typeface="Calibir"/>
              </a:rPr>
              <a:t>Time Limit: 30 minutes </a:t>
            </a:r>
          </a:p>
          <a:p>
            <a:pPr marL="457200" indent="-457200">
              <a:lnSpc>
                <a:spcPct val="150000"/>
              </a:lnSpc>
              <a:buFont typeface="Arial" panose="020B0604020202020204" pitchFamily="34" charset="0"/>
              <a:buChar char="•"/>
            </a:pPr>
            <a:r>
              <a:rPr lang="en-US" sz="2500" dirty="0">
                <a:latin typeface="Calibir"/>
              </a:rPr>
              <a:t>Questions Displayed: 8 random questions </a:t>
            </a:r>
          </a:p>
          <a:p>
            <a:pPr marL="457200" indent="-457200">
              <a:lnSpc>
                <a:spcPct val="150000"/>
              </a:lnSpc>
              <a:buFont typeface="Arial" panose="020B0604020202020204" pitchFamily="34" charset="0"/>
              <a:buChar char="•"/>
            </a:pPr>
            <a:r>
              <a:rPr lang="en-US" sz="2500" dirty="0">
                <a:latin typeface="Calibir"/>
              </a:rPr>
              <a:t>Question Types: </a:t>
            </a:r>
          </a:p>
          <a:p>
            <a:pPr marL="914400" lvl="1" indent="-457200">
              <a:lnSpc>
                <a:spcPct val="150000"/>
              </a:lnSpc>
              <a:buFont typeface="Arial" panose="020B0604020202020204" pitchFamily="34" charset="0"/>
              <a:buChar char="•"/>
            </a:pPr>
            <a:r>
              <a:rPr lang="en-US" sz="2500" dirty="0">
                <a:latin typeface="Calibir"/>
              </a:rPr>
              <a:t>Multiple Choice </a:t>
            </a:r>
          </a:p>
          <a:p>
            <a:pPr marL="914400" lvl="1" indent="-457200">
              <a:lnSpc>
                <a:spcPct val="150000"/>
              </a:lnSpc>
              <a:buFont typeface="Arial" panose="020B0604020202020204" pitchFamily="34" charset="0"/>
              <a:buChar char="•"/>
            </a:pPr>
            <a:r>
              <a:rPr lang="en-US" sz="2500" dirty="0">
                <a:latin typeface="Calibir"/>
              </a:rPr>
              <a:t>True/False </a:t>
            </a:r>
          </a:p>
          <a:p>
            <a:pPr marL="914400" lvl="1" indent="-457200">
              <a:lnSpc>
                <a:spcPct val="150000"/>
              </a:lnSpc>
              <a:buFont typeface="Arial" panose="020B0604020202020204" pitchFamily="34" charset="0"/>
              <a:buChar char="•"/>
            </a:pPr>
            <a:r>
              <a:rPr lang="en-US" sz="2500" dirty="0">
                <a:latin typeface="Calibir"/>
              </a:rPr>
              <a:t>Completion </a:t>
            </a:r>
          </a:p>
          <a:p>
            <a:pPr marL="914400" lvl="1" indent="-457200">
              <a:lnSpc>
                <a:spcPct val="150000"/>
              </a:lnSpc>
              <a:buFont typeface="Arial" panose="020B0604020202020204" pitchFamily="34" charset="0"/>
              <a:buChar char="•"/>
            </a:pPr>
            <a:r>
              <a:rPr lang="en-US" sz="2500" dirty="0">
                <a:latin typeface="Calibir"/>
              </a:rPr>
              <a:t>Critical Thinking </a:t>
            </a:r>
          </a:p>
          <a:p>
            <a:pPr marL="914400" lvl="1" indent="-457200">
              <a:lnSpc>
                <a:spcPct val="150000"/>
              </a:lnSpc>
              <a:buFont typeface="Arial" panose="020B0604020202020204" pitchFamily="34" charset="0"/>
              <a:buChar char="•"/>
            </a:pPr>
            <a:r>
              <a:rPr lang="en-US" sz="2500" dirty="0">
                <a:latin typeface="Calibir"/>
              </a:rPr>
              <a:t>Essay Questions</a:t>
            </a:r>
          </a:p>
        </p:txBody>
      </p:sp>
    </p:spTree>
    <p:extLst>
      <p:ext uri="{BB962C8B-B14F-4D97-AF65-F5344CB8AC3E}">
        <p14:creationId xmlns:p14="http://schemas.microsoft.com/office/powerpoint/2010/main" val="416829245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DECF6D-3182-CE8E-0673-FB9027C3DEC8}"/>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8F5AE680-E6F4-835F-0229-85B701AAD126}"/>
              </a:ext>
            </a:extLst>
          </p:cNvPr>
          <p:cNvSpPr txBox="1"/>
          <p:nvPr/>
        </p:nvSpPr>
        <p:spPr>
          <a:xfrm>
            <a:off x="0" y="0"/>
            <a:ext cx="8976732" cy="584775"/>
          </a:xfrm>
          <a:prstGeom prst="rect">
            <a:avLst/>
          </a:prstGeom>
          <a:noFill/>
        </p:spPr>
        <p:txBody>
          <a:bodyPr wrap="square" rtlCol="0">
            <a:spAutoFit/>
          </a:bodyPr>
          <a:lstStyle/>
          <a:p>
            <a:pPr lvl="0">
              <a:defRPr/>
            </a:pPr>
            <a:r>
              <a:rPr lang="en-US" sz="3200" b="1" dirty="0">
                <a:solidFill>
                  <a:prstClr val="black"/>
                </a:solidFill>
                <a:latin typeface="Calibri" panose="020F0502020204030204" pitchFamily="34" charset="0"/>
                <a:cs typeface="Calibri" panose="020F0502020204030204" pitchFamily="34" charset="0"/>
              </a:rPr>
              <a:t>Understanding the Lab Test (Important)</a:t>
            </a:r>
            <a:endParaRPr kumimoji="0" lang="en-US" sz="3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5" name="TextBox 4">
            <a:extLst>
              <a:ext uri="{FF2B5EF4-FFF2-40B4-BE49-F238E27FC236}">
                <a16:creationId xmlns:a16="http://schemas.microsoft.com/office/drawing/2014/main" id="{5E01C473-FE2D-65CD-22BF-F7A03D89494B}"/>
              </a:ext>
            </a:extLst>
          </p:cNvPr>
          <p:cNvSpPr txBox="1"/>
          <p:nvPr/>
        </p:nvSpPr>
        <p:spPr>
          <a:xfrm>
            <a:off x="0" y="478955"/>
            <a:ext cx="12061603" cy="4549835"/>
          </a:xfrm>
          <a:prstGeom prst="rect">
            <a:avLst/>
          </a:prstGeom>
          <a:noFill/>
        </p:spPr>
        <p:txBody>
          <a:bodyPr wrap="square">
            <a:spAutoFit/>
          </a:bodyPr>
          <a:lstStyle/>
          <a:p>
            <a:pPr>
              <a:lnSpc>
                <a:spcPct val="150000"/>
              </a:lnSpc>
            </a:pPr>
            <a:r>
              <a:rPr lang="en-US" sz="2800" dirty="0">
                <a:latin typeface="Calibir"/>
              </a:rPr>
              <a:t>Due Date</a:t>
            </a:r>
          </a:p>
          <a:p>
            <a:pPr>
              <a:lnSpc>
                <a:spcPct val="150000"/>
              </a:lnSpc>
            </a:pPr>
            <a:r>
              <a:rPr lang="en-US" sz="2800" dirty="0">
                <a:latin typeface="Calibir"/>
              </a:rPr>
              <a:t>Friday 15 May 2026 – 9:00 PM (AEST)</a:t>
            </a:r>
          </a:p>
          <a:p>
            <a:pPr>
              <a:lnSpc>
                <a:spcPct val="150000"/>
              </a:lnSpc>
            </a:pPr>
            <a:r>
              <a:rPr lang="en-US" sz="2800" dirty="0">
                <a:latin typeface="Calibir"/>
              </a:rPr>
              <a:t>Important</a:t>
            </a:r>
          </a:p>
          <a:p>
            <a:pPr marL="914400" lvl="1" indent="-457200">
              <a:lnSpc>
                <a:spcPct val="150000"/>
              </a:lnSpc>
              <a:buFont typeface="Arial" panose="020B0604020202020204" pitchFamily="34" charset="0"/>
              <a:buChar char="•"/>
            </a:pPr>
            <a:r>
              <a:rPr lang="en-US" sz="2800" dirty="0">
                <a:latin typeface="Calibir"/>
              </a:rPr>
              <a:t>Only 1 attempt </a:t>
            </a:r>
          </a:p>
          <a:p>
            <a:pPr marL="914400" lvl="1" indent="-457200">
              <a:lnSpc>
                <a:spcPct val="150000"/>
              </a:lnSpc>
              <a:buFont typeface="Arial" panose="020B0604020202020204" pitchFamily="34" charset="0"/>
              <a:buChar char="•"/>
            </a:pPr>
            <a:r>
              <a:rPr lang="en-US" sz="2800" dirty="0">
                <a:latin typeface="Calibir"/>
              </a:rPr>
              <a:t>Automatic submission after 30 minutes </a:t>
            </a:r>
          </a:p>
          <a:p>
            <a:pPr marL="914400" lvl="1" indent="-457200">
              <a:lnSpc>
                <a:spcPct val="150000"/>
              </a:lnSpc>
              <a:buFont typeface="Arial" panose="020B0604020202020204" pitchFamily="34" charset="0"/>
              <a:buChar char="•"/>
            </a:pPr>
            <a:r>
              <a:rPr lang="en-US" sz="2800" dirty="0">
                <a:latin typeface="Calibir"/>
              </a:rPr>
              <a:t>Questions are random </a:t>
            </a:r>
          </a:p>
          <a:p>
            <a:pPr marL="914400" lvl="1" indent="-457200">
              <a:lnSpc>
                <a:spcPct val="150000"/>
              </a:lnSpc>
              <a:buFont typeface="Arial" panose="020B0604020202020204" pitchFamily="34" charset="0"/>
              <a:buChar char="•"/>
            </a:pPr>
            <a:r>
              <a:rPr lang="en-US" sz="2800" dirty="0">
                <a:latin typeface="Calibir"/>
              </a:rPr>
              <a:t>You must prepare weekly</a:t>
            </a:r>
          </a:p>
        </p:txBody>
      </p:sp>
    </p:spTree>
    <p:extLst>
      <p:ext uri="{BB962C8B-B14F-4D97-AF65-F5344CB8AC3E}">
        <p14:creationId xmlns:p14="http://schemas.microsoft.com/office/powerpoint/2010/main" val="219531775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FB2997-1213-7DB5-E45F-6832CB5F4AC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C3DA4852-21FA-0F86-5540-FC56312B8059}"/>
              </a:ext>
            </a:extLst>
          </p:cNvPr>
          <p:cNvSpPr txBox="1"/>
          <p:nvPr/>
        </p:nvSpPr>
        <p:spPr>
          <a:xfrm>
            <a:off x="0" y="0"/>
            <a:ext cx="8976732" cy="584775"/>
          </a:xfrm>
          <a:prstGeom prst="rect">
            <a:avLst/>
          </a:prstGeom>
          <a:noFill/>
        </p:spPr>
        <p:txBody>
          <a:bodyPr wrap="square" rtlCol="0">
            <a:spAutoFit/>
          </a:bodyPr>
          <a:lstStyle/>
          <a:p>
            <a:pPr lvl="0">
              <a:defRPr/>
            </a:pPr>
            <a:r>
              <a:rPr lang="en-US" sz="3200" b="1" dirty="0">
                <a:latin typeface="Calibir"/>
              </a:rPr>
              <a:t>Weekly Learning Plan</a:t>
            </a:r>
            <a:endParaRPr kumimoji="0" lang="en-US" sz="3200" b="1" i="0" u="none" strike="noStrike" kern="1200" cap="none" spc="0" normalizeH="0" baseline="0" noProof="0" dirty="0">
              <a:ln>
                <a:noFill/>
              </a:ln>
              <a:solidFill>
                <a:prstClr val="black"/>
              </a:solidFill>
              <a:effectLst/>
              <a:uLnTx/>
              <a:uFillTx/>
              <a:latin typeface="Calibir"/>
              <a:cs typeface="Calibri" panose="020F0502020204030204" pitchFamily="34" charset="0"/>
            </a:endParaRPr>
          </a:p>
        </p:txBody>
      </p:sp>
      <p:sp>
        <p:nvSpPr>
          <p:cNvPr id="5" name="TextBox 4">
            <a:extLst>
              <a:ext uri="{FF2B5EF4-FFF2-40B4-BE49-F238E27FC236}">
                <a16:creationId xmlns:a16="http://schemas.microsoft.com/office/drawing/2014/main" id="{5A7393D9-2A31-7C71-16DA-A049D366A6E5}"/>
              </a:ext>
            </a:extLst>
          </p:cNvPr>
          <p:cNvSpPr txBox="1"/>
          <p:nvPr/>
        </p:nvSpPr>
        <p:spPr>
          <a:xfrm>
            <a:off x="0" y="478955"/>
            <a:ext cx="12061603" cy="6133859"/>
          </a:xfrm>
          <a:prstGeom prst="rect">
            <a:avLst/>
          </a:prstGeom>
          <a:noFill/>
        </p:spPr>
        <p:txBody>
          <a:bodyPr wrap="square">
            <a:spAutoFit/>
          </a:bodyPr>
          <a:lstStyle/>
          <a:p>
            <a:pPr>
              <a:lnSpc>
                <a:spcPct val="150000"/>
              </a:lnSpc>
            </a:pPr>
            <a:r>
              <a:rPr lang="en-US" sz="2200" b="1" dirty="0">
                <a:latin typeface="Calibir"/>
              </a:rPr>
              <a:t>Week 1 – Internet and Web Basics</a:t>
            </a:r>
          </a:p>
          <a:p>
            <a:pPr>
              <a:lnSpc>
                <a:spcPct val="150000"/>
              </a:lnSpc>
            </a:pPr>
            <a:r>
              <a:rPr lang="en-US" sz="2200" dirty="0">
                <a:latin typeface="Calibir"/>
              </a:rPr>
              <a:t>Learn:</a:t>
            </a:r>
          </a:p>
          <a:p>
            <a:pPr marL="800100" lvl="1" indent="-342900">
              <a:lnSpc>
                <a:spcPct val="150000"/>
              </a:lnSpc>
              <a:buFont typeface="Arial" panose="020B0604020202020204" pitchFamily="34" charset="0"/>
              <a:buChar char="•"/>
            </a:pPr>
            <a:r>
              <a:rPr lang="en-US" sz="2200" dirty="0">
                <a:latin typeface="Calibir"/>
              </a:rPr>
              <a:t>Internet concepts </a:t>
            </a:r>
          </a:p>
          <a:p>
            <a:pPr marL="800100" lvl="1" indent="-342900">
              <a:lnSpc>
                <a:spcPct val="150000"/>
              </a:lnSpc>
              <a:buFont typeface="Arial" panose="020B0604020202020204" pitchFamily="34" charset="0"/>
              <a:buChar char="•"/>
            </a:pPr>
            <a:r>
              <a:rPr lang="en-US" sz="2200" dirty="0">
                <a:latin typeface="Calibir"/>
              </a:rPr>
              <a:t>Web browsers </a:t>
            </a:r>
          </a:p>
          <a:p>
            <a:pPr marL="800100" lvl="1" indent="-342900">
              <a:lnSpc>
                <a:spcPct val="150000"/>
              </a:lnSpc>
              <a:buFont typeface="Arial" panose="020B0604020202020204" pitchFamily="34" charset="0"/>
              <a:buChar char="•"/>
            </a:pPr>
            <a:r>
              <a:rPr lang="en-US" sz="2200" dirty="0">
                <a:latin typeface="Calibir"/>
              </a:rPr>
              <a:t>Servers and clients </a:t>
            </a:r>
          </a:p>
          <a:p>
            <a:pPr marL="800100" lvl="1" indent="-342900">
              <a:lnSpc>
                <a:spcPct val="150000"/>
              </a:lnSpc>
              <a:buFont typeface="Arial" panose="020B0604020202020204" pitchFamily="34" charset="0"/>
              <a:buChar char="•"/>
            </a:pPr>
            <a:r>
              <a:rPr lang="en-US" sz="2200" dirty="0">
                <a:latin typeface="Calibir"/>
              </a:rPr>
              <a:t>HTTP, TCP/IP </a:t>
            </a:r>
          </a:p>
          <a:p>
            <a:pPr marL="800100" lvl="1" indent="-342900">
              <a:lnSpc>
                <a:spcPct val="150000"/>
              </a:lnSpc>
              <a:buFont typeface="Arial" panose="020B0604020202020204" pitchFamily="34" charset="0"/>
              <a:buChar char="•"/>
            </a:pPr>
            <a:r>
              <a:rPr lang="en-US" sz="2200" dirty="0">
                <a:latin typeface="Calibir"/>
              </a:rPr>
              <a:t>IP addresses </a:t>
            </a:r>
          </a:p>
          <a:p>
            <a:pPr marL="800100" lvl="1" indent="-342900">
              <a:lnSpc>
                <a:spcPct val="150000"/>
              </a:lnSpc>
              <a:buFont typeface="Arial" panose="020B0604020202020204" pitchFamily="34" charset="0"/>
              <a:buChar char="•"/>
            </a:pPr>
            <a:r>
              <a:rPr lang="en-US" sz="2200" dirty="0">
                <a:latin typeface="Calibir"/>
              </a:rPr>
              <a:t>LMS concepts </a:t>
            </a:r>
          </a:p>
          <a:p>
            <a:pPr marL="800100" lvl="1" indent="-342900">
              <a:lnSpc>
                <a:spcPct val="150000"/>
              </a:lnSpc>
              <a:buFont typeface="Arial" panose="020B0604020202020204" pitchFamily="34" charset="0"/>
              <a:buChar char="•"/>
            </a:pPr>
            <a:r>
              <a:rPr lang="en-US" sz="2200" dirty="0">
                <a:latin typeface="Calibir"/>
              </a:rPr>
              <a:t>Web standards (W3C) </a:t>
            </a:r>
          </a:p>
          <a:p>
            <a:pPr>
              <a:lnSpc>
                <a:spcPct val="150000"/>
              </a:lnSpc>
            </a:pPr>
            <a:r>
              <a:rPr lang="en-US" sz="2200" dirty="0">
                <a:latin typeface="Calibir"/>
              </a:rPr>
              <a:t>Practice:</a:t>
            </a:r>
          </a:p>
          <a:p>
            <a:pPr marL="800100" lvl="1" indent="-342900">
              <a:lnSpc>
                <a:spcPct val="150000"/>
              </a:lnSpc>
              <a:buFont typeface="Arial" panose="020B0604020202020204" pitchFamily="34" charset="0"/>
              <a:buChar char="•"/>
            </a:pPr>
            <a:r>
              <a:rPr lang="en-US" sz="2200" dirty="0">
                <a:latin typeface="Calibir"/>
              </a:rPr>
              <a:t>Answer MCQ and True/False questions </a:t>
            </a:r>
          </a:p>
          <a:p>
            <a:pPr marL="800100" lvl="1" indent="-342900">
              <a:lnSpc>
                <a:spcPct val="150000"/>
              </a:lnSpc>
              <a:buFont typeface="Arial" panose="020B0604020202020204" pitchFamily="34" charset="0"/>
              <a:buChar char="•"/>
            </a:pPr>
            <a:r>
              <a:rPr lang="en-US" sz="2200" dirty="0">
                <a:latin typeface="Calibir"/>
              </a:rPr>
              <a:t>Learn basic definitions</a:t>
            </a:r>
          </a:p>
        </p:txBody>
      </p:sp>
    </p:spTree>
    <p:extLst>
      <p:ext uri="{BB962C8B-B14F-4D97-AF65-F5344CB8AC3E}">
        <p14:creationId xmlns:p14="http://schemas.microsoft.com/office/powerpoint/2010/main" val="164210200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C9F9F1-256A-2211-837D-C5D3D8DD3B24}"/>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EDE29545-5647-E665-A555-13B0AD4F5138}"/>
              </a:ext>
            </a:extLst>
          </p:cNvPr>
          <p:cNvSpPr txBox="1"/>
          <p:nvPr/>
        </p:nvSpPr>
        <p:spPr>
          <a:xfrm>
            <a:off x="0" y="0"/>
            <a:ext cx="8976732" cy="584775"/>
          </a:xfrm>
          <a:prstGeom prst="rect">
            <a:avLst/>
          </a:prstGeom>
          <a:noFill/>
        </p:spPr>
        <p:txBody>
          <a:bodyPr wrap="square" rtlCol="0">
            <a:spAutoFit/>
          </a:bodyPr>
          <a:lstStyle/>
          <a:p>
            <a:pPr lvl="0">
              <a:defRPr/>
            </a:pPr>
            <a:r>
              <a:rPr lang="en-US" sz="3200" b="1" dirty="0">
                <a:latin typeface="Calibir"/>
              </a:rPr>
              <a:t>Weekly Learning Plan</a:t>
            </a:r>
            <a:endParaRPr kumimoji="0" lang="en-US" sz="3200" b="1" i="0" u="none" strike="noStrike" kern="1200" cap="none" spc="0" normalizeH="0" baseline="0" noProof="0" dirty="0">
              <a:ln>
                <a:noFill/>
              </a:ln>
              <a:solidFill>
                <a:prstClr val="black"/>
              </a:solidFill>
              <a:effectLst/>
              <a:uLnTx/>
              <a:uFillTx/>
              <a:latin typeface="Calibir"/>
              <a:cs typeface="Calibri" panose="020F0502020204030204" pitchFamily="34" charset="0"/>
            </a:endParaRPr>
          </a:p>
        </p:txBody>
      </p:sp>
      <p:sp>
        <p:nvSpPr>
          <p:cNvPr id="5" name="TextBox 4">
            <a:extLst>
              <a:ext uri="{FF2B5EF4-FFF2-40B4-BE49-F238E27FC236}">
                <a16:creationId xmlns:a16="http://schemas.microsoft.com/office/drawing/2014/main" id="{658784E3-B683-773E-16E9-3561CC159D94}"/>
              </a:ext>
            </a:extLst>
          </p:cNvPr>
          <p:cNvSpPr txBox="1"/>
          <p:nvPr/>
        </p:nvSpPr>
        <p:spPr>
          <a:xfrm>
            <a:off x="0" y="478955"/>
            <a:ext cx="12061603" cy="6488828"/>
          </a:xfrm>
          <a:prstGeom prst="rect">
            <a:avLst/>
          </a:prstGeom>
          <a:noFill/>
        </p:spPr>
        <p:txBody>
          <a:bodyPr wrap="square">
            <a:spAutoFit/>
          </a:bodyPr>
          <a:lstStyle/>
          <a:p>
            <a:pPr>
              <a:lnSpc>
                <a:spcPct val="150000"/>
              </a:lnSpc>
            </a:pPr>
            <a:r>
              <a:rPr lang="en-US" sz="2800" b="1" dirty="0">
                <a:latin typeface="Calibir"/>
              </a:rPr>
              <a:t>Week 2 – Website Planning</a:t>
            </a:r>
          </a:p>
          <a:p>
            <a:pPr>
              <a:lnSpc>
                <a:spcPct val="150000"/>
              </a:lnSpc>
            </a:pPr>
            <a:r>
              <a:rPr lang="en-US" sz="2800" dirty="0">
                <a:latin typeface="Calibir"/>
              </a:rPr>
              <a:t>Learn:</a:t>
            </a:r>
          </a:p>
          <a:p>
            <a:pPr marL="914400" lvl="1" indent="-457200">
              <a:lnSpc>
                <a:spcPct val="150000"/>
              </a:lnSpc>
              <a:buFont typeface="Arial" panose="020B0604020202020204" pitchFamily="34" charset="0"/>
              <a:buChar char="•"/>
            </a:pPr>
            <a:r>
              <a:rPr lang="en-US" sz="2800" dirty="0">
                <a:latin typeface="Calibir"/>
              </a:rPr>
              <a:t>Website structure </a:t>
            </a:r>
          </a:p>
          <a:p>
            <a:pPr marL="914400" lvl="1" indent="-457200">
              <a:lnSpc>
                <a:spcPct val="150000"/>
              </a:lnSpc>
              <a:buFont typeface="Arial" panose="020B0604020202020204" pitchFamily="34" charset="0"/>
              <a:buChar char="•"/>
            </a:pPr>
            <a:r>
              <a:rPr lang="en-US" sz="2800" dirty="0">
                <a:latin typeface="Calibir"/>
              </a:rPr>
              <a:t>Navigation design </a:t>
            </a:r>
          </a:p>
          <a:p>
            <a:pPr marL="914400" lvl="1" indent="-457200">
              <a:lnSpc>
                <a:spcPct val="150000"/>
              </a:lnSpc>
              <a:buFont typeface="Arial" panose="020B0604020202020204" pitchFamily="34" charset="0"/>
              <a:buChar char="•"/>
            </a:pPr>
            <a:r>
              <a:rPr lang="en-US" sz="2800" dirty="0">
                <a:latin typeface="Calibir"/>
              </a:rPr>
              <a:t>Wireframes </a:t>
            </a:r>
          </a:p>
          <a:p>
            <a:pPr marL="914400" lvl="1" indent="-457200">
              <a:lnSpc>
                <a:spcPct val="150000"/>
              </a:lnSpc>
              <a:buFont typeface="Arial" panose="020B0604020202020204" pitchFamily="34" charset="0"/>
              <a:buChar char="•"/>
            </a:pPr>
            <a:r>
              <a:rPr lang="en-US" sz="2800" dirty="0">
                <a:latin typeface="Calibir"/>
              </a:rPr>
              <a:t>White space </a:t>
            </a:r>
          </a:p>
          <a:p>
            <a:pPr marL="914400" lvl="1" indent="-457200">
              <a:lnSpc>
                <a:spcPct val="150000"/>
              </a:lnSpc>
              <a:buFont typeface="Arial" panose="020B0604020202020204" pitchFamily="34" charset="0"/>
              <a:buChar char="•"/>
            </a:pPr>
            <a:r>
              <a:rPr lang="en-US" sz="2800" dirty="0">
                <a:latin typeface="Calibir"/>
              </a:rPr>
              <a:t>Accessibility </a:t>
            </a:r>
          </a:p>
          <a:p>
            <a:pPr>
              <a:lnSpc>
                <a:spcPct val="150000"/>
              </a:lnSpc>
            </a:pPr>
            <a:r>
              <a:rPr lang="en-US" sz="2800" dirty="0">
                <a:latin typeface="Calibir"/>
              </a:rPr>
              <a:t>Practice:</a:t>
            </a:r>
          </a:p>
          <a:p>
            <a:pPr marL="914400" lvl="1" indent="-457200">
              <a:lnSpc>
                <a:spcPct val="150000"/>
              </a:lnSpc>
              <a:buFont typeface="Arial" panose="020B0604020202020204" pitchFamily="34" charset="0"/>
              <a:buChar char="•"/>
            </a:pPr>
            <a:r>
              <a:rPr lang="en-US" sz="2800" dirty="0">
                <a:latin typeface="Calibir"/>
              </a:rPr>
              <a:t>Draw simple wireframes </a:t>
            </a:r>
          </a:p>
          <a:p>
            <a:pPr marL="914400" lvl="1" indent="-457200">
              <a:lnSpc>
                <a:spcPct val="150000"/>
              </a:lnSpc>
              <a:buFont typeface="Arial" panose="020B0604020202020204" pitchFamily="34" charset="0"/>
              <a:buChar char="•"/>
            </a:pPr>
            <a:r>
              <a:rPr lang="en-US" sz="2800" dirty="0">
                <a:latin typeface="Calibir"/>
              </a:rPr>
              <a:t>Plan webpage layouts</a:t>
            </a:r>
          </a:p>
        </p:txBody>
      </p:sp>
    </p:spTree>
    <p:extLst>
      <p:ext uri="{BB962C8B-B14F-4D97-AF65-F5344CB8AC3E}">
        <p14:creationId xmlns:p14="http://schemas.microsoft.com/office/powerpoint/2010/main" val="350342189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F39040-803A-148A-F524-1BB32F7C4550}"/>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C15760A7-029B-856B-0995-1555CE2662CF}"/>
              </a:ext>
            </a:extLst>
          </p:cNvPr>
          <p:cNvSpPr txBox="1"/>
          <p:nvPr/>
        </p:nvSpPr>
        <p:spPr>
          <a:xfrm>
            <a:off x="0" y="0"/>
            <a:ext cx="8976732" cy="584775"/>
          </a:xfrm>
          <a:prstGeom prst="rect">
            <a:avLst/>
          </a:prstGeom>
          <a:noFill/>
        </p:spPr>
        <p:txBody>
          <a:bodyPr wrap="square" rtlCol="0">
            <a:spAutoFit/>
          </a:bodyPr>
          <a:lstStyle/>
          <a:p>
            <a:pPr lvl="0">
              <a:defRPr/>
            </a:pPr>
            <a:r>
              <a:rPr lang="en-US" sz="3200" b="1" dirty="0">
                <a:latin typeface="Calibir"/>
              </a:rPr>
              <a:t>Weekly Learning Plan</a:t>
            </a:r>
            <a:endParaRPr kumimoji="0" lang="en-US" sz="3200" b="1" i="0" u="none" strike="noStrike" kern="1200" cap="none" spc="0" normalizeH="0" baseline="0" noProof="0" dirty="0">
              <a:ln>
                <a:noFill/>
              </a:ln>
              <a:solidFill>
                <a:prstClr val="black"/>
              </a:solidFill>
              <a:effectLst/>
              <a:uLnTx/>
              <a:uFillTx/>
              <a:latin typeface="Calibir"/>
              <a:cs typeface="Calibri" panose="020F0502020204030204" pitchFamily="34" charset="0"/>
            </a:endParaRPr>
          </a:p>
        </p:txBody>
      </p:sp>
      <p:sp>
        <p:nvSpPr>
          <p:cNvPr id="5" name="TextBox 4">
            <a:extLst>
              <a:ext uri="{FF2B5EF4-FFF2-40B4-BE49-F238E27FC236}">
                <a16:creationId xmlns:a16="http://schemas.microsoft.com/office/drawing/2014/main" id="{C8842FA8-0044-D53C-90A6-E41D56009A8C}"/>
              </a:ext>
            </a:extLst>
          </p:cNvPr>
          <p:cNvSpPr txBox="1"/>
          <p:nvPr/>
        </p:nvSpPr>
        <p:spPr>
          <a:xfrm>
            <a:off x="0" y="478955"/>
            <a:ext cx="12061603" cy="5842497"/>
          </a:xfrm>
          <a:prstGeom prst="rect">
            <a:avLst/>
          </a:prstGeom>
          <a:noFill/>
        </p:spPr>
        <p:txBody>
          <a:bodyPr wrap="square">
            <a:spAutoFit/>
          </a:bodyPr>
          <a:lstStyle/>
          <a:p>
            <a:pPr>
              <a:lnSpc>
                <a:spcPct val="150000"/>
              </a:lnSpc>
            </a:pPr>
            <a:r>
              <a:rPr lang="en-US" sz="2800" b="1" dirty="0">
                <a:latin typeface="Calibir"/>
              </a:rPr>
              <a:t>Week 3 – HTML5 Basics</a:t>
            </a:r>
          </a:p>
          <a:p>
            <a:pPr>
              <a:lnSpc>
                <a:spcPct val="150000"/>
              </a:lnSpc>
            </a:pPr>
            <a:r>
              <a:rPr lang="en-US" sz="2800" dirty="0">
                <a:latin typeface="Calibir"/>
              </a:rPr>
              <a:t>Learn:</a:t>
            </a:r>
          </a:p>
          <a:p>
            <a:pPr marL="914400" lvl="1" indent="-457200">
              <a:lnSpc>
                <a:spcPct val="150000"/>
              </a:lnSpc>
              <a:buFont typeface="Arial" panose="020B0604020202020204" pitchFamily="34" charset="0"/>
              <a:buChar char="•"/>
            </a:pPr>
            <a:r>
              <a:rPr lang="en-US" sz="2800" dirty="0">
                <a:latin typeface="Calibir"/>
              </a:rPr>
              <a:t>HTML structure </a:t>
            </a:r>
          </a:p>
          <a:p>
            <a:pPr marL="914400" lvl="1" indent="-457200">
              <a:lnSpc>
                <a:spcPct val="150000"/>
              </a:lnSpc>
              <a:buFont typeface="Arial" panose="020B0604020202020204" pitchFamily="34" charset="0"/>
              <a:buChar char="•"/>
            </a:pPr>
            <a:r>
              <a:rPr lang="en-US" sz="2800" dirty="0">
                <a:latin typeface="Calibir"/>
              </a:rPr>
              <a:t>Headings </a:t>
            </a:r>
          </a:p>
          <a:p>
            <a:pPr marL="914400" lvl="1" indent="-457200">
              <a:lnSpc>
                <a:spcPct val="150000"/>
              </a:lnSpc>
              <a:buFont typeface="Arial" panose="020B0604020202020204" pitchFamily="34" charset="0"/>
              <a:buChar char="•"/>
            </a:pPr>
            <a:r>
              <a:rPr lang="en-US" sz="2800" dirty="0">
                <a:latin typeface="Calibir"/>
              </a:rPr>
              <a:t>Paragraphs </a:t>
            </a:r>
          </a:p>
          <a:p>
            <a:pPr marL="914400" lvl="1" indent="-457200">
              <a:lnSpc>
                <a:spcPct val="150000"/>
              </a:lnSpc>
              <a:buFont typeface="Arial" panose="020B0604020202020204" pitchFamily="34" charset="0"/>
              <a:buChar char="•"/>
            </a:pPr>
            <a:r>
              <a:rPr lang="en-US" sz="2800" dirty="0">
                <a:latin typeface="Calibir"/>
              </a:rPr>
              <a:t>Lists </a:t>
            </a:r>
          </a:p>
          <a:p>
            <a:pPr marL="914400" lvl="1" indent="-457200">
              <a:lnSpc>
                <a:spcPct val="150000"/>
              </a:lnSpc>
              <a:buFont typeface="Arial" panose="020B0604020202020204" pitchFamily="34" charset="0"/>
              <a:buChar char="•"/>
            </a:pPr>
            <a:r>
              <a:rPr lang="en-US" sz="2800" dirty="0">
                <a:latin typeface="Calibir"/>
              </a:rPr>
              <a:t>Basic webpage template </a:t>
            </a:r>
          </a:p>
          <a:p>
            <a:pPr>
              <a:lnSpc>
                <a:spcPct val="150000"/>
              </a:lnSpc>
            </a:pPr>
            <a:r>
              <a:rPr lang="en-US" sz="2800" dirty="0">
                <a:latin typeface="Calibir"/>
              </a:rPr>
              <a:t>Practice:</a:t>
            </a:r>
          </a:p>
          <a:p>
            <a:pPr marL="914400" lvl="1" indent="-457200">
              <a:lnSpc>
                <a:spcPct val="150000"/>
              </a:lnSpc>
              <a:buFont typeface="Arial" panose="020B0604020202020204" pitchFamily="34" charset="0"/>
              <a:buChar char="•"/>
            </a:pPr>
            <a:r>
              <a:rPr lang="en-US" sz="2800" dirty="0">
                <a:latin typeface="Calibir"/>
              </a:rPr>
              <a:t>Build simple webpages daily</a:t>
            </a:r>
          </a:p>
        </p:txBody>
      </p:sp>
    </p:spTree>
    <p:extLst>
      <p:ext uri="{BB962C8B-B14F-4D97-AF65-F5344CB8AC3E}">
        <p14:creationId xmlns:p14="http://schemas.microsoft.com/office/powerpoint/2010/main" val="355253378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CAF25E-8917-703C-24A5-EB5A7890BE77}"/>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EFC748C-DBEF-D9DA-614C-900EEBA94AA8}"/>
              </a:ext>
            </a:extLst>
          </p:cNvPr>
          <p:cNvSpPr txBox="1"/>
          <p:nvPr/>
        </p:nvSpPr>
        <p:spPr>
          <a:xfrm>
            <a:off x="0" y="0"/>
            <a:ext cx="8976732" cy="584775"/>
          </a:xfrm>
          <a:prstGeom prst="rect">
            <a:avLst/>
          </a:prstGeom>
          <a:noFill/>
        </p:spPr>
        <p:txBody>
          <a:bodyPr wrap="square" rtlCol="0">
            <a:spAutoFit/>
          </a:bodyPr>
          <a:lstStyle/>
          <a:p>
            <a:pPr lvl="0">
              <a:defRPr/>
            </a:pPr>
            <a:r>
              <a:rPr lang="en-US" sz="3200" b="1" dirty="0">
                <a:latin typeface="Calibir"/>
              </a:rPr>
              <a:t>Weekly Learning Plan</a:t>
            </a:r>
            <a:endParaRPr kumimoji="0" lang="en-US" sz="3200" b="1" i="0" u="none" strike="noStrike" kern="1200" cap="none" spc="0" normalizeH="0" baseline="0" noProof="0" dirty="0">
              <a:ln>
                <a:noFill/>
              </a:ln>
              <a:solidFill>
                <a:prstClr val="black"/>
              </a:solidFill>
              <a:effectLst/>
              <a:uLnTx/>
              <a:uFillTx/>
              <a:latin typeface="Calibir"/>
              <a:cs typeface="Calibri" panose="020F0502020204030204" pitchFamily="34" charset="0"/>
            </a:endParaRPr>
          </a:p>
        </p:txBody>
      </p:sp>
      <p:sp>
        <p:nvSpPr>
          <p:cNvPr id="5" name="TextBox 4">
            <a:extLst>
              <a:ext uri="{FF2B5EF4-FFF2-40B4-BE49-F238E27FC236}">
                <a16:creationId xmlns:a16="http://schemas.microsoft.com/office/drawing/2014/main" id="{2B664AF8-5719-0DD9-9A79-66374D1111DF}"/>
              </a:ext>
            </a:extLst>
          </p:cNvPr>
          <p:cNvSpPr txBox="1"/>
          <p:nvPr/>
        </p:nvSpPr>
        <p:spPr>
          <a:xfrm>
            <a:off x="0" y="478955"/>
            <a:ext cx="12061603" cy="5196166"/>
          </a:xfrm>
          <a:prstGeom prst="rect">
            <a:avLst/>
          </a:prstGeom>
          <a:noFill/>
        </p:spPr>
        <p:txBody>
          <a:bodyPr wrap="square">
            <a:spAutoFit/>
          </a:bodyPr>
          <a:lstStyle/>
          <a:p>
            <a:pPr>
              <a:lnSpc>
                <a:spcPct val="150000"/>
              </a:lnSpc>
            </a:pPr>
            <a:r>
              <a:rPr lang="en-US" sz="2800" b="1" dirty="0">
                <a:latin typeface="Calibir"/>
              </a:rPr>
              <a:t>Week 4 – Links and Images</a:t>
            </a:r>
          </a:p>
          <a:p>
            <a:pPr>
              <a:lnSpc>
                <a:spcPct val="150000"/>
              </a:lnSpc>
            </a:pPr>
            <a:r>
              <a:rPr lang="en-US" sz="2800" dirty="0">
                <a:latin typeface="Calibir"/>
              </a:rPr>
              <a:t>Learn:</a:t>
            </a:r>
          </a:p>
          <a:p>
            <a:pPr marL="914400" lvl="1" indent="-457200">
              <a:lnSpc>
                <a:spcPct val="150000"/>
              </a:lnSpc>
              <a:buFont typeface="Arial" panose="020B0604020202020204" pitchFamily="34" charset="0"/>
              <a:buChar char="•"/>
            </a:pPr>
            <a:r>
              <a:rPr lang="en-US" sz="2800" dirty="0">
                <a:latin typeface="Calibir"/>
              </a:rPr>
              <a:t>Hyperlinks </a:t>
            </a:r>
          </a:p>
          <a:p>
            <a:pPr marL="914400" lvl="1" indent="-457200">
              <a:lnSpc>
                <a:spcPct val="150000"/>
              </a:lnSpc>
              <a:buFont typeface="Arial" panose="020B0604020202020204" pitchFamily="34" charset="0"/>
              <a:buChar char="•"/>
            </a:pPr>
            <a:r>
              <a:rPr lang="en-US" sz="2800" dirty="0">
                <a:latin typeface="Calibir"/>
              </a:rPr>
              <a:t>Navigation menus </a:t>
            </a:r>
          </a:p>
          <a:p>
            <a:pPr marL="914400" lvl="1" indent="-457200">
              <a:lnSpc>
                <a:spcPct val="150000"/>
              </a:lnSpc>
              <a:buFont typeface="Arial" panose="020B0604020202020204" pitchFamily="34" charset="0"/>
              <a:buChar char="•"/>
            </a:pPr>
            <a:r>
              <a:rPr lang="en-US" sz="2800" dirty="0">
                <a:latin typeface="Calibir"/>
              </a:rPr>
              <a:t>Images </a:t>
            </a:r>
          </a:p>
          <a:p>
            <a:pPr marL="914400" lvl="1" indent="-457200">
              <a:lnSpc>
                <a:spcPct val="150000"/>
              </a:lnSpc>
              <a:buFont typeface="Arial" panose="020B0604020202020204" pitchFamily="34" charset="0"/>
              <a:buChar char="•"/>
            </a:pPr>
            <a:r>
              <a:rPr lang="en-US" sz="2800" dirty="0">
                <a:latin typeface="Calibir"/>
              </a:rPr>
              <a:t>File paths </a:t>
            </a:r>
          </a:p>
          <a:p>
            <a:pPr>
              <a:lnSpc>
                <a:spcPct val="150000"/>
              </a:lnSpc>
            </a:pPr>
            <a:r>
              <a:rPr lang="en-US" sz="2800" dirty="0">
                <a:latin typeface="Calibir"/>
              </a:rPr>
              <a:t>Practice:</a:t>
            </a:r>
          </a:p>
          <a:p>
            <a:pPr marL="914400" lvl="1" indent="-457200">
              <a:lnSpc>
                <a:spcPct val="150000"/>
              </a:lnSpc>
              <a:buFont typeface="Arial" panose="020B0604020202020204" pitchFamily="34" charset="0"/>
              <a:buChar char="•"/>
            </a:pPr>
            <a:r>
              <a:rPr lang="en-US" sz="2800" dirty="0">
                <a:latin typeface="Calibir"/>
              </a:rPr>
              <a:t>Create multi-page websites</a:t>
            </a:r>
          </a:p>
        </p:txBody>
      </p:sp>
    </p:spTree>
    <p:extLst>
      <p:ext uri="{BB962C8B-B14F-4D97-AF65-F5344CB8AC3E}">
        <p14:creationId xmlns:p14="http://schemas.microsoft.com/office/powerpoint/2010/main" val="134834892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37BA7D-EDA5-1042-2FA0-DE96E787B21E}"/>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52D8F6F7-91AD-D10C-A5CF-EFEC8CD2E424}"/>
              </a:ext>
            </a:extLst>
          </p:cNvPr>
          <p:cNvSpPr txBox="1"/>
          <p:nvPr/>
        </p:nvSpPr>
        <p:spPr>
          <a:xfrm>
            <a:off x="0" y="0"/>
            <a:ext cx="8976732" cy="584775"/>
          </a:xfrm>
          <a:prstGeom prst="rect">
            <a:avLst/>
          </a:prstGeom>
          <a:noFill/>
        </p:spPr>
        <p:txBody>
          <a:bodyPr wrap="square" rtlCol="0">
            <a:spAutoFit/>
          </a:bodyPr>
          <a:lstStyle/>
          <a:p>
            <a:pPr lvl="0">
              <a:defRPr/>
            </a:pPr>
            <a:r>
              <a:rPr lang="en-US" sz="3200" b="1" dirty="0">
                <a:latin typeface="Calibir"/>
              </a:rPr>
              <a:t>Weekly Learning Plan</a:t>
            </a:r>
            <a:endParaRPr kumimoji="0" lang="en-US" sz="3200" b="1" i="0" u="none" strike="noStrike" kern="1200" cap="none" spc="0" normalizeH="0" baseline="0" noProof="0" dirty="0">
              <a:ln>
                <a:noFill/>
              </a:ln>
              <a:solidFill>
                <a:prstClr val="black"/>
              </a:solidFill>
              <a:effectLst/>
              <a:uLnTx/>
              <a:uFillTx/>
              <a:latin typeface="Calibir"/>
              <a:cs typeface="Calibri" panose="020F0502020204030204" pitchFamily="34" charset="0"/>
            </a:endParaRPr>
          </a:p>
        </p:txBody>
      </p:sp>
      <p:sp>
        <p:nvSpPr>
          <p:cNvPr id="5" name="TextBox 4">
            <a:extLst>
              <a:ext uri="{FF2B5EF4-FFF2-40B4-BE49-F238E27FC236}">
                <a16:creationId xmlns:a16="http://schemas.microsoft.com/office/drawing/2014/main" id="{4D9C290F-F4F3-DBD8-5F86-D759B4C0AB9A}"/>
              </a:ext>
            </a:extLst>
          </p:cNvPr>
          <p:cNvSpPr txBox="1"/>
          <p:nvPr/>
        </p:nvSpPr>
        <p:spPr>
          <a:xfrm>
            <a:off x="0" y="478955"/>
            <a:ext cx="12061603" cy="4549835"/>
          </a:xfrm>
          <a:prstGeom prst="rect">
            <a:avLst/>
          </a:prstGeom>
          <a:noFill/>
        </p:spPr>
        <p:txBody>
          <a:bodyPr wrap="square">
            <a:spAutoFit/>
          </a:bodyPr>
          <a:lstStyle/>
          <a:p>
            <a:pPr>
              <a:lnSpc>
                <a:spcPct val="150000"/>
              </a:lnSpc>
            </a:pPr>
            <a:r>
              <a:rPr lang="en-US" sz="2800" b="1" dirty="0">
                <a:latin typeface="Calibir"/>
              </a:rPr>
              <a:t>Week 5 – </a:t>
            </a:r>
            <a:r>
              <a:rPr lang="en-US" sz="2800" b="1" dirty="0" err="1">
                <a:latin typeface="Calibir"/>
              </a:rPr>
              <a:t>Divs</a:t>
            </a:r>
            <a:r>
              <a:rPr lang="en-US" sz="2800" b="1" dirty="0">
                <a:latin typeface="Calibir"/>
              </a:rPr>
              <a:t>, Headings and Lists</a:t>
            </a:r>
          </a:p>
          <a:p>
            <a:pPr>
              <a:lnSpc>
                <a:spcPct val="150000"/>
              </a:lnSpc>
            </a:pPr>
            <a:r>
              <a:rPr lang="en-US" sz="2800" dirty="0">
                <a:latin typeface="Calibir"/>
              </a:rPr>
              <a:t>Learn:</a:t>
            </a:r>
          </a:p>
          <a:p>
            <a:pPr marL="914400" lvl="1" indent="-457200">
              <a:lnSpc>
                <a:spcPct val="150000"/>
              </a:lnSpc>
              <a:buFont typeface="Arial" panose="020B0604020202020204" pitchFamily="34" charset="0"/>
              <a:buChar char="•"/>
            </a:pPr>
            <a:r>
              <a:rPr lang="en-US" sz="2800" dirty="0">
                <a:latin typeface="Calibir"/>
              </a:rPr>
              <a:t>div containers </a:t>
            </a:r>
          </a:p>
          <a:p>
            <a:pPr marL="914400" lvl="1" indent="-457200">
              <a:lnSpc>
                <a:spcPct val="150000"/>
              </a:lnSpc>
              <a:buFont typeface="Arial" panose="020B0604020202020204" pitchFamily="34" charset="0"/>
              <a:buChar char="•"/>
            </a:pPr>
            <a:r>
              <a:rPr lang="en-US" sz="2800" dirty="0">
                <a:latin typeface="Calibir"/>
              </a:rPr>
              <a:t>webpage organization </a:t>
            </a:r>
          </a:p>
          <a:p>
            <a:pPr marL="914400" lvl="1" indent="-457200">
              <a:lnSpc>
                <a:spcPct val="150000"/>
              </a:lnSpc>
              <a:buFont typeface="Arial" panose="020B0604020202020204" pitchFamily="34" charset="0"/>
              <a:buChar char="•"/>
            </a:pPr>
            <a:r>
              <a:rPr lang="en-US" sz="2800" dirty="0">
                <a:latin typeface="Calibir"/>
              </a:rPr>
              <a:t>ordered and unordered lists </a:t>
            </a:r>
          </a:p>
          <a:p>
            <a:pPr>
              <a:lnSpc>
                <a:spcPct val="150000"/>
              </a:lnSpc>
            </a:pPr>
            <a:r>
              <a:rPr lang="en-US" sz="2800" dirty="0">
                <a:latin typeface="Calibir"/>
              </a:rPr>
              <a:t>Practice:</a:t>
            </a:r>
          </a:p>
          <a:p>
            <a:pPr marL="914400" lvl="1" indent="-457200">
              <a:lnSpc>
                <a:spcPct val="150000"/>
              </a:lnSpc>
              <a:buFont typeface="Arial" panose="020B0604020202020204" pitchFamily="34" charset="0"/>
              <a:buChar char="•"/>
            </a:pPr>
            <a:r>
              <a:rPr lang="en-US" sz="2800" dirty="0">
                <a:latin typeface="Calibir"/>
              </a:rPr>
              <a:t>Build cleaner webpage structures</a:t>
            </a:r>
          </a:p>
        </p:txBody>
      </p:sp>
    </p:spTree>
    <p:extLst>
      <p:ext uri="{BB962C8B-B14F-4D97-AF65-F5344CB8AC3E}">
        <p14:creationId xmlns:p14="http://schemas.microsoft.com/office/powerpoint/2010/main" val="197470880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855C9E-4402-A08E-A507-0A9C5FB4F996}"/>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B76578C5-7FBB-3C87-35C6-24F6171C5323}"/>
              </a:ext>
            </a:extLst>
          </p:cNvPr>
          <p:cNvSpPr txBox="1"/>
          <p:nvPr/>
        </p:nvSpPr>
        <p:spPr>
          <a:xfrm>
            <a:off x="0" y="0"/>
            <a:ext cx="8976732" cy="584775"/>
          </a:xfrm>
          <a:prstGeom prst="rect">
            <a:avLst/>
          </a:prstGeom>
          <a:noFill/>
        </p:spPr>
        <p:txBody>
          <a:bodyPr wrap="square" rtlCol="0">
            <a:spAutoFit/>
          </a:bodyPr>
          <a:lstStyle/>
          <a:p>
            <a:pPr lvl="0">
              <a:defRPr/>
            </a:pPr>
            <a:r>
              <a:rPr lang="en-US" sz="3200" b="1" dirty="0">
                <a:latin typeface="Calibir"/>
              </a:rPr>
              <a:t>Weekly Learning Plan</a:t>
            </a:r>
            <a:endParaRPr kumimoji="0" lang="en-US" sz="3200" b="1" i="0" u="none" strike="noStrike" kern="1200" cap="none" spc="0" normalizeH="0" baseline="0" noProof="0" dirty="0">
              <a:ln>
                <a:noFill/>
              </a:ln>
              <a:solidFill>
                <a:prstClr val="black"/>
              </a:solidFill>
              <a:effectLst/>
              <a:uLnTx/>
              <a:uFillTx/>
              <a:latin typeface="Calibir"/>
              <a:cs typeface="Calibri" panose="020F0502020204030204" pitchFamily="34" charset="0"/>
            </a:endParaRPr>
          </a:p>
        </p:txBody>
      </p:sp>
      <p:sp>
        <p:nvSpPr>
          <p:cNvPr id="5" name="TextBox 4">
            <a:extLst>
              <a:ext uri="{FF2B5EF4-FFF2-40B4-BE49-F238E27FC236}">
                <a16:creationId xmlns:a16="http://schemas.microsoft.com/office/drawing/2014/main" id="{53399D77-21E0-8A65-36A2-006EB0754DF0}"/>
              </a:ext>
            </a:extLst>
          </p:cNvPr>
          <p:cNvSpPr txBox="1"/>
          <p:nvPr/>
        </p:nvSpPr>
        <p:spPr>
          <a:xfrm>
            <a:off x="0" y="478955"/>
            <a:ext cx="12061603" cy="5842497"/>
          </a:xfrm>
          <a:prstGeom prst="rect">
            <a:avLst/>
          </a:prstGeom>
          <a:noFill/>
        </p:spPr>
        <p:txBody>
          <a:bodyPr wrap="square">
            <a:spAutoFit/>
          </a:bodyPr>
          <a:lstStyle/>
          <a:p>
            <a:pPr>
              <a:lnSpc>
                <a:spcPct val="150000"/>
              </a:lnSpc>
            </a:pPr>
            <a:r>
              <a:rPr lang="en-US" sz="2800" b="1" dirty="0">
                <a:latin typeface="Calibir"/>
              </a:rPr>
              <a:t>Week 6 – CSS Basics</a:t>
            </a:r>
          </a:p>
          <a:p>
            <a:pPr>
              <a:lnSpc>
                <a:spcPct val="150000"/>
              </a:lnSpc>
            </a:pPr>
            <a:r>
              <a:rPr lang="en-US" sz="2800" dirty="0">
                <a:latin typeface="Calibir"/>
              </a:rPr>
              <a:t>Learn:</a:t>
            </a:r>
          </a:p>
          <a:p>
            <a:pPr marL="914400" lvl="1" indent="-457200">
              <a:lnSpc>
                <a:spcPct val="150000"/>
              </a:lnSpc>
              <a:buFont typeface="Arial" panose="020B0604020202020204" pitchFamily="34" charset="0"/>
              <a:buChar char="•"/>
            </a:pPr>
            <a:r>
              <a:rPr lang="en-US" sz="2800" dirty="0">
                <a:latin typeface="Calibir"/>
              </a:rPr>
              <a:t>Colors </a:t>
            </a:r>
          </a:p>
          <a:p>
            <a:pPr marL="914400" lvl="1" indent="-457200">
              <a:lnSpc>
                <a:spcPct val="150000"/>
              </a:lnSpc>
              <a:buFont typeface="Arial" panose="020B0604020202020204" pitchFamily="34" charset="0"/>
              <a:buChar char="•"/>
            </a:pPr>
            <a:r>
              <a:rPr lang="en-US" sz="2800" dirty="0">
                <a:latin typeface="Calibir"/>
              </a:rPr>
              <a:t>Fonts </a:t>
            </a:r>
          </a:p>
          <a:p>
            <a:pPr marL="914400" lvl="1" indent="-457200">
              <a:lnSpc>
                <a:spcPct val="150000"/>
              </a:lnSpc>
              <a:buFont typeface="Arial" panose="020B0604020202020204" pitchFamily="34" charset="0"/>
              <a:buChar char="•"/>
            </a:pPr>
            <a:r>
              <a:rPr lang="en-US" sz="2800" dirty="0">
                <a:latin typeface="Calibir"/>
              </a:rPr>
              <a:t>Backgrounds </a:t>
            </a:r>
          </a:p>
          <a:p>
            <a:pPr marL="914400" lvl="1" indent="-457200">
              <a:lnSpc>
                <a:spcPct val="150000"/>
              </a:lnSpc>
              <a:buFont typeface="Arial" panose="020B0604020202020204" pitchFamily="34" charset="0"/>
              <a:buChar char="•"/>
            </a:pPr>
            <a:r>
              <a:rPr lang="en-US" sz="2800" dirty="0">
                <a:latin typeface="Calibir"/>
              </a:rPr>
              <a:t>Borders </a:t>
            </a:r>
          </a:p>
          <a:p>
            <a:pPr marL="914400" lvl="1" indent="-457200">
              <a:lnSpc>
                <a:spcPct val="150000"/>
              </a:lnSpc>
              <a:buFont typeface="Arial" panose="020B0604020202020204" pitchFamily="34" charset="0"/>
              <a:buChar char="•"/>
            </a:pPr>
            <a:r>
              <a:rPr lang="en-US" sz="2800" dirty="0">
                <a:latin typeface="Calibir"/>
              </a:rPr>
              <a:t>External CSS </a:t>
            </a:r>
          </a:p>
          <a:p>
            <a:pPr>
              <a:lnSpc>
                <a:spcPct val="150000"/>
              </a:lnSpc>
            </a:pPr>
            <a:r>
              <a:rPr lang="en-US" sz="2800" dirty="0">
                <a:latin typeface="Calibir"/>
              </a:rPr>
              <a:t>Practice:</a:t>
            </a:r>
          </a:p>
          <a:p>
            <a:pPr marL="914400" lvl="1" indent="-457200">
              <a:lnSpc>
                <a:spcPct val="150000"/>
              </a:lnSpc>
              <a:buFont typeface="Arial" panose="020B0604020202020204" pitchFamily="34" charset="0"/>
              <a:buChar char="•"/>
            </a:pPr>
            <a:r>
              <a:rPr lang="en-US" sz="2800" dirty="0">
                <a:latin typeface="Calibir"/>
              </a:rPr>
              <a:t>Style webpages professionally</a:t>
            </a:r>
          </a:p>
        </p:txBody>
      </p:sp>
    </p:spTree>
    <p:extLst>
      <p:ext uri="{BB962C8B-B14F-4D97-AF65-F5344CB8AC3E}">
        <p14:creationId xmlns:p14="http://schemas.microsoft.com/office/powerpoint/2010/main" val="82917811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C84B6A-0E62-2A66-237A-3F17D27CB838}"/>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C2FDC4D-D29D-0B60-9F99-8665C2A1EE22}"/>
              </a:ext>
            </a:extLst>
          </p:cNvPr>
          <p:cNvSpPr txBox="1"/>
          <p:nvPr/>
        </p:nvSpPr>
        <p:spPr>
          <a:xfrm>
            <a:off x="0" y="0"/>
            <a:ext cx="8976732" cy="584775"/>
          </a:xfrm>
          <a:prstGeom prst="rect">
            <a:avLst/>
          </a:prstGeom>
          <a:noFill/>
        </p:spPr>
        <p:txBody>
          <a:bodyPr wrap="square" rtlCol="0">
            <a:spAutoFit/>
          </a:bodyPr>
          <a:lstStyle/>
          <a:p>
            <a:pPr lvl="0">
              <a:defRPr/>
            </a:pPr>
            <a:r>
              <a:rPr lang="en-US" sz="3200" b="1" dirty="0">
                <a:latin typeface="Calibir"/>
              </a:rPr>
              <a:t>How to Study Properly for This Unit</a:t>
            </a:r>
            <a:endParaRPr kumimoji="0" lang="en-US" sz="3200" b="1" i="0" u="none" strike="noStrike" kern="1200" cap="none" spc="0" normalizeH="0" baseline="0" noProof="0" dirty="0">
              <a:ln>
                <a:noFill/>
              </a:ln>
              <a:solidFill>
                <a:prstClr val="black"/>
              </a:solidFill>
              <a:effectLst/>
              <a:uLnTx/>
              <a:uFillTx/>
              <a:latin typeface="Calibir"/>
              <a:cs typeface="Calibri" panose="020F0502020204030204" pitchFamily="34" charset="0"/>
            </a:endParaRPr>
          </a:p>
        </p:txBody>
      </p:sp>
      <p:sp>
        <p:nvSpPr>
          <p:cNvPr id="5" name="TextBox 4">
            <a:extLst>
              <a:ext uri="{FF2B5EF4-FFF2-40B4-BE49-F238E27FC236}">
                <a16:creationId xmlns:a16="http://schemas.microsoft.com/office/drawing/2014/main" id="{81B02311-148A-D854-31BE-17D29084ACA1}"/>
              </a:ext>
            </a:extLst>
          </p:cNvPr>
          <p:cNvSpPr txBox="1"/>
          <p:nvPr/>
        </p:nvSpPr>
        <p:spPr>
          <a:xfrm>
            <a:off x="0" y="830917"/>
            <a:ext cx="12061603" cy="5196166"/>
          </a:xfrm>
          <a:prstGeom prst="rect">
            <a:avLst/>
          </a:prstGeom>
          <a:noFill/>
        </p:spPr>
        <p:txBody>
          <a:bodyPr wrap="square">
            <a:spAutoFit/>
          </a:bodyPr>
          <a:lstStyle/>
          <a:p>
            <a:pPr>
              <a:lnSpc>
                <a:spcPct val="150000"/>
              </a:lnSpc>
            </a:pPr>
            <a:r>
              <a:rPr lang="en-US" sz="2800" b="1" dirty="0">
                <a:latin typeface="Calibir"/>
              </a:rPr>
              <a:t>Step 1 – Attend Every Class</a:t>
            </a:r>
          </a:p>
          <a:p>
            <a:pPr>
              <a:lnSpc>
                <a:spcPct val="150000"/>
              </a:lnSpc>
            </a:pPr>
            <a:r>
              <a:rPr lang="en-US" sz="2800" dirty="0">
                <a:latin typeface="Calibir"/>
              </a:rPr>
              <a:t>Web Design is skill-based.</a:t>
            </a:r>
          </a:p>
          <a:p>
            <a:pPr>
              <a:lnSpc>
                <a:spcPct val="150000"/>
              </a:lnSpc>
            </a:pPr>
            <a:r>
              <a:rPr lang="en-US" sz="2800" dirty="0">
                <a:latin typeface="Calibir"/>
              </a:rPr>
              <a:t>Missing one class can make later topics difficult.</a:t>
            </a:r>
          </a:p>
          <a:p>
            <a:pPr>
              <a:lnSpc>
                <a:spcPct val="150000"/>
              </a:lnSpc>
            </a:pPr>
            <a:r>
              <a:rPr lang="en-US" sz="2800" b="1" dirty="0">
                <a:latin typeface="Calibir"/>
              </a:rPr>
              <a:t>What to do</a:t>
            </a:r>
          </a:p>
          <a:p>
            <a:pPr marL="914400" lvl="1" indent="-457200">
              <a:lnSpc>
                <a:spcPct val="150000"/>
              </a:lnSpc>
              <a:buFont typeface="Arial" panose="020B0604020202020204" pitchFamily="34" charset="0"/>
              <a:buChar char="•"/>
            </a:pPr>
            <a:r>
              <a:rPr lang="en-US" sz="2800" dirty="0">
                <a:latin typeface="Calibir"/>
              </a:rPr>
              <a:t>Attend both weekly sessions </a:t>
            </a:r>
          </a:p>
          <a:p>
            <a:pPr marL="914400" lvl="1" indent="-457200">
              <a:lnSpc>
                <a:spcPct val="150000"/>
              </a:lnSpc>
              <a:buFont typeface="Arial" panose="020B0604020202020204" pitchFamily="34" charset="0"/>
              <a:buChar char="•"/>
            </a:pPr>
            <a:r>
              <a:rPr lang="en-US" sz="2800" dirty="0">
                <a:latin typeface="Calibir"/>
              </a:rPr>
              <a:t>Take notes </a:t>
            </a:r>
          </a:p>
          <a:p>
            <a:pPr marL="914400" lvl="1" indent="-457200">
              <a:lnSpc>
                <a:spcPct val="150000"/>
              </a:lnSpc>
              <a:buFont typeface="Arial" panose="020B0604020202020204" pitchFamily="34" charset="0"/>
              <a:buChar char="•"/>
            </a:pPr>
            <a:r>
              <a:rPr lang="en-US" sz="2800" dirty="0">
                <a:latin typeface="Calibir"/>
              </a:rPr>
              <a:t>Ask questions </a:t>
            </a:r>
          </a:p>
          <a:p>
            <a:pPr marL="914400" lvl="1" indent="-457200">
              <a:lnSpc>
                <a:spcPct val="150000"/>
              </a:lnSpc>
              <a:buFont typeface="Arial" panose="020B0604020202020204" pitchFamily="34" charset="0"/>
              <a:buChar char="•"/>
            </a:pPr>
            <a:r>
              <a:rPr lang="en-US" sz="2800" dirty="0">
                <a:latin typeface="Calibir"/>
              </a:rPr>
              <a:t>Watch demonstrations carefully </a:t>
            </a:r>
          </a:p>
        </p:txBody>
      </p:sp>
    </p:spTree>
    <p:extLst>
      <p:ext uri="{BB962C8B-B14F-4D97-AF65-F5344CB8AC3E}">
        <p14:creationId xmlns:p14="http://schemas.microsoft.com/office/powerpoint/2010/main" val="60636944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06EB2F-8618-0BE9-F431-9E34393B668C}"/>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11C9D9A0-E5B3-E641-85D9-8459ADDDCBA8}"/>
              </a:ext>
            </a:extLst>
          </p:cNvPr>
          <p:cNvSpPr txBox="1"/>
          <p:nvPr/>
        </p:nvSpPr>
        <p:spPr>
          <a:xfrm>
            <a:off x="0" y="0"/>
            <a:ext cx="8976732" cy="584775"/>
          </a:xfrm>
          <a:prstGeom prst="rect">
            <a:avLst/>
          </a:prstGeom>
          <a:noFill/>
        </p:spPr>
        <p:txBody>
          <a:bodyPr wrap="square" rtlCol="0">
            <a:spAutoFit/>
          </a:bodyPr>
          <a:lstStyle/>
          <a:p>
            <a:pPr lvl="0">
              <a:defRPr/>
            </a:pPr>
            <a:r>
              <a:rPr lang="en-US" sz="3200" b="1" dirty="0">
                <a:latin typeface="Calibir"/>
              </a:rPr>
              <a:t>How to Study Properly for This Unit</a:t>
            </a:r>
            <a:endParaRPr kumimoji="0" lang="en-US" sz="3200" b="1" i="0" u="none" strike="noStrike" kern="1200" cap="none" spc="0" normalizeH="0" baseline="0" noProof="0" dirty="0">
              <a:ln>
                <a:noFill/>
              </a:ln>
              <a:solidFill>
                <a:prstClr val="black"/>
              </a:solidFill>
              <a:effectLst/>
              <a:uLnTx/>
              <a:uFillTx/>
              <a:latin typeface="Calibir"/>
              <a:cs typeface="Calibri" panose="020F0502020204030204" pitchFamily="34" charset="0"/>
            </a:endParaRPr>
          </a:p>
        </p:txBody>
      </p:sp>
      <p:sp>
        <p:nvSpPr>
          <p:cNvPr id="5" name="TextBox 4">
            <a:extLst>
              <a:ext uri="{FF2B5EF4-FFF2-40B4-BE49-F238E27FC236}">
                <a16:creationId xmlns:a16="http://schemas.microsoft.com/office/drawing/2014/main" id="{57096EAE-FCEE-6D20-EFDA-49EE614E1242}"/>
              </a:ext>
            </a:extLst>
          </p:cNvPr>
          <p:cNvSpPr txBox="1"/>
          <p:nvPr/>
        </p:nvSpPr>
        <p:spPr>
          <a:xfrm>
            <a:off x="0" y="830917"/>
            <a:ext cx="12061603" cy="2610843"/>
          </a:xfrm>
          <a:prstGeom prst="rect">
            <a:avLst/>
          </a:prstGeom>
          <a:noFill/>
        </p:spPr>
        <p:txBody>
          <a:bodyPr wrap="square">
            <a:spAutoFit/>
          </a:bodyPr>
          <a:lstStyle/>
          <a:p>
            <a:pPr>
              <a:lnSpc>
                <a:spcPct val="150000"/>
              </a:lnSpc>
            </a:pPr>
            <a:r>
              <a:rPr lang="en-US" sz="2800" b="1" dirty="0">
                <a:latin typeface="Calibir"/>
              </a:rPr>
              <a:t>Avoid</a:t>
            </a:r>
          </a:p>
          <a:p>
            <a:pPr marL="914400" lvl="1" indent="-457200">
              <a:lnSpc>
                <a:spcPct val="150000"/>
              </a:lnSpc>
              <a:buFont typeface="Arial" panose="020B0604020202020204" pitchFamily="34" charset="0"/>
              <a:buChar char="•"/>
            </a:pPr>
            <a:r>
              <a:rPr lang="en-US" sz="2800" dirty="0">
                <a:latin typeface="Calibir"/>
              </a:rPr>
              <a:t>Skipping practical labs </a:t>
            </a:r>
          </a:p>
          <a:p>
            <a:pPr marL="914400" lvl="1" indent="-457200">
              <a:lnSpc>
                <a:spcPct val="150000"/>
              </a:lnSpc>
              <a:buFont typeface="Arial" panose="020B0604020202020204" pitchFamily="34" charset="0"/>
              <a:buChar char="•"/>
            </a:pPr>
            <a:r>
              <a:rPr lang="en-US" sz="2800" dirty="0">
                <a:latin typeface="Calibir"/>
              </a:rPr>
              <a:t>Relying only on slides </a:t>
            </a:r>
          </a:p>
          <a:p>
            <a:pPr marL="914400" lvl="1" indent="-457200">
              <a:lnSpc>
                <a:spcPct val="150000"/>
              </a:lnSpc>
              <a:buFont typeface="Arial" panose="020B0604020202020204" pitchFamily="34" charset="0"/>
              <a:buChar char="•"/>
            </a:pPr>
            <a:r>
              <a:rPr lang="en-US" sz="2800" dirty="0">
                <a:latin typeface="Calibir"/>
              </a:rPr>
              <a:t>Waiting until assessment week</a:t>
            </a:r>
          </a:p>
        </p:txBody>
      </p:sp>
    </p:spTree>
    <p:extLst>
      <p:ext uri="{BB962C8B-B14F-4D97-AF65-F5344CB8AC3E}">
        <p14:creationId xmlns:p14="http://schemas.microsoft.com/office/powerpoint/2010/main" val="401167636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C7C91D-D724-8DB9-5388-A24269BEA837}"/>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4B57760-126D-A579-B97A-B6FAC5D62AF1}"/>
              </a:ext>
            </a:extLst>
          </p:cNvPr>
          <p:cNvSpPr txBox="1"/>
          <p:nvPr/>
        </p:nvSpPr>
        <p:spPr>
          <a:xfrm>
            <a:off x="0" y="0"/>
            <a:ext cx="8976732" cy="584775"/>
          </a:xfrm>
          <a:prstGeom prst="rect">
            <a:avLst/>
          </a:prstGeom>
          <a:noFill/>
        </p:spPr>
        <p:txBody>
          <a:bodyPr wrap="square" rtlCol="0">
            <a:spAutoFit/>
          </a:bodyPr>
          <a:lstStyle/>
          <a:p>
            <a:pPr lvl="0">
              <a:defRPr/>
            </a:pPr>
            <a:r>
              <a:rPr lang="en-US" sz="3200" b="1" dirty="0">
                <a:latin typeface="Calibir"/>
              </a:rPr>
              <a:t>How to Study Properly for This Unit</a:t>
            </a:r>
            <a:endParaRPr kumimoji="0" lang="en-US" sz="3200" b="1" i="0" u="none" strike="noStrike" kern="1200" cap="none" spc="0" normalizeH="0" baseline="0" noProof="0" dirty="0">
              <a:ln>
                <a:noFill/>
              </a:ln>
              <a:solidFill>
                <a:prstClr val="black"/>
              </a:solidFill>
              <a:effectLst/>
              <a:uLnTx/>
              <a:uFillTx/>
              <a:latin typeface="Calibir"/>
              <a:cs typeface="Calibri" panose="020F0502020204030204" pitchFamily="34" charset="0"/>
            </a:endParaRPr>
          </a:p>
        </p:txBody>
      </p:sp>
      <p:sp>
        <p:nvSpPr>
          <p:cNvPr id="5" name="TextBox 4">
            <a:extLst>
              <a:ext uri="{FF2B5EF4-FFF2-40B4-BE49-F238E27FC236}">
                <a16:creationId xmlns:a16="http://schemas.microsoft.com/office/drawing/2014/main" id="{17A1D9E5-49A1-4F8F-B5F4-0286E2D862D1}"/>
              </a:ext>
            </a:extLst>
          </p:cNvPr>
          <p:cNvSpPr txBox="1"/>
          <p:nvPr/>
        </p:nvSpPr>
        <p:spPr>
          <a:xfrm>
            <a:off x="0" y="830917"/>
            <a:ext cx="12061603" cy="3903504"/>
          </a:xfrm>
          <a:prstGeom prst="rect">
            <a:avLst/>
          </a:prstGeom>
          <a:noFill/>
        </p:spPr>
        <p:txBody>
          <a:bodyPr wrap="square">
            <a:spAutoFit/>
          </a:bodyPr>
          <a:lstStyle/>
          <a:p>
            <a:pPr>
              <a:lnSpc>
                <a:spcPct val="150000"/>
              </a:lnSpc>
            </a:pPr>
            <a:r>
              <a:rPr lang="en-US" sz="2800" b="1" dirty="0">
                <a:latin typeface="Calibir"/>
              </a:rPr>
              <a:t>Step 2 – </a:t>
            </a:r>
            <a:r>
              <a:rPr lang="en-US" sz="2800" b="1" dirty="0" err="1">
                <a:latin typeface="Calibir"/>
              </a:rPr>
              <a:t>Practise</a:t>
            </a:r>
            <a:r>
              <a:rPr lang="en-US" sz="2800" b="1" dirty="0">
                <a:latin typeface="Calibir"/>
              </a:rPr>
              <a:t> Coding Every Week</a:t>
            </a:r>
          </a:p>
          <a:p>
            <a:pPr>
              <a:lnSpc>
                <a:spcPct val="150000"/>
              </a:lnSpc>
            </a:pPr>
            <a:r>
              <a:rPr lang="en-US" sz="2800" dirty="0">
                <a:latin typeface="Calibir"/>
              </a:rPr>
              <a:t>Coding improves only with practice.</a:t>
            </a:r>
          </a:p>
          <a:p>
            <a:pPr>
              <a:lnSpc>
                <a:spcPct val="150000"/>
              </a:lnSpc>
            </a:pPr>
            <a:r>
              <a:rPr lang="en-US" sz="2800" b="1" dirty="0">
                <a:latin typeface="Calibir"/>
              </a:rPr>
              <a:t>Minimum Recommendation</a:t>
            </a:r>
          </a:p>
          <a:p>
            <a:pPr>
              <a:lnSpc>
                <a:spcPct val="150000"/>
              </a:lnSpc>
            </a:pPr>
            <a:r>
              <a:rPr lang="en-US" sz="2800" dirty="0">
                <a:latin typeface="Calibir"/>
              </a:rPr>
              <a:t>Practice:</a:t>
            </a:r>
          </a:p>
          <a:p>
            <a:pPr marL="914400" lvl="1" indent="-457200">
              <a:lnSpc>
                <a:spcPct val="150000"/>
              </a:lnSpc>
              <a:buFont typeface="Arial" panose="020B0604020202020204" pitchFamily="34" charset="0"/>
              <a:buChar char="•"/>
            </a:pPr>
            <a:r>
              <a:rPr lang="en-US" sz="2800" dirty="0">
                <a:latin typeface="Calibir"/>
              </a:rPr>
              <a:t>30–60 minutes daily </a:t>
            </a:r>
          </a:p>
          <a:p>
            <a:pPr marL="914400" lvl="1" indent="-457200">
              <a:lnSpc>
                <a:spcPct val="150000"/>
              </a:lnSpc>
              <a:buFont typeface="Arial" panose="020B0604020202020204" pitchFamily="34" charset="0"/>
              <a:buChar char="•"/>
            </a:pPr>
            <a:r>
              <a:rPr lang="en-US" sz="2800" dirty="0">
                <a:latin typeface="Calibir"/>
              </a:rPr>
              <a:t>Build small webpages weekly </a:t>
            </a:r>
          </a:p>
        </p:txBody>
      </p:sp>
    </p:spTree>
    <p:extLst>
      <p:ext uri="{BB962C8B-B14F-4D97-AF65-F5344CB8AC3E}">
        <p14:creationId xmlns:p14="http://schemas.microsoft.com/office/powerpoint/2010/main" val="161400204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FF6E08-5E9E-8986-8667-784A04B56C2F}"/>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05C8D023-8349-5D90-1C8D-4E03622A89E6}"/>
              </a:ext>
            </a:extLst>
          </p:cNvPr>
          <p:cNvSpPr txBox="1"/>
          <p:nvPr/>
        </p:nvSpPr>
        <p:spPr>
          <a:xfrm>
            <a:off x="0" y="0"/>
            <a:ext cx="8976732" cy="584775"/>
          </a:xfrm>
          <a:prstGeom prst="rect">
            <a:avLst/>
          </a:prstGeom>
          <a:noFill/>
        </p:spPr>
        <p:txBody>
          <a:bodyPr wrap="square" rtlCol="0">
            <a:spAutoFit/>
          </a:bodyPr>
          <a:lstStyle/>
          <a:p>
            <a:pPr lvl="0">
              <a:defRPr/>
            </a:pPr>
            <a:r>
              <a:rPr lang="en-US" sz="3200" b="1" dirty="0">
                <a:latin typeface="Calibir"/>
              </a:rPr>
              <a:t>How to Study Properly for This Unit</a:t>
            </a:r>
            <a:endParaRPr kumimoji="0" lang="en-US" sz="3200" b="1" i="0" u="none" strike="noStrike" kern="1200" cap="none" spc="0" normalizeH="0" baseline="0" noProof="0" dirty="0">
              <a:ln>
                <a:noFill/>
              </a:ln>
              <a:solidFill>
                <a:prstClr val="black"/>
              </a:solidFill>
              <a:effectLst/>
              <a:uLnTx/>
              <a:uFillTx/>
              <a:latin typeface="Calibir"/>
              <a:cs typeface="Calibri" panose="020F0502020204030204" pitchFamily="34" charset="0"/>
            </a:endParaRPr>
          </a:p>
        </p:txBody>
      </p:sp>
      <p:sp>
        <p:nvSpPr>
          <p:cNvPr id="5" name="TextBox 4">
            <a:extLst>
              <a:ext uri="{FF2B5EF4-FFF2-40B4-BE49-F238E27FC236}">
                <a16:creationId xmlns:a16="http://schemas.microsoft.com/office/drawing/2014/main" id="{11651983-6894-9B63-193A-9A27C1B8ADEC}"/>
              </a:ext>
            </a:extLst>
          </p:cNvPr>
          <p:cNvSpPr txBox="1"/>
          <p:nvPr/>
        </p:nvSpPr>
        <p:spPr>
          <a:xfrm>
            <a:off x="0" y="830917"/>
            <a:ext cx="12061603" cy="3257174"/>
          </a:xfrm>
          <a:prstGeom prst="rect">
            <a:avLst/>
          </a:prstGeom>
          <a:noFill/>
        </p:spPr>
        <p:txBody>
          <a:bodyPr wrap="square">
            <a:spAutoFit/>
          </a:bodyPr>
          <a:lstStyle/>
          <a:p>
            <a:pPr>
              <a:lnSpc>
                <a:spcPct val="150000"/>
              </a:lnSpc>
            </a:pPr>
            <a:r>
              <a:rPr lang="en-US" sz="2800" b="1" dirty="0">
                <a:latin typeface="Calibir"/>
              </a:rPr>
              <a:t>Good Habit</a:t>
            </a:r>
          </a:p>
          <a:p>
            <a:pPr>
              <a:lnSpc>
                <a:spcPct val="150000"/>
              </a:lnSpc>
            </a:pPr>
            <a:r>
              <a:rPr lang="en-US" sz="2800" dirty="0">
                <a:latin typeface="Calibir"/>
              </a:rPr>
              <a:t>After each class:</a:t>
            </a:r>
          </a:p>
          <a:p>
            <a:pPr marL="971550" lvl="1" indent="-514350">
              <a:lnSpc>
                <a:spcPct val="150000"/>
              </a:lnSpc>
              <a:buFont typeface="+mj-lt"/>
              <a:buAutoNum type="arabicPeriod"/>
            </a:pPr>
            <a:r>
              <a:rPr lang="en-US" sz="2800" dirty="0">
                <a:latin typeface="Calibir"/>
              </a:rPr>
              <a:t>Re-type the examples yourself </a:t>
            </a:r>
          </a:p>
          <a:p>
            <a:pPr marL="971550" lvl="1" indent="-514350">
              <a:lnSpc>
                <a:spcPct val="150000"/>
              </a:lnSpc>
              <a:buFont typeface="+mj-lt"/>
              <a:buAutoNum type="arabicPeriod"/>
            </a:pPr>
            <a:r>
              <a:rPr lang="en-US" sz="2800" dirty="0">
                <a:latin typeface="Calibir"/>
              </a:rPr>
              <a:t>Change colors, text, images </a:t>
            </a:r>
          </a:p>
          <a:p>
            <a:pPr marL="971550" lvl="1" indent="-514350">
              <a:lnSpc>
                <a:spcPct val="150000"/>
              </a:lnSpc>
              <a:buFont typeface="+mj-lt"/>
              <a:buAutoNum type="arabicPeriod"/>
            </a:pPr>
            <a:r>
              <a:rPr lang="en-US" sz="2800" dirty="0">
                <a:latin typeface="Calibir"/>
              </a:rPr>
              <a:t>Experiment with layouts</a:t>
            </a:r>
          </a:p>
        </p:txBody>
      </p:sp>
    </p:spTree>
    <p:extLst>
      <p:ext uri="{BB962C8B-B14F-4D97-AF65-F5344CB8AC3E}">
        <p14:creationId xmlns:p14="http://schemas.microsoft.com/office/powerpoint/2010/main" val="106237027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58A5F9-813C-9258-4BA8-E598886E8E8C}"/>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0668F5B4-FD5F-3EB3-E0B5-2DCECE91DD46}"/>
              </a:ext>
            </a:extLst>
          </p:cNvPr>
          <p:cNvSpPr txBox="1"/>
          <p:nvPr/>
        </p:nvSpPr>
        <p:spPr>
          <a:xfrm>
            <a:off x="0" y="0"/>
            <a:ext cx="8976732" cy="584775"/>
          </a:xfrm>
          <a:prstGeom prst="rect">
            <a:avLst/>
          </a:prstGeom>
          <a:noFill/>
        </p:spPr>
        <p:txBody>
          <a:bodyPr wrap="square" rtlCol="0">
            <a:spAutoFit/>
          </a:bodyPr>
          <a:lstStyle/>
          <a:p>
            <a:pPr lvl="0">
              <a:defRPr/>
            </a:pPr>
            <a:r>
              <a:rPr lang="en-US" sz="3200" b="1" dirty="0">
                <a:latin typeface="Calibir"/>
              </a:rPr>
              <a:t>How to Study Properly for This Unit</a:t>
            </a:r>
            <a:endParaRPr kumimoji="0" lang="en-US" sz="3200" b="1" i="0" u="none" strike="noStrike" kern="1200" cap="none" spc="0" normalizeH="0" baseline="0" noProof="0" dirty="0">
              <a:ln>
                <a:noFill/>
              </a:ln>
              <a:solidFill>
                <a:prstClr val="black"/>
              </a:solidFill>
              <a:effectLst/>
              <a:uLnTx/>
              <a:uFillTx/>
              <a:latin typeface="Calibir"/>
              <a:cs typeface="Calibri" panose="020F0502020204030204" pitchFamily="34" charset="0"/>
            </a:endParaRPr>
          </a:p>
        </p:txBody>
      </p:sp>
      <p:sp>
        <p:nvSpPr>
          <p:cNvPr id="5" name="TextBox 4">
            <a:extLst>
              <a:ext uri="{FF2B5EF4-FFF2-40B4-BE49-F238E27FC236}">
                <a16:creationId xmlns:a16="http://schemas.microsoft.com/office/drawing/2014/main" id="{DA3DC750-55CA-1EB2-F0C8-852A709BA43E}"/>
              </a:ext>
            </a:extLst>
          </p:cNvPr>
          <p:cNvSpPr txBox="1"/>
          <p:nvPr/>
        </p:nvSpPr>
        <p:spPr>
          <a:xfrm>
            <a:off x="0" y="584775"/>
            <a:ext cx="12061603" cy="6632072"/>
          </a:xfrm>
          <a:prstGeom prst="rect">
            <a:avLst/>
          </a:prstGeom>
          <a:noFill/>
        </p:spPr>
        <p:txBody>
          <a:bodyPr wrap="square">
            <a:spAutoFit/>
          </a:bodyPr>
          <a:lstStyle/>
          <a:p>
            <a:pPr>
              <a:lnSpc>
                <a:spcPct val="150000"/>
              </a:lnSpc>
            </a:pPr>
            <a:r>
              <a:rPr lang="en-US" sz="2500" b="1" dirty="0">
                <a:latin typeface="Calibir"/>
              </a:rPr>
              <a:t>Step 3 – Create a Practice Folder</a:t>
            </a:r>
          </a:p>
          <a:p>
            <a:pPr>
              <a:lnSpc>
                <a:spcPct val="150000"/>
              </a:lnSpc>
            </a:pPr>
            <a:r>
              <a:rPr lang="en-US" sz="2500" dirty="0">
                <a:latin typeface="Calibir"/>
              </a:rPr>
              <a:t>Organize your work.</a:t>
            </a:r>
          </a:p>
          <a:p>
            <a:pPr>
              <a:lnSpc>
                <a:spcPct val="150000"/>
              </a:lnSpc>
            </a:pPr>
            <a:r>
              <a:rPr lang="en-US" sz="2500" dirty="0">
                <a:latin typeface="Calibir"/>
              </a:rPr>
              <a:t>Example:</a:t>
            </a:r>
          </a:p>
          <a:p>
            <a:pPr>
              <a:lnSpc>
                <a:spcPct val="150000"/>
              </a:lnSpc>
            </a:pPr>
            <a:r>
              <a:rPr lang="en-US" sz="2500" dirty="0">
                <a:latin typeface="Calibir"/>
              </a:rPr>
              <a:t>HS1021/</a:t>
            </a:r>
            <a:br>
              <a:rPr lang="en-US" sz="2500" dirty="0">
                <a:latin typeface="Calibir"/>
              </a:rPr>
            </a:br>
            <a:r>
              <a:rPr lang="en-US" sz="2500" dirty="0">
                <a:latin typeface="Calibir"/>
              </a:rPr>
              <a:t> ├ Week1/</a:t>
            </a:r>
            <a:br>
              <a:rPr lang="en-US" sz="2500" dirty="0">
                <a:latin typeface="Calibir"/>
              </a:rPr>
            </a:br>
            <a:r>
              <a:rPr lang="en-US" sz="2500" dirty="0">
                <a:latin typeface="Calibir"/>
              </a:rPr>
              <a:t> ├ Week2/</a:t>
            </a:r>
            <a:br>
              <a:rPr lang="en-US" sz="2500" dirty="0">
                <a:latin typeface="Calibir"/>
              </a:rPr>
            </a:br>
            <a:r>
              <a:rPr lang="en-US" sz="2500" dirty="0">
                <a:latin typeface="Calibir"/>
              </a:rPr>
              <a:t> ├ Week3/</a:t>
            </a:r>
            <a:br>
              <a:rPr lang="en-US" sz="2500" dirty="0">
                <a:latin typeface="Calibir"/>
              </a:rPr>
            </a:br>
            <a:r>
              <a:rPr lang="en-US" sz="2500" dirty="0">
                <a:latin typeface="Calibir"/>
              </a:rPr>
              <a:t> ├ Images/</a:t>
            </a:r>
            <a:br>
              <a:rPr lang="en-US" sz="2500" dirty="0">
                <a:latin typeface="Calibir"/>
              </a:rPr>
            </a:br>
            <a:r>
              <a:rPr lang="en-US" sz="2500" dirty="0">
                <a:latin typeface="Calibir"/>
              </a:rPr>
              <a:t> ├ CSS/</a:t>
            </a:r>
            <a:br>
              <a:rPr lang="en-US" sz="2500" dirty="0">
                <a:latin typeface="Calibir"/>
              </a:rPr>
            </a:br>
            <a:r>
              <a:rPr lang="en-US" sz="2500" dirty="0">
                <a:latin typeface="Calibir"/>
              </a:rPr>
              <a:t>  └─ Assignment/</a:t>
            </a:r>
          </a:p>
          <a:p>
            <a:pPr>
              <a:lnSpc>
                <a:spcPct val="150000"/>
              </a:lnSpc>
            </a:pPr>
            <a:r>
              <a:rPr lang="en-US" sz="2500" dirty="0">
                <a:latin typeface="Calibir"/>
              </a:rPr>
              <a:t>This helps avoid confusion later.</a:t>
            </a:r>
          </a:p>
        </p:txBody>
      </p:sp>
    </p:spTree>
    <p:extLst>
      <p:ext uri="{BB962C8B-B14F-4D97-AF65-F5344CB8AC3E}">
        <p14:creationId xmlns:p14="http://schemas.microsoft.com/office/powerpoint/2010/main" val="183093542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B49835-7BDC-6377-94F7-9D52C096CE57}"/>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46BB273D-58D4-9D8A-D1D7-7CE474C0ED3F}"/>
              </a:ext>
            </a:extLst>
          </p:cNvPr>
          <p:cNvSpPr txBox="1"/>
          <p:nvPr/>
        </p:nvSpPr>
        <p:spPr>
          <a:xfrm>
            <a:off x="0" y="0"/>
            <a:ext cx="8976732" cy="584775"/>
          </a:xfrm>
          <a:prstGeom prst="rect">
            <a:avLst/>
          </a:prstGeom>
          <a:noFill/>
        </p:spPr>
        <p:txBody>
          <a:bodyPr wrap="square" rtlCol="0">
            <a:spAutoFit/>
          </a:bodyPr>
          <a:lstStyle/>
          <a:p>
            <a:pPr lvl="0">
              <a:defRPr/>
            </a:pPr>
            <a:r>
              <a:rPr lang="en-US" sz="3200" b="1" dirty="0">
                <a:latin typeface="Calibir"/>
              </a:rPr>
              <a:t>How to Study Properly for This Unit</a:t>
            </a:r>
            <a:endParaRPr kumimoji="0" lang="en-US" sz="3200" b="1" i="0" u="none" strike="noStrike" kern="1200" cap="none" spc="0" normalizeH="0" baseline="0" noProof="0" dirty="0">
              <a:ln>
                <a:noFill/>
              </a:ln>
              <a:solidFill>
                <a:prstClr val="black"/>
              </a:solidFill>
              <a:effectLst/>
              <a:uLnTx/>
              <a:uFillTx/>
              <a:latin typeface="Calibir"/>
              <a:cs typeface="Calibri" panose="020F0502020204030204" pitchFamily="34" charset="0"/>
            </a:endParaRPr>
          </a:p>
        </p:txBody>
      </p:sp>
      <p:sp>
        <p:nvSpPr>
          <p:cNvPr id="5" name="TextBox 4">
            <a:extLst>
              <a:ext uri="{FF2B5EF4-FFF2-40B4-BE49-F238E27FC236}">
                <a16:creationId xmlns:a16="http://schemas.microsoft.com/office/drawing/2014/main" id="{B304CD42-9F52-570A-39EE-430C40F6FBD7}"/>
              </a:ext>
            </a:extLst>
          </p:cNvPr>
          <p:cNvSpPr txBox="1"/>
          <p:nvPr/>
        </p:nvSpPr>
        <p:spPr>
          <a:xfrm>
            <a:off x="0" y="584775"/>
            <a:ext cx="12061603" cy="5196166"/>
          </a:xfrm>
          <a:prstGeom prst="rect">
            <a:avLst/>
          </a:prstGeom>
          <a:noFill/>
        </p:spPr>
        <p:txBody>
          <a:bodyPr wrap="square">
            <a:spAutoFit/>
          </a:bodyPr>
          <a:lstStyle/>
          <a:p>
            <a:pPr>
              <a:lnSpc>
                <a:spcPct val="150000"/>
              </a:lnSpc>
            </a:pPr>
            <a:r>
              <a:rPr lang="en-US" sz="2800" b="1" dirty="0">
                <a:latin typeface="Calibir"/>
              </a:rPr>
              <a:t>Step 4 – Learn by Building</a:t>
            </a:r>
          </a:p>
          <a:p>
            <a:pPr>
              <a:lnSpc>
                <a:spcPct val="150000"/>
              </a:lnSpc>
            </a:pPr>
            <a:r>
              <a:rPr lang="en-US" sz="2800" dirty="0">
                <a:latin typeface="Calibir"/>
              </a:rPr>
              <a:t>Do not memorize only.</a:t>
            </a:r>
          </a:p>
          <a:p>
            <a:pPr>
              <a:lnSpc>
                <a:spcPct val="150000"/>
              </a:lnSpc>
            </a:pPr>
            <a:r>
              <a:rPr lang="en-US" sz="2800" dirty="0">
                <a:latin typeface="Calibir"/>
              </a:rPr>
              <a:t>Build:</a:t>
            </a:r>
          </a:p>
          <a:p>
            <a:pPr marL="914400" lvl="1" indent="-457200">
              <a:lnSpc>
                <a:spcPct val="150000"/>
              </a:lnSpc>
              <a:buFont typeface="Arial" panose="020B0604020202020204" pitchFamily="34" charset="0"/>
              <a:buChar char="•"/>
            </a:pPr>
            <a:r>
              <a:rPr lang="en-US" sz="2800" dirty="0">
                <a:latin typeface="Calibir"/>
              </a:rPr>
              <a:t>Personal webpage </a:t>
            </a:r>
          </a:p>
          <a:p>
            <a:pPr marL="914400" lvl="1" indent="-457200">
              <a:lnSpc>
                <a:spcPct val="150000"/>
              </a:lnSpc>
              <a:buFont typeface="Arial" panose="020B0604020202020204" pitchFamily="34" charset="0"/>
              <a:buChar char="•"/>
            </a:pPr>
            <a:r>
              <a:rPr lang="en-US" sz="2800" dirty="0">
                <a:latin typeface="Calibir"/>
              </a:rPr>
              <a:t>Restaurant webpage </a:t>
            </a:r>
          </a:p>
          <a:p>
            <a:pPr marL="914400" lvl="1" indent="-457200">
              <a:lnSpc>
                <a:spcPct val="150000"/>
              </a:lnSpc>
              <a:buFont typeface="Arial" panose="020B0604020202020204" pitchFamily="34" charset="0"/>
              <a:buChar char="•"/>
            </a:pPr>
            <a:r>
              <a:rPr lang="en-US" sz="2800" dirty="0">
                <a:latin typeface="Calibir"/>
              </a:rPr>
              <a:t>Portfolio webpage </a:t>
            </a:r>
          </a:p>
          <a:p>
            <a:pPr marL="914400" lvl="1" indent="-457200">
              <a:lnSpc>
                <a:spcPct val="150000"/>
              </a:lnSpc>
              <a:buFont typeface="Arial" panose="020B0604020202020204" pitchFamily="34" charset="0"/>
              <a:buChar char="•"/>
            </a:pPr>
            <a:r>
              <a:rPr lang="en-US" sz="2800" dirty="0">
                <a:latin typeface="Calibir"/>
              </a:rPr>
              <a:t>E-commerce homepage </a:t>
            </a:r>
          </a:p>
          <a:p>
            <a:pPr>
              <a:lnSpc>
                <a:spcPct val="150000"/>
              </a:lnSpc>
            </a:pPr>
            <a:r>
              <a:rPr lang="en-US" sz="2800" dirty="0">
                <a:latin typeface="Calibir"/>
              </a:rPr>
              <a:t>Small projects improve skills quickly.</a:t>
            </a:r>
          </a:p>
        </p:txBody>
      </p:sp>
    </p:spTree>
    <p:extLst>
      <p:ext uri="{BB962C8B-B14F-4D97-AF65-F5344CB8AC3E}">
        <p14:creationId xmlns:p14="http://schemas.microsoft.com/office/powerpoint/2010/main" val="138239960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2826C0-FA55-17DB-9A71-A77E00665217}"/>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B28D3686-983C-E06D-70FE-D70B8C964662}"/>
              </a:ext>
            </a:extLst>
          </p:cNvPr>
          <p:cNvSpPr txBox="1"/>
          <p:nvPr/>
        </p:nvSpPr>
        <p:spPr>
          <a:xfrm>
            <a:off x="0" y="0"/>
            <a:ext cx="8976732" cy="584775"/>
          </a:xfrm>
          <a:prstGeom prst="rect">
            <a:avLst/>
          </a:prstGeom>
          <a:noFill/>
        </p:spPr>
        <p:txBody>
          <a:bodyPr wrap="square" rtlCol="0">
            <a:spAutoFit/>
          </a:bodyPr>
          <a:lstStyle/>
          <a:p>
            <a:pPr lvl="0">
              <a:defRPr/>
            </a:pPr>
            <a:r>
              <a:rPr lang="en-US" sz="3200" b="1" dirty="0">
                <a:latin typeface="Calibir"/>
              </a:rPr>
              <a:t>How to Study Properly for This Unit</a:t>
            </a:r>
            <a:endParaRPr kumimoji="0" lang="en-US" sz="3200" b="1" i="0" u="none" strike="noStrike" kern="1200" cap="none" spc="0" normalizeH="0" baseline="0" noProof="0" dirty="0">
              <a:ln>
                <a:noFill/>
              </a:ln>
              <a:solidFill>
                <a:prstClr val="black"/>
              </a:solidFill>
              <a:effectLst/>
              <a:uLnTx/>
              <a:uFillTx/>
              <a:latin typeface="Calibir"/>
              <a:cs typeface="Calibri" panose="020F0502020204030204" pitchFamily="34" charset="0"/>
            </a:endParaRPr>
          </a:p>
        </p:txBody>
      </p:sp>
      <p:sp>
        <p:nvSpPr>
          <p:cNvPr id="5" name="TextBox 4">
            <a:extLst>
              <a:ext uri="{FF2B5EF4-FFF2-40B4-BE49-F238E27FC236}">
                <a16:creationId xmlns:a16="http://schemas.microsoft.com/office/drawing/2014/main" id="{6EC8411A-D79E-E9C3-291D-EFFF56C5626E}"/>
              </a:ext>
            </a:extLst>
          </p:cNvPr>
          <p:cNvSpPr txBox="1"/>
          <p:nvPr/>
        </p:nvSpPr>
        <p:spPr>
          <a:xfrm>
            <a:off x="0" y="584775"/>
            <a:ext cx="12061603" cy="5196166"/>
          </a:xfrm>
          <a:prstGeom prst="rect">
            <a:avLst/>
          </a:prstGeom>
          <a:noFill/>
        </p:spPr>
        <p:txBody>
          <a:bodyPr wrap="square">
            <a:spAutoFit/>
          </a:bodyPr>
          <a:lstStyle/>
          <a:p>
            <a:pPr>
              <a:lnSpc>
                <a:spcPct val="150000"/>
              </a:lnSpc>
            </a:pPr>
            <a:r>
              <a:rPr lang="en-US" sz="2800" b="1" dirty="0">
                <a:latin typeface="Calibir"/>
              </a:rPr>
              <a:t>6. Lab Test Preparation Guide</a:t>
            </a:r>
          </a:p>
          <a:p>
            <a:pPr>
              <a:lnSpc>
                <a:spcPct val="150000"/>
              </a:lnSpc>
            </a:pPr>
            <a:r>
              <a:rPr lang="en-US" sz="2800" dirty="0">
                <a:latin typeface="Calibir"/>
              </a:rPr>
              <a:t>The Lab Test uses questions from tutorials and lectures.</a:t>
            </a:r>
          </a:p>
          <a:p>
            <a:pPr>
              <a:lnSpc>
                <a:spcPct val="150000"/>
              </a:lnSpc>
            </a:pPr>
            <a:r>
              <a:rPr lang="en-US" sz="2800" b="1" dirty="0">
                <a:latin typeface="Calibir"/>
              </a:rPr>
              <a:t>Best Preparation Method</a:t>
            </a:r>
          </a:p>
          <a:p>
            <a:pPr>
              <a:lnSpc>
                <a:spcPct val="150000"/>
              </a:lnSpc>
            </a:pPr>
            <a:r>
              <a:rPr lang="en-US" sz="2800" b="1" dirty="0">
                <a:latin typeface="Calibir"/>
              </a:rPr>
              <a:t>1. Review Tutorial Questions Weekly</a:t>
            </a:r>
          </a:p>
          <a:p>
            <a:pPr>
              <a:lnSpc>
                <a:spcPct val="150000"/>
              </a:lnSpc>
            </a:pPr>
            <a:r>
              <a:rPr lang="en-US" sz="2800" dirty="0">
                <a:latin typeface="Calibir"/>
              </a:rPr>
              <a:t>Especially:</a:t>
            </a:r>
          </a:p>
          <a:p>
            <a:pPr marL="914400" lvl="1" indent="-457200">
              <a:lnSpc>
                <a:spcPct val="150000"/>
              </a:lnSpc>
              <a:buFont typeface="Arial" panose="020B0604020202020204" pitchFamily="34" charset="0"/>
              <a:buChar char="•"/>
            </a:pPr>
            <a:r>
              <a:rPr lang="en-US" sz="2800" dirty="0">
                <a:latin typeface="Calibir"/>
              </a:rPr>
              <a:t>Multiple choice </a:t>
            </a:r>
          </a:p>
          <a:p>
            <a:pPr marL="914400" lvl="1" indent="-457200">
              <a:lnSpc>
                <a:spcPct val="150000"/>
              </a:lnSpc>
              <a:buFont typeface="Arial" panose="020B0604020202020204" pitchFamily="34" charset="0"/>
              <a:buChar char="•"/>
            </a:pPr>
            <a:r>
              <a:rPr lang="en-US" sz="2800" dirty="0">
                <a:latin typeface="Calibir"/>
              </a:rPr>
              <a:t>True/False </a:t>
            </a:r>
          </a:p>
          <a:p>
            <a:pPr marL="914400" lvl="1" indent="-457200">
              <a:lnSpc>
                <a:spcPct val="150000"/>
              </a:lnSpc>
              <a:buFont typeface="Arial" panose="020B0604020202020204" pitchFamily="34" charset="0"/>
              <a:buChar char="•"/>
            </a:pPr>
            <a:r>
              <a:rPr lang="en-US" sz="2800" dirty="0">
                <a:latin typeface="Calibir"/>
              </a:rPr>
              <a:t>Definitions</a:t>
            </a:r>
          </a:p>
        </p:txBody>
      </p:sp>
    </p:spTree>
    <p:extLst>
      <p:ext uri="{BB962C8B-B14F-4D97-AF65-F5344CB8AC3E}">
        <p14:creationId xmlns:p14="http://schemas.microsoft.com/office/powerpoint/2010/main" val="418628742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8C343C-8EF9-3257-624C-65DB8BA3657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4CB0095D-6299-2AC4-FAD5-C8C8DFA6F71A}"/>
              </a:ext>
            </a:extLst>
          </p:cNvPr>
          <p:cNvSpPr txBox="1"/>
          <p:nvPr/>
        </p:nvSpPr>
        <p:spPr>
          <a:xfrm>
            <a:off x="0" y="0"/>
            <a:ext cx="8976732" cy="584775"/>
          </a:xfrm>
          <a:prstGeom prst="rect">
            <a:avLst/>
          </a:prstGeom>
          <a:noFill/>
        </p:spPr>
        <p:txBody>
          <a:bodyPr wrap="square" rtlCol="0">
            <a:spAutoFit/>
          </a:bodyPr>
          <a:lstStyle/>
          <a:p>
            <a:pPr lvl="0">
              <a:defRPr/>
            </a:pPr>
            <a:r>
              <a:rPr lang="en-US" sz="3200" b="1" dirty="0">
                <a:latin typeface="Calibir"/>
              </a:rPr>
              <a:t>How to Study Properly for This Unit</a:t>
            </a:r>
            <a:endParaRPr kumimoji="0" lang="en-US" sz="3200" b="1" i="0" u="none" strike="noStrike" kern="1200" cap="none" spc="0" normalizeH="0" baseline="0" noProof="0" dirty="0">
              <a:ln>
                <a:noFill/>
              </a:ln>
              <a:solidFill>
                <a:prstClr val="black"/>
              </a:solidFill>
              <a:effectLst/>
              <a:uLnTx/>
              <a:uFillTx/>
              <a:latin typeface="Calibir"/>
              <a:cs typeface="Calibri" panose="020F0502020204030204" pitchFamily="34" charset="0"/>
            </a:endParaRPr>
          </a:p>
        </p:txBody>
      </p:sp>
      <p:sp>
        <p:nvSpPr>
          <p:cNvPr id="5" name="TextBox 4">
            <a:extLst>
              <a:ext uri="{FF2B5EF4-FFF2-40B4-BE49-F238E27FC236}">
                <a16:creationId xmlns:a16="http://schemas.microsoft.com/office/drawing/2014/main" id="{883BF7B3-069B-00CE-AE56-A8DA5AF2EBBB}"/>
              </a:ext>
            </a:extLst>
          </p:cNvPr>
          <p:cNvSpPr txBox="1"/>
          <p:nvPr/>
        </p:nvSpPr>
        <p:spPr>
          <a:xfrm>
            <a:off x="0" y="584775"/>
            <a:ext cx="12061603" cy="675441"/>
          </a:xfrm>
          <a:prstGeom prst="rect">
            <a:avLst/>
          </a:prstGeom>
          <a:noFill/>
        </p:spPr>
        <p:txBody>
          <a:bodyPr wrap="square">
            <a:spAutoFit/>
          </a:bodyPr>
          <a:lstStyle/>
          <a:p>
            <a:pPr>
              <a:lnSpc>
                <a:spcPct val="150000"/>
              </a:lnSpc>
            </a:pPr>
            <a:r>
              <a:rPr lang="en-US" sz="2800" b="1" dirty="0">
                <a:latin typeface="Calibir"/>
              </a:rPr>
              <a:t>2. Memorize Important Terms</a:t>
            </a:r>
          </a:p>
        </p:txBody>
      </p:sp>
      <p:graphicFrame>
        <p:nvGraphicFramePr>
          <p:cNvPr id="2" name="Table 1">
            <a:extLst>
              <a:ext uri="{FF2B5EF4-FFF2-40B4-BE49-F238E27FC236}">
                <a16:creationId xmlns:a16="http://schemas.microsoft.com/office/drawing/2014/main" id="{3575C7BF-0ABB-151B-80D9-CE72CFAC8842}"/>
              </a:ext>
            </a:extLst>
          </p:cNvPr>
          <p:cNvGraphicFramePr>
            <a:graphicFrameLocks noGrp="1"/>
          </p:cNvGraphicFramePr>
          <p:nvPr>
            <p:extLst>
              <p:ext uri="{D42A27DB-BD31-4B8C-83A1-F6EECF244321}">
                <p14:modId xmlns:p14="http://schemas.microsoft.com/office/powerpoint/2010/main" val="634560622"/>
              </p:ext>
            </p:extLst>
          </p:nvPr>
        </p:nvGraphicFramePr>
        <p:xfrm>
          <a:off x="773001" y="2194560"/>
          <a:ext cx="10515600" cy="4663440"/>
        </p:xfrm>
        <a:graphic>
          <a:graphicData uri="http://schemas.openxmlformats.org/drawingml/2006/table">
            <a:tbl>
              <a:tblPr>
                <a:tableStyleId>{BDBED569-4797-4DF1-A0F4-6AAB3CD982D8}</a:tableStyleId>
              </a:tblPr>
              <a:tblGrid>
                <a:gridCol w="5257800">
                  <a:extLst>
                    <a:ext uri="{9D8B030D-6E8A-4147-A177-3AD203B41FA5}">
                      <a16:colId xmlns:a16="http://schemas.microsoft.com/office/drawing/2014/main" val="1540094220"/>
                    </a:ext>
                  </a:extLst>
                </a:gridCol>
                <a:gridCol w="5257800">
                  <a:extLst>
                    <a:ext uri="{9D8B030D-6E8A-4147-A177-3AD203B41FA5}">
                      <a16:colId xmlns:a16="http://schemas.microsoft.com/office/drawing/2014/main" val="2648296991"/>
                    </a:ext>
                  </a:extLst>
                </a:gridCol>
              </a:tblGrid>
              <a:tr h="0">
                <a:tc>
                  <a:txBody>
                    <a:bodyPr/>
                    <a:lstStyle/>
                    <a:p>
                      <a:pPr>
                        <a:buNone/>
                      </a:pPr>
                      <a:r>
                        <a:rPr lang="en-US" sz="2800" dirty="0">
                          <a:latin typeface="Calibir"/>
                        </a:rPr>
                        <a:t>Term</a:t>
                      </a:r>
                    </a:p>
                  </a:txBody>
                  <a:tcPr anchor="ctr">
                    <a:solidFill>
                      <a:schemeClr val="accent5">
                        <a:lumMod val="20000"/>
                        <a:lumOff val="80000"/>
                      </a:schemeClr>
                    </a:solidFill>
                  </a:tcPr>
                </a:tc>
                <a:tc>
                  <a:txBody>
                    <a:bodyPr/>
                    <a:lstStyle/>
                    <a:p>
                      <a:pPr>
                        <a:buNone/>
                      </a:pPr>
                      <a:r>
                        <a:rPr lang="en-US" sz="2800" dirty="0">
                          <a:latin typeface="Calibir"/>
                        </a:rPr>
                        <a:t>Meaning</a:t>
                      </a:r>
                    </a:p>
                  </a:txBody>
                  <a:tcPr anchor="ctr">
                    <a:solidFill>
                      <a:schemeClr val="accent5">
                        <a:lumMod val="20000"/>
                        <a:lumOff val="80000"/>
                      </a:schemeClr>
                    </a:solidFill>
                  </a:tcPr>
                </a:tc>
                <a:extLst>
                  <a:ext uri="{0D108BD9-81ED-4DB2-BD59-A6C34878D82A}">
                    <a16:rowId xmlns:a16="http://schemas.microsoft.com/office/drawing/2014/main" val="603887454"/>
                  </a:ext>
                </a:extLst>
              </a:tr>
              <a:tr h="0">
                <a:tc>
                  <a:txBody>
                    <a:bodyPr/>
                    <a:lstStyle/>
                    <a:p>
                      <a:pPr>
                        <a:buNone/>
                      </a:pPr>
                      <a:r>
                        <a:rPr lang="en-US" sz="2800">
                          <a:latin typeface="Calibir"/>
                        </a:rPr>
                        <a:t>Server</a:t>
                      </a:r>
                    </a:p>
                  </a:txBody>
                  <a:tcPr anchor="ctr"/>
                </a:tc>
                <a:tc>
                  <a:txBody>
                    <a:bodyPr/>
                    <a:lstStyle/>
                    <a:p>
                      <a:pPr>
                        <a:buNone/>
                      </a:pPr>
                      <a:r>
                        <a:rPr lang="en-US" sz="2800">
                          <a:latin typeface="Calibir"/>
                        </a:rPr>
                        <a:t>Computer storing websites</a:t>
                      </a:r>
                    </a:p>
                  </a:txBody>
                  <a:tcPr anchor="ctr"/>
                </a:tc>
                <a:extLst>
                  <a:ext uri="{0D108BD9-81ED-4DB2-BD59-A6C34878D82A}">
                    <a16:rowId xmlns:a16="http://schemas.microsoft.com/office/drawing/2014/main" val="1344611026"/>
                  </a:ext>
                </a:extLst>
              </a:tr>
              <a:tr h="0">
                <a:tc>
                  <a:txBody>
                    <a:bodyPr/>
                    <a:lstStyle/>
                    <a:p>
                      <a:pPr>
                        <a:buNone/>
                      </a:pPr>
                      <a:r>
                        <a:rPr lang="en-US" sz="2800">
                          <a:latin typeface="Calibir"/>
                        </a:rPr>
                        <a:t>Client</a:t>
                      </a:r>
                    </a:p>
                  </a:txBody>
                  <a:tcPr anchor="ctr"/>
                </a:tc>
                <a:tc>
                  <a:txBody>
                    <a:bodyPr/>
                    <a:lstStyle/>
                    <a:p>
                      <a:pPr>
                        <a:buNone/>
                      </a:pPr>
                      <a:r>
                        <a:rPr lang="en-US" sz="2800">
                          <a:latin typeface="Calibir"/>
                        </a:rPr>
                        <a:t>User computer/browser</a:t>
                      </a:r>
                    </a:p>
                  </a:txBody>
                  <a:tcPr anchor="ctr"/>
                </a:tc>
                <a:extLst>
                  <a:ext uri="{0D108BD9-81ED-4DB2-BD59-A6C34878D82A}">
                    <a16:rowId xmlns:a16="http://schemas.microsoft.com/office/drawing/2014/main" val="4063056823"/>
                  </a:ext>
                </a:extLst>
              </a:tr>
              <a:tr h="0">
                <a:tc>
                  <a:txBody>
                    <a:bodyPr/>
                    <a:lstStyle/>
                    <a:p>
                      <a:pPr>
                        <a:buNone/>
                      </a:pPr>
                      <a:r>
                        <a:rPr lang="en-US" sz="2800">
                          <a:latin typeface="Calibir"/>
                        </a:rPr>
                        <a:t>HTTP</a:t>
                      </a:r>
                    </a:p>
                  </a:txBody>
                  <a:tcPr anchor="ctr"/>
                </a:tc>
                <a:tc>
                  <a:txBody>
                    <a:bodyPr/>
                    <a:lstStyle/>
                    <a:p>
                      <a:pPr>
                        <a:buNone/>
                      </a:pPr>
                      <a:r>
                        <a:rPr lang="en-US" sz="2800">
                          <a:latin typeface="Calibir"/>
                        </a:rPr>
                        <a:t>Web communication protocol</a:t>
                      </a:r>
                    </a:p>
                  </a:txBody>
                  <a:tcPr anchor="ctr"/>
                </a:tc>
                <a:extLst>
                  <a:ext uri="{0D108BD9-81ED-4DB2-BD59-A6C34878D82A}">
                    <a16:rowId xmlns:a16="http://schemas.microsoft.com/office/drawing/2014/main" val="1543842929"/>
                  </a:ext>
                </a:extLst>
              </a:tr>
              <a:tr h="0">
                <a:tc>
                  <a:txBody>
                    <a:bodyPr/>
                    <a:lstStyle/>
                    <a:p>
                      <a:pPr>
                        <a:buNone/>
                      </a:pPr>
                      <a:r>
                        <a:rPr lang="en-US" sz="2800">
                          <a:latin typeface="Calibir"/>
                        </a:rPr>
                        <a:t>TCP/IP</a:t>
                      </a:r>
                    </a:p>
                  </a:txBody>
                  <a:tcPr anchor="ctr"/>
                </a:tc>
                <a:tc>
                  <a:txBody>
                    <a:bodyPr/>
                    <a:lstStyle/>
                    <a:p>
                      <a:pPr>
                        <a:buNone/>
                      </a:pPr>
                      <a:r>
                        <a:rPr lang="en-US" sz="2800">
                          <a:latin typeface="Calibir"/>
                        </a:rPr>
                        <a:t>Internet communication rules</a:t>
                      </a:r>
                    </a:p>
                  </a:txBody>
                  <a:tcPr anchor="ctr"/>
                </a:tc>
                <a:extLst>
                  <a:ext uri="{0D108BD9-81ED-4DB2-BD59-A6C34878D82A}">
                    <a16:rowId xmlns:a16="http://schemas.microsoft.com/office/drawing/2014/main" val="2188771049"/>
                  </a:ext>
                </a:extLst>
              </a:tr>
              <a:tr h="0">
                <a:tc>
                  <a:txBody>
                    <a:bodyPr/>
                    <a:lstStyle/>
                    <a:p>
                      <a:pPr>
                        <a:buNone/>
                      </a:pPr>
                      <a:r>
                        <a:rPr lang="en-US" sz="2800">
                          <a:latin typeface="Calibir"/>
                        </a:rPr>
                        <a:t>IP Address</a:t>
                      </a:r>
                    </a:p>
                  </a:txBody>
                  <a:tcPr anchor="ctr"/>
                </a:tc>
                <a:tc>
                  <a:txBody>
                    <a:bodyPr/>
                    <a:lstStyle/>
                    <a:p>
                      <a:pPr>
                        <a:buNone/>
                      </a:pPr>
                      <a:r>
                        <a:rPr lang="en-US" sz="2800">
                          <a:latin typeface="Calibir"/>
                        </a:rPr>
                        <a:t>Device network address</a:t>
                      </a:r>
                    </a:p>
                  </a:txBody>
                  <a:tcPr anchor="ctr"/>
                </a:tc>
                <a:extLst>
                  <a:ext uri="{0D108BD9-81ED-4DB2-BD59-A6C34878D82A}">
                    <a16:rowId xmlns:a16="http://schemas.microsoft.com/office/drawing/2014/main" val="3058159438"/>
                  </a:ext>
                </a:extLst>
              </a:tr>
              <a:tr h="0">
                <a:tc>
                  <a:txBody>
                    <a:bodyPr/>
                    <a:lstStyle/>
                    <a:p>
                      <a:pPr>
                        <a:buNone/>
                      </a:pPr>
                      <a:r>
                        <a:rPr lang="en-US" sz="2800">
                          <a:latin typeface="Calibir"/>
                        </a:rPr>
                        <a:t>Wireframe</a:t>
                      </a:r>
                    </a:p>
                  </a:txBody>
                  <a:tcPr anchor="ctr"/>
                </a:tc>
                <a:tc>
                  <a:txBody>
                    <a:bodyPr/>
                    <a:lstStyle/>
                    <a:p>
                      <a:pPr>
                        <a:buNone/>
                      </a:pPr>
                      <a:r>
                        <a:rPr lang="en-US" sz="2800">
                          <a:latin typeface="Calibir"/>
                        </a:rPr>
                        <a:t>Website planning layout</a:t>
                      </a:r>
                    </a:p>
                  </a:txBody>
                  <a:tcPr anchor="ctr"/>
                </a:tc>
                <a:extLst>
                  <a:ext uri="{0D108BD9-81ED-4DB2-BD59-A6C34878D82A}">
                    <a16:rowId xmlns:a16="http://schemas.microsoft.com/office/drawing/2014/main" val="3249861015"/>
                  </a:ext>
                </a:extLst>
              </a:tr>
              <a:tr h="0">
                <a:tc>
                  <a:txBody>
                    <a:bodyPr/>
                    <a:lstStyle/>
                    <a:p>
                      <a:pPr>
                        <a:buNone/>
                      </a:pPr>
                      <a:r>
                        <a:rPr lang="en-US" sz="2800">
                          <a:latin typeface="Calibir"/>
                        </a:rPr>
                        <a:t>Responsive Design</a:t>
                      </a:r>
                    </a:p>
                  </a:txBody>
                  <a:tcPr anchor="ctr"/>
                </a:tc>
                <a:tc>
                  <a:txBody>
                    <a:bodyPr/>
                    <a:lstStyle/>
                    <a:p>
                      <a:pPr>
                        <a:buNone/>
                      </a:pPr>
                      <a:r>
                        <a:rPr lang="en-US" sz="2800">
                          <a:latin typeface="Calibir"/>
                        </a:rPr>
                        <a:t>Works on all devices</a:t>
                      </a:r>
                    </a:p>
                  </a:txBody>
                  <a:tcPr anchor="ctr"/>
                </a:tc>
                <a:extLst>
                  <a:ext uri="{0D108BD9-81ED-4DB2-BD59-A6C34878D82A}">
                    <a16:rowId xmlns:a16="http://schemas.microsoft.com/office/drawing/2014/main" val="3523894375"/>
                  </a:ext>
                </a:extLst>
              </a:tr>
              <a:tr h="0">
                <a:tc>
                  <a:txBody>
                    <a:bodyPr/>
                    <a:lstStyle/>
                    <a:p>
                      <a:pPr>
                        <a:buNone/>
                      </a:pPr>
                      <a:r>
                        <a:rPr lang="en-US" sz="2800">
                          <a:latin typeface="Calibir"/>
                        </a:rPr>
                        <a:t>W3C</a:t>
                      </a:r>
                    </a:p>
                  </a:txBody>
                  <a:tcPr anchor="ctr"/>
                </a:tc>
                <a:tc>
                  <a:txBody>
                    <a:bodyPr/>
                    <a:lstStyle/>
                    <a:p>
                      <a:pPr>
                        <a:buNone/>
                      </a:pPr>
                      <a:r>
                        <a:rPr lang="en-US" sz="2800" dirty="0">
                          <a:latin typeface="Calibir"/>
                        </a:rPr>
                        <a:t>Web standards organization</a:t>
                      </a:r>
                    </a:p>
                  </a:txBody>
                  <a:tcPr anchor="ctr"/>
                </a:tc>
                <a:extLst>
                  <a:ext uri="{0D108BD9-81ED-4DB2-BD59-A6C34878D82A}">
                    <a16:rowId xmlns:a16="http://schemas.microsoft.com/office/drawing/2014/main" val="2340472980"/>
                  </a:ext>
                </a:extLst>
              </a:tr>
            </a:tbl>
          </a:graphicData>
        </a:graphic>
      </p:graphicFrame>
      <p:sp>
        <p:nvSpPr>
          <p:cNvPr id="6" name="TextBox 5">
            <a:extLst>
              <a:ext uri="{FF2B5EF4-FFF2-40B4-BE49-F238E27FC236}">
                <a16:creationId xmlns:a16="http://schemas.microsoft.com/office/drawing/2014/main" id="{2DB317FB-E2F6-E0B6-4DE3-5CAC081C26AA}"/>
              </a:ext>
            </a:extLst>
          </p:cNvPr>
          <p:cNvSpPr txBox="1"/>
          <p:nvPr/>
        </p:nvSpPr>
        <p:spPr>
          <a:xfrm>
            <a:off x="0" y="1438463"/>
            <a:ext cx="6179574" cy="523220"/>
          </a:xfrm>
          <a:prstGeom prst="rect">
            <a:avLst/>
          </a:prstGeom>
          <a:noFill/>
        </p:spPr>
        <p:txBody>
          <a:bodyPr wrap="square">
            <a:spAutoFit/>
          </a:bodyPr>
          <a:lstStyle/>
          <a:p>
            <a:pPr>
              <a:buNone/>
            </a:pPr>
            <a:r>
              <a:rPr lang="en-US" sz="2800" dirty="0">
                <a:latin typeface="Calibir"/>
              </a:rPr>
              <a:t>Examples:</a:t>
            </a:r>
          </a:p>
        </p:txBody>
      </p:sp>
    </p:spTree>
    <p:extLst>
      <p:ext uri="{BB962C8B-B14F-4D97-AF65-F5344CB8AC3E}">
        <p14:creationId xmlns:p14="http://schemas.microsoft.com/office/powerpoint/2010/main" val="161892844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990717-B364-D309-4FF5-FC3C9D47070F}"/>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BBE989D-39FB-A28A-35A8-486E76702BEA}"/>
              </a:ext>
            </a:extLst>
          </p:cNvPr>
          <p:cNvSpPr txBox="1"/>
          <p:nvPr/>
        </p:nvSpPr>
        <p:spPr>
          <a:xfrm>
            <a:off x="0" y="0"/>
            <a:ext cx="8976732" cy="584775"/>
          </a:xfrm>
          <a:prstGeom prst="rect">
            <a:avLst/>
          </a:prstGeom>
          <a:noFill/>
        </p:spPr>
        <p:txBody>
          <a:bodyPr wrap="square" rtlCol="0">
            <a:spAutoFit/>
          </a:bodyPr>
          <a:lstStyle/>
          <a:p>
            <a:pPr lvl="0">
              <a:defRPr/>
            </a:pPr>
            <a:r>
              <a:rPr lang="en-US" sz="3200" b="1" dirty="0">
                <a:latin typeface="Calibir"/>
              </a:rPr>
              <a:t>How to Study Properly for This Unit</a:t>
            </a:r>
            <a:endParaRPr kumimoji="0" lang="en-US" sz="3200" b="1" i="0" u="none" strike="noStrike" kern="1200" cap="none" spc="0" normalizeH="0" baseline="0" noProof="0" dirty="0">
              <a:ln>
                <a:noFill/>
              </a:ln>
              <a:solidFill>
                <a:prstClr val="black"/>
              </a:solidFill>
              <a:effectLst/>
              <a:uLnTx/>
              <a:uFillTx/>
              <a:latin typeface="Calibir"/>
              <a:cs typeface="Calibri" panose="020F0502020204030204" pitchFamily="34" charset="0"/>
            </a:endParaRPr>
          </a:p>
        </p:txBody>
      </p:sp>
      <p:sp>
        <p:nvSpPr>
          <p:cNvPr id="5" name="TextBox 4">
            <a:extLst>
              <a:ext uri="{FF2B5EF4-FFF2-40B4-BE49-F238E27FC236}">
                <a16:creationId xmlns:a16="http://schemas.microsoft.com/office/drawing/2014/main" id="{F1373B2F-D9F4-FF00-B304-CA5D486D8AD0}"/>
              </a:ext>
            </a:extLst>
          </p:cNvPr>
          <p:cNvSpPr txBox="1"/>
          <p:nvPr/>
        </p:nvSpPr>
        <p:spPr>
          <a:xfrm>
            <a:off x="0" y="584775"/>
            <a:ext cx="12061603" cy="4549835"/>
          </a:xfrm>
          <a:prstGeom prst="rect">
            <a:avLst/>
          </a:prstGeom>
          <a:noFill/>
        </p:spPr>
        <p:txBody>
          <a:bodyPr wrap="square">
            <a:spAutoFit/>
          </a:bodyPr>
          <a:lstStyle/>
          <a:p>
            <a:pPr>
              <a:lnSpc>
                <a:spcPct val="150000"/>
              </a:lnSpc>
            </a:pPr>
            <a:r>
              <a:rPr lang="en-US" sz="2800" b="1" dirty="0">
                <a:latin typeface="Calibir"/>
              </a:rPr>
              <a:t>3. Practice Essay Questions</a:t>
            </a:r>
          </a:p>
          <a:p>
            <a:pPr>
              <a:lnSpc>
                <a:spcPct val="150000"/>
              </a:lnSpc>
            </a:pPr>
            <a:r>
              <a:rPr lang="en-US" sz="2800" dirty="0">
                <a:latin typeface="Calibir"/>
              </a:rPr>
              <a:t>Example:</a:t>
            </a:r>
          </a:p>
          <a:p>
            <a:pPr>
              <a:lnSpc>
                <a:spcPct val="150000"/>
              </a:lnSpc>
            </a:pPr>
            <a:r>
              <a:rPr lang="en-US" sz="2800" b="1" dirty="0">
                <a:latin typeface="Calibir"/>
              </a:rPr>
              <a:t>Question</a:t>
            </a:r>
          </a:p>
          <a:p>
            <a:pPr>
              <a:lnSpc>
                <a:spcPct val="150000"/>
              </a:lnSpc>
            </a:pPr>
            <a:r>
              <a:rPr lang="en-US" sz="2800" dirty="0">
                <a:latin typeface="Calibir"/>
              </a:rPr>
              <a:t>What is the difference between a text editor and an HTML editor?</a:t>
            </a:r>
          </a:p>
          <a:p>
            <a:pPr>
              <a:lnSpc>
                <a:spcPct val="150000"/>
              </a:lnSpc>
            </a:pPr>
            <a:r>
              <a:rPr lang="en-US" sz="2800" b="1" dirty="0">
                <a:latin typeface="Calibir"/>
              </a:rPr>
              <a:t>Simple Answer</a:t>
            </a:r>
          </a:p>
          <a:p>
            <a:pPr>
              <a:lnSpc>
                <a:spcPct val="150000"/>
              </a:lnSpc>
            </a:pPr>
            <a:r>
              <a:rPr lang="en-US" sz="2800" dirty="0">
                <a:latin typeface="Calibir"/>
              </a:rPr>
              <a:t>A text editor writes plain text only, while an HTML editor helps create webpages with HTML features such as syntax highlighting and webpage preview.</a:t>
            </a:r>
          </a:p>
        </p:txBody>
      </p:sp>
    </p:spTree>
    <p:extLst>
      <p:ext uri="{BB962C8B-B14F-4D97-AF65-F5344CB8AC3E}">
        <p14:creationId xmlns:p14="http://schemas.microsoft.com/office/powerpoint/2010/main" val="296070146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19165F-C3A4-8307-E8CD-DED8CDF0D459}"/>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F1D975F-AA3A-2794-FBED-D9A76E84DF90}"/>
              </a:ext>
            </a:extLst>
          </p:cNvPr>
          <p:cNvSpPr txBox="1"/>
          <p:nvPr/>
        </p:nvSpPr>
        <p:spPr>
          <a:xfrm>
            <a:off x="0" y="0"/>
            <a:ext cx="8976732" cy="584775"/>
          </a:xfrm>
          <a:prstGeom prst="rect">
            <a:avLst/>
          </a:prstGeom>
          <a:noFill/>
        </p:spPr>
        <p:txBody>
          <a:bodyPr wrap="square" rtlCol="0">
            <a:spAutoFit/>
          </a:bodyPr>
          <a:lstStyle/>
          <a:p>
            <a:pPr lvl="0">
              <a:defRPr/>
            </a:pPr>
            <a:r>
              <a:rPr lang="en-US" sz="3200" b="1" dirty="0">
                <a:latin typeface="Calibir"/>
              </a:rPr>
              <a:t>How to Study Properly for This Unit</a:t>
            </a:r>
            <a:endParaRPr kumimoji="0" lang="en-US" sz="3200" b="1" i="0" u="none" strike="noStrike" kern="1200" cap="none" spc="0" normalizeH="0" baseline="0" noProof="0" dirty="0">
              <a:ln>
                <a:noFill/>
              </a:ln>
              <a:solidFill>
                <a:prstClr val="black"/>
              </a:solidFill>
              <a:effectLst/>
              <a:uLnTx/>
              <a:uFillTx/>
              <a:latin typeface="Calibir"/>
              <a:cs typeface="Calibri" panose="020F0502020204030204" pitchFamily="34" charset="0"/>
            </a:endParaRPr>
          </a:p>
        </p:txBody>
      </p:sp>
      <p:sp>
        <p:nvSpPr>
          <p:cNvPr id="5" name="TextBox 4">
            <a:extLst>
              <a:ext uri="{FF2B5EF4-FFF2-40B4-BE49-F238E27FC236}">
                <a16:creationId xmlns:a16="http://schemas.microsoft.com/office/drawing/2014/main" id="{719BA259-F76A-ECEE-4C6E-ED32A377B751}"/>
              </a:ext>
            </a:extLst>
          </p:cNvPr>
          <p:cNvSpPr txBox="1"/>
          <p:nvPr/>
        </p:nvSpPr>
        <p:spPr>
          <a:xfrm>
            <a:off x="0" y="584775"/>
            <a:ext cx="12061603" cy="3903504"/>
          </a:xfrm>
          <a:prstGeom prst="rect">
            <a:avLst/>
          </a:prstGeom>
          <a:noFill/>
        </p:spPr>
        <p:txBody>
          <a:bodyPr wrap="square">
            <a:spAutoFit/>
          </a:bodyPr>
          <a:lstStyle/>
          <a:p>
            <a:pPr>
              <a:lnSpc>
                <a:spcPct val="150000"/>
              </a:lnSpc>
            </a:pPr>
            <a:r>
              <a:rPr lang="en-US" sz="2800" b="1" dirty="0">
                <a:latin typeface="Calibir"/>
              </a:rPr>
              <a:t>4. Practice Time Management</a:t>
            </a:r>
          </a:p>
          <a:p>
            <a:pPr>
              <a:lnSpc>
                <a:spcPct val="150000"/>
              </a:lnSpc>
            </a:pPr>
            <a:r>
              <a:rPr lang="en-US" sz="2800" dirty="0">
                <a:latin typeface="Calibir"/>
              </a:rPr>
              <a:t>The test is only 30 minutes.</a:t>
            </a:r>
          </a:p>
          <a:p>
            <a:pPr>
              <a:lnSpc>
                <a:spcPct val="150000"/>
              </a:lnSpc>
            </a:pPr>
            <a:r>
              <a:rPr lang="en-US" sz="2800" dirty="0">
                <a:latin typeface="Calibir"/>
              </a:rPr>
              <a:t>Tips:</a:t>
            </a:r>
          </a:p>
          <a:p>
            <a:pPr marL="914400" lvl="1" indent="-457200">
              <a:lnSpc>
                <a:spcPct val="150000"/>
              </a:lnSpc>
              <a:buFont typeface="Arial" panose="020B0604020202020204" pitchFamily="34" charset="0"/>
              <a:buChar char="•"/>
            </a:pPr>
            <a:r>
              <a:rPr lang="en-US" sz="2800" dirty="0">
                <a:latin typeface="Calibir"/>
              </a:rPr>
              <a:t>Answer easy questions first </a:t>
            </a:r>
          </a:p>
          <a:p>
            <a:pPr marL="914400" lvl="1" indent="-457200">
              <a:lnSpc>
                <a:spcPct val="150000"/>
              </a:lnSpc>
              <a:buFont typeface="Arial" panose="020B0604020202020204" pitchFamily="34" charset="0"/>
              <a:buChar char="•"/>
            </a:pPr>
            <a:r>
              <a:rPr lang="en-US" sz="2800" dirty="0">
                <a:latin typeface="Calibir"/>
              </a:rPr>
              <a:t>Do not spend too long on one question </a:t>
            </a:r>
          </a:p>
          <a:p>
            <a:pPr marL="914400" lvl="1" indent="-457200">
              <a:lnSpc>
                <a:spcPct val="150000"/>
              </a:lnSpc>
              <a:buFont typeface="Arial" panose="020B0604020202020204" pitchFamily="34" charset="0"/>
              <a:buChar char="•"/>
            </a:pPr>
            <a:r>
              <a:rPr lang="en-US" sz="2800" dirty="0">
                <a:latin typeface="Calibir"/>
              </a:rPr>
              <a:t>Leave essay questions for the end if needed</a:t>
            </a:r>
          </a:p>
        </p:txBody>
      </p:sp>
    </p:spTree>
    <p:extLst>
      <p:ext uri="{BB962C8B-B14F-4D97-AF65-F5344CB8AC3E}">
        <p14:creationId xmlns:p14="http://schemas.microsoft.com/office/powerpoint/2010/main" val="422132919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E09659-3AD8-17E7-79EB-06DB33FC8E7F}"/>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CF924BB-BDE0-FDE8-8E68-6ACBFD860702}"/>
              </a:ext>
            </a:extLst>
          </p:cNvPr>
          <p:cNvSpPr txBox="1"/>
          <p:nvPr/>
        </p:nvSpPr>
        <p:spPr>
          <a:xfrm>
            <a:off x="0" y="0"/>
            <a:ext cx="8976732" cy="584775"/>
          </a:xfrm>
          <a:prstGeom prst="rect">
            <a:avLst/>
          </a:prstGeom>
          <a:noFill/>
        </p:spPr>
        <p:txBody>
          <a:bodyPr wrap="square" rtlCol="0">
            <a:spAutoFit/>
          </a:bodyPr>
          <a:lstStyle/>
          <a:p>
            <a:pPr lvl="0">
              <a:defRPr/>
            </a:pPr>
            <a:r>
              <a:rPr lang="en-US" sz="3200" b="1" dirty="0">
                <a:latin typeface="Calibir"/>
              </a:rPr>
              <a:t>How to Study Properly for This Unit</a:t>
            </a:r>
            <a:endParaRPr kumimoji="0" lang="en-US" sz="3200" b="1" i="0" u="none" strike="noStrike" kern="1200" cap="none" spc="0" normalizeH="0" baseline="0" noProof="0" dirty="0">
              <a:ln>
                <a:noFill/>
              </a:ln>
              <a:solidFill>
                <a:prstClr val="black"/>
              </a:solidFill>
              <a:effectLst/>
              <a:uLnTx/>
              <a:uFillTx/>
              <a:latin typeface="Calibir"/>
              <a:cs typeface="Calibri" panose="020F0502020204030204" pitchFamily="34" charset="0"/>
            </a:endParaRPr>
          </a:p>
        </p:txBody>
      </p:sp>
      <p:sp>
        <p:nvSpPr>
          <p:cNvPr id="5" name="TextBox 4">
            <a:extLst>
              <a:ext uri="{FF2B5EF4-FFF2-40B4-BE49-F238E27FC236}">
                <a16:creationId xmlns:a16="http://schemas.microsoft.com/office/drawing/2014/main" id="{48F4194F-5724-0F64-4E42-AB218167C04F}"/>
              </a:ext>
            </a:extLst>
          </p:cNvPr>
          <p:cNvSpPr txBox="1"/>
          <p:nvPr/>
        </p:nvSpPr>
        <p:spPr>
          <a:xfrm>
            <a:off x="35702" y="389149"/>
            <a:ext cx="12061603" cy="6507935"/>
          </a:xfrm>
          <a:prstGeom prst="rect">
            <a:avLst/>
          </a:prstGeom>
          <a:noFill/>
        </p:spPr>
        <p:txBody>
          <a:bodyPr wrap="square">
            <a:spAutoFit/>
          </a:bodyPr>
          <a:lstStyle/>
          <a:p>
            <a:pPr>
              <a:lnSpc>
                <a:spcPct val="150000"/>
              </a:lnSpc>
            </a:pPr>
            <a:r>
              <a:rPr lang="en-US" sz="2000" b="1" dirty="0">
                <a:latin typeface="Calibir"/>
              </a:rPr>
              <a:t>7. Important Hints for Success</a:t>
            </a:r>
          </a:p>
          <a:p>
            <a:pPr>
              <a:lnSpc>
                <a:spcPct val="150000"/>
              </a:lnSpc>
            </a:pPr>
            <a:r>
              <a:rPr lang="en-US" sz="2000" b="1" dirty="0">
                <a:latin typeface="Calibir"/>
              </a:rPr>
              <a:t>Hint 1 – Learn HTML Tags Properly</a:t>
            </a:r>
          </a:p>
          <a:p>
            <a:pPr>
              <a:lnSpc>
                <a:spcPct val="150000"/>
              </a:lnSpc>
            </a:pPr>
            <a:r>
              <a:rPr lang="en-US" sz="2000" dirty="0">
                <a:latin typeface="Calibir"/>
              </a:rPr>
              <a:t>Important tags:</a:t>
            </a:r>
          </a:p>
          <a:p>
            <a:pPr>
              <a:lnSpc>
                <a:spcPct val="150000"/>
              </a:lnSpc>
            </a:pPr>
            <a:r>
              <a:rPr lang="en-US" sz="2000" dirty="0">
                <a:highlight>
                  <a:srgbClr val="FFFF00"/>
                </a:highlight>
                <a:latin typeface="Calibir"/>
              </a:rPr>
              <a:t>&lt;html&gt;</a:t>
            </a:r>
            <a:br>
              <a:rPr lang="en-US" sz="2000" dirty="0">
                <a:highlight>
                  <a:srgbClr val="FFFF00"/>
                </a:highlight>
                <a:latin typeface="Calibir"/>
              </a:rPr>
            </a:br>
            <a:r>
              <a:rPr lang="en-US" sz="2000" dirty="0">
                <a:highlight>
                  <a:srgbClr val="FFFF00"/>
                </a:highlight>
                <a:latin typeface="Calibir"/>
              </a:rPr>
              <a:t>&lt;head&gt;</a:t>
            </a:r>
            <a:br>
              <a:rPr lang="en-US" sz="2000" dirty="0">
                <a:highlight>
                  <a:srgbClr val="FFFF00"/>
                </a:highlight>
                <a:latin typeface="Calibir"/>
              </a:rPr>
            </a:br>
            <a:r>
              <a:rPr lang="en-US" sz="2000" dirty="0">
                <a:highlight>
                  <a:srgbClr val="FFFF00"/>
                </a:highlight>
                <a:latin typeface="Calibir"/>
              </a:rPr>
              <a:t>&lt;body&gt;</a:t>
            </a:r>
            <a:br>
              <a:rPr lang="en-US" sz="2000" dirty="0">
                <a:highlight>
                  <a:srgbClr val="FFFF00"/>
                </a:highlight>
                <a:latin typeface="Calibir"/>
              </a:rPr>
            </a:br>
            <a:r>
              <a:rPr lang="en-US" sz="2000" dirty="0">
                <a:highlight>
                  <a:srgbClr val="FFFF00"/>
                </a:highlight>
                <a:latin typeface="Calibir"/>
              </a:rPr>
              <a:t>&lt;h1&gt;</a:t>
            </a:r>
            <a:br>
              <a:rPr lang="en-US" sz="2000" dirty="0">
                <a:highlight>
                  <a:srgbClr val="FFFF00"/>
                </a:highlight>
                <a:latin typeface="Calibir"/>
              </a:rPr>
            </a:br>
            <a:r>
              <a:rPr lang="en-US" sz="2000" dirty="0">
                <a:highlight>
                  <a:srgbClr val="FFFF00"/>
                </a:highlight>
                <a:latin typeface="Calibir"/>
              </a:rPr>
              <a:t>&lt;p&gt;</a:t>
            </a:r>
            <a:br>
              <a:rPr lang="en-US" sz="2000" dirty="0">
                <a:highlight>
                  <a:srgbClr val="FFFF00"/>
                </a:highlight>
                <a:latin typeface="Calibir"/>
              </a:rPr>
            </a:br>
            <a:r>
              <a:rPr lang="en-US" sz="2000" dirty="0">
                <a:highlight>
                  <a:srgbClr val="FFFF00"/>
                </a:highlight>
                <a:latin typeface="Calibir"/>
              </a:rPr>
              <a:t>&lt;</a:t>
            </a:r>
            <a:r>
              <a:rPr lang="en-US" sz="2000" dirty="0" err="1">
                <a:highlight>
                  <a:srgbClr val="FFFF00"/>
                </a:highlight>
                <a:latin typeface="Calibir"/>
              </a:rPr>
              <a:t>img</a:t>
            </a:r>
            <a:r>
              <a:rPr lang="en-US" sz="2000" dirty="0">
                <a:highlight>
                  <a:srgbClr val="FFFF00"/>
                </a:highlight>
                <a:latin typeface="Calibir"/>
              </a:rPr>
              <a:t>&gt;</a:t>
            </a:r>
            <a:br>
              <a:rPr lang="en-US" sz="2000" dirty="0">
                <a:highlight>
                  <a:srgbClr val="FFFF00"/>
                </a:highlight>
                <a:latin typeface="Calibir"/>
              </a:rPr>
            </a:br>
            <a:r>
              <a:rPr lang="en-US" sz="2000" dirty="0">
                <a:highlight>
                  <a:srgbClr val="FFFF00"/>
                </a:highlight>
                <a:latin typeface="Calibir"/>
              </a:rPr>
              <a:t>&lt;a&gt;</a:t>
            </a:r>
            <a:br>
              <a:rPr lang="en-US" sz="2000" dirty="0">
                <a:highlight>
                  <a:srgbClr val="FFFF00"/>
                </a:highlight>
                <a:latin typeface="Calibir"/>
              </a:rPr>
            </a:br>
            <a:r>
              <a:rPr lang="en-US" sz="2000" dirty="0">
                <a:highlight>
                  <a:srgbClr val="FFFF00"/>
                </a:highlight>
                <a:latin typeface="Calibir"/>
              </a:rPr>
              <a:t>&lt;div&gt;</a:t>
            </a:r>
            <a:br>
              <a:rPr lang="en-US" sz="2000" dirty="0">
                <a:highlight>
                  <a:srgbClr val="FFFF00"/>
                </a:highlight>
                <a:latin typeface="Calibir"/>
              </a:rPr>
            </a:br>
            <a:r>
              <a:rPr lang="en-US" sz="2000" dirty="0">
                <a:highlight>
                  <a:srgbClr val="FFFF00"/>
                </a:highlight>
                <a:latin typeface="Calibir"/>
              </a:rPr>
              <a:t>&lt;ul&gt;</a:t>
            </a:r>
            <a:br>
              <a:rPr lang="en-US" sz="2000" dirty="0">
                <a:highlight>
                  <a:srgbClr val="FFFF00"/>
                </a:highlight>
                <a:latin typeface="Calibir"/>
              </a:rPr>
            </a:br>
            <a:r>
              <a:rPr lang="en-US" sz="2000" dirty="0">
                <a:highlight>
                  <a:srgbClr val="FFFF00"/>
                </a:highlight>
                <a:latin typeface="Calibir"/>
              </a:rPr>
              <a:t>&lt;li&gt;</a:t>
            </a:r>
          </a:p>
          <a:p>
            <a:pPr>
              <a:lnSpc>
                <a:spcPct val="150000"/>
              </a:lnSpc>
            </a:pPr>
            <a:r>
              <a:rPr lang="en-US" sz="2000" dirty="0">
                <a:latin typeface="Calibir"/>
              </a:rPr>
              <a:t>Practice them often.</a:t>
            </a:r>
          </a:p>
        </p:txBody>
      </p:sp>
    </p:spTree>
    <p:extLst>
      <p:ext uri="{BB962C8B-B14F-4D97-AF65-F5344CB8AC3E}">
        <p14:creationId xmlns:p14="http://schemas.microsoft.com/office/powerpoint/2010/main" val="14902324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3ACC88-B79E-042C-3551-5269B33A5228}"/>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086D70BA-472E-F130-A869-AC3A68C75E05}"/>
              </a:ext>
            </a:extLst>
          </p:cNvPr>
          <p:cNvSpPr txBox="1"/>
          <p:nvPr/>
        </p:nvSpPr>
        <p:spPr>
          <a:xfrm>
            <a:off x="0" y="0"/>
            <a:ext cx="8976732" cy="584775"/>
          </a:xfrm>
          <a:prstGeom prst="rect">
            <a:avLst/>
          </a:prstGeom>
          <a:noFill/>
        </p:spPr>
        <p:txBody>
          <a:bodyPr wrap="square" rtlCol="0">
            <a:spAutoFit/>
          </a:bodyPr>
          <a:lstStyle/>
          <a:p>
            <a:pPr lvl="0">
              <a:defRPr/>
            </a:pPr>
            <a:r>
              <a:rPr lang="en-US" sz="3200" b="1" dirty="0">
                <a:latin typeface="Calibir"/>
              </a:rPr>
              <a:t>How to Study Properly for This Unit</a:t>
            </a:r>
            <a:endParaRPr kumimoji="0" lang="en-US" sz="3200" b="1" i="0" u="none" strike="noStrike" kern="1200" cap="none" spc="0" normalizeH="0" baseline="0" noProof="0" dirty="0">
              <a:ln>
                <a:noFill/>
              </a:ln>
              <a:solidFill>
                <a:prstClr val="black"/>
              </a:solidFill>
              <a:effectLst/>
              <a:uLnTx/>
              <a:uFillTx/>
              <a:latin typeface="Calibir"/>
              <a:cs typeface="Calibri" panose="020F0502020204030204" pitchFamily="34" charset="0"/>
            </a:endParaRPr>
          </a:p>
        </p:txBody>
      </p:sp>
      <p:sp>
        <p:nvSpPr>
          <p:cNvPr id="5" name="TextBox 4">
            <a:extLst>
              <a:ext uri="{FF2B5EF4-FFF2-40B4-BE49-F238E27FC236}">
                <a16:creationId xmlns:a16="http://schemas.microsoft.com/office/drawing/2014/main" id="{F41ACB1D-A5CC-11E7-4A0B-5E9C55C0F1AC}"/>
              </a:ext>
            </a:extLst>
          </p:cNvPr>
          <p:cNvSpPr txBox="1"/>
          <p:nvPr/>
        </p:nvSpPr>
        <p:spPr>
          <a:xfrm>
            <a:off x="0" y="1154082"/>
            <a:ext cx="12061603" cy="4549835"/>
          </a:xfrm>
          <a:prstGeom prst="rect">
            <a:avLst/>
          </a:prstGeom>
          <a:noFill/>
        </p:spPr>
        <p:txBody>
          <a:bodyPr wrap="square">
            <a:spAutoFit/>
          </a:bodyPr>
          <a:lstStyle/>
          <a:p>
            <a:pPr>
              <a:lnSpc>
                <a:spcPct val="150000"/>
              </a:lnSpc>
            </a:pPr>
            <a:r>
              <a:rPr lang="en-US" sz="2800" b="1" dirty="0">
                <a:latin typeface="Calibir"/>
              </a:rPr>
              <a:t>Hint 2 – Understand, Don’t Memorize</a:t>
            </a:r>
          </a:p>
          <a:p>
            <a:pPr>
              <a:lnSpc>
                <a:spcPct val="150000"/>
              </a:lnSpc>
            </a:pPr>
            <a:r>
              <a:rPr lang="en-US" sz="2800" dirty="0">
                <a:latin typeface="Calibir"/>
              </a:rPr>
              <a:t>Example:</a:t>
            </a:r>
          </a:p>
          <a:p>
            <a:pPr>
              <a:lnSpc>
                <a:spcPct val="150000"/>
              </a:lnSpc>
            </a:pPr>
            <a:r>
              <a:rPr lang="en-US" sz="2800" dirty="0">
                <a:latin typeface="Calibir"/>
              </a:rPr>
              <a:t>Instead of memorizing:</a:t>
            </a:r>
          </a:p>
          <a:p>
            <a:pPr>
              <a:lnSpc>
                <a:spcPct val="150000"/>
              </a:lnSpc>
            </a:pPr>
            <a:r>
              <a:rPr lang="en-US" sz="2800" dirty="0">
                <a:latin typeface="Calibir"/>
              </a:rPr>
              <a:t>“HTTP is a protocol.”</a:t>
            </a:r>
          </a:p>
          <a:p>
            <a:pPr>
              <a:lnSpc>
                <a:spcPct val="150000"/>
              </a:lnSpc>
            </a:pPr>
            <a:r>
              <a:rPr lang="en-US" sz="2800" dirty="0">
                <a:latin typeface="Calibir"/>
              </a:rPr>
              <a:t>Understand:</a:t>
            </a:r>
          </a:p>
          <a:p>
            <a:pPr>
              <a:lnSpc>
                <a:spcPct val="150000"/>
              </a:lnSpc>
            </a:pPr>
            <a:r>
              <a:rPr lang="en-US" sz="2800" dirty="0">
                <a:latin typeface="Calibir"/>
              </a:rPr>
              <a:t>HTTP allows browsers and servers to communicate.</a:t>
            </a:r>
          </a:p>
          <a:p>
            <a:pPr>
              <a:lnSpc>
                <a:spcPct val="150000"/>
              </a:lnSpc>
            </a:pPr>
            <a:r>
              <a:rPr lang="en-US" sz="2800" dirty="0">
                <a:latin typeface="Calibir"/>
              </a:rPr>
              <a:t>Understanding helps in exams and assignments.</a:t>
            </a:r>
          </a:p>
        </p:txBody>
      </p:sp>
    </p:spTree>
    <p:extLst>
      <p:ext uri="{BB962C8B-B14F-4D97-AF65-F5344CB8AC3E}">
        <p14:creationId xmlns:p14="http://schemas.microsoft.com/office/powerpoint/2010/main" val="52302356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39318C-E723-79BB-A479-2511DD5C8935}"/>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BD63F0AD-E5BE-483B-878D-DB29F6EF6B67}"/>
              </a:ext>
            </a:extLst>
          </p:cNvPr>
          <p:cNvSpPr txBox="1"/>
          <p:nvPr/>
        </p:nvSpPr>
        <p:spPr>
          <a:xfrm>
            <a:off x="0" y="0"/>
            <a:ext cx="8976732" cy="584775"/>
          </a:xfrm>
          <a:prstGeom prst="rect">
            <a:avLst/>
          </a:prstGeom>
          <a:noFill/>
        </p:spPr>
        <p:txBody>
          <a:bodyPr wrap="square" rtlCol="0">
            <a:spAutoFit/>
          </a:bodyPr>
          <a:lstStyle/>
          <a:p>
            <a:pPr lvl="0">
              <a:defRPr/>
            </a:pPr>
            <a:r>
              <a:rPr lang="en-US" sz="3200" b="1" dirty="0">
                <a:latin typeface="Calibir"/>
              </a:rPr>
              <a:t>How to Study Properly for This Unit</a:t>
            </a:r>
            <a:endParaRPr kumimoji="0" lang="en-US" sz="3200" b="1" i="0" u="none" strike="noStrike" kern="1200" cap="none" spc="0" normalizeH="0" baseline="0" noProof="0" dirty="0">
              <a:ln>
                <a:noFill/>
              </a:ln>
              <a:solidFill>
                <a:prstClr val="black"/>
              </a:solidFill>
              <a:effectLst/>
              <a:uLnTx/>
              <a:uFillTx/>
              <a:latin typeface="Calibir"/>
              <a:cs typeface="Calibri" panose="020F0502020204030204" pitchFamily="34" charset="0"/>
            </a:endParaRPr>
          </a:p>
        </p:txBody>
      </p:sp>
      <p:sp>
        <p:nvSpPr>
          <p:cNvPr id="5" name="TextBox 4">
            <a:extLst>
              <a:ext uri="{FF2B5EF4-FFF2-40B4-BE49-F238E27FC236}">
                <a16:creationId xmlns:a16="http://schemas.microsoft.com/office/drawing/2014/main" id="{7AB2B451-C09B-9B1A-F395-F514545AB453}"/>
              </a:ext>
            </a:extLst>
          </p:cNvPr>
          <p:cNvSpPr txBox="1"/>
          <p:nvPr/>
        </p:nvSpPr>
        <p:spPr>
          <a:xfrm>
            <a:off x="0" y="1154082"/>
            <a:ext cx="12061603" cy="5196166"/>
          </a:xfrm>
          <a:prstGeom prst="rect">
            <a:avLst/>
          </a:prstGeom>
          <a:noFill/>
        </p:spPr>
        <p:txBody>
          <a:bodyPr wrap="square">
            <a:spAutoFit/>
          </a:bodyPr>
          <a:lstStyle/>
          <a:p>
            <a:pPr>
              <a:lnSpc>
                <a:spcPct val="150000"/>
              </a:lnSpc>
            </a:pPr>
            <a:r>
              <a:rPr lang="en-US" sz="2800" b="1" dirty="0">
                <a:latin typeface="Calibir"/>
              </a:rPr>
              <a:t>Hint 3 – Use Simple and Clean Code</a:t>
            </a:r>
          </a:p>
          <a:p>
            <a:pPr>
              <a:lnSpc>
                <a:spcPct val="150000"/>
              </a:lnSpc>
            </a:pPr>
            <a:r>
              <a:rPr lang="en-US" sz="2800" dirty="0">
                <a:latin typeface="Calibir"/>
              </a:rPr>
              <a:t>Good:</a:t>
            </a:r>
          </a:p>
          <a:p>
            <a:pPr>
              <a:lnSpc>
                <a:spcPct val="150000"/>
              </a:lnSpc>
            </a:pPr>
            <a:r>
              <a:rPr lang="en-US" sz="2800" dirty="0">
                <a:highlight>
                  <a:srgbClr val="FFFF00"/>
                </a:highlight>
                <a:latin typeface="Calibir"/>
              </a:rPr>
              <a:t>&lt;h1&gt;Welcome&lt;/h1&gt;</a:t>
            </a:r>
            <a:br>
              <a:rPr lang="en-US" sz="2800" dirty="0">
                <a:highlight>
                  <a:srgbClr val="FFFF00"/>
                </a:highlight>
                <a:latin typeface="Calibir"/>
              </a:rPr>
            </a:br>
            <a:r>
              <a:rPr lang="en-US" sz="2800" dirty="0">
                <a:highlight>
                  <a:srgbClr val="FFFF00"/>
                </a:highlight>
                <a:latin typeface="Calibir"/>
              </a:rPr>
              <a:t>&lt;p&gt;This is my webpage.&lt;/p&gt;</a:t>
            </a:r>
          </a:p>
          <a:p>
            <a:pPr>
              <a:lnSpc>
                <a:spcPct val="150000"/>
              </a:lnSpc>
            </a:pPr>
            <a:r>
              <a:rPr lang="en-US" sz="2800" dirty="0">
                <a:latin typeface="Calibir"/>
              </a:rPr>
              <a:t>Avoid:</a:t>
            </a:r>
          </a:p>
          <a:p>
            <a:pPr marL="914400" lvl="1" indent="-457200">
              <a:lnSpc>
                <a:spcPct val="150000"/>
              </a:lnSpc>
              <a:buFont typeface="Arial" panose="020B0604020202020204" pitchFamily="34" charset="0"/>
              <a:buChar char="•"/>
            </a:pPr>
            <a:r>
              <a:rPr lang="en-US" sz="2800" dirty="0">
                <a:latin typeface="Calibir"/>
              </a:rPr>
              <a:t>messy formatting </a:t>
            </a:r>
          </a:p>
          <a:p>
            <a:pPr marL="914400" lvl="1" indent="-457200">
              <a:lnSpc>
                <a:spcPct val="150000"/>
              </a:lnSpc>
              <a:buFont typeface="Arial" panose="020B0604020202020204" pitchFamily="34" charset="0"/>
              <a:buChar char="•"/>
            </a:pPr>
            <a:r>
              <a:rPr lang="en-US" sz="2800" dirty="0">
                <a:latin typeface="Calibir"/>
              </a:rPr>
              <a:t>missing closing tags </a:t>
            </a:r>
          </a:p>
          <a:p>
            <a:pPr marL="914400" lvl="1" indent="-457200">
              <a:lnSpc>
                <a:spcPct val="150000"/>
              </a:lnSpc>
              <a:buFont typeface="Arial" panose="020B0604020202020204" pitchFamily="34" charset="0"/>
              <a:buChar char="•"/>
            </a:pPr>
            <a:r>
              <a:rPr lang="en-US" sz="2800" dirty="0">
                <a:latin typeface="Calibir"/>
              </a:rPr>
              <a:t>random spacing</a:t>
            </a:r>
          </a:p>
        </p:txBody>
      </p:sp>
    </p:spTree>
    <p:extLst>
      <p:ext uri="{BB962C8B-B14F-4D97-AF65-F5344CB8AC3E}">
        <p14:creationId xmlns:p14="http://schemas.microsoft.com/office/powerpoint/2010/main" val="38150800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1F1BF6-4DCB-D4D4-602D-F4D7CC1A447C}"/>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29D4D39-8586-3B25-2740-D50C34ECA3F8}"/>
              </a:ext>
            </a:extLst>
          </p:cNvPr>
          <p:cNvSpPr txBox="1"/>
          <p:nvPr/>
        </p:nvSpPr>
        <p:spPr>
          <a:xfrm>
            <a:off x="0" y="0"/>
            <a:ext cx="8976732" cy="584775"/>
          </a:xfrm>
          <a:prstGeom prst="rect">
            <a:avLst/>
          </a:prstGeom>
          <a:noFill/>
        </p:spPr>
        <p:txBody>
          <a:bodyPr wrap="square" rtlCol="0">
            <a:spAutoFit/>
          </a:bodyPr>
          <a:lstStyle/>
          <a:p>
            <a:pPr lvl="0">
              <a:defRPr/>
            </a:pPr>
            <a:r>
              <a:rPr lang="en-US" sz="3200" b="1" dirty="0">
                <a:latin typeface="Calibir"/>
              </a:rPr>
              <a:t>How to Study Properly for This Unit</a:t>
            </a:r>
            <a:endParaRPr kumimoji="0" lang="en-US" sz="3200" b="1" i="0" u="none" strike="noStrike" kern="1200" cap="none" spc="0" normalizeH="0" baseline="0" noProof="0" dirty="0">
              <a:ln>
                <a:noFill/>
              </a:ln>
              <a:solidFill>
                <a:prstClr val="black"/>
              </a:solidFill>
              <a:effectLst/>
              <a:uLnTx/>
              <a:uFillTx/>
              <a:latin typeface="Calibir"/>
              <a:cs typeface="Calibri" panose="020F0502020204030204" pitchFamily="34" charset="0"/>
            </a:endParaRPr>
          </a:p>
        </p:txBody>
      </p:sp>
      <p:sp>
        <p:nvSpPr>
          <p:cNvPr id="5" name="TextBox 4">
            <a:extLst>
              <a:ext uri="{FF2B5EF4-FFF2-40B4-BE49-F238E27FC236}">
                <a16:creationId xmlns:a16="http://schemas.microsoft.com/office/drawing/2014/main" id="{27F062B4-51D0-E763-1682-5B736CAAF42F}"/>
              </a:ext>
            </a:extLst>
          </p:cNvPr>
          <p:cNvSpPr txBox="1"/>
          <p:nvPr/>
        </p:nvSpPr>
        <p:spPr>
          <a:xfrm>
            <a:off x="0" y="1154082"/>
            <a:ext cx="12061603" cy="4549835"/>
          </a:xfrm>
          <a:prstGeom prst="rect">
            <a:avLst/>
          </a:prstGeom>
          <a:noFill/>
        </p:spPr>
        <p:txBody>
          <a:bodyPr wrap="square">
            <a:spAutoFit/>
          </a:bodyPr>
          <a:lstStyle/>
          <a:p>
            <a:pPr>
              <a:lnSpc>
                <a:spcPct val="150000"/>
              </a:lnSpc>
            </a:pPr>
            <a:r>
              <a:rPr lang="en-US" sz="2800" b="1" dirty="0">
                <a:latin typeface="Calibir"/>
              </a:rPr>
              <a:t>Hint 4 – Validate Your HTML</a:t>
            </a:r>
          </a:p>
          <a:p>
            <a:pPr>
              <a:lnSpc>
                <a:spcPct val="150000"/>
              </a:lnSpc>
            </a:pPr>
            <a:r>
              <a:rPr lang="en-US" sz="2800" dirty="0">
                <a:latin typeface="Calibir"/>
              </a:rPr>
              <a:t>Always test:</a:t>
            </a:r>
          </a:p>
          <a:p>
            <a:pPr marL="914400" lvl="1" indent="-457200">
              <a:lnSpc>
                <a:spcPct val="150000"/>
              </a:lnSpc>
              <a:buFont typeface="Arial" panose="020B0604020202020204" pitchFamily="34" charset="0"/>
              <a:buChar char="•"/>
            </a:pPr>
            <a:r>
              <a:rPr lang="en-US" sz="2800" dirty="0">
                <a:latin typeface="Calibir"/>
              </a:rPr>
              <a:t>webpage layout </a:t>
            </a:r>
          </a:p>
          <a:p>
            <a:pPr marL="914400" lvl="1" indent="-457200">
              <a:lnSpc>
                <a:spcPct val="150000"/>
              </a:lnSpc>
              <a:buFont typeface="Arial" panose="020B0604020202020204" pitchFamily="34" charset="0"/>
              <a:buChar char="•"/>
            </a:pPr>
            <a:r>
              <a:rPr lang="en-US" sz="2800" dirty="0">
                <a:latin typeface="Calibir"/>
              </a:rPr>
              <a:t>links </a:t>
            </a:r>
          </a:p>
          <a:p>
            <a:pPr marL="914400" lvl="1" indent="-457200">
              <a:lnSpc>
                <a:spcPct val="150000"/>
              </a:lnSpc>
              <a:buFont typeface="Arial" panose="020B0604020202020204" pitchFamily="34" charset="0"/>
              <a:buChar char="•"/>
            </a:pPr>
            <a:r>
              <a:rPr lang="en-US" sz="2800" dirty="0">
                <a:latin typeface="Calibir"/>
              </a:rPr>
              <a:t>images </a:t>
            </a:r>
          </a:p>
          <a:p>
            <a:pPr marL="914400" lvl="1" indent="-457200">
              <a:lnSpc>
                <a:spcPct val="150000"/>
              </a:lnSpc>
              <a:buFont typeface="Arial" panose="020B0604020202020204" pitchFamily="34" charset="0"/>
              <a:buChar char="•"/>
            </a:pPr>
            <a:r>
              <a:rPr lang="en-US" sz="2800" dirty="0">
                <a:latin typeface="Calibir"/>
              </a:rPr>
              <a:t>spelling </a:t>
            </a:r>
          </a:p>
          <a:p>
            <a:pPr marL="914400" lvl="1" indent="-457200">
              <a:lnSpc>
                <a:spcPct val="150000"/>
              </a:lnSpc>
              <a:buFont typeface="Arial" panose="020B0604020202020204" pitchFamily="34" charset="0"/>
              <a:buChar char="•"/>
            </a:pPr>
            <a:r>
              <a:rPr lang="en-US" sz="2800" dirty="0">
                <a:latin typeface="Calibir"/>
              </a:rPr>
              <a:t>HTML syntax</a:t>
            </a:r>
          </a:p>
        </p:txBody>
      </p:sp>
    </p:spTree>
    <p:extLst>
      <p:ext uri="{BB962C8B-B14F-4D97-AF65-F5344CB8AC3E}">
        <p14:creationId xmlns:p14="http://schemas.microsoft.com/office/powerpoint/2010/main" val="10571420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133E57-F108-D45E-5BC8-4D94A5029BB2}"/>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D5B97DBC-B42B-A8B0-B8D6-306C89D5CE24}"/>
              </a:ext>
            </a:extLst>
          </p:cNvPr>
          <p:cNvSpPr txBox="1"/>
          <p:nvPr/>
        </p:nvSpPr>
        <p:spPr>
          <a:xfrm>
            <a:off x="0" y="0"/>
            <a:ext cx="8976732" cy="584775"/>
          </a:xfrm>
          <a:prstGeom prst="rect">
            <a:avLst/>
          </a:prstGeom>
          <a:noFill/>
        </p:spPr>
        <p:txBody>
          <a:bodyPr wrap="square" rtlCol="0">
            <a:spAutoFit/>
          </a:bodyPr>
          <a:lstStyle/>
          <a:p>
            <a:pPr lvl="0">
              <a:defRPr/>
            </a:pPr>
            <a:r>
              <a:rPr lang="en-US" sz="3200" b="1" dirty="0">
                <a:latin typeface="Calibir"/>
              </a:rPr>
              <a:t>How to Study Properly for This Unit</a:t>
            </a:r>
            <a:endParaRPr kumimoji="0" lang="en-US" sz="3200" b="1" i="0" u="none" strike="noStrike" kern="1200" cap="none" spc="0" normalizeH="0" baseline="0" noProof="0" dirty="0">
              <a:ln>
                <a:noFill/>
              </a:ln>
              <a:solidFill>
                <a:prstClr val="black"/>
              </a:solidFill>
              <a:effectLst/>
              <a:uLnTx/>
              <a:uFillTx/>
              <a:latin typeface="Calibir"/>
              <a:cs typeface="Calibri" panose="020F0502020204030204" pitchFamily="34" charset="0"/>
            </a:endParaRPr>
          </a:p>
        </p:txBody>
      </p:sp>
      <p:sp>
        <p:nvSpPr>
          <p:cNvPr id="5" name="TextBox 4">
            <a:extLst>
              <a:ext uri="{FF2B5EF4-FFF2-40B4-BE49-F238E27FC236}">
                <a16:creationId xmlns:a16="http://schemas.microsoft.com/office/drawing/2014/main" id="{C793C143-F6A4-1056-DE7A-CF37B6767538}"/>
              </a:ext>
            </a:extLst>
          </p:cNvPr>
          <p:cNvSpPr txBox="1"/>
          <p:nvPr/>
        </p:nvSpPr>
        <p:spPr>
          <a:xfrm>
            <a:off x="0" y="1154082"/>
            <a:ext cx="12061603" cy="1964512"/>
          </a:xfrm>
          <a:prstGeom prst="rect">
            <a:avLst/>
          </a:prstGeom>
          <a:noFill/>
        </p:spPr>
        <p:txBody>
          <a:bodyPr wrap="square">
            <a:spAutoFit/>
          </a:bodyPr>
          <a:lstStyle/>
          <a:p>
            <a:pPr>
              <a:lnSpc>
                <a:spcPct val="150000"/>
              </a:lnSpc>
            </a:pPr>
            <a:r>
              <a:rPr lang="en-US" sz="2800" b="1" dirty="0">
                <a:latin typeface="Calibir"/>
              </a:rPr>
              <a:t>Hint 5 – Start Group Assignment Early</a:t>
            </a:r>
          </a:p>
          <a:p>
            <a:pPr>
              <a:lnSpc>
                <a:spcPct val="150000"/>
              </a:lnSpc>
            </a:pPr>
            <a:r>
              <a:rPr lang="en-US" sz="2800" dirty="0">
                <a:latin typeface="Calibir"/>
              </a:rPr>
              <a:t>The group assignment is worth 60%.</a:t>
            </a:r>
          </a:p>
          <a:p>
            <a:pPr>
              <a:lnSpc>
                <a:spcPct val="150000"/>
              </a:lnSpc>
            </a:pPr>
            <a:r>
              <a:rPr lang="en-US" sz="2800" dirty="0">
                <a:latin typeface="Calibir"/>
              </a:rPr>
              <a:t>Do not wait until the final weeks.</a:t>
            </a:r>
          </a:p>
        </p:txBody>
      </p:sp>
    </p:spTree>
    <p:extLst>
      <p:ext uri="{BB962C8B-B14F-4D97-AF65-F5344CB8AC3E}">
        <p14:creationId xmlns:p14="http://schemas.microsoft.com/office/powerpoint/2010/main" val="94133561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46177A-171A-2A47-5347-6487EBDF6817}"/>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1C90A14D-C870-1B04-3119-D876B8DAEF83}"/>
              </a:ext>
            </a:extLst>
          </p:cNvPr>
          <p:cNvSpPr txBox="1"/>
          <p:nvPr/>
        </p:nvSpPr>
        <p:spPr>
          <a:xfrm>
            <a:off x="0" y="0"/>
            <a:ext cx="8976732" cy="584775"/>
          </a:xfrm>
          <a:prstGeom prst="rect">
            <a:avLst/>
          </a:prstGeom>
          <a:noFill/>
        </p:spPr>
        <p:txBody>
          <a:bodyPr wrap="square" rtlCol="0">
            <a:spAutoFit/>
          </a:bodyPr>
          <a:lstStyle/>
          <a:p>
            <a:pPr lvl="0">
              <a:defRPr/>
            </a:pPr>
            <a:r>
              <a:rPr lang="en-US" sz="3200" b="1" dirty="0">
                <a:latin typeface="Calibir"/>
              </a:rPr>
              <a:t>How to Study Properly for This Unit</a:t>
            </a:r>
            <a:endParaRPr kumimoji="0" lang="en-US" sz="3200" b="1" i="0" u="none" strike="noStrike" kern="1200" cap="none" spc="0" normalizeH="0" baseline="0" noProof="0" dirty="0">
              <a:ln>
                <a:noFill/>
              </a:ln>
              <a:solidFill>
                <a:prstClr val="black"/>
              </a:solidFill>
              <a:effectLst/>
              <a:uLnTx/>
              <a:uFillTx/>
              <a:latin typeface="Calibir"/>
              <a:cs typeface="Calibri" panose="020F0502020204030204" pitchFamily="34" charset="0"/>
            </a:endParaRPr>
          </a:p>
        </p:txBody>
      </p:sp>
      <p:sp>
        <p:nvSpPr>
          <p:cNvPr id="5" name="TextBox 4">
            <a:extLst>
              <a:ext uri="{FF2B5EF4-FFF2-40B4-BE49-F238E27FC236}">
                <a16:creationId xmlns:a16="http://schemas.microsoft.com/office/drawing/2014/main" id="{ACF51AF5-9E88-11E8-D10C-F1C0A2688C60}"/>
              </a:ext>
            </a:extLst>
          </p:cNvPr>
          <p:cNvSpPr txBox="1"/>
          <p:nvPr/>
        </p:nvSpPr>
        <p:spPr>
          <a:xfrm>
            <a:off x="0" y="1154082"/>
            <a:ext cx="12061603" cy="4549835"/>
          </a:xfrm>
          <a:prstGeom prst="rect">
            <a:avLst/>
          </a:prstGeom>
          <a:noFill/>
        </p:spPr>
        <p:txBody>
          <a:bodyPr wrap="square">
            <a:spAutoFit/>
          </a:bodyPr>
          <a:lstStyle/>
          <a:p>
            <a:pPr>
              <a:lnSpc>
                <a:spcPct val="150000"/>
              </a:lnSpc>
            </a:pPr>
            <a:r>
              <a:rPr lang="en-US" sz="2800" b="1" dirty="0">
                <a:latin typeface="Calibir"/>
              </a:rPr>
              <a:t>8. Group Assignment Survival Guide</a:t>
            </a:r>
          </a:p>
          <a:p>
            <a:pPr>
              <a:lnSpc>
                <a:spcPct val="150000"/>
              </a:lnSpc>
            </a:pPr>
            <a:r>
              <a:rPr lang="en-US" sz="2800" b="1" dirty="0">
                <a:latin typeface="Calibir"/>
              </a:rPr>
              <a:t>What You Must Do</a:t>
            </a:r>
          </a:p>
          <a:p>
            <a:pPr>
              <a:lnSpc>
                <a:spcPct val="150000"/>
              </a:lnSpc>
            </a:pPr>
            <a:r>
              <a:rPr lang="en-US" sz="2800" b="1" dirty="0">
                <a:latin typeface="Calibir"/>
              </a:rPr>
              <a:t>Before Coding</a:t>
            </a:r>
          </a:p>
          <a:p>
            <a:pPr marL="914400" lvl="1" indent="-457200">
              <a:lnSpc>
                <a:spcPct val="150000"/>
              </a:lnSpc>
              <a:buFont typeface="Arial" panose="020B0604020202020204" pitchFamily="34" charset="0"/>
              <a:buChar char="•"/>
            </a:pPr>
            <a:r>
              <a:rPr lang="en-US" sz="2800" dirty="0">
                <a:latin typeface="Calibir"/>
              </a:rPr>
              <a:t>Understand business scenario </a:t>
            </a:r>
          </a:p>
          <a:p>
            <a:pPr marL="914400" lvl="1" indent="-457200">
              <a:lnSpc>
                <a:spcPct val="150000"/>
              </a:lnSpc>
              <a:buFont typeface="Arial" panose="020B0604020202020204" pitchFamily="34" charset="0"/>
              <a:buChar char="•"/>
            </a:pPr>
            <a:r>
              <a:rPr lang="en-US" sz="2800" dirty="0">
                <a:latin typeface="Calibir"/>
              </a:rPr>
              <a:t>Plan the website </a:t>
            </a:r>
          </a:p>
          <a:p>
            <a:pPr marL="914400" lvl="1" indent="-457200">
              <a:lnSpc>
                <a:spcPct val="150000"/>
              </a:lnSpc>
              <a:buFont typeface="Arial" panose="020B0604020202020204" pitchFamily="34" charset="0"/>
              <a:buChar char="•"/>
            </a:pPr>
            <a:r>
              <a:rPr lang="en-US" sz="2800" dirty="0">
                <a:latin typeface="Calibir"/>
              </a:rPr>
              <a:t>Draw wireframes </a:t>
            </a:r>
          </a:p>
          <a:p>
            <a:pPr marL="914400" lvl="1" indent="-457200">
              <a:lnSpc>
                <a:spcPct val="150000"/>
              </a:lnSpc>
              <a:buFont typeface="Arial" panose="020B0604020202020204" pitchFamily="34" charset="0"/>
              <a:buChar char="•"/>
            </a:pPr>
            <a:r>
              <a:rPr lang="en-US" sz="2800" dirty="0">
                <a:latin typeface="Calibir"/>
              </a:rPr>
              <a:t>Decide responsibilities</a:t>
            </a:r>
          </a:p>
        </p:txBody>
      </p:sp>
    </p:spTree>
    <p:extLst>
      <p:ext uri="{BB962C8B-B14F-4D97-AF65-F5344CB8AC3E}">
        <p14:creationId xmlns:p14="http://schemas.microsoft.com/office/powerpoint/2010/main" val="1441198964"/>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D06469-02C6-F9D2-6FF5-B934CD934FA7}"/>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1DEB210B-5A9C-C903-9945-622A646E25A7}"/>
              </a:ext>
            </a:extLst>
          </p:cNvPr>
          <p:cNvSpPr txBox="1"/>
          <p:nvPr/>
        </p:nvSpPr>
        <p:spPr>
          <a:xfrm>
            <a:off x="0" y="0"/>
            <a:ext cx="8976732" cy="584775"/>
          </a:xfrm>
          <a:prstGeom prst="rect">
            <a:avLst/>
          </a:prstGeom>
          <a:noFill/>
        </p:spPr>
        <p:txBody>
          <a:bodyPr wrap="square" rtlCol="0">
            <a:spAutoFit/>
          </a:bodyPr>
          <a:lstStyle/>
          <a:p>
            <a:pPr lvl="0">
              <a:defRPr/>
            </a:pPr>
            <a:r>
              <a:rPr lang="en-US" sz="3200" b="1" dirty="0">
                <a:latin typeface="Calibir"/>
              </a:rPr>
              <a:t>How to Study Properly for This Unit</a:t>
            </a:r>
            <a:endParaRPr kumimoji="0" lang="en-US" sz="3200" b="1" i="0" u="none" strike="noStrike" kern="1200" cap="none" spc="0" normalizeH="0" baseline="0" noProof="0" dirty="0">
              <a:ln>
                <a:noFill/>
              </a:ln>
              <a:solidFill>
                <a:prstClr val="black"/>
              </a:solidFill>
              <a:effectLst/>
              <a:uLnTx/>
              <a:uFillTx/>
              <a:latin typeface="Calibir"/>
              <a:cs typeface="Calibri" panose="020F0502020204030204" pitchFamily="34" charset="0"/>
            </a:endParaRPr>
          </a:p>
        </p:txBody>
      </p:sp>
      <p:sp>
        <p:nvSpPr>
          <p:cNvPr id="5" name="TextBox 4">
            <a:extLst>
              <a:ext uri="{FF2B5EF4-FFF2-40B4-BE49-F238E27FC236}">
                <a16:creationId xmlns:a16="http://schemas.microsoft.com/office/drawing/2014/main" id="{9419B5A9-D2EA-C76C-332F-1065F8C79FC2}"/>
              </a:ext>
            </a:extLst>
          </p:cNvPr>
          <p:cNvSpPr txBox="1"/>
          <p:nvPr/>
        </p:nvSpPr>
        <p:spPr>
          <a:xfrm>
            <a:off x="0" y="1154082"/>
            <a:ext cx="12061603" cy="4549835"/>
          </a:xfrm>
          <a:prstGeom prst="rect">
            <a:avLst/>
          </a:prstGeom>
          <a:noFill/>
        </p:spPr>
        <p:txBody>
          <a:bodyPr wrap="square">
            <a:spAutoFit/>
          </a:bodyPr>
          <a:lstStyle/>
          <a:p>
            <a:pPr>
              <a:lnSpc>
                <a:spcPct val="150000"/>
              </a:lnSpc>
            </a:pPr>
            <a:r>
              <a:rPr lang="en-US" sz="2800" b="1" dirty="0">
                <a:latin typeface="Calibir"/>
              </a:rPr>
              <a:t>Teamwork Tips</a:t>
            </a:r>
          </a:p>
          <a:p>
            <a:pPr>
              <a:lnSpc>
                <a:spcPct val="150000"/>
              </a:lnSpc>
            </a:pPr>
            <a:r>
              <a:rPr lang="en-US" sz="2800" dirty="0">
                <a:latin typeface="Calibir"/>
              </a:rPr>
              <a:t>Divide tasks:</a:t>
            </a:r>
          </a:p>
          <a:p>
            <a:pPr marL="914400" lvl="1" indent="-457200">
              <a:lnSpc>
                <a:spcPct val="150000"/>
              </a:lnSpc>
              <a:buFont typeface="Arial" panose="020B0604020202020204" pitchFamily="34" charset="0"/>
              <a:buChar char="•"/>
            </a:pPr>
            <a:r>
              <a:rPr lang="en-US" sz="2800" dirty="0">
                <a:latin typeface="Calibir"/>
              </a:rPr>
              <a:t>HTML pages </a:t>
            </a:r>
          </a:p>
          <a:p>
            <a:pPr marL="914400" lvl="1" indent="-457200">
              <a:lnSpc>
                <a:spcPct val="150000"/>
              </a:lnSpc>
              <a:buFont typeface="Arial" panose="020B0604020202020204" pitchFamily="34" charset="0"/>
              <a:buChar char="•"/>
            </a:pPr>
            <a:r>
              <a:rPr lang="en-US" sz="2800" dirty="0">
                <a:latin typeface="Calibir"/>
              </a:rPr>
              <a:t>CSS styling </a:t>
            </a:r>
          </a:p>
          <a:p>
            <a:pPr marL="914400" lvl="1" indent="-457200">
              <a:lnSpc>
                <a:spcPct val="150000"/>
              </a:lnSpc>
              <a:buFont typeface="Arial" panose="020B0604020202020204" pitchFamily="34" charset="0"/>
              <a:buChar char="•"/>
            </a:pPr>
            <a:r>
              <a:rPr lang="en-US" sz="2800" dirty="0">
                <a:latin typeface="Calibir"/>
              </a:rPr>
              <a:t>Images/content </a:t>
            </a:r>
          </a:p>
          <a:p>
            <a:pPr marL="914400" lvl="1" indent="-457200">
              <a:lnSpc>
                <a:spcPct val="150000"/>
              </a:lnSpc>
              <a:buFont typeface="Arial" panose="020B0604020202020204" pitchFamily="34" charset="0"/>
              <a:buChar char="•"/>
            </a:pPr>
            <a:r>
              <a:rPr lang="en-US" sz="2800" dirty="0">
                <a:latin typeface="Calibir"/>
              </a:rPr>
              <a:t>Testing </a:t>
            </a:r>
          </a:p>
          <a:p>
            <a:pPr marL="914400" lvl="1" indent="-457200">
              <a:lnSpc>
                <a:spcPct val="150000"/>
              </a:lnSpc>
              <a:buFont typeface="Arial" panose="020B0604020202020204" pitchFamily="34" charset="0"/>
              <a:buChar char="•"/>
            </a:pPr>
            <a:r>
              <a:rPr lang="en-US" sz="2800" dirty="0">
                <a:latin typeface="Calibir"/>
              </a:rPr>
              <a:t>Documentation</a:t>
            </a:r>
          </a:p>
        </p:txBody>
      </p:sp>
    </p:spTree>
    <p:extLst>
      <p:ext uri="{BB962C8B-B14F-4D97-AF65-F5344CB8AC3E}">
        <p14:creationId xmlns:p14="http://schemas.microsoft.com/office/powerpoint/2010/main" val="190399451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63E0F1-2D62-5D08-8695-29012FC679B2}"/>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6FA39649-B407-7E6E-39EB-444145FF9584}"/>
              </a:ext>
            </a:extLst>
          </p:cNvPr>
          <p:cNvSpPr txBox="1"/>
          <p:nvPr/>
        </p:nvSpPr>
        <p:spPr>
          <a:xfrm>
            <a:off x="0" y="0"/>
            <a:ext cx="8976732" cy="584775"/>
          </a:xfrm>
          <a:prstGeom prst="rect">
            <a:avLst/>
          </a:prstGeom>
          <a:noFill/>
        </p:spPr>
        <p:txBody>
          <a:bodyPr wrap="square" rtlCol="0">
            <a:spAutoFit/>
          </a:bodyPr>
          <a:lstStyle/>
          <a:p>
            <a:pPr lvl="0">
              <a:defRPr/>
            </a:pPr>
            <a:r>
              <a:rPr lang="en-US" sz="3200" b="1" dirty="0">
                <a:latin typeface="Calibir"/>
              </a:rPr>
              <a:t>How to Study Properly for This Unit</a:t>
            </a:r>
            <a:endParaRPr kumimoji="0" lang="en-US" sz="3200" b="1" i="0" u="none" strike="noStrike" kern="1200" cap="none" spc="0" normalizeH="0" baseline="0" noProof="0" dirty="0">
              <a:ln>
                <a:noFill/>
              </a:ln>
              <a:solidFill>
                <a:prstClr val="black"/>
              </a:solidFill>
              <a:effectLst/>
              <a:uLnTx/>
              <a:uFillTx/>
              <a:latin typeface="Calibir"/>
              <a:cs typeface="Calibri" panose="020F0502020204030204" pitchFamily="34" charset="0"/>
            </a:endParaRPr>
          </a:p>
        </p:txBody>
      </p:sp>
      <p:sp>
        <p:nvSpPr>
          <p:cNvPr id="5" name="TextBox 4">
            <a:extLst>
              <a:ext uri="{FF2B5EF4-FFF2-40B4-BE49-F238E27FC236}">
                <a16:creationId xmlns:a16="http://schemas.microsoft.com/office/drawing/2014/main" id="{35380CAA-5765-58C4-7D5E-074D702D467B}"/>
              </a:ext>
            </a:extLst>
          </p:cNvPr>
          <p:cNvSpPr txBox="1"/>
          <p:nvPr/>
        </p:nvSpPr>
        <p:spPr>
          <a:xfrm>
            <a:off x="0" y="1154082"/>
            <a:ext cx="12061603" cy="3903504"/>
          </a:xfrm>
          <a:prstGeom prst="rect">
            <a:avLst/>
          </a:prstGeom>
          <a:noFill/>
        </p:spPr>
        <p:txBody>
          <a:bodyPr wrap="square">
            <a:spAutoFit/>
          </a:bodyPr>
          <a:lstStyle/>
          <a:p>
            <a:pPr>
              <a:lnSpc>
                <a:spcPct val="150000"/>
              </a:lnSpc>
            </a:pPr>
            <a:r>
              <a:rPr lang="en-US" sz="2800" b="1" dirty="0">
                <a:latin typeface="Calibir"/>
              </a:rPr>
              <a:t>Communication</a:t>
            </a:r>
          </a:p>
          <a:p>
            <a:pPr>
              <a:lnSpc>
                <a:spcPct val="150000"/>
              </a:lnSpc>
            </a:pPr>
            <a:r>
              <a:rPr lang="en-US" sz="2800" dirty="0">
                <a:latin typeface="Calibir"/>
              </a:rPr>
              <a:t>Use:</a:t>
            </a:r>
          </a:p>
          <a:p>
            <a:pPr marL="914400" lvl="1" indent="-457200">
              <a:lnSpc>
                <a:spcPct val="150000"/>
              </a:lnSpc>
              <a:buFont typeface="Arial" panose="020B0604020202020204" pitchFamily="34" charset="0"/>
              <a:buChar char="•"/>
            </a:pPr>
            <a:r>
              <a:rPr lang="en-US" sz="2800" dirty="0">
                <a:latin typeface="Calibir"/>
              </a:rPr>
              <a:t>WhatsApp </a:t>
            </a:r>
          </a:p>
          <a:p>
            <a:pPr marL="914400" lvl="1" indent="-457200">
              <a:lnSpc>
                <a:spcPct val="150000"/>
              </a:lnSpc>
              <a:buFont typeface="Arial" panose="020B0604020202020204" pitchFamily="34" charset="0"/>
              <a:buChar char="•"/>
            </a:pPr>
            <a:r>
              <a:rPr lang="en-US" sz="2800" dirty="0">
                <a:latin typeface="Calibir"/>
              </a:rPr>
              <a:t>Teams </a:t>
            </a:r>
          </a:p>
          <a:p>
            <a:pPr marL="914400" lvl="1" indent="-457200">
              <a:lnSpc>
                <a:spcPct val="150000"/>
              </a:lnSpc>
              <a:buFont typeface="Arial" panose="020B0604020202020204" pitchFamily="34" charset="0"/>
              <a:buChar char="•"/>
            </a:pPr>
            <a:r>
              <a:rPr lang="en-US" sz="2800" dirty="0">
                <a:latin typeface="Calibir"/>
              </a:rPr>
              <a:t>Google Drive </a:t>
            </a:r>
          </a:p>
          <a:p>
            <a:pPr>
              <a:lnSpc>
                <a:spcPct val="150000"/>
              </a:lnSpc>
            </a:pPr>
            <a:r>
              <a:rPr lang="en-US" sz="2800" dirty="0">
                <a:latin typeface="Calibir"/>
              </a:rPr>
              <a:t>Meet weekly.</a:t>
            </a:r>
          </a:p>
        </p:txBody>
      </p:sp>
    </p:spTree>
    <p:extLst>
      <p:ext uri="{BB962C8B-B14F-4D97-AF65-F5344CB8AC3E}">
        <p14:creationId xmlns:p14="http://schemas.microsoft.com/office/powerpoint/2010/main" val="245637487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79126B-23A7-1DAB-0A59-06FE20459BF9}"/>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955ECD26-110C-85AB-EB91-E852F8F0A12A}"/>
              </a:ext>
            </a:extLst>
          </p:cNvPr>
          <p:cNvSpPr txBox="1"/>
          <p:nvPr/>
        </p:nvSpPr>
        <p:spPr>
          <a:xfrm>
            <a:off x="0" y="0"/>
            <a:ext cx="8976732" cy="584775"/>
          </a:xfrm>
          <a:prstGeom prst="rect">
            <a:avLst/>
          </a:prstGeom>
          <a:noFill/>
        </p:spPr>
        <p:txBody>
          <a:bodyPr wrap="square" rtlCol="0">
            <a:spAutoFit/>
          </a:bodyPr>
          <a:lstStyle/>
          <a:p>
            <a:pPr lvl="0">
              <a:defRPr/>
            </a:pPr>
            <a:r>
              <a:rPr lang="en-US" sz="3200" b="1" dirty="0">
                <a:latin typeface="Calibir"/>
              </a:rPr>
              <a:t>How to Study Properly for This Unit</a:t>
            </a:r>
            <a:endParaRPr kumimoji="0" lang="en-US" sz="3200" b="1" i="0" u="none" strike="noStrike" kern="1200" cap="none" spc="0" normalizeH="0" baseline="0" noProof="0" dirty="0">
              <a:ln>
                <a:noFill/>
              </a:ln>
              <a:solidFill>
                <a:prstClr val="black"/>
              </a:solidFill>
              <a:effectLst/>
              <a:uLnTx/>
              <a:uFillTx/>
              <a:latin typeface="Calibir"/>
              <a:cs typeface="Calibri" panose="020F0502020204030204" pitchFamily="34" charset="0"/>
            </a:endParaRPr>
          </a:p>
        </p:txBody>
      </p:sp>
      <p:sp>
        <p:nvSpPr>
          <p:cNvPr id="5" name="TextBox 4">
            <a:extLst>
              <a:ext uri="{FF2B5EF4-FFF2-40B4-BE49-F238E27FC236}">
                <a16:creationId xmlns:a16="http://schemas.microsoft.com/office/drawing/2014/main" id="{D1B5F347-BAC8-9C4B-68B2-1D568147B3B2}"/>
              </a:ext>
            </a:extLst>
          </p:cNvPr>
          <p:cNvSpPr txBox="1"/>
          <p:nvPr/>
        </p:nvSpPr>
        <p:spPr>
          <a:xfrm>
            <a:off x="0" y="1154082"/>
            <a:ext cx="12061603" cy="4549835"/>
          </a:xfrm>
          <a:prstGeom prst="rect">
            <a:avLst/>
          </a:prstGeom>
          <a:noFill/>
        </p:spPr>
        <p:txBody>
          <a:bodyPr wrap="square">
            <a:spAutoFit/>
          </a:bodyPr>
          <a:lstStyle/>
          <a:p>
            <a:pPr>
              <a:lnSpc>
                <a:spcPct val="150000"/>
              </a:lnSpc>
            </a:pPr>
            <a:r>
              <a:rPr lang="en-US" sz="2800" b="1" dirty="0">
                <a:latin typeface="Calibir"/>
              </a:rPr>
              <a:t>Avoid These Problems</a:t>
            </a:r>
          </a:p>
          <a:p>
            <a:pPr>
              <a:lnSpc>
                <a:spcPct val="150000"/>
              </a:lnSpc>
            </a:pPr>
            <a:r>
              <a:rPr lang="en-US" sz="2800" b="1" dirty="0">
                <a:latin typeface="Calibir"/>
              </a:rPr>
              <a:t>Do NOT:</a:t>
            </a:r>
          </a:p>
          <a:p>
            <a:pPr marL="914400" lvl="1" indent="-457200">
              <a:lnSpc>
                <a:spcPct val="150000"/>
              </a:lnSpc>
              <a:buFont typeface="Arial" panose="020B0604020202020204" pitchFamily="34" charset="0"/>
              <a:buChar char="•"/>
            </a:pPr>
            <a:r>
              <a:rPr lang="en-US" sz="2800" dirty="0">
                <a:latin typeface="Calibir"/>
              </a:rPr>
              <a:t>copy websites </a:t>
            </a:r>
          </a:p>
          <a:p>
            <a:pPr marL="914400" lvl="1" indent="-457200">
              <a:lnSpc>
                <a:spcPct val="150000"/>
              </a:lnSpc>
              <a:buFont typeface="Arial" panose="020B0604020202020204" pitchFamily="34" charset="0"/>
              <a:buChar char="•"/>
            </a:pPr>
            <a:r>
              <a:rPr lang="en-US" sz="2800" dirty="0">
                <a:latin typeface="Calibir"/>
              </a:rPr>
              <a:t>leave work until last week </a:t>
            </a:r>
          </a:p>
          <a:p>
            <a:pPr marL="914400" lvl="1" indent="-457200">
              <a:lnSpc>
                <a:spcPct val="150000"/>
              </a:lnSpc>
              <a:buFont typeface="Arial" panose="020B0604020202020204" pitchFamily="34" charset="0"/>
              <a:buChar char="•"/>
            </a:pPr>
            <a:r>
              <a:rPr lang="en-US" sz="2800" dirty="0">
                <a:latin typeface="Calibir"/>
              </a:rPr>
              <a:t>depend on one team member </a:t>
            </a:r>
          </a:p>
          <a:p>
            <a:pPr marL="914400" lvl="1" indent="-457200">
              <a:lnSpc>
                <a:spcPct val="150000"/>
              </a:lnSpc>
              <a:buFont typeface="Arial" panose="020B0604020202020204" pitchFamily="34" charset="0"/>
              <a:buChar char="•"/>
            </a:pPr>
            <a:r>
              <a:rPr lang="en-US" sz="2800" dirty="0">
                <a:latin typeface="Calibir"/>
              </a:rPr>
              <a:t>ignore W3C validation </a:t>
            </a:r>
          </a:p>
          <a:p>
            <a:pPr marL="914400" lvl="1" indent="-457200">
              <a:lnSpc>
                <a:spcPct val="150000"/>
              </a:lnSpc>
              <a:buFont typeface="Arial" panose="020B0604020202020204" pitchFamily="34" charset="0"/>
              <a:buChar char="•"/>
            </a:pPr>
            <a:r>
              <a:rPr lang="en-US" sz="2800" dirty="0">
                <a:latin typeface="Calibir"/>
              </a:rPr>
              <a:t>submit unfinished pages</a:t>
            </a:r>
          </a:p>
        </p:txBody>
      </p:sp>
    </p:spTree>
    <p:extLst>
      <p:ext uri="{BB962C8B-B14F-4D97-AF65-F5344CB8AC3E}">
        <p14:creationId xmlns:p14="http://schemas.microsoft.com/office/powerpoint/2010/main" val="2890901043"/>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5FEE75-4F9C-A36E-313D-2FB9454FFF6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D7682167-B37C-7CD7-9C2B-ECA8ECF68B7E}"/>
              </a:ext>
            </a:extLst>
          </p:cNvPr>
          <p:cNvSpPr txBox="1"/>
          <p:nvPr/>
        </p:nvSpPr>
        <p:spPr>
          <a:xfrm>
            <a:off x="0" y="0"/>
            <a:ext cx="8976732" cy="584775"/>
          </a:xfrm>
          <a:prstGeom prst="rect">
            <a:avLst/>
          </a:prstGeom>
          <a:noFill/>
        </p:spPr>
        <p:txBody>
          <a:bodyPr wrap="square" rtlCol="0">
            <a:spAutoFit/>
          </a:bodyPr>
          <a:lstStyle/>
          <a:p>
            <a:pPr lvl="0">
              <a:defRPr/>
            </a:pPr>
            <a:r>
              <a:rPr lang="en-US" sz="3200" b="1" dirty="0">
                <a:latin typeface="Calibir"/>
              </a:rPr>
              <a:t>Common Mistakes Students Make</a:t>
            </a:r>
            <a:endParaRPr kumimoji="0" lang="en-US" sz="3200" b="1" i="0" u="none" strike="noStrike" kern="1200" cap="none" spc="0" normalizeH="0" baseline="0" noProof="0" dirty="0">
              <a:ln>
                <a:noFill/>
              </a:ln>
              <a:solidFill>
                <a:prstClr val="black"/>
              </a:solidFill>
              <a:effectLst/>
              <a:uLnTx/>
              <a:uFillTx/>
              <a:latin typeface="Calibir"/>
              <a:cs typeface="Calibri" panose="020F0502020204030204" pitchFamily="34" charset="0"/>
            </a:endParaRPr>
          </a:p>
        </p:txBody>
      </p:sp>
      <p:graphicFrame>
        <p:nvGraphicFramePr>
          <p:cNvPr id="2" name="Table 1">
            <a:extLst>
              <a:ext uri="{FF2B5EF4-FFF2-40B4-BE49-F238E27FC236}">
                <a16:creationId xmlns:a16="http://schemas.microsoft.com/office/drawing/2014/main" id="{7D069C84-1613-30DB-163C-F0B919EF5634}"/>
              </a:ext>
            </a:extLst>
          </p:cNvPr>
          <p:cNvGraphicFramePr>
            <a:graphicFrameLocks noGrp="1"/>
          </p:cNvGraphicFramePr>
          <p:nvPr>
            <p:extLst>
              <p:ext uri="{D42A27DB-BD31-4B8C-83A1-F6EECF244321}">
                <p14:modId xmlns:p14="http://schemas.microsoft.com/office/powerpoint/2010/main" val="2126827918"/>
              </p:ext>
            </p:extLst>
          </p:nvPr>
        </p:nvGraphicFramePr>
        <p:xfrm>
          <a:off x="631722" y="1172554"/>
          <a:ext cx="10515600" cy="5297551"/>
        </p:xfrm>
        <a:graphic>
          <a:graphicData uri="http://schemas.openxmlformats.org/drawingml/2006/table">
            <a:tbl>
              <a:tblPr>
                <a:tableStyleId>{BDBED569-4797-4DF1-A0F4-6AAB3CD982D8}</a:tableStyleId>
              </a:tblPr>
              <a:tblGrid>
                <a:gridCol w="5257800">
                  <a:extLst>
                    <a:ext uri="{9D8B030D-6E8A-4147-A177-3AD203B41FA5}">
                      <a16:colId xmlns:a16="http://schemas.microsoft.com/office/drawing/2014/main" val="4009957510"/>
                    </a:ext>
                  </a:extLst>
                </a:gridCol>
                <a:gridCol w="5257800">
                  <a:extLst>
                    <a:ext uri="{9D8B030D-6E8A-4147-A177-3AD203B41FA5}">
                      <a16:colId xmlns:a16="http://schemas.microsoft.com/office/drawing/2014/main" val="2112395628"/>
                    </a:ext>
                  </a:extLst>
                </a:gridCol>
              </a:tblGrid>
              <a:tr h="0">
                <a:tc>
                  <a:txBody>
                    <a:bodyPr/>
                    <a:lstStyle/>
                    <a:p>
                      <a:pPr>
                        <a:lnSpc>
                          <a:spcPct val="150000"/>
                        </a:lnSpc>
                        <a:buNone/>
                      </a:pPr>
                      <a:r>
                        <a:rPr lang="en-US" sz="2800" dirty="0">
                          <a:latin typeface="Calibir"/>
                        </a:rPr>
                        <a:t>Mistake</a:t>
                      </a:r>
                    </a:p>
                  </a:txBody>
                  <a:tcPr anchor="ctr">
                    <a:solidFill>
                      <a:schemeClr val="accent5">
                        <a:lumMod val="20000"/>
                        <a:lumOff val="80000"/>
                      </a:schemeClr>
                    </a:solidFill>
                  </a:tcPr>
                </a:tc>
                <a:tc>
                  <a:txBody>
                    <a:bodyPr/>
                    <a:lstStyle/>
                    <a:p>
                      <a:pPr>
                        <a:lnSpc>
                          <a:spcPct val="150000"/>
                        </a:lnSpc>
                        <a:buNone/>
                      </a:pPr>
                      <a:r>
                        <a:rPr lang="en-US" sz="2800" dirty="0">
                          <a:latin typeface="Calibir"/>
                        </a:rPr>
                        <a:t>Better Approach</a:t>
                      </a:r>
                    </a:p>
                  </a:txBody>
                  <a:tcPr anchor="ctr">
                    <a:solidFill>
                      <a:schemeClr val="accent5">
                        <a:lumMod val="20000"/>
                        <a:lumOff val="80000"/>
                      </a:schemeClr>
                    </a:solidFill>
                  </a:tcPr>
                </a:tc>
                <a:extLst>
                  <a:ext uri="{0D108BD9-81ED-4DB2-BD59-A6C34878D82A}">
                    <a16:rowId xmlns:a16="http://schemas.microsoft.com/office/drawing/2014/main" val="4144086616"/>
                  </a:ext>
                </a:extLst>
              </a:tr>
              <a:tr h="0">
                <a:tc>
                  <a:txBody>
                    <a:bodyPr/>
                    <a:lstStyle/>
                    <a:p>
                      <a:pPr>
                        <a:lnSpc>
                          <a:spcPct val="150000"/>
                        </a:lnSpc>
                        <a:buNone/>
                      </a:pPr>
                      <a:r>
                        <a:rPr lang="en-US" sz="2800">
                          <a:latin typeface="Calibir"/>
                        </a:rPr>
                        <a:t>Studying only before tests</a:t>
                      </a:r>
                    </a:p>
                  </a:txBody>
                  <a:tcPr anchor="ctr"/>
                </a:tc>
                <a:tc>
                  <a:txBody>
                    <a:bodyPr/>
                    <a:lstStyle/>
                    <a:p>
                      <a:pPr>
                        <a:lnSpc>
                          <a:spcPct val="150000"/>
                        </a:lnSpc>
                        <a:buNone/>
                      </a:pPr>
                      <a:r>
                        <a:rPr lang="en-US" sz="2800">
                          <a:latin typeface="Calibir"/>
                        </a:rPr>
                        <a:t>Study weekly</a:t>
                      </a:r>
                    </a:p>
                  </a:txBody>
                  <a:tcPr anchor="ctr"/>
                </a:tc>
                <a:extLst>
                  <a:ext uri="{0D108BD9-81ED-4DB2-BD59-A6C34878D82A}">
                    <a16:rowId xmlns:a16="http://schemas.microsoft.com/office/drawing/2014/main" val="3826647079"/>
                  </a:ext>
                </a:extLst>
              </a:tr>
              <a:tr h="0">
                <a:tc>
                  <a:txBody>
                    <a:bodyPr/>
                    <a:lstStyle/>
                    <a:p>
                      <a:pPr>
                        <a:lnSpc>
                          <a:spcPct val="150000"/>
                        </a:lnSpc>
                        <a:buNone/>
                      </a:pPr>
                      <a:r>
                        <a:rPr lang="en-US" sz="2800">
                          <a:latin typeface="Calibir"/>
                        </a:rPr>
                        <a:t>Copying code without understanding</a:t>
                      </a:r>
                    </a:p>
                  </a:txBody>
                  <a:tcPr anchor="ctr"/>
                </a:tc>
                <a:tc>
                  <a:txBody>
                    <a:bodyPr/>
                    <a:lstStyle/>
                    <a:p>
                      <a:pPr>
                        <a:lnSpc>
                          <a:spcPct val="150000"/>
                        </a:lnSpc>
                        <a:buNone/>
                      </a:pPr>
                      <a:r>
                        <a:rPr lang="en-US" sz="2800">
                          <a:latin typeface="Calibir"/>
                        </a:rPr>
                        <a:t>Type and practise yourself</a:t>
                      </a:r>
                    </a:p>
                  </a:txBody>
                  <a:tcPr anchor="ctr"/>
                </a:tc>
                <a:extLst>
                  <a:ext uri="{0D108BD9-81ED-4DB2-BD59-A6C34878D82A}">
                    <a16:rowId xmlns:a16="http://schemas.microsoft.com/office/drawing/2014/main" val="252164557"/>
                  </a:ext>
                </a:extLst>
              </a:tr>
              <a:tr h="0">
                <a:tc>
                  <a:txBody>
                    <a:bodyPr/>
                    <a:lstStyle/>
                    <a:p>
                      <a:pPr>
                        <a:lnSpc>
                          <a:spcPct val="150000"/>
                        </a:lnSpc>
                        <a:buNone/>
                      </a:pPr>
                      <a:r>
                        <a:rPr lang="en-US" sz="2800">
                          <a:latin typeface="Calibir"/>
                        </a:rPr>
                        <a:t>Ignoring tutorials</a:t>
                      </a:r>
                    </a:p>
                  </a:txBody>
                  <a:tcPr anchor="ctr"/>
                </a:tc>
                <a:tc>
                  <a:txBody>
                    <a:bodyPr/>
                    <a:lstStyle/>
                    <a:p>
                      <a:pPr>
                        <a:lnSpc>
                          <a:spcPct val="150000"/>
                        </a:lnSpc>
                        <a:buNone/>
                      </a:pPr>
                      <a:r>
                        <a:rPr lang="en-US" sz="2800">
                          <a:latin typeface="Calibir"/>
                        </a:rPr>
                        <a:t>Complete every tutorial</a:t>
                      </a:r>
                    </a:p>
                  </a:txBody>
                  <a:tcPr anchor="ctr"/>
                </a:tc>
                <a:extLst>
                  <a:ext uri="{0D108BD9-81ED-4DB2-BD59-A6C34878D82A}">
                    <a16:rowId xmlns:a16="http://schemas.microsoft.com/office/drawing/2014/main" val="1173549729"/>
                  </a:ext>
                </a:extLst>
              </a:tr>
              <a:tr h="0">
                <a:tc>
                  <a:txBody>
                    <a:bodyPr/>
                    <a:lstStyle/>
                    <a:p>
                      <a:pPr>
                        <a:lnSpc>
                          <a:spcPct val="150000"/>
                        </a:lnSpc>
                        <a:buNone/>
                      </a:pPr>
                      <a:r>
                        <a:rPr lang="en-US" sz="2800">
                          <a:latin typeface="Calibir"/>
                        </a:rPr>
                        <a:t>Poor file organization</a:t>
                      </a:r>
                    </a:p>
                  </a:txBody>
                  <a:tcPr anchor="ctr"/>
                </a:tc>
                <a:tc>
                  <a:txBody>
                    <a:bodyPr/>
                    <a:lstStyle/>
                    <a:p>
                      <a:pPr>
                        <a:lnSpc>
                          <a:spcPct val="150000"/>
                        </a:lnSpc>
                        <a:buNone/>
                      </a:pPr>
                      <a:r>
                        <a:rPr lang="en-US" sz="2800">
                          <a:latin typeface="Calibir"/>
                        </a:rPr>
                        <a:t>Use folders properly</a:t>
                      </a:r>
                    </a:p>
                  </a:txBody>
                  <a:tcPr anchor="ctr"/>
                </a:tc>
                <a:extLst>
                  <a:ext uri="{0D108BD9-81ED-4DB2-BD59-A6C34878D82A}">
                    <a16:rowId xmlns:a16="http://schemas.microsoft.com/office/drawing/2014/main" val="2830612871"/>
                  </a:ext>
                </a:extLst>
              </a:tr>
              <a:tr h="0">
                <a:tc>
                  <a:txBody>
                    <a:bodyPr/>
                    <a:lstStyle/>
                    <a:p>
                      <a:pPr>
                        <a:lnSpc>
                          <a:spcPct val="150000"/>
                        </a:lnSpc>
                        <a:buNone/>
                      </a:pPr>
                      <a:r>
                        <a:rPr lang="en-US" sz="2800">
                          <a:latin typeface="Calibir"/>
                        </a:rPr>
                        <a:t>Not testing webpages</a:t>
                      </a:r>
                    </a:p>
                  </a:txBody>
                  <a:tcPr anchor="ctr"/>
                </a:tc>
                <a:tc>
                  <a:txBody>
                    <a:bodyPr/>
                    <a:lstStyle/>
                    <a:p>
                      <a:pPr>
                        <a:lnSpc>
                          <a:spcPct val="150000"/>
                        </a:lnSpc>
                        <a:buNone/>
                      </a:pPr>
                      <a:r>
                        <a:rPr lang="en-US" sz="2800">
                          <a:latin typeface="Calibir"/>
                        </a:rPr>
                        <a:t>Test in browser often</a:t>
                      </a:r>
                    </a:p>
                  </a:txBody>
                  <a:tcPr anchor="ctr"/>
                </a:tc>
                <a:extLst>
                  <a:ext uri="{0D108BD9-81ED-4DB2-BD59-A6C34878D82A}">
                    <a16:rowId xmlns:a16="http://schemas.microsoft.com/office/drawing/2014/main" val="1852730218"/>
                  </a:ext>
                </a:extLst>
              </a:tr>
              <a:tr h="0">
                <a:tc>
                  <a:txBody>
                    <a:bodyPr/>
                    <a:lstStyle/>
                    <a:p>
                      <a:pPr>
                        <a:lnSpc>
                          <a:spcPct val="150000"/>
                        </a:lnSpc>
                        <a:buNone/>
                      </a:pPr>
                      <a:r>
                        <a:rPr lang="en-US" sz="2800" dirty="0">
                          <a:latin typeface="Calibir"/>
                        </a:rPr>
                        <a:t>Waiting too late for assignment</a:t>
                      </a:r>
                    </a:p>
                  </a:txBody>
                  <a:tcPr anchor="ctr"/>
                </a:tc>
                <a:tc>
                  <a:txBody>
                    <a:bodyPr/>
                    <a:lstStyle/>
                    <a:p>
                      <a:pPr>
                        <a:lnSpc>
                          <a:spcPct val="150000"/>
                        </a:lnSpc>
                        <a:buNone/>
                      </a:pPr>
                      <a:r>
                        <a:rPr lang="en-US" sz="2800" dirty="0">
                          <a:latin typeface="Calibir"/>
                        </a:rPr>
                        <a:t>Start early</a:t>
                      </a:r>
                    </a:p>
                  </a:txBody>
                  <a:tcPr anchor="ctr"/>
                </a:tc>
                <a:extLst>
                  <a:ext uri="{0D108BD9-81ED-4DB2-BD59-A6C34878D82A}">
                    <a16:rowId xmlns:a16="http://schemas.microsoft.com/office/drawing/2014/main" val="1717760165"/>
                  </a:ext>
                </a:extLst>
              </a:tr>
            </a:tbl>
          </a:graphicData>
        </a:graphic>
      </p:graphicFrame>
    </p:spTree>
    <p:extLst>
      <p:ext uri="{BB962C8B-B14F-4D97-AF65-F5344CB8AC3E}">
        <p14:creationId xmlns:p14="http://schemas.microsoft.com/office/powerpoint/2010/main" val="2817736644"/>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4898C5-1D2F-0105-0F10-37193A42C8F1}"/>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8C9EB3A3-4FED-E60A-1C12-1676BC480BB7}"/>
              </a:ext>
            </a:extLst>
          </p:cNvPr>
          <p:cNvSpPr txBox="1"/>
          <p:nvPr/>
        </p:nvSpPr>
        <p:spPr>
          <a:xfrm>
            <a:off x="0" y="0"/>
            <a:ext cx="8976732" cy="584775"/>
          </a:xfrm>
          <a:prstGeom prst="rect">
            <a:avLst/>
          </a:prstGeom>
          <a:noFill/>
        </p:spPr>
        <p:txBody>
          <a:bodyPr wrap="square" rtlCol="0">
            <a:spAutoFit/>
          </a:bodyPr>
          <a:lstStyle/>
          <a:p>
            <a:pPr lvl="0">
              <a:defRPr/>
            </a:pPr>
            <a:r>
              <a:rPr lang="en-US" sz="3200" b="1" dirty="0">
                <a:latin typeface="Calibir"/>
              </a:rPr>
              <a:t>Example Study Routine</a:t>
            </a:r>
            <a:endParaRPr kumimoji="0" lang="en-US" sz="3200" b="1" i="0" u="none" strike="noStrike" kern="1200" cap="none" spc="0" normalizeH="0" baseline="0" noProof="0" dirty="0">
              <a:ln>
                <a:noFill/>
              </a:ln>
              <a:solidFill>
                <a:prstClr val="black"/>
              </a:solidFill>
              <a:effectLst/>
              <a:uLnTx/>
              <a:uFillTx/>
              <a:latin typeface="Calibir"/>
              <a:cs typeface="Calibri" panose="020F0502020204030204" pitchFamily="34" charset="0"/>
            </a:endParaRPr>
          </a:p>
        </p:txBody>
      </p:sp>
      <p:sp>
        <p:nvSpPr>
          <p:cNvPr id="5" name="TextBox 4">
            <a:extLst>
              <a:ext uri="{FF2B5EF4-FFF2-40B4-BE49-F238E27FC236}">
                <a16:creationId xmlns:a16="http://schemas.microsoft.com/office/drawing/2014/main" id="{368C854F-ECF4-F836-39A5-A9460D42CE42}"/>
              </a:ext>
            </a:extLst>
          </p:cNvPr>
          <p:cNvSpPr txBox="1"/>
          <p:nvPr/>
        </p:nvSpPr>
        <p:spPr>
          <a:xfrm>
            <a:off x="110613" y="873663"/>
            <a:ext cx="6179574" cy="5866350"/>
          </a:xfrm>
          <a:prstGeom prst="rect">
            <a:avLst/>
          </a:prstGeom>
          <a:noFill/>
        </p:spPr>
        <p:txBody>
          <a:bodyPr wrap="square">
            <a:spAutoFit/>
          </a:bodyPr>
          <a:lstStyle/>
          <a:p>
            <a:pPr>
              <a:lnSpc>
                <a:spcPct val="150000"/>
              </a:lnSpc>
              <a:buNone/>
            </a:pPr>
            <a:r>
              <a:rPr lang="en-US" b="1" dirty="0">
                <a:latin typeface="Calibir"/>
              </a:rPr>
              <a:t>Each Week</a:t>
            </a:r>
          </a:p>
          <a:p>
            <a:pPr>
              <a:lnSpc>
                <a:spcPct val="150000"/>
              </a:lnSpc>
              <a:buNone/>
            </a:pPr>
            <a:r>
              <a:rPr lang="en-US" b="1" dirty="0">
                <a:latin typeface="Calibir"/>
              </a:rPr>
              <a:t>Before Class</a:t>
            </a:r>
          </a:p>
          <a:p>
            <a:pPr marL="742950" lvl="1" indent="-285750">
              <a:lnSpc>
                <a:spcPct val="150000"/>
              </a:lnSpc>
              <a:buFont typeface="Arial" panose="020B0604020202020204" pitchFamily="34" charset="0"/>
              <a:buChar char="•"/>
            </a:pPr>
            <a:r>
              <a:rPr lang="en-US" dirty="0">
                <a:latin typeface="Calibir"/>
              </a:rPr>
              <a:t>Read lecture slides </a:t>
            </a:r>
          </a:p>
          <a:p>
            <a:pPr marL="742950" lvl="1" indent="-285750">
              <a:lnSpc>
                <a:spcPct val="150000"/>
              </a:lnSpc>
              <a:buFont typeface="Arial" panose="020B0604020202020204" pitchFamily="34" charset="0"/>
              <a:buChar char="•"/>
            </a:pPr>
            <a:r>
              <a:rPr lang="en-US" dirty="0">
                <a:latin typeface="Calibir"/>
              </a:rPr>
              <a:t>Watch short HTML/CSS videos </a:t>
            </a:r>
          </a:p>
          <a:p>
            <a:pPr>
              <a:lnSpc>
                <a:spcPct val="150000"/>
              </a:lnSpc>
              <a:buNone/>
            </a:pPr>
            <a:r>
              <a:rPr lang="en-US" b="1" dirty="0">
                <a:latin typeface="Calibir"/>
              </a:rPr>
              <a:t>During Class</a:t>
            </a:r>
          </a:p>
          <a:p>
            <a:pPr marL="742950" lvl="1" indent="-285750">
              <a:lnSpc>
                <a:spcPct val="150000"/>
              </a:lnSpc>
              <a:buFont typeface="Arial" panose="020B0604020202020204" pitchFamily="34" charset="0"/>
              <a:buChar char="•"/>
            </a:pPr>
            <a:r>
              <a:rPr lang="en-US" dirty="0">
                <a:latin typeface="Calibir"/>
              </a:rPr>
              <a:t>Take notes </a:t>
            </a:r>
          </a:p>
          <a:p>
            <a:pPr marL="742950" lvl="1" indent="-285750">
              <a:lnSpc>
                <a:spcPct val="150000"/>
              </a:lnSpc>
              <a:buFont typeface="Arial" panose="020B0604020202020204" pitchFamily="34" charset="0"/>
              <a:buChar char="•"/>
            </a:pPr>
            <a:r>
              <a:rPr lang="en-US" dirty="0">
                <a:latin typeface="Calibir"/>
              </a:rPr>
              <a:t>Follow coding demonstrations </a:t>
            </a:r>
          </a:p>
          <a:p>
            <a:pPr>
              <a:lnSpc>
                <a:spcPct val="150000"/>
              </a:lnSpc>
              <a:buNone/>
            </a:pPr>
            <a:r>
              <a:rPr lang="en-US" b="1" dirty="0">
                <a:latin typeface="Calibir"/>
              </a:rPr>
              <a:t>After Class</a:t>
            </a:r>
          </a:p>
          <a:p>
            <a:pPr marL="742950" lvl="1" indent="-285750">
              <a:lnSpc>
                <a:spcPct val="150000"/>
              </a:lnSpc>
              <a:buFont typeface="Arial" panose="020B0604020202020204" pitchFamily="34" charset="0"/>
              <a:buChar char="•"/>
            </a:pPr>
            <a:r>
              <a:rPr lang="en-US" dirty="0">
                <a:latin typeface="Calibir"/>
              </a:rPr>
              <a:t>Rebuild examples </a:t>
            </a:r>
          </a:p>
          <a:p>
            <a:pPr marL="742950" lvl="1" indent="-285750">
              <a:lnSpc>
                <a:spcPct val="150000"/>
              </a:lnSpc>
              <a:buFont typeface="Arial" panose="020B0604020202020204" pitchFamily="34" charset="0"/>
              <a:buChar char="•"/>
            </a:pPr>
            <a:r>
              <a:rPr lang="en-US" dirty="0">
                <a:latin typeface="Calibir"/>
              </a:rPr>
              <a:t>Complete tutorial questions </a:t>
            </a:r>
          </a:p>
          <a:p>
            <a:pPr marL="742950" lvl="1" indent="-285750">
              <a:lnSpc>
                <a:spcPct val="150000"/>
              </a:lnSpc>
              <a:buFont typeface="Arial" panose="020B0604020202020204" pitchFamily="34" charset="0"/>
              <a:buChar char="•"/>
            </a:pPr>
            <a:r>
              <a:rPr lang="en-US" dirty="0">
                <a:latin typeface="Calibir"/>
              </a:rPr>
              <a:t>Practice coding </a:t>
            </a:r>
          </a:p>
          <a:p>
            <a:pPr>
              <a:lnSpc>
                <a:spcPct val="150000"/>
              </a:lnSpc>
              <a:buNone/>
            </a:pPr>
            <a:r>
              <a:rPr lang="en-US" b="1" dirty="0">
                <a:latin typeface="Calibir"/>
              </a:rPr>
              <a:t>Weekend</a:t>
            </a:r>
          </a:p>
          <a:p>
            <a:pPr marL="742950" lvl="1" indent="-285750">
              <a:lnSpc>
                <a:spcPct val="150000"/>
              </a:lnSpc>
              <a:buFont typeface="Arial" panose="020B0604020202020204" pitchFamily="34" charset="0"/>
              <a:buChar char="•"/>
            </a:pPr>
            <a:r>
              <a:rPr lang="en-US" dirty="0">
                <a:latin typeface="Calibir"/>
              </a:rPr>
              <a:t>Review all weekly topics </a:t>
            </a:r>
          </a:p>
          <a:p>
            <a:pPr marL="742950" lvl="1" indent="-285750">
              <a:lnSpc>
                <a:spcPct val="150000"/>
              </a:lnSpc>
              <a:buFont typeface="Arial" panose="020B0604020202020204" pitchFamily="34" charset="0"/>
              <a:buChar char="•"/>
            </a:pPr>
            <a:r>
              <a:rPr lang="en-US" dirty="0">
                <a:latin typeface="Calibir"/>
              </a:rPr>
              <a:t>Build one small webpage</a:t>
            </a:r>
          </a:p>
        </p:txBody>
      </p:sp>
    </p:spTree>
    <p:extLst>
      <p:ext uri="{BB962C8B-B14F-4D97-AF65-F5344CB8AC3E}">
        <p14:creationId xmlns:p14="http://schemas.microsoft.com/office/powerpoint/2010/main" val="3555603794"/>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F6FC22-1BA2-9EDB-0E07-7553F0E63AE5}"/>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7D47C591-4D4E-F0EC-E064-4C8273E45365}"/>
              </a:ext>
            </a:extLst>
          </p:cNvPr>
          <p:cNvSpPr txBox="1"/>
          <p:nvPr/>
        </p:nvSpPr>
        <p:spPr>
          <a:xfrm>
            <a:off x="0" y="0"/>
            <a:ext cx="8976732" cy="584775"/>
          </a:xfrm>
          <a:prstGeom prst="rect">
            <a:avLst/>
          </a:prstGeom>
          <a:noFill/>
        </p:spPr>
        <p:txBody>
          <a:bodyPr wrap="square" rtlCol="0">
            <a:spAutoFit/>
          </a:bodyPr>
          <a:lstStyle/>
          <a:p>
            <a:pPr lvl="0">
              <a:defRPr/>
            </a:pPr>
            <a:r>
              <a:rPr lang="en-US" sz="3200" b="1" dirty="0">
                <a:solidFill>
                  <a:prstClr val="black"/>
                </a:solidFill>
                <a:latin typeface="Calibri" panose="020F0502020204030204" pitchFamily="34" charset="0"/>
                <a:cs typeface="Calibri" panose="020F0502020204030204" pitchFamily="34" charset="0"/>
              </a:rPr>
              <a:t>Important Lab Test Schedule</a:t>
            </a:r>
            <a:endParaRPr kumimoji="0" lang="en-US" sz="3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graphicFrame>
        <p:nvGraphicFramePr>
          <p:cNvPr id="2" name="Table 1">
            <a:extLst>
              <a:ext uri="{FF2B5EF4-FFF2-40B4-BE49-F238E27FC236}">
                <a16:creationId xmlns:a16="http://schemas.microsoft.com/office/drawing/2014/main" id="{D88E5805-8B37-6A78-8AF5-999479BD67BC}"/>
              </a:ext>
            </a:extLst>
          </p:cNvPr>
          <p:cNvGraphicFramePr>
            <a:graphicFrameLocks noGrp="1"/>
          </p:cNvGraphicFramePr>
          <p:nvPr>
            <p:extLst>
              <p:ext uri="{D42A27DB-BD31-4B8C-83A1-F6EECF244321}">
                <p14:modId xmlns:p14="http://schemas.microsoft.com/office/powerpoint/2010/main" val="3504533766"/>
              </p:ext>
            </p:extLst>
          </p:nvPr>
        </p:nvGraphicFramePr>
        <p:xfrm>
          <a:off x="838200" y="1886375"/>
          <a:ext cx="10515600" cy="3992118"/>
        </p:xfrm>
        <a:graphic>
          <a:graphicData uri="http://schemas.openxmlformats.org/drawingml/2006/table">
            <a:tbl>
              <a:tblPr>
                <a:tableStyleId>{BDBED569-4797-4DF1-A0F4-6AAB3CD982D8}</a:tableStyleId>
              </a:tblPr>
              <a:tblGrid>
                <a:gridCol w="2103120">
                  <a:extLst>
                    <a:ext uri="{9D8B030D-6E8A-4147-A177-3AD203B41FA5}">
                      <a16:colId xmlns:a16="http://schemas.microsoft.com/office/drawing/2014/main" val="374378148"/>
                    </a:ext>
                  </a:extLst>
                </a:gridCol>
                <a:gridCol w="2103120">
                  <a:extLst>
                    <a:ext uri="{9D8B030D-6E8A-4147-A177-3AD203B41FA5}">
                      <a16:colId xmlns:a16="http://schemas.microsoft.com/office/drawing/2014/main" val="701682086"/>
                    </a:ext>
                  </a:extLst>
                </a:gridCol>
                <a:gridCol w="2103120">
                  <a:extLst>
                    <a:ext uri="{9D8B030D-6E8A-4147-A177-3AD203B41FA5}">
                      <a16:colId xmlns:a16="http://schemas.microsoft.com/office/drawing/2014/main" val="1126729970"/>
                    </a:ext>
                  </a:extLst>
                </a:gridCol>
                <a:gridCol w="2103120">
                  <a:extLst>
                    <a:ext uri="{9D8B030D-6E8A-4147-A177-3AD203B41FA5}">
                      <a16:colId xmlns:a16="http://schemas.microsoft.com/office/drawing/2014/main" val="3106631774"/>
                    </a:ext>
                  </a:extLst>
                </a:gridCol>
                <a:gridCol w="2103120">
                  <a:extLst>
                    <a:ext uri="{9D8B030D-6E8A-4147-A177-3AD203B41FA5}">
                      <a16:colId xmlns:a16="http://schemas.microsoft.com/office/drawing/2014/main" val="4264675916"/>
                    </a:ext>
                  </a:extLst>
                </a:gridCol>
              </a:tblGrid>
              <a:tr h="0">
                <a:tc>
                  <a:txBody>
                    <a:bodyPr/>
                    <a:lstStyle/>
                    <a:p>
                      <a:pPr>
                        <a:lnSpc>
                          <a:spcPct val="150000"/>
                        </a:lnSpc>
                        <a:buNone/>
                      </a:pPr>
                      <a:r>
                        <a:rPr lang="en-US" sz="2800">
                          <a:latin typeface="Calibir"/>
                        </a:rPr>
                        <a:t>Lab</a:t>
                      </a:r>
                    </a:p>
                  </a:txBody>
                  <a:tcPr anchor="ctr"/>
                </a:tc>
                <a:tc>
                  <a:txBody>
                    <a:bodyPr/>
                    <a:lstStyle/>
                    <a:p>
                      <a:pPr>
                        <a:lnSpc>
                          <a:spcPct val="150000"/>
                        </a:lnSpc>
                        <a:buNone/>
                      </a:pPr>
                      <a:r>
                        <a:rPr lang="en-US" sz="2800">
                          <a:latin typeface="Calibir"/>
                        </a:rPr>
                        <a:t>Due Date</a:t>
                      </a:r>
                    </a:p>
                  </a:txBody>
                  <a:tcPr anchor="ctr"/>
                </a:tc>
                <a:tc>
                  <a:txBody>
                    <a:bodyPr/>
                    <a:lstStyle/>
                    <a:p>
                      <a:pPr>
                        <a:lnSpc>
                          <a:spcPct val="150000"/>
                        </a:lnSpc>
                        <a:buNone/>
                      </a:pPr>
                      <a:r>
                        <a:rPr lang="en-US" sz="2800">
                          <a:latin typeface="Calibir"/>
                        </a:rPr>
                        <a:t>Open Time</a:t>
                      </a:r>
                    </a:p>
                  </a:txBody>
                  <a:tcPr anchor="ctr"/>
                </a:tc>
                <a:tc>
                  <a:txBody>
                    <a:bodyPr/>
                    <a:lstStyle/>
                    <a:p>
                      <a:pPr>
                        <a:lnSpc>
                          <a:spcPct val="150000"/>
                        </a:lnSpc>
                        <a:buNone/>
                      </a:pPr>
                      <a:r>
                        <a:rPr lang="en-US" sz="2800">
                          <a:latin typeface="Calibir"/>
                        </a:rPr>
                        <a:t>Close Time</a:t>
                      </a:r>
                    </a:p>
                  </a:txBody>
                  <a:tcPr anchor="ctr"/>
                </a:tc>
                <a:tc>
                  <a:txBody>
                    <a:bodyPr/>
                    <a:lstStyle/>
                    <a:p>
                      <a:pPr>
                        <a:lnSpc>
                          <a:spcPct val="150000"/>
                        </a:lnSpc>
                        <a:buNone/>
                      </a:pPr>
                      <a:r>
                        <a:rPr lang="en-US" sz="2800">
                          <a:latin typeface="Calibir"/>
                        </a:rPr>
                        <a:t>Duration</a:t>
                      </a:r>
                    </a:p>
                  </a:txBody>
                  <a:tcPr anchor="ctr"/>
                </a:tc>
                <a:extLst>
                  <a:ext uri="{0D108BD9-81ED-4DB2-BD59-A6C34878D82A}">
                    <a16:rowId xmlns:a16="http://schemas.microsoft.com/office/drawing/2014/main" val="2954339091"/>
                  </a:ext>
                </a:extLst>
              </a:tr>
              <a:tr h="0">
                <a:tc>
                  <a:txBody>
                    <a:bodyPr/>
                    <a:lstStyle/>
                    <a:p>
                      <a:pPr>
                        <a:lnSpc>
                          <a:spcPct val="150000"/>
                        </a:lnSpc>
                        <a:buNone/>
                      </a:pPr>
                      <a:r>
                        <a:rPr lang="en-US" sz="2800">
                          <a:latin typeface="Calibir"/>
                        </a:rPr>
                        <a:t>Lab 1</a:t>
                      </a:r>
                    </a:p>
                  </a:txBody>
                  <a:tcPr anchor="ctr"/>
                </a:tc>
                <a:tc>
                  <a:txBody>
                    <a:bodyPr/>
                    <a:lstStyle/>
                    <a:p>
                      <a:pPr>
                        <a:lnSpc>
                          <a:spcPct val="150000"/>
                        </a:lnSpc>
                        <a:buNone/>
                      </a:pPr>
                      <a:r>
                        <a:rPr lang="en-US" sz="2800">
                          <a:latin typeface="Calibir"/>
                        </a:rPr>
                        <a:t>15 May 2026</a:t>
                      </a:r>
                    </a:p>
                  </a:txBody>
                  <a:tcPr anchor="ctr"/>
                </a:tc>
                <a:tc>
                  <a:txBody>
                    <a:bodyPr/>
                    <a:lstStyle/>
                    <a:p>
                      <a:pPr>
                        <a:lnSpc>
                          <a:spcPct val="150000"/>
                        </a:lnSpc>
                        <a:buNone/>
                      </a:pPr>
                      <a:r>
                        <a:rPr lang="en-US" sz="2800" dirty="0">
                          <a:latin typeface="Calibir"/>
                        </a:rPr>
                        <a:t>6:00 AM</a:t>
                      </a:r>
                    </a:p>
                  </a:txBody>
                  <a:tcPr anchor="ctr"/>
                </a:tc>
                <a:tc>
                  <a:txBody>
                    <a:bodyPr/>
                    <a:lstStyle/>
                    <a:p>
                      <a:pPr>
                        <a:lnSpc>
                          <a:spcPct val="150000"/>
                        </a:lnSpc>
                        <a:buNone/>
                      </a:pPr>
                      <a:r>
                        <a:rPr lang="en-US" sz="2800">
                          <a:latin typeface="Calibir"/>
                        </a:rPr>
                        <a:t>9:00 PM</a:t>
                      </a:r>
                    </a:p>
                  </a:txBody>
                  <a:tcPr anchor="ctr"/>
                </a:tc>
                <a:tc>
                  <a:txBody>
                    <a:bodyPr/>
                    <a:lstStyle/>
                    <a:p>
                      <a:pPr>
                        <a:lnSpc>
                          <a:spcPct val="150000"/>
                        </a:lnSpc>
                        <a:buNone/>
                      </a:pPr>
                      <a:r>
                        <a:rPr lang="en-US" sz="2800">
                          <a:latin typeface="Calibir"/>
                        </a:rPr>
                        <a:t>30 mins</a:t>
                      </a:r>
                    </a:p>
                  </a:txBody>
                  <a:tcPr anchor="ctr"/>
                </a:tc>
                <a:extLst>
                  <a:ext uri="{0D108BD9-81ED-4DB2-BD59-A6C34878D82A}">
                    <a16:rowId xmlns:a16="http://schemas.microsoft.com/office/drawing/2014/main" val="1635476128"/>
                  </a:ext>
                </a:extLst>
              </a:tr>
              <a:tr h="0">
                <a:tc>
                  <a:txBody>
                    <a:bodyPr/>
                    <a:lstStyle/>
                    <a:p>
                      <a:pPr>
                        <a:lnSpc>
                          <a:spcPct val="150000"/>
                        </a:lnSpc>
                        <a:buNone/>
                      </a:pPr>
                      <a:r>
                        <a:rPr lang="en-US" sz="2800">
                          <a:latin typeface="Calibir"/>
                        </a:rPr>
                        <a:t>Lab 2</a:t>
                      </a:r>
                    </a:p>
                  </a:txBody>
                  <a:tcPr anchor="ctr"/>
                </a:tc>
                <a:tc>
                  <a:txBody>
                    <a:bodyPr/>
                    <a:lstStyle/>
                    <a:p>
                      <a:pPr>
                        <a:lnSpc>
                          <a:spcPct val="150000"/>
                        </a:lnSpc>
                        <a:buNone/>
                      </a:pPr>
                      <a:r>
                        <a:rPr lang="en-US" sz="2800">
                          <a:latin typeface="Calibir"/>
                        </a:rPr>
                        <a:t>22 May 2026</a:t>
                      </a:r>
                    </a:p>
                  </a:txBody>
                  <a:tcPr anchor="ctr"/>
                </a:tc>
                <a:tc>
                  <a:txBody>
                    <a:bodyPr/>
                    <a:lstStyle/>
                    <a:p>
                      <a:pPr>
                        <a:lnSpc>
                          <a:spcPct val="150000"/>
                        </a:lnSpc>
                        <a:buNone/>
                      </a:pPr>
                      <a:r>
                        <a:rPr lang="en-US" sz="2800">
                          <a:latin typeface="Calibir"/>
                        </a:rPr>
                        <a:t>6:00 AM</a:t>
                      </a:r>
                    </a:p>
                  </a:txBody>
                  <a:tcPr anchor="ctr"/>
                </a:tc>
                <a:tc>
                  <a:txBody>
                    <a:bodyPr/>
                    <a:lstStyle/>
                    <a:p>
                      <a:pPr>
                        <a:lnSpc>
                          <a:spcPct val="150000"/>
                        </a:lnSpc>
                        <a:buNone/>
                      </a:pPr>
                      <a:r>
                        <a:rPr lang="en-US" sz="2800">
                          <a:latin typeface="Calibir"/>
                        </a:rPr>
                        <a:t>9:00 PM</a:t>
                      </a:r>
                    </a:p>
                  </a:txBody>
                  <a:tcPr anchor="ctr"/>
                </a:tc>
                <a:tc>
                  <a:txBody>
                    <a:bodyPr/>
                    <a:lstStyle/>
                    <a:p>
                      <a:pPr>
                        <a:lnSpc>
                          <a:spcPct val="150000"/>
                        </a:lnSpc>
                        <a:buNone/>
                      </a:pPr>
                      <a:r>
                        <a:rPr lang="en-US" sz="2800">
                          <a:latin typeface="Calibir"/>
                        </a:rPr>
                        <a:t>30 mins</a:t>
                      </a:r>
                    </a:p>
                  </a:txBody>
                  <a:tcPr anchor="ctr"/>
                </a:tc>
                <a:extLst>
                  <a:ext uri="{0D108BD9-81ED-4DB2-BD59-A6C34878D82A}">
                    <a16:rowId xmlns:a16="http://schemas.microsoft.com/office/drawing/2014/main" val="73786588"/>
                  </a:ext>
                </a:extLst>
              </a:tr>
              <a:tr h="0">
                <a:tc>
                  <a:txBody>
                    <a:bodyPr/>
                    <a:lstStyle/>
                    <a:p>
                      <a:pPr>
                        <a:lnSpc>
                          <a:spcPct val="150000"/>
                        </a:lnSpc>
                        <a:buNone/>
                      </a:pPr>
                      <a:r>
                        <a:rPr lang="en-US" sz="2800">
                          <a:latin typeface="Calibir"/>
                        </a:rPr>
                        <a:t>Lab 3</a:t>
                      </a:r>
                    </a:p>
                  </a:txBody>
                  <a:tcPr anchor="ctr"/>
                </a:tc>
                <a:tc>
                  <a:txBody>
                    <a:bodyPr/>
                    <a:lstStyle/>
                    <a:p>
                      <a:pPr>
                        <a:lnSpc>
                          <a:spcPct val="150000"/>
                        </a:lnSpc>
                        <a:buNone/>
                      </a:pPr>
                      <a:r>
                        <a:rPr lang="en-US" sz="2800">
                          <a:latin typeface="Calibir"/>
                        </a:rPr>
                        <a:t>29 May 2026</a:t>
                      </a:r>
                    </a:p>
                  </a:txBody>
                  <a:tcPr anchor="ctr"/>
                </a:tc>
                <a:tc>
                  <a:txBody>
                    <a:bodyPr/>
                    <a:lstStyle/>
                    <a:p>
                      <a:pPr>
                        <a:lnSpc>
                          <a:spcPct val="150000"/>
                        </a:lnSpc>
                        <a:buNone/>
                      </a:pPr>
                      <a:r>
                        <a:rPr lang="en-US" sz="2800">
                          <a:latin typeface="Calibir"/>
                        </a:rPr>
                        <a:t>6:00 AM</a:t>
                      </a:r>
                    </a:p>
                  </a:txBody>
                  <a:tcPr anchor="ctr"/>
                </a:tc>
                <a:tc>
                  <a:txBody>
                    <a:bodyPr/>
                    <a:lstStyle/>
                    <a:p>
                      <a:pPr>
                        <a:lnSpc>
                          <a:spcPct val="150000"/>
                        </a:lnSpc>
                        <a:buNone/>
                      </a:pPr>
                      <a:r>
                        <a:rPr lang="en-US" sz="2800">
                          <a:latin typeface="Calibir"/>
                        </a:rPr>
                        <a:t>9:00 PM</a:t>
                      </a:r>
                    </a:p>
                  </a:txBody>
                  <a:tcPr anchor="ctr"/>
                </a:tc>
                <a:tc>
                  <a:txBody>
                    <a:bodyPr/>
                    <a:lstStyle/>
                    <a:p>
                      <a:pPr>
                        <a:lnSpc>
                          <a:spcPct val="150000"/>
                        </a:lnSpc>
                        <a:buNone/>
                      </a:pPr>
                      <a:r>
                        <a:rPr lang="en-US" sz="2800">
                          <a:latin typeface="Calibir"/>
                        </a:rPr>
                        <a:t>30 mins</a:t>
                      </a:r>
                    </a:p>
                  </a:txBody>
                  <a:tcPr anchor="ctr"/>
                </a:tc>
                <a:extLst>
                  <a:ext uri="{0D108BD9-81ED-4DB2-BD59-A6C34878D82A}">
                    <a16:rowId xmlns:a16="http://schemas.microsoft.com/office/drawing/2014/main" val="2162481676"/>
                  </a:ext>
                </a:extLst>
              </a:tr>
              <a:tr h="0">
                <a:tc>
                  <a:txBody>
                    <a:bodyPr/>
                    <a:lstStyle/>
                    <a:p>
                      <a:pPr>
                        <a:lnSpc>
                          <a:spcPct val="150000"/>
                        </a:lnSpc>
                        <a:buNone/>
                      </a:pPr>
                      <a:r>
                        <a:rPr lang="en-US" sz="2800">
                          <a:latin typeface="Calibir"/>
                        </a:rPr>
                        <a:t>Lab 4</a:t>
                      </a:r>
                    </a:p>
                  </a:txBody>
                  <a:tcPr anchor="ctr"/>
                </a:tc>
                <a:tc>
                  <a:txBody>
                    <a:bodyPr/>
                    <a:lstStyle/>
                    <a:p>
                      <a:pPr>
                        <a:lnSpc>
                          <a:spcPct val="150000"/>
                        </a:lnSpc>
                        <a:buNone/>
                      </a:pPr>
                      <a:r>
                        <a:rPr lang="en-US" sz="2800">
                          <a:latin typeface="Calibir"/>
                        </a:rPr>
                        <a:t>5 June 2026</a:t>
                      </a:r>
                    </a:p>
                  </a:txBody>
                  <a:tcPr anchor="ctr"/>
                </a:tc>
                <a:tc>
                  <a:txBody>
                    <a:bodyPr/>
                    <a:lstStyle/>
                    <a:p>
                      <a:pPr>
                        <a:lnSpc>
                          <a:spcPct val="150000"/>
                        </a:lnSpc>
                        <a:buNone/>
                      </a:pPr>
                      <a:r>
                        <a:rPr lang="en-US" sz="2800">
                          <a:latin typeface="Calibir"/>
                        </a:rPr>
                        <a:t>6:00 AM</a:t>
                      </a:r>
                    </a:p>
                  </a:txBody>
                  <a:tcPr anchor="ctr"/>
                </a:tc>
                <a:tc>
                  <a:txBody>
                    <a:bodyPr/>
                    <a:lstStyle/>
                    <a:p>
                      <a:pPr>
                        <a:lnSpc>
                          <a:spcPct val="150000"/>
                        </a:lnSpc>
                        <a:buNone/>
                      </a:pPr>
                      <a:r>
                        <a:rPr lang="en-US" sz="2800">
                          <a:latin typeface="Calibir"/>
                        </a:rPr>
                        <a:t>9:00 PM</a:t>
                      </a:r>
                    </a:p>
                  </a:txBody>
                  <a:tcPr anchor="ctr"/>
                </a:tc>
                <a:tc>
                  <a:txBody>
                    <a:bodyPr/>
                    <a:lstStyle/>
                    <a:p>
                      <a:pPr>
                        <a:lnSpc>
                          <a:spcPct val="150000"/>
                        </a:lnSpc>
                        <a:buNone/>
                      </a:pPr>
                      <a:r>
                        <a:rPr lang="en-US" sz="2800">
                          <a:latin typeface="Calibir"/>
                        </a:rPr>
                        <a:t>30 mins</a:t>
                      </a:r>
                    </a:p>
                  </a:txBody>
                  <a:tcPr anchor="ctr"/>
                </a:tc>
                <a:extLst>
                  <a:ext uri="{0D108BD9-81ED-4DB2-BD59-A6C34878D82A}">
                    <a16:rowId xmlns:a16="http://schemas.microsoft.com/office/drawing/2014/main" val="617176134"/>
                  </a:ext>
                </a:extLst>
              </a:tr>
              <a:tr h="0">
                <a:tc>
                  <a:txBody>
                    <a:bodyPr/>
                    <a:lstStyle/>
                    <a:p>
                      <a:pPr>
                        <a:lnSpc>
                          <a:spcPct val="150000"/>
                        </a:lnSpc>
                        <a:buNone/>
                      </a:pPr>
                      <a:r>
                        <a:rPr lang="en-US" sz="2800">
                          <a:latin typeface="Calibir"/>
                        </a:rPr>
                        <a:t>Lab 5</a:t>
                      </a:r>
                    </a:p>
                  </a:txBody>
                  <a:tcPr anchor="ctr"/>
                </a:tc>
                <a:tc>
                  <a:txBody>
                    <a:bodyPr/>
                    <a:lstStyle/>
                    <a:p>
                      <a:pPr>
                        <a:lnSpc>
                          <a:spcPct val="150000"/>
                        </a:lnSpc>
                        <a:buNone/>
                      </a:pPr>
                      <a:r>
                        <a:rPr lang="en-US" sz="2800">
                          <a:latin typeface="Calibir"/>
                        </a:rPr>
                        <a:t>12 June 2026</a:t>
                      </a:r>
                    </a:p>
                  </a:txBody>
                  <a:tcPr anchor="ctr"/>
                </a:tc>
                <a:tc>
                  <a:txBody>
                    <a:bodyPr/>
                    <a:lstStyle/>
                    <a:p>
                      <a:pPr>
                        <a:lnSpc>
                          <a:spcPct val="150000"/>
                        </a:lnSpc>
                        <a:buNone/>
                      </a:pPr>
                      <a:r>
                        <a:rPr lang="en-US" sz="2800">
                          <a:latin typeface="Calibir"/>
                        </a:rPr>
                        <a:t>6:00 AM</a:t>
                      </a:r>
                    </a:p>
                  </a:txBody>
                  <a:tcPr anchor="ctr"/>
                </a:tc>
                <a:tc>
                  <a:txBody>
                    <a:bodyPr/>
                    <a:lstStyle/>
                    <a:p>
                      <a:pPr>
                        <a:lnSpc>
                          <a:spcPct val="150000"/>
                        </a:lnSpc>
                        <a:buNone/>
                      </a:pPr>
                      <a:r>
                        <a:rPr lang="en-US" sz="2800">
                          <a:latin typeface="Calibir"/>
                        </a:rPr>
                        <a:t>9:00 PM</a:t>
                      </a:r>
                    </a:p>
                  </a:txBody>
                  <a:tcPr anchor="ctr"/>
                </a:tc>
                <a:tc>
                  <a:txBody>
                    <a:bodyPr/>
                    <a:lstStyle/>
                    <a:p>
                      <a:pPr>
                        <a:lnSpc>
                          <a:spcPct val="150000"/>
                        </a:lnSpc>
                        <a:buNone/>
                      </a:pPr>
                      <a:r>
                        <a:rPr lang="en-US" sz="2800" dirty="0">
                          <a:latin typeface="Calibir"/>
                        </a:rPr>
                        <a:t>30 mins</a:t>
                      </a:r>
                    </a:p>
                  </a:txBody>
                  <a:tcPr anchor="ctr"/>
                </a:tc>
                <a:extLst>
                  <a:ext uri="{0D108BD9-81ED-4DB2-BD59-A6C34878D82A}">
                    <a16:rowId xmlns:a16="http://schemas.microsoft.com/office/drawing/2014/main" val="3366494701"/>
                  </a:ext>
                </a:extLst>
              </a:tr>
            </a:tbl>
          </a:graphicData>
        </a:graphic>
      </p:graphicFrame>
      <p:sp>
        <p:nvSpPr>
          <p:cNvPr id="6" name="TextBox 5">
            <a:extLst>
              <a:ext uri="{FF2B5EF4-FFF2-40B4-BE49-F238E27FC236}">
                <a16:creationId xmlns:a16="http://schemas.microsoft.com/office/drawing/2014/main" id="{43A5BD26-E24B-34B2-620D-27BED251D9D0}"/>
              </a:ext>
            </a:extLst>
          </p:cNvPr>
          <p:cNvSpPr txBox="1"/>
          <p:nvPr/>
        </p:nvSpPr>
        <p:spPr>
          <a:xfrm>
            <a:off x="0" y="810850"/>
            <a:ext cx="6179574" cy="523220"/>
          </a:xfrm>
          <a:prstGeom prst="rect">
            <a:avLst/>
          </a:prstGeom>
          <a:noFill/>
        </p:spPr>
        <p:txBody>
          <a:bodyPr wrap="square">
            <a:spAutoFit/>
          </a:bodyPr>
          <a:lstStyle/>
          <a:p>
            <a:pPr>
              <a:buNone/>
            </a:pPr>
            <a:r>
              <a:rPr lang="en-US" sz="2800" b="1" dirty="0">
                <a:latin typeface="Calibir"/>
              </a:rPr>
              <a:t>Lab Test Dates</a:t>
            </a:r>
          </a:p>
        </p:txBody>
      </p:sp>
    </p:spTree>
    <p:extLst>
      <p:ext uri="{BB962C8B-B14F-4D97-AF65-F5344CB8AC3E}">
        <p14:creationId xmlns:p14="http://schemas.microsoft.com/office/powerpoint/2010/main" val="2712937253"/>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F7BCB4-5A01-6201-152D-AFB6FA33D34B}"/>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DA127A0C-6F7F-19CD-3C13-F06A2D42D4C7}"/>
              </a:ext>
            </a:extLst>
          </p:cNvPr>
          <p:cNvSpPr txBox="1"/>
          <p:nvPr/>
        </p:nvSpPr>
        <p:spPr>
          <a:xfrm>
            <a:off x="0" y="0"/>
            <a:ext cx="8976732" cy="584775"/>
          </a:xfrm>
          <a:prstGeom prst="rect">
            <a:avLst/>
          </a:prstGeom>
          <a:noFill/>
        </p:spPr>
        <p:txBody>
          <a:bodyPr wrap="square" rtlCol="0">
            <a:spAutoFit/>
          </a:bodyPr>
          <a:lstStyle/>
          <a:p>
            <a:pPr lvl="0">
              <a:defRPr/>
            </a:pPr>
            <a:r>
              <a:rPr lang="en-US" sz="3200" b="1" dirty="0">
                <a:solidFill>
                  <a:prstClr val="black"/>
                </a:solidFill>
                <a:latin typeface="Calibri" panose="020F0502020204030204" pitchFamily="34" charset="0"/>
                <a:cs typeface="Calibri" panose="020F0502020204030204" pitchFamily="34" charset="0"/>
              </a:rPr>
              <a:t>IMPORTANT NOTE</a:t>
            </a:r>
            <a:endParaRPr kumimoji="0" lang="en-US" sz="3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6" name="TextBox 5">
            <a:extLst>
              <a:ext uri="{FF2B5EF4-FFF2-40B4-BE49-F238E27FC236}">
                <a16:creationId xmlns:a16="http://schemas.microsoft.com/office/drawing/2014/main" id="{E5BE0496-C8DB-BF40-AAD3-E2C126E9FC28}"/>
              </a:ext>
            </a:extLst>
          </p:cNvPr>
          <p:cNvSpPr txBox="1"/>
          <p:nvPr/>
        </p:nvSpPr>
        <p:spPr>
          <a:xfrm>
            <a:off x="0" y="810850"/>
            <a:ext cx="12192000" cy="3257174"/>
          </a:xfrm>
          <a:prstGeom prst="rect">
            <a:avLst/>
          </a:prstGeom>
          <a:noFill/>
        </p:spPr>
        <p:txBody>
          <a:bodyPr wrap="square">
            <a:spAutoFit/>
          </a:bodyPr>
          <a:lstStyle/>
          <a:p>
            <a:pPr>
              <a:lnSpc>
                <a:spcPct val="150000"/>
              </a:lnSpc>
            </a:pPr>
            <a:r>
              <a:rPr lang="en-US" sz="2800" b="1" dirty="0">
                <a:latin typeface="Calibir"/>
              </a:rPr>
              <a:t>Test links are ONLY available during the scheduled time period.</a:t>
            </a:r>
          </a:p>
          <a:p>
            <a:pPr>
              <a:lnSpc>
                <a:spcPct val="150000"/>
              </a:lnSpc>
            </a:pPr>
            <a:r>
              <a:rPr lang="en-US" sz="2800" dirty="0">
                <a:latin typeface="Calibir"/>
              </a:rPr>
              <a:t>If you miss the test time:</a:t>
            </a:r>
          </a:p>
          <a:p>
            <a:pPr>
              <a:lnSpc>
                <a:spcPct val="150000"/>
              </a:lnSpc>
            </a:pPr>
            <a:r>
              <a:rPr lang="en-US" sz="2800" dirty="0">
                <a:latin typeface="Calibir"/>
              </a:rPr>
              <a:t>the link disappears, </a:t>
            </a:r>
          </a:p>
          <a:p>
            <a:pPr>
              <a:lnSpc>
                <a:spcPct val="150000"/>
              </a:lnSpc>
            </a:pPr>
            <a:r>
              <a:rPr lang="en-US" sz="2800" dirty="0">
                <a:latin typeface="Calibir"/>
              </a:rPr>
              <a:t>and you may receive zero marks. </a:t>
            </a:r>
          </a:p>
          <a:p>
            <a:pPr>
              <a:lnSpc>
                <a:spcPct val="150000"/>
              </a:lnSpc>
            </a:pPr>
            <a:r>
              <a:rPr lang="en-US" sz="2800" dirty="0">
                <a:latin typeface="Calibir"/>
              </a:rPr>
              <a:t>Always plan early.</a:t>
            </a:r>
          </a:p>
        </p:txBody>
      </p:sp>
    </p:spTree>
    <p:extLst>
      <p:ext uri="{BB962C8B-B14F-4D97-AF65-F5344CB8AC3E}">
        <p14:creationId xmlns:p14="http://schemas.microsoft.com/office/powerpoint/2010/main" val="3444592580"/>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0B434D-42CC-EA7B-A3AD-42A178BC449F}"/>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D5EFB0D-4DB2-7E7C-5650-BC225B3C1052}"/>
              </a:ext>
            </a:extLst>
          </p:cNvPr>
          <p:cNvSpPr txBox="1"/>
          <p:nvPr/>
        </p:nvSpPr>
        <p:spPr>
          <a:xfrm>
            <a:off x="0" y="0"/>
            <a:ext cx="8976732" cy="584775"/>
          </a:xfrm>
          <a:prstGeom prst="rect">
            <a:avLst/>
          </a:prstGeom>
          <a:noFill/>
        </p:spPr>
        <p:txBody>
          <a:bodyPr wrap="square" rtlCol="0">
            <a:spAutoFit/>
          </a:bodyPr>
          <a:lstStyle/>
          <a:p>
            <a:pPr lvl="0">
              <a:defRPr/>
            </a:pPr>
            <a:r>
              <a:rPr lang="en-US" sz="3200" b="1" dirty="0">
                <a:solidFill>
                  <a:prstClr val="black"/>
                </a:solidFill>
                <a:latin typeface="Calibri" panose="020F0502020204030204" pitchFamily="34" charset="0"/>
                <a:cs typeface="Calibri" panose="020F0502020204030204" pitchFamily="34" charset="0"/>
              </a:rPr>
              <a:t>VERY IMPORTANT LAB TEST INSTRUCTIONS</a:t>
            </a:r>
            <a:endParaRPr kumimoji="0" lang="en-US" sz="3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6" name="TextBox 5">
            <a:extLst>
              <a:ext uri="{FF2B5EF4-FFF2-40B4-BE49-F238E27FC236}">
                <a16:creationId xmlns:a16="http://schemas.microsoft.com/office/drawing/2014/main" id="{75648D2C-1C9C-18C1-7620-B513CE848FF9}"/>
              </a:ext>
            </a:extLst>
          </p:cNvPr>
          <p:cNvSpPr txBox="1"/>
          <p:nvPr/>
        </p:nvSpPr>
        <p:spPr>
          <a:xfrm>
            <a:off x="0" y="810850"/>
            <a:ext cx="12192000" cy="3257174"/>
          </a:xfrm>
          <a:prstGeom prst="rect">
            <a:avLst/>
          </a:prstGeom>
          <a:noFill/>
        </p:spPr>
        <p:txBody>
          <a:bodyPr wrap="square">
            <a:spAutoFit/>
          </a:bodyPr>
          <a:lstStyle/>
          <a:p>
            <a:pPr>
              <a:lnSpc>
                <a:spcPct val="150000"/>
              </a:lnSpc>
            </a:pPr>
            <a:r>
              <a:rPr lang="en-US" sz="2800" b="1" dirty="0">
                <a:latin typeface="Calibir"/>
              </a:rPr>
              <a:t>Internet Connection</a:t>
            </a:r>
          </a:p>
          <a:p>
            <a:pPr>
              <a:lnSpc>
                <a:spcPct val="150000"/>
              </a:lnSpc>
            </a:pPr>
            <a:r>
              <a:rPr lang="en-US" sz="2800" dirty="0">
                <a:latin typeface="Calibir"/>
              </a:rPr>
              <a:t>You MUST:</a:t>
            </a:r>
          </a:p>
          <a:p>
            <a:pPr marL="914400" lvl="1" indent="-457200">
              <a:lnSpc>
                <a:spcPct val="150000"/>
              </a:lnSpc>
              <a:buFont typeface="Arial" panose="020B0604020202020204" pitchFamily="34" charset="0"/>
              <a:buChar char="•"/>
            </a:pPr>
            <a:r>
              <a:rPr lang="en-US" sz="2800" dirty="0">
                <a:latin typeface="Calibir"/>
              </a:rPr>
              <a:t>use stable internet, </a:t>
            </a:r>
          </a:p>
          <a:p>
            <a:pPr marL="914400" lvl="1" indent="-457200">
              <a:lnSpc>
                <a:spcPct val="150000"/>
              </a:lnSpc>
              <a:buFont typeface="Arial" panose="020B0604020202020204" pitchFamily="34" charset="0"/>
              <a:buChar char="•"/>
            </a:pPr>
            <a:r>
              <a:rPr lang="en-US" sz="2800" dirty="0">
                <a:latin typeface="Calibir"/>
              </a:rPr>
              <a:t>avoid weak Wi-Fi, </a:t>
            </a:r>
          </a:p>
          <a:p>
            <a:pPr marL="914400" lvl="1" indent="-457200">
              <a:lnSpc>
                <a:spcPct val="150000"/>
              </a:lnSpc>
              <a:buFont typeface="Arial" panose="020B0604020202020204" pitchFamily="34" charset="0"/>
              <a:buChar char="•"/>
            </a:pPr>
            <a:r>
              <a:rPr lang="en-US" sz="2800" dirty="0">
                <a:latin typeface="Calibir"/>
              </a:rPr>
              <a:t>avoid mobile hotspots if unreliable. </a:t>
            </a:r>
          </a:p>
        </p:txBody>
      </p:sp>
    </p:spTree>
    <p:extLst>
      <p:ext uri="{BB962C8B-B14F-4D97-AF65-F5344CB8AC3E}">
        <p14:creationId xmlns:p14="http://schemas.microsoft.com/office/powerpoint/2010/main" val="1299621470"/>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169BF7-7BB5-C342-AC0B-8DD866790C1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C59CEEC9-D09E-7079-ABDB-2C617D0135C7}"/>
              </a:ext>
            </a:extLst>
          </p:cNvPr>
          <p:cNvSpPr txBox="1"/>
          <p:nvPr/>
        </p:nvSpPr>
        <p:spPr>
          <a:xfrm>
            <a:off x="0" y="0"/>
            <a:ext cx="8976732" cy="584775"/>
          </a:xfrm>
          <a:prstGeom prst="rect">
            <a:avLst/>
          </a:prstGeom>
          <a:noFill/>
        </p:spPr>
        <p:txBody>
          <a:bodyPr wrap="square" rtlCol="0">
            <a:spAutoFit/>
          </a:bodyPr>
          <a:lstStyle/>
          <a:p>
            <a:pPr lvl="0">
              <a:defRPr/>
            </a:pPr>
            <a:r>
              <a:rPr lang="en-US" sz="3200" b="1" dirty="0">
                <a:solidFill>
                  <a:prstClr val="black"/>
                </a:solidFill>
                <a:latin typeface="Calibri" panose="020F0502020204030204" pitchFamily="34" charset="0"/>
                <a:cs typeface="Calibri" panose="020F0502020204030204" pitchFamily="34" charset="0"/>
              </a:rPr>
              <a:t>VERY IMPORTANT LAB TEST INSTRUCTIONS</a:t>
            </a:r>
            <a:endParaRPr kumimoji="0" lang="en-US" sz="3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6" name="TextBox 5">
            <a:extLst>
              <a:ext uri="{FF2B5EF4-FFF2-40B4-BE49-F238E27FC236}">
                <a16:creationId xmlns:a16="http://schemas.microsoft.com/office/drawing/2014/main" id="{5E2BF772-0280-2A03-ED59-4139B2811918}"/>
              </a:ext>
            </a:extLst>
          </p:cNvPr>
          <p:cNvSpPr txBox="1"/>
          <p:nvPr/>
        </p:nvSpPr>
        <p:spPr>
          <a:xfrm>
            <a:off x="0" y="810850"/>
            <a:ext cx="12192000" cy="5842497"/>
          </a:xfrm>
          <a:prstGeom prst="rect">
            <a:avLst/>
          </a:prstGeom>
          <a:noFill/>
        </p:spPr>
        <p:txBody>
          <a:bodyPr wrap="square">
            <a:spAutoFit/>
          </a:bodyPr>
          <a:lstStyle/>
          <a:p>
            <a:pPr>
              <a:lnSpc>
                <a:spcPct val="150000"/>
              </a:lnSpc>
            </a:pPr>
            <a:r>
              <a:rPr lang="en-US" sz="2800" b="1" dirty="0">
                <a:latin typeface="Calibir"/>
              </a:rPr>
              <a:t>Important</a:t>
            </a:r>
          </a:p>
          <a:p>
            <a:pPr>
              <a:lnSpc>
                <a:spcPct val="150000"/>
              </a:lnSpc>
            </a:pPr>
            <a:r>
              <a:rPr lang="en-US" sz="2800" dirty="0">
                <a:latin typeface="Calibir"/>
              </a:rPr>
              <a:t>Special consideration is NOT granted for:</a:t>
            </a:r>
          </a:p>
          <a:p>
            <a:pPr marL="914400" lvl="1" indent="-457200">
              <a:lnSpc>
                <a:spcPct val="150000"/>
              </a:lnSpc>
              <a:buFont typeface="Arial" panose="020B0604020202020204" pitchFamily="34" charset="0"/>
              <a:buChar char="•"/>
            </a:pPr>
            <a:r>
              <a:rPr lang="en-US" sz="2800" dirty="0">
                <a:latin typeface="Calibir"/>
              </a:rPr>
              <a:t>poor internet, </a:t>
            </a:r>
          </a:p>
          <a:p>
            <a:pPr marL="914400" lvl="1" indent="-457200">
              <a:lnSpc>
                <a:spcPct val="150000"/>
              </a:lnSpc>
              <a:buFont typeface="Arial" panose="020B0604020202020204" pitchFamily="34" charset="0"/>
              <a:buChar char="•"/>
            </a:pPr>
            <a:r>
              <a:rPr lang="en-US" sz="2800" dirty="0">
                <a:latin typeface="Calibir"/>
              </a:rPr>
              <a:t>disconnections, </a:t>
            </a:r>
          </a:p>
          <a:p>
            <a:pPr marL="914400" lvl="1" indent="-457200">
              <a:lnSpc>
                <a:spcPct val="150000"/>
              </a:lnSpc>
              <a:buFont typeface="Arial" panose="020B0604020202020204" pitchFamily="34" charset="0"/>
              <a:buChar char="•"/>
            </a:pPr>
            <a:r>
              <a:rPr lang="en-US" sz="2800" dirty="0">
                <a:latin typeface="Calibir"/>
              </a:rPr>
              <a:t>unstable Wi-Fi. </a:t>
            </a:r>
          </a:p>
          <a:p>
            <a:pPr>
              <a:lnSpc>
                <a:spcPct val="150000"/>
              </a:lnSpc>
            </a:pPr>
            <a:r>
              <a:rPr lang="en-US" sz="2800" dirty="0">
                <a:latin typeface="Calibir"/>
              </a:rPr>
              <a:t>If needed:</a:t>
            </a:r>
          </a:p>
          <a:p>
            <a:pPr marL="914400" lvl="1" indent="-457200">
              <a:lnSpc>
                <a:spcPct val="150000"/>
              </a:lnSpc>
              <a:buFont typeface="Arial" panose="020B0604020202020204" pitchFamily="34" charset="0"/>
              <a:buChar char="•"/>
            </a:pPr>
            <a:r>
              <a:rPr lang="en-US" sz="2800" dirty="0">
                <a:latin typeface="Calibir"/>
              </a:rPr>
              <a:t>use university labs, </a:t>
            </a:r>
          </a:p>
          <a:p>
            <a:pPr marL="914400" lvl="1" indent="-457200">
              <a:lnSpc>
                <a:spcPct val="150000"/>
              </a:lnSpc>
              <a:buFont typeface="Arial" panose="020B0604020202020204" pitchFamily="34" charset="0"/>
              <a:buChar char="•"/>
            </a:pPr>
            <a:r>
              <a:rPr lang="en-US" sz="2800" dirty="0">
                <a:latin typeface="Calibir"/>
              </a:rPr>
              <a:t>public libraries, </a:t>
            </a:r>
          </a:p>
          <a:p>
            <a:pPr marL="914400" lvl="1" indent="-457200">
              <a:lnSpc>
                <a:spcPct val="150000"/>
              </a:lnSpc>
              <a:buFont typeface="Arial" panose="020B0604020202020204" pitchFamily="34" charset="0"/>
              <a:buChar char="•"/>
            </a:pPr>
            <a:r>
              <a:rPr lang="en-US" sz="2800" dirty="0">
                <a:latin typeface="Calibir"/>
              </a:rPr>
              <a:t>or another reliable location.</a:t>
            </a:r>
          </a:p>
        </p:txBody>
      </p:sp>
    </p:spTree>
    <p:extLst>
      <p:ext uri="{BB962C8B-B14F-4D97-AF65-F5344CB8AC3E}">
        <p14:creationId xmlns:p14="http://schemas.microsoft.com/office/powerpoint/2010/main" val="2417018641"/>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73C387-6DDB-8F22-36BC-92BCD145BDE7}"/>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B09DB87E-50EF-67D4-CA39-FBC81FC20B44}"/>
              </a:ext>
            </a:extLst>
          </p:cNvPr>
          <p:cNvSpPr txBox="1"/>
          <p:nvPr/>
        </p:nvSpPr>
        <p:spPr>
          <a:xfrm>
            <a:off x="0" y="0"/>
            <a:ext cx="8976732" cy="584775"/>
          </a:xfrm>
          <a:prstGeom prst="rect">
            <a:avLst/>
          </a:prstGeom>
          <a:noFill/>
        </p:spPr>
        <p:txBody>
          <a:bodyPr wrap="square" rtlCol="0">
            <a:spAutoFit/>
          </a:bodyPr>
          <a:lstStyle/>
          <a:p>
            <a:pPr lvl="0">
              <a:defRPr/>
            </a:pPr>
            <a:r>
              <a:rPr lang="en-US" sz="3200" b="1" dirty="0">
                <a:solidFill>
                  <a:prstClr val="black"/>
                </a:solidFill>
                <a:latin typeface="Calibri" panose="020F0502020204030204" pitchFamily="34" charset="0"/>
                <a:cs typeface="Calibri" panose="020F0502020204030204" pitchFamily="34" charset="0"/>
              </a:rPr>
              <a:t>Device Requirements</a:t>
            </a:r>
            <a:endParaRPr kumimoji="0" lang="en-US" sz="3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6" name="TextBox 5">
            <a:extLst>
              <a:ext uri="{FF2B5EF4-FFF2-40B4-BE49-F238E27FC236}">
                <a16:creationId xmlns:a16="http://schemas.microsoft.com/office/drawing/2014/main" id="{F600910E-A028-8DF1-495B-B56A484C79ED}"/>
              </a:ext>
            </a:extLst>
          </p:cNvPr>
          <p:cNvSpPr txBox="1"/>
          <p:nvPr/>
        </p:nvSpPr>
        <p:spPr>
          <a:xfrm>
            <a:off x="0" y="810850"/>
            <a:ext cx="12192000" cy="3903504"/>
          </a:xfrm>
          <a:prstGeom prst="rect">
            <a:avLst/>
          </a:prstGeom>
          <a:noFill/>
        </p:spPr>
        <p:txBody>
          <a:bodyPr wrap="square">
            <a:spAutoFit/>
          </a:bodyPr>
          <a:lstStyle/>
          <a:p>
            <a:pPr>
              <a:lnSpc>
                <a:spcPct val="150000"/>
              </a:lnSpc>
            </a:pPr>
            <a:r>
              <a:rPr lang="en-US" sz="2800" b="1" dirty="0">
                <a:latin typeface="Calibir"/>
              </a:rPr>
              <a:t>You MUST use:</a:t>
            </a:r>
          </a:p>
          <a:p>
            <a:pPr marL="914400" lvl="1" indent="-457200">
              <a:lnSpc>
                <a:spcPct val="150000"/>
              </a:lnSpc>
              <a:buFont typeface="Arial" panose="020B0604020202020204" pitchFamily="34" charset="0"/>
              <a:buChar char="•"/>
            </a:pPr>
            <a:r>
              <a:rPr lang="en-US" sz="2800" dirty="0">
                <a:latin typeface="Calibir"/>
              </a:rPr>
              <a:t>a reliable laptop or desktop computer. </a:t>
            </a:r>
          </a:p>
          <a:p>
            <a:pPr>
              <a:lnSpc>
                <a:spcPct val="150000"/>
              </a:lnSpc>
            </a:pPr>
            <a:r>
              <a:rPr lang="en-US" sz="2800" b="1" dirty="0">
                <a:latin typeface="Calibir"/>
              </a:rPr>
              <a:t>You CANNOT use:</a:t>
            </a:r>
          </a:p>
          <a:p>
            <a:pPr marL="914400" lvl="1" indent="-457200">
              <a:lnSpc>
                <a:spcPct val="150000"/>
              </a:lnSpc>
              <a:buFont typeface="Arial" panose="020B0604020202020204" pitchFamily="34" charset="0"/>
              <a:buChar char="•"/>
            </a:pPr>
            <a:r>
              <a:rPr lang="en-US" sz="2800" dirty="0">
                <a:latin typeface="Calibir"/>
              </a:rPr>
              <a:t>phones, </a:t>
            </a:r>
          </a:p>
          <a:p>
            <a:pPr marL="914400" lvl="1" indent="-457200">
              <a:lnSpc>
                <a:spcPct val="150000"/>
              </a:lnSpc>
              <a:buFont typeface="Arial" panose="020B0604020202020204" pitchFamily="34" charset="0"/>
              <a:buChar char="•"/>
            </a:pPr>
            <a:r>
              <a:rPr lang="en-US" sz="2800" dirty="0">
                <a:latin typeface="Calibir"/>
              </a:rPr>
              <a:t>tablets, </a:t>
            </a:r>
          </a:p>
          <a:p>
            <a:pPr marL="914400" lvl="1" indent="-457200">
              <a:lnSpc>
                <a:spcPct val="150000"/>
              </a:lnSpc>
              <a:buFont typeface="Arial" panose="020B0604020202020204" pitchFamily="34" charset="0"/>
              <a:buChar char="•"/>
            </a:pPr>
            <a:r>
              <a:rPr lang="en-US" sz="2800" dirty="0">
                <a:latin typeface="Calibir"/>
              </a:rPr>
              <a:t>Blackboard mobile app.</a:t>
            </a:r>
          </a:p>
        </p:txBody>
      </p:sp>
    </p:spTree>
    <p:extLst>
      <p:ext uri="{BB962C8B-B14F-4D97-AF65-F5344CB8AC3E}">
        <p14:creationId xmlns:p14="http://schemas.microsoft.com/office/powerpoint/2010/main" val="345052546"/>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D8DB14-E648-6DD0-85B9-C5B365952E0A}"/>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ED1FEC68-7182-7A7D-CF90-7AFFE6C8B6BF}"/>
              </a:ext>
            </a:extLst>
          </p:cNvPr>
          <p:cNvSpPr txBox="1"/>
          <p:nvPr/>
        </p:nvSpPr>
        <p:spPr>
          <a:xfrm>
            <a:off x="0" y="0"/>
            <a:ext cx="8976732" cy="584775"/>
          </a:xfrm>
          <a:prstGeom prst="rect">
            <a:avLst/>
          </a:prstGeom>
          <a:noFill/>
        </p:spPr>
        <p:txBody>
          <a:bodyPr wrap="square" rtlCol="0">
            <a:spAutoFit/>
          </a:bodyPr>
          <a:lstStyle/>
          <a:p>
            <a:pPr lvl="0">
              <a:defRPr/>
            </a:pPr>
            <a:r>
              <a:rPr lang="en-US" sz="3200" b="1" dirty="0">
                <a:solidFill>
                  <a:prstClr val="black"/>
                </a:solidFill>
                <a:latin typeface="Calibri" panose="020F0502020204030204" pitchFamily="34" charset="0"/>
                <a:cs typeface="Calibri" panose="020F0502020204030204" pitchFamily="34" charset="0"/>
              </a:rPr>
              <a:t>Browser Requirements</a:t>
            </a:r>
            <a:endParaRPr kumimoji="0" lang="en-US" sz="3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6" name="TextBox 5">
            <a:extLst>
              <a:ext uri="{FF2B5EF4-FFF2-40B4-BE49-F238E27FC236}">
                <a16:creationId xmlns:a16="http://schemas.microsoft.com/office/drawing/2014/main" id="{EED47925-8808-2999-945D-D15601D79BDB}"/>
              </a:ext>
            </a:extLst>
          </p:cNvPr>
          <p:cNvSpPr txBox="1"/>
          <p:nvPr/>
        </p:nvSpPr>
        <p:spPr>
          <a:xfrm>
            <a:off x="0" y="810850"/>
            <a:ext cx="12192000" cy="5196166"/>
          </a:xfrm>
          <a:prstGeom prst="rect">
            <a:avLst/>
          </a:prstGeom>
          <a:noFill/>
        </p:spPr>
        <p:txBody>
          <a:bodyPr wrap="square">
            <a:spAutoFit/>
          </a:bodyPr>
          <a:lstStyle/>
          <a:p>
            <a:pPr>
              <a:lnSpc>
                <a:spcPct val="150000"/>
              </a:lnSpc>
            </a:pPr>
            <a:r>
              <a:rPr lang="en-US" sz="2800" b="1" dirty="0">
                <a:latin typeface="Calibir"/>
              </a:rPr>
              <a:t>Recommended Browsers</a:t>
            </a:r>
          </a:p>
          <a:p>
            <a:pPr>
              <a:lnSpc>
                <a:spcPct val="150000"/>
              </a:lnSpc>
            </a:pPr>
            <a:r>
              <a:rPr lang="en-US" sz="2800" dirty="0">
                <a:latin typeface="Calibir"/>
              </a:rPr>
              <a:t>Use:</a:t>
            </a:r>
          </a:p>
          <a:p>
            <a:pPr marL="914400" lvl="1" indent="-457200">
              <a:lnSpc>
                <a:spcPct val="150000"/>
              </a:lnSpc>
              <a:buFont typeface="Arial" panose="020B0604020202020204" pitchFamily="34" charset="0"/>
              <a:buChar char="•"/>
            </a:pPr>
            <a:r>
              <a:rPr lang="en-US" sz="2800" dirty="0">
                <a:latin typeface="Calibir"/>
              </a:rPr>
              <a:t>Google Chrome </a:t>
            </a:r>
          </a:p>
          <a:p>
            <a:pPr marL="914400" lvl="1" indent="-457200">
              <a:lnSpc>
                <a:spcPct val="150000"/>
              </a:lnSpc>
              <a:buFont typeface="Arial" panose="020B0604020202020204" pitchFamily="34" charset="0"/>
              <a:buChar char="•"/>
            </a:pPr>
            <a:r>
              <a:rPr lang="en-US" sz="2800" dirty="0">
                <a:latin typeface="Calibir"/>
              </a:rPr>
              <a:t>Mozilla Firefox </a:t>
            </a:r>
          </a:p>
          <a:p>
            <a:pPr>
              <a:lnSpc>
                <a:spcPct val="150000"/>
              </a:lnSpc>
            </a:pPr>
            <a:r>
              <a:rPr lang="en-US" sz="2800" b="1" dirty="0">
                <a:latin typeface="Calibir"/>
              </a:rPr>
              <a:t>Do NOT use:</a:t>
            </a:r>
          </a:p>
          <a:p>
            <a:pPr marL="914400" lvl="1" indent="-457200">
              <a:lnSpc>
                <a:spcPct val="150000"/>
              </a:lnSpc>
              <a:buFont typeface="Arial" panose="020B0604020202020204" pitchFamily="34" charset="0"/>
              <a:buChar char="•"/>
            </a:pPr>
            <a:r>
              <a:rPr lang="en-US" sz="2800" dirty="0">
                <a:latin typeface="Calibir"/>
              </a:rPr>
              <a:t>Safari </a:t>
            </a:r>
          </a:p>
          <a:p>
            <a:pPr marL="914400" lvl="1" indent="-457200">
              <a:lnSpc>
                <a:spcPct val="150000"/>
              </a:lnSpc>
              <a:buFont typeface="Arial" panose="020B0604020202020204" pitchFamily="34" charset="0"/>
              <a:buChar char="•"/>
            </a:pPr>
            <a:r>
              <a:rPr lang="en-US" sz="2800" dirty="0">
                <a:latin typeface="Calibir"/>
              </a:rPr>
              <a:t>Microsoft Edge </a:t>
            </a:r>
          </a:p>
          <a:p>
            <a:pPr marL="914400" lvl="1" indent="-457200">
              <a:lnSpc>
                <a:spcPct val="150000"/>
              </a:lnSpc>
              <a:buFont typeface="Arial" panose="020B0604020202020204" pitchFamily="34" charset="0"/>
              <a:buChar char="•"/>
            </a:pPr>
            <a:r>
              <a:rPr lang="en-US" sz="2800" dirty="0">
                <a:latin typeface="Calibir"/>
              </a:rPr>
              <a:t>Blackboard app</a:t>
            </a:r>
          </a:p>
        </p:txBody>
      </p:sp>
    </p:spTree>
    <p:extLst>
      <p:ext uri="{BB962C8B-B14F-4D97-AF65-F5344CB8AC3E}">
        <p14:creationId xmlns:p14="http://schemas.microsoft.com/office/powerpoint/2010/main" val="1755751779"/>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BF7F82-1A9E-D3BA-0BE0-F11B1E70D9AF}"/>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A41C91E5-9A46-F200-C888-30049C430795}"/>
              </a:ext>
            </a:extLst>
          </p:cNvPr>
          <p:cNvSpPr txBox="1"/>
          <p:nvPr/>
        </p:nvSpPr>
        <p:spPr>
          <a:xfrm>
            <a:off x="0" y="0"/>
            <a:ext cx="8976732" cy="584775"/>
          </a:xfrm>
          <a:prstGeom prst="rect">
            <a:avLst/>
          </a:prstGeom>
          <a:noFill/>
        </p:spPr>
        <p:txBody>
          <a:bodyPr wrap="square" rtlCol="0">
            <a:spAutoFit/>
          </a:bodyPr>
          <a:lstStyle/>
          <a:p>
            <a:pPr lvl="0">
              <a:defRPr/>
            </a:pPr>
            <a:r>
              <a:rPr lang="en-US" sz="3200" b="1" dirty="0">
                <a:solidFill>
                  <a:prstClr val="black"/>
                </a:solidFill>
                <a:latin typeface="Calibri" panose="020F0502020204030204" pitchFamily="34" charset="0"/>
                <a:cs typeface="Calibri" panose="020F0502020204030204" pitchFamily="34" charset="0"/>
              </a:rPr>
              <a:t>Before Starting the Test</a:t>
            </a:r>
            <a:endParaRPr kumimoji="0" lang="en-US" sz="3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6" name="TextBox 5">
            <a:extLst>
              <a:ext uri="{FF2B5EF4-FFF2-40B4-BE49-F238E27FC236}">
                <a16:creationId xmlns:a16="http://schemas.microsoft.com/office/drawing/2014/main" id="{0CF85CA2-FF53-65E6-A5F4-6E2DF27C5197}"/>
              </a:ext>
            </a:extLst>
          </p:cNvPr>
          <p:cNvSpPr txBox="1"/>
          <p:nvPr/>
        </p:nvSpPr>
        <p:spPr>
          <a:xfrm>
            <a:off x="0" y="810850"/>
            <a:ext cx="12192000" cy="5842497"/>
          </a:xfrm>
          <a:prstGeom prst="rect">
            <a:avLst/>
          </a:prstGeom>
          <a:noFill/>
        </p:spPr>
        <p:txBody>
          <a:bodyPr wrap="square">
            <a:spAutoFit/>
          </a:bodyPr>
          <a:lstStyle/>
          <a:p>
            <a:pPr>
              <a:lnSpc>
                <a:spcPct val="150000"/>
              </a:lnSpc>
            </a:pPr>
            <a:r>
              <a:rPr lang="en-US" sz="2800" b="1" dirty="0">
                <a:latin typeface="Calibir"/>
              </a:rPr>
              <a:t>Step-by-Step Preparation</a:t>
            </a:r>
          </a:p>
          <a:p>
            <a:pPr>
              <a:lnSpc>
                <a:spcPct val="150000"/>
              </a:lnSpc>
            </a:pPr>
            <a:r>
              <a:rPr lang="en-US" sz="2800" b="1" dirty="0">
                <a:latin typeface="Calibir"/>
              </a:rPr>
              <a:t>1. Update Your Device Early</a:t>
            </a:r>
          </a:p>
          <a:p>
            <a:pPr>
              <a:lnSpc>
                <a:spcPct val="150000"/>
              </a:lnSpc>
            </a:pPr>
            <a:r>
              <a:rPr lang="en-US" sz="2800" dirty="0">
                <a:latin typeface="Calibir"/>
              </a:rPr>
              <a:t>Install:</a:t>
            </a:r>
          </a:p>
          <a:p>
            <a:pPr marL="914400" lvl="1" indent="-457200">
              <a:lnSpc>
                <a:spcPct val="150000"/>
              </a:lnSpc>
              <a:buFont typeface="Arial" panose="020B0604020202020204" pitchFamily="34" charset="0"/>
              <a:buChar char="•"/>
            </a:pPr>
            <a:r>
              <a:rPr lang="en-US" sz="2800" dirty="0">
                <a:latin typeface="Calibir"/>
              </a:rPr>
              <a:t>browser updates, </a:t>
            </a:r>
          </a:p>
          <a:p>
            <a:pPr marL="914400" lvl="1" indent="-457200">
              <a:lnSpc>
                <a:spcPct val="150000"/>
              </a:lnSpc>
              <a:buFont typeface="Arial" panose="020B0604020202020204" pitchFamily="34" charset="0"/>
              <a:buChar char="•"/>
            </a:pPr>
            <a:r>
              <a:rPr lang="en-US" sz="2800" dirty="0">
                <a:latin typeface="Calibir"/>
              </a:rPr>
              <a:t>Windows updates, </a:t>
            </a:r>
          </a:p>
          <a:p>
            <a:pPr marL="914400" lvl="1" indent="-457200">
              <a:lnSpc>
                <a:spcPct val="150000"/>
              </a:lnSpc>
              <a:buFont typeface="Arial" panose="020B0604020202020204" pitchFamily="34" charset="0"/>
              <a:buChar char="•"/>
            </a:pPr>
            <a:r>
              <a:rPr lang="en-US" sz="2800" dirty="0">
                <a:latin typeface="Calibir"/>
              </a:rPr>
              <a:t>software updates BEFORE test day. </a:t>
            </a:r>
          </a:p>
          <a:p>
            <a:pPr>
              <a:lnSpc>
                <a:spcPct val="150000"/>
              </a:lnSpc>
            </a:pPr>
            <a:r>
              <a:rPr lang="en-US" sz="2800" b="1" dirty="0">
                <a:latin typeface="Calibir"/>
              </a:rPr>
              <a:t>Important</a:t>
            </a:r>
          </a:p>
          <a:p>
            <a:pPr>
              <a:lnSpc>
                <a:spcPct val="150000"/>
              </a:lnSpc>
            </a:pPr>
            <a:r>
              <a:rPr lang="en-US" sz="2800" dirty="0">
                <a:latin typeface="Calibir"/>
              </a:rPr>
              <a:t>If your computer updates during the test:</a:t>
            </a:r>
          </a:p>
          <a:p>
            <a:pPr marL="914400" lvl="1" indent="-457200">
              <a:lnSpc>
                <a:spcPct val="150000"/>
              </a:lnSpc>
              <a:buFont typeface="Arial" panose="020B0604020202020204" pitchFamily="34" charset="0"/>
              <a:buChar char="•"/>
            </a:pPr>
            <a:r>
              <a:rPr lang="en-US" sz="2800" dirty="0">
                <a:latin typeface="Calibir"/>
              </a:rPr>
              <a:t>no special consideration is given.</a:t>
            </a:r>
          </a:p>
        </p:txBody>
      </p:sp>
    </p:spTree>
    <p:extLst>
      <p:ext uri="{BB962C8B-B14F-4D97-AF65-F5344CB8AC3E}">
        <p14:creationId xmlns:p14="http://schemas.microsoft.com/office/powerpoint/2010/main" val="326405162"/>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27F8C7-B863-8120-9D8E-81E98E2EB4F0}"/>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DF19286-6EF6-89FA-4A1A-3A47AF087F4B}"/>
              </a:ext>
            </a:extLst>
          </p:cNvPr>
          <p:cNvSpPr txBox="1"/>
          <p:nvPr/>
        </p:nvSpPr>
        <p:spPr>
          <a:xfrm>
            <a:off x="0" y="0"/>
            <a:ext cx="8976732" cy="584775"/>
          </a:xfrm>
          <a:prstGeom prst="rect">
            <a:avLst/>
          </a:prstGeom>
          <a:noFill/>
        </p:spPr>
        <p:txBody>
          <a:bodyPr wrap="square" rtlCol="0">
            <a:spAutoFit/>
          </a:bodyPr>
          <a:lstStyle/>
          <a:p>
            <a:pPr lvl="0">
              <a:defRPr/>
            </a:pPr>
            <a:r>
              <a:rPr lang="en-US" sz="3200" b="1" dirty="0">
                <a:solidFill>
                  <a:prstClr val="black"/>
                </a:solidFill>
                <a:latin typeface="Calibri" panose="020F0502020204030204" pitchFamily="34" charset="0"/>
                <a:cs typeface="Calibri" panose="020F0502020204030204" pitchFamily="34" charset="0"/>
              </a:rPr>
              <a:t>Before Starting the Test</a:t>
            </a:r>
            <a:endParaRPr kumimoji="0" lang="en-US" sz="3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6" name="TextBox 5">
            <a:extLst>
              <a:ext uri="{FF2B5EF4-FFF2-40B4-BE49-F238E27FC236}">
                <a16:creationId xmlns:a16="http://schemas.microsoft.com/office/drawing/2014/main" id="{5681FE1B-8BA4-56B2-3155-B00040F4FBF0}"/>
              </a:ext>
            </a:extLst>
          </p:cNvPr>
          <p:cNvSpPr txBox="1"/>
          <p:nvPr/>
        </p:nvSpPr>
        <p:spPr>
          <a:xfrm>
            <a:off x="0" y="810850"/>
            <a:ext cx="12192000" cy="4549835"/>
          </a:xfrm>
          <a:prstGeom prst="rect">
            <a:avLst/>
          </a:prstGeom>
          <a:noFill/>
        </p:spPr>
        <p:txBody>
          <a:bodyPr wrap="square">
            <a:spAutoFit/>
          </a:bodyPr>
          <a:lstStyle/>
          <a:p>
            <a:pPr>
              <a:lnSpc>
                <a:spcPct val="150000"/>
              </a:lnSpc>
            </a:pPr>
            <a:r>
              <a:rPr lang="en-US" sz="2800" b="1" dirty="0">
                <a:latin typeface="Calibir"/>
              </a:rPr>
              <a:t>2. Close Extra Programs</a:t>
            </a:r>
          </a:p>
          <a:p>
            <a:pPr>
              <a:lnSpc>
                <a:spcPct val="150000"/>
              </a:lnSpc>
            </a:pPr>
            <a:r>
              <a:rPr lang="en-US" sz="2800" dirty="0">
                <a:latin typeface="Calibir"/>
              </a:rPr>
              <a:t>Close:</a:t>
            </a:r>
          </a:p>
          <a:p>
            <a:pPr marL="914400" lvl="1" indent="-457200">
              <a:lnSpc>
                <a:spcPct val="150000"/>
              </a:lnSpc>
              <a:buFont typeface="Arial" panose="020B0604020202020204" pitchFamily="34" charset="0"/>
              <a:buChar char="•"/>
            </a:pPr>
            <a:r>
              <a:rPr lang="en-US" sz="2800" dirty="0">
                <a:latin typeface="Calibir"/>
              </a:rPr>
              <a:t>games, </a:t>
            </a:r>
          </a:p>
          <a:p>
            <a:pPr marL="914400" lvl="1" indent="-457200">
              <a:lnSpc>
                <a:spcPct val="150000"/>
              </a:lnSpc>
              <a:buFont typeface="Arial" panose="020B0604020202020204" pitchFamily="34" charset="0"/>
              <a:buChar char="•"/>
            </a:pPr>
            <a:r>
              <a:rPr lang="en-US" sz="2800" dirty="0">
                <a:latin typeface="Calibir"/>
              </a:rPr>
              <a:t>streaming apps, </a:t>
            </a:r>
          </a:p>
          <a:p>
            <a:pPr marL="914400" lvl="1" indent="-457200">
              <a:lnSpc>
                <a:spcPct val="150000"/>
              </a:lnSpc>
              <a:buFont typeface="Arial" panose="020B0604020202020204" pitchFamily="34" charset="0"/>
              <a:buChar char="•"/>
            </a:pPr>
            <a:r>
              <a:rPr lang="en-US" sz="2800" dirty="0">
                <a:latin typeface="Calibir"/>
              </a:rPr>
              <a:t>unnecessary browser tabs, </a:t>
            </a:r>
          </a:p>
          <a:p>
            <a:pPr marL="914400" lvl="1" indent="-457200">
              <a:lnSpc>
                <a:spcPct val="150000"/>
              </a:lnSpc>
              <a:buFont typeface="Arial" panose="020B0604020202020204" pitchFamily="34" charset="0"/>
              <a:buChar char="•"/>
            </a:pPr>
            <a:r>
              <a:rPr lang="en-US" sz="2800" dirty="0">
                <a:latin typeface="Calibir"/>
              </a:rPr>
              <a:t>downloads. </a:t>
            </a:r>
          </a:p>
          <a:p>
            <a:pPr>
              <a:lnSpc>
                <a:spcPct val="150000"/>
              </a:lnSpc>
            </a:pPr>
            <a:r>
              <a:rPr lang="en-US" sz="2800" dirty="0">
                <a:latin typeface="Calibir"/>
              </a:rPr>
              <a:t>This improves performance.</a:t>
            </a:r>
          </a:p>
        </p:txBody>
      </p:sp>
    </p:spTree>
    <p:extLst>
      <p:ext uri="{BB962C8B-B14F-4D97-AF65-F5344CB8AC3E}">
        <p14:creationId xmlns:p14="http://schemas.microsoft.com/office/powerpoint/2010/main" val="2182029503"/>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7EFCD4-909B-A010-32EA-BC4D56B35006}"/>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53CADF4F-DADF-D83C-B4E7-C00AB5FC66E3}"/>
              </a:ext>
            </a:extLst>
          </p:cNvPr>
          <p:cNvSpPr txBox="1"/>
          <p:nvPr/>
        </p:nvSpPr>
        <p:spPr>
          <a:xfrm>
            <a:off x="0" y="0"/>
            <a:ext cx="8976732" cy="584775"/>
          </a:xfrm>
          <a:prstGeom prst="rect">
            <a:avLst/>
          </a:prstGeom>
          <a:noFill/>
        </p:spPr>
        <p:txBody>
          <a:bodyPr wrap="square" rtlCol="0">
            <a:spAutoFit/>
          </a:bodyPr>
          <a:lstStyle/>
          <a:p>
            <a:pPr lvl="0">
              <a:defRPr/>
            </a:pPr>
            <a:r>
              <a:rPr lang="en-US" sz="3200" b="1" dirty="0">
                <a:solidFill>
                  <a:prstClr val="black"/>
                </a:solidFill>
                <a:latin typeface="Calibri" panose="020F0502020204030204" pitchFamily="34" charset="0"/>
                <a:cs typeface="Calibri" panose="020F0502020204030204" pitchFamily="34" charset="0"/>
              </a:rPr>
              <a:t>Before Starting the Test</a:t>
            </a:r>
            <a:endParaRPr kumimoji="0" lang="en-US" sz="3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6" name="TextBox 5">
            <a:extLst>
              <a:ext uri="{FF2B5EF4-FFF2-40B4-BE49-F238E27FC236}">
                <a16:creationId xmlns:a16="http://schemas.microsoft.com/office/drawing/2014/main" id="{8B7533DA-00FE-1335-7EED-12A1E4DB5035}"/>
              </a:ext>
            </a:extLst>
          </p:cNvPr>
          <p:cNvSpPr txBox="1"/>
          <p:nvPr/>
        </p:nvSpPr>
        <p:spPr>
          <a:xfrm>
            <a:off x="0" y="810850"/>
            <a:ext cx="12192000" cy="2610843"/>
          </a:xfrm>
          <a:prstGeom prst="rect">
            <a:avLst/>
          </a:prstGeom>
          <a:noFill/>
        </p:spPr>
        <p:txBody>
          <a:bodyPr wrap="square">
            <a:spAutoFit/>
          </a:bodyPr>
          <a:lstStyle/>
          <a:p>
            <a:pPr>
              <a:lnSpc>
                <a:spcPct val="150000"/>
              </a:lnSpc>
            </a:pPr>
            <a:r>
              <a:rPr lang="en-US" sz="2800" b="1" dirty="0">
                <a:latin typeface="Calibir"/>
              </a:rPr>
              <a:t>3. Charge Your Laptop</a:t>
            </a:r>
          </a:p>
          <a:p>
            <a:pPr>
              <a:lnSpc>
                <a:spcPct val="150000"/>
              </a:lnSpc>
            </a:pPr>
            <a:r>
              <a:rPr lang="en-US" sz="2800" dirty="0">
                <a:latin typeface="Calibir"/>
              </a:rPr>
              <a:t>Always:</a:t>
            </a:r>
          </a:p>
          <a:p>
            <a:pPr marL="914400" lvl="1" indent="-457200">
              <a:lnSpc>
                <a:spcPct val="150000"/>
              </a:lnSpc>
              <a:buFont typeface="Arial" panose="020B0604020202020204" pitchFamily="34" charset="0"/>
              <a:buChar char="•"/>
            </a:pPr>
            <a:r>
              <a:rPr lang="en-US" sz="2800" dirty="0">
                <a:latin typeface="Calibir"/>
              </a:rPr>
              <a:t>fully charge your laptop, </a:t>
            </a:r>
          </a:p>
          <a:p>
            <a:pPr marL="914400" lvl="1" indent="-457200">
              <a:lnSpc>
                <a:spcPct val="150000"/>
              </a:lnSpc>
              <a:buFont typeface="Arial" panose="020B0604020202020204" pitchFamily="34" charset="0"/>
              <a:buChar char="•"/>
            </a:pPr>
            <a:r>
              <a:rPr lang="en-US" sz="2800" dirty="0">
                <a:latin typeface="Calibir"/>
              </a:rPr>
              <a:t>or keep charger connected.</a:t>
            </a:r>
          </a:p>
        </p:txBody>
      </p:sp>
    </p:spTree>
    <p:extLst>
      <p:ext uri="{BB962C8B-B14F-4D97-AF65-F5344CB8AC3E}">
        <p14:creationId xmlns:p14="http://schemas.microsoft.com/office/powerpoint/2010/main" val="898121904"/>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B16E02-7D4C-CF5F-6108-34C220D28F64}"/>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7A40719B-7BDC-6103-8D01-A617608E79C9}"/>
              </a:ext>
            </a:extLst>
          </p:cNvPr>
          <p:cNvSpPr txBox="1"/>
          <p:nvPr/>
        </p:nvSpPr>
        <p:spPr>
          <a:xfrm>
            <a:off x="0" y="0"/>
            <a:ext cx="8976732" cy="584775"/>
          </a:xfrm>
          <a:prstGeom prst="rect">
            <a:avLst/>
          </a:prstGeom>
          <a:noFill/>
        </p:spPr>
        <p:txBody>
          <a:bodyPr wrap="square" rtlCol="0">
            <a:spAutoFit/>
          </a:bodyPr>
          <a:lstStyle/>
          <a:p>
            <a:pPr lvl="0">
              <a:defRPr/>
            </a:pPr>
            <a:r>
              <a:rPr lang="en-US" sz="3200" b="1" dirty="0">
                <a:solidFill>
                  <a:prstClr val="black"/>
                </a:solidFill>
                <a:latin typeface="Calibri" panose="020F0502020204030204" pitchFamily="34" charset="0"/>
                <a:cs typeface="Calibri" panose="020F0502020204030204" pitchFamily="34" charset="0"/>
              </a:rPr>
              <a:t>Before Starting the Test</a:t>
            </a:r>
            <a:endParaRPr kumimoji="0" lang="en-US" sz="3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6" name="TextBox 5">
            <a:extLst>
              <a:ext uri="{FF2B5EF4-FFF2-40B4-BE49-F238E27FC236}">
                <a16:creationId xmlns:a16="http://schemas.microsoft.com/office/drawing/2014/main" id="{37AD9BE6-AAC7-D739-50F4-225E142265DD}"/>
              </a:ext>
            </a:extLst>
          </p:cNvPr>
          <p:cNvSpPr txBox="1"/>
          <p:nvPr/>
        </p:nvSpPr>
        <p:spPr>
          <a:xfrm>
            <a:off x="0" y="810850"/>
            <a:ext cx="12192000" cy="3257174"/>
          </a:xfrm>
          <a:prstGeom prst="rect">
            <a:avLst/>
          </a:prstGeom>
          <a:noFill/>
        </p:spPr>
        <p:txBody>
          <a:bodyPr wrap="square">
            <a:spAutoFit/>
          </a:bodyPr>
          <a:lstStyle/>
          <a:p>
            <a:pPr>
              <a:lnSpc>
                <a:spcPct val="150000"/>
              </a:lnSpc>
            </a:pPr>
            <a:r>
              <a:rPr lang="en-US" sz="2800" b="1" dirty="0">
                <a:latin typeface="Calibir"/>
              </a:rPr>
              <a:t>4. Use Only ONE Device</a:t>
            </a:r>
          </a:p>
          <a:p>
            <a:pPr>
              <a:lnSpc>
                <a:spcPct val="150000"/>
              </a:lnSpc>
            </a:pPr>
            <a:r>
              <a:rPr lang="en-US" sz="2800" dirty="0">
                <a:latin typeface="Calibir"/>
              </a:rPr>
              <a:t>You must:</a:t>
            </a:r>
          </a:p>
          <a:p>
            <a:pPr marL="914400" lvl="1" indent="-457200">
              <a:lnSpc>
                <a:spcPct val="150000"/>
              </a:lnSpc>
              <a:buFont typeface="Arial" panose="020B0604020202020204" pitchFamily="34" charset="0"/>
              <a:buChar char="•"/>
            </a:pPr>
            <a:r>
              <a:rPr lang="en-US" sz="2800" dirty="0">
                <a:latin typeface="Calibir"/>
              </a:rPr>
              <a:t>use one computer only, </a:t>
            </a:r>
          </a:p>
          <a:p>
            <a:pPr marL="914400" lvl="1" indent="-457200">
              <a:lnSpc>
                <a:spcPct val="150000"/>
              </a:lnSpc>
              <a:buFont typeface="Arial" panose="020B0604020202020204" pitchFamily="34" charset="0"/>
              <a:buChar char="•"/>
            </a:pPr>
            <a:r>
              <a:rPr lang="en-US" sz="2800" dirty="0">
                <a:latin typeface="Calibir"/>
              </a:rPr>
              <a:t>one browser only, </a:t>
            </a:r>
          </a:p>
          <a:p>
            <a:pPr marL="914400" lvl="1" indent="-457200">
              <a:lnSpc>
                <a:spcPct val="150000"/>
              </a:lnSpc>
              <a:buFont typeface="Arial" panose="020B0604020202020204" pitchFamily="34" charset="0"/>
              <a:buChar char="•"/>
            </a:pPr>
            <a:r>
              <a:rPr lang="en-US" sz="2800" dirty="0">
                <a:latin typeface="Calibir"/>
              </a:rPr>
              <a:t>one Blackboard tab only. </a:t>
            </a:r>
          </a:p>
        </p:txBody>
      </p:sp>
    </p:spTree>
    <p:extLst>
      <p:ext uri="{BB962C8B-B14F-4D97-AF65-F5344CB8AC3E}">
        <p14:creationId xmlns:p14="http://schemas.microsoft.com/office/powerpoint/2010/main" val="943844638"/>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134AAE-FE2B-B2AD-4E30-86EE626FCE76}"/>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8FA56BB3-60D8-9688-7626-D105AC62F216}"/>
              </a:ext>
            </a:extLst>
          </p:cNvPr>
          <p:cNvSpPr txBox="1"/>
          <p:nvPr/>
        </p:nvSpPr>
        <p:spPr>
          <a:xfrm>
            <a:off x="0" y="0"/>
            <a:ext cx="8976732" cy="584775"/>
          </a:xfrm>
          <a:prstGeom prst="rect">
            <a:avLst/>
          </a:prstGeom>
          <a:noFill/>
        </p:spPr>
        <p:txBody>
          <a:bodyPr wrap="square" rtlCol="0">
            <a:spAutoFit/>
          </a:bodyPr>
          <a:lstStyle/>
          <a:p>
            <a:pPr lvl="0">
              <a:defRPr/>
            </a:pPr>
            <a:r>
              <a:rPr lang="en-US" sz="3200" b="1" dirty="0">
                <a:solidFill>
                  <a:prstClr val="black"/>
                </a:solidFill>
                <a:latin typeface="Calibri" panose="020F0502020204030204" pitchFamily="34" charset="0"/>
                <a:cs typeface="Calibri" panose="020F0502020204030204" pitchFamily="34" charset="0"/>
              </a:rPr>
              <a:t>Before Starting the Test</a:t>
            </a:r>
            <a:endParaRPr kumimoji="0" lang="en-US" sz="3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6" name="TextBox 5">
            <a:extLst>
              <a:ext uri="{FF2B5EF4-FFF2-40B4-BE49-F238E27FC236}">
                <a16:creationId xmlns:a16="http://schemas.microsoft.com/office/drawing/2014/main" id="{D7C688CE-7CED-35F8-F206-574BA2F5408C}"/>
              </a:ext>
            </a:extLst>
          </p:cNvPr>
          <p:cNvSpPr txBox="1"/>
          <p:nvPr/>
        </p:nvSpPr>
        <p:spPr>
          <a:xfrm>
            <a:off x="0" y="810850"/>
            <a:ext cx="12192000" cy="3903504"/>
          </a:xfrm>
          <a:prstGeom prst="rect">
            <a:avLst/>
          </a:prstGeom>
          <a:noFill/>
        </p:spPr>
        <p:txBody>
          <a:bodyPr wrap="square">
            <a:spAutoFit/>
          </a:bodyPr>
          <a:lstStyle/>
          <a:p>
            <a:pPr>
              <a:lnSpc>
                <a:spcPct val="150000"/>
              </a:lnSpc>
            </a:pPr>
            <a:r>
              <a:rPr lang="en-US" sz="2800" b="1" dirty="0">
                <a:latin typeface="Calibir"/>
              </a:rPr>
              <a:t>Avoid</a:t>
            </a:r>
          </a:p>
          <a:p>
            <a:pPr>
              <a:lnSpc>
                <a:spcPct val="150000"/>
              </a:lnSpc>
            </a:pPr>
            <a:r>
              <a:rPr lang="en-US" sz="2800" dirty="0">
                <a:latin typeface="Calibir"/>
              </a:rPr>
              <a:t>Do NOT:</a:t>
            </a:r>
          </a:p>
          <a:p>
            <a:pPr marL="914400" lvl="1" indent="-457200">
              <a:lnSpc>
                <a:spcPct val="150000"/>
              </a:lnSpc>
              <a:buFont typeface="Arial" panose="020B0604020202020204" pitchFamily="34" charset="0"/>
              <a:buChar char="•"/>
            </a:pPr>
            <a:r>
              <a:rPr lang="en-US" sz="2800" dirty="0">
                <a:latin typeface="Calibir"/>
              </a:rPr>
              <a:t>open Blackboard in multiple tabs, </a:t>
            </a:r>
          </a:p>
          <a:p>
            <a:pPr marL="914400" lvl="1" indent="-457200">
              <a:lnSpc>
                <a:spcPct val="150000"/>
              </a:lnSpc>
              <a:buFont typeface="Arial" panose="020B0604020202020204" pitchFamily="34" charset="0"/>
              <a:buChar char="•"/>
            </a:pPr>
            <a:r>
              <a:rPr lang="en-US" sz="2800" dirty="0">
                <a:latin typeface="Calibir"/>
              </a:rPr>
              <a:t>switch devices, </a:t>
            </a:r>
          </a:p>
          <a:p>
            <a:pPr marL="914400" lvl="1" indent="-457200">
              <a:lnSpc>
                <a:spcPct val="150000"/>
              </a:lnSpc>
              <a:buFont typeface="Arial" panose="020B0604020202020204" pitchFamily="34" charset="0"/>
              <a:buChar char="•"/>
            </a:pPr>
            <a:r>
              <a:rPr lang="en-US" sz="2800" dirty="0">
                <a:latin typeface="Calibir"/>
              </a:rPr>
              <a:t>login from phone and laptop together. </a:t>
            </a:r>
          </a:p>
          <a:p>
            <a:pPr>
              <a:lnSpc>
                <a:spcPct val="150000"/>
              </a:lnSpc>
            </a:pPr>
            <a:r>
              <a:rPr lang="en-US" sz="2800" dirty="0">
                <a:latin typeface="Calibir"/>
              </a:rPr>
              <a:t>This may break the test.</a:t>
            </a:r>
          </a:p>
        </p:txBody>
      </p:sp>
    </p:spTree>
    <p:extLst>
      <p:ext uri="{BB962C8B-B14F-4D97-AF65-F5344CB8AC3E}">
        <p14:creationId xmlns:p14="http://schemas.microsoft.com/office/powerpoint/2010/main" val="57664637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65FABA-2A61-8B76-7B5D-8710668BAC5B}"/>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96104D69-0007-DEA4-15FB-0304A0A0D229}"/>
              </a:ext>
            </a:extLst>
          </p:cNvPr>
          <p:cNvSpPr txBox="1"/>
          <p:nvPr/>
        </p:nvSpPr>
        <p:spPr>
          <a:xfrm>
            <a:off x="0" y="0"/>
            <a:ext cx="8976732" cy="584775"/>
          </a:xfrm>
          <a:prstGeom prst="rect">
            <a:avLst/>
          </a:prstGeom>
          <a:noFill/>
        </p:spPr>
        <p:txBody>
          <a:bodyPr wrap="square" rtlCol="0">
            <a:spAutoFit/>
          </a:bodyPr>
          <a:lstStyle/>
          <a:p>
            <a:pPr lvl="0">
              <a:defRPr/>
            </a:pPr>
            <a:r>
              <a:rPr lang="en-US" sz="3200" b="1" dirty="0">
                <a:solidFill>
                  <a:prstClr val="black"/>
                </a:solidFill>
                <a:latin typeface="Calibri" panose="020F0502020204030204" pitchFamily="34" charset="0"/>
                <a:cs typeface="Calibri" panose="020F0502020204030204" pitchFamily="34" charset="0"/>
              </a:rPr>
              <a:t>Before Starting the Test</a:t>
            </a:r>
            <a:endParaRPr kumimoji="0" lang="en-US" sz="3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6" name="TextBox 5">
            <a:extLst>
              <a:ext uri="{FF2B5EF4-FFF2-40B4-BE49-F238E27FC236}">
                <a16:creationId xmlns:a16="http://schemas.microsoft.com/office/drawing/2014/main" id="{84FFC260-BC6D-18C1-6A98-43A527E2D5EC}"/>
              </a:ext>
            </a:extLst>
          </p:cNvPr>
          <p:cNvSpPr txBox="1"/>
          <p:nvPr/>
        </p:nvSpPr>
        <p:spPr>
          <a:xfrm>
            <a:off x="0" y="810850"/>
            <a:ext cx="12192000" cy="4549835"/>
          </a:xfrm>
          <a:prstGeom prst="rect">
            <a:avLst/>
          </a:prstGeom>
          <a:noFill/>
        </p:spPr>
        <p:txBody>
          <a:bodyPr wrap="square">
            <a:spAutoFit/>
          </a:bodyPr>
          <a:lstStyle/>
          <a:p>
            <a:pPr>
              <a:lnSpc>
                <a:spcPct val="150000"/>
              </a:lnSpc>
            </a:pPr>
            <a:r>
              <a:rPr lang="en-US" sz="2800" b="1" dirty="0">
                <a:latin typeface="Calibir"/>
              </a:rPr>
              <a:t>9. During the Test</a:t>
            </a:r>
          </a:p>
          <a:p>
            <a:pPr>
              <a:lnSpc>
                <a:spcPct val="150000"/>
              </a:lnSpc>
            </a:pPr>
            <a:r>
              <a:rPr lang="en-US" sz="2800" b="1" dirty="0">
                <a:latin typeface="Calibir"/>
              </a:rPr>
              <a:t>Once You Click “Begin”</a:t>
            </a:r>
          </a:p>
          <a:p>
            <a:pPr>
              <a:lnSpc>
                <a:spcPct val="150000"/>
              </a:lnSpc>
            </a:pPr>
            <a:r>
              <a:rPr lang="en-US" sz="2800" dirty="0">
                <a:latin typeface="Calibir"/>
              </a:rPr>
              <a:t>You have:</a:t>
            </a:r>
          </a:p>
          <a:p>
            <a:pPr>
              <a:lnSpc>
                <a:spcPct val="150000"/>
              </a:lnSpc>
            </a:pPr>
            <a:r>
              <a:rPr lang="en-US" sz="2800" b="1" dirty="0">
                <a:latin typeface="Calibir"/>
              </a:rPr>
              <a:t>ONLY 30 minutes</a:t>
            </a:r>
          </a:p>
          <a:p>
            <a:pPr>
              <a:lnSpc>
                <a:spcPct val="150000"/>
              </a:lnSpc>
            </a:pPr>
            <a:r>
              <a:rPr lang="en-US" sz="2800" dirty="0">
                <a:latin typeface="Calibir"/>
              </a:rPr>
              <a:t>The timer:</a:t>
            </a:r>
          </a:p>
          <a:p>
            <a:pPr marL="914400" lvl="1" indent="-457200">
              <a:lnSpc>
                <a:spcPct val="150000"/>
              </a:lnSpc>
              <a:buFont typeface="Arial" panose="020B0604020202020204" pitchFamily="34" charset="0"/>
              <a:buChar char="•"/>
            </a:pPr>
            <a:r>
              <a:rPr lang="en-US" sz="2800" dirty="0">
                <a:latin typeface="Calibir"/>
              </a:rPr>
              <a:t>DOES NOT stop, </a:t>
            </a:r>
          </a:p>
          <a:p>
            <a:pPr marL="914400" lvl="1" indent="-457200">
              <a:lnSpc>
                <a:spcPct val="150000"/>
              </a:lnSpc>
              <a:buFont typeface="Arial" panose="020B0604020202020204" pitchFamily="34" charset="0"/>
              <a:buChar char="•"/>
            </a:pPr>
            <a:r>
              <a:rPr lang="en-US" sz="2800" dirty="0">
                <a:latin typeface="Calibir"/>
              </a:rPr>
              <a:t>even if you leave the test.</a:t>
            </a:r>
          </a:p>
        </p:txBody>
      </p:sp>
    </p:spTree>
    <p:extLst>
      <p:ext uri="{BB962C8B-B14F-4D97-AF65-F5344CB8AC3E}">
        <p14:creationId xmlns:p14="http://schemas.microsoft.com/office/powerpoint/2010/main" val="85882402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A238F4-1957-D9B6-1638-982DF252C1FC}"/>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72D3E49-F868-AA3A-FF27-8BCE509ECCEC}"/>
              </a:ext>
            </a:extLst>
          </p:cNvPr>
          <p:cNvSpPr txBox="1"/>
          <p:nvPr/>
        </p:nvSpPr>
        <p:spPr>
          <a:xfrm>
            <a:off x="0" y="0"/>
            <a:ext cx="8976732" cy="584775"/>
          </a:xfrm>
          <a:prstGeom prst="rect">
            <a:avLst/>
          </a:prstGeom>
          <a:noFill/>
        </p:spPr>
        <p:txBody>
          <a:bodyPr wrap="square" rtlCol="0">
            <a:spAutoFit/>
          </a:bodyPr>
          <a:lstStyle/>
          <a:p>
            <a:pPr lvl="0">
              <a:defRPr/>
            </a:pPr>
            <a:r>
              <a:rPr lang="en-US" sz="3200" b="1" dirty="0">
                <a:solidFill>
                  <a:prstClr val="black"/>
                </a:solidFill>
                <a:latin typeface="Calibri" panose="020F0502020204030204" pitchFamily="34" charset="0"/>
                <a:cs typeface="Calibri" panose="020F0502020204030204" pitchFamily="34" charset="0"/>
              </a:rPr>
              <a:t>How to Answer Questions Properly</a:t>
            </a:r>
            <a:endParaRPr kumimoji="0" lang="en-US" sz="3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6" name="TextBox 5">
            <a:extLst>
              <a:ext uri="{FF2B5EF4-FFF2-40B4-BE49-F238E27FC236}">
                <a16:creationId xmlns:a16="http://schemas.microsoft.com/office/drawing/2014/main" id="{BEBA88AC-A19F-2820-B446-CD8177476209}"/>
              </a:ext>
            </a:extLst>
          </p:cNvPr>
          <p:cNvSpPr txBox="1"/>
          <p:nvPr/>
        </p:nvSpPr>
        <p:spPr>
          <a:xfrm>
            <a:off x="0" y="810850"/>
            <a:ext cx="12192000" cy="2610843"/>
          </a:xfrm>
          <a:prstGeom prst="rect">
            <a:avLst/>
          </a:prstGeom>
          <a:noFill/>
        </p:spPr>
        <p:txBody>
          <a:bodyPr wrap="square">
            <a:spAutoFit/>
          </a:bodyPr>
          <a:lstStyle/>
          <a:p>
            <a:pPr>
              <a:lnSpc>
                <a:spcPct val="150000"/>
              </a:lnSpc>
            </a:pPr>
            <a:r>
              <a:rPr lang="en-US" sz="2800" b="1" dirty="0">
                <a:latin typeface="Calibir"/>
              </a:rPr>
              <a:t>VERY IMPORTANT</a:t>
            </a:r>
          </a:p>
          <a:p>
            <a:pPr>
              <a:lnSpc>
                <a:spcPct val="150000"/>
              </a:lnSpc>
            </a:pPr>
            <a:r>
              <a:rPr lang="en-US" sz="2800" dirty="0">
                <a:latin typeface="Calibir"/>
              </a:rPr>
              <a:t>After answering each question:</a:t>
            </a:r>
          </a:p>
          <a:p>
            <a:pPr>
              <a:lnSpc>
                <a:spcPct val="150000"/>
              </a:lnSpc>
            </a:pPr>
            <a:r>
              <a:rPr lang="en-US" sz="2800" b="1" dirty="0">
                <a:latin typeface="Calibir"/>
              </a:rPr>
              <a:t>Click “CONTINUE”</a:t>
            </a:r>
          </a:p>
          <a:p>
            <a:pPr>
              <a:lnSpc>
                <a:spcPct val="150000"/>
              </a:lnSpc>
            </a:pPr>
            <a:r>
              <a:rPr lang="en-US" sz="2800" dirty="0">
                <a:latin typeface="Calibir"/>
              </a:rPr>
              <a:t>Do NOT click SUBMIT early.</a:t>
            </a:r>
          </a:p>
        </p:txBody>
      </p:sp>
    </p:spTree>
    <p:extLst>
      <p:ext uri="{BB962C8B-B14F-4D97-AF65-F5344CB8AC3E}">
        <p14:creationId xmlns:p14="http://schemas.microsoft.com/office/powerpoint/2010/main" val="99810871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EABAF9-6462-9630-285E-7911C88E0D8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2CDBF0CA-5AE1-9A54-C9AD-8FDB76350486}"/>
              </a:ext>
            </a:extLst>
          </p:cNvPr>
          <p:cNvSpPr txBox="1"/>
          <p:nvPr/>
        </p:nvSpPr>
        <p:spPr>
          <a:xfrm>
            <a:off x="0" y="0"/>
            <a:ext cx="8976732" cy="584775"/>
          </a:xfrm>
          <a:prstGeom prst="rect">
            <a:avLst/>
          </a:prstGeom>
          <a:noFill/>
        </p:spPr>
        <p:txBody>
          <a:bodyPr wrap="square" rtlCol="0">
            <a:spAutoFit/>
          </a:bodyPr>
          <a:lstStyle/>
          <a:p>
            <a:pPr lvl="0">
              <a:defRPr/>
            </a:pPr>
            <a:r>
              <a:rPr lang="en-US" sz="3200" b="1" dirty="0">
                <a:solidFill>
                  <a:prstClr val="black"/>
                </a:solidFill>
                <a:latin typeface="Calibri" panose="020F0502020204030204" pitchFamily="34" charset="0"/>
                <a:cs typeface="Calibri" panose="020F0502020204030204" pitchFamily="34" charset="0"/>
              </a:rPr>
              <a:t>How to Answer Questions Properly</a:t>
            </a:r>
            <a:endParaRPr kumimoji="0" lang="en-US" sz="3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6" name="TextBox 5">
            <a:extLst>
              <a:ext uri="{FF2B5EF4-FFF2-40B4-BE49-F238E27FC236}">
                <a16:creationId xmlns:a16="http://schemas.microsoft.com/office/drawing/2014/main" id="{78E88D61-51B4-DAC1-2A93-934113C980A9}"/>
              </a:ext>
            </a:extLst>
          </p:cNvPr>
          <p:cNvSpPr txBox="1"/>
          <p:nvPr/>
        </p:nvSpPr>
        <p:spPr>
          <a:xfrm>
            <a:off x="0" y="810850"/>
            <a:ext cx="12192000" cy="3903504"/>
          </a:xfrm>
          <a:prstGeom prst="rect">
            <a:avLst/>
          </a:prstGeom>
          <a:noFill/>
        </p:spPr>
        <p:txBody>
          <a:bodyPr wrap="square">
            <a:spAutoFit/>
          </a:bodyPr>
          <a:lstStyle/>
          <a:p>
            <a:pPr>
              <a:lnSpc>
                <a:spcPct val="150000"/>
              </a:lnSpc>
            </a:pPr>
            <a:r>
              <a:rPr lang="en-US" sz="2800" b="1" dirty="0">
                <a:latin typeface="Calibir"/>
              </a:rPr>
              <a:t>You Cannot Go Back</a:t>
            </a:r>
          </a:p>
          <a:p>
            <a:pPr>
              <a:lnSpc>
                <a:spcPct val="150000"/>
              </a:lnSpc>
            </a:pPr>
            <a:r>
              <a:rPr lang="en-US" sz="2800" dirty="0">
                <a:latin typeface="Calibir"/>
              </a:rPr>
              <a:t>Once you move forward:</a:t>
            </a:r>
          </a:p>
          <a:p>
            <a:pPr marL="914400" lvl="1" indent="-457200">
              <a:lnSpc>
                <a:spcPct val="150000"/>
              </a:lnSpc>
              <a:buFont typeface="Arial" panose="020B0604020202020204" pitchFamily="34" charset="0"/>
              <a:buChar char="•"/>
            </a:pPr>
            <a:r>
              <a:rPr lang="en-US" sz="2800" dirty="0">
                <a:latin typeface="Calibir"/>
              </a:rPr>
              <a:t>you cannot change answers. </a:t>
            </a:r>
          </a:p>
          <a:p>
            <a:pPr>
              <a:lnSpc>
                <a:spcPct val="150000"/>
              </a:lnSpc>
            </a:pPr>
            <a:r>
              <a:rPr lang="en-US" sz="2800" dirty="0">
                <a:latin typeface="Calibir"/>
              </a:rPr>
              <a:t>So:</a:t>
            </a:r>
          </a:p>
          <a:p>
            <a:pPr marL="914400" lvl="1" indent="-457200">
              <a:lnSpc>
                <a:spcPct val="150000"/>
              </a:lnSpc>
              <a:buFont typeface="Arial" panose="020B0604020202020204" pitchFamily="34" charset="0"/>
              <a:buChar char="•"/>
            </a:pPr>
            <a:r>
              <a:rPr lang="en-US" sz="2800" dirty="0">
                <a:latin typeface="Calibir"/>
              </a:rPr>
              <a:t>read carefully, </a:t>
            </a:r>
          </a:p>
          <a:p>
            <a:pPr marL="914400" lvl="1" indent="-457200">
              <a:lnSpc>
                <a:spcPct val="150000"/>
              </a:lnSpc>
              <a:buFont typeface="Arial" panose="020B0604020202020204" pitchFamily="34" charset="0"/>
              <a:buChar char="•"/>
            </a:pPr>
            <a:r>
              <a:rPr lang="en-US" sz="2800" dirty="0">
                <a:latin typeface="Calibir"/>
              </a:rPr>
              <a:t>double-check before continuing.</a:t>
            </a:r>
          </a:p>
        </p:txBody>
      </p:sp>
    </p:spTree>
    <p:extLst>
      <p:ext uri="{BB962C8B-B14F-4D97-AF65-F5344CB8AC3E}">
        <p14:creationId xmlns:p14="http://schemas.microsoft.com/office/powerpoint/2010/main" val="4013876784"/>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F7D238-AC18-F39E-02C1-A5D49B0F1A4B}"/>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E2274059-2DC5-ECC9-8F56-E35E7111703E}"/>
              </a:ext>
            </a:extLst>
          </p:cNvPr>
          <p:cNvSpPr txBox="1"/>
          <p:nvPr/>
        </p:nvSpPr>
        <p:spPr>
          <a:xfrm>
            <a:off x="0" y="0"/>
            <a:ext cx="8976732" cy="584775"/>
          </a:xfrm>
          <a:prstGeom prst="rect">
            <a:avLst/>
          </a:prstGeom>
          <a:noFill/>
        </p:spPr>
        <p:txBody>
          <a:bodyPr wrap="square" rtlCol="0">
            <a:spAutoFit/>
          </a:bodyPr>
          <a:lstStyle/>
          <a:p>
            <a:pPr lvl="0">
              <a:defRPr/>
            </a:pPr>
            <a:r>
              <a:rPr lang="en-US" sz="3200" b="1" dirty="0">
                <a:solidFill>
                  <a:prstClr val="black"/>
                </a:solidFill>
                <a:latin typeface="Calibri" panose="020F0502020204030204" pitchFamily="34" charset="0"/>
                <a:cs typeface="Calibri" panose="020F0502020204030204" pitchFamily="34" charset="0"/>
              </a:rPr>
              <a:t>Final Submission</a:t>
            </a:r>
            <a:endParaRPr kumimoji="0" lang="en-US" sz="3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6" name="TextBox 5">
            <a:extLst>
              <a:ext uri="{FF2B5EF4-FFF2-40B4-BE49-F238E27FC236}">
                <a16:creationId xmlns:a16="http://schemas.microsoft.com/office/drawing/2014/main" id="{7809F767-B7F0-67DB-E821-AF063AC013EF}"/>
              </a:ext>
            </a:extLst>
          </p:cNvPr>
          <p:cNvSpPr txBox="1"/>
          <p:nvPr/>
        </p:nvSpPr>
        <p:spPr>
          <a:xfrm>
            <a:off x="0" y="810850"/>
            <a:ext cx="12192000" cy="1964512"/>
          </a:xfrm>
          <a:prstGeom prst="rect">
            <a:avLst/>
          </a:prstGeom>
          <a:noFill/>
        </p:spPr>
        <p:txBody>
          <a:bodyPr wrap="square">
            <a:spAutoFit/>
          </a:bodyPr>
          <a:lstStyle/>
          <a:p>
            <a:pPr>
              <a:lnSpc>
                <a:spcPct val="150000"/>
              </a:lnSpc>
            </a:pPr>
            <a:r>
              <a:rPr lang="en-US" sz="2800" dirty="0">
                <a:latin typeface="Calibir"/>
              </a:rPr>
              <a:t>After answering ALL questions:</a:t>
            </a:r>
          </a:p>
          <a:p>
            <a:pPr>
              <a:lnSpc>
                <a:spcPct val="150000"/>
              </a:lnSpc>
            </a:pPr>
            <a:r>
              <a:rPr lang="en-US" sz="2800" b="1" dirty="0">
                <a:latin typeface="Calibir"/>
              </a:rPr>
              <a:t>Click “SUBMIT”</a:t>
            </a:r>
          </a:p>
          <a:p>
            <a:pPr>
              <a:lnSpc>
                <a:spcPct val="150000"/>
              </a:lnSpc>
            </a:pPr>
            <a:r>
              <a:rPr lang="en-US" sz="2800" dirty="0">
                <a:latin typeface="Calibir"/>
              </a:rPr>
              <a:t>Only submit when fully finished.</a:t>
            </a:r>
          </a:p>
        </p:txBody>
      </p:sp>
    </p:spTree>
    <p:extLst>
      <p:ext uri="{BB962C8B-B14F-4D97-AF65-F5344CB8AC3E}">
        <p14:creationId xmlns:p14="http://schemas.microsoft.com/office/powerpoint/2010/main" val="3097510543"/>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D9922A-8D0B-EB52-B0F0-C6762B4C8C3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6214EEE0-386C-1900-8C7C-B84AD64A61C5}"/>
              </a:ext>
            </a:extLst>
          </p:cNvPr>
          <p:cNvSpPr txBox="1"/>
          <p:nvPr/>
        </p:nvSpPr>
        <p:spPr>
          <a:xfrm>
            <a:off x="0" y="0"/>
            <a:ext cx="8976732" cy="584775"/>
          </a:xfrm>
          <a:prstGeom prst="rect">
            <a:avLst/>
          </a:prstGeom>
          <a:noFill/>
        </p:spPr>
        <p:txBody>
          <a:bodyPr wrap="square" rtlCol="0">
            <a:spAutoFit/>
          </a:bodyPr>
          <a:lstStyle/>
          <a:p>
            <a:pPr lvl="0">
              <a:defRPr/>
            </a:pPr>
            <a:r>
              <a:rPr lang="en-US" sz="3200" b="1" dirty="0">
                <a:solidFill>
                  <a:prstClr val="black"/>
                </a:solidFill>
                <a:latin typeface="Calibri" panose="020F0502020204030204" pitchFamily="34" charset="0"/>
                <a:cs typeface="Calibri" panose="020F0502020204030204" pitchFamily="34" charset="0"/>
              </a:rPr>
              <a:t>Automatic Submission</a:t>
            </a:r>
            <a:endParaRPr kumimoji="0" lang="en-US" sz="3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6" name="TextBox 5">
            <a:extLst>
              <a:ext uri="{FF2B5EF4-FFF2-40B4-BE49-F238E27FC236}">
                <a16:creationId xmlns:a16="http://schemas.microsoft.com/office/drawing/2014/main" id="{547AD8E8-6D29-2329-F02B-D01B6886611D}"/>
              </a:ext>
            </a:extLst>
          </p:cNvPr>
          <p:cNvSpPr txBox="1"/>
          <p:nvPr/>
        </p:nvSpPr>
        <p:spPr>
          <a:xfrm>
            <a:off x="0" y="810850"/>
            <a:ext cx="12192000" cy="1318181"/>
          </a:xfrm>
          <a:prstGeom prst="rect">
            <a:avLst/>
          </a:prstGeom>
          <a:noFill/>
        </p:spPr>
        <p:txBody>
          <a:bodyPr wrap="square">
            <a:spAutoFit/>
          </a:bodyPr>
          <a:lstStyle/>
          <a:p>
            <a:pPr>
              <a:lnSpc>
                <a:spcPct val="150000"/>
              </a:lnSpc>
            </a:pPr>
            <a:r>
              <a:rPr lang="en-US" sz="2800" dirty="0">
                <a:latin typeface="Calibir"/>
              </a:rPr>
              <a:t>If time finishes:</a:t>
            </a:r>
          </a:p>
          <a:p>
            <a:pPr marL="914400" lvl="1" indent="-457200">
              <a:lnSpc>
                <a:spcPct val="150000"/>
              </a:lnSpc>
              <a:buFont typeface="Arial" panose="020B0604020202020204" pitchFamily="34" charset="0"/>
              <a:buChar char="•"/>
            </a:pPr>
            <a:r>
              <a:rPr lang="en-US" sz="2800" dirty="0">
                <a:latin typeface="Calibir"/>
              </a:rPr>
              <a:t>Blackboard automatically saves and submits your work.</a:t>
            </a:r>
          </a:p>
        </p:txBody>
      </p:sp>
    </p:spTree>
    <p:extLst>
      <p:ext uri="{BB962C8B-B14F-4D97-AF65-F5344CB8AC3E}">
        <p14:creationId xmlns:p14="http://schemas.microsoft.com/office/powerpoint/2010/main" val="3679103234"/>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6EFABB-9F03-A36E-1BE6-1F6DB33A603B}"/>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A99D564D-3942-CDFD-F70A-AEEA1C324B21}"/>
              </a:ext>
            </a:extLst>
          </p:cNvPr>
          <p:cNvSpPr txBox="1"/>
          <p:nvPr/>
        </p:nvSpPr>
        <p:spPr>
          <a:xfrm>
            <a:off x="0" y="0"/>
            <a:ext cx="8976732" cy="584775"/>
          </a:xfrm>
          <a:prstGeom prst="rect">
            <a:avLst/>
          </a:prstGeom>
          <a:noFill/>
        </p:spPr>
        <p:txBody>
          <a:bodyPr wrap="square" rtlCol="0">
            <a:spAutoFit/>
          </a:bodyPr>
          <a:lstStyle/>
          <a:p>
            <a:pPr lvl="0">
              <a:defRPr/>
            </a:pPr>
            <a:r>
              <a:rPr lang="en-US" sz="3200" b="1" dirty="0">
                <a:solidFill>
                  <a:prstClr val="black"/>
                </a:solidFill>
                <a:latin typeface="Calibri" panose="020F0502020204030204" pitchFamily="34" charset="0"/>
                <a:cs typeface="Calibri" panose="020F0502020204030204" pitchFamily="34" charset="0"/>
              </a:rPr>
              <a:t>What Is NOT Allowed</a:t>
            </a:r>
            <a:endParaRPr kumimoji="0" lang="en-US" sz="3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6" name="TextBox 5">
            <a:extLst>
              <a:ext uri="{FF2B5EF4-FFF2-40B4-BE49-F238E27FC236}">
                <a16:creationId xmlns:a16="http://schemas.microsoft.com/office/drawing/2014/main" id="{0E67291E-1049-DACB-DAC8-BF41F787D6F9}"/>
              </a:ext>
            </a:extLst>
          </p:cNvPr>
          <p:cNvSpPr txBox="1"/>
          <p:nvPr/>
        </p:nvSpPr>
        <p:spPr>
          <a:xfrm>
            <a:off x="0" y="810850"/>
            <a:ext cx="12192000" cy="5196166"/>
          </a:xfrm>
          <a:prstGeom prst="rect">
            <a:avLst/>
          </a:prstGeom>
          <a:noFill/>
        </p:spPr>
        <p:txBody>
          <a:bodyPr wrap="square">
            <a:spAutoFit/>
          </a:bodyPr>
          <a:lstStyle/>
          <a:p>
            <a:pPr>
              <a:lnSpc>
                <a:spcPct val="150000"/>
              </a:lnSpc>
            </a:pPr>
            <a:r>
              <a:rPr lang="en-US" sz="2800" b="1" dirty="0">
                <a:latin typeface="Calibir"/>
              </a:rPr>
              <a:t>Students MUST NOT:</a:t>
            </a:r>
          </a:p>
          <a:p>
            <a:pPr>
              <a:lnSpc>
                <a:spcPct val="150000"/>
              </a:lnSpc>
            </a:pPr>
            <a:r>
              <a:rPr lang="en-US" sz="2800" b="1" dirty="0">
                <a:latin typeface="Calibir"/>
              </a:rPr>
              <a:t>Use:</a:t>
            </a:r>
          </a:p>
          <a:p>
            <a:pPr marL="914400" lvl="1" indent="-457200">
              <a:lnSpc>
                <a:spcPct val="150000"/>
              </a:lnSpc>
              <a:buFont typeface="Arial" panose="020B0604020202020204" pitchFamily="34" charset="0"/>
              <a:buChar char="•"/>
            </a:pPr>
            <a:r>
              <a:rPr lang="en-US" sz="2800" dirty="0">
                <a:latin typeface="Calibir"/>
              </a:rPr>
              <a:t>VPNs </a:t>
            </a:r>
          </a:p>
          <a:p>
            <a:pPr marL="914400" lvl="1" indent="-457200">
              <a:lnSpc>
                <a:spcPct val="150000"/>
              </a:lnSpc>
              <a:buFont typeface="Arial" panose="020B0604020202020204" pitchFamily="34" charset="0"/>
              <a:buChar char="•"/>
            </a:pPr>
            <a:r>
              <a:rPr lang="en-US" sz="2800" dirty="0">
                <a:latin typeface="Calibir"/>
              </a:rPr>
              <a:t>overseas IP addresses </a:t>
            </a:r>
          </a:p>
          <a:p>
            <a:pPr>
              <a:lnSpc>
                <a:spcPct val="150000"/>
              </a:lnSpc>
            </a:pPr>
            <a:r>
              <a:rPr lang="en-US" sz="2800" dirty="0">
                <a:latin typeface="Calibir"/>
              </a:rPr>
              <a:t>Penalties apply.</a:t>
            </a:r>
          </a:p>
          <a:p>
            <a:pPr>
              <a:lnSpc>
                <a:spcPct val="150000"/>
              </a:lnSpc>
            </a:pPr>
            <a:r>
              <a:rPr lang="en-US" sz="2800" b="1" dirty="0">
                <a:latin typeface="Calibir"/>
              </a:rPr>
              <a:t>Use:</a:t>
            </a:r>
          </a:p>
          <a:p>
            <a:pPr marL="914400" lvl="1" indent="-457200">
              <a:lnSpc>
                <a:spcPct val="150000"/>
              </a:lnSpc>
              <a:buFont typeface="Arial" panose="020B0604020202020204" pitchFamily="34" charset="0"/>
              <a:buChar char="•"/>
            </a:pPr>
            <a:r>
              <a:rPr lang="en-US" sz="2800" dirty="0">
                <a:latin typeface="Calibir"/>
              </a:rPr>
              <a:t>mobile phones </a:t>
            </a:r>
          </a:p>
          <a:p>
            <a:pPr marL="914400" lvl="1" indent="-457200">
              <a:lnSpc>
                <a:spcPct val="150000"/>
              </a:lnSpc>
              <a:buFont typeface="Arial" panose="020B0604020202020204" pitchFamily="34" charset="0"/>
              <a:buChar char="•"/>
            </a:pPr>
            <a:r>
              <a:rPr lang="en-US" sz="2800" dirty="0">
                <a:latin typeface="Calibir"/>
              </a:rPr>
              <a:t>tablets </a:t>
            </a:r>
          </a:p>
        </p:txBody>
      </p:sp>
    </p:spTree>
    <p:extLst>
      <p:ext uri="{BB962C8B-B14F-4D97-AF65-F5344CB8AC3E}">
        <p14:creationId xmlns:p14="http://schemas.microsoft.com/office/powerpoint/2010/main" val="2652953794"/>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73D033-9C85-3A71-48E8-18E669AC942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D84A1170-7A40-81A4-5DA7-735554B4172E}"/>
              </a:ext>
            </a:extLst>
          </p:cNvPr>
          <p:cNvSpPr txBox="1"/>
          <p:nvPr/>
        </p:nvSpPr>
        <p:spPr>
          <a:xfrm>
            <a:off x="0" y="0"/>
            <a:ext cx="8976732" cy="584775"/>
          </a:xfrm>
          <a:prstGeom prst="rect">
            <a:avLst/>
          </a:prstGeom>
          <a:noFill/>
        </p:spPr>
        <p:txBody>
          <a:bodyPr wrap="square" rtlCol="0">
            <a:spAutoFit/>
          </a:bodyPr>
          <a:lstStyle/>
          <a:p>
            <a:pPr lvl="0">
              <a:defRPr/>
            </a:pPr>
            <a:r>
              <a:rPr lang="en-US" sz="3200" b="1" dirty="0">
                <a:solidFill>
                  <a:prstClr val="black"/>
                </a:solidFill>
                <a:latin typeface="Calibri" panose="020F0502020204030204" pitchFamily="34" charset="0"/>
                <a:cs typeface="Calibri" panose="020F0502020204030204" pitchFamily="34" charset="0"/>
              </a:rPr>
              <a:t>What Is NOT Allowed</a:t>
            </a:r>
            <a:endParaRPr kumimoji="0" lang="en-US" sz="3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6" name="TextBox 5">
            <a:extLst>
              <a:ext uri="{FF2B5EF4-FFF2-40B4-BE49-F238E27FC236}">
                <a16:creationId xmlns:a16="http://schemas.microsoft.com/office/drawing/2014/main" id="{A1208863-2752-DB34-2B49-5A9EBC6B8FDF}"/>
              </a:ext>
            </a:extLst>
          </p:cNvPr>
          <p:cNvSpPr txBox="1"/>
          <p:nvPr/>
        </p:nvSpPr>
        <p:spPr>
          <a:xfrm>
            <a:off x="0" y="810850"/>
            <a:ext cx="12192000" cy="4549835"/>
          </a:xfrm>
          <a:prstGeom prst="rect">
            <a:avLst/>
          </a:prstGeom>
          <a:noFill/>
        </p:spPr>
        <p:txBody>
          <a:bodyPr wrap="square">
            <a:spAutoFit/>
          </a:bodyPr>
          <a:lstStyle/>
          <a:p>
            <a:pPr>
              <a:lnSpc>
                <a:spcPct val="150000"/>
              </a:lnSpc>
            </a:pPr>
            <a:r>
              <a:rPr lang="en-US" sz="2800" b="1" dirty="0">
                <a:latin typeface="Calibir"/>
              </a:rPr>
              <a:t>Open:</a:t>
            </a:r>
          </a:p>
          <a:p>
            <a:pPr marL="914400" lvl="1" indent="-457200">
              <a:lnSpc>
                <a:spcPct val="150000"/>
              </a:lnSpc>
              <a:buFont typeface="Arial" panose="020B0604020202020204" pitchFamily="34" charset="0"/>
              <a:buChar char="•"/>
            </a:pPr>
            <a:r>
              <a:rPr lang="en-US" sz="2800" dirty="0">
                <a:latin typeface="Calibir"/>
              </a:rPr>
              <a:t>multiple browsers </a:t>
            </a:r>
          </a:p>
          <a:p>
            <a:pPr marL="914400" lvl="1" indent="-457200">
              <a:lnSpc>
                <a:spcPct val="150000"/>
              </a:lnSpc>
              <a:buFont typeface="Arial" panose="020B0604020202020204" pitchFamily="34" charset="0"/>
              <a:buChar char="•"/>
            </a:pPr>
            <a:r>
              <a:rPr lang="en-US" sz="2800" dirty="0">
                <a:latin typeface="Calibir"/>
              </a:rPr>
              <a:t>multiple tabs </a:t>
            </a:r>
          </a:p>
          <a:p>
            <a:pPr marL="914400" lvl="1" indent="-457200">
              <a:lnSpc>
                <a:spcPct val="150000"/>
              </a:lnSpc>
              <a:buFont typeface="Arial" panose="020B0604020202020204" pitchFamily="34" charset="0"/>
              <a:buChar char="•"/>
            </a:pPr>
            <a:r>
              <a:rPr lang="en-US" sz="2800" dirty="0">
                <a:latin typeface="Calibir"/>
              </a:rPr>
              <a:t>multiple devices </a:t>
            </a:r>
          </a:p>
          <a:p>
            <a:pPr>
              <a:lnSpc>
                <a:spcPct val="150000"/>
              </a:lnSpc>
            </a:pPr>
            <a:r>
              <a:rPr lang="en-US" sz="2800" b="1" dirty="0">
                <a:latin typeface="Calibir"/>
              </a:rPr>
              <a:t>Restart the Test</a:t>
            </a:r>
          </a:p>
          <a:p>
            <a:pPr>
              <a:lnSpc>
                <a:spcPct val="150000"/>
              </a:lnSpc>
            </a:pPr>
            <a:r>
              <a:rPr lang="en-US" sz="2800" dirty="0">
                <a:latin typeface="Calibir"/>
              </a:rPr>
              <a:t>Once submitted:</a:t>
            </a:r>
          </a:p>
          <a:p>
            <a:pPr marL="457200" indent="-457200">
              <a:lnSpc>
                <a:spcPct val="150000"/>
              </a:lnSpc>
              <a:buFont typeface="Arial" panose="020B0604020202020204" pitchFamily="34" charset="0"/>
              <a:buChar char="•"/>
            </a:pPr>
            <a:r>
              <a:rPr lang="en-US" sz="2800" dirty="0">
                <a:latin typeface="Calibir"/>
              </a:rPr>
              <a:t>	you cannot restart.</a:t>
            </a:r>
          </a:p>
        </p:txBody>
      </p:sp>
    </p:spTree>
    <p:extLst>
      <p:ext uri="{BB962C8B-B14F-4D97-AF65-F5344CB8AC3E}">
        <p14:creationId xmlns:p14="http://schemas.microsoft.com/office/powerpoint/2010/main" val="2508268618"/>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E239FE-048E-CB71-9C90-EF782508E9BC}"/>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269E3042-123A-B0AD-82F6-CF05C7323688}"/>
              </a:ext>
            </a:extLst>
          </p:cNvPr>
          <p:cNvSpPr txBox="1"/>
          <p:nvPr/>
        </p:nvSpPr>
        <p:spPr>
          <a:xfrm>
            <a:off x="0" y="0"/>
            <a:ext cx="8976732" cy="584775"/>
          </a:xfrm>
          <a:prstGeom prst="rect">
            <a:avLst/>
          </a:prstGeom>
          <a:noFill/>
        </p:spPr>
        <p:txBody>
          <a:bodyPr wrap="square" rtlCol="0">
            <a:spAutoFit/>
          </a:bodyPr>
          <a:lstStyle/>
          <a:p>
            <a:pPr lvl="0">
              <a:defRPr/>
            </a:pPr>
            <a:r>
              <a:rPr lang="en-US" sz="3200" b="1" dirty="0">
                <a:solidFill>
                  <a:prstClr val="black"/>
                </a:solidFill>
                <a:latin typeface="Calibri" panose="020F0502020204030204" pitchFamily="34" charset="0"/>
                <a:cs typeface="Calibri" panose="020F0502020204030204" pitchFamily="34" charset="0"/>
              </a:rPr>
              <a:t>If Technical Errors Happen</a:t>
            </a:r>
            <a:endParaRPr kumimoji="0" lang="en-US" sz="3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6" name="TextBox 5">
            <a:extLst>
              <a:ext uri="{FF2B5EF4-FFF2-40B4-BE49-F238E27FC236}">
                <a16:creationId xmlns:a16="http://schemas.microsoft.com/office/drawing/2014/main" id="{172B2968-3F39-B4B3-8B2E-F2EDBAF91770}"/>
              </a:ext>
            </a:extLst>
          </p:cNvPr>
          <p:cNvSpPr txBox="1"/>
          <p:nvPr/>
        </p:nvSpPr>
        <p:spPr>
          <a:xfrm>
            <a:off x="0" y="810850"/>
            <a:ext cx="12192000" cy="5842497"/>
          </a:xfrm>
          <a:prstGeom prst="rect">
            <a:avLst/>
          </a:prstGeom>
          <a:noFill/>
        </p:spPr>
        <p:txBody>
          <a:bodyPr wrap="square">
            <a:spAutoFit/>
          </a:bodyPr>
          <a:lstStyle/>
          <a:p>
            <a:pPr>
              <a:lnSpc>
                <a:spcPct val="150000"/>
              </a:lnSpc>
            </a:pPr>
            <a:r>
              <a:rPr lang="en-US" sz="2800" b="1" dirty="0">
                <a:latin typeface="Calibir"/>
              </a:rPr>
              <a:t>Do This Immediately</a:t>
            </a:r>
          </a:p>
          <a:p>
            <a:pPr>
              <a:lnSpc>
                <a:spcPct val="150000"/>
              </a:lnSpc>
            </a:pPr>
            <a:r>
              <a:rPr lang="en-US" sz="2800" b="1" dirty="0">
                <a:latin typeface="Calibir"/>
              </a:rPr>
              <a:t>Step 1</a:t>
            </a:r>
          </a:p>
          <a:p>
            <a:pPr>
              <a:lnSpc>
                <a:spcPct val="150000"/>
              </a:lnSpc>
            </a:pPr>
            <a:r>
              <a:rPr lang="en-US" sz="2800" dirty="0">
                <a:latin typeface="Calibir"/>
              </a:rPr>
              <a:t>Take a screenshot of the error.</a:t>
            </a:r>
          </a:p>
          <a:p>
            <a:pPr>
              <a:lnSpc>
                <a:spcPct val="150000"/>
              </a:lnSpc>
            </a:pPr>
            <a:r>
              <a:rPr lang="en-US" sz="2800" b="1" dirty="0">
                <a:latin typeface="Calibir"/>
              </a:rPr>
              <a:t>Step 2</a:t>
            </a:r>
          </a:p>
          <a:p>
            <a:pPr>
              <a:lnSpc>
                <a:spcPct val="150000"/>
              </a:lnSpc>
            </a:pPr>
            <a:r>
              <a:rPr lang="en-US" sz="2800" dirty="0">
                <a:latin typeface="Calibir"/>
              </a:rPr>
              <a:t>Email Blackboard Helpdesk DURING the test availability time.</a:t>
            </a:r>
          </a:p>
          <a:p>
            <a:pPr>
              <a:lnSpc>
                <a:spcPct val="150000"/>
              </a:lnSpc>
            </a:pPr>
            <a:r>
              <a:rPr lang="en-US" sz="2800" b="1" dirty="0">
                <a:latin typeface="Calibir"/>
              </a:rPr>
              <a:t>Email Must Include:</a:t>
            </a:r>
          </a:p>
          <a:p>
            <a:pPr marL="914400" lvl="1" indent="-457200">
              <a:lnSpc>
                <a:spcPct val="150000"/>
              </a:lnSpc>
              <a:buFont typeface="Arial" panose="020B0604020202020204" pitchFamily="34" charset="0"/>
              <a:buChar char="•"/>
            </a:pPr>
            <a:r>
              <a:rPr lang="en-US" sz="2800" dirty="0">
                <a:latin typeface="Calibir"/>
              </a:rPr>
              <a:t>student number </a:t>
            </a:r>
          </a:p>
          <a:p>
            <a:pPr marL="914400" lvl="1" indent="-457200">
              <a:lnSpc>
                <a:spcPct val="150000"/>
              </a:lnSpc>
              <a:buFont typeface="Arial" panose="020B0604020202020204" pitchFamily="34" charset="0"/>
              <a:buChar char="•"/>
            </a:pPr>
            <a:r>
              <a:rPr lang="en-US" sz="2800" dirty="0">
                <a:latin typeface="Calibir"/>
              </a:rPr>
              <a:t>unit code </a:t>
            </a:r>
          </a:p>
          <a:p>
            <a:pPr>
              <a:lnSpc>
                <a:spcPct val="150000"/>
              </a:lnSpc>
            </a:pPr>
            <a:r>
              <a:rPr lang="en-US" sz="2800" dirty="0">
                <a:latin typeface="Calibir"/>
              </a:rPr>
              <a:t>in the subject line.</a:t>
            </a:r>
          </a:p>
        </p:txBody>
      </p:sp>
    </p:spTree>
    <p:extLst>
      <p:ext uri="{BB962C8B-B14F-4D97-AF65-F5344CB8AC3E}">
        <p14:creationId xmlns:p14="http://schemas.microsoft.com/office/powerpoint/2010/main" val="1366897703"/>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C0AB25-28B1-303E-BB03-AC6BD9F2079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609A22E5-7ACA-EF3B-E170-AA206B001B47}"/>
              </a:ext>
            </a:extLst>
          </p:cNvPr>
          <p:cNvSpPr txBox="1"/>
          <p:nvPr/>
        </p:nvSpPr>
        <p:spPr>
          <a:xfrm>
            <a:off x="0" y="0"/>
            <a:ext cx="8976732" cy="584775"/>
          </a:xfrm>
          <a:prstGeom prst="rect">
            <a:avLst/>
          </a:prstGeom>
          <a:noFill/>
        </p:spPr>
        <p:txBody>
          <a:bodyPr wrap="square" rtlCol="0">
            <a:spAutoFit/>
          </a:bodyPr>
          <a:lstStyle/>
          <a:p>
            <a:pPr lvl="0">
              <a:defRPr/>
            </a:pPr>
            <a:r>
              <a:rPr lang="en-US" sz="3200" b="1" dirty="0">
                <a:solidFill>
                  <a:prstClr val="black"/>
                </a:solidFill>
                <a:latin typeface="Calibri" panose="020F0502020204030204" pitchFamily="34" charset="0"/>
                <a:cs typeface="Calibri" panose="020F0502020204030204" pitchFamily="34" charset="0"/>
              </a:rPr>
              <a:t>If Technical Errors Happen</a:t>
            </a:r>
            <a:endParaRPr kumimoji="0" lang="en-US" sz="3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6" name="TextBox 5">
            <a:extLst>
              <a:ext uri="{FF2B5EF4-FFF2-40B4-BE49-F238E27FC236}">
                <a16:creationId xmlns:a16="http://schemas.microsoft.com/office/drawing/2014/main" id="{214B67E6-7105-43E7-3E02-143261B2E207}"/>
              </a:ext>
            </a:extLst>
          </p:cNvPr>
          <p:cNvSpPr txBox="1"/>
          <p:nvPr/>
        </p:nvSpPr>
        <p:spPr>
          <a:xfrm>
            <a:off x="0" y="810850"/>
            <a:ext cx="12192000" cy="3903504"/>
          </a:xfrm>
          <a:prstGeom prst="rect">
            <a:avLst/>
          </a:prstGeom>
          <a:noFill/>
        </p:spPr>
        <p:txBody>
          <a:bodyPr wrap="square">
            <a:spAutoFit/>
          </a:bodyPr>
          <a:lstStyle/>
          <a:p>
            <a:pPr>
              <a:lnSpc>
                <a:spcPct val="150000"/>
              </a:lnSpc>
            </a:pPr>
            <a:r>
              <a:rPr lang="en-US" sz="2800" b="1" dirty="0">
                <a:latin typeface="Calibir"/>
              </a:rPr>
              <a:t>Important</a:t>
            </a:r>
          </a:p>
          <a:p>
            <a:pPr>
              <a:lnSpc>
                <a:spcPct val="150000"/>
              </a:lnSpc>
            </a:pPr>
            <a:r>
              <a:rPr lang="en-US" sz="2800" dirty="0">
                <a:latin typeface="Calibir"/>
              </a:rPr>
              <a:t>Do NOT contact:</a:t>
            </a:r>
          </a:p>
          <a:p>
            <a:pPr marL="914400" lvl="1" indent="-457200">
              <a:lnSpc>
                <a:spcPct val="150000"/>
              </a:lnSpc>
              <a:buFont typeface="Arial" panose="020B0604020202020204" pitchFamily="34" charset="0"/>
              <a:buChar char="•"/>
            </a:pPr>
            <a:r>
              <a:rPr lang="en-US" sz="2800" dirty="0">
                <a:latin typeface="Calibir"/>
              </a:rPr>
              <a:t>Student Services </a:t>
            </a:r>
          </a:p>
          <a:p>
            <a:pPr marL="914400" lvl="1" indent="-457200">
              <a:lnSpc>
                <a:spcPct val="150000"/>
              </a:lnSpc>
              <a:buFont typeface="Arial" panose="020B0604020202020204" pitchFamily="34" charset="0"/>
              <a:buChar char="•"/>
            </a:pPr>
            <a:r>
              <a:rPr lang="en-US" sz="2800" dirty="0">
                <a:latin typeface="Calibir"/>
              </a:rPr>
              <a:t>Lecturer </a:t>
            </a:r>
          </a:p>
          <a:p>
            <a:pPr>
              <a:lnSpc>
                <a:spcPct val="150000"/>
              </a:lnSpc>
            </a:pPr>
            <a:r>
              <a:rPr lang="en-US" sz="2800" dirty="0">
                <a:latin typeface="Calibir"/>
              </a:rPr>
              <a:t>for technical support.</a:t>
            </a:r>
          </a:p>
          <a:p>
            <a:pPr>
              <a:lnSpc>
                <a:spcPct val="150000"/>
              </a:lnSpc>
            </a:pPr>
            <a:r>
              <a:rPr lang="en-US" sz="2800" dirty="0">
                <a:latin typeface="Calibir"/>
              </a:rPr>
              <a:t>Only Blackboard Helpdesk handles technical issues.</a:t>
            </a:r>
          </a:p>
        </p:txBody>
      </p:sp>
    </p:spTree>
    <p:extLst>
      <p:ext uri="{BB962C8B-B14F-4D97-AF65-F5344CB8AC3E}">
        <p14:creationId xmlns:p14="http://schemas.microsoft.com/office/powerpoint/2010/main" val="1323953119"/>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424D7C-AB9B-D1EF-8884-1C3F4ED5E8B0}"/>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DA8B8239-EFCF-F1BB-4F0A-6F3130DD5150}"/>
              </a:ext>
            </a:extLst>
          </p:cNvPr>
          <p:cNvSpPr txBox="1"/>
          <p:nvPr/>
        </p:nvSpPr>
        <p:spPr>
          <a:xfrm>
            <a:off x="0" y="0"/>
            <a:ext cx="8976732" cy="584775"/>
          </a:xfrm>
          <a:prstGeom prst="rect">
            <a:avLst/>
          </a:prstGeom>
          <a:noFill/>
        </p:spPr>
        <p:txBody>
          <a:bodyPr wrap="square" rtlCol="0">
            <a:spAutoFit/>
          </a:bodyPr>
          <a:lstStyle/>
          <a:p>
            <a:pPr lvl="0">
              <a:defRPr/>
            </a:pPr>
            <a:r>
              <a:rPr lang="en-US" sz="3200" b="1" dirty="0">
                <a:solidFill>
                  <a:prstClr val="black"/>
                </a:solidFill>
                <a:latin typeface="Calibri" panose="020F0502020204030204" pitchFamily="34" charset="0"/>
                <a:cs typeface="Calibri" panose="020F0502020204030204" pitchFamily="34" charset="0"/>
              </a:rPr>
              <a:t>How to Become Successful in This Unit</a:t>
            </a:r>
            <a:endParaRPr kumimoji="0" lang="en-US" sz="3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6" name="TextBox 5">
            <a:extLst>
              <a:ext uri="{FF2B5EF4-FFF2-40B4-BE49-F238E27FC236}">
                <a16:creationId xmlns:a16="http://schemas.microsoft.com/office/drawing/2014/main" id="{05A76A20-02AA-B7C7-5C57-C05B7D7B43E8}"/>
              </a:ext>
            </a:extLst>
          </p:cNvPr>
          <p:cNvSpPr txBox="1"/>
          <p:nvPr/>
        </p:nvSpPr>
        <p:spPr>
          <a:xfrm>
            <a:off x="0" y="1477248"/>
            <a:ext cx="12192000" cy="3903504"/>
          </a:xfrm>
          <a:prstGeom prst="rect">
            <a:avLst/>
          </a:prstGeom>
          <a:noFill/>
        </p:spPr>
        <p:txBody>
          <a:bodyPr wrap="square">
            <a:spAutoFit/>
          </a:bodyPr>
          <a:lstStyle/>
          <a:p>
            <a:pPr>
              <a:lnSpc>
                <a:spcPct val="150000"/>
              </a:lnSpc>
            </a:pPr>
            <a:r>
              <a:rPr lang="en-US" sz="2800" b="1" dirty="0">
                <a:latin typeface="Calibir"/>
              </a:rPr>
              <a:t>Step 2 – </a:t>
            </a:r>
            <a:r>
              <a:rPr lang="en-US" sz="2800" b="1" dirty="0" err="1">
                <a:latin typeface="Calibir"/>
              </a:rPr>
              <a:t>Practise</a:t>
            </a:r>
            <a:r>
              <a:rPr lang="en-US" sz="2800" b="1" dirty="0">
                <a:latin typeface="Calibir"/>
              </a:rPr>
              <a:t> HTML Every Week</a:t>
            </a:r>
          </a:p>
          <a:p>
            <a:pPr>
              <a:lnSpc>
                <a:spcPct val="150000"/>
              </a:lnSpc>
            </a:pPr>
            <a:r>
              <a:rPr lang="en-US" sz="2800" dirty="0">
                <a:latin typeface="Calibir"/>
              </a:rPr>
              <a:t>Web Design is a skill.</a:t>
            </a:r>
          </a:p>
          <a:p>
            <a:pPr>
              <a:lnSpc>
                <a:spcPct val="150000"/>
              </a:lnSpc>
            </a:pPr>
            <a:r>
              <a:rPr lang="en-US" sz="2800" dirty="0">
                <a:latin typeface="Calibir"/>
              </a:rPr>
              <a:t>You improve only through practice.</a:t>
            </a:r>
          </a:p>
          <a:p>
            <a:pPr>
              <a:lnSpc>
                <a:spcPct val="150000"/>
              </a:lnSpc>
            </a:pPr>
            <a:r>
              <a:rPr lang="en-US" sz="2800" b="1" dirty="0">
                <a:latin typeface="Calibir"/>
              </a:rPr>
              <a:t>Daily Practice Recommendation</a:t>
            </a:r>
          </a:p>
          <a:p>
            <a:pPr>
              <a:lnSpc>
                <a:spcPct val="150000"/>
              </a:lnSpc>
            </a:pPr>
            <a:r>
              <a:rPr lang="en-US" sz="2800" dirty="0">
                <a:latin typeface="Calibir"/>
              </a:rPr>
              <a:t>Practice:</a:t>
            </a:r>
          </a:p>
          <a:p>
            <a:pPr marL="914400" lvl="1" indent="-457200">
              <a:lnSpc>
                <a:spcPct val="150000"/>
              </a:lnSpc>
              <a:buFont typeface="Arial" panose="020B0604020202020204" pitchFamily="34" charset="0"/>
              <a:buChar char="•"/>
            </a:pPr>
            <a:r>
              <a:rPr lang="en-US" sz="2800" dirty="0">
                <a:latin typeface="Calibir"/>
              </a:rPr>
              <a:t>30–60 minutes daily. </a:t>
            </a:r>
          </a:p>
        </p:txBody>
      </p:sp>
    </p:spTree>
    <p:extLst>
      <p:ext uri="{BB962C8B-B14F-4D97-AF65-F5344CB8AC3E}">
        <p14:creationId xmlns:p14="http://schemas.microsoft.com/office/powerpoint/2010/main" val="1859797558"/>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5A80E5-3F54-6FF6-D26E-C04E482548AE}"/>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7BB9DBE8-C4AD-DC4E-575C-FE06CE47ED81}"/>
              </a:ext>
            </a:extLst>
          </p:cNvPr>
          <p:cNvSpPr txBox="1"/>
          <p:nvPr/>
        </p:nvSpPr>
        <p:spPr>
          <a:xfrm>
            <a:off x="0" y="0"/>
            <a:ext cx="8976732" cy="584775"/>
          </a:xfrm>
          <a:prstGeom prst="rect">
            <a:avLst/>
          </a:prstGeom>
          <a:noFill/>
        </p:spPr>
        <p:txBody>
          <a:bodyPr wrap="square" rtlCol="0">
            <a:spAutoFit/>
          </a:bodyPr>
          <a:lstStyle/>
          <a:p>
            <a:pPr lvl="0">
              <a:defRPr/>
            </a:pPr>
            <a:r>
              <a:rPr lang="en-US" sz="3200" b="1" dirty="0">
                <a:solidFill>
                  <a:prstClr val="black"/>
                </a:solidFill>
                <a:latin typeface="Calibri" panose="020F0502020204030204" pitchFamily="34" charset="0"/>
                <a:cs typeface="Calibri" panose="020F0502020204030204" pitchFamily="34" charset="0"/>
              </a:rPr>
              <a:t>How to Become Successful in This Unit</a:t>
            </a:r>
            <a:endParaRPr kumimoji="0" lang="en-US" sz="3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6" name="TextBox 5">
            <a:extLst>
              <a:ext uri="{FF2B5EF4-FFF2-40B4-BE49-F238E27FC236}">
                <a16:creationId xmlns:a16="http://schemas.microsoft.com/office/drawing/2014/main" id="{02EB412F-7580-6A8E-3B76-72C310D3B1E2}"/>
              </a:ext>
            </a:extLst>
          </p:cNvPr>
          <p:cNvSpPr txBox="1"/>
          <p:nvPr/>
        </p:nvSpPr>
        <p:spPr>
          <a:xfrm>
            <a:off x="0" y="1477248"/>
            <a:ext cx="12192000" cy="3903504"/>
          </a:xfrm>
          <a:prstGeom prst="rect">
            <a:avLst/>
          </a:prstGeom>
          <a:noFill/>
        </p:spPr>
        <p:txBody>
          <a:bodyPr wrap="square">
            <a:spAutoFit/>
          </a:bodyPr>
          <a:lstStyle/>
          <a:p>
            <a:pPr>
              <a:lnSpc>
                <a:spcPct val="150000"/>
              </a:lnSpc>
            </a:pPr>
            <a:r>
              <a:rPr lang="en-US" sz="2800" b="1" dirty="0">
                <a:latin typeface="Calibir"/>
              </a:rPr>
              <a:t>Example Practice Tasks</a:t>
            </a:r>
          </a:p>
          <a:p>
            <a:pPr>
              <a:lnSpc>
                <a:spcPct val="150000"/>
              </a:lnSpc>
            </a:pPr>
            <a:r>
              <a:rPr lang="en-US" sz="2800" dirty="0">
                <a:latin typeface="Calibir"/>
              </a:rPr>
              <a:t>Build:</a:t>
            </a:r>
          </a:p>
          <a:p>
            <a:pPr marL="914400" lvl="1" indent="-457200">
              <a:lnSpc>
                <a:spcPct val="150000"/>
              </a:lnSpc>
              <a:buFont typeface="Arial" panose="020B0604020202020204" pitchFamily="34" charset="0"/>
              <a:buChar char="•"/>
            </a:pPr>
            <a:r>
              <a:rPr lang="en-US" sz="2800" dirty="0">
                <a:latin typeface="Calibir"/>
              </a:rPr>
              <a:t>personal webpage, </a:t>
            </a:r>
          </a:p>
          <a:p>
            <a:pPr marL="914400" lvl="1" indent="-457200">
              <a:lnSpc>
                <a:spcPct val="150000"/>
              </a:lnSpc>
              <a:buFont typeface="Arial" panose="020B0604020202020204" pitchFamily="34" charset="0"/>
              <a:buChar char="•"/>
            </a:pPr>
            <a:r>
              <a:rPr lang="en-US" sz="2800" dirty="0">
                <a:latin typeface="Calibir"/>
              </a:rPr>
              <a:t>café website, </a:t>
            </a:r>
          </a:p>
          <a:p>
            <a:pPr marL="914400" lvl="1" indent="-457200">
              <a:lnSpc>
                <a:spcPct val="150000"/>
              </a:lnSpc>
              <a:buFont typeface="Arial" panose="020B0604020202020204" pitchFamily="34" charset="0"/>
              <a:buChar char="•"/>
            </a:pPr>
            <a:r>
              <a:rPr lang="en-US" sz="2800" dirty="0">
                <a:latin typeface="Calibir"/>
              </a:rPr>
              <a:t>portfolio webpage, </a:t>
            </a:r>
          </a:p>
          <a:p>
            <a:pPr marL="914400" lvl="1" indent="-457200">
              <a:lnSpc>
                <a:spcPct val="150000"/>
              </a:lnSpc>
              <a:buFont typeface="Arial" panose="020B0604020202020204" pitchFamily="34" charset="0"/>
              <a:buChar char="•"/>
            </a:pPr>
            <a:r>
              <a:rPr lang="en-US" sz="2800" dirty="0">
                <a:latin typeface="Calibir"/>
              </a:rPr>
              <a:t>business homepage. </a:t>
            </a:r>
          </a:p>
        </p:txBody>
      </p:sp>
    </p:spTree>
    <p:extLst>
      <p:ext uri="{BB962C8B-B14F-4D97-AF65-F5344CB8AC3E}">
        <p14:creationId xmlns:p14="http://schemas.microsoft.com/office/powerpoint/2010/main" val="4176359791"/>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DC938E-D529-292E-8C46-78AD2AF50A76}"/>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0A52E53F-A945-D69F-0DED-1E1028E393E7}"/>
              </a:ext>
            </a:extLst>
          </p:cNvPr>
          <p:cNvSpPr txBox="1"/>
          <p:nvPr/>
        </p:nvSpPr>
        <p:spPr>
          <a:xfrm>
            <a:off x="0" y="0"/>
            <a:ext cx="8976732" cy="584775"/>
          </a:xfrm>
          <a:prstGeom prst="rect">
            <a:avLst/>
          </a:prstGeom>
          <a:noFill/>
        </p:spPr>
        <p:txBody>
          <a:bodyPr wrap="square" rtlCol="0">
            <a:spAutoFit/>
          </a:bodyPr>
          <a:lstStyle/>
          <a:p>
            <a:pPr lvl="0">
              <a:defRPr/>
            </a:pPr>
            <a:r>
              <a:rPr lang="en-US" sz="3200" b="1" dirty="0">
                <a:solidFill>
                  <a:prstClr val="black"/>
                </a:solidFill>
                <a:latin typeface="Calibri" panose="020F0502020204030204" pitchFamily="34" charset="0"/>
                <a:cs typeface="Calibri" panose="020F0502020204030204" pitchFamily="34" charset="0"/>
              </a:rPr>
              <a:t>How to Become Successful in This Unit</a:t>
            </a:r>
            <a:endParaRPr kumimoji="0" lang="en-US" sz="3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6" name="TextBox 5">
            <a:extLst>
              <a:ext uri="{FF2B5EF4-FFF2-40B4-BE49-F238E27FC236}">
                <a16:creationId xmlns:a16="http://schemas.microsoft.com/office/drawing/2014/main" id="{C175C39F-749A-0138-FB8E-04C165F92FD6}"/>
              </a:ext>
            </a:extLst>
          </p:cNvPr>
          <p:cNvSpPr txBox="1"/>
          <p:nvPr/>
        </p:nvSpPr>
        <p:spPr>
          <a:xfrm>
            <a:off x="0" y="710331"/>
            <a:ext cx="12192000" cy="6488828"/>
          </a:xfrm>
          <a:prstGeom prst="rect">
            <a:avLst/>
          </a:prstGeom>
          <a:noFill/>
        </p:spPr>
        <p:txBody>
          <a:bodyPr wrap="square">
            <a:spAutoFit/>
          </a:bodyPr>
          <a:lstStyle/>
          <a:p>
            <a:pPr>
              <a:lnSpc>
                <a:spcPct val="150000"/>
              </a:lnSpc>
            </a:pPr>
            <a:r>
              <a:rPr lang="en-US" sz="2700" b="1" dirty="0">
                <a:latin typeface="Calibir"/>
              </a:rPr>
              <a:t>Step 3 – Create Organized Folders</a:t>
            </a:r>
          </a:p>
          <a:p>
            <a:pPr>
              <a:lnSpc>
                <a:spcPct val="150000"/>
              </a:lnSpc>
            </a:pPr>
            <a:r>
              <a:rPr lang="en-US" sz="2700" dirty="0">
                <a:latin typeface="Calibir"/>
              </a:rPr>
              <a:t>Example:</a:t>
            </a:r>
          </a:p>
          <a:p>
            <a:pPr>
              <a:lnSpc>
                <a:spcPct val="150000"/>
              </a:lnSpc>
            </a:pPr>
            <a:r>
              <a:rPr lang="en-US" sz="2700" dirty="0">
                <a:latin typeface="Calibir"/>
              </a:rPr>
              <a:t>HS1021/</a:t>
            </a:r>
            <a:br>
              <a:rPr lang="en-US" sz="2700" dirty="0">
                <a:latin typeface="Calibir"/>
              </a:rPr>
            </a:br>
            <a:r>
              <a:rPr lang="en-US" sz="2700" dirty="0">
                <a:latin typeface="Calibir"/>
              </a:rPr>
              <a:t> ├ Week1/</a:t>
            </a:r>
            <a:br>
              <a:rPr lang="en-US" sz="2700" dirty="0">
                <a:latin typeface="Calibir"/>
              </a:rPr>
            </a:br>
            <a:r>
              <a:rPr lang="en-US" sz="2700" dirty="0">
                <a:latin typeface="Calibir"/>
              </a:rPr>
              <a:t> ├ Week2/</a:t>
            </a:r>
            <a:br>
              <a:rPr lang="en-US" sz="2700" dirty="0">
                <a:latin typeface="Calibir"/>
              </a:rPr>
            </a:br>
            <a:r>
              <a:rPr lang="en-US" sz="2700" dirty="0">
                <a:latin typeface="Calibir"/>
              </a:rPr>
              <a:t> ├ Images/</a:t>
            </a:r>
            <a:br>
              <a:rPr lang="en-US" sz="2700" dirty="0">
                <a:latin typeface="Calibir"/>
              </a:rPr>
            </a:br>
            <a:r>
              <a:rPr lang="en-US" sz="2700" dirty="0">
                <a:latin typeface="Calibir"/>
              </a:rPr>
              <a:t> ├ CSS/</a:t>
            </a:r>
            <a:br>
              <a:rPr lang="en-US" sz="2700" dirty="0">
                <a:latin typeface="Calibir"/>
              </a:rPr>
            </a:br>
            <a:r>
              <a:rPr lang="en-US" sz="2700" dirty="0">
                <a:latin typeface="Calibir"/>
              </a:rPr>
              <a:t> ├ Labs/</a:t>
            </a:r>
            <a:br>
              <a:rPr lang="en-US" sz="2700" dirty="0">
                <a:latin typeface="Calibir"/>
              </a:rPr>
            </a:br>
            <a:r>
              <a:rPr lang="en-US" sz="2700" dirty="0">
                <a:latin typeface="Calibir"/>
              </a:rPr>
              <a:t>  └─ Assignment/</a:t>
            </a:r>
          </a:p>
          <a:p>
            <a:pPr>
              <a:lnSpc>
                <a:spcPct val="150000"/>
              </a:lnSpc>
            </a:pPr>
            <a:r>
              <a:rPr lang="en-US" sz="2700" dirty="0">
                <a:latin typeface="Calibir"/>
              </a:rPr>
              <a:t>This prevents missing files.</a:t>
            </a:r>
          </a:p>
        </p:txBody>
      </p:sp>
    </p:spTree>
    <p:extLst>
      <p:ext uri="{BB962C8B-B14F-4D97-AF65-F5344CB8AC3E}">
        <p14:creationId xmlns:p14="http://schemas.microsoft.com/office/powerpoint/2010/main" val="1326599472"/>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5043B2-30AD-DAE0-81C3-D18AB10B4045}"/>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9864425B-EE83-0220-8C7D-1BC622F59196}"/>
              </a:ext>
            </a:extLst>
          </p:cNvPr>
          <p:cNvSpPr txBox="1"/>
          <p:nvPr/>
        </p:nvSpPr>
        <p:spPr>
          <a:xfrm>
            <a:off x="0" y="0"/>
            <a:ext cx="8976732" cy="584775"/>
          </a:xfrm>
          <a:prstGeom prst="rect">
            <a:avLst/>
          </a:prstGeom>
          <a:noFill/>
        </p:spPr>
        <p:txBody>
          <a:bodyPr wrap="square" rtlCol="0">
            <a:spAutoFit/>
          </a:bodyPr>
          <a:lstStyle/>
          <a:p>
            <a:pPr lvl="0">
              <a:defRPr/>
            </a:pPr>
            <a:r>
              <a:rPr lang="en-US" sz="3200" b="1" dirty="0">
                <a:solidFill>
                  <a:prstClr val="black"/>
                </a:solidFill>
                <a:latin typeface="Calibri" panose="020F0502020204030204" pitchFamily="34" charset="0"/>
                <a:cs typeface="Calibri" panose="020F0502020204030204" pitchFamily="34" charset="0"/>
              </a:rPr>
              <a:t>How to Become Successful in This Unit</a:t>
            </a:r>
            <a:endParaRPr kumimoji="0" lang="en-US" sz="3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6" name="TextBox 5">
            <a:extLst>
              <a:ext uri="{FF2B5EF4-FFF2-40B4-BE49-F238E27FC236}">
                <a16:creationId xmlns:a16="http://schemas.microsoft.com/office/drawing/2014/main" id="{779669AB-A307-3703-2E7F-594CAC47D1A9}"/>
              </a:ext>
            </a:extLst>
          </p:cNvPr>
          <p:cNvSpPr txBox="1"/>
          <p:nvPr/>
        </p:nvSpPr>
        <p:spPr>
          <a:xfrm>
            <a:off x="0" y="584775"/>
            <a:ext cx="12192000" cy="6408421"/>
          </a:xfrm>
          <a:prstGeom prst="rect">
            <a:avLst/>
          </a:prstGeom>
          <a:noFill/>
        </p:spPr>
        <p:txBody>
          <a:bodyPr wrap="square">
            <a:spAutoFit/>
          </a:bodyPr>
          <a:lstStyle/>
          <a:p>
            <a:pPr>
              <a:lnSpc>
                <a:spcPct val="150000"/>
              </a:lnSpc>
            </a:pPr>
            <a:r>
              <a:rPr lang="en-US" sz="2300" b="1" dirty="0">
                <a:latin typeface="Calibir"/>
              </a:rPr>
              <a:t>Step 4 – Learn HTML Structure Properly</a:t>
            </a:r>
          </a:p>
          <a:p>
            <a:pPr>
              <a:lnSpc>
                <a:spcPct val="150000"/>
              </a:lnSpc>
            </a:pPr>
            <a:r>
              <a:rPr lang="en-US" sz="2300" dirty="0">
                <a:latin typeface="Calibir"/>
              </a:rPr>
              <a:t>Students must understand:</a:t>
            </a:r>
          </a:p>
          <a:p>
            <a:pPr>
              <a:lnSpc>
                <a:spcPct val="150000"/>
              </a:lnSpc>
            </a:pPr>
            <a:r>
              <a:rPr lang="en-US" sz="2300" dirty="0">
                <a:highlight>
                  <a:srgbClr val="FFFF00"/>
                </a:highlight>
                <a:latin typeface="Calibir"/>
              </a:rPr>
              <a:t>&lt;!DOCTYPE html&gt;</a:t>
            </a:r>
            <a:br>
              <a:rPr lang="en-US" sz="2300" dirty="0">
                <a:highlight>
                  <a:srgbClr val="FFFF00"/>
                </a:highlight>
                <a:latin typeface="Calibir"/>
              </a:rPr>
            </a:br>
            <a:r>
              <a:rPr lang="en-US" sz="2300" dirty="0">
                <a:highlight>
                  <a:srgbClr val="FFFF00"/>
                </a:highlight>
                <a:latin typeface="Calibir"/>
              </a:rPr>
              <a:t>&lt;html&gt;</a:t>
            </a:r>
            <a:br>
              <a:rPr lang="en-US" sz="2300" dirty="0">
                <a:highlight>
                  <a:srgbClr val="FFFF00"/>
                </a:highlight>
                <a:latin typeface="Calibir"/>
              </a:rPr>
            </a:br>
            <a:r>
              <a:rPr lang="en-US" sz="2300" dirty="0">
                <a:highlight>
                  <a:srgbClr val="FFFF00"/>
                </a:highlight>
                <a:latin typeface="Calibir"/>
              </a:rPr>
              <a:t>&lt;head&gt;</a:t>
            </a:r>
            <a:br>
              <a:rPr lang="en-US" sz="2300" dirty="0">
                <a:highlight>
                  <a:srgbClr val="FFFF00"/>
                </a:highlight>
                <a:latin typeface="Calibir"/>
              </a:rPr>
            </a:br>
            <a:r>
              <a:rPr lang="en-US" sz="2300" dirty="0">
                <a:highlight>
                  <a:srgbClr val="FFFF00"/>
                </a:highlight>
                <a:latin typeface="Calibir"/>
              </a:rPr>
              <a:t>&lt;title&gt;My Website&lt;/title&gt;</a:t>
            </a:r>
            <a:br>
              <a:rPr lang="en-US" sz="2300" dirty="0">
                <a:highlight>
                  <a:srgbClr val="FFFF00"/>
                </a:highlight>
                <a:latin typeface="Calibir"/>
              </a:rPr>
            </a:br>
            <a:r>
              <a:rPr lang="en-US" sz="2300" dirty="0">
                <a:highlight>
                  <a:srgbClr val="FFFF00"/>
                </a:highlight>
                <a:latin typeface="Calibir"/>
              </a:rPr>
              <a:t>&lt;/head&gt;</a:t>
            </a:r>
            <a:br>
              <a:rPr lang="en-US" sz="2300" dirty="0">
                <a:highlight>
                  <a:srgbClr val="FFFF00"/>
                </a:highlight>
                <a:latin typeface="Calibir"/>
              </a:rPr>
            </a:br>
            <a:r>
              <a:rPr lang="en-US" sz="2300" dirty="0">
                <a:highlight>
                  <a:srgbClr val="FFFF00"/>
                </a:highlight>
                <a:latin typeface="Calibir"/>
              </a:rPr>
              <a:t>&lt;body&gt;</a:t>
            </a:r>
            <a:br>
              <a:rPr lang="en-US" sz="2300" dirty="0">
                <a:highlight>
                  <a:srgbClr val="FFFF00"/>
                </a:highlight>
                <a:latin typeface="Calibir"/>
              </a:rPr>
            </a:br>
            <a:r>
              <a:rPr lang="en-US" sz="2300" dirty="0">
                <a:highlight>
                  <a:srgbClr val="FFFF00"/>
                </a:highlight>
                <a:latin typeface="Calibir"/>
              </a:rPr>
              <a:t>&lt;h1&gt;Welcome&lt;/h1&gt;</a:t>
            </a:r>
            <a:br>
              <a:rPr lang="en-US" sz="2300" dirty="0">
                <a:highlight>
                  <a:srgbClr val="FFFF00"/>
                </a:highlight>
                <a:latin typeface="Calibir"/>
              </a:rPr>
            </a:br>
            <a:r>
              <a:rPr lang="en-US" sz="2300" dirty="0">
                <a:highlight>
                  <a:srgbClr val="FFFF00"/>
                </a:highlight>
                <a:latin typeface="Calibir"/>
              </a:rPr>
              <a:t>&lt;p&gt;Hello World&lt;/p&gt;</a:t>
            </a:r>
            <a:br>
              <a:rPr lang="en-US" sz="2300" dirty="0">
                <a:highlight>
                  <a:srgbClr val="FFFF00"/>
                </a:highlight>
                <a:latin typeface="Calibir"/>
              </a:rPr>
            </a:br>
            <a:r>
              <a:rPr lang="en-US" sz="2300" dirty="0">
                <a:highlight>
                  <a:srgbClr val="FFFF00"/>
                </a:highlight>
                <a:latin typeface="Calibir"/>
              </a:rPr>
              <a:t>&lt;/body&gt;</a:t>
            </a:r>
            <a:br>
              <a:rPr lang="en-US" sz="2300" dirty="0">
                <a:highlight>
                  <a:srgbClr val="FFFF00"/>
                </a:highlight>
                <a:latin typeface="Calibir"/>
              </a:rPr>
            </a:br>
            <a:r>
              <a:rPr lang="en-US" sz="2300" dirty="0">
                <a:highlight>
                  <a:srgbClr val="FFFF00"/>
                </a:highlight>
                <a:latin typeface="Calibir"/>
              </a:rPr>
              <a:t>&lt;/html&gt;</a:t>
            </a:r>
          </a:p>
        </p:txBody>
      </p:sp>
    </p:spTree>
    <p:extLst>
      <p:ext uri="{BB962C8B-B14F-4D97-AF65-F5344CB8AC3E}">
        <p14:creationId xmlns:p14="http://schemas.microsoft.com/office/powerpoint/2010/main" val="2476678002"/>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11B793-774B-F26B-4DF8-01381B260A25}"/>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5BD8ACE8-E93F-0210-2E25-76E939880E6E}"/>
              </a:ext>
            </a:extLst>
          </p:cNvPr>
          <p:cNvSpPr txBox="1"/>
          <p:nvPr/>
        </p:nvSpPr>
        <p:spPr>
          <a:xfrm>
            <a:off x="0" y="0"/>
            <a:ext cx="8976732" cy="584775"/>
          </a:xfrm>
          <a:prstGeom prst="rect">
            <a:avLst/>
          </a:prstGeom>
          <a:noFill/>
        </p:spPr>
        <p:txBody>
          <a:bodyPr wrap="square" rtlCol="0">
            <a:spAutoFit/>
          </a:bodyPr>
          <a:lstStyle/>
          <a:p>
            <a:pPr lvl="0">
              <a:defRPr/>
            </a:pPr>
            <a:r>
              <a:rPr lang="en-US" sz="3200" b="1" dirty="0">
                <a:solidFill>
                  <a:prstClr val="black"/>
                </a:solidFill>
                <a:latin typeface="Calibri" panose="020F0502020204030204" pitchFamily="34" charset="0"/>
                <a:cs typeface="Calibri" panose="020F0502020204030204" pitchFamily="34" charset="0"/>
              </a:rPr>
              <a:t>Important HTML Tags</a:t>
            </a:r>
            <a:endParaRPr kumimoji="0" lang="en-US" sz="3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graphicFrame>
        <p:nvGraphicFramePr>
          <p:cNvPr id="2" name="Table 1">
            <a:extLst>
              <a:ext uri="{FF2B5EF4-FFF2-40B4-BE49-F238E27FC236}">
                <a16:creationId xmlns:a16="http://schemas.microsoft.com/office/drawing/2014/main" id="{1F2093FD-95BC-BC47-2420-160886483A8F}"/>
              </a:ext>
            </a:extLst>
          </p:cNvPr>
          <p:cNvGraphicFramePr>
            <a:graphicFrameLocks noGrp="1"/>
          </p:cNvGraphicFramePr>
          <p:nvPr/>
        </p:nvGraphicFramePr>
        <p:xfrm>
          <a:off x="838200" y="697655"/>
          <a:ext cx="10515600" cy="6038850"/>
        </p:xfrm>
        <a:graphic>
          <a:graphicData uri="http://schemas.openxmlformats.org/drawingml/2006/table">
            <a:tbl>
              <a:tblPr>
                <a:tableStyleId>{BDBED569-4797-4DF1-A0F4-6AAB3CD982D8}</a:tableStyleId>
              </a:tblPr>
              <a:tblGrid>
                <a:gridCol w="5257800">
                  <a:extLst>
                    <a:ext uri="{9D8B030D-6E8A-4147-A177-3AD203B41FA5}">
                      <a16:colId xmlns:a16="http://schemas.microsoft.com/office/drawing/2014/main" val="1623012488"/>
                    </a:ext>
                  </a:extLst>
                </a:gridCol>
                <a:gridCol w="5257800">
                  <a:extLst>
                    <a:ext uri="{9D8B030D-6E8A-4147-A177-3AD203B41FA5}">
                      <a16:colId xmlns:a16="http://schemas.microsoft.com/office/drawing/2014/main" val="110578084"/>
                    </a:ext>
                  </a:extLst>
                </a:gridCol>
              </a:tblGrid>
              <a:tr h="0">
                <a:tc>
                  <a:txBody>
                    <a:bodyPr/>
                    <a:lstStyle/>
                    <a:p>
                      <a:pPr>
                        <a:lnSpc>
                          <a:spcPct val="150000"/>
                        </a:lnSpc>
                        <a:buNone/>
                      </a:pPr>
                      <a:r>
                        <a:rPr lang="en-US" sz="2500">
                          <a:latin typeface="Calibir"/>
                        </a:rPr>
                        <a:t>Tag</a:t>
                      </a:r>
                    </a:p>
                  </a:txBody>
                  <a:tcPr anchor="ctr"/>
                </a:tc>
                <a:tc>
                  <a:txBody>
                    <a:bodyPr/>
                    <a:lstStyle/>
                    <a:p>
                      <a:pPr>
                        <a:lnSpc>
                          <a:spcPct val="150000"/>
                        </a:lnSpc>
                        <a:buNone/>
                      </a:pPr>
                      <a:r>
                        <a:rPr lang="en-US" sz="2500">
                          <a:latin typeface="Calibir"/>
                        </a:rPr>
                        <a:t>Purpose</a:t>
                      </a:r>
                    </a:p>
                  </a:txBody>
                  <a:tcPr anchor="ctr"/>
                </a:tc>
                <a:extLst>
                  <a:ext uri="{0D108BD9-81ED-4DB2-BD59-A6C34878D82A}">
                    <a16:rowId xmlns:a16="http://schemas.microsoft.com/office/drawing/2014/main" val="2415622710"/>
                  </a:ext>
                </a:extLst>
              </a:tr>
              <a:tr h="0">
                <a:tc>
                  <a:txBody>
                    <a:bodyPr/>
                    <a:lstStyle/>
                    <a:p>
                      <a:pPr>
                        <a:lnSpc>
                          <a:spcPct val="150000"/>
                        </a:lnSpc>
                        <a:buNone/>
                      </a:pPr>
                      <a:r>
                        <a:rPr lang="en-US" sz="2500">
                          <a:latin typeface="Calibir"/>
                        </a:rPr>
                        <a:t>&lt;html&gt;</a:t>
                      </a:r>
                    </a:p>
                  </a:txBody>
                  <a:tcPr anchor="ctr"/>
                </a:tc>
                <a:tc>
                  <a:txBody>
                    <a:bodyPr/>
                    <a:lstStyle/>
                    <a:p>
                      <a:pPr>
                        <a:lnSpc>
                          <a:spcPct val="150000"/>
                        </a:lnSpc>
                        <a:buNone/>
                      </a:pPr>
                      <a:r>
                        <a:rPr lang="en-US" sz="2500">
                          <a:latin typeface="Calibir"/>
                        </a:rPr>
                        <a:t>Root webpage</a:t>
                      </a:r>
                    </a:p>
                  </a:txBody>
                  <a:tcPr anchor="ctr"/>
                </a:tc>
                <a:extLst>
                  <a:ext uri="{0D108BD9-81ED-4DB2-BD59-A6C34878D82A}">
                    <a16:rowId xmlns:a16="http://schemas.microsoft.com/office/drawing/2014/main" val="1667649723"/>
                  </a:ext>
                </a:extLst>
              </a:tr>
              <a:tr h="0">
                <a:tc>
                  <a:txBody>
                    <a:bodyPr/>
                    <a:lstStyle/>
                    <a:p>
                      <a:pPr>
                        <a:lnSpc>
                          <a:spcPct val="150000"/>
                        </a:lnSpc>
                        <a:buNone/>
                      </a:pPr>
                      <a:r>
                        <a:rPr lang="en-US" sz="2500" dirty="0">
                          <a:latin typeface="Calibir"/>
                        </a:rPr>
                        <a:t>&lt;head&gt;</a:t>
                      </a:r>
                    </a:p>
                  </a:txBody>
                  <a:tcPr anchor="ctr"/>
                </a:tc>
                <a:tc>
                  <a:txBody>
                    <a:bodyPr/>
                    <a:lstStyle/>
                    <a:p>
                      <a:pPr>
                        <a:lnSpc>
                          <a:spcPct val="150000"/>
                        </a:lnSpc>
                        <a:buNone/>
                      </a:pPr>
                      <a:r>
                        <a:rPr lang="en-US" sz="2500">
                          <a:latin typeface="Calibir"/>
                        </a:rPr>
                        <a:t>Metadata</a:t>
                      </a:r>
                    </a:p>
                  </a:txBody>
                  <a:tcPr anchor="ctr"/>
                </a:tc>
                <a:extLst>
                  <a:ext uri="{0D108BD9-81ED-4DB2-BD59-A6C34878D82A}">
                    <a16:rowId xmlns:a16="http://schemas.microsoft.com/office/drawing/2014/main" val="2376939031"/>
                  </a:ext>
                </a:extLst>
              </a:tr>
              <a:tr h="0">
                <a:tc>
                  <a:txBody>
                    <a:bodyPr/>
                    <a:lstStyle/>
                    <a:p>
                      <a:pPr>
                        <a:lnSpc>
                          <a:spcPct val="150000"/>
                        </a:lnSpc>
                        <a:buNone/>
                      </a:pPr>
                      <a:r>
                        <a:rPr lang="en-US" sz="2500">
                          <a:latin typeface="Calibir"/>
                        </a:rPr>
                        <a:t>&lt;title&gt;</a:t>
                      </a:r>
                    </a:p>
                  </a:txBody>
                  <a:tcPr anchor="ctr"/>
                </a:tc>
                <a:tc>
                  <a:txBody>
                    <a:bodyPr/>
                    <a:lstStyle/>
                    <a:p>
                      <a:pPr>
                        <a:lnSpc>
                          <a:spcPct val="150000"/>
                        </a:lnSpc>
                        <a:buNone/>
                      </a:pPr>
                      <a:r>
                        <a:rPr lang="en-US" sz="2500">
                          <a:latin typeface="Calibir"/>
                        </a:rPr>
                        <a:t>Browser title</a:t>
                      </a:r>
                    </a:p>
                  </a:txBody>
                  <a:tcPr anchor="ctr"/>
                </a:tc>
                <a:extLst>
                  <a:ext uri="{0D108BD9-81ED-4DB2-BD59-A6C34878D82A}">
                    <a16:rowId xmlns:a16="http://schemas.microsoft.com/office/drawing/2014/main" val="3612375802"/>
                  </a:ext>
                </a:extLst>
              </a:tr>
              <a:tr h="0">
                <a:tc>
                  <a:txBody>
                    <a:bodyPr/>
                    <a:lstStyle/>
                    <a:p>
                      <a:pPr>
                        <a:lnSpc>
                          <a:spcPct val="150000"/>
                        </a:lnSpc>
                        <a:buNone/>
                      </a:pPr>
                      <a:r>
                        <a:rPr lang="en-US" sz="2500">
                          <a:latin typeface="Calibir"/>
                        </a:rPr>
                        <a:t>&lt;body&gt;</a:t>
                      </a:r>
                    </a:p>
                  </a:txBody>
                  <a:tcPr anchor="ctr"/>
                </a:tc>
                <a:tc>
                  <a:txBody>
                    <a:bodyPr/>
                    <a:lstStyle/>
                    <a:p>
                      <a:pPr>
                        <a:lnSpc>
                          <a:spcPct val="150000"/>
                        </a:lnSpc>
                        <a:buNone/>
                      </a:pPr>
                      <a:r>
                        <a:rPr lang="en-US" sz="2500">
                          <a:latin typeface="Calibir"/>
                        </a:rPr>
                        <a:t>Visible content</a:t>
                      </a:r>
                    </a:p>
                  </a:txBody>
                  <a:tcPr anchor="ctr"/>
                </a:tc>
                <a:extLst>
                  <a:ext uri="{0D108BD9-81ED-4DB2-BD59-A6C34878D82A}">
                    <a16:rowId xmlns:a16="http://schemas.microsoft.com/office/drawing/2014/main" val="1091087360"/>
                  </a:ext>
                </a:extLst>
              </a:tr>
              <a:tr h="0">
                <a:tc>
                  <a:txBody>
                    <a:bodyPr/>
                    <a:lstStyle/>
                    <a:p>
                      <a:pPr>
                        <a:lnSpc>
                          <a:spcPct val="150000"/>
                        </a:lnSpc>
                        <a:buNone/>
                      </a:pPr>
                      <a:r>
                        <a:rPr lang="en-US" sz="2500">
                          <a:latin typeface="Calibir"/>
                        </a:rPr>
                        <a:t>&lt;h1&gt;</a:t>
                      </a:r>
                    </a:p>
                  </a:txBody>
                  <a:tcPr anchor="ctr"/>
                </a:tc>
                <a:tc>
                  <a:txBody>
                    <a:bodyPr/>
                    <a:lstStyle/>
                    <a:p>
                      <a:pPr>
                        <a:lnSpc>
                          <a:spcPct val="150000"/>
                        </a:lnSpc>
                        <a:buNone/>
                      </a:pPr>
                      <a:r>
                        <a:rPr lang="en-US" sz="2500">
                          <a:latin typeface="Calibir"/>
                        </a:rPr>
                        <a:t>Heading</a:t>
                      </a:r>
                    </a:p>
                  </a:txBody>
                  <a:tcPr anchor="ctr"/>
                </a:tc>
                <a:extLst>
                  <a:ext uri="{0D108BD9-81ED-4DB2-BD59-A6C34878D82A}">
                    <a16:rowId xmlns:a16="http://schemas.microsoft.com/office/drawing/2014/main" val="3076152038"/>
                  </a:ext>
                </a:extLst>
              </a:tr>
              <a:tr h="0">
                <a:tc>
                  <a:txBody>
                    <a:bodyPr/>
                    <a:lstStyle/>
                    <a:p>
                      <a:pPr>
                        <a:lnSpc>
                          <a:spcPct val="150000"/>
                        </a:lnSpc>
                        <a:buNone/>
                      </a:pPr>
                      <a:r>
                        <a:rPr lang="en-US" sz="2500">
                          <a:latin typeface="Calibir"/>
                        </a:rPr>
                        <a:t>&lt;p&gt;</a:t>
                      </a:r>
                    </a:p>
                  </a:txBody>
                  <a:tcPr anchor="ctr"/>
                </a:tc>
                <a:tc>
                  <a:txBody>
                    <a:bodyPr/>
                    <a:lstStyle/>
                    <a:p>
                      <a:pPr>
                        <a:lnSpc>
                          <a:spcPct val="150000"/>
                        </a:lnSpc>
                        <a:buNone/>
                      </a:pPr>
                      <a:r>
                        <a:rPr lang="en-US" sz="2500">
                          <a:latin typeface="Calibir"/>
                        </a:rPr>
                        <a:t>Paragraph</a:t>
                      </a:r>
                    </a:p>
                  </a:txBody>
                  <a:tcPr anchor="ctr"/>
                </a:tc>
                <a:extLst>
                  <a:ext uri="{0D108BD9-81ED-4DB2-BD59-A6C34878D82A}">
                    <a16:rowId xmlns:a16="http://schemas.microsoft.com/office/drawing/2014/main" val="238432236"/>
                  </a:ext>
                </a:extLst>
              </a:tr>
              <a:tr h="0">
                <a:tc>
                  <a:txBody>
                    <a:bodyPr/>
                    <a:lstStyle/>
                    <a:p>
                      <a:pPr>
                        <a:lnSpc>
                          <a:spcPct val="150000"/>
                        </a:lnSpc>
                        <a:buNone/>
                      </a:pPr>
                      <a:r>
                        <a:rPr lang="en-US" sz="2500">
                          <a:latin typeface="Calibir"/>
                        </a:rPr>
                        <a:t>&lt;a&gt;</a:t>
                      </a:r>
                    </a:p>
                  </a:txBody>
                  <a:tcPr anchor="ctr"/>
                </a:tc>
                <a:tc>
                  <a:txBody>
                    <a:bodyPr/>
                    <a:lstStyle/>
                    <a:p>
                      <a:pPr>
                        <a:lnSpc>
                          <a:spcPct val="150000"/>
                        </a:lnSpc>
                        <a:buNone/>
                      </a:pPr>
                      <a:r>
                        <a:rPr lang="en-US" sz="2500">
                          <a:latin typeface="Calibir"/>
                        </a:rPr>
                        <a:t>Link</a:t>
                      </a:r>
                    </a:p>
                  </a:txBody>
                  <a:tcPr anchor="ctr"/>
                </a:tc>
                <a:extLst>
                  <a:ext uri="{0D108BD9-81ED-4DB2-BD59-A6C34878D82A}">
                    <a16:rowId xmlns:a16="http://schemas.microsoft.com/office/drawing/2014/main" val="1312750588"/>
                  </a:ext>
                </a:extLst>
              </a:tr>
              <a:tr h="0">
                <a:tc>
                  <a:txBody>
                    <a:bodyPr/>
                    <a:lstStyle/>
                    <a:p>
                      <a:pPr>
                        <a:lnSpc>
                          <a:spcPct val="150000"/>
                        </a:lnSpc>
                        <a:buNone/>
                      </a:pPr>
                      <a:r>
                        <a:rPr lang="en-US" sz="2500">
                          <a:latin typeface="Calibir"/>
                        </a:rPr>
                        <a:t>&lt;img&gt;</a:t>
                      </a:r>
                    </a:p>
                  </a:txBody>
                  <a:tcPr anchor="ctr"/>
                </a:tc>
                <a:tc>
                  <a:txBody>
                    <a:bodyPr/>
                    <a:lstStyle/>
                    <a:p>
                      <a:pPr>
                        <a:lnSpc>
                          <a:spcPct val="150000"/>
                        </a:lnSpc>
                        <a:buNone/>
                      </a:pPr>
                      <a:r>
                        <a:rPr lang="en-US" sz="2500">
                          <a:latin typeface="Calibir"/>
                        </a:rPr>
                        <a:t>Image</a:t>
                      </a:r>
                    </a:p>
                  </a:txBody>
                  <a:tcPr anchor="ctr"/>
                </a:tc>
                <a:extLst>
                  <a:ext uri="{0D108BD9-81ED-4DB2-BD59-A6C34878D82A}">
                    <a16:rowId xmlns:a16="http://schemas.microsoft.com/office/drawing/2014/main" val="3876897661"/>
                  </a:ext>
                </a:extLst>
              </a:tr>
              <a:tr h="0">
                <a:tc>
                  <a:txBody>
                    <a:bodyPr/>
                    <a:lstStyle/>
                    <a:p>
                      <a:pPr>
                        <a:lnSpc>
                          <a:spcPct val="150000"/>
                        </a:lnSpc>
                        <a:buNone/>
                      </a:pPr>
                      <a:r>
                        <a:rPr lang="en-US" sz="2500">
                          <a:latin typeface="Calibir"/>
                        </a:rPr>
                        <a:t>&lt;div&gt;</a:t>
                      </a:r>
                    </a:p>
                  </a:txBody>
                  <a:tcPr anchor="ctr"/>
                </a:tc>
                <a:tc>
                  <a:txBody>
                    <a:bodyPr/>
                    <a:lstStyle/>
                    <a:p>
                      <a:pPr>
                        <a:lnSpc>
                          <a:spcPct val="150000"/>
                        </a:lnSpc>
                        <a:buNone/>
                      </a:pPr>
                      <a:r>
                        <a:rPr lang="en-US" sz="2500" dirty="0">
                          <a:latin typeface="Calibir"/>
                        </a:rPr>
                        <a:t>Container</a:t>
                      </a:r>
                    </a:p>
                  </a:txBody>
                  <a:tcPr anchor="ctr"/>
                </a:tc>
                <a:extLst>
                  <a:ext uri="{0D108BD9-81ED-4DB2-BD59-A6C34878D82A}">
                    <a16:rowId xmlns:a16="http://schemas.microsoft.com/office/drawing/2014/main" val="2714674064"/>
                  </a:ext>
                </a:extLst>
              </a:tr>
            </a:tbl>
          </a:graphicData>
        </a:graphic>
      </p:graphicFrame>
    </p:spTree>
    <p:extLst>
      <p:ext uri="{BB962C8B-B14F-4D97-AF65-F5344CB8AC3E}">
        <p14:creationId xmlns:p14="http://schemas.microsoft.com/office/powerpoint/2010/main" val="636709775"/>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C3AEA4-EA58-DE6D-0292-4BCEE8B1A58A}"/>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0069FF00-6282-447A-23EE-5355D9093FC0}"/>
              </a:ext>
            </a:extLst>
          </p:cNvPr>
          <p:cNvSpPr txBox="1"/>
          <p:nvPr/>
        </p:nvSpPr>
        <p:spPr>
          <a:xfrm>
            <a:off x="0" y="0"/>
            <a:ext cx="8976732" cy="584775"/>
          </a:xfrm>
          <a:prstGeom prst="rect">
            <a:avLst/>
          </a:prstGeom>
          <a:noFill/>
        </p:spPr>
        <p:txBody>
          <a:bodyPr wrap="square" rtlCol="0">
            <a:spAutoFit/>
          </a:bodyPr>
          <a:lstStyle/>
          <a:p>
            <a:pPr lvl="0">
              <a:defRPr/>
            </a:pPr>
            <a:r>
              <a:rPr lang="en-US" sz="3200" b="1" dirty="0">
                <a:solidFill>
                  <a:prstClr val="black"/>
                </a:solidFill>
                <a:latin typeface="Calibri" panose="020F0502020204030204" pitchFamily="34" charset="0"/>
                <a:cs typeface="Calibri" panose="020F0502020204030204" pitchFamily="34" charset="0"/>
              </a:rPr>
              <a:t>Important Topics from Lab Tests</a:t>
            </a:r>
            <a:endParaRPr kumimoji="0" lang="en-US" sz="3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6" name="TextBox 5">
            <a:extLst>
              <a:ext uri="{FF2B5EF4-FFF2-40B4-BE49-F238E27FC236}">
                <a16:creationId xmlns:a16="http://schemas.microsoft.com/office/drawing/2014/main" id="{E7BC3899-934F-3551-3CD3-56C26D816509}"/>
              </a:ext>
            </a:extLst>
          </p:cNvPr>
          <p:cNvSpPr txBox="1"/>
          <p:nvPr/>
        </p:nvSpPr>
        <p:spPr>
          <a:xfrm>
            <a:off x="0" y="710331"/>
            <a:ext cx="12192000" cy="675441"/>
          </a:xfrm>
          <a:prstGeom prst="rect">
            <a:avLst/>
          </a:prstGeom>
          <a:noFill/>
        </p:spPr>
        <p:txBody>
          <a:bodyPr wrap="square">
            <a:spAutoFit/>
          </a:bodyPr>
          <a:lstStyle/>
          <a:p>
            <a:pPr>
              <a:lnSpc>
                <a:spcPct val="150000"/>
              </a:lnSpc>
            </a:pPr>
            <a:r>
              <a:rPr lang="en-US" sz="2800" dirty="0">
                <a:latin typeface="Calibir"/>
              </a:rPr>
              <a:t>Students should study:</a:t>
            </a:r>
            <a:endParaRPr lang="en-US" sz="2700" dirty="0">
              <a:latin typeface="Calibir"/>
            </a:endParaRPr>
          </a:p>
        </p:txBody>
      </p:sp>
      <p:graphicFrame>
        <p:nvGraphicFramePr>
          <p:cNvPr id="2" name="Table 1">
            <a:extLst>
              <a:ext uri="{FF2B5EF4-FFF2-40B4-BE49-F238E27FC236}">
                <a16:creationId xmlns:a16="http://schemas.microsoft.com/office/drawing/2014/main" id="{AA2A20BD-0CA7-325F-C1BE-AC148CDB19CF}"/>
              </a:ext>
            </a:extLst>
          </p:cNvPr>
          <p:cNvGraphicFramePr>
            <a:graphicFrameLocks noGrp="1"/>
          </p:cNvGraphicFramePr>
          <p:nvPr>
            <p:extLst>
              <p:ext uri="{D42A27DB-BD31-4B8C-83A1-F6EECF244321}">
                <p14:modId xmlns:p14="http://schemas.microsoft.com/office/powerpoint/2010/main" val="1147062173"/>
              </p:ext>
            </p:extLst>
          </p:nvPr>
        </p:nvGraphicFramePr>
        <p:xfrm>
          <a:off x="218768" y="2912862"/>
          <a:ext cx="10515600" cy="3627120"/>
        </p:xfrm>
        <a:graphic>
          <a:graphicData uri="http://schemas.openxmlformats.org/drawingml/2006/table">
            <a:tbl>
              <a:tblPr>
                <a:tableStyleId>{BDBED569-4797-4DF1-A0F4-6AAB3CD982D8}</a:tableStyleId>
              </a:tblPr>
              <a:tblGrid>
                <a:gridCol w="5257800">
                  <a:extLst>
                    <a:ext uri="{9D8B030D-6E8A-4147-A177-3AD203B41FA5}">
                      <a16:colId xmlns:a16="http://schemas.microsoft.com/office/drawing/2014/main" val="3160032208"/>
                    </a:ext>
                  </a:extLst>
                </a:gridCol>
                <a:gridCol w="5257800">
                  <a:extLst>
                    <a:ext uri="{9D8B030D-6E8A-4147-A177-3AD203B41FA5}">
                      <a16:colId xmlns:a16="http://schemas.microsoft.com/office/drawing/2014/main" val="3209931632"/>
                    </a:ext>
                  </a:extLst>
                </a:gridCol>
              </a:tblGrid>
              <a:tr h="0">
                <a:tc>
                  <a:txBody>
                    <a:bodyPr/>
                    <a:lstStyle/>
                    <a:p>
                      <a:pPr>
                        <a:buNone/>
                      </a:pPr>
                      <a:r>
                        <a:rPr lang="en-US" sz="2800">
                          <a:latin typeface="Calibir"/>
                        </a:rPr>
                        <a:t>Topic</a:t>
                      </a:r>
                    </a:p>
                  </a:txBody>
                  <a:tcPr anchor="ctr"/>
                </a:tc>
                <a:tc>
                  <a:txBody>
                    <a:bodyPr/>
                    <a:lstStyle/>
                    <a:p>
                      <a:pPr>
                        <a:buNone/>
                      </a:pPr>
                      <a:r>
                        <a:rPr lang="en-US" sz="2800">
                          <a:latin typeface="Calibir"/>
                        </a:rPr>
                        <a:t>Meaning</a:t>
                      </a:r>
                    </a:p>
                  </a:txBody>
                  <a:tcPr anchor="ctr"/>
                </a:tc>
                <a:extLst>
                  <a:ext uri="{0D108BD9-81ED-4DB2-BD59-A6C34878D82A}">
                    <a16:rowId xmlns:a16="http://schemas.microsoft.com/office/drawing/2014/main" val="3614939222"/>
                  </a:ext>
                </a:extLst>
              </a:tr>
              <a:tr h="0">
                <a:tc>
                  <a:txBody>
                    <a:bodyPr/>
                    <a:lstStyle/>
                    <a:p>
                      <a:pPr>
                        <a:buNone/>
                      </a:pPr>
                      <a:r>
                        <a:rPr lang="en-US" sz="2800">
                          <a:latin typeface="Calibir"/>
                        </a:rPr>
                        <a:t>Server</a:t>
                      </a:r>
                    </a:p>
                  </a:txBody>
                  <a:tcPr anchor="ctr"/>
                </a:tc>
                <a:tc>
                  <a:txBody>
                    <a:bodyPr/>
                    <a:lstStyle/>
                    <a:p>
                      <a:pPr>
                        <a:buNone/>
                      </a:pPr>
                      <a:r>
                        <a:rPr lang="en-US" sz="2800">
                          <a:latin typeface="Calibir"/>
                        </a:rPr>
                        <a:t>Stores websites</a:t>
                      </a:r>
                    </a:p>
                  </a:txBody>
                  <a:tcPr anchor="ctr"/>
                </a:tc>
                <a:extLst>
                  <a:ext uri="{0D108BD9-81ED-4DB2-BD59-A6C34878D82A}">
                    <a16:rowId xmlns:a16="http://schemas.microsoft.com/office/drawing/2014/main" val="2217227344"/>
                  </a:ext>
                </a:extLst>
              </a:tr>
              <a:tr h="0">
                <a:tc>
                  <a:txBody>
                    <a:bodyPr/>
                    <a:lstStyle/>
                    <a:p>
                      <a:pPr>
                        <a:buNone/>
                      </a:pPr>
                      <a:r>
                        <a:rPr lang="en-US" sz="2800" dirty="0">
                          <a:latin typeface="Calibir"/>
                        </a:rPr>
                        <a:t>Client</a:t>
                      </a:r>
                    </a:p>
                  </a:txBody>
                  <a:tcPr anchor="ctr"/>
                </a:tc>
                <a:tc>
                  <a:txBody>
                    <a:bodyPr/>
                    <a:lstStyle/>
                    <a:p>
                      <a:pPr>
                        <a:buNone/>
                      </a:pPr>
                      <a:r>
                        <a:rPr lang="en-US" sz="2800">
                          <a:latin typeface="Calibir"/>
                        </a:rPr>
                        <a:t>User computer</a:t>
                      </a:r>
                    </a:p>
                  </a:txBody>
                  <a:tcPr anchor="ctr"/>
                </a:tc>
                <a:extLst>
                  <a:ext uri="{0D108BD9-81ED-4DB2-BD59-A6C34878D82A}">
                    <a16:rowId xmlns:a16="http://schemas.microsoft.com/office/drawing/2014/main" val="1063847675"/>
                  </a:ext>
                </a:extLst>
              </a:tr>
              <a:tr h="0">
                <a:tc>
                  <a:txBody>
                    <a:bodyPr/>
                    <a:lstStyle/>
                    <a:p>
                      <a:pPr>
                        <a:buNone/>
                      </a:pPr>
                      <a:r>
                        <a:rPr lang="en-US" sz="2800">
                          <a:latin typeface="Calibir"/>
                        </a:rPr>
                        <a:t>HTTP</a:t>
                      </a:r>
                    </a:p>
                  </a:txBody>
                  <a:tcPr anchor="ctr"/>
                </a:tc>
                <a:tc>
                  <a:txBody>
                    <a:bodyPr/>
                    <a:lstStyle/>
                    <a:p>
                      <a:pPr>
                        <a:buNone/>
                      </a:pPr>
                      <a:r>
                        <a:rPr lang="en-US" sz="2800">
                          <a:latin typeface="Calibir"/>
                        </a:rPr>
                        <a:t>Web communication</a:t>
                      </a:r>
                    </a:p>
                  </a:txBody>
                  <a:tcPr anchor="ctr"/>
                </a:tc>
                <a:extLst>
                  <a:ext uri="{0D108BD9-81ED-4DB2-BD59-A6C34878D82A}">
                    <a16:rowId xmlns:a16="http://schemas.microsoft.com/office/drawing/2014/main" val="1166399830"/>
                  </a:ext>
                </a:extLst>
              </a:tr>
              <a:tr h="0">
                <a:tc>
                  <a:txBody>
                    <a:bodyPr/>
                    <a:lstStyle/>
                    <a:p>
                      <a:pPr>
                        <a:buNone/>
                      </a:pPr>
                      <a:r>
                        <a:rPr lang="en-US" sz="2800">
                          <a:latin typeface="Calibir"/>
                        </a:rPr>
                        <a:t>TCP/IP</a:t>
                      </a:r>
                    </a:p>
                  </a:txBody>
                  <a:tcPr anchor="ctr"/>
                </a:tc>
                <a:tc>
                  <a:txBody>
                    <a:bodyPr/>
                    <a:lstStyle/>
                    <a:p>
                      <a:pPr>
                        <a:buNone/>
                      </a:pPr>
                      <a:r>
                        <a:rPr lang="en-US" sz="2800">
                          <a:latin typeface="Calibir"/>
                        </a:rPr>
                        <a:t>Internet communication</a:t>
                      </a:r>
                    </a:p>
                  </a:txBody>
                  <a:tcPr anchor="ctr"/>
                </a:tc>
                <a:extLst>
                  <a:ext uri="{0D108BD9-81ED-4DB2-BD59-A6C34878D82A}">
                    <a16:rowId xmlns:a16="http://schemas.microsoft.com/office/drawing/2014/main" val="409765402"/>
                  </a:ext>
                </a:extLst>
              </a:tr>
              <a:tr h="0">
                <a:tc>
                  <a:txBody>
                    <a:bodyPr/>
                    <a:lstStyle/>
                    <a:p>
                      <a:pPr>
                        <a:buNone/>
                      </a:pPr>
                      <a:r>
                        <a:rPr lang="en-US" sz="2800">
                          <a:latin typeface="Calibir"/>
                        </a:rPr>
                        <a:t>IP Address</a:t>
                      </a:r>
                    </a:p>
                  </a:txBody>
                  <a:tcPr anchor="ctr"/>
                </a:tc>
                <a:tc>
                  <a:txBody>
                    <a:bodyPr/>
                    <a:lstStyle/>
                    <a:p>
                      <a:pPr>
                        <a:buNone/>
                      </a:pPr>
                      <a:r>
                        <a:rPr lang="en-US" sz="2800">
                          <a:latin typeface="Calibir"/>
                        </a:rPr>
                        <a:t>Device network address</a:t>
                      </a:r>
                    </a:p>
                  </a:txBody>
                  <a:tcPr anchor="ctr"/>
                </a:tc>
                <a:extLst>
                  <a:ext uri="{0D108BD9-81ED-4DB2-BD59-A6C34878D82A}">
                    <a16:rowId xmlns:a16="http://schemas.microsoft.com/office/drawing/2014/main" val="10900563"/>
                  </a:ext>
                </a:extLst>
              </a:tr>
              <a:tr h="0">
                <a:tc>
                  <a:txBody>
                    <a:bodyPr/>
                    <a:lstStyle/>
                    <a:p>
                      <a:pPr>
                        <a:buNone/>
                      </a:pPr>
                      <a:r>
                        <a:rPr lang="en-US" sz="2800">
                          <a:latin typeface="Calibir"/>
                        </a:rPr>
                        <a:t>Protocol</a:t>
                      </a:r>
                    </a:p>
                  </a:txBody>
                  <a:tcPr anchor="ctr"/>
                </a:tc>
                <a:tc>
                  <a:txBody>
                    <a:bodyPr/>
                    <a:lstStyle/>
                    <a:p>
                      <a:pPr>
                        <a:buNone/>
                      </a:pPr>
                      <a:r>
                        <a:rPr lang="en-US" sz="2800" dirty="0">
                          <a:latin typeface="Calibir"/>
                        </a:rPr>
                        <a:t>Communication rules</a:t>
                      </a:r>
                    </a:p>
                  </a:txBody>
                  <a:tcPr anchor="ctr"/>
                </a:tc>
                <a:extLst>
                  <a:ext uri="{0D108BD9-81ED-4DB2-BD59-A6C34878D82A}">
                    <a16:rowId xmlns:a16="http://schemas.microsoft.com/office/drawing/2014/main" val="1229588256"/>
                  </a:ext>
                </a:extLst>
              </a:tr>
            </a:tbl>
          </a:graphicData>
        </a:graphic>
      </p:graphicFrame>
      <p:sp>
        <p:nvSpPr>
          <p:cNvPr id="5" name="TextBox 4">
            <a:extLst>
              <a:ext uri="{FF2B5EF4-FFF2-40B4-BE49-F238E27FC236}">
                <a16:creationId xmlns:a16="http://schemas.microsoft.com/office/drawing/2014/main" id="{234E34B7-96C3-B814-68CC-AB7C2D1268BF}"/>
              </a:ext>
            </a:extLst>
          </p:cNvPr>
          <p:cNvSpPr txBox="1"/>
          <p:nvPr/>
        </p:nvSpPr>
        <p:spPr>
          <a:xfrm>
            <a:off x="-83574" y="1730287"/>
            <a:ext cx="6179574" cy="954107"/>
          </a:xfrm>
          <a:prstGeom prst="rect">
            <a:avLst/>
          </a:prstGeom>
          <a:noFill/>
        </p:spPr>
        <p:txBody>
          <a:bodyPr wrap="square">
            <a:spAutoFit/>
          </a:bodyPr>
          <a:lstStyle/>
          <a:p>
            <a:pPr>
              <a:buNone/>
            </a:pPr>
            <a:r>
              <a:rPr lang="en-US" sz="2800" b="1" dirty="0">
                <a:latin typeface="Calibir"/>
              </a:rPr>
              <a:t>Internet Basics</a:t>
            </a:r>
          </a:p>
          <a:p>
            <a:pPr>
              <a:buNone/>
            </a:pPr>
            <a:r>
              <a:rPr lang="en-US" sz="2800" b="1" dirty="0">
                <a:latin typeface="Calibir"/>
              </a:rPr>
              <a:t>Important Concepts</a:t>
            </a:r>
          </a:p>
        </p:txBody>
      </p:sp>
    </p:spTree>
    <p:extLst>
      <p:ext uri="{BB962C8B-B14F-4D97-AF65-F5344CB8AC3E}">
        <p14:creationId xmlns:p14="http://schemas.microsoft.com/office/powerpoint/2010/main" val="2173987052"/>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EE6C62-61E2-87F1-6AD5-E18E09A17EA6}"/>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11464FA3-ABAB-1201-6BDF-C713C630DEA7}"/>
              </a:ext>
            </a:extLst>
          </p:cNvPr>
          <p:cNvSpPr txBox="1"/>
          <p:nvPr/>
        </p:nvSpPr>
        <p:spPr>
          <a:xfrm>
            <a:off x="0" y="0"/>
            <a:ext cx="8976732" cy="754694"/>
          </a:xfrm>
          <a:prstGeom prst="rect">
            <a:avLst/>
          </a:prstGeom>
          <a:noFill/>
        </p:spPr>
        <p:txBody>
          <a:bodyPr wrap="square" rtlCol="0">
            <a:spAutoFit/>
          </a:bodyPr>
          <a:lstStyle/>
          <a:p>
            <a:pPr>
              <a:lnSpc>
                <a:spcPct val="150000"/>
              </a:lnSpc>
            </a:pPr>
            <a:r>
              <a:rPr lang="en-US" sz="3200" b="1" dirty="0">
                <a:latin typeface="Calibir"/>
              </a:rPr>
              <a:t>Website Planning</a:t>
            </a:r>
          </a:p>
        </p:txBody>
      </p:sp>
      <p:sp>
        <p:nvSpPr>
          <p:cNvPr id="5" name="TextBox 4">
            <a:extLst>
              <a:ext uri="{FF2B5EF4-FFF2-40B4-BE49-F238E27FC236}">
                <a16:creationId xmlns:a16="http://schemas.microsoft.com/office/drawing/2014/main" id="{9EA758AD-D8FD-4F1D-F99A-3217EEF07D92}"/>
              </a:ext>
            </a:extLst>
          </p:cNvPr>
          <p:cNvSpPr txBox="1"/>
          <p:nvPr/>
        </p:nvSpPr>
        <p:spPr>
          <a:xfrm>
            <a:off x="108155" y="1346829"/>
            <a:ext cx="6179574" cy="3903504"/>
          </a:xfrm>
          <a:prstGeom prst="rect">
            <a:avLst/>
          </a:prstGeom>
          <a:noFill/>
        </p:spPr>
        <p:txBody>
          <a:bodyPr wrap="square">
            <a:spAutoFit/>
          </a:bodyPr>
          <a:lstStyle/>
          <a:p>
            <a:pPr>
              <a:lnSpc>
                <a:spcPct val="150000"/>
              </a:lnSpc>
            </a:pPr>
            <a:r>
              <a:rPr lang="en-US" sz="2800" dirty="0">
                <a:latin typeface="Calibir"/>
              </a:rPr>
              <a:t>Students must understand:</a:t>
            </a:r>
          </a:p>
          <a:p>
            <a:pPr marL="914400" lvl="1" indent="-457200">
              <a:lnSpc>
                <a:spcPct val="150000"/>
              </a:lnSpc>
              <a:buFont typeface="Arial" panose="020B0604020202020204" pitchFamily="34" charset="0"/>
              <a:buChar char="•"/>
            </a:pPr>
            <a:r>
              <a:rPr lang="en-US" sz="2800" dirty="0">
                <a:latin typeface="Calibir"/>
              </a:rPr>
              <a:t>wireframes, </a:t>
            </a:r>
          </a:p>
          <a:p>
            <a:pPr marL="914400" lvl="1" indent="-457200">
              <a:lnSpc>
                <a:spcPct val="150000"/>
              </a:lnSpc>
              <a:buFont typeface="Arial" panose="020B0604020202020204" pitchFamily="34" charset="0"/>
              <a:buChar char="•"/>
            </a:pPr>
            <a:r>
              <a:rPr lang="en-US" sz="2800" dirty="0">
                <a:latin typeface="Calibir"/>
              </a:rPr>
              <a:t>white space, </a:t>
            </a:r>
          </a:p>
          <a:p>
            <a:pPr marL="914400" lvl="1" indent="-457200">
              <a:lnSpc>
                <a:spcPct val="150000"/>
              </a:lnSpc>
              <a:buFont typeface="Arial" panose="020B0604020202020204" pitchFamily="34" charset="0"/>
              <a:buChar char="•"/>
            </a:pPr>
            <a:r>
              <a:rPr lang="en-US" sz="2800" dirty="0">
                <a:latin typeface="Calibir"/>
              </a:rPr>
              <a:t>responsive design, </a:t>
            </a:r>
          </a:p>
          <a:p>
            <a:pPr marL="914400" lvl="1" indent="-457200">
              <a:lnSpc>
                <a:spcPct val="150000"/>
              </a:lnSpc>
              <a:buFont typeface="Arial" panose="020B0604020202020204" pitchFamily="34" charset="0"/>
              <a:buChar char="•"/>
            </a:pPr>
            <a:r>
              <a:rPr lang="en-US" sz="2800" dirty="0">
                <a:latin typeface="Calibir"/>
              </a:rPr>
              <a:t>accessibility, </a:t>
            </a:r>
          </a:p>
          <a:p>
            <a:pPr marL="914400" lvl="1" indent="-457200">
              <a:lnSpc>
                <a:spcPct val="150000"/>
              </a:lnSpc>
              <a:buFont typeface="Arial" panose="020B0604020202020204" pitchFamily="34" charset="0"/>
              <a:buChar char="•"/>
            </a:pPr>
            <a:r>
              <a:rPr lang="en-US" sz="2800" dirty="0">
                <a:latin typeface="Calibir"/>
              </a:rPr>
              <a:t>webpage structures. </a:t>
            </a:r>
          </a:p>
        </p:txBody>
      </p:sp>
    </p:spTree>
    <p:extLst>
      <p:ext uri="{BB962C8B-B14F-4D97-AF65-F5344CB8AC3E}">
        <p14:creationId xmlns:p14="http://schemas.microsoft.com/office/powerpoint/2010/main" val="569835823"/>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AA1257-D893-8C0E-E64A-BED472852EA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98563B29-1CBD-73E3-3577-CBA12FC1DD54}"/>
              </a:ext>
            </a:extLst>
          </p:cNvPr>
          <p:cNvSpPr txBox="1"/>
          <p:nvPr/>
        </p:nvSpPr>
        <p:spPr>
          <a:xfrm>
            <a:off x="0" y="0"/>
            <a:ext cx="8976732" cy="754694"/>
          </a:xfrm>
          <a:prstGeom prst="rect">
            <a:avLst/>
          </a:prstGeom>
          <a:noFill/>
        </p:spPr>
        <p:txBody>
          <a:bodyPr wrap="square" rtlCol="0">
            <a:spAutoFit/>
          </a:bodyPr>
          <a:lstStyle/>
          <a:p>
            <a:pPr>
              <a:lnSpc>
                <a:spcPct val="150000"/>
              </a:lnSpc>
            </a:pPr>
            <a:r>
              <a:rPr lang="en-US" sz="3200" b="1" dirty="0">
                <a:latin typeface="Calibir"/>
              </a:rPr>
              <a:t>Example Questions</a:t>
            </a:r>
          </a:p>
        </p:txBody>
      </p:sp>
      <p:sp>
        <p:nvSpPr>
          <p:cNvPr id="5" name="TextBox 4">
            <a:extLst>
              <a:ext uri="{FF2B5EF4-FFF2-40B4-BE49-F238E27FC236}">
                <a16:creationId xmlns:a16="http://schemas.microsoft.com/office/drawing/2014/main" id="{798C029B-48B6-55DE-0F55-22B37B669A34}"/>
              </a:ext>
            </a:extLst>
          </p:cNvPr>
          <p:cNvSpPr txBox="1"/>
          <p:nvPr/>
        </p:nvSpPr>
        <p:spPr>
          <a:xfrm>
            <a:off x="108154" y="1346829"/>
            <a:ext cx="12083845" cy="2610843"/>
          </a:xfrm>
          <a:prstGeom prst="rect">
            <a:avLst/>
          </a:prstGeom>
          <a:noFill/>
        </p:spPr>
        <p:txBody>
          <a:bodyPr wrap="square">
            <a:spAutoFit/>
          </a:bodyPr>
          <a:lstStyle/>
          <a:p>
            <a:pPr>
              <a:lnSpc>
                <a:spcPct val="150000"/>
              </a:lnSpc>
            </a:pPr>
            <a:r>
              <a:rPr lang="en-US" sz="2800" b="1" dirty="0">
                <a:latin typeface="Calibir"/>
              </a:rPr>
              <a:t>What is responsive design?</a:t>
            </a:r>
          </a:p>
          <a:p>
            <a:pPr>
              <a:lnSpc>
                <a:spcPct val="150000"/>
              </a:lnSpc>
            </a:pPr>
            <a:r>
              <a:rPr lang="en-US" sz="2800" dirty="0">
                <a:latin typeface="Calibir"/>
              </a:rPr>
              <a:t>A design that works properly across different devices.</a:t>
            </a:r>
          </a:p>
          <a:p>
            <a:pPr>
              <a:lnSpc>
                <a:spcPct val="150000"/>
              </a:lnSpc>
            </a:pPr>
            <a:r>
              <a:rPr lang="en-US" sz="2800" b="1" dirty="0">
                <a:latin typeface="Calibir"/>
              </a:rPr>
              <a:t>What is a wireframe?</a:t>
            </a:r>
          </a:p>
          <a:p>
            <a:pPr>
              <a:lnSpc>
                <a:spcPct val="150000"/>
              </a:lnSpc>
            </a:pPr>
            <a:r>
              <a:rPr lang="en-US" sz="2800" dirty="0">
                <a:latin typeface="Calibir"/>
              </a:rPr>
              <a:t>A planning layout showing webpage structure.</a:t>
            </a:r>
          </a:p>
        </p:txBody>
      </p:sp>
    </p:spTree>
    <p:extLst>
      <p:ext uri="{BB962C8B-B14F-4D97-AF65-F5344CB8AC3E}">
        <p14:creationId xmlns:p14="http://schemas.microsoft.com/office/powerpoint/2010/main" val="26810952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5">
                                            <p:txEl>
                                              <p:pRg st="1" end="1"/>
                                            </p:txEl>
                                          </p:spTgt>
                                        </p:tgtEl>
                                        <p:attrNameLst>
                                          <p:attrName>style.visibility</p:attrName>
                                        </p:attrNameLst>
                                      </p:cBhvr>
                                      <p:to>
                                        <p:strVal val="visible"/>
                                      </p:to>
                                    </p:set>
                                    <p:animEffect transition="in" filter="fade">
                                      <p:cBhvr>
                                        <p:cTn id="7" dur="1000"/>
                                        <p:tgtEl>
                                          <p:spTgt spid="5">
                                            <p:txEl>
                                              <p:pRg st="1" end="1"/>
                                            </p:txEl>
                                          </p:spTgt>
                                        </p:tgtEl>
                                      </p:cBhvr>
                                    </p:animEffect>
                                    <p:anim calcmode="lin" valueType="num">
                                      <p:cBhvr>
                                        <p:cTn id="8" dur="1000" fill="hold"/>
                                        <p:tgtEl>
                                          <p:spTgt spid="5">
                                            <p:txEl>
                                              <p:pRg st="1" end="1"/>
                                            </p:txEl>
                                          </p:spTgt>
                                        </p:tgtEl>
                                        <p:attrNameLst>
                                          <p:attrName>ppt_x</p:attrName>
                                        </p:attrNameLst>
                                      </p:cBhvr>
                                      <p:tavLst>
                                        <p:tav tm="0">
                                          <p:val>
                                            <p:strVal val="#ppt_x"/>
                                          </p:val>
                                        </p:tav>
                                        <p:tav tm="100000">
                                          <p:val>
                                            <p:strVal val="#ppt_x"/>
                                          </p:val>
                                        </p:tav>
                                      </p:tavLst>
                                    </p:anim>
                                    <p:anim calcmode="lin" valueType="num">
                                      <p:cBhvr>
                                        <p:cTn id="9" dur="1000" fill="hold"/>
                                        <p:tgtEl>
                                          <p:spTgt spid="5">
                                            <p:txEl>
                                              <p:pRg st="1" end="1"/>
                                            </p:txEl>
                                          </p:spTgt>
                                        </p:tgtEl>
                                        <p:attrNameLst>
                                          <p:attrName>ppt_y</p:attrName>
                                        </p:attrNameLst>
                                      </p:cBhvr>
                                      <p:tavLst>
                                        <p:tav tm="0">
                                          <p:val>
                                            <p:strVal val="#ppt_y+.1"/>
                                          </p:val>
                                        </p:tav>
                                        <p:tav tm="100000">
                                          <p:val>
                                            <p:strVal val="#ppt_y"/>
                                          </p:val>
                                        </p:tav>
                                      </p:tavLst>
                                    </p:anim>
                                  </p:childTnLst>
                                </p:cTn>
                              </p:par>
                              <p:par>
                                <p:cTn id="10" presetID="42" presetClass="entr" presetSubtype="0" fill="hold" nodeType="withEffect">
                                  <p:stCondLst>
                                    <p:cond delay="0"/>
                                  </p:stCondLst>
                                  <p:childTnLst>
                                    <p:set>
                                      <p:cBhvr>
                                        <p:cTn id="11" dur="1" fill="hold">
                                          <p:stCondLst>
                                            <p:cond delay="0"/>
                                          </p:stCondLst>
                                        </p:cTn>
                                        <p:tgtEl>
                                          <p:spTgt spid="5">
                                            <p:txEl>
                                              <p:pRg st="3" end="3"/>
                                            </p:txEl>
                                          </p:spTgt>
                                        </p:tgtEl>
                                        <p:attrNameLst>
                                          <p:attrName>style.visibility</p:attrName>
                                        </p:attrNameLst>
                                      </p:cBhvr>
                                      <p:to>
                                        <p:strVal val="visible"/>
                                      </p:to>
                                    </p:set>
                                    <p:animEffect transition="in" filter="fade">
                                      <p:cBhvr>
                                        <p:cTn id="12" dur="1000"/>
                                        <p:tgtEl>
                                          <p:spTgt spid="5">
                                            <p:txEl>
                                              <p:pRg st="3" end="3"/>
                                            </p:txEl>
                                          </p:spTgt>
                                        </p:tgtEl>
                                      </p:cBhvr>
                                    </p:animEffect>
                                    <p:anim calcmode="lin" valueType="num">
                                      <p:cBhvr>
                                        <p:cTn id="13" dur="1000" fill="hold"/>
                                        <p:tgtEl>
                                          <p:spTgt spid="5">
                                            <p:txEl>
                                              <p:pRg st="3" end="3"/>
                                            </p:txEl>
                                          </p:spTgt>
                                        </p:tgtEl>
                                        <p:attrNameLst>
                                          <p:attrName>ppt_x</p:attrName>
                                        </p:attrNameLst>
                                      </p:cBhvr>
                                      <p:tavLst>
                                        <p:tav tm="0">
                                          <p:val>
                                            <p:strVal val="#ppt_x"/>
                                          </p:val>
                                        </p:tav>
                                        <p:tav tm="100000">
                                          <p:val>
                                            <p:strVal val="#ppt_x"/>
                                          </p:val>
                                        </p:tav>
                                      </p:tavLst>
                                    </p:anim>
                                    <p:anim calcmode="lin" valueType="num">
                                      <p:cBhvr>
                                        <p:cTn id="14" dur="1000" fill="hold"/>
                                        <p:tgtEl>
                                          <p:spTgt spid="5">
                                            <p:txEl>
                                              <p:pRg st="3" end="3"/>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3B0E32-4886-85A6-EBE1-3AD218FB77EE}"/>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E61EC088-9BFE-59C7-B457-CD5DE5AB2360}"/>
              </a:ext>
            </a:extLst>
          </p:cNvPr>
          <p:cNvSpPr txBox="1"/>
          <p:nvPr/>
        </p:nvSpPr>
        <p:spPr>
          <a:xfrm>
            <a:off x="0" y="0"/>
            <a:ext cx="8976732" cy="758797"/>
          </a:xfrm>
          <a:prstGeom prst="rect">
            <a:avLst/>
          </a:prstGeom>
          <a:noFill/>
        </p:spPr>
        <p:txBody>
          <a:bodyPr wrap="square" rtlCol="0">
            <a:spAutoFit/>
          </a:bodyPr>
          <a:lstStyle/>
          <a:p>
            <a:pPr>
              <a:lnSpc>
                <a:spcPct val="150000"/>
              </a:lnSpc>
            </a:pPr>
            <a:r>
              <a:rPr lang="en-US" sz="3200" b="1" dirty="0">
                <a:latin typeface="Calibir"/>
              </a:rPr>
              <a:t>HTML Questions</a:t>
            </a:r>
          </a:p>
        </p:txBody>
      </p:sp>
      <p:sp>
        <p:nvSpPr>
          <p:cNvPr id="5" name="TextBox 4">
            <a:extLst>
              <a:ext uri="{FF2B5EF4-FFF2-40B4-BE49-F238E27FC236}">
                <a16:creationId xmlns:a16="http://schemas.microsoft.com/office/drawing/2014/main" id="{A7557263-BCF5-3931-B6DF-39468336A41C}"/>
              </a:ext>
            </a:extLst>
          </p:cNvPr>
          <p:cNvSpPr txBox="1"/>
          <p:nvPr/>
        </p:nvSpPr>
        <p:spPr>
          <a:xfrm>
            <a:off x="0" y="624158"/>
            <a:ext cx="12083845" cy="6380593"/>
          </a:xfrm>
          <a:prstGeom prst="rect">
            <a:avLst/>
          </a:prstGeom>
          <a:noFill/>
        </p:spPr>
        <p:txBody>
          <a:bodyPr wrap="square">
            <a:spAutoFit/>
          </a:bodyPr>
          <a:lstStyle/>
          <a:p>
            <a:pPr>
              <a:lnSpc>
                <a:spcPct val="150000"/>
              </a:lnSpc>
            </a:pPr>
            <a:r>
              <a:rPr lang="en-US" sz="2500" dirty="0">
                <a:latin typeface="Calibir"/>
              </a:rPr>
              <a:t>Students must know:</a:t>
            </a:r>
          </a:p>
          <a:p>
            <a:pPr>
              <a:lnSpc>
                <a:spcPct val="150000"/>
              </a:lnSpc>
            </a:pPr>
            <a:r>
              <a:rPr lang="en-US" sz="2500" b="1" dirty="0">
                <a:latin typeface="Calibir"/>
              </a:rPr>
              <a:t>Correct HTML Structure</a:t>
            </a:r>
          </a:p>
          <a:p>
            <a:pPr>
              <a:lnSpc>
                <a:spcPct val="150000"/>
              </a:lnSpc>
            </a:pPr>
            <a:r>
              <a:rPr lang="en-US" sz="2500" dirty="0">
                <a:latin typeface="Calibir"/>
              </a:rPr>
              <a:t>&lt;!DOCTYPE html&gt;</a:t>
            </a:r>
            <a:br>
              <a:rPr lang="en-US" sz="2500" dirty="0">
                <a:latin typeface="Calibir"/>
              </a:rPr>
            </a:br>
            <a:r>
              <a:rPr lang="en-US" sz="2500" dirty="0">
                <a:latin typeface="Calibir"/>
              </a:rPr>
              <a:t>&lt;html&gt;</a:t>
            </a:r>
            <a:br>
              <a:rPr lang="en-US" sz="2500" dirty="0">
                <a:latin typeface="Calibir"/>
              </a:rPr>
            </a:br>
            <a:r>
              <a:rPr lang="en-US" sz="2500" dirty="0">
                <a:latin typeface="Calibir"/>
              </a:rPr>
              <a:t>&lt;head&gt;</a:t>
            </a:r>
            <a:br>
              <a:rPr lang="en-US" sz="2500" dirty="0">
                <a:latin typeface="Calibir"/>
              </a:rPr>
            </a:br>
            <a:r>
              <a:rPr lang="en-US" sz="2500" dirty="0">
                <a:latin typeface="Calibir"/>
              </a:rPr>
              <a:t>&lt;title&gt;Page&lt;/title&gt;</a:t>
            </a:r>
            <a:br>
              <a:rPr lang="en-US" sz="2500" dirty="0">
                <a:latin typeface="Calibir"/>
              </a:rPr>
            </a:br>
            <a:r>
              <a:rPr lang="en-US" sz="2500" dirty="0">
                <a:latin typeface="Calibir"/>
              </a:rPr>
              <a:t>&lt;/head&gt;</a:t>
            </a:r>
            <a:br>
              <a:rPr lang="en-US" sz="2500" dirty="0">
                <a:latin typeface="Calibir"/>
              </a:rPr>
            </a:br>
            <a:r>
              <a:rPr lang="en-US" sz="2500" dirty="0">
                <a:latin typeface="Calibir"/>
              </a:rPr>
              <a:t>&lt;body&gt;</a:t>
            </a:r>
            <a:br>
              <a:rPr lang="en-US" sz="2500" dirty="0">
                <a:latin typeface="Calibir"/>
              </a:rPr>
            </a:br>
            <a:r>
              <a:rPr lang="en-US" sz="2500" dirty="0">
                <a:latin typeface="Calibir"/>
              </a:rPr>
              <a:t>Content</a:t>
            </a:r>
            <a:br>
              <a:rPr lang="en-US" sz="2500" dirty="0">
                <a:latin typeface="Calibir"/>
              </a:rPr>
            </a:br>
            <a:r>
              <a:rPr lang="en-US" sz="2500" dirty="0">
                <a:latin typeface="Calibir"/>
              </a:rPr>
              <a:t>&lt;/body&gt;</a:t>
            </a:r>
            <a:br>
              <a:rPr lang="en-US" sz="2500" dirty="0">
                <a:latin typeface="Calibir"/>
              </a:rPr>
            </a:br>
            <a:r>
              <a:rPr lang="en-US" sz="2500" dirty="0">
                <a:latin typeface="Calibir"/>
              </a:rPr>
              <a:t>&lt;/html&gt;</a:t>
            </a:r>
          </a:p>
        </p:txBody>
      </p:sp>
    </p:spTree>
    <p:extLst>
      <p:ext uri="{BB962C8B-B14F-4D97-AF65-F5344CB8AC3E}">
        <p14:creationId xmlns:p14="http://schemas.microsoft.com/office/powerpoint/2010/main" val="3839951231"/>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56E4FD-AF3D-7E9E-F572-79CC994A0D01}"/>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555F6756-10AD-33D3-0645-5F84122048E7}"/>
              </a:ext>
            </a:extLst>
          </p:cNvPr>
          <p:cNvSpPr txBox="1"/>
          <p:nvPr/>
        </p:nvSpPr>
        <p:spPr>
          <a:xfrm>
            <a:off x="0" y="0"/>
            <a:ext cx="8976732" cy="758797"/>
          </a:xfrm>
          <a:prstGeom prst="rect">
            <a:avLst/>
          </a:prstGeom>
          <a:noFill/>
        </p:spPr>
        <p:txBody>
          <a:bodyPr wrap="square" rtlCol="0">
            <a:spAutoFit/>
          </a:bodyPr>
          <a:lstStyle/>
          <a:p>
            <a:pPr>
              <a:lnSpc>
                <a:spcPct val="150000"/>
              </a:lnSpc>
            </a:pPr>
            <a:r>
              <a:rPr lang="en-US" sz="3200" b="1" dirty="0">
                <a:latin typeface="Calibir"/>
              </a:rPr>
              <a:t>Common Lab Test Questions</a:t>
            </a:r>
          </a:p>
        </p:txBody>
      </p:sp>
      <p:graphicFrame>
        <p:nvGraphicFramePr>
          <p:cNvPr id="2" name="Table 1">
            <a:extLst>
              <a:ext uri="{FF2B5EF4-FFF2-40B4-BE49-F238E27FC236}">
                <a16:creationId xmlns:a16="http://schemas.microsoft.com/office/drawing/2014/main" id="{5E3A0319-13BD-2BD6-D390-0F0979DE21C3}"/>
              </a:ext>
            </a:extLst>
          </p:cNvPr>
          <p:cNvGraphicFramePr>
            <a:graphicFrameLocks noGrp="1"/>
          </p:cNvGraphicFramePr>
          <p:nvPr>
            <p:extLst>
              <p:ext uri="{D42A27DB-BD31-4B8C-83A1-F6EECF244321}">
                <p14:modId xmlns:p14="http://schemas.microsoft.com/office/powerpoint/2010/main" val="3688437613"/>
              </p:ext>
            </p:extLst>
          </p:nvPr>
        </p:nvGraphicFramePr>
        <p:xfrm>
          <a:off x="720213" y="1821482"/>
          <a:ext cx="10515600" cy="3627120"/>
        </p:xfrm>
        <a:graphic>
          <a:graphicData uri="http://schemas.openxmlformats.org/drawingml/2006/table">
            <a:tbl>
              <a:tblPr>
                <a:tableStyleId>{BDBED569-4797-4DF1-A0F4-6AAB3CD982D8}</a:tableStyleId>
              </a:tblPr>
              <a:tblGrid>
                <a:gridCol w="5257800">
                  <a:extLst>
                    <a:ext uri="{9D8B030D-6E8A-4147-A177-3AD203B41FA5}">
                      <a16:colId xmlns:a16="http://schemas.microsoft.com/office/drawing/2014/main" val="271014253"/>
                    </a:ext>
                  </a:extLst>
                </a:gridCol>
                <a:gridCol w="5257800">
                  <a:extLst>
                    <a:ext uri="{9D8B030D-6E8A-4147-A177-3AD203B41FA5}">
                      <a16:colId xmlns:a16="http://schemas.microsoft.com/office/drawing/2014/main" val="2277860348"/>
                    </a:ext>
                  </a:extLst>
                </a:gridCol>
              </a:tblGrid>
              <a:tr h="0">
                <a:tc>
                  <a:txBody>
                    <a:bodyPr/>
                    <a:lstStyle/>
                    <a:p>
                      <a:pPr>
                        <a:buNone/>
                      </a:pPr>
                      <a:r>
                        <a:rPr lang="en-US" sz="2800" dirty="0">
                          <a:latin typeface="Calibir"/>
                        </a:rPr>
                        <a:t>Question Topic</a:t>
                      </a:r>
                    </a:p>
                  </a:txBody>
                  <a:tcPr anchor="ctr">
                    <a:solidFill>
                      <a:schemeClr val="accent5">
                        <a:lumMod val="20000"/>
                        <a:lumOff val="80000"/>
                      </a:schemeClr>
                    </a:solidFill>
                  </a:tcPr>
                </a:tc>
                <a:tc>
                  <a:txBody>
                    <a:bodyPr/>
                    <a:lstStyle/>
                    <a:p>
                      <a:pPr>
                        <a:buNone/>
                      </a:pPr>
                      <a:r>
                        <a:rPr lang="en-US" sz="2800" dirty="0">
                          <a:latin typeface="Calibir"/>
                        </a:rPr>
                        <a:t>Correct Idea</a:t>
                      </a:r>
                    </a:p>
                  </a:txBody>
                  <a:tcPr anchor="ctr">
                    <a:solidFill>
                      <a:schemeClr val="accent5">
                        <a:lumMod val="20000"/>
                        <a:lumOff val="80000"/>
                      </a:schemeClr>
                    </a:solidFill>
                  </a:tcPr>
                </a:tc>
                <a:extLst>
                  <a:ext uri="{0D108BD9-81ED-4DB2-BD59-A6C34878D82A}">
                    <a16:rowId xmlns:a16="http://schemas.microsoft.com/office/drawing/2014/main" val="407852006"/>
                  </a:ext>
                </a:extLst>
              </a:tr>
              <a:tr h="0">
                <a:tc>
                  <a:txBody>
                    <a:bodyPr/>
                    <a:lstStyle/>
                    <a:p>
                      <a:pPr>
                        <a:buNone/>
                      </a:pPr>
                      <a:r>
                        <a:rPr lang="en-US" sz="2800">
                          <a:latin typeface="Calibir"/>
                        </a:rPr>
                        <a:t>Root element</a:t>
                      </a:r>
                    </a:p>
                  </a:txBody>
                  <a:tcPr anchor="ctr"/>
                </a:tc>
                <a:tc>
                  <a:txBody>
                    <a:bodyPr/>
                    <a:lstStyle/>
                    <a:p>
                      <a:pPr>
                        <a:buNone/>
                      </a:pPr>
                      <a:r>
                        <a:rPr lang="en-US" sz="2800">
                          <a:latin typeface="Calibir"/>
                        </a:rPr>
                        <a:t>&lt;html&gt;</a:t>
                      </a:r>
                    </a:p>
                  </a:txBody>
                  <a:tcPr anchor="ctr"/>
                </a:tc>
                <a:extLst>
                  <a:ext uri="{0D108BD9-81ED-4DB2-BD59-A6C34878D82A}">
                    <a16:rowId xmlns:a16="http://schemas.microsoft.com/office/drawing/2014/main" val="2462523122"/>
                  </a:ext>
                </a:extLst>
              </a:tr>
              <a:tr h="0">
                <a:tc>
                  <a:txBody>
                    <a:bodyPr/>
                    <a:lstStyle/>
                    <a:p>
                      <a:pPr>
                        <a:buNone/>
                      </a:pPr>
                      <a:r>
                        <a:rPr lang="en-US" sz="2800">
                          <a:latin typeface="Calibir"/>
                        </a:rPr>
                        <a:t>Paragraph tag</a:t>
                      </a:r>
                    </a:p>
                  </a:txBody>
                  <a:tcPr anchor="ctr"/>
                </a:tc>
                <a:tc>
                  <a:txBody>
                    <a:bodyPr/>
                    <a:lstStyle/>
                    <a:p>
                      <a:pPr>
                        <a:buNone/>
                      </a:pPr>
                      <a:r>
                        <a:rPr lang="en-US" sz="2800">
                          <a:latin typeface="Calibir"/>
                        </a:rPr>
                        <a:t>&lt;p&gt;</a:t>
                      </a:r>
                    </a:p>
                  </a:txBody>
                  <a:tcPr anchor="ctr"/>
                </a:tc>
                <a:extLst>
                  <a:ext uri="{0D108BD9-81ED-4DB2-BD59-A6C34878D82A}">
                    <a16:rowId xmlns:a16="http://schemas.microsoft.com/office/drawing/2014/main" val="3234466059"/>
                  </a:ext>
                </a:extLst>
              </a:tr>
              <a:tr h="0">
                <a:tc>
                  <a:txBody>
                    <a:bodyPr/>
                    <a:lstStyle/>
                    <a:p>
                      <a:pPr>
                        <a:buNone/>
                      </a:pPr>
                      <a:r>
                        <a:rPr lang="en-US" sz="2800">
                          <a:latin typeface="Calibir"/>
                        </a:rPr>
                        <a:t>Visible webpage section</a:t>
                      </a:r>
                    </a:p>
                  </a:txBody>
                  <a:tcPr anchor="ctr"/>
                </a:tc>
                <a:tc>
                  <a:txBody>
                    <a:bodyPr/>
                    <a:lstStyle/>
                    <a:p>
                      <a:pPr>
                        <a:buNone/>
                      </a:pPr>
                      <a:r>
                        <a:rPr lang="en-US" sz="2800">
                          <a:latin typeface="Calibir"/>
                        </a:rPr>
                        <a:t>&lt;body&gt;</a:t>
                      </a:r>
                    </a:p>
                  </a:txBody>
                  <a:tcPr anchor="ctr"/>
                </a:tc>
                <a:extLst>
                  <a:ext uri="{0D108BD9-81ED-4DB2-BD59-A6C34878D82A}">
                    <a16:rowId xmlns:a16="http://schemas.microsoft.com/office/drawing/2014/main" val="3194157100"/>
                  </a:ext>
                </a:extLst>
              </a:tr>
              <a:tr h="0">
                <a:tc>
                  <a:txBody>
                    <a:bodyPr/>
                    <a:lstStyle/>
                    <a:p>
                      <a:pPr>
                        <a:buNone/>
                      </a:pPr>
                      <a:r>
                        <a:rPr lang="en-US" sz="2800" dirty="0">
                          <a:latin typeface="Calibir"/>
                        </a:rPr>
                        <a:t>Metadata section</a:t>
                      </a:r>
                    </a:p>
                  </a:txBody>
                  <a:tcPr anchor="ctr"/>
                </a:tc>
                <a:tc>
                  <a:txBody>
                    <a:bodyPr/>
                    <a:lstStyle/>
                    <a:p>
                      <a:pPr>
                        <a:buNone/>
                      </a:pPr>
                      <a:r>
                        <a:rPr lang="en-US" sz="2800">
                          <a:latin typeface="Calibir"/>
                        </a:rPr>
                        <a:t>&lt;head&gt;</a:t>
                      </a:r>
                    </a:p>
                  </a:txBody>
                  <a:tcPr anchor="ctr"/>
                </a:tc>
                <a:extLst>
                  <a:ext uri="{0D108BD9-81ED-4DB2-BD59-A6C34878D82A}">
                    <a16:rowId xmlns:a16="http://schemas.microsoft.com/office/drawing/2014/main" val="2010018770"/>
                  </a:ext>
                </a:extLst>
              </a:tr>
              <a:tr h="0">
                <a:tc>
                  <a:txBody>
                    <a:bodyPr/>
                    <a:lstStyle/>
                    <a:p>
                      <a:pPr>
                        <a:buNone/>
                      </a:pPr>
                      <a:r>
                        <a:rPr lang="en-US" sz="2800">
                          <a:latin typeface="Calibir"/>
                        </a:rPr>
                        <a:t>HTML comments</a:t>
                      </a:r>
                    </a:p>
                  </a:txBody>
                  <a:tcPr anchor="ctr"/>
                </a:tc>
                <a:tc>
                  <a:txBody>
                    <a:bodyPr/>
                    <a:lstStyle/>
                    <a:p>
                      <a:pPr>
                        <a:buNone/>
                      </a:pPr>
                      <a:r>
                        <a:rPr lang="en-US" sz="2800">
                          <a:latin typeface="Calibir"/>
                        </a:rPr>
                        <a:t>&lt;!-- comment --&gt;</a:t>
                      </a:r>
                    </a:p>
                  </a:txBody>
                  <a:tcPr anchor="ctr"/>
                </a:tc>
                <a:extLst>
                  <a:ext uri="{0D108BD9-81ED-4DB2-BD59-A6C34878D82A}">
                    <a16:rowId xmlns:a16="http://schemas.microsoft.com/office/drawing/2014/main" val="3567967859"/>
                  </a:ext>
                </a:extLst>
              </a:tr>
              <a:tr h="0">
                <a:tc>
                  <a:txBody>
                    <a:bodyPr/>
                    <a:lstStyle/>
                    <a:p>
                      <a:pPr>
                        <a:buNone/>
                      </a:pPr>
                      <a:r>
                        <a:rPr lang="en-US" sz="2800">
                          <a:latin typeface="Calibir"/>
                        </a:rPr>
                        <a:t>First HTML declaration</a:t>
                      </a:r>
                    </a:p>
                  </a:txBody>
                  <a:tcPr anchor="ctr"/>
                </a:tc>
                <a:tc>
                  <a:txBody>
                    <a:bodyPr/>
                    <a:lstStyle/>
                    <a:p>
                      <a:pPr>
                        <a:buNone/>
                      </a:pPr>
                      <a:r>
                        <a:rPr lang="en-US" sz="2800" dirty="0">
                          <a:latin typeface="Calibir"/>
                        </a:rPr>
                        <a:t>&lt;!DOCTYPE html&gt;</a:t>
                      </a:r>
                    </a:p>
                  </a:txBody>
                  <a:tcPr anchor="ctr"/>
                </a:tc>
                <a:extLst>
                  <a:ext uri="{0D108BD9-81ED-4DB2-BD59-A6C34878D82A}">
                    <a16:rowId xmlns:a16="http://schemas.microsoft.com/office/drawing/2014/main" val="2280060356"/>
                  </a:ext>
                </a:extLst>
              </a:tr>
            </a:tbl>
          </a:graphicData>
        </a:graphic>
      </p:graphicFrame>
    </p:spTree>
    <p:extLst>
      <p:ext uri="{BB962C8B-B14F-4D97-AF65-F5344CB8AC3E}">
        <p14:creationId xmlns:p14="http://schemas.microsoft.com/office/powerpoint/2010/main" val="1605632455"/>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FFED4A-9EF7-BE93-EDC2-7C7D425A5941}"/>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229E6726-8D60-6F94-8DC8-650F5469430B}"/>
              </a:ext>
            </a:extLst>
          </p:cNvPr>
          <p:cNvSpPr txBox="1"/>
          <p:nvPr/>
        </p:nvSpPr>
        <p:spPr>
          <a:xfrm>
            <a:off x="0" y="0"/>
            <a:ext cx="8976732" cy="758797"/>
          </a:xfrm>
          <a:prstGeom prst="rect">
            <a:avLst/>
          </a:prstGeom>
          <a:noFill/>
        </p:spPr>
        <p:txBody>
          <a:bodyPr wrap="square" rtlCol="0">
            <a:spAutoFit/>
          </a:bodyPr>
          <a:lstStyle/>
          <a:p>
            <a:pPr>
              <a:lnSpc>
                <a:spcPct val="150000"/>
              </a:lnSpc>
            </a:pPr>
            <a:r>
              <a:rPr lang="en-US" sz="3200" b="1" dirty="0">
                <a:latin typeface="Calibir"/>
              </a:rPr>
              <a:t>Publishing and Hosting Concepts</a:t>
            </a:r>
          </a:p>
        </p:txBody>
      </p:sp>
      <p:graphicFrame>
        <p:nvGraphicFramePr>
          <p:cNvPr id="3" name="Table 2">
            <a:extLst>
              <a:ext uri="{FF2B5EF4-FFF2-40B4-BE49-F238E27FC236}">
                <a16:creationId xmlns:a16="http://schemas.microsoft.com/office/drawing/2014/main" id="{58CC36A2-9F2A-4D8B-76CA-A455636B2570}"/>
              </a:ext>
            </a:extLst>
          </p:cNvPr>
          <p:cNvGraphicFramePr>
            <a:graphicFrameLocks noGrp="1"/>
          </p:cNvGraphicFramePr>
          <p:nvPr>
            <p:extLst>
              <p:ext uri="{D42A27DB-BD31-4B8C-83A1-F6EECF244321}">
                <p14:modId xmlns:p14="http://schemas.microsoft.com/office/powerpoint/2010/main" val="466341624"/>
              </p:ext>
            </p:extLst>
          </p:nvPr>
        </p:nvGraphicFramePr>
        <p:xfrm>
          <a:off x="646471" y="2555952"/>
          <a:ext cx="10515600" cy="2590800"/>
        </p:xfrm>
        <a:graphic>
          <a:graphicData uri="http://schemas.openxmlformats.org/drawingml/2006/table">
            <a:tbl>
              <a:tblPr>
                <a:tableStyleId>{BDBED569-4797-4DF1-A0F4-6AAB3CD982D8}</a:tableStyleId>
              </a:tblPr>
              <a:tblGrid>
                <a:gridCol w="5257800">
                  <a:extLst>
                    <a:ext uri="{9D8B030D-6E8A-4147-A177-3AD203B41FA5}">
                      <a16:colId xmlns:a16="http://schemas.microsoft.com/office/drawing/2014/main" val="3232219046"/>
                    </a:ext>
                  </a:extLst>
                </a:gridCol>
                <a:gridCol w="5257800">
                  <a:extLst>
                    <a:ext uri="{9D8B030D-6E8A-4147-A177-3AD203B41FA5}">
                      <a16:colId xmlns:a16="http://schemas.microsoft.com/office/drawing/2014/main" val="3426539672"/>
                    </a:ext>
                  </a:extLst>
                </a:gridCol>
              </a:tblGrid>
              <a:tr h="0">
                <a:tc>
                  <a:txBody>
                    <a:bodyPr/>
                    <a:lstStyle/>
                    <a:p>
                      <a:pPr>
                        <a:buNone/>
                      </a:pPr>
                      <a:r>
                        <a:rPr lang="en-US" sz="2800" dirty="0">
                          <a:latin typeface="Calibir"/>
                        </a:rPr>
                        <a:t>Topic</a:t>
                      </a:r>
                    </a:p>
                  </a:txBody>
                  <a:tcPr anchor="ctr">
                    <a:solidFill>
                      <a:schemeClr val="accent5">
                        <a:lumMod val="20000"/>
                        <a:lumOff val="80000"/>
                      </a:schemeClr>
                    </a:solidFill>
                  </a:tcPr>
                </a:tc>
                <a:tc>
                  <a:txBody>
                    <a:bodyPr/>
                    <a:lstStyle/>
                    <a:p>
                      <a:pPr>
                        <a:buNone/>
                      </a:pPr>
                      <a:r>
                        <a:rPr lang="en-US" sz="2800" dirty="0">
                          <a:latin typeface="Calibir"/>
                        </a:rPr>
                        <a:t>Meaning</a:t>
                      </a:r>
                    </a:p>
                  </a:txBody>
                  <a:tcPr anchor="ctr">
                    <a:solidFill>
                      <a:schemeClr val="accent5">
                        <a:lumMod val="20000"/>
                        <a:lumOff val="80000"/>
                      </a:schemeClr>
                    </a:solidFill>
                  </a:tcPr>
                </a:tc>
                <a:extLst>
                  <a:ext uri="{0D108BD9-81ED-4DB2-BD59-A6C34878D82A}">
                    <a16:rowId xmlns:a16="http://schemas.microsoft.com/office/drawing/2014/main" val="103710707"/>
                  </a:ext>
                </a:extLst>
              </a:tr>
              <a:tr h="0">
                <a:tc>
                  <a:txBody>
                    <a:bodyPr/>
                    <a:lstStyle/>
                    <a:p>
                      <a:pPr>
                        <a:buNone/>
                      </a:pPr>
                      <a:r>
                        <a:rPr lang="en-US" sz="2800">
                          <a:latin typeface="Calibir"/>
                        </a:rPr>
                        <a:t>Publishing</a:t>
                      </a:r>
                    </a:p>
                  </a:txBody>
                  <a:tcPr anchor="ctr"/>
                </a:tc>
                <a:tc>
                  <a:txBody>
                    <a:bodyPr/>
                    <a:lstStyle/>
                    <a:p>
                      <a:pPr>
                        <a:buNone/>
                      </a:pPr>
                      <a:r>
                        <a:rPr lang="en-US" sz="2800">
                          <a:latin typeface="Calibir"/>
                        </a:rPr>
                        <a:t>Uploading webpages to server</a:t>
                      </a:r>
                    </a:p>
                  </a:txBody>
                  <a:tcPr anchor="ctr"/>
                </a:tc>
                <a:extLst>
                  <a:ext uri="{0D108BD9-81ED-4DB2-BD59-A6C34878D82A}">
                    <a16:rowId xmlns:a16="http://schemas.microsoft.com/office/drawing/2014/main" val="3039052120"/>
                  </a:ext>
                </a:extLst>
              </a:tr>
              <a:tr h="0">
                <a:tc>
                  <a:txBody>
                    <a:bodyPr/>
                    <a:lstStyle/>
                    <a:p>
                      <a:pPr>
                        <a:buNone/>
                      </a:pPr>
                      <a:r>
                        <a:rPr lang="en-US" sz="2800">
                          <a:latin typeface="Calibir"/>
                        </a:rPr>
                        <a:t>Hosting</a:t>
                      </a:r>
                    </a:p>
                  </a:txBody>
                  <a:tcPr anchor="ctr"/>
                </a:tc>
                <a:tc>
                  <a:txBody>
                    <a:bodyPr/>
                    <a:lstStyle/>
                    <a:p>
                      <a:pPr>
                        <a:buNone/>
                      </a:pPr>
                      <a:r>
                        <a:rPr lang="en-US" sz="2800">
                          <a:latin typeface="Calibir"/>
                        </a:rPr>
                        <a:t>Storing website online</a:t>
                      </a:r>
                    </a:p>
                  </a:txBody>
                  <a:tcPr anchor="ctr"/>
                </a:tc>
                <a:extLst>
                  <a:ext uri="{0D108BD9-81ED-4DB2-BD59-A6C34878D82A}">
                    <a16:rowId xmlns:a16="http://schemas.microsoft.com/office/drawing/2014/main" val="4241949404"/>
                  </a:ext>
                </a:extLst>
              </a:tr>
              <a:tr h="0">
                <a:tc>
                  <a:txBody>
                    <a:bodyPr/>
                    <a:lstStyle/>
                    <a:p>
                      <a:pPr>
                        <a:buNone/>
                      </a:pPr>
                      <a:r>
                        <a:rPr lang="en-US" sz="2800">
                          <a:latin typeface="Calibir"/>
                        </a:rPr>
                        <a:t>Domain Name</a:t>
                      </a:r>
                    </a:p>
                  </a:txBody>
                  <a:tcPr anchor="ctr"/>
                </a:tc>
                <a:tc>
                  <a:txBody>
                    <a:bodyPr/>
                    <a:lstStyle/>
                    <a:p>
                      <a:pPr>
                        <a:buNone/>
                      </a:pPr>
                      <a:r>
                        <a:rPr lang="en-US" sz="2800">
                          <a:latin typeface="Calibir"/>
                        </a:rPr>
                        <a:t>Website address</a:t>
                      </a:r>
                    </a:p>
                  </a:txBody>
                  <a:tcPr anchor="ctr"/>
                </a:tc>
                <a:extLst>
                  <a:ext uri="{0D108BD9-81ED-4DB2-BD59-A6C34878D82A}">
                    <a16:rowId xmlns:a16="http://schemas.microsoft.com/office/drawing/2014/main" val="812916391"/>
                  </a:ext>
                </a:extLst>
              </a:tr>
              <a:tr h="0">
                <a:tc>
                  <a:txBody>
                    <a:bodyPr/>
                    <a:lstStyle/>
                    <a:p>
                      <a:pPr>
                        <a:buNone/>
                      </a:pPr>
                      <a:r>
                        <a:rPr lang="en-US" sz="2800">
                          <a:latin typeface="Calibir"/>
                        </a:rPr>
                        <a:t>Web Server</a:t>
                      </a:r>
                    </a:p>
                  </a:txBody>
                  <a:tcPr anchor="ctr"/>
                </a:tc>
                <a:tc>
                  <a:txBody>
                    <a:bodyPr/>
                    <a:lstStyle/>
                    <a:p>
                      <a:pPr>
                        <a:buNone/>
                      </a:pPr>
                      <a:r>
                        <a:rPr lang="en-US" sz="2800" dirty="0">
                          <a:latin typeface="Calibir"/>
                        </a:rPr>
                        <a:t>Computer serving websites</a:t>
                      </a:r>
                    </a:p>
                  </a:txBody>
                  <a:tcPr anchor="ctr"/>
                </a:tc>
                <a:extLst>
                  <a:ext uri="{0D108BD9-81ED-4DB2-BD59-A6C34878D82A}">
                    <a16:rowId xmlns:a16="http://schemas.microsoft.com/office/drawing/2014/main" val="453055170"/>
                  </a:ext>
                </a:extLst>
              </a:tr>
            </a:tbl>
          </a:graphicData>
        </a:graphic>
      </p:graphicFrame>
      <p:sp>
        <p:nvSpPr>
          <p:cNvPr id="6" name="TextBox 5">
            <a:extLst>
              <a:ext uri="{FF2B5EF4-FFF2-40B4-BE49-F238E27FC236}">
                <a16:creationId xmlns:a16="http://schemas.microsoft.com/office/drawing/2014/main" id="{ABDF57F4-BCC6-938D-5589-9F5D4B28669F}"/>
              </a:ext>
            </a:extLst>
          </p:cNvPr>
          <p:cNvSpPr txBox="1"/>
          <p:nvPr/>
        </p:nvSpPr>
        <p:spPr>
          <a:xfrm>
            <a:off x="0" y="1135315"/>
            <a:ext cx="6179574" cy="523220"/>
          </a:xfrm>
          <a:prstGeom prst="rect">
            <a:avLst/>
          </a:prstGeom>
          <a:noFill/>
        </p:spPr>
        <p:txBody>
          <a:bodyPr wrap="square">
            <a:spAutoFit/>
          </a:bodyPr>
          <a:lstStyle/>
          <a:p>
            <a:pPr>
              <a:buNone/>
            </a:pPr>
            <a:r>
              <a:rPr lang="en-US" sz="2800" dirty="0">
                <a:latin typeface="Calibir"/>
              </a:rPr>
              <a:t>Students must understand:</a:t>
            </a:r>
          </a:p>
        </p:txBody>
      </p:sp>
    </p:spTree>
    <p:extLst>
      <p:ext uri="{BB962C8B-B14F-4D97-AF65-F5344CB8AC3E}">
        <p14:creationId xmlns:p14="http://schemas.microsoft.com/office/powerpoint/2010/main" val="2471103836"/>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959197-D524-28AE-1C28-34FA86D5A882}"/>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54C01BA4-6512-F57F-EE32-28065F2730C0}"/>
              </a:ext>
            </a:extLst>
          </p:cNvPr>
          <p:cNvSpPr txBox="1"/>
          <p:nvPr/>
        </p:nvSpPr>
        <p:spPr>
          <a:xfrm>
            <a:off x="0" y="0"/>
            <a:ext cx="8976732" cy="758797"/>
          </a:xfrm>
          <a:prstGeom prst="rect">
            <a:avLst/>
          </a:prstGeom>
          <a:noFill/>
        </p:spPr>
        <p:txBody>
          <a:bodyPr wrap="square" rtlCol="0">
            <a:spAutoFit/>
          </a:bodyPr>
          <a:lstStyle/>
          <a:p>
            <a:pPr>
              <a:lnSpc>
                <a:spcPct val="150000"/>
              </a:lnSpc>
            </a:pPr>
            <a:r>
              <a:rPr lang="en-US" sz="3200" b="1" dirty="0">
                <a:latin typeface="Calibir"/>
              </a:rPr>
              <a:t>Publishing and Hosting Concepts</a:t>
            </a:r>
          </a:p>
        </p:txBody>
      </p:sp>
      <p:sp>
        <p:nvSpPr>
          <p:cNvPr id="6" name="TextBox 5">
            <a:extLst>
              <a:ext uri="{FF2B5EF4-FFF2-40B4-BE49-F238E27FC236}">
                <a16:creationId xmlns:a16="http://schemas.microsoft.com/office/drawing/2014/main" id="{53C802BF-1928-18D9-5B7F-75A5D54B55B6}"/>
              </a:ext>
            </a:extLst>
          </p:cNvPr>
          <p:cNvSpPr txBox="1"/>
          <p:nvPr/>
        </p:nvSpPr>
        <p:spPr>
          <a:xfrm>
            <a:off x="0" y="1135315"/>
            <a:ext cx="12192000" cy="1964512"/>
          </a:xfrm>
          <a:prstGeom prst="rect">
            <a:avLst/>
          </a:prstGeom>
          <a:noFill/>
        </p:spPr>
        <p:txBody>
          <a:bodyPr wrap="square">
            <a:spAutoFit/>
          </a:bodyPr>
          <a:lstStyle/>
          <a:p>
            <a:pPr>
              <a:lnSpc>
                <a:spcPct val="150000"/>
              </a:lnSpc>
            </a:pPr>
            <a:r>
              <a:rPr lang="en-US" sz="2800" b="1" dirty="0">
                <a:latin typeface="Calibir"/>
              </a:rPr>
              <a:t>Example</a:t>
            </a:r>
          </a:p>
          <a:p>
            <a:pPr>
              <a:lnSpc>
                <a:spcPct val="150000"/>
              </a:lnSpc>
            </a:pPr>
            <a:r>
              <a:rPr lang="en-US" sz="2800" b="1" dirty="0">
                <a:latin typeface="Calibir"/>
              </a:rPr>
              <a:t>Publishing means:</a:t>
            </a:r>
          </a:p>
          <a:p>
            <a:pPr>
              <a:lnSpc>
                <a:spcPct val="150000"/>
              </a:lnSpc>
            </a:pPr>
            <a:r>
              <a:rPr lang="en-US" sz="2800" dirty="0">
                <a:latin typeface="Calibir"/>
              </a:rPr>
              <a:t>Transferring webpages from your computer to a web server.</a:t>
            </a:r>
          </a:p>
        </p:txBody>
      </p:sp>
    </p:spTree>
    <p:extLst>
      <p:ext uri="{BB962C8B-B14F-4D97-AF65-F5344CB8AC3E}">
        <p14:creationId xmlns:p14="http://schemas.microsoft.com/office/powerpoint/2010/main" val="1284713033"/>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AF1844-02BF-D57A-6A21-FB086578CEDC}"/>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0DEAA4CD-DA6C-602E-F740-78F0FAC8F162}"/>
              </a:ext>
            </a:extLst>
          </p:cNvPr>
          <p:cNvSpPr txBox="1"/>
          <p:nvPr/>
        </p:nvSpPr>
        <p:spPr>
          <a:xfrm>
            <a:off x="0" y="0"/>
            <a:ext cx="8976732" cy="758797"/>
          </a:xfrm>
          <a:prstGeom prst="rect">
            <a:avLst/>
          </a:prstGeom>
          <a:noFill/>
        </p:spPr>
        <p:txBody>
          <a:bodyPr wrap="square" rtlCol="0">
            <a:spAutoFit/>
          </a:bodyPr>
          <a:lstStyle/>
          <a:p>
            <a:pPr>
              <a:lnSpc>
                <a:spcPct val="150000"/>
              </a:lnSpc>
            </a:pPr>
            <a:r>
              <a:rPr lang="en-US" sz="3200" b="1" dirty="0">
                <a:latin typeface="Calibir"/>
              </a:rPr>
              <a:t>Study Strategy for Lab Tests</a:t>
            </a:r>
          </a:p>
        </p:txBody>
      </p:sp>
      <p:sp>
        <p:nvSpPr>
          <p:cNvPr id="6" name="TextBox 5">
            <a:extLst>
              <a:ext uri="{FF2B5EF4-FFF2-40B4-BE49-F238E27FC236}">
                <a16:creationId xmlns:a16="http://schemas.microsoft.com/office/drawing/2014/main" id="{119C56B5-312F-9E25-53F9-F995826F316E}"/>
              </a:ext>
            </a:extLst>
          </p:cNvPr>
          <p:cNvSpPr txBox="1"/>
          <p:nvPr/>
        </p:nvSpPr>
        <p:spPr>
          <a:xfrm>
            <a:off x="0" y="1135315"/>
            <a:ext cx="12192000" cy="4549835"/>
          </a:xfrm>
          <a:prstGeom prst="rect">
            <a:avLst/>
          </a:prstGeom>
          <a:noFill/>
        </p:spPr>
        <p:txBody>
          <a:bodyPr wrap="square">
            <a:spAutoFit/>
          </a:bodyPr>
          <a:lstStyle/>
          <a:p>
            <a:pPr>
              <a:lnSpc>
                <a:spcPct val="150000"/>
              </a:lnSpc>
            </a:pPr>
            <a:r>
              <a:rPr lang="en-US" sz="2800" b="1" dirty="0">
                <a:latin typeface="Calibir"/>
              </a:rPr>
              <a:t>Best Method</a:t>
            </a:r>
          </a:p>
          <a:p>
            <a:pPr>
              <a:lnSpc>
                <a:spcPct val="150000"/>
              </a:lnSpc>
            </a:pPr>
            <a:r>
              <a:rPr lang="en-US" sz="2800" b="1" dirty="0">
                <a:latin typeface="Calibir"/>
              </a:rPr>
              <a:t>Before Each Test:</a:t>
            </a:r>
          </a:p>
          <a:p>
            <a:pPr marL="971550" lvl="1" indent="-514350">
              <a:lnSpc>
                <a:spcPct val="150000"/>
              </a:lnSpc>
              <a:buFont typeface="+mj-lt"/>
              <a:buAutoNum type="arabicPeriod"/>
            </a:pPr>
            <a:r>
              <a:rPr lang="en-US" sz="2800" dirty="0">
                <a:latin typeface="Calibir"/>
              </a:rPr>
              <a:t>Review lecture slides </a:t>
            </a:r>
          </a:p>
          <a:p>
            <a:pPr marL="971550" lvl="1" indent="-514350">
              <a:lnSpc>
                <a:spcPct val="150000"/>
              </a:lnSpc>
              <a:buFont typeface="+mj-lt"/>
              <a:buAutoNum type="arabicPeriod"/>
            </a:pPr>
            <a:r>
              <a:rPr lang="en-US" sz="2800" dirty="0">
                <a:latin typeface="Calibir"/>
              </a:rPr>
              <a:t>Complete tutorial questions </a:t>
            </a:r>
          </a:p>
          <a:p>
            <a:pPr marL="971550" lvl="1" indent="-514350">
              <a:lnSpc>
                <a:spcPct val="150000"/>
              </a:lnSpc>
              <a:buFont typeface="+mj-lt"/>
              <a:buAutoNum type="arabicPeriod"/>
            </a:pPr>
            <a:r>
              <a:rPr lang="en-US" sz="2800" dirty="0" err="1">
                <a:latin typeface="Calibir"/>
              </a:rPr>
              <a:t>Practise</a:t>
            </a:r>
            <a:r>
              <a:rPr lang="en-US" sz="2800" dirty="0">
                <a:latin typeface="Calibir"/>
              </a:rPr>
              <a:t> HTML coding </a:t>
            </a:r>
          </a:p>
          <a:p>
            <a:pPr marL="971550" lvl="1" indent="-514350">
              <a:lnSpc>
                <a:spcPct val="150000"/>
              </a:lnSpc>
              <a:buFont typeface="+mj-lt"/>
              <a:buAutoNum type="arabicPeriod"/>
            </a:pPr>
            <a:r>
              <a:rPr lang="en-US" sz="2800" dirty="0">
                <a:latin typeface="Calibir"/>
              </a:rPr>
              <a:t>Review definitions </a:t>
            </a:r>
          </a:p>
          <a:p>
            <a:pPr marL="971550" lvl="1" indent="-514350">
              <a:lnSpc>
                <a:spcPct val="150000"/>
              </a:lnSpc>
              <a:buFont typeface="+mj-lt"/>
              <a:buAutoNum type="arabicPeriod"/>
            </a:pPr>
            <a:r>
              <a:rPr lang="en-US" sz="2800" dirty="0" err="1">
                <a:latin typeface="Calibir"/>
              </a:rPr>
              <a:t>Practise</a:t>
            </a:r>
            <a:r>
              <a:rPr lang="en-US" sz="2800" dirty="0">
                <a:latin typeface="Calibir"/>
              </a:rPr>
              <a:t> multiple-choice questions</a:t>
            </a:r>
          </a:p>
        </p:txBody>
      </p:sp>
    </p:spTree>
    <p:extLst>
      <p:ext uri="{BB962C8B-B14F-4D97-AF65-F5344CB8AC3E}">
        <p14:creationId xmlns:p14="http://schemas.microsoft.com/office/powerpoint/2010/main" val="800686475"/>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B4DACF-9E97-A085-30F6-A6B3D260D82F}"/>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CDC5CB7D-19DD-3A9D-E210-63227A50E6CB}"/>
              </a:ext>
            </a:extLst>
          </p:cNvPr>
          <p:cNvSpPr txBox="1"/>
          <p:nvPr/>
        </p:nvSpPr>
        <p:spPr>
          <a:xfrm>
            <a:off x="0" y="0"/>
            <a:ext cx="8976732" cy="758797"/>
          </a:xfrm>
          <a:prstGeom prst="rect">
            <a:avLst/>
          </a:prstGeom>
          <a:noFill/>
        </p:spPr>
        <p:txBody>
          <a:bodyPr wrap="square" rtlCol="0">
            <a:spAutoFit/>
          </a:bodyPr>
          <a:lstStyle/>
          <a:p>
            <a:pPr>
              <a:lnSpc>
                <a:spcPct val="150000"/>
              </a:lnSpc>
            </a:pPr>
            <a:r>
              <a:rPr lang="en-US" sz="3200" b="1" dirty="0">
                <a:latin typeface="Calibir"/>
              </a:rPr>
              <a:t>Time Management During Tests</a:t>
            </a:r>
          </a:p>
        </p:txBody>
      </p:sp>
      <p:graphicFrame>
        <p:nvGraphicFramePr>
          <p:cNvPr id="2" name="Table 1">
            <a:extLst>
              <a:ext uri="{FF2B5EF4-FFF2-40B4-BE49-F238E27FC236}">
                <a16:creationId xmlns:a16="http://schemas.microsoft.com/office/drawing/2014/main" id="{F937628D-CD4A-8BD8-703D-6846F10114C3}"/>
              </a:ext>
            </a:extLst>
          </p:cNvPr>
          <p:cNvGraphicFramePr>
            <a:graphicFrameLocks noGrp="1"/>
          </p:cNvGraphicFramePr>
          <p:nvPr>
            <p:extLst>
              <p:ext uri="{D42A27DB-BD31-4B8C-83A1-F6EECF244321}">
                <p14:modId xmlns:p14="http://schemas.microsoft.com/office/powerpoint/2010/main" val="4118531674"/>
              </p:ext>
            </p:extLst>
          </p:nvPr>
        </p:nvGraphicFramePr>
        <p:xfrm>
          <a:off x="838200" y="2334726"/>
          <a:ext cx="10515600" cy="3326765"/>
        </p:xfrm>
        <a:graphic>
          <a:graphicData uri="http://schemas.openxmlformats.org/drawingml/2006/table">
            <a:tbl>
              <a:tblPr>
                <a:tableStyleId>{BDBED569-4797-4DF1-A0F4-6AAB3CD982D8}</a:tableStyleId>
              </a:tblPr>
              <a:tblGrid>
                <a:gridCol w="5257800">
                  <a:extLst>
                    <a:ext uri="{9D8B030D-6E8A-4147-A177-3AD203B41FA5}">
                      <a16:colId xmlns:a16="http://schemas.microsoft.com/office/drawing/2014/main" val="2384878261"/>
                    </a:ext>
                  </a:extLst>
                </a:gridCol>
                <a:gridCol w="5257800">
                  <a:extLst>
                    <a:ext uri="{9D8B030D-6E8A-4147-A177-3AD203B41FA5}">
                      <a16:colId xmlns:a16="http://schemas.microsoft.com/office/drawing/2014/main" val="4050744765"/>
                    </a:ext>
                  </a:extLst>
                </a:gridCol>
              </a:tblGrid>
              <a:tr h="0">
                <a:tc>
                  <a:txBody>
                    <a:bodyPr/>
                    <a:lstStyle/>
                    <a:p>
                      <a:pPr>
                        <a:lnSpc>
                          <a:spcPct val="150000"/>
                        </a:lnSpc>
                        <a:buNone/>
                      </a:pPr>
                      <a:r>
                        <a:rPr lang="en-US" sz="2800" dirty="0">
                          <a:latin typeface="Calibir"/>
                        </a:rPr>
                        <a:t>Task</a:t>
                      </a:r>
                    </a:p>
                  </a:txBody>
                  <a:tcPr anchor="ctr">
                    <a:solidFill>
                      <a:schemeClr val="accent5">
                        <a:lumMod val="20000"/>
                        <a:lumOff val="80000"/>
                      </a:schemeClr>
                    </a:solidFill>
                  </a:tcPr>
                </a:tc>
                <a:tc>
                  <a:txBody>
                    <a:bodyPr/>
                    <a:lstStyle/>
                    <a:p>
                      <a:pPr>
                        <a:lnSpc>
                          <a:spcPct val="150000"/>
                        </a:lnSpc>
                        <a:buNone/>
                      </a:pPr>
                      <a:r>
                        <a:rPr lang="en-US" sz="2800" dirty="0">
                          <a:latin typeface="Calibir"/>
                        </a:rPr>
                        <a:t>Time</a:t>
                      </a:r>
                    </a:p>
                  </a:txBody>
                  <a:tcPr anchor="ctr">
                    <a:solidFill>
                      <a:schemeClr val="accent5">
                        <a:lumMod val="20000"/>
                        <a:lumOff val="80000"/>
                      </a:schemeClr>
                    </a:solidFill>
                  </a:tcPr>
                </a:tc>
                <a:extLst>
                  <a:ext uri="{0D108BD9-81ED-4DB2-BD59-A6C34878D82A}">
                    <a16:rowId xmlns:a16="http://schemas.microsoft.com/office/drawing/2014/main" val="1276261768"/>
                  </a:ext>
                </a:extLst>
              </a:tr>
              <a:tr h="0">
                <a:tc>
                  <a:txBody>
                    <a:bodyPr/>
                    <a:lstStyle/>
                    <a:p>
                      <a:pPr>
                        <a:lnSpc>
                          <a:spcPct val="150000"/>
                        </a:lnSpc>
                        <a:buNone/>
                      </a:pPr>
                      <a:r>
                        <a:rPr lang="en-US" sz="2800">
                          <a:latin typeface="Calibir"/>
                        </a:rPr>
                        <a:t>Easy MCQs</a:t>
                      </a:r>
                    </a:p>
                  </a:txBody>
                  <a:tcPr anchor="ctr"/>
                </a:tc>
                <a:tc>
                  <a:txBody>
                    <a:bodyPr/>
                    <a:lstStyle/>
                    <a:p>
                      <a:pPr>
                        <a:lnSpc>
                          <a:spcPct val="150000"/>
                        </a:lnSpc>
                        <a:buNone/>
                      </a:pPr>
                      <a:r>
                        <a:rPr lang="en-US" sz="2800">
                          <a:latin typeface="Calibir"/>
                        </a:rPr>
                        <a:t>10 mins</a:t>
                      </a:r>
                    </a:p>
                  </a:txBody>
                  <a:tcPr anchor="ctr"/>
                </a:tc>
                <a:extLst>
                  <a:ext uri="{0D108BD9-81ED-4DB2-BD59-A6C34878D82A}">
                    <a16:rowId xmlns:a16="http://schemas.microsoft.com/office/drawing/2014/main" val="172065626"/>
                  </a:ext>
                </a:extLst>
              </a:tr>
              <a:tr h="0">
                <a:tc>
                  <a:txBody>
                    <a:bodyPr/>
                    <a:lstStyle/>
                    <a:p>
                      <a:pPr>
                        <a:lnSpc>
                          <a:spcPct val="150000"/>
                        </a:lnSpc>
                        <a:buNone/>
                      </a:pPr>
                      <a:r>
                        <a:rPr lang="en-US" sz="2800" dirty="0">
                          <a:latin typeface="Calibir"/>
                        </a:rPr>
                        <a:t>Medium questions</a:t>
                      </a:r>
                    </a:p>
                  </a:txBody>
                  <a:tcPr anchor="ctr"/>
                </a:tc>
                <a:tc>
                  <a:txBody>
                    <a:bodyPr/>
                    <a:lstStyle/>
                    <a:p>
                      <a:pPr>
                        <a:lnSpc>
                          <a:spcPct val="150000"/>
                        </a:lnSpc>
                        <a:buNone/>
                      </a:pPr>
                      <a:r>
                        <a:rPr lang="en-US" sz="2800">
                          <a:latin typeface="Calibir"/>
                        </a:rPr>
                        <a:t>10 mins</a:t>
                      </a:r>
                    </a:p>
                  </a:txBody>
                  <a:tcPr anchor="ctr"/>
                </a:tc>
                <a:extLst>
                  <a:ext uri="{0D108BD9-81ED-4DB2-BD59-A6C34878D82A}">
                    <a16:rowId xmlns:a16="http://schemas.microsoft.com/office/drawing/2014/main" val="508983396"/>
                  </a:ext>
                </a:extLst>
              </a:tr>
              <a:tr h="0">
                <a:tc>
                  <a:txBody>
                    <a:bodyPr/>
                    <a:lstStyle/>
                    <a:p>
                      <a:pPr>
                        <a:lnSpc>
                          <a:spcPct val="150000"/>
                        </a:lnSpc>
                        <a:buNone/>
                      </a:pPr>
                      <a:r>
                        <a:rPr lang="en-US" sz="2800">
                          <a:latin typeface="Calibir"/>
                        </a:rPr>
                        <a:t>Difficult questions</a:t>
                      </a:r>
                    </a:p>
                  </a:txBody>
                  <a:tcPr anchor="ctr"/>
                </a:tc>
                <a:tc>
                  <a:txBody>
                    <a:bodyPr/>
                    <a:lstStyle/>
                    <a:p>
                      <a:pPr>
                        <a:lnSpc>
                          <a:spcPct val="150000"/>
                        </a:lnSpc>
                        <a:buNone/>
                      </a:pPr>
                      <a:r>
                        <a:rPr lang="en-US" sz="2800">
                          <a:latin typeface="Calibir"/>
                        </a:rPr>
                        <a:t>5 mins</a:t>
                      </a:r>
                    </a:p>
                  </a:txBody>
                  <a:tcPr anchor="ctr"/>
                </a:tc>
                <a:extLst>
                  <a:ext uri="{0D108BD9-81ED-4DB2-BD59-A6C34878D82A}">
                    <a16:rowId xmlns:a16="http://schemas.microsoft.com/office/drawing/2014/main" val="4128946840"/>
                  </a:ext>
                </a:extLst>
              </a:tr>
              <a:tr h="0">
                <a:tc>
                  <a:txBody>
                    <a:bodyPr/>
                    <a:lstStyle/>
                    <a:p>
                      <a:pPr>
                        <a:lnSpc>
                          <a:spcPct val="150000"/>
                        </a:lnSpc>
                        <a:buNone/>
                      </a:pPr>
                      <a:r>
                        <a:rPr lang="en-US" sz="2800">
                          <a:latin typeface="Calibir"/>
                        </a:rPr>
                        <a:t>Final review</a:t>
                      </a:r>
                    </a:p>
                  </a:txBody>
                  <a:tcPr anchor="ctr"/>
                </a:tc>
                <a:tc>
                  <a:txBody>
                    <a:bodyPr/>
                    <a:lstStyle/>
                    <a:p>
                      <a:pPr>
                        <a:lnSpc>
                          <a:spcPct val="150000"/>
                        </a:lnSpc>
                        <a:buNone/>
                      </a:pPr>
                      <a:r>
                        <a:rPr lang="en-US" sz="2800" dirty="0">
                          <a:latin typeface="Calibir"/>
                        </a:rPr>
                        <a:t>5 mins</a:t>
                      </a:r>
                    </a:p>
                  </a:txBody>
                  <a:tcPr anchor="ctr"/>
                </a:tc>
                <a:extLst>
                  <a:ext uri="{0D108BD9-81ED-4DB2-BD59-A6C34878D82A}">
                    <a16:rowId xmlns:a16="http://schemas.microsoft.com/office/drawing/2014/main" val="2381083725"/>
                  </a:ext>
                </a:extLst>
              </a:tr>
            </a:tbl>
          </a:graphicData>
        </a:graphic>
      </p:graphicFrame>
      <p:sp>
        <p:nvSpPr>
          <p:cNvPr id="5" name="TextBox 4">
            <a:extLst>
              <a:ext uri="{FF2B5EF4-FFF2-40B4-BE49-F238E27FC236}">
                <a16:creationId xmlns:a16="http://schemas.microsoft.com/office/drawing/2014/main" id="{A5C3C9F5-03A8-39DF-301B-009A896F41D9}"/>
              </a:ext>
            </a:extLst>
          </p:cNvPr>
          <p:cNvSpPr txBox="1"/>
          <p:nvPr/>
        </p:nvSpPr>
        <p:spPr>
          <a:xfrm>
            <a:off x="0" y="1061572"/>
            <a:ext cx="6179574" cy="523220"/>
          </a:xfrm>
          <a:prstGeom prst="rect">
            <a:avLst/>
          </a:prstGeom>
          <a:noFill/>
        </p:spPr>
        <p:txBody>
          <a:bodyPr wrap="square">
            <a:spAutoFit/>
          </a:bodyPr>
          <a:lstStyle/>
          <a:p>
            <a:pPr>
              <a:buNone/>
            </a:pPr>
            <a:r>
              <a:rPr lang="en-US" sz="2800" b="1" dirty="0">
                <a:latin typeface="Calibir"/>
              </a:rPr>
              <a:t>Recommended Strategy</a:t>
            </a:r>
          </a:p>
        </p:txBody>
      </p:sp>
    </p:spTree>
    <p:extLst>
      <p:ext uri="{BB962C8B-B14F-4D97-AF65-F5344CB8AC3E}">
        <p14:creationId xmlns:p14="http://schemas.microsoft.com/office/powerpoint/2010/main" val="1150954030"/>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C76B49-EB7F-5419-0A20-8EB8FF5CC508}"/>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A5286D6F-0B1F-4BDE-1026-5DB9EB7EE05D}"/>
              </a:ext>
            </a:extLst>
          </p:cNvPr>
          <p:cNvSpPr txBox="1"/>
          <p:nvPr/>
        </p:nvSpPr>
        <p:spPr>
          <a:xfrm>
            <a:off x="0" y="0"/>
            <a:ext cx="8976732" cy="758797"/>
          </a:xfrm>
          <a:prstGeom prst="rect">
            <a:avLst/>
          </a:prstGeom>
          <a:noFill/>
        </p:spPr>
        <p:txBody>
          <a:bodyPr wrap="square" rtlCol="0">
            <a:spAutoFit/>
          </a:bodyPr>
          <a:lstStyle/>
          <a:p>
            <a:pPr>
              <a:lnSpc>
                <a:spcPct val="150000"/>
              </a:lnSpc>
            </a:pPr>
            <a:r>
              <a:rPr lang="en-US" sz="3200" b="1" dirty="0">
                <a:latin typeface="Calibir"/>
              </a:rPr>
              <a:t>Common Mistakes to Avoid</a:t>
            </a:r>
          </a:p>
        </p:txBody>
      </p:sp>
      <p:sp>
        <p:nvSpPr>
          <p:cNvPr id="5" name="TextBox 4">
            <a:extLst>
              <a:ext uri="{FF2B5EF4-FFF2-40B4-BE49-F238E27FC236}">
                <a16:creationId xmlns:a16="http://schemas.microsoft.com/office/drawing/2014/main" id="{4ECFF693-E674-63F4-C69B-4AEBF74BD580}"/>
              </a:ext>
            </a:extLst>
          </p:cNvPr>
          <p:cNvSpPr txBox="1"/>
          <p:nvPr/>
        </p:nvSpPr>
        <p:spPr>
          <a:xfrm>
            <a:off x="0" y="1061572"/>
            <a:ext cx="6179574" cy="5842497"/>
          </a:xfrm>
          <a:prstGeom prst="rect">
            <a:avLst/>
          </a:prstGeom>
          <a:noFill/>
        </p:spPr>
        <p:txBody>
          <a:bodyPr wrap="square">
            <a:spAutoFit/>
          </a:bodyPr>
          <a:lstStyle/>
          <a:p>
            <a:pPr>
              <a:lnSpc>
                <a:spcPct val="150000"/>
              </a:lnSpc>
            </a:pPr>
            <a:r>
              <a:rPr lang="en-US" sz="2800" b="1" dirty="0">
                <a:latin typeface="Calibir"/>
              </a:rPr>
              <a:t>Avoid These Problems</a:t>
            </a:r>
          </a:p>
          <a:p>
            <a:pPr>
              <a:lnSpc>
                <a:spcPct val="150000"/>
              </a:lnSpc>
            </a:pPr>
            <a:r>
              <a:rPr lang="en-US" sz="2800" b="1" dirty="0">
                <a:latin typeface="Calibir"/>
              </a:rPr>
              <a:t>Do NOT:</a:t>
            </a:r>
          </a:p>
          <a:p>
            <a:pPr marL="914400" lvl="1" indent="-457200">
              <a:lnSpc>
                <a:spcPct val="150000"/>
              </a:lnSpc>
              <a:buFont typeface="Arial" panose="020B0604020202020204" pitchFamily="34" charset="0"/>
              <a:buChar char="•"/>
            </a:pPr>
            <a:r>
              <a:rPr lang="en-US" sz="2800" dirty="0">
                <a:latin typeface="Calibir"/>
              </a:rPr>
              <a:t>study only one day before, </a:t>
            </a:r>
          </a:p>
          <a:p>
            <a:pPr marL="914400" lvl="1" indent="-457200">
              <a:lnSpc>
                <a:spcPct val="150000"/>
              </a:lnSpc>
              <a:buFont typeface="Arial" panose="020B0604020202020204" pitchFamily="34" charset="0"/>
              <a:buChar char="•"/>
            </a:pPr>
            <a:r>
              <a:rPr lang="en-US" sz="2800" dirty="0">
                <a:latin typeface="Calibir"/>
              </a:rPr>
              <a:t>memorize without understanding, </a:t>
            </a:r>
          </a:p>
          <a:p>
            <a:pPr marL="914400" lvl="1" indent="-457200">
              <a:lnSpc>
                <a:spcPct val="150000"/>
              </a:lnSpc>
              <a:buFont typeface="Arial" panose="020B0604020202020204" pitchFamily="34" charset="0"/>
              <a:buChar char="•"/>
            </a:pPr>
            <a:r>
              <a:rPr lang="en-US" sz="2800" dirty="0">
                <a:latin typeface="Calibir"/>
              </a:rPr>
              <a:t>skip tutorials, </a:t>
            </a:r>
          </a:p>
          <a:p>
            <a:pPr marL="914400" lvl="1" indent="-457200">
              <a:lnSpc>
                <a:spcPct val="150000"/>
              </a:lnSpc>
              <a:buFont typeface="Arial" panose="020B0604020202020204" pitchFamily="34" charset="0"/>
              <a:buChar char="•"/>
            </a:pPr>
            <a:r>
              <a:rPr lang="en-US" sz="2800" dirty="0">
                <a:latin typeface="Calibir"/>
              </a:rPr>
              <a:t>leave assignments late, </a:t>
            </a:r>
          </a:p>
          <a:p>
            <a:pPr marL="914400" lvl="1" indent="-457200">
              <a:lnSpc>
                <a:spcPct val="150000"/>
              </a:lnSpc>
              <a:buFont typeface="Arial" panose="020B0604020202020204" pitchFamily="34" charset="0"/>
              <a:buChar char="•"/>
            </a:pPr>
            <a:r>
              <a:rPr lang="en-US" sz="2800" dirty="0">
                <a:latin typeface="Calibir"/>
              </a:rPr>
              <a:t>ignore HTML practice, </a:t>
            </a:r>
          </a:p>
          <a:p>
            <a:pPr marL="914400" lvl="1" indent="-457200">
              <a:lnSpc>
                <a:spcPct val="150000"/>
              </a:lnSpc>
              <a:buFont typeface="Arial" panose="020B0604020202020204" pitchFamily="34" charset="0"/>
              <a:buChar char="•"/>
            </a:pPr>
            <a:r>
              <a:rPr lang="en-US" sz="2800" dirty="0">
                <a:latin typeface="Calibir"/>
              </a:rPr>
              <a:t>use mobile devices for tests, </a:t>
            </a:r>
          </a:p>
          <a:p>
            <a:pPr marL="914400" lvl="1" indent="-457200">
              <a:lnSpc>
                <a:spcPct val="150000"/>
              </a:lnSpc>
              <a:buFont typeface="Arial" panose="020B0604020202020204" pitchFamily="34" charset="0"/>
              <a:buChar char="•"/>
            </a:pPr>
            <a:r>
              <a:rPr lang="en-US" sz="2800" dirty="0">
                <a:latin typeface="Calibir"/>
              </a:rPr>
              <a:t>use weak internet.</a:t>
            </a:r>
          </a:p>
        </p:txBody>
      </p:sp>
    </p:spTree>
    <p:extLst>
      <p:ext uri="{BB962C8B-B14F-4D97-AF65-F5344CB8AC3E}">
        <p14:creationId xmlns:p14="http://schemas.microsoft.com/office/powerpoint/2010/main" val="2807037218"/>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3F1090-293B-7CC2-F7F1-107E5857F97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625C2CAF-4E16-F7E5-147F-C75E3280114A}"/>
              </a:ext>
            </a:extLst>
          </p:cNvPr>
          <p:cNvSpPr txBox="1"/>
          <p:nvPr/>
        </p:nvSpPr>
        <p:spPr>
          <a:xfrm>
            <a:off x="0" y="0"/>
            <a:ext cx="8976732" cy="758797"/>
          </a:xfrm>
          <a:prstGeom prst="rect">
            <a:avLst/>
          </a:prstGeom>
          <a:noFill/>
        </p:spPr>
        <p:txBody>
          <a:bodyPr wrap="square" rtlCol="0">
            <a:spAutoFit/>
          </a:bodyPr>
          <a:lstStyle/>
          <a:p>
            <a:pPr>
              <a:lnSpc>
                <a:spcPct val="150000"/>
              </a:lnSpc>
            </a:pPr>
            <a:r>
              <a:rPr lang="en-US" sz="3200" b="1" dirty="0">
                <a:latin typeface="Calibir"/>
              </a:rPr>
              <a:t>Group Assignment Advice</a:t>
            </a:r>
          </a:p>
        </p:txBody>
      </p:sp>
      <p:sp>
        <p:nvSpPr>
          <p:cNvPr id="5" name="TextBox 4">
            <a:extLst>
              <a:ext uri="{FF2B5EF4-FFF2-40B4-BE49-F238E27FC236}">
                <a16:creationId xmlns:a16="http://schemas.microsoft.com/office/drawing/2014/main" id="{E5CA5988-58E8-4BD2-3920-4910BA40A2F0}"/>
              </a:ext>
            </a:extLst>
          </p:cNvPr>
          <p:cNvSpPr txBox="1"/>
          <p:nvPr/>
        </p:nvSpPr>
        <p:spPr>
          <a:xfrm>
            <a:off x="0" y="1061572"/>
            <a:ext cx="6179574" cy="1964512"/>
          </a:xfrm>
          <a:prstGeom prst="rect">
            <a:avLst/>
          </a:prstGeom>
          <a:noFill/>
        </p:spPr>
        <p:txBody>
          <a:bodyPr wrap="square">
            <a:spAutoFit/>
          </a:bodyPr>
          <a:lstStyle/>
          <a:p>
            <a:pPr>
              <a:lnSpc>
                <a:spcPct val="150000"/>
              </a:lnSpc>
            </a:pPr>
            <a:r>
              <a:rPr lang="en-US" sz="2800" dirty="0">
                <a:latin typeface="Calibir"/>
              </a:rPr>
              <a:t>The group assignment is worth:</a:t>
            </a:r>
          </a:p>
          <a:p>
            <a:pPr>
              <a:lnSpc>
                <a:spcPct val="150000"/>
              </a:lnSpc>
            </a:pPr>
            <a:r>
              <a:rPr lang="en-US" sz="2800" b="1" dirty="0">
                <a:latin typeface="Calibir"/>
              </a:rPr>
              <a:t>60%</a:t>
            </a:r>
          </a:p>
          <a:p>
            <a:pPr>
              <a:lnSpc>
                <a:spcPct val="150000"/>
              </a:lnSpc>
            </a:pPr>
            <a:r>
              <a:rPr lang="en-US" sz="2800" dirty="0">
                <a:latin typeface="Calibir"/>
              </a:rPr>
              <a:t>Start early.</a:t>
            </a:r>
          </a:p>
        </p:txBody>
      </p:sp>
    </p:spTree>
    <p:extLst>
      <p:ext uri="{BB962C8B-B14F-4D97-AF65-F5344CB8AC3E}">
        <p14:creationId xmlns:p14="http://schemas.microsoft.com/office/powerpoint/2010/main" val="2596584952"/>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39EE4C-D899-39C3-52F1-C8A532062CF0}"/>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08E52295-6331-1574-F538-76627F31FB88}"/>
              </a:ext>
            </a:extLst>
          </p:cNvPr>
          <p:cNvSpPr txBox="1"/>
          <p:nvPr/>
        </p:nvSpPr>
        <p:spPr>
          <a:xfrm>
            <a:off x="0" y="0"/>
            <a:ext cx="8976732" cy="758797"/>
          </a:xfrm>
          <a:prstGeom prst="rect">
            <a:avLst/>
          </a:prstGeom>
          <a:noFill/>
        </p:spPr>
        <p:txBody>
          <a:bodyPr wrap="square" rtlCol="0">
            <a:spAutoFit/>
          </a:bodyPr>
          <a:lstStyle/>
          <a:p>
            <a:pPr>
              <a:lnSpc>
                <a:spcPct val="150000"/>
              </a:lnSpc>
            </a:pPr>
            <a:r>
              <a:rPr lang="en-US" sz="3200" b="1" dirty="0">
                <a:latin typeface="Calibir"/>
              </a:rPr>
              <a:t>Good Team Practices</a:t>
            </a:r>
          </a:p>
        </p:txBody>
      </p:sp>
      <p:graphicFrame>
        <p:nvGraphicFramePr>
          <p:cNvPr id="2" name="Table 1">
            <a:extLst>
              <a:ext uri="{FF2B5EF4-FFF2-40B4-BE49-F238E27FC236}">
                <a16:creationId xmlns:a16="http://schemas.microsoft.com/office/drawing/2014/main" id="{6B1BD77C-FDB1-8356-2257-101BF6D815D4}"/>
              </a:ext>
            </a:extLst>
          </p:cNvPr>
          <p:cNvGraphicFramePr>
            <a:graphicFrameLocks noGrp="1"/>
          </p:cNvGraphicFramePr>
          <p:nvPr>
            <p:extLst>
              <p:ext uri="{D42A27DB-BD31-4B8C-83A1-F6EECF244321}">
                <p14:modId xmlns:p14="http://schemas.microsoft.com/office/powerpoint/2010/main" val="3245398937"/>
              </p:ext>
            </p:extLst>
          </p:nvPr>
        </p:nvGraphicFramePr>
        <p:xfrm>
          <a:off x="838200" y="2577886"/>
          <a:ext cx="10515600" cy="3326765"/>
        </p:xfrm>
        <a:graphic>
          <a:graphicData uri="http://schemas.openxmlformats.org/drawingml/2006/table">
            <a:tbl>
              <a:tblPr>
                <a:tableStyleId>{BDBED569-4797-4DF1-A0F4-6AAB3CD982D8}</a:tableStyleId>
              </a:tblPr>
              <a:tblGrid>
                <a:gridCol w="5257800">
                  <a:extLst>
                    <a:ext uri="{9D8B030D-6E8A-4147-A177-3AD203B41FA5}">
                      <a16:colId xmlns:a16="http://schemas.microsoft.com/office/drawing/2014/main" val="1805604677"/>
                    </a:ext>
                  </a:extLst>
                </a:gridCol>
                <a:gridCol w="5257800">
                  <a:extLst>
                    <a:ext uri="{9D8B030D-6E8A-4147-A177-3AD203B41FA5}">
                      <a16:colId xmlns:a16="http://schemas.microsoft.com/office/drawing/2014/main" val="2867810112"/>
                    </a:ext>
                  </a:extLst>
                </a:gridCol>
              </a:tblGrid>
              <a:tr h="0">
                <a:tc>
                  <a:txBody>
                    <a:bodyPr/>
                    <a:lstStyle/>
                    <a:p>
                      <a:pPr>
                        <a:lnSpc>
                          <a:spcPct val="150000"/>
                        </a:lnSpc>
                        <a:buNone/>
                      </a:pPr>
                      <a:r>
                        <a:rPr lang="en-US" sz="2800" dirty="0">
                          <a:latin typeface="Calibir"/>
                        </a:rPr>
                        <a:t>Student</a:t>
                      </a:r>
                    </a:p>
                  </a:txBody>
                  <a:tcPr anchor="ctr">
                    <a:solidFill>
                      <a:schemeClr val="accent5">
                        <a:lumMod val="20000"/>
                        <a:lumOff val="80000"/>
                      </a:schemeClr>
                    </a:solidFill>
                  </a:tcPr>
                </a:tc>
                <a:tc>
                  <a:txBody>
                    <a:bodyPr/>
                    <a:lstStyle/>
                    <a:p>
                      <a:pPr>
                        <a:lnSpc>
                          <a:spcPct val="150000"/>
                        </a:lnSpc>
                        <a:buNone/>
                      </a:pPr>
                      <a:r>
                        <a:rPr lang="en-US" sz="2800" dirty="0">
                          <a:latin typeface="Calibir"/>
                        </a:rPr>
                        <a:t>Responsibility</a:t>
                      </a:r>
                    </a:p>
                  </a:txBody>
                  <a:tcPr anchor="ctr">
                    <a:solidFill>
                      <a:schemeClr val="accent5">
                        <a:lumMod val="20000"/>
                        <a:lumOff val="80000"/>
                      </a:schemeClr>
                    </a:solidFill>
                  </a:tcPr>
                </a:tc>
                <a:extLst>
                  <a:ext uri="{0D108BD9-81ED-4DB2-BD59-A6C34878D82A}">
                    <a16:rowId xmlns:a16="http://schemas.microsoft.com/office/drawing/2014/main" val="3348704675"/>
                  </a:ext>
                </a:extLst>
              </a:tr>
              <a:tr h="0">
                <a:tc>
                  <a:txBody>
                    <a:bodyPr/>
                    <a:lstStyle/>
                    <a:p>
                      <a:pPr>
                        <a:lnSpc>
                          <a:spcPct val="150000"/>
                        </a:lnSpc>
                        <a:buNone/>
                      </a:pPr>
                      <a:r>
                        <a:rPr lang="en-US" sz="2800">
                          <a:latin typeface="Calibir"/>
                        </a:rPr>
                        <a:t>Student 1</a:t>
                      </a:r>
                    </a:p>
                  </a:txBody>
                  <a:tcPr anchor="ctr"/>
                </a:tc>
                <a:tc>
                  <a:txBody>
                    <a:bodyPr/>
                    <a:lstStyle/>
                    <a:p>
                      <a:pPr>
                        <a:lnSpc>
                          <a:spcPct val="150000"/>
                        </a:lnSpc>
                        <a:buNone/>
                      </a:pPr>
                      <a:r>
                        <a:rPr lang="en-US" sz="2800">
                          <a:latin typeface="Calibir"/>
                        </a:rPr>
                        <a:t>HTML</a:t>
                      </a:r>
                    </a:p>
                  </a:txBody>
                  <a:tcPr anchor="ctr"/>
                </a:tc>
                <a:extLst>
                  <a:ext uri="{0D108BD9-81ED-4DB2-BD59-A6C34878D82A}">
                    <a16:rowId xmlns:a16="http://schemas.microsoft.com/office/drawing/2014/main" val="2883889170"/>
                  </a:ext>
                </a:extLst>
              </a:tr>
              <a:tr h="0">
                <a:tc>
                  <a:txBody>
                    <a:bodyPr/>
                    <a:lstStyle/>
                    <a:p>
                      <a:pPr>
                        <a:lnSpc>
                          <a:spcPct val="150000"/>
                        </a:lnSpc>
                        <a:buNone/>
                      </a:pPr>
                      <a:r>
                        <a:rPr lang="en-US" sz="2800">
                          <a:latin typeface="Calibir"/>
                        </a:rPr>
                        <a:t>Student 2</a:t>
                      </a:r>
                    </a:p>
                  </a:txBody>
                  <a:tcPr anchor="ctr"/>
                </a:tc>
                <a:tc>
                  <a:txBody>
                    <a:bodyPr/>
                    <a:lstStyle/>
                    <a:p>
                      <a:pPr>
                        <a:lnSpc>
                          <a:spcPct val="150000"/>
                        </a:lnSpc>
                        <a:buNone/>
                      </a:pPr>
                      <a:r>
                        <a:rPr lang="en-US" sz="2800">
                          <a:latin typeface="Calibir"/>
                        </a:rPr>
                        <a:t>CSS</a:t>
                      </a:r>
                    </a:p>
                  </a:txBody>
                  <a:tcPr anchor="ctr"/>
                </a:tc>
                <a:extLst>
                  <a:ext uri="{0D108BD9-81ED-4DB2-BD59-A6C34878D82A}">
                    <a16:rowId xmlns:a16="http://schemas.microsoft.com/office/drawing/2014/main" val="2483794161"/>
                  </a:ext>
                </a:extLst>
              </a:tr>
              <a:tr h="0">
                <a:tc>
                  <a:txBody>
                    <a:bodyPr/>
                    <a:lstStyle/>
                    <a:p>
                      <a:pPr>
                        <a:lnSpc>
                          <a:spcPct val="150000"/>
                        </a:lnSpc>
                        <a:buNone/>
                      </a:pPr>
                      <a:r>
                        <a:rPr lang="en-US" sz="2800">
                          <a:latin typeface="Calibir"/>
                        </a:rPr>
                        <a:t>Student 3</a:t>
                      </a:r>
                    </a:p>
                  </a:txBody>
                  <a:tcPr anchor="ctr"/>
                </a:tc>
                <a:tc>
                  <a:txBody>
                    <a:bodyPr/>
                    <a:lstStyle/>
                    <a:p>
                      <a:pPr>
                        <a:lnSpc>
                          <a:spcPct val="150000"/>
                        </a:lnSpc>
                        <a:buNone/>
                      </a:pPr>
                      <a:r>
                        <a:rPr lang="en-US" sz="2800">
                          <a:latin typeface="Calibir"/>
                        </a:rPr>
                        <a:t>Images</a:t>
                      </a:r>
                    </a:p>
                  </a:txBody>
                  <a:tcPr anchor="ctr"/>
                </a:tc>
                <a:extLst>
                  <a:ext uri="{0D108BD9-81ED-4DB2-BD59-A6C34878D82A}">
                    <a16:rowId xmlns:a16="http://schemas.microsoft.com/office/drawing/2014/main" val="2659924690"/>
                  </a:ext>
                </a:extLst>
              </a:tr>
              <a:tr h="0">
                <a:tc>
                  <a:txBody>
                    <a:bodyPr/>
                    <a:lstStyle/>
                    <a:p>
                      <a:pPr>
                        <a:lnSpc>
                          <a:spcPct val="150000"/>
                        </a:lnSpc>
                        <a:buNone/>
                      </a:pPr>
                      <a:r>
                        <a:rPr lang="en-US" sz="2800">
                          <a:latin typeface="Calibir"/>
                        </a:rPr>
                        <a:t>Student 4</a:t>
                      </a:r>
                    </a:p>
                  </a:txBody>
                  <a:tcPr anchor="ctr"/>
                </a:tc>
                <a:tc>
                  <a:txBody>
                    <a:bodyPr/>
                    <a:lstStyle/>
                    <a:p>
                      <a:pPr>
                        <a:lnSpc>
                          <a:spcPct val="150000"/>
                        </a:lnSpc>
                        <a:buNone/>
                      </a:pPr>
                      <a:r>
                        <a:rPr lang="en-US" sz="2800" dirty="0">
                          <a:latin typeface="Calibir"/>
                        </a:rPr>
                        <a:t>Testing</a:t>
                      </a:r>
                    </a:p>
                  </a:txBody>
                  <a:tcPr anchor="ctr"/>
                </a:tc>
                <a:extLst>
                  <a:ext uri="{0D108BD9-81ED-4DB2-BD59-A6C34878D82A}">
                    <a16:rowId xmlns:a16="http://schemas.microsoft.com/office/drawing/2014/main" val="747180432"/>
                  </a:ext>
                </a:extLst>
              </a:tr>
            </a:tbl>
          </a:graphicData>
        </a:graphic>
      </p:graphicFrame>
      <p:sp>
        <p:nvSpPr>
          <p:cNvPr id="6" name="TextBox 5">
            <a:extLst>
              <a:ext uri="{FF2B5EF4-FFF2-40B4-BE49-F238E27FC236}">
                <a16:creationId xmlns:a16="http://schemas.microsoft.com/office/drawing/2014/main" id="{9F2F5203-B4A9-5318-A70E-CAC0A28082C1}"/>
              </a:ext>
            </a:extLst>
          </p:cNvPr>
          <p:cNvSpPr txBox="1"/>
          <p:nvPr/>
        </p:nvSpPr>
        <p:spPr>
          <a:xfrm>
            <a:off x="0" y="953349"/>
            <a:ext cx="6179574" cy="1318181"/>
          </a:xfrm>
          <a:prstGeom prst="rect">
            <a:avLst/>
          </a:prstGeom>
          <a:noFill/>
        </p:spPr>
        <p:txBody>
          <a:bodyPr wrap="square">
            <a:spAutoFit/>
          </a:bodyPr>
          <a:lstStyle/>
          <a:p>
            <a:pPr>
              <a:lnSpc>
                <a:spcPct val="150000"/>
              </a:lnSpc>
              <a:buNone/>
            </a:pPr>
            <a:r>
              <a:rPr lang="en-US" sz="2800" b="1" dirty="0">
                <a:latin typeface="Calibir"/>
              </a:rPr>
              <a:t>Divide Tasks</a:t>
            </a:r>
          </a:p>
          <a:p>
            <a:pPr>
              <a:lnSpc>
                <a:spcPct val="150000"/>
              </a:lnSpc>
              <a:buNone/>
            </a:pPr>
            <a:r>
              <a:rPr lang="en-US" sz="2800" dirty="0">
                <a:latin typeface="Calibir"/>
              </a:rPr>
              <a:t>Example:</a:t>
            </a:r>
          </a:p>
        </p:txBody>
      </p:sp>
    </p:spTree>
    <p:extLst>
      <p:ext uri="{BB962C8B-B14F-4D97-AF65-F5344CB8AC3E}">
        <p14:creationId xmlns:p14="http://schemas.microsoft.com/office/powerpoint/2010/main" val="444392463"/>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233618-F3F9-7AF6-CC14-63CF17B724A8}"/>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14B1DD5-F9CB-901F-1DFD-391D7FE265DF}"/>
              </a:ext>
            </a:extLst>
          </p:cNvPr>
          <p:cNvSpPr txBox="1"/>
          <p:nvPr/>
        </p:nvSpPr>
        <p:spPr>
          <a:xfrm>
            <a:off x="0" y="0"/>
            <a:ext cx="8976732" cy="758797"/>
          </a:xfrm>
          <a:prstGeom prst="rect">
            <a:avLst/>
          </a:prstGeom>
          <a:noFill/>
        </p:spPr>
        <p:txBody>
          <a:bodyPr wrap="square" rtlCol="0">
            <a:spAutoFit/>
          </a:bodyPr>
          <a:lstStyle/>
          <a:p>
            <a:pPr>
              <a:lnSpc>
                <a:spcPct val="150000"/>
              </a:lnSpc>
            </a:pPr>
            <a:r>
              <a:rPr lang="en-US" sz="3200" b="1" dirty="0">
                <a:latin typeface="Calibir"/>
              </a:rPr>
              <a:t>Web Design Best Practices</a:t>
            </a:r>
          </a:p>
        </p:txBody>
      </p:sp>
      <p:sp>
        <p:nvSpPr>
          <p:cNvPr id="6" name="TextBox 5">
            <a:extLst>
              <a:ext uri="{FF2B5EF4-FFF2-40B4-BE49-F238E27FC236}">
                <a16:creationId xmlns:a16="http://schemas.microsoft.com/office/drawing/2014/main" id="{9BF69D40-6797-AFFA-F529-2E4D413E1617}"/>
              </a:ext>
            </a:extLst>
          </p:cNvPr>
          <p:cNvSpPr txBox="1"/>
          <p:nvPr/>
        </p:nvSpPr>
        <p:spPr>
          <a:xfrm>
            <a:off x="0" y="953349"/>
            <a:ext cx="6179574" cy="3903504"/>
          </a:xfrm>
          <a:prstGeom prst="rect">
            <a:avLst/>
          </a:prstGeom>
          <a:noFill/>
        </p:spPr>
        <p:txBody>
          <a:bodyPr wrap="square">
            <a:spAutoFit/>
          </a:bodyPr>
          <a:lstStyle/>
          <a:p>
            <a:pPr>
              <a:lnSpc>
                <a:spcPct val="150000"/>
              </a:lnSpc>
            </a:pPr>
            <a:r>
              <a:rPr lang="en-US" sz="2800" dirty="0">
                <a:latin typeface="Calibir"/>
              </a:rPr>
              <a:t>Students should:</a:t>
            </a:r>
          </a:p>
          <a:p>
            <a:pPr marL="914400" lvl="1" indent="-457200">
              <a:lnSpc>
                <a:spcPct val="150000"/>
              </a:lnSpc>
              <a:buFont typeface="Arial" panose="020B0604020202020204" pitchFamily="34" charset="0"/>
              <a:buChar char="•"/>
            </a:pPr>
            <a:r>
              <a:rPr lang="en-US" sz="2800" dirty="0">
                <a:latin typeface="Calibir"/>
              </a:rPr>
              <a:t>keep layouts simple, </a:t>
            </a:r>
          </a:p>
          <a:p>
            <a:pPr marL="914400" lvl="1" indent="-457200">
              <a:lnSpc>
                <a:spcPct val="150000"/>
              </a:lnSpc>
              <a:buFont typeface="Arial" panose="020B0604020202020204" pitchFamily="34" charset="0"/>
              <a:buChar char="•"/>
            </a:pPr>
            <a:r>
              <a:rPr lang="en-US" sz="2800" dirty="0">
                <a:latin typeface="Calibir"/>
              </a:rPr>
              <a:t>use readable fonts, </a:t>
            </a:r>
          </a:p>
          <a:p>
            <a:pPr marL="914400" lvl="1" indent="-457200">
              <a:lnSpc>
                <a:spcPct val="150000"/>
              </a:lnSpc>
              <a:buFont typeface="Arial" panose="020B0604020202020204" pitchFamily="34" charset="0"/>
              <a:buChar char="•"/>
            </a:pPr>
            <a:r>
              <a:rPr lang="en-US" sz="2800" dirty="0">
                <a:latin typeface="Calibir"/>
              </a:rPr>
              <a:t>maintain clean navigation, </a:t>
            </a:r>
          </a:p>
          <a:p>
            <a:pPr marL="914400" lvl="1" indent="-457200">
              <a:lnSpc>
                <a:spcPct val="150000"/>
              </a:lnSpc>
              <a:buFont typeface="Arial" panose="020B0604020202020204" pitchFamily="34" charset="0"/>
              <a:buChar char="•"/>
            </a:pPr>
            <a:r>
              <a:rPr lang="en-US" sz="2800" dirty="0">
                <a:latin typeface="Calibir"/>
              </a:rPr>
              <a:t>use proper spacing, </a:t>
            </a:r>
          </a:p>
          <a:p>
            <a:pPr marL="914400" lvl="1" indent="-457200">
              <a:lnSpc>
                <a:spcPct val="150000"/>
              </a:lnSpc>
              <a:buFont typeface="Arial" panose="020B0604020202020204" pitchFamily="34" charset="0"/>
              <a:buChar char="•"/>
            </a:pPr>
            <a:r>
              <a:rPr lang="en-US" sz="2800" dirty="0">
                <a:latin typeface="Calibir"/>
              </a:rPr>
              <a:t>test websites in multiple browsers.</a:t>
            </a:r>
          </a:p>
        </p:txBody>
      </p:sp>
    </p:spTree>
    <p:extLst>
      <p:ext uri="{BB962C8B-B14F-4D97-AF65-F5344CB8AC3E}">
        <p14:creationId xmlns:p14="http://schemas.microsoft.com/office/powerpoint/2010/main" val="1075257839"/>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934D15-9D26-6983-486A-FDCBC2A21999}"/>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4B19DCBE-F85B-884E-25F3-58B385822491}"/>
              </a:ext>
            </a:extLst>
          </p:cNvPr>
          <p:cNvSpPr txBox="1"/>
          <p:nvPr/>
        </p:nvSpPr>
        <p:spPr>
          <a:xfrm>
            <a:off x="0" y="0"/>
            <a:ext cx="8976732" cy="758797"/>
          </a:xfrm>
          <a:prstGeom prst="rect">
            <a:avLst/>
          </a:prstGeom>
          <a:noFill/>
        </p:spPr>
        <p:txBody>
          <a:bodyPr wrap="square" rtlCol="0">
            <a:spAutoFit/>
          </a:bodyPr>
          <a:lstStyle/>
          <a:p>
            <a:pPr>
              <a:lnSpc>
                <a:spcPct val="150000"/>
              </a:lnSpc>
            </a:pPr>
            <a:r>
              <a:rPr lang="en-US" sz="3200" b="1" dirty="0">
                <a:latin typeface="Calibir"/>
              </a:rPr>
              <a:t>Accessibility Tips</a:t>
            </a:r>
          </a:p>
        </p:txBody>
      </p:sp>
      <p:sp>
        <p:nvSpPr>
          <p:cNvPr id="6" name="TextBox 5">
            <a:extLst>
              <a:ext uri="{FF2B5EF4-FFF2-40B4-BE49-F238E27FC236}">
                <a16:creationId xmlns:a16="http://schemas.microsoft.com/office/drawing/2014/main" id="{5C4557D6-AB22-5520-247A-43B509FE385F}"/>
              </a:ext>
            </a:extLst>
          </p:cNvPr>
          <p:cNvSpPr txBox="1"/>
          <p:nvPr/>
        </p:nvSpPr>
        <p:spPr>
          <a:xfrm>
            <a:off x="0" y="953349"/>
            <a:ext cx="6179574" cy="3257174"/>
          </a:xfrm>
          <a:prstGeom prst="rect">
            <a:avLst/>
          </a:prstGeom>
          <a:noFill/>
        </p:spPr>
        <p:txBody>
          <a:bodyPr wrap="square">
            <a:spAutoFit/>
          </a:bodyPr>
          <a:lstStyle/>
          <a:p>
            <a:pPr>
              <a:lnSpc>
                <a:spcPct val="150000"/>
              </a:lnSpc>
            </a:pPr>
            <a:r>
              <a:rPr lang="en-US" sz="2800" dirty="0">
                <a:latin typeface="Calibir"/>
              </a:rPr>
              <a:t>Good websites should:</a:t>
            </a:r>
          </a:p>
          <a:p>
            <a:pPr marL="914400" lvl="1" indent="-457200">
              <a:lnSpc>
                <a:spcPct val="150000"/>
              </a:lnSpc>
              <a:buFont typeface="Arial" panose="020B0604020202020204" pitchFamily="34" charset="0"/>
              <a:buChar char="•"/>
            </a:pPr>
            <a:r>
              <a:rPr lang="en-US" sz="2800" dirty="0">
                <a:latin typeface="Calibir"/>
              </a:rPr>
              <a:t>work for all users, </a:t>
            </a:r>
          </a:p>
          <a:p>
            <a:pPr marL="914400" lvl="1" indent="-457200">
              <a:lnSpc>
                <a:spcPct val="150000"/>
              </a:lnSpc>
              <a:buFont typeface="Arial" panose="020B0604020202020204" pitchFamily="34" charset="0"/>
              <a:buChar char="•"/>
            </a:pPr>
            <a:r>
              <a:rPr lang="en-US" sz="2800" dirty="0">
                <a:latin typeface="Calibir"/>
              </a:rPr>
              <a:t>include readable text, </a:t>
            </a:r>
          </a:p>
          <a:p>
            <a:pPr marL="914400" lvl="1" indent="-457200">
              <a:lnSpc>
                <a:spcPct val="150000"/>
              </a:lnSpc>
              <a:buFont typeface="Arial" panose="020B0604020202020204" pitchFamily="34" charset="0"/>
              <a:buChar char="•"/>
            </a:pPr>
            <a:r>
              <a:rPr lang="en-US" sz="2800" dirty="0">
                <a:latin typeface="Calibir"/>
              </a:rPr>
              <a:t>use proper contrast, </a:t>
            </a:r>
          </a:p>
          <a:p>
            <a:pPr marL="914400" lvl="1" indent="-457200">
              <a:lnSpc>
                <a:spcPct val="150000"/>
              </a:lnSpc>
              <a:buFont typeface="Arial" panose="020B0604020202020204" pitchFamily="34" charset="0"/>
              <a:buChar char="•"/>
            </a:pPr>
            <a:r>
              <a:rPr lang="en-US" sz="2800" dirty="0">
                <a:latin typeface="Calibir"/>
              </a:rPr>
              <a:t>support different devices.</a:t>
            </a:r>
          </a:p>
        </p:txBody>
      </p:sp>
    </p:spTree>
    <p:extLst>
      <p:ext uri="{BB962C8B-B14F-4D97-AF65-F5344CB8AC3E}">
        <p14:creationId xmlns:p14="http://schemas.microsoft.com/office/powerpoint/2010/main" val="1691205547"/>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3A5D4B-59A2-B506-10D5-AC3788EAAC16}"/>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EF7758A7-1E2D-C197-B3AE-0D4FCDF758B7}"/>
              </a:ext>
            </a:extLst>
          </p:cNvPr>
          <p:cNvSpPr txBox="1"/>
          <p:nvPr/>
        </p:nvSpPr>
        <p:spPr>
          <a:xfrm>
            <a:off x="0" y="0"/>
            <a:ext cx="8976732" cy="758797"/>
          </a:xfrm>
          <a:prstGeom prst="rect">
            <a:avLst/>
          </a:prstGeom>
          <a:noFill/>
        </p:spPr>
        <p:txBody>
          <a:bodyPr wrap="square" rtlCol="0">
            <a:spAutoFit/>
          </a:bodyPr>
          <a:lstStyle/>
          <a:p>
            <a:pPr>
              <a:lnSpc>
                <a:spcPct val="150000"/>
              </a:lnSpc>
            </a:pPr>
            <a:r>
              <a:rPr lang="en-US" sz="3200" b="1" dirty="0">
                <a:latin typeface="Calibir"/>
              </a:rPr>
              <a:t>Recommended Software</a:t>
            </a:r>
          </a:p>
        </p:txBody>
      </p:sp>
      <p:sp>
        <p:nvSpPr>
          <p:cNvPr id="6" name="TextBox 5">
            <a:extLst>
              <a:ext uri="{FF2B5EF4-FFF2-40B4-BE49-F238E27FC236}">
                <a16:creationId xmlns:a16="http://schemas.microsoft.com/office/drawing/2014/main" id="{0E81AAF8-8E55-7958-9D0B-F4B8A28C33F8}"/>
              </a:ext>
            </a:extLst>
          </p:cNvPr>
          <p:cNvSpPr txBox="1"/>
          <p:nvPr/>
        </p:nvSpPr>
        <p:spPr>
          <a:xfrm>
            <a:off x="0" y="953349"/>
            <a:ext cx="6179574" cy="4549835"/>
          </a:xfrm>
          <a:prstGeom prst="rect">
            <a:avLst/>
          </a:prstGeom>
          <a:noFill/>
        </p:spPr>
        <p:txBody>
          <a:bodyPr wrap="square">
            <a:spAutoFit/>
          </a:bodyPr>
          <a:lstStyle/>
          <a:p>
            <a:pPr>
              <a:lnSpc>
                <a:spcPct val="150000"/>
              </a:lnSpc>
            </a:pPr>
            <a:r>
              <a:rPr lang="en-US" sz="2800" b="1" dirty="0">
                <a:latin typeface="Calibir"/>
              </a:rPr>
              <a:t>Best Code Editors</a:t>
            </a:r>
          </a:p>
          <a:p>
            <a:pPr marL="914400" lvl="1" indent="-457200">
              <a:lnSpc>
                <a:spcPct val="150000"/>
              </a:lnSpc>
              <a:buFont typeface="Arial" panose="020B0604020202020204" pitchFamily="34" charset="0"/>
              <a:buChar char="•"/>
            </a:pPr>
            <a:r>
              <a:rPr lang="en-US" sz="2800" dirty="0">
                <a:latin typeface="Calibir"/>
              </a:rPr>
              <a:t>Visual Studio Code </a:t>
            </a:r>
          </a:p>
          <a:p>
            <a:pPr marL="914400" lvl="1" indent="-457200">
              <a:lnSpc>
                <a:spcPct val="150000"/>
              </a:lnSpc>
              <a:buFont typeface="Arial" panose="020B0604020202020204" pitchFamily="34" charset="0"/>
              <a:buChar char="•"/>
            </a:pPr>
            <a:r>
              <a:rPr lang="en-US" sz="2800" dirty="0">
                <a:latin typeface="Calibir"/>
              </a:rPr>
              <a:t>Notepad++</a:t>
            </a:r>
          </a:p>
          <a:p>
            <a:pPr>
              <a:lnSpc>
                <a:spcPct val="150000"/>
              </a:lnSpc>
            </a:pPr>
            <a:r>
              <a:rPr lang="en-US" sz="2800" b="1" dirty="0">
                <a:latin typeface="Calibir"/>
              </a:rPr>
              <a:t>Browsers</a:t>
            </a:r>
          </a:p>
          <a:p>
            <a:pPr>
              <a:lnSpc>
                <a:spcPct val="150000"/>
              </a:lnSpc>
            </a:pPr>
            <a:r>
              <a:rPr lang="en-US" sz="2800" dirty="0">
                <a:latin typeface="Calibir"/>
              </a:rPr>
              <a:t>Use:</a:t>
            </a:r>
          </a:p>
          <a:p>
            <a:pPr marL="914400" lvl="1" indent="-457200">
              <a:lnSpc>
                <a:spcPct val="150000"/>
              </a:lnSpc>
              <a:buFont typeface="Arial" panose="020B0604020202020204" pitchFamily="34" charset="0"/>
              <a:buChar char="•"/>
            </a:pPr>
            <a:r>
              <a:rPr lang="en-US" sz="2800" dirty="0">
                <a:latin typeface="Calibir"/>
              </a:rPr>
              <a:t>Chrome </a:t>
            </a:r>
          </a:p>
          <a:p>
            <a:pPr marL="914400" lvl="1" indent="-457200">
              <a:lnSpc>
                <a:spcPct val="150000"/>
              </a:lnSpc>
              <a:buFont typeface="Arial" panose="020B0604020202020204" pitchFamily="34" charset="0"/>
              <a:buChar char="•"/>
            </a:pPr>
            <a:r>
              <a:rPr lang="en-US" sz="2800" dirty="0">
                <a:latin typeface="Calibir"/>
              </a:rPr>
              <a:t>Firefox</a:t>
            </a:r>
          </a:p>
        </p:txBody>
      </p:sp>
    </p:spTree>
    <p:extLst>
      <p:ext uri="{BB962C8B-B14F-4D97-AF65-F5344CB8AC3E}">
        <p14:creationId xmlns:p14="http://schemas.microsoft.com/office/powerpoint/2010/main" val="675677079"/>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A7A3B2-415C-F22C-5B52-F615A3C40388}"/>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0800C262-EB57-19DB-E6A7-5EDFC602733F}"/>
              </a:ext>
            </a:extLst>
          </p:cNvPr>
          <p:cNvSpPr txBox="1"/>
          <p:nvPr/>
        </p:nvSpPr>
        <p:spPr>
          <a:xfrm>
            <a:off x="0" y="0"/>
            <a:ext cx="8976732" cy="758797"/>
          </a:xfrm>
          <a:prstGeom prst="rect">
            <a:avLst/>
          </a:prstGeom>
          <a:noFill/>
        </p:spPr>
        <p:txBody>
          <a:bodyPr wrap="square" rtlCol="0">
            <a:spAutoFit/>
          </a:bodyPr>
          <a:lstStyle/>
          <a:p>
            <a:pPr>
              <a:lnSpc>
                <a:spcPct val="150000"/>
              </a:lnSpc>
            </a:pPr>
            <a:r>
              <a:rPr lang="en-US" sz="3200" b="1" dirty="0">
                <a:latin typeface="Calibir"/>
              </a:rPr>
              <a:t>Recommended Software</a:t>
            </a:r>
          </a:p>
        </p:txBody>
      </p:sp>
      <p:sp>
        <p:nvSpPr>
          <p:cNvPr id="6" name="TextBox 5">
            <a:extLst>
              <a:ext uri="{FF2B5EF4-FFF2-40B4-BE49-F238E27FC236}">
                <a16:creationId xmlns:a16="http://schemas.microsoft.com/office/drawing/2014/main" id="{B46D102C-49E6-3015-1425-049C193ADF6B}"/>
              </a:ext>
            </a:extLst>
          </p:cNvPr>
          <p:cNvSpPr txBox="1"/>
          <p:nvPr/>
        </p:nvSpPr>
        <p:spPr>
          <a:xfrm>
            <a:off x="0" y="628884"/>
            <a:ext cx="12192000" cy="4549835"/>
          </a:xfrm>
          <a:prstGeom prst="rect">
            <a:avLst/>
          </a:prstGeom>
          <a:noFill/>
        </p:spPr>
        <p:txBody>
          <a:bodyPr wrap="square">
            <a:spAutoFit/>
          </a:bodyPr>
          <a:lstStyle/>
          <a:p>
            <a:pPr>
              <a:lnSpc>
                <a:spcPct val="150000"/>
              </a:lnSpc>
            </a:pPr>
            <a:r>
              <a:rPr lang="en-US" sz="2800" b="1" dirty="0">
                <a:latin typeface="Calibir"/>
              </a:rPr>
              <a:t>Helpful Websites</a:t>
            </a:r>
          </a:p>
          <a:p>
            <a:pPr marL="914400" lvl="1" indent="-457200">
              <a:lnSpc>
                <a:spcPct val="150000"/>
              </a:lnSpc>
              <a:buFont typeface="Arial" panose="020B0604020202020204" pitchFamily="34" charset="0"/>
              <a:buChar char="•"/>
            </a:pPr>
            <a:r>
              <a:rPr lang="en-US" sz="2800" dirty="0">
                <a:latin typeface="Calibir"/>
              </a:rPr>
              <a:t>GitHub Farshid Keivanian </a:t>
            </a:r>
            <a:r>
              <a:rPr lang="en-US" sz="2800" dirty="0" err="1">
                <a:hlinkClick r:id="rId2"/>
              </a:rPr>
              <a:t>FarshidKeivanian</a:t>
            </a:r>
            <a:r>
              <a:rPr lang="en-US" sz="2800" dirty="0">
                <a:hlinkClick r:id="rId2"/>
              </a:rPr>
              <a:t>/</a:t>
            </a:r>
            <a:r>
              <a:rPr lang="en-US" sz="2800" dirty="0" err="1">
                <a:hlinkClick r:id="rId2"/>
              </a:rPr>
              <a:t>Sessions_Web_Development_HTML_CSS_Javascript_PHP</a:t>
            </a:r>
            <a:r>
              <a:rPr lang="en-US" sz="2800" dirty="0">
                <a:hlinkClick r:id="rId2"/>
              </a:rPr>
              <a:t>: Web design and development: HTML, CSS, JAVA</a:t>
            </a:r>
            <a:endParaRPr lang="en-US" sz="2800" dirty="0">
              <a:latin typeface="Calibir"/>
            </a:endParaRPr>
          </a:p>
          <a:p>
            <a:pPr marL="914400" lvl="1" indent="-457200">
              <a:lnSpc>
                <a:spcPct val="150000"/>
              </a:lnSpc>
              <a:buFont typeface="Arial" panose="020B0604020202020204" pitchFamily="34" charset="0"/>
              <a:buChar char="•"/>
            </a:pPr>
            <a:r>
              <a:rPr lang="en-US" sz="2800" dirty="0">
                <a:latin typeface="Calibir"/>
              </a:rPr>
              <a:t>W3Schools </a:t>
            </a:r>
          </a:p>
          <a:p>
            <a:pPr marL="914400" lvl="1" indent="-457200">
              <a:lnSpc>
                <a:spcPct val="150000"/>
              </a:lnSpc>
              <a:buFont typeface="Arial" panose="020B0604020202020204" pitchFamily="34" charset="0"/>
              <a:buChar char="•"/>
            </a:pPr>
            <a:r>
              <a:rPr lang="en-US" sz="2800" dirty="0">
                <a:latin typeface="Calibir"/>
              </a:rPr>
              <a:t>MDN Web Docs </a:t>
            </a:r>
          </a:p>
          <a:p>
            <a:pPr marL="914400" lvl="1" indent="-457200">
              <a:lnSpc>
                <a:spcPct val="150000"/>
              </a:lnSpc>
              <a:buFont typeface="Arial" panose="020B0604020202020204" pitchFamily="34" charset="0"/>
              <a:buChar char="•"/>
            </a:pPr>
            <a:r>
              <a:rPr lang="en-US" sz="2800" dirty="0">
                <a:latin typeface="Calibir"/>
              </a:rPr>
              <a:t>W3C Validator</a:t>
            </a:r>
          </a:p>
        </p:txBody>
      </p:sp>
      <p:pic>
        <p:nvPicPr>
          <p:cNvPr id="7" name="Picture 6">
            <a:extLst>
              <a:ext uri="{FF2B5EF4-FFF2-40B4-BE49-F238E27FC236}">
                <a16:creationId xmlns:a16="http://schemas.microsoft.com/office/drawing/2014/main" id="{403F5783-D4F9-9F6C-BB5A-80C8C9D036B0}"/>
              </a:ext>
            </a:extLst>
          </p:cNvPr>
          <p:cNvPicPr>
            <a:picLocks noChangeAspect="1"/>
          </p:cNvPicPr>
          <p:nvPr/>
        </p:nvPicPr>
        <p:blipFill>
          <a:blip r:embed="rId3"/>
          <a:srcRect b="6341"/>
          <a:stretch>
            <a:fillRect/>
          </a:stretch>
        </p:blipFill>
        <p:spPr>
          <a:xfrm>
            <a:off x="5683250" y="3429000"/>
            <a:ext cx="6508750" cy="3429000"/>
          </a:xfrm>
          <a:prstGeom prst="rect">
            <a:avLst/>
          </a:prstGeom>
          <a:ln>
            <a:solidFill>
              <a:srgbClr val="FF0000"/>
            </a:solidFill>
          </a:ln>
        </p:spPr>
      </p:pic>
    </p:spTree>
    <p:extLst>
      <p:ext uri="{BB962C8B-B14F-4D97-AF65-F5344CB8AC3E}">
        <p14:creationId xmlns:p14="http://schemas.microsoft.com/office/powerpoint/2010/main" val="1408282672"/>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CA7045-E280-03D6-9F6D-A3610DDA058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DAD295F7-03FF-A3AD-2DA3-23E7ECF64AB8}"/>
              </a:ext>
            </a:extLst>
          </p:cNvPr>
          <p:cNvSpPr txBox="1"/>
          <p:nvPr/>
        </p:nvSpPr>
        <p:spPr>
          <a:xfrm>
            <a:off x="0" y="0"/>
            <a:ext cx="8976732" cy="758797"/>
          </a:xfrm>
          <a:prstGeom prst="rect">
            <a:avLst/>
          </a:prstGeom>
          <a:noFill/>
        </p:spPr>
        <p:txBody>
          <a:bodyPr wrap="square" rtlCol="0">
            <a:spAutoFit/>
          </a:bodyPr>
          <a:lstStyle/>
          <a:p>
            <a:pPr>
              <a:lnSpc>
                <a:spcPct val="150000"/>
              </a:lnSpc>
            </a:pPr>
            <a:r>
              <a:rPr lang="en-US" sz="3200" b="1" dirty="0">
                <a:latin typeface="Calibir"/>
              </a:rPr>
              <a:t>Final Success Advice</a:t>
            </a:r>
          </a:p>
        </p:txBody>
      </p:sp>
      <p:sp>
        <p:nvSpPr>
          <p:cNvPr id="6" name="TextBox 5">
            <a:extLst>
              <a:ext uri="{FF2B5EF4-FFF2-40B4-BE49-F238E27FC236}">
                <a16:creationId xmlns:a16="http://schemas.microsoft.com/office/drawing/2014/main" id="{938878B5-6D82-52DE-D6C3-5BF3FAB8B54A}"/>
              </a:ext>
            </a:extLst>
          </p:cNvPr>
          <p:cNvSpPr txBox="1"/>
          <p:nvPr/>
        </p:nvSpPr>
        <p:spPr>
          <a:xfrm>
            <a:off x="0" y="953349"/>
            <a:ext cx="6179574" cy="4549835"/>
          </a:xfrm>
          <a:prstGeom prst="rect">
            <a:avLst/>
          </a:prstGeom>
          <a:noFill/>
        </p:spPr>
        <p:txBody>
          <a:bodyPr wrap="square">
            <a:spAutoFit/>
          </a:bodyPr>
          <a:lstStyle/>
          <a:p>
            <a:pPr>
              <a:lnSpc>
                <a:spcPct val="150000"/>
              </a:lnSpc>
            </a:pPr>
            <a:r>
              <a:rPr lang="en-US" sz="2800" dirty="0">
                <a:latin typeface="Calibir"/>
              </a:rPr>
              <a:t>Students who succeed usually:</a:t>
            </a:r>
          </a:p>
          <a:p>
            <a:pPr marL="914400" lvl="1" indent="-457200">
              <a:lnSpc>
                <a:spcPct val="150000"/>
              </a:lnSpc>
              <a:buFont typeface="Arial" panose="020B0604020202020204" pitchFamily="34" charset="0"/>
              <a:buChar char="•"/>
            </a:pPr>
            <a:r>
              <a:rPr lang="en-US" sz="2800" dirty="0">
                <a:latin typeface="Calibir"/>
              </a:rPr>
              <a:t>attend every class, </a:t>
            </a:r>
          </a:p>
          <a:p>
            <a:pPr marL="914400" lvl="1" indent="-457200">
              <a:lnSpc>
                <a:spcPct val="150000"/>
              </a:lnSpc>
              <a:buFont typeface="Arial" panose="020B0604020202020204" pitchFamily="34" charset="0"/>
              <a:buChar char="•"/>
            </a:pPr>
            <a:r>
              <a:rPr lang="en-US" sz="2800" dirty="0" err="1">
                <a:latin typeface="Calibir"/>
              </a:rPr>
              <a:t>practise</a:t>
            </a:r>
            <a:r>
              <a:rPr lang="en-US" sz="2800" dirty="0">
                <a:latin typeface="Calibir"/>
              </a:rPr>
              <a:t> weekly, </a:t>
            </a:r>
          </a:p>
          <a:p>
            <a:pPr marL="914400" lvl="1" indent="-457200">
              <a:lnSpc>
                <a:spcPct val="150000"/>
              </a:lnSpc>
              <a:buFont typeface="Arial" panose="020B0604020202020204" pitchFamily="34" charset="0"/>
              <a:buChar char="•"/>
            </a:pPr>
            <a:r>
              <a:rPr lang="en-US" sz="2800" dirty="0">
                <a:latin typeface="Calibir"/>
              </a:rPr>
              <a:t>complete tutorials, </a:t>
            </a:r>
          </a:p>
          <a:p>
            <a:pPr marL="914400" lvl="1" indent="-457200">
              <a:lnSpc>
                <a:spcPct val="150000"/>
              </a:lnSpc>
              <a:buFont typeface="Arial" panose="020B0604020202020204" pitchFamily="34" charset="0"/>
              <a:buChar char="•"/>
            </a:pPr>
            <a:r>
              <a:rPr lang="en-US" sz="2800" dirty="0">
                <a:latin typeface="Calibir"/>
              </a:rPr>
              <a:t>start assessments early, </a:t>
            </a:r>
          </a:p>
          <a:p>
            <a:pPr marL="914400" lvl="1" indent="-457200">
              <a:lnSpc>
                <a:spcPct val="150000"/>
              </a:lnSpc>
              <a:buFont typeface="Arial" panose="020B0604020202020204" pitchFamily="34" charset="0"/>
              <a:buChar char="•"/>
            </a:pPr>
            <a:r>
              <a:rPr lang="en-US" sz="2800" dirty="0">
                <a:latin typeface="Calibir"/>
              </a:rPr>
              <a:t>ask questions, </a:t>
            </a:r>
          </a:p>
          <a:p>
            <a:pPr marL="914400" lvl="1" indent="-457200">
              <a:lnSpc>
                <a:spcPct val="150000"/>
              </a:lnSpc>
              <a:buFont typeface="Arial" panose="020B0604020202020204" pitchFamily="34" charset="0"/>
              <a:buChar char="•"/>
            </a:pPr>
            <a:r>
              <a:rPr lang="en-US" sz="2800" dirty="0">
                <a:latin typeface="Calibir"/>
              </a:rPr>
              <a:t>and build webpages regularly.</a:t>
            </a:r>
          </a:p>
        </p:txBody>
      </p:sp>
    </p:spTree>
    <p:extLst>
      <p:ext uri="{BB962C8B-B14F-4D97-AF65-F5344CB8AC3E}">
        <p14:creationId xmlns:p14="http://schemas.microsoft.com/office/powerpoint/2010/main" val="809482218"/>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243A33-7DA0-D592-3B24-AEBF8D3779F9}"/>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68C3E566-EE97-5397-C217-9296CF4A6267}"/>
              </a:ext>
            </a:extLst>
          </p:cNvPr>
          <p:cNvSpPr txBox="1"/>
          <p:nvPr/>
        </p:nvSpPr>
        <p:spPr>
          <a:xfrm>
            <a:off x="0" y="0"/>
            <a:ext cx="8976732" cy="758797"/>
          </a:xfrm>
          <a:prstGeom prst="rect">
            <a:avLst/>
          </a:prstGeom>
          <a:noFill/>
        </p:spPr>
        <p:txBody>
          <a:bodyPr wrap="square" rtlCol="0">
            <a:spAutoFit/>
          </a:bodyPr>
          <a:lstStyle/>
          <a:p>
            <a:pPr>
              <a:lnSpc>
                <a:spcPct val="150000"/>
              </a:lnSpc>
            </a:pPr>
            <a:r>
              <a:rPr lang="en-US" sz="3200" b="1" dirty="0">
                <a:latin typeface="Calibir"/>
              </a:rPr>
              <a:t>Final Message</a:t>
            </a:r>
          </a:p>
        </p:txBody>
      </p:sp>
      <p:sp>
        <p:nvSpPr>
          <p:cNvPr id="6" name="TextBox 5">
            <a:extLst>
              <a:ext uri="{FF2B5EF4-FFF2-40B4-BE49-F238E27FC236}">
                <a16:creationId xmlns:a16="http://schemas.microsoft.com/office/drawing/2014/main" id="{93C87E4C-0D94-B89F-6D14-815315B65592}"/>
              </a:ext>
            </a:extLst>
          </p:cNvPr>
          <p:cNvSpPr txBox="1"/>
          <p:nvPr/>
        </p:nvSpPr>
        <p:spPr>
          <a:xfrm>
            <a:off x="0" y="953349"/>
            <a:ext cx="6179574" cy="3903504"/>
          </a:xfrm>
          <a:prstGeom prst="rect">
            <a:avLst/>
          </a:prstGeom>
          <a:noFill/>
        </p:spPr>
        <p:txBody>
          <a:bodyPr wrap="square">
            <a:spAutoFit/>
          </a:bodyPr>
          <a:lstStyle/>
          <a:p>
            <a:pPr>
              <a:lnSpc>
                <a:spcPct val="150000"/>
              </a:lnSpc>
            </a:pPr>
            <a:r>
              <a:rPr lang="en-US" sz="2800" dirty="0">
                <a:latin typeface="Calibir"/>
              </a:rPr>
              <a:t>HS1021 is not difficult if students:</a:t>
            </a:r>
          </a:p>
          <a:p>
            <a:pPr marL="914400" lvl="1" indent="-457200">
              <a:lnSpc>
                <a:spcPct val="150000"/>
              </a:lnSpc>
              <a:buFont typeface="Arial" panose="020B0604020202020204" pitchFamily="34" charset="0"/>
              <a:buChar char="•"/>
            </a:pPr>
            <a:r>
              <a:rPr lang="en-US" sz="2800" dirty="0">
                <a:latin typeface="Calibir"/>
              </a:rPr>
              <a:t>stay consistent, </a:t>
            </a:r>
          </a:p>
          <a:p>
            <a:pPr marL="914400" lvl="1" indent="-457200">
              <a:lnSpc>
                <a:spcPct val="150000"/>
              </a:lnSpc>
              <a:buFont typeface="Arial" panose="020B0604020202020204" pitchFamily="34" charset="0"/>
              <a:buChar char="•"/>
            </a:pPr>
            <a:r>
              <a:rPr lang="en-US" sz="2800" dirty="0" err="1">
                <a:latin typeface="Calibir"/>
              </a:rPr>
              <a:t>practise</a:t>
            </a:r>
            <a:r>
              <a:rPr lang="en-US" sz="2800" dirty="0">
                <a:latin typeface="Calibir"/>
              </a:rPr>
              <a:t> every week, </a:t>
            </a:r>
          </a:p>
          <a:p>
            <a:pPr marL="914400" lvl="1" indent="-457200">
              <a:lnSpc>
                <a:spcPct val="150000"/>
              </a:lnSpc>
              <a:buFont typeface="Arial" panose="020B0604020202020204" pitchFamily="34" charset="0"/>
              <a:buChar char="•"/>
            </a:pPr>
            <a:r>
              <a:rPr lang="en-US" sz="2800" dirty="0">
                <a:latin typeface="Calibir"/>
              </a:rPr>
              <a:t>and manage their time properly. </a:t>
            </a:r>
          </a:p>
          <a:p>
            <a:pPr>
              <a:lnSpc>
                <a:spcPct val="150000"/>
              </a:lnSpc>
            </a:pPr>
            <a:r>
              <a:rPr lang="en-US" sz="2800" dirty="0">
                <a:latin typeface="Calibir"/>
              </a:rPr>
              <a:t>The key to success is:</a:t>
            </a:r>
          </a:p>
          <a:p>
            <a:pPr>
              <a:lnSpc>
                <a:spcPct val="150000"/>
              </a:lnSpc>
            </a:pPr>
            <a:r>
              <a:rPr lang="en-US" sz="2800" dirty="0">
                <a:latin typeface="Calibir"/>
              </a:rPr>
              <a:t>Practice + Preparation + Consistency.</a:t>
            </a:r>
          </a:p>
        </p:txBody>
      </p:sp>
    </p:spTree>
    <p:extLst>
      <p:ext uri="{BB962C8B-B14F-4D97-AF65-F5344CB8AC3E}">
        <p14:creationId xmlns:p14="http://schemas.microsoft.com/office/powerpoint/2010/main" val="626312006"/>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D6EDFB-E30F-B067-D08E-3D3792C51D2F}"/>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70ECC9AD-0B08-943A-F894-48AECB8D72ED}"/>
              </a:ext>
            </a:extLst>
          </p:cNvPr>
          <p:cNvSpPr txBox="1"/>
          <p:nvPr/>
        </p:nvSpPr>
        <p:spPr>
          <a:xfrm>
            <a:off x="0" y="0"/>
            <a:ext cx="8976732"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200" b="1" dirty="0">
                <a:solidFill>
                  <a:prstClr val="black"/>
                </a:solidFill>
                <a:latin typeface="Calibri" panose="020F0502020204030204" pitchFamily="34" charset="0"/>
                <a:cs typeface="Calibri" panose="020F0502020204030204" pitchFamily="34" charset="0"/>
              </a:rPr>
              <a:t>Weeks 2 – 3 Lab</a:t>
            </a:r>
            <a:endParaRPr kumimoji="0" lang="en-US" sz="3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3" name="TextBox 2">
            <a:extLst>
              <a:ext uri="{FF2B5EF4-FFF2-40B4-BE49-F238E27FC236}">
                <a16:creationId xmlns:a16="http://schemas.microsoft.com/office/drawing/2014/main" id="{1CE62CF7-88E1-2071-124F-08D921DA1EBB}"/>
              </a:ext>
            </a:extLst>
          </p:cNvPr>
          <p:cNvSpPr txBox="1"/>
          <p:nvPr/>
        </p:nvSpPr>
        <p:spPr>
          <a:xfrm>
            <a:off x="0" y="746093"/>
            <a:ext cx="12192000" cy="954107"/>
          </a:xfrm>
          <a:prstGeom prst="rect">
            <a:avLst/>
          </a:prstGeom>
          <a:noFill/>
        </p:spPr>
        <p:txBody>
          <a:bodyPr wrap="square">
            <a:spAutoFit/>
          </a:bodyPr>
          <a:lstStyle/>
          <a:p>
            <a:r>
              <a:rPr lang="en-US" sz="2800" dirty="0">
                <a:latin typeface="Calibir"/>
              </a:rPr>
              <a:t>Now please complete portfolio.docx – Personal Portfolio Website Planning Document</a:t>
            </a:r>
          </a:p>
        </p:txBody>
      </p:sp>
    </p:spTree>
    <p:extLst>
      <p:ext uri="{BB962C8B-B14F-4D97-AF65-F5344CB8AC3E}">
        <p14:creationId xmlns:p14="http://schemas.microsoft.com/office/powerpoint/2010/main" val="3727295403"/>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62C4D4-F848-AD3D-CF54-5ECDD6689B36}"/>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D43566F6-84C7-D2BF-778C-B9BAFA88BE93}"/>
              </a:ext>
            </a:extLst>
          </p:cNvPr>
          <p:cNvSpPr txBox="1"/>
          <p:nvPr/>
        </p:nvSpPr>
        <p:spPr>
          <a:xfrm>
            <a:off x="0" y="0"/>
            <a:ext cx="8976732"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200" b="1" dirty="0">
                <a:solidFill>
                  <a:prstClr val="black"/>
                </a:solidFill>
                <a:latin typeface="Calibri" panose="020F0502020204030204" pitchFamily="34" charset="0"/>
                <a:cs typeface="Calibri" panose="020F0502020204030204" pitchFamily="34" charset="0"/>
              </a:rPr>
              <a:t>Weeks 2 – 3 Lab</a:t>
            </a:r>
            <a:endParaRPr kumimoji="0" lang="en-US" sz="3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3" name="TextBox 2">
            <a:extLst>
              <a:ext uri="{FF2B5EF4-FFF2-40B4-BE49-F238E27FC236}">
                <a16:creationId xmlns:a16="http://schemas.microsoft.com/office/drawing/2014/main" id="{B2EFD5E1-7972-6CB3-056E-8D0DA1A4CAB5}"/>
              </a:ext>
            </a:extLst>
          </p:cNvPr>
          <p:cNvSpPr txBox="1"/>
          <p:nvPr/>
        </p:nvSpPr>
        <p:spPr>
          <a:xfrm>
            <a:off x="0" y="746093"/>
            <a:ext cx="12192000" cy="523220"/>
          </a:xfrm>
          <a:prstGeom prst="rect">
            <a:avLst/>
          </a:prstGeom>
          <a:noFill/>
        </p:spPr>
        <p:txBody>
          <a:bodyPr wrap="square">
            <a:spAutoFit/>
          </a:bodyPr>
          <a:lstStyle/>
          <a:p>
            <a:r>
              <a:rPr lang="en-US" sz="2800" dirty="0">
                <a:latin typeface="Calibir"/>
              </a:rPr>
              <a:t>Now complete portfolio.docx – Personal Portfolio Website Planning Document</a:t>
            </a:r>
          </a:p>
        </p:txBody>
      </p:sp>
      <p:graphicFrame>
        <p:nvGraphicFramePr>
          <p:cNvPr id="5" name="Table 4">
            <a:extLst>
              <a:ext uri="{FF2B5EF4-FFF2-40B4-BE49-F238E27FC236}">
                <a16:creationId xmlns:a16="http://schemas.microsoft.com/office/drawing/2014/main" id="{5AE6585D-7217-E4D8-8D68-351B96EDF8EB}"/>
              </a:ext>
            </a:extLst>
          </p:cNvPr>
          <p:cNvGraphicFramePr>
            <a:graphicFrameLocks noGrp="1"/>
          </p:cNvGraphicFramePr>
          <p:nvPr>
            <p:extLst>
              <p:ext uri="{D42A27DB-BD31-4B8C-83A1-F6EECF244321}">
                <p14:modId xmlns:p14="http://schemas.microsoft.com/office/powerpoint/2010/main" val="3869767837"/>
              </p:ext>
            </p:extLst>
          </p:nvPr>
        </p:nvGraphicFramePr>
        <p:xfrm>
          <a:off x="1" y="1269313"/>
          <a:ext cx="12192000" cy="5165040"/>
        </p:xfrm>
        <a:graphic>
          <a:graphicData uri="http://schemas.openxmlformats.org/drawingml/2006/table">
            <a:tbl>
              <a:tblPr>
                <a:tableStyleId>{BDBED569-4797-4DF1-A0F4-6AAB3CD982D8}</a:tableStyleId>
              </a:tblPr>
              <a:tblGrid>
                <a:gridCol w="4064000">
                  <a:extLst>
                    <a:ext uri="{9D8B030D-6E8A-4147-A177-3AD203B41FA5}">
                      <a16:colId xmlns:a16="http://schemas.microsoft.com/office/drawing/2014/main" val="1117945950"/>
                    </a:ext>
                  </a:extLst>
                </a:gridCol>
                <a:gridCol w="4064000">
                  <a:extLst>
                    <a:ext uri="{9D8B030D-6E8A-4147-A177-3AD203B41FA5}">
                      <a16:colId xmlns:a16="http://schemas.microsoft.com/office/drawing/2014/main" val="1894910114"/>
                    </a:ext>
                  </a:extLst>
                </a:gridCol>
                <a:gridCol w="4064000">
                  <a:extLst>
                    <a:ext uri="{9D8B030D-6E8A-4147-A177-3AD203B41FA5}">
                      <a16:colId xmlns:a16="http://schemas.microsoft.com/office/drawing/2014/main" val="1106428468"/>
                    </a:ext>
                  </a:extLst>
                </a:gridCol>
              </a:tblGrid>
              <a:tr h="0">
                <a:tc>
                  <a:txBody>
                    <a:bodyPr/>
                    <a:lstStyle/>
                    <a:p>
                      <a:pPr>
                        <a:buNone/>
                      </a:pPr>
                      <a:r>
                        <a:rPr lang="en-US" sz="2800" dirty="0">
                          <a:latin typeface="Calibir"/>
                        </a:rPr>
                        <a:t>Topic</a:t>
                      </a:r>
                    </a:p>
                  </a:txBody>
                  <a:tcPr marL="22201" marR="22201" marT="11100" marB="11100" anchor="ctr"/>
                </a:tc>
                <a:tc>
                  <a:txBody>
                    <a:bodyPr/>
                    <a:lstStyle/>
                    <a:p>
                      <a:pPr>
                        <a:buNone/>
                      </a:pPr>
                      <a:r>
                        <a:rPr lang="en-US" sz="2800">
                          <a:latin typeface="Calibir"/>
                        </a:rPr>
                        <a:t>Web Developer Questions</a:t>
                      </a:r>
                    </a:p>
                  </a:txBody>
                  <a:tcPr marL="22201" marR="22201" marT="11100" marB="11100" anchor="ctr"/>
                </a:tc>
                <a:tc>
                  <a:txBody>
                    <a:bodyPr/>
                    <a:lstStyle/>
                    <a:p>
                      <a:pPr>
                        <a:buNone/>
                      </a:pPr>
                      <a:r>
                        <a:rPr lang="en-US" sz="2800">
                          <a:latin typeface="Calibir"/>
                        </a:rPr>
                        <a:t>Answers</a:t>
                      </a:r>
                    </a:p>
                  </a:txBody>
                  <a:tcPr marL="22201" marR="22201" marT="11100" marB="11100" anchor="ctr"/>
                </a:tc>
                <a:extLst>
                  <a:ext uri="{0D108BD9-81ED-4DB2-BD59-A6C34878D82A}">
                    <a16:rowId xmlns:a16="http://schemas.microsoft.com/office/drawing/2014/main" val="974634533"/>
                  </a:ext>
                </a:extLst>
              </a:tr>
              <a:tr h="3033697">
                <a:tc>
                  <a:txBody>
                    <a:bodyPr/>
                    <a:lstStyle/>
                    <a:p>
                      <a:pPr>
                        <a:buNone/>
                      </a:pPr>
                      <a:r>
                        <a:rPr lang="en-US" sz="2800" dirty="0">
                          <a:latin typeface="Calibir"/>
                        </a:rPr>
                        <a:t>Purpose of the Website</a:t>
                      </a:r>
                    </a:p>
                  </a:txBody>
                  <a:tcPr marL="22201" marR="22201" marT="11100" marB="11100" anchor="ctr"/>
                </a:tc>
                <a:tc>
                  <a:txBody>
                    <a:bodyPr/>
                    <a:lstStyle/>
                    <a:p>
                      <a:pPr>
                        <a:buNone/>
                      </a:pPr>
                      <a:r>
                        <a:rPr lang="en-US" sz="2800" dirty="0">
                          <a:latin typeface="Calibir"/>
                        </a:rPr>
                        <a:t>What is the purpose and goal of the website?</a:t>
                      </a:r>
                    </a:p>
                  </a:txBody>
                  <a:tcPr marL="22201" marR="22201" marT="11100" marB="11100" anchor="ctr"/>
                </a:tc>
                <a:tc>
                  <a:txBody>
                    <a:bodyPr/>
                    <a:lstStyle/>
                    <a:p>
                      <a:pPr>
                        <a:buNone/>
                      </a:pPr>
                      <a:r>
                        <a:rPr lang="en-US" sz="2800" dirty="0">
                          <a:latin typeface="Calibir"/>
                        </a:rPr>
                        <a:t>The purpose of the website is to create a professional online portfolio to showcase web design and development skills, projects, education, and achievements. The goal is to help future employers and clients learn more about the developer and view completed work.</a:t>
                      </a:r>
                    </a:p>
                  </a:txBody>
                  <a:tcPr marL="22201" marR="22201" marT="11100" marB="11100" anchor="ctr"/>
                </a:tc>
                <a:extLst>
                  <a:ext uri="{0D108BD9-81ED-4DB2-BD59-A6C34878D82A}">
                    <a16:rowId xmlns:a16="http://schemas.microsoft.com/office/drawing/2014/main" val="2125589770"/>
                  </a:ext>
                </a:extLst>
              </a:tr>
            </a:tbl>
          </a:graphicData>
        </a:graphic>
      </p:graphicFrame>
    </p:spTree>
    <p:extLst>
      <p:ext uri="{BB962C8B-B14F-4D97-AF65-F5344CB8AC3E}">
        <p14:creationId xmlns:p14="http://schemas.microsoft.com/office/powerpoint/2010/main" val="2691701050"/>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95F538-7D7F-8CF8-399B-179F550C11E2}"/>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A2DBE4A7-D86F-8CC1-0134-E50C26AA2AD5}"/>
              </a:ext>
            </a:extLst>
          </p:cNvPr>
          <p:cNvSpPr txBox="1"/>
          <p:nvPr/>
        </p:nvSpPr>
        <p:spPr>
          <a:xfrm>
            <a:off x="0" y="0"/>
            <a:ext cx="8976732"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200" b="1" dirty="0">
                <a:solidFill>
                  <a:prstClr val="black"/>
                </a:solidFill>
                <a:latin typeface="Calibri" panose="020F0502020204030204" pitchFamily="34" charset="0"/>
                <a:cs typeface="Calibri" panose="020F0502020204030204" pitchFamily="34" charset="0"/>
              </a:rPr>
              <a:t>Weeks 2 – 3 Lab</a:t>
            </a:r>
            <a:endParaRPr kumimoji="0" lang="en-US" sz="3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3" name="TextBox 2">
            <a:extLst>
              <a:ext uri="{FF2B5EF4-FFF2-40B4-BE49-F238E27FC236}">
                <a16:creationId xmlns:a16="http://schemas.microsoft.com/office/drawing/2014/main" id="{926C8FA0-7EBD-85D7-38AA-FCCEBBAE0E33}"/>
              </a:ext>
            </a:extLst>
          </p:cNvPr>
          <p:cNvSpPr txBox="1"/>
          <p:nvPr/>
        </p:nvSpPr>
        <p:spPr>
          <a:xfrm>
            <a:off x="0" y="746093"/>
            <a:ext cx="12192000" cy="523220"/>
          </a:xfrm>
          <a:prstGeom prst="rect">
            <a:avLst/>
          </a:prstGeom>
          <a:noFill/>
        </p:spPr>
        <p:txBody>
          <a:bodyPr wrap="square">
            <a:spAutoFit/>
          </a:bodyPr>
          <a:lstStyle/>
          <a:p>
            <a:r>
              <a:rPr lang="en-US" sz="2800" dirty="0">
                <a:latin typeface="Calibir"/>
              </a:rPr>
              <a:t>Now complete portfolio.docx – Personal Portfolio Website Planning Document</a:t>
            </a:r>
          </a:p>
        </p:txBody>
      </p:sp>
      <p:graphicFrame>
        <p:nvGraphicFramePr>
          <p:cNvPr id="5" name="Table 4">
            <a:extLst>
              <a:ext uri="{FF2B5EF4-FFF2-40B4-BE49-F238E27FC236}">
                <a16:creationId xmlns:a16="http://schemas.microsoft.com/office/drawing/2014/main" id="{2191A568-EC35-9D89-945C-CB609AE38157}"/>
              </a:ext>
            </a:extLst>
          </p:cNvPr>
          <p:cNvGraphicFramePr>
            <a:graphicFrameLocks noGrp="1"/>
          </p:cNvGraphicFramePr>
          <p:nvPr>
            <p:extLst>
              <p:ext uri="{D42A27DB-BD31-4B8C-83A1-F6EECF244321}">
                <p14:modId xmlns:p14="http://schemas.microsoft.com/office/powerpoint/2010/main" val="3462876157"/>
              </p:ext>
            </p:extLst>
          </p:nvPr>
        </p:nvGraphicFramePr>
        <p:xfrm>
          <a:off x="1" y="1269313"/>
          <a:ext cx="12192000" cy="3482617"/>
        </p:xfrm>
        <a:graphic>
          <a:graphicData uri="http://schemas.openxmlformats.org/drawingml/2006/table">
            <a:tbl>
              <a:tblPr>
                <a:tableStyleId>{BDBED569-4797-4DF1-A0F4-6AAB3CD982D8}</a:tableStyleId>
              </a:tblPr>
              <a:tblGrid>
                <a:gridCol w="4064000">
                  <a:extLst>
                    <a:ext uri="{9D8B030D-6E8A-4147-A177-3AD203B41FA5}">
                      <a16:colId xmlns:a16="http://schemas.microsoft.com/office/drawing/2014/main" val="1117945950"/>
                    </a:ext>
                  </a:extLst>
                </a:gridCol>
                <a:gridCol w="4064000">
                  <a:extLst>
                    <a:ext uri="{9D8B030D-6E8A-4147-A177-3AD203B41FA5}">
                      <a16:colId xmlns:a16="http://schemas.microsoft.com/office/drawing/2014/main" val="1894910114"/>
                    </a:ext>
                  </a:extLst>
                </a:gridCol>
                <a:gridCol w="4064000">
                  <a:extLst>
                    <a:ext uri="{9D8B030D-6E8A-4147-A177-3AD203B41FA5}">
                      <a16:colId xmlns:a16="http://schemas.microsoft.com/office/drawing/2014/main" val="1106428468"/>
                    </a:ext>
                  </a:extLst>
                </a:gridCol>
              </a:tblGrid>
              <a:tr h="0">
                <a:tc>
                  <a:txBody>
                    <a:bodyPr/>
                    <a:lstStyle/>
                    <a:p>
                      <a:pPr>
                        <a:buNone/>
                      </a:pPr>
                      <a:r>
                        <a:rPr lang="en-US" sz="2800" dirty="0">
                          <a:latin typeface="Calibir"/>
                        </a:rPr>
                        <a:t>Topic</a:t>
                      </a:r>
                    </a:p>
                  </a:txBody>
                  <a:tcPr marL="22201" marR="22201" marT="11100" marB="11100" anchor="ctr"/>
                </a:tc>
                <a:tc>
                  <a:txBody>
                    <a:bodyPr/>
                    <a:lstStyle/>
                    <a:p>
                      <a:pPr>
                        <a:buNone/>
                      </a:pPr>
                      <a:r>
                        <a:rPr lang="en-US" sz="2800">
                          <a:latin typeface="Calibir"/>
                        </a:rPr>
                        <a:t>Web Developer Questions</a:t>
                      </a:r>
                    </a:p>
                  </a:txBody>
                  <a:tcPr marL="22201" marR="22201" marT="11100" marB="11100" anchor="ctr"/>
                </a:tc>
                <a:tc>
                  <a:txBody>
                    <a:bodyPr/>
                    <a:lstStyle/>
                    <a:p>
                      <a:pPr>
                        <a:buNone/>
                      </a:pPr>
                      <a:r>
                        <a:rPr lang="en-US" sz="2800">
                          <a:latin typeface="Calibir"/>
                        </a:rPr>
                        <a:t>Answers</a:t>
                      </a:r>
                    </a:p>
                  </a:txBody>
                  <a:tcPr marL="22201" marR="22201" marT="11100" marB="11100" anchor="ctr"/>
                </a:tc>
                <a:extLst>
                  <a:ext uri="{0D108BD9-81ED-4DB2-BD59-A6C34878D82A}">
                    <a16:rowId xmlns:a16="http://schemas.microsoft.com/office/drawing/2014/main" val="974634533"/>
                  </a:ext>
                </a:extLst>
              </a:tr>
              <a:tr h="3033697">
                <a:tc>
                  <a:txBody>
                    <a:bodyPr/>
                    <a:lstStyle/>
                    <a:p>
                      <a:pPr>
                        <a:buNone/>
                      </a:pPr>
                      <a:r>
                        <a:rPr lang="en-US" sz="2800" dirty="0">
                          <a:latin typeface="Calibir"/>
                        </a:rPr>
                        <a:t>Purpose of the Website</a:t>
                      </a:r>
                    </a:p>
                  </a:txBody>
                  <a:tcPr marL="22201" marR="22201" marT="11100" marB="11100" anchor="ctr"/>
                </a:tc>
                <a:tc>
                  <a:txBody>
                    <a:bodyPr/>
                    <a:lstStyle/>
                    <a:p>
                      <a:pPr>
                        <a:buNone/>
                      </a:pPr>
                      <a:r>
                        <a:rPr lang="en-US" sz="2800" dirty="0">
                          <a:latin typeface="Calibir"/>
                        </a:rPr>
                        <a:t>What is the company’s mission statement?</a:t>
                      </a:r>
                    </a:p>
                  </a:txBody>
                  <a:tcPr marL="22201" marR="22201" marT="11100" marB="11100" anchor="ctr"/>
                </a:tc>
                <a:tc>
                  <a:txBody>
                    <a:bodyPr/>
                    <a:lstStyle/>
                    <a:p>
                      <a:pPr>
                        <a:buNone/>
                      </a:pPr>
                      <a:r>
                        <a:rPr lang="en-US" sz="2800" dirty="0">
                          <a:latin typeface="Calibir"/>
                        </a:rPr>
                        <a:t>To create modern, user-friendly, accessible, and responsive websites that solve business problems and provide excellent user experiences.</a:t>
                      </a:r>
                    </a:p>
                  </a:txBody>
                  <a:tcPr marL="22201" marR="22201" marT="11100" marB="11100" anchor="ctr"/>
                </a:tc>
                <a:extLst>
                  <a:ext uri="{0D108BD9-81ED-4DB2-BD59-A6C34878D82A}">
                    <a16:rowId xmlns:a16="http://schemas.microsoft.com/office/drawing/2014/main" val="2125589770"/>
                  </a:ext>
                </a:extLst>
              </a:tr>
            </a:tbl>
          </a:graphicData>
        </a:graphic>
      </p:graphicFrame>
    </p:spTree>
    <p:extLst>
      <p:ext uri="{BB962C8B-B14F-4D97-AF65-F5344CB8AC3E}">
        <p14:creationId xmlns:p14="http://schemas.microsoft.com/office/powerpoint/2010/main" val="4085021959"/>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C4375F-D391-B6EC-A19A-A896B734BCCA}"/>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E8E6796A-28CF-975E-8397-C9DCF6C22432}"/>
              </a:ext>
            </a:extLst>
          </p:cNvPr>
          <p:cNvSpPr txBox="1"/>
          <p:nvPr/>
        </p:nvSpPr>
        <p:spPr>
          <a:xfrm>
            <a:off x="0" y="0"/>
            <a:ext cx="8976732"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200" b="1" dirty="0">
                <a:solidFill>
                  <a:prstClr val="black"/>
                </a:solidFill>
                <a:latin typeface="Calibri" panose="020F0502020204030204" pitchFamily="34" charset="0"/>
                <a:cs typeface="Calibri" panose="020F0502020204030204" pitchFamily="34" charset="0"/>
              </a:rPr>
              <a:t>Weeks 2 – 3 Lab</a:t>
            </a:r>
            <a:endParaRPr kumimoji="0" lang="en-US" sz="3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3" name="TextBox 2">
            <a:extLst>
              <a:ext uri="{FF2B5EF4-FFF2-40B4-BE49-F238E27FC236}">
                <a16:creationId xmlns:a16="http://schemas.microsoft.com/office/drawing/2014/main" id="{9B643BE7-B688-A59E-167D-59B7894CB3EE}"/>
              </a:ext>
            </a:extLst>
          </p:cNvPr>
          <p:cNvSpPr txBox="1"/>
          <p:nvPr/>
        </p:nvSpPr>
        <p:spPr>
          <a:xfrm>
            <a:off x="0" y="746093"/>
            <a:ext cx="12192000" cy="523220"/>
          </a:xfrm>
          <a:prstGeom prst="rect">
            <a:avLst/>
          </a:prstGeom>
          <a:noFill/>
        </p:spPr>
        <p:txBody>
          <a:bodyPr wrap="square">
            <a:spAutoFit/>
          </a:bodyPr>
          <a:lstStyle/>
          <a:p>
            <a:r>
              <a:rPr lang="en-US" sz="2800" dirty="0">
                <a:latin typeface="Calibir"/>
              </a:rPr>
              <a:t>Now complete portfolio.docx – Personal Portfolio Website Planning Document</a:t>
            </a:r>
          </a:p>
        </p:txBody>
      </p:sp>
      <p:graphicFrame>
        <p:nvGraphicFramePr>
          <p:cNvPr id="5" name="Table 4">
            <a:extLst>
              <a:ext uri="{FF2B5EF4-FFF2-40B4-BE49-F238E27FC236}">
                <a16:creationId xmlns:a16="http://schemas.microsoft.com/office/drawing/2014/main" id="{1D891331-7553-0D36-1484-67601143B839}"/>
              </a:ext>
            </a:extLst>
          </p:cNvPr>
          <p:cNvGraphicFramePr>
            <a:graphicFrameLocks noGrp="1"/>
          </p:cNvGraphicFramePr>
          <p:nvPr>
            <p:extLst>
              <p:ext uri="{D42A27DB-BD31-4B8C-83A1-F6EECF244321}">
                <p14:modId xmlns:p14="http://schemas.microsoft.com/office/powerpoint/2010/main" val="3298846162"/>
              </p:ext>
            </p:extLst>
          </p:nvPr>
        </p:nvGraphicFramePr>
        <p:xfrm>
          <a:off x="1" y="1269313"/>
          <a:ext cx="12192000" cy="4311600"/>
        </p:xfrm>
        <a:graphic>
          <a:graphicData uri="http://schemas.openxmlformats.org/drawingml/2006/table">
            <a:tbl>
              <a:tblPr>
                <a:tableStyleId>{BDBED569-4797-4DF1-A0F4-6AAB3CD982D8}</a:tableStyleId>
              </a:tblPr>
              <a:tblGrid>
                <a:gridCol w="4064000">
                  <a:extLst>
                    <a:ext uri="{9D8B030D-6E8A-4147-A177-3AD203B41FA5}">
                      <a16:colId xmlns:a16="http://schemas.microsoft.com/office/drawing/2014/main" val="1117945950"/>
                    </a:ext>
                  </a:extLst>
                </a:gridCol>
                <a:gridCol w="4064000">
                  <a:extLst>
                    <a:ext uri="{9D8B030D-6E8A-4147-A177-3AD203B41FA5}">
                      <a16:colId xmlns:a16="http://schemas.microsoft.com/office/drawing/2014/main" val="1894910114"/>
                    </a:ext>
                  </a:extLst>
                </a:gridCol>
                <a:gridCol w="4064000">
                  <a:extLst>
                    <a:ext uri="{9D8B030D-6E8A-4147-A177-3AD203B41FA5}">
                      <a16:colId xmlns:a16="http://schemas.microsoft.com/office/drawing/2014/main" val="1106428468"/>
                    </a:ext>
                  </a:extLst>
                </a:gridCol>
              </a:tblGrid>
              <a:tr h="0">
                <a:tc>
                  <a:txBody>
                    <a:bodyPr/>
                    <a:lstStyle/>
                    <a:p>
                      <a:pPr>
                        <a:buNone/>
                      </a:pPr>
                      <a:r>
                        <a:rPr lang="en-US" sz="2800" dirty="0">
                          <a:latin typeface="Calibir"/>
                        </a:rPr>
                        <a:t>Topic</a:t>
                      </a:r>
                    </a:p>
                  </a:txBody>
                  <a:tcPr marL="22201" marR="22201" marT="11100" marB="11100" anchor="ctr"/>
                </a:tc>
                <a:tc>
                  <a:txBody>
                    <a:bodyPr/>
                    <a:lstStyle/>
                    <a:p>
                      <a:pPr>
                        <a:buNone/>
                      </a:pPr>
                      <a:r>
                        <a:rPr lang="en-US" sz="2800">
                          <a:latin typeface="Calibir"/>
                        </a:rPr>
                        <a:t>Web Developer Questions</a:t>
                      </a:r>
                    </a:p>
                  </a:txBody>
                  <a:tcPr marL="22201" marR="22201" marT="11100" marB="11100" anchor="ctr"/>
                </a:tc>
                <a:tc>
                  <a:txBody>
                    <a:bodyPr/>
                    <a:lstStyle/>
                    <a:p>
                      <a:pPr>
                        <a:buNone/>
                      </a:pPr>
                      <a:r>
                        <a:rPr lang="en-US" sz="2800">
                          <a:latin typeface="Calibir"/>
                        </a:rPr>
                        <a:t>Answers</a:t>
                      </a:r>
                    </a:p>
                  </a:txBody>
                  <a:tcPr marL="22201" marR="22201" marT="11100" marB="11100" anchor="ctr"/>
                </a:tc>
                <a:extLst>
                  <a:ext uri="{0D108BD9-81ED-4DB2-BD59-A6C34878D82A}">
                    <a16:rowId xmlns:a16="http://schemas.microsoft.com/office/drawing/2014/main" val="974634533"/>
                  </a:ext>
                </a:extLst>
              </a:tr>
              <a:tr h="3033697">
                <a:tc>
                  <a:txBody>
                    <a:bodyPr/>
                    <a:lstStyle/>
                    <a:p>
                      <a:pPr>
                        <a:buNone/>
                      </a:pPr>
                      <a:r>
                        <a:rPr lang="en-US" sz="2800" dirty="0">
                          <a:latin typeface="Calibir"/>
                        </a:rPr>
                        <a:t>Target Audience</a:t>
                      </a:r>
                    </a:p>
                  </a:txBody>
                  <a:tcPr marL="22201" marR="22201" marT="11100" marB="11100" anchor="ctr"/>
                </a:tc>
                <a:tc>
                  <a:txBody>
                    <a:bodyPr/>
                    <a:lstStyle/>
                    <a:p>
                      <a:pPr>
                        <a:buNone/>
                      </a:pPr>
                      <a:r>
                        <a:rPr lang="en-US" sz="2800" dirty="0">
                          <a:latin typeface="Calibir"/>
                        </a:rPr>
                        <a:t>Describe the target audience (age, gender, demographics)</a:t>
                      </a:r>
                    </a:p>
                  </a:txBody>
                  <a:tcPr marL="22201" marR="22201" marT="11100" marB="11100" anchor="ctr"/>
                </a:tc>
                <a:tc>
                  <a:txBody>
                    <a:bodyPr/>
                    <a:lstStyle/>
                    <a:p>
                      <a:pPr>
                        <a:buNone/>
                      </a:pPr>
                      <a:r>
                        <a:rPr lang="en-US" sz="2800" dirty="0">
                          <a:latin typeface="Calibir"/>
                        </a:rPr>
                        <a:t>The target audience includes employers, clients, businesses, university staff, and technology professionals between 18–50 years old who are interested in web development services and projects.</a:t>
                      </a:r>
                    </a:p>
                  </a:txBody>
                  <a:tcPr marL="22201" marR="22201" marT="11100" marB="11100" anchor="ctr"/>
                </a:tc>
                <a:extLst>
                  <a:ext uri="{0D108BD9-81ED-4DB2-BD59-A6C34878D82A}">
                    <a16:rowId xmlns:a16="http://schemas.microsoft.com/office/drawing/2014/main" val="2125589770"/>
                  </a:ext>
                </a:extLst>
              </a:tr>
            </a:tbl>
          </a:graphicData>
        </a:graphic>
      </p:graphicFrame>
    </p:spTree>
    <p:extLst>
      <p:ext uri="{BB962C8B-B14F-4D97-AF65-F5344CB8AC3E}">
        <p14:creationId xmlns:p14="http://schemas.microsoft.com/office/powerpoint/2010/main" val="1275200171"/>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BE5E16-AA34-6C37-77A2-98B08CFA9264}"/>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4E246E36-9643-4D78-5DEF-8DC5F5EF34FA}"/>
              </a:ext>
            </a:extLst>
          </p:cNvPr>
          <p:cNvSpPr txBox="1"/>
          <p:nvPr/>
        </p:nvSpPr>
        <p:spPr>
          <a:xfrm>
            <a:off x="0" y="0"/>
            <a:ext cx="8976732"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200" b="1" dirty="0">
                <a:solidFill>
                  <a:prstClr val="black"/>
                </a:solidFill>
                <a:latin typeface="Calibri" panose="020F0502020204030204" pitchFamily="34" charset="0"/>
                <a:cs typeface="Calibri" panose="020F0502020204030204" pitchFamily="34" charset="0"/>
              </a:rPr>
              <a:t>Weeks 2 – 3 Lab</a:t>
            </a:r>
            <a:endParaRPr kumimoji="0" lang="en-US" sz="3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3" name="TextBox 2">
            <a:extLst>
              <a:ext uri="{FF2B5EF4-FFF2-40B4-BE49-F238E27FC236}">
                <a16:creationId xmlns:a16="http://schemas.microsoft.com/office/drawing/2014/main" id="{02E3C96E-F603-542D-AD62-9588403FE5E9}"/>
              </a:ext>
            </a:extLst>
          </p:cNvPr>
          <p:cNvSpPr txBox="1"/>
          <p:nvPr/>
        </p:nvSpPr>
        <p:spPr>
          <a:xfrm>
            <a:off x="0" y="746093"/>
            <a:ext cx="12192000" cy="523220"/>
          </a:xfrm>
          <a:prstGeom prst="rect">
            <a:avLst/>
          </a:prstGeom>
          <a:noFill/>
        </p:spPr>
        <p:txBody>
          <a:bodyPr wrap="square">
            <a:spAutoFit/>
          </a:bodyPr>
          <a:lstStyle/>
          <a:p>
            <a:r>
              <a:rPr lang="en-US" sz="2800" dirty="0">
                <a:latin typeface="Calibir"/>
              </a:rPr>
              <a:t>Now complete portfolio.docx – Personal Portfolio Website Planning Document</a:t>
            </a:r>
          </a:p>
        </p:txBody>
      </p:sp>
      <p:graphicFrame>
        <p:nvGraphicFramePr>
          <p:cNvPr id="5" name="Table 4">
            <a:extLst>
              <a:ext uri="{FF2B5EF4-FFF2-40B4-BE49-F238E27FC236}">
                <a16:creationId xmlns:a16="http://schemas.microsoft.com/office/drawing/2014/main" id="{70367170-1C6B-B710-2686-510D40EB5ED8}"/>
              </a:ext>
            </a:extLst>
          </p:cNvPr>
          <p:cNvGraphicFramePr>
            <a:graphicFrameLocks noGrp="1"/>
          </p:cNvGraphicFramePr>
          <p:nvPr>
            <p:extLst>
              <p:ext uri="{D42A27DB-BD31-4B8C-83A1-F6EECF244321}">
                <p14:modId xmlns:p14="http://schemas.microsoft.com/office/powerpoint/2010/main" val="3726420483"/>
              </p:ext>
            </p:extLst>
          </p:nvPr>
        </p:nvGraphicFramePr>
        <p:xfrm>
          <a:off x="1" y="1269313"/>
          <a:ext cx="12192000" cy="3482617"/>
        </p:xfrm>
        <a:graphic>
          <a:graphicData uri="http://schemas.openxmlformats.org/drawingml/2006/table">
            <a:tbl>
              <a:tblPr>
                <a:tableStyleId>{BDBED569-4797-4DF1-A0F4-6AAB3CD982D8}</a:tableStyleId>
              </a:tblPr>
              <a:tblGrid>
                <a:gridCol w="4064000">
                  <a:extLst>
                    <a:ext uri="{9D8B030D-6E8A-4147-A177-3AD203B41FA5}">
                      <a16:colId xmlns:a16="http://schemas.microsoft.com/office/drawing/2014/main" val="1117945950"/>
                    </a:ext>
                  </a:extLst>
                </a:gridCol>
                <a:gridCol w="4064000">
                  <a:extLst>
                    <a:ext uri="{9D8B030D-6E8A-4147-A177-3AD203B41FA5}">
                      <a16:colId xmlns:a16="http://schemas.microsoft.com/office/drawing/2014/main" val="1894910114"/>
                    </a:ext>
                  </a:extLst>
                </a:gridCol>
                <a:gridCol w="4064000">
                  <a:extLst>
                    <a:ext uri="{9D8B030D-6E8A-4147-A177-3AD203B41FA5}">
                      <a16:colId xmlns:a16="http://schemas.microsoft.com/office/drawing/2014/main" val="1106428468"/>
                    </a:ext>
                  </a:extLst>
                </a:gridCol>
              </a:tblGrid>
              <a:tr h="0">
                <a:tc>
                  <a:txBody>
                    <a:bodyPr/>
                    <a:lstStyle/>
                    <a:p>
                      <a:pPr>
                        <a:buNone/>
                      </a:pPr>
                      <a:r>
                        <a:rPr lang="en-US" sz="2800" dirty="0">
                          <a:latin typeface="Calibir"/>
                        </a:rPr>
                        <a:t>Topic</a:t>
                      </a:r>
                    </a:p>
                  </a:txBody>
                  <a:tcPr marL="22201" marR="22201" marT="11100" marB="11100" anchor="ctr"/>
                </a:tc>
                <a:tc>
                  <a:txBody>
                    <a:bodyPr/>
                    <a:lstStyle/>
                    <a:p>
                      <a:pPr>
                        <a:buNone/>
                      </a:pPr>
                      <a:r>
                        <a:rPr lang="en-US" sz="2800">
                          <a:latin typeface="Calibir"/>
                        </a:rPr>
                        <a:t>Web Developer Questions</a:t>
                      </a:r>
                    </a:p>
                  </a:txBody>
                  <a:tcPr marL="22201" marR="22201" marT="11100" marB="11100" anchor="ctr"/>
                </a:tc>
                <a:tc>
                  <a:txBody>
                    <a:bodyPr/>
                    <a:lstStyle/>
                    <a:p>
                      <a:pPr>
                        <a:buNone/>
                      </a:pPr>
                      <a:r>
                        <a:rPr lang="en-US" sz="2800">
                          <a:latin typeface="Calibir"/>
                        </a:rPr>
                        <a:t>Answers</a:t>
                      </a:r>
                    </a:p>
                  </a:txBody>
                  <a:tcPr marL="22201" marR="22201" marT="11100" marB="11100" anchor="ctr"/>
                </a:tc>
                <a:extLst>
                  <a:ext uri="{0D108BD9-81ED-4DB2-BD59-A6C34878D82A}">
                    <a16:rowId xmlns:a16="http://schemas.microsoft.com/office/drawing/2014/main" val="974634533"/>
                  </a:ext>
                </a:extLst>
              </a:tr>
              <a:tr h="3033697">
                <a:tc>
                  <a:txBody>
                    <a:bodyPr/>
                    <a:lstStyle/>
                    <a:p>
                      <a:pPr>
                        <a:buNone/>
                      </a:pPr>
                      <a:r>
                        <a:rPr lang="en-US" sz="2800" dirty="0">
                          <a:latin typeface="Calibir"/>
                        </a:rPr>
                        <a:t>Target Audience</a:t>
                      </a:r>
                    </a:p>
                  </a:txBody>
                  <a:tcPr marL="22201" marR="22201" marT="11100" marB="11100" anchor="ctr"/>
                </a:tc>
                <a:tc>
                  <a:txBody>
                    <a:bodyPr/>
                    <a:lstStyle/>
                    <a:p>
                      <a:pPr>
                        <a:buNone/>
                      </a:pPr>
                      <a:r>
                        <a:rPr lang="en-US" sz="2800" dirty="0">
                          <a:latin typeface="Calibir"/>
                        </a:rPr>
                        <a:t>What information is most pertinent to the users?</a:t>
                      </a:r>
                    </a:p>
                  </a:txBody>
                  <a:tcPr marL="22201" marR="22201" marT="11100" marB="11100" anchor="ctr"/>
                </a:tc>
                <a:tc>
                  <a:txBody>
                    <a:bodyPr/>
                    <a:lstStyle/>
                    <a:p>
                      <a:pPr>
                        <a:buNone/>
                      </a:pPr>
                      <a:r>
                        <a:rPr lang="en-US" sz="2800" dirty="0">
                          <a:latin typeface="Calibir"/>
                        </a:rPr>
                        <a:t>Users want to see portfolio projects, technical skills, education, contact information, work experience, and examples of previous website designs.</a:t>
                      </a:r>
                    </a:p>
                  </a:txBody>
                  <a:tcPr marL="22201" marR="22201" marT="11100" marB="11100" anchor="ctr"/>
                </a:tc>
                <a:extLst>
                  <a:ext uri="{0D108BD9-81ED-4DB2-BD59-A6C34878D82A}">
                    <a16:rowId xmlns:a16="http://schemas.microsoft.com/office/drawing/2014/main" val="2125589770"/>
                  </a:ext>
                </a:extLst>
              </a:tr>
            </a:tbl>
          </a:graphicData>
        </a:graphic>
      </p:graphicFrame>
    </p:spTree>
    <p:extLst>
      <p:ext uri="{BB962C8B-B14F-4D97-AF65-F5344CB8AC3E}">
        <p14:creationId xmlns:p14="http://schemas.microsoft.com/office/powerpoint/2010/main" val="2166716946"/>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D2956B-B1AA-EA1A-D1C1-D5E2390B8071}"/>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CD83D3FF-382F-CD1D-720C-18181706C1E1}"/>
              </a:ext>
            </a:extLst>
          </p:cNvPr>
          <p:cNvSpPr txBox="1"/>
          <p:nvPr/>
        </p:nvSpPr>
        <p:spPr>
          <a:xfrm>
            <a:off x="0" y="0"/>
            <a:ext cx="8976732"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200" b="1" dirty="0">
                <a:solidFill>
                  <a:prstClr val="black"/>
                </a:solidFill>
                <a:latin typeface="Calibri" panose="020F0502020204030204" pitchFamily="34" charset="0"/>
                <a:cs typeface="Calibri" panose="020F0502020204030204" pitchFamily="34" charset="0"/>
              </a:rPr>
              <a:t>Weeks 2 – 3 Lab</a:t>
            </a:r>
            <a:endParaRPr kumimoji="0" lang="en-US" sz="3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3" name="TextBox 2">
            <a:extLst>
              <a:ext uri="{FF2B5EF4-FFF2-40B4-BE49-F238E27FC236}">
                <a16:creationId xmlns:a16="http://schemas.microsoft.com/office/drawing/2014/main" id="{FEC51438-05F1-50A0-F4B4-7AFE99010457}"/>
              </a:ext>
            </a:extLst>
          </p:cNvPr>
          <p:cNvSpPr txBox="1"/>
          <p:nvPr/>
        </p:nvSpPr>
        <p:spPr>
          <a:xfrm>
            <a:off x="0" y="746093"/>
            <a:ext cx="12192000" cy="523220"/>
          </a:xfrm>
          <a:prstGeom prst="rect">
            <a:avLst/>
          </a:prstGeom>
          <a:noFill/>
        </p:spPr>
        <p:txBody>
          <a:bodyPr wrap="square">
            <a:spAutoFit/>
          </a:bodyPr>
          <a:lstStyle/>
          <a:p>
            <a:r>
              <a:rPr lang="en-US" sz="2800" dirty="0">
                <a:latin typeface="Calibir"/>
              </a:rPr>
              <a:t>Now complete portfolio.docx – Personal Portfolio Website Planning Document</a:t>
            </a:r>
          </a:p>
        </p:txBody>
      </p:sp>
      <p:graphicFrame>
        <p:nvGraphicFramePr>
          <p:cNvPr id="5" name="Table 4">
            <a:extLst>
              <a:ext uri="{FF2B5EF4-FFF2-40B4-BE49-F238E27FC236}">
                <a16:creationId xmlns:a16="http://schemas.microsoft.com/office/drawing/2014/main" id="{2CF421BC-BA12-0F76-DCE7-392698942158}"/>
              </a:ext>
            </a:extLst>
          </p:cNvPr>
          <p:cNvGraphicFramePr>
            <a:graphicFrameLocks noGrp="1"/>
          </p:cNvGraphicFramePr>
          <p:nvPr>
            <p:extLst>
              <p:ext uri="{D42A27DB-BD31-4B8C-83A1-F6EECF244321}">
                <p14:modId xmlns:p14="http://schemas.microsoft.com/office/powerpoint/2010/main" val="1812031570"/>
              </p:ext>
            </p:extLst>
          </p:nvPr>
        </p:nvGraphicFramePr>
        <p:xfrm>
          <a:off x="1" y="1269313"/>
          <a:ext cx="12192000" cy="5211697"/>
        </p:xfrm>
        <a:graphic>
          <a:graphicData uri="http://schemas.openxmlformats.org/drawingml/2006/table">
            <a:tbl>
              <a:tblPr>
                <a:tableStyleId>{BDBED569-4797-4DF1-A0F4-6AAB3CD982D8}</a:tableStyleId>
              </a:tblPr>
              <a:tblGrid>
                <a:gridCol w="4064000">
                  <a:extLst>
                    <a:ext uri="{9D8B030D-6E8A-4147-A177-3AD203B41FA5}">
                      <a16:colId xmlns:a16="http://schemas.microsoft.com/office/drawing/2014/main" val="1117945950"/>
                    </a:ext>
                  </a:extLst>
                </a:gridCol>
                <a:gridCol w="4064000">
                  <a:extLst>
                    <a:ext uri="{9D8B030D-6E8A-4147-A177-3AD203B41FA5}">
                      <a16:colId xmlns:a16="http://schemas.microsoft.com/office/drawing/2014/main" val="1894910114"/>
                    </a:ext>
                  </a:extLst>
                </a:gridCol>
                <a:gridCol w="4064000">
                  <a:extLst>
                    <a:ext uri="{9D8B030D-6E8A-4147-A177-3AD203B41FA5}">
                      <a16:colId xmlns:a16="http://schemas.microsoft.com/office/drawing/2014/main" val="1106428468"/>
                    </a:ext>
                  </a:extLst>
                </a:gridCol>
              </a:tblGrid>
              <a:tr h="0">
                <a:tc>
                  <a:txBody>
                    <a:bodyPr/>
                    <a:lstStyle/>
                    <a:p>
                      <a:pPr>
                        <a:buNone/>
                      </a:pPr>
                      <a:r>
                        <a:rPr lang="en-US" sz="2800" dirty="0">
                          <a:latin typeface="Calibir"/>
                        </a:rPr>
                        <a:t>Topic</a:t>
                      </a:r>
                    </a:p>
                  </a:txBody>
                  <a:tcPr marL="22201" marR="22201" marT="11100" marB="11100" anchor="ctr"/>
                </a:tc>
                <a:tc>
                  <a:txBody>
                    <a:bodyPr/>
                    <a:lstStyle/>
                    <a:p>
                      <a:pPr>
                        <a:buNone/>
                      </a:pPr>
                      <a:r>
                        <a:rPr lang="en-US" sz="2800">
                          <a:latin typeface="Calibir"/>
                        </a:rPr>
                        <a:t>Web Developer Questions</a:t>
                      </a:r>
                    </a:p>
                  </a:txBody>
                  <a:tcPr marL="22201" marR="22201" marT="11100" marB="11100" anchor="ctr"/>
                </a:tc>
                <a:tc>
                  <a:txBody>
                    <a:bodyPr/>
                    <a:lstStyle/>
                    <a:p>
                      <a:pPr>
                        <a:buNone/>
                      </a:pPr>
                      <a:r>
                        <a:rPr lang="en-US" sz="2800">
                          <a:latin typeface="Calibir"/>
                        </a:rPr>
                        <a:t>Answers</a:t>
                      </a:r>
                    </a:p>
                  </a:txBody>
                  <a:tcPr marL="22201" marR="22201" marT="11100" marB="11100" anchor="ctr"/>
                </a:tc>
                <a:extLst>
                  <a:ext uri="{0D108BD9-81ED-4DB2-BD59-A6C34878D82A}">
                    <a16:rowId xmlns:a16="http://schemas.microsoft.com/office/drawing/2014/main" val="974634533"/>
                  </a:ext>
                </a:extLst>
              </a:tr>
              <a:tr h="3033697">
                <a:tc>
                  <a:txBody>
                    <a:bodyPr/>
                    <a:lstStyle/>
                    <a:p>
                      <a:pPr>
                        <a:buNone/>
                      </a:pPr>
                      <a:r>
                        <a:rPr lang="en-US" sz="2800" dirty="0">
                          <a:latin typeface="Calibir"/>
                        </a:rPr>
                        <a:t>Multiplatform Display</a:t>
                      </a:r>
                    </a:p>
                  </a:txBody>
                  <a:tcPr marL="22201" marR="22201" marT="11100" marB="11100" anchor="ctr"/>
                </a:tc>
                <a:tc>
                  <a:txBody>
                    <a:bodyPr/>
                    <a:lstStyle/>
                    <a:p>
                      <a:pPr>
                        <a:buNone/>
                      </a:pPr>
                      <a:r>
                        <a:rPr lang="en-US" sz="2800" dirty="0">
                          <a:latin typeface="Calibir"/>
                        </a:rPr>
                        <a:t>Will you design for multiple platform display or only focus on a desktop or mobile design?</a:t>
                      </a:r>
                    </a:p>
                  </a:txBody>
                  <a:tcPr marL="22201" marR="22201" marT="11100" marB="11100" anchor="ctr"/>
                </a:tc>
                <a:tc>
                  <a:txBody>
                    <a:bodyPr/>
                    <a:lstStyle/>
                    <a:p>
                      <a:pPr>
                        <a:buNone/>
                      </a:pPr>
                      <a:r>
                        <a:rPr lang="en-US" sz="2800" dirty="0">
                          <a:latin typeface="Calibir"/>
                        </a:rPr>
                        <a:t>The website will be designed for multiple platforms including desktop, tablet, and mobile devices using responsive web design techniques.</a:t>
                      </a:r>
                    </a:p>
                  </a:txBody>
                  <a:tcPr marL="22201" marR="22201" marT="11100" marB="11100" anchor="ctr"/>
                </a:tc>
                <a:extLst>
                  <a:ext uri="{0D108BD9-81ED-4DB2-BD59-A6C34878D82A}">
                    <a16:rowId xmlns:a16="http://schemas.microsoft.com/office/drawing/2014/main" val="2125589770"/>
                  </a:ext>
                </a:extLst>
              </a:tr>
              <a:tr h="0">
                <a:tc>
                  <a:txBody>
                    <a:bodyPr/>
                    <a:lstStyle/>
                    <a:p>
                      <a:pPr>
                        <a:buNone/>
                      </a:pPr>
                      <a:r>
                        <a:rPr lang="en-US" sz="2800">
                          <a:latin typeface="Calibir"/>
                        </a:rPr>
                        <a:t>Wireframe</a:t>
                      </a:r>
                    </a:p>
                  </a:txBody>
                  <a:tcPr marL="22201" marR="22201" marT="11100" marB="11100" anchor="ctr"/>
                </a:tc>
                <a:tc>
                  <a:txBody>
                    <a:bodyPr/>
                    <a:lstStyle/>
                    <a:p>
                      <a:pPr>
                        <a:buNone/>
                      </a:pPr>
                      <a:r>
                        <a:rPr lang="en-US" sz="2800">
                          <a:latin typeface="Calibir"/>
                        </a:rPr>
                        <a:t>How many pages will be included in the website?</a:t>
                      </a:r>
                    </a:p>
                  </a:txBody>
                  <a:tcPr marL="22201" marR="22201" marT="11100" marB="11100" anchor="ctr"/>
                </a:tc>
                <a:tc>
                  <a:txBody>
                    <a:bodyPr/>
                    <a:lstStyle/>
                    <a:p>
                      <a:pPr>
                        <a:buNone/>
                      </a:pPr>
                      <a:r>
                        <a:rPr lang="en-US" sz="2800" dirty="0">
                          <a:latin typeface="Calibir"/>
                        </a:rPr>
                        <a:t>The website will include 5 pages: Home, About Me, Portfolio, Skills, and Contact.</a:t>
                      </a:r>
                    </a:p>
                  </a:txBody>
                  <a:tcPr marL="22201" marR="22201" marT="11100" marB="11100" anchor="ctr"/>
                </a:tc>
                <a:extLst>
                  <a:ext uri="{0D108BD9-81ED-4DB2-BD59-A6C34878D82A}">
                    <a16:rowId xmlns:a16="http://schemas.microsoft.com/office/drawing/2014/main" val="1617223072"/>
                  </a:ext>
                </a:extLst>
              </a:tr>
            </a:tbl>
          </a:graphicData>
        </a:graphic>
      </p:graphicFrame>
    </p:spTree>
    <p:extLst>
      <p:ext uri="{BB962C8B-B14F-4D97-AF65-F5344CB8AC3E}">
        <p14:creationId xmlns:p14="http://schemas.microsoft.com/office/powerpoint/2010/main" val="1414129992"/>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FE601C-67BD-E815-135B-F61826C38E2C}"/>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ABABF908-B1D8-7E7C-6D39-8B7512E9938D}"/>
              </a:ext>
            </a:extLst>
          </p:cNvPr>
          <p:cNvSpPr txBox="1"/>
          <p:nvPr/>
        </p:nvSpPr>
        <p:spPr>
          <a:xfrm>
            <a:off x="0" y="0"/>
            <a:ext cx="8976732"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200" b="1" dirty="0">
                <a:solidFill>
                  <a:prstClr val="black"/>
                </a:solidFill>
                <a:latin typeface="Calibri" panose="020F0502020204030204" pitchFamily="34" charset="0"/>
                <a:cs typeface="Calibri" panose="020F0502020204030204" pitchFamily="34" charset="0"/>
              </a:rPr>
              <a:t>Weeks 2 – 3 Lab</a:t>
            </a:r>
            <a:endParaRPr kumimoji="0" lang="en-US" sz="3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3" name="TextBox 2">
            <a:extLst>
              <a:ext uri="{FF2B5EF4-FFF2-40B4-BE49-F238E27FC236}">
                <a16:creationId xmlns:a16="http://schemas.microsoft.com/office/drawing/2014/main" id="{58444CB4-966D-3CC9-315B-1912BB0292F4}"/>
              </a:ext>
            </a:extLst>
          </p:cNvPr>
          <p:cNvSpPr txBox="1"/>
          <p:nvPr/>
        </p:nvSpPr>
        <p:spPr>
          <a:xfrm>
            <a:off x="0" y="746093"/>
            <a:ext cx="12192000" cy="523220"/>
          </a:xfrm>
          <a:prstGeom prst="rect">
            <a:avLst/>
          </a:prstGeom>
          <a:noFill/>
        </p:spPr>
        <p:txBody>
          <a:bodyPr wrap="square">
            <a:spAutoFit/>
          </a:bodyPr>
          <a:lstStyle/>
          <a:p>
            <a:r>
              <a:rPr lang="en-US" sz="2800" dirty="0">
                <a:latin typeface="Calibir"/>
              </a:rPr>
              <a:t>Now complete portfolio.docx – Personal Portfolio Website Planning Document</a:t>
            </a:r>
          </a:p>
        </p:txBody>
      </p:sp>
      <p:graphicFrame>
        <p:nvGraphicFramePr>
          <p:cNvPr id="5" name="Table 4">
            <a:extLst>
              <a:ext uri="{FF2B5EF4-FFF2-40B4-BE49-F238E27FC236}">
                <a16:creationId xmlns:a16="http://schemas.microsoft.com/office/drawing/2014/main" id="{8F7BB40C-152F-8BA0-C583-91F2B5B92D36}"/>
              </a:ext>
            </a:extLst>
          </p:cNvPr>
          <p:cNvGraphicFramePr>
            <a:graphicFrameLocks noGrp="1"/>
          </p:cNvGraphicFramePr>
          <p:nvPr>
            <p:extLst>
              <p:ext uri="{D42A27DB-BD31-4B8C-83A1-F6EECF244321}">
                <p14:modId xmlns:p14="http://schemas.microsoft.com/office/powerpoint/2010/main" val="3100868362"/>
              </p:ext>
            </p:extLst>
          </p:nvPr>
        </p:nvGraphicFramePr>
        <p:xfrm>
          <a:off x="1" y="1269313"/>
          <a:ext cx="12192000" cy="3482617"/>
        </p:xfrm>
        <a:graphic>
          <a:graphicData uri="http://schemas.openxmlformats.org/drawingml/2006/table">
            <a:tbl>
              <a:tblPr>
                <a:tableStyleId>{BDBED569-4797-4DF1-A0F4-6AAB3CD982D8}</a:tableStyleId>
              </a:tblPr>
              <a:tblGrid>
                <a:gridCol w="4064000">
                  <a:extLst>
                    <a:ext uri="{9D8B030D-6E8A-4147-A177-3AD203B41FA5}">
                      <a16:colId xmlns:a16="http://schemas.microsoft.com/office/drawing/2014/main" val="1117945950"/>
                    </a:ext>
                  </a:extLst>
                </a:gridCol>
                <a:gridCol w="4064000">
                  <a:extLst>
                    <a:ext uri="{9D8B030D-6E8A-4147-A177-3AD203B41FA5}">
                      <a16:colId xmlns:a16="http://schemas.microsoft.com/office/drawing/2014/main" val="1894910114"/>
                    </a:ext>
                  </a:extLst>
                </a:gridCol>
                <a:gridCol w="4064000">
                  <a:extLst>
                    <a:ext uri="{9D8B030D-6E8A-4147-A177-3AD203B41FA5}">
                      <a16:colId xmlns:a16="http://schemas.microsoft.com/office/drawing/2014/main" val="1106428468"/>
                    </a:ext>
                  </a:extLst>
                </a:gridCol>
              </a:tblGrid>
              <a:tr h="0">
                <a:tc>
                  <a:txBody>
                    <a:bodyPr/>
                    <a:lstStyle/>
                    <a:p>
                      <a:pPr>
                        <a:buNone/>
                      </a:pPr>
                      <a:r>
                        <a:rPr lang="en-US" sz="2800" dirty="0">
                          <a:latin typeface="Calibir"/>
                        </a:rPr>
                        <a:t>Topic</a:t>
                      </a:r>
                    </a:p>
                  </a:txBody>
                  <a:tcPr marL="22201" marR="22201" marT="11100" marB="11100" anchor="ctr"/>
                </a:tc>
                <a:tc>
                  <a:txBody>
                    <a:bodyPr/>
                    <a:lstStyle/>
                    <a:p>
                      <a:pPr>
                        <a:buNone/>
                      </a:pPr>
                      <a:r>
                        <a:rPr lang="en-US" sz="2800">
                          <a:latin typeface="Calibir"/>
                        </a:rPr>
                        <a:t>Web Developer Questions</a:t>
                      </a:r>
                    </a:p>
                  </a:txBody>
                  <a:tcPr marL="22201" marR="22201" marT="11100" marB="11100" anchor="ctr"/>
                </a:tc>
                <a:tc>
                  <a:txBody>
                    <a:bodyPr/>
                    <a:lstStyle/>
                    <a:p>
                      <a:pPr>
                        <a:buNone/>
                      </a:pPr>
                      <a:r>
                        <a:rPr lang="en-US" sz="2800">
                          <a:latin typeface="Calibir"/>
                        </a:rPr>
                        <a:t>Answers</a:t>
                      </a:r>
                    </a:p>
                  </a:txBody>
                  <a:tcPr marL="22201" marR="22201" marT="11100" marB="11100" anchor="ctr"/>
                </a:tc>
                <a:extLst>
                  <a:ext uri="{0D108BD9-81ED-4DB2-BD59-A6C34878D82A}">
                    <a16:rowId xmlns:a16="http://schemas.microsoft.com/office/drawing/2014/main" val="974634533"/>
                  </a:ext>
                </a:extLst>
              </a:tr>
              <a:tr h="3033697">
                <a:tc>
                  <a:txBody>
                    <a:bodyPr/>
                    <a:lstStyle/>
                    <a:p>
                      <a:pPr>
                        <a:buNone/>
                      </a:pPr>
                      <a:r>
                        <a:rPr lang="en-US" sz="2800" dirty="0">
                          <a:latin typeface="Calibir"/>
                        </a:rPr>
                        <a:t>Wireframe</a:t>
                      </a:r>
                    </a:p>
                  </a:txBody>
                  <a:tcPr marL="22201" marR="22201" marT="11100" marB="11100" anchor="ctr"/>
                </a:tc>
                <a:tc>
                  <a:txBody>
                    <a:bodyPr/>
                    <a:lstStyle/>
                    <a:p>
                      <a:pPr>
                        <a:buNone/>
                      </a:pPr>
                      <a:r>
                        <a:rPr lang="en-US" sz="2800" dirty="0">
                          <a:latin typeface="Calibir"/>
                        </a:rPr>
                        <a:t>How will the pages be organized?</a:t>
                      </a:r>
                    </a:p>
                  </a:txBody>
                  <a:tcPr marL="22201" marR="22201" marT="11100" marB="11100" anchor="ctr"/>
                </a:tc>
                <a:tc>
                  <a:txBody>
                    <a:bodyPr/>
                    <a:lstStyle/>
                    <a:p>
                      <a:pPr>
                        <a:buNone/>
                      </a:pPr>
                      <a:r>
                        <a:rPr lang="en-US" sz="2800" dirty="0">
                          <a:latin typeface="Calibir"/>
                        </a:rPr>
                        <a:t>The pages will be organized using a navigation menu located at the top of every webpage.</a:t>
                      </a:r>
                    </a:p>
                  </a:txBody>
                  <a:tcPr marL="22201" marR="22201" marT="11100" marB="11100" anchor="ctr"/>
                </a:tc>
                <a:extLst>
                  <a:ext uri="{0D108BD9-81ED-4DB2-BD59-A6C34878D82A}">
                    <a16:rowId xmlns:a16="http://schemas.microsoft.com/office/drawing/2014/main" val="2125589770"/>
                  </a:ext>
                </a:extLst>
              </a:tr>
            </a:tbl>
          </a:graphicData>
        </a:graphic>
      </p:graphicFrame>
    </p:spTree>
    <p:extLst>
      <p:ext uri="{BB962C8B-B14F-4D97-AF65-F5344CB8AC3E}">
        <p14:creationId xmlns:p14="http://schemas.microsoft.com/office/powerpoint/2010/main" val="645069424"/>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8568F0-24C6-A845-690F-5024A424497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760F0CE6-6EC9-0754-59EE-CE8384B9ADE9}"/>
              </a:ext>
            </a:extLst>
          </p:cNvPr>
          <p:cNvSpPr txBox="1"/>
          <p:nvPr/>
        </p:nvSpPr>
        <p:spPr>
          <a:xfrm>
            <a:off x="0" y="0"/>
            <a:ext cx="8976732"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200" b="1" dirty="0">
                <a:solidFill>
                  <a:prstClr val="black"/>
                </a:solidFill>
                <a:latin typeface="Calibri" panose="020F0502020204030204" pitchFamily="34" charset="0"/>
                <a:cs typeface="Calibri" panose="020F0502020204030204" pitchFamily="34" charset="0"/>
              </a:rPr>
              <a:t>Weeks 2 – 3 Lab</a:t>
            </a:r>
            <a:endParaRPr kumimoji="0" lang="en-US" sz="3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3" name="TextBox 2">
            <a:extLst>
              <a:ext uri="{FF2B5EF4-FFF2-40B4-BE49-F238E27FC236}">
                <a16:creationId xmlns:a16="http://schemas.microsoft.com/office/drawing/2014/main" id="{780F2A5C-32F5-752B-7A30-DABAB3084A94}"/>
              </a:ext>
            </a:extLst>
          </p:cNvPr>
          <p:cNvSpPr txBox="1"/>
          <p:nvPr/>
        </p:nvSpPr>
        <p:spPr>
          <a:xfrm>
            <a:off x="0" y="746093"/>
            <a:ext cx="12192000" cy="523220"/>
          </a:xfrm>
          <a:prstGeom prst="rect">
            <a:avLst/>
          </a:prstGeom>
          <a:noFill/>
        </p:spPr>
        <p:txBody>
          <a:bodyPr wrap="square">
            <a:spAutoFit/>
          </a:bodyPr>
          <a:lstStyle/>
          <a:p>
            <a:r>
              <a:rPr lang="en-US" sz="2800" dirty="0">
                <a:latin typeface="Calibir"/>
              </a:rPr>
              <a:t>Now complete portfolio.docx – Personal Portfolio Website Planning Document</a:t>
            </a:r>
          </a:p>
        </p:txBody>
      </p:sp>
      <p:graphicFrame>
        <p:nvGraphicFramePr>
          <p:cNvPr id="5" name="Table 4">
            <a:extLst>
              <a:ext uri="{FF2B5EF4-FFF2-40B4-BE49-F238E27FC236}">
                <a16:creationId xmlns:a16="http://schemas.microsoft.com/office/drawing/2014/main" id="{D72F5797-0048-8939-4B4F-BBC38D38E0D5}"/>
              </a:ext>
            </a:extLst>
          </p:cNvPr>
          <p:cNvGraphicFramePr>
            <a:graphicFrameLocks noGrp="1"/>
          </p:cNvGraphicFramePr>
          <p:nvPr>
            <p:extLst>
              <p:ext uri="{D42A27DB-BD31-4B8C-83A1-F6EECF244321}">
                <p14:modId xmlns:p14="http://schemas.microsoft.com/office/powerpoint/2010/main" val="3444165784"/>
              </p:ext>
            </p:extLst>
          </p:nvPr>
        </p:nvGraphicFramePr>
        <p:xfrm>
          <a:off x="1" y="1269313"/>
          <a:ext cx="12192000" cy="3482617"/>
        </p:xfrm>
        <a:graphic>
          <a:graphicData uri="http://schemas.openxmlformats.org/drawingml/2006/table">
            <a:tbl>
              <a:tblPr>
                <a:tableStyleId>{BDBED569-4797-4DF1-A0F4-6AAB3CD982D8}</a:tableStyleId>
              </a:tblPr>
              <a:tblGrid>
                <a:gridCol w="4064000">
                  <a:extLst>
                    <a:ext uri="{9D8B030D-6E8A-4147-A177-3AD203B41FA5}">
                      <a16:colId xmlns:a16="http://schemas.microsoft.com/office/drawing/2014/main" val="1117945950"/>
                    </a:ext>
                  </a:extLst>
                </a:gridCol>
                <a:gridCol w="4064000">
                  <a:extLst>
                    <a:ext uri="{9D8B030D-6E8A-4147-A177-3AD203B41FA5}">
                      <a16:colId xmlns:a16="http://schemas.microsoft.com/office/drawing/2014/main" val="1894910114"/>
                    </a:ext>
                  </a:extLst>
                </a:gridCol>
                <a:gridCol w="4064000">
                  <a:extLst>
                    <a:ext uri="{9D8B030D-6E8A-4147-A177-3AD203B41FA5}">
                      <a16:colId xmlns:a16="http://schemas.microsoft.com/office/drawing/2014/main" val="1106428468"/>
                    </a:ext>
                  </a:extLst>
                </a:gridCol>
              </a:tblGrid>
              <a:tr h="0">
                <a:tc>
                  <a:txBody>
                    <a:bodyPr/>
                    <a:lstStyle/>
                    <a:p>
                      <a:pPr>
                        <a:buNone/>
                      </a:pPr>
                      <a:r>
                        <a:rPr lang="en-US" sz="2800" dirty="0">
                          <a:latin typeface="Calibir"/>
                        </a:rPr>
                        <a:t>Topic</a:t>
                      </a:r>
                    </a:p>
                  </a:txBody>
                  <a:tcPr marL="22201" marR="22201" marT="11100" marB="11100" anchor="ctr"/>
                </a:tc>
                <a:tc>
                  <a:txBody>
                    <a:bodyPr/>
                    <a:lstStyle/>
                    <a:p>
                      <a:pPr>
                        <a:buNone/>
                      </a:pPr>
                      <a:r>
                        <a:rPr lang="en-US" sz="2800">
                          <a:latin typeface="Calibir"/>
                        </a:rPr>
                        <a:t>Web Developer Questions</a:t>
                      </a:r>
                    </a:p>
                  </a:txBody>
                  <a:tcPr marL="22201" marR="22201" marT="11100" marB="11100" anchor="ctr"/>
                </a:tc>
                <a:tc>
                  <a:txBody>
                    <a:bodyPr/>
                    <a:lstStyle/>
                    <a:p>
                      <a:pPr>
                        <a:buNone/>
                      </a:pPr>
                      <a:r>
                        <a:rPr lang="en-US" sz="2800">
                          <a:latin typeface="Calibir"/>
                        </a:rPr>
                        <a:t>Answers</a:t>
                      </a:r>
                    </a:p>
                  </a:txBody>
                  <a:tcPr marL="22201" marR="22201" marT="11100" marB="11100" anchor="ctr"/>
                </a:tc>
                <a:extLst>
                  <a:ext uri="{0D108BD9-81ED-4DB2-BD59-A6C34878D82A}">
                    <a16:rowId xmlns:a16="http://schemas.microsoft.com/office/drawing/2014/main" val="974634533"/>
                  </a:ext>
                </a:extLst>
              </a:tr>
              <a:tr h="3033697">
                <a:tc>
                  <a:txBody>
                    <a:bodyPr/>
                    <a:lstStyle/>
                    <a:p>
                      <a:pPr>
                        <a:buNone/>
                      </a:pPr>
                      <a:r>
                        <a:rPr lang="en-US" sz="2800" dirty="0">
                          <a:latin typeface="Calibir"/>
                        </a:rPr>
                        <a:t>Wireframe</a:t>
                      </a:r>
                    </a:p>
                  </a:txBody>
                  <a:tcPr marL="22201" marR="22201" marT="11100" marB="11100" anchor="ctr"/>
                </a:tc>
                <a:tc>
                  <a:txBody>
                    <a:bodyPr/>
                    <a:lstStyle/>
                    <a:p>
                      <a:pPr>
                        <a:buNone/>
                      </a:pPr>
                      <a:r>
                        <a:rPr lang="en-US" sz="2800" dirty="0">
                          <a:latin typeface="Calibir"/>
                        </a:rPr>
                        <a:t>What type of website structure is appropriate for the content?</a:t>
                      </a:r>
                    </a:p>
                  </a:txBody>
                  <a:tcPr marL="22201" marR="22201" marT="11100" marB="11100" anchor="ctr"/>
                </a:tc>
                <a:tc>
                  <a:txBody>
                    <a:bodyPr/>
                    <a:lstStyle/>
                    <a:p>
                      <a:pPr>
                        <a:buNone/>
                      </a:pPr>
                      <a:r>
                        <a:rPr lang="en-US" sz="2800" dirty="0">
                          <a:latin typeface="Calibir"/>
                        </a:rPr>
                        <a:t>A hierarchical website structure is most appropriate because users can easily navigate between sections and pages.</a:t>
                      </a:r>
                    </a:p>
                  </a:txBody>
                  <a:tcPr marL="22201" marR="22201" marT="11100" marB="11100" anchor="ctr"/>
                </a:tc>
                <a:extLst>
                  <a:ext uri="{0D108BD9-81ED-4DB2-BD59-A6C34878D82A}">
                    <a16:rowId xmlns:a16="http://schemas.microsoft.com/office/drawing/2014/main" val="2125589770"/>
                  </a:ext>
                </a:extLst>
              </a:tr>
            </a:tbl>
          </a:graphicData>
        </a:graphic>
      </p:graphicFrame>
    </p:spTree>
    <p:extLst>
      <p:ext uri="{BB962C8B-B14F-4D97-AF65-F5344CB8AC3E}">
        <p14:creationId xmlns:p14="http://schemas.microsoft.com/office/powerpoint/2010/main" val="2422971589"/>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FCC0F6-6A3A-9BAE-FE8E-22C3A402134A}"/>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7CDBB17-E486-BD20-8A33-CFEFA8B20D3B}"/>
              </a:ext>
            </a:extLst>
          </p:cNvPr>
          <p:cNvSpPr txBox="1"/>
          <p:nvPr/>
        </p:nvSpPr>
        <p:spPr>
          <a:xfrm>
            <a:off x="0" y="0"/>
            <a:ext cx="8976732"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200" b="1" dirty="0">
                <a:solidFill>
                  <a:prstClr val="black"/>
                </a:solidFill>
                <a:latin typeface="Calibri" panose="020F0502020204030204" pitchFamily="34" charset="0"/>
                <a:cs typeface="Calibri" panose="020F0502020204030204" pitchFamily="34" charset="0"/>
              </a:rPr>
              <a:t>Weeks 2 – 3 Lab</a:t>
            </a:r>
            <a:endParaRPr kumimoji="0" lang="en-US" sz="3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3" name="TextBox 2">
            <a:extLst>
              <a:ext uri="{FF2B5EF4-FFF2-40B4-BE49-F238E27FC236}">
                <a16:creationId xmlns:a16="http://schemas.microsoft.com/office/drawing/2014/main" id="{8735279A-89DC-631F-7BA7-0F75097E728D}"/>
              </a:ext>
            </a:extLst>
          </p:cNvPr>
          <p:cNvSpPr txBox="1"/>
          <p:nvPr/>
        </p:nvSpPr>
        <p:spPr>
          <a:xfrm>
            <a:off x="0" y="746093"/>
            <a:ext cx="12192000" cy="523220"/>
          </a:xfrm>
          <a:prstGeom prst="rect">
            <a:avLst/>
          </a:prstGeom>
          <a:noFill/>
        </p:spPr>
        <p:txBody>
          <a:bodyPr wrap="square">
            <a:spAutoFit/>
          </a:bodyPr>
          <a:lstStyle/>
          <a:p>
            <a:r>
              <a:rPr lang="en-US" sz="2800" dirty="0">
                <a:latin typeface="Calibir"/>
              </a:rPr>
              <a:t>Now complete portfolio.docx – Personal Portfolio Website Planning Document</a:t>
            </a:r>
          </a:p>
        </p:txBody>
      </p:sp>
      <p:graphicFrame>
        <p:nvGraphicFramePr>
          <p:cNvPr id="5" name="Table 4">
            <a:extLst>
              <a:ext uri="{FF2B5EF4-FFF2-40B4-BE49-F238E27FC236}">
                <a16:creationId xmlns:a16="http://schemas.microsoft.com/office/drawing/2014/main" id="{5535C531-523E-70F3-FD3C-71D87CFA7DAF}"/>
              </a:ext>
            </a:extLst>
          </p:cNvPr>
          <p:cNvGraphicFramePr>
            <a:graphicFrameLocks noGrp="1"/>
          </p:cNvGraphicFramePr>
          <p:nvPr>
            <p:extLst>
              <p:ext uri="{D42A27DB-BD31-4B8C-83A1-F6EECF244321}">
                <p14:modId xmlns:p14="http://schemas.microsoft.com/office/powerpoint/2010/main" val="1199644274"/>
              </p:ext>
            </p:extLst>
          </p:nvPr>
        </p:nvGraphicFramePr>
        <p:xfrm>
          <a:off x="1" y="1269313"/>
          <a:ext cx="12192000" cy="3482617"/>
        </p:xfrm>
        <a:graphic>
          <a:graphicData uri="http://schemas.openxmlformats.org/drawingml/2006/table">
            <a:tbl>
              <a:tblPr>
                <a:tableStyleId>{BDBED569-4797-4DF1-A0F4-6AAB3CD982D8}</a:tableStyleId>
              </a:tblPr>
              <a:tblGrid>
                <a:gridCol w="4064000">
                  <a:extLst>
                    <a:ext uri="{9D8B030D-6E8A-4147-A177-3AD203B41FA5}">
                      <a16:colId xmlns:a16="http://schemas.microsoft.com/office/drawing/2014/main" val="1117945950"/>
                    </a:ext>
                  </a:extLst>
                </a:gridCol>
                <a:gridCol w="4064000">
                  <a:extLst>
                    <a:ext uri="{9D8B030D-6E8A-4147-A177-3AD203B41FA5}">
                      <a16:colId xmlns:a16="http://schemas.microsoft.com/office/drawing/2014/main" val="1894910114"/>
                    </a:ext>
                  </a:extLst>
                </a:gridCol>
                <a:gridCol w="4064000">
                  <a:extLst>
                    <a:ext uri="{9D8B030D-6E8A-4147-A177-3AD203B41FA5}">
                      <a16:colId xmlns:a16="http://schemas.microsoft.com/office/drawing/2014/main" val="1106428468"/>
                    </a:ext>
                  </a:extLst>
                </a:gridCol>
              </a:tblGrid>
              <a:tr h="0">
                <a:tc>
                  <a:txBody>
                    <a:bodyPr/>
                    <a:lstStyle/>
                    <a:p>
                      <a:pPr>
                        <a:buNone/>
                      </a:pPr>
                      <a:r>
                        <a:rPr lang="en-US" sz="2800" dirty="0">
                          <a:latin typeface="Calibir"/>
                        </a:rPr>
                        <a:t>Topic</a:t>
                      </a:r>
                    </a:p>
                  </a:txBody>
                  <a:tcPr marL="22201" marR="22201" marT="11100" marB="11100" anchor="ctr"/>
                </a:tc>
                <a:tc>
                  <a:txBody>
                    <a:bodyPr/>
                    <a:lstStyle/>
                    <a:p>
                      <a:pPr>
                        <a:buNone/>
                      </a:pPr>
                      <a:r>
                        <a:rPr lang="en-US" sz="2800">
                          <a:latin typeface="Calibir"/>
                        </a:rPr>
                        <a:t>Web Developer Questions</a:t>
                      </a:r>
                    </a:p>
                  </a:txBody>
                  <a:tcPr marL="22201" marR="22201" marT="11100" marB="11100" anchor="ctr"/>
                </a:tc>
                <a:tc>
                  <a:txBody>
                    <a:bodyPr/>
                    <a:lstStyle/>
                    <a:p>
                      <a:pPr>
                        <a:buNone/>
                      </a:pPr>
                      <a:r>
                        <a:rPr lang="en-US" sz="2800">
                          <a:latin typeface="Calibir"/>
                        </a:rPr>
                        <a:t>Answers</a:t>
                      </a:r>
                    </a:p>
                  </a:txBody>
                  <a:tcPr marL="22201" marR="22201" marT="11100" marB="11100" anchor="ctr"/>
                </a:tc>
                <a:extLst>
                  <a:ext uri="{0D108BD9-81ED-4DB2-BD59-A6C34878D82A}">
                    <a16:rowId xmlns:a16="http://schemas.microsoft.com/office/drawing/2014/main" val="974634533"/>
                  </a:ext>
                </a:extLst>
              </a:tr>
              <a:tr h="3033697">
                <a:tc>
                  <a:txBody>
                    <a:bodyPr/>
                    <a:lstStyle/>
                    <a:p>
                      <a:pPr>
                        <a:buNone/>
                      </a:pPr>
                      <a:r>
                        <a:rPr lang="en-US" sz="2800" dirty="0">
                          <a:latin typeface="Calibir"/>
                        </a:rPr>
                        <a:t>Graphics</a:t>
                      </a:r>
                    </a:p>
                  </a:txBody>
                  <a:tcPr marL="22201" marR="22201" marT="11100" marB="11100" anchor="ctr"/>
                </a:tc>
                <a:tc>
                  <a:txBody>
                    <a:bodyPr/>
                    <a:lstStyle/>
                    <a:p>
                      <a:pPr>
                        <a:buNone/>
                      </a:pPr>
                      <a:r>
                        <a:rPr lang="en-US" sz="2800" dirty="0">
                          <a:latin typeface="Calibir"/>
                        </a:rPr>
                        <a:t>What graphics will you use on the website?</a:t>
                      </a:r>
                    </a:p>
                  </a:txBody>
                  <a:tcPr marL="22201" marR="22201" marT="11100" marB="11100" anchor="ctr"/>
                </a:tc>
                <a:tc>
                  <a:txBody>
                    <a:bodyPr/>
                    <a:lstStyle/>
                    <a:p>
                      <a:pPr>
                        <a:buNone/>
                      </a:pPr>
                      <a:r>
                        <a:rPr lang="en-US" sz="2800" dirty="0">
                          <a:latin typeface="Calibir"/>
                        </a:rPr>
                        <a:t>The website will use professional images, project screenshots, icons, logos, and simple banners related to web design and technology.</a:t>
                      </a:r>
                    </a:p>
                  </a:txBody>
                  <a:tcPr marL="22201" marR="22201" marT="11100" marB="11100" anchor="ctr"/>
                </a:tc>
                <a:extLst>
                  <a:ext uri="{0D108BD9-81ED-4DB2-BD59-A6C34878D82A}">
                    <a16:rowId xmlns:a16="http://schemas.microsoft.com/office/drawing/2014/main" val="2125589770"/>
                  </a:ext>
                </a:extLst>
              </a:tr>
            </a:tbl>
          </a:graphicData>
        </a:graphic>
      </p:graphicFrame>
    </p:spTree>
    <p:extLst>
      <p:ext uri="{BB962C8B-B14F-4D97-AF65-F5344CB8AC3E}">
        <p14:creationId xmlns:p14="http://schemas.microsoft.com/office/powerpoint/2010/main" val="1986594282"/>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BAB8BC-3261-E4A1-BCF6-7E8FB8846C5C}"/>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88D539B2-4BE6-DE3C-BB3E-5AD1F83E03E3}"/>
              </a:ext>
            </a:extLst>
          </p:cNvPr>
          <p:cNvSpPr txBox="1"/>
          <p:nvPr/>
        </p:nvSpPr>
        <p:spPr>
          <a:xfrm>
            <a:off x="0" y="0"/>
            <a:ext cx="8976732"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200" b="1" dirty="0">
                <a:solidFill>
                  <a:prstClr val="black"/>
                </a:solidFill>
                <a:latin typeface="Calibri" panose="020F0502020204030204" pitchFamily="34" charset="0"/>
                <a:cs typeface="Calibri" panose="020F0502020204030204" pitchFamily="34" charset="0"/>
              </a:rPr>
              <a:t>Weeks 2 – 3 Lab</a:t>
            </a:r>
            <a:endParaRPr kumimoji="0" lang="en-US" sz="3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3" name="TextBox 2">
            <a:extLst>
              <a:ext uri="{FF2B5EF4-FFF2-40B4-BE49-F238E27FC236}">
                <a16:creationId xmlns:a16="http://schemas.microsoft.com/office/drawing/2014/main" id="{A30F3036-3787-55E8-5F3A-AE5F770DE871}"/>
              </a:ext>
            </a:extLst>
          </p:cNvPr>
          <p:cNvSpPr txBox="1"/>
          <p:nvPr/>
        </p:nvSpPr>
        <p:spPr>
          <a:xfrm>
            <a:off x="0" y="746093"/>
            <a:ext cx="12192000" cy="523220"/>
          </a:xfrm>
          <a:prstGeom prst="rect">
            <a:avLst/>
          </a:prstGeom>
          <a:noFill/>
        </p:spPr>
        <p:txBody>
          <a:bodyPr wrap="square">
            <a:spAutoFit/>
          </a:bodyPr>
          <a:lstStyle/>
          <a:p>
            <a:r>
              <a:rPr lang="en-US" sz="2800" dirty="0">
                <a:latin typeface="Calibir"/>
              </a:rPr>
              <a:t>Now complete portfolio.docx – Personal Portfolio Website Planning Document</a:t>
            </a:r>
          </a:p>
        </p:txBody>
      </p:sp>
      <p:graphicFrame>
        <p:nvGraphicFramePr>
          <p:cNvPr id="5" name="Table 4">
            <a:extLst>
              <a:ext uri="{FF2B5EF4-FFF2-40B4-BE49-F238E27FC236}">
                <a16:creationId xmlns:a16="http://schemas.microsoft.com/office/drawing/2014/main" id="{1CD89590-22FE-F4BD-80A8-8490AB794ABB}"/>
              </a:ext>
            </a:extLst>
          </p:cNvPr>
          <p:cNvGraphicFramePr>
            <a:graphicFrameLocks noGrp="1"/>
          </p:cNvGraphicFramePr>
          <p:nvPr>
            <p:extLst>
              <p:ext uri="{D42A27DB-BD31-4B8C-83A1-F6EECF244321}">
                <p14:modId xmlns:p14="http://schemas.microsoft.com/office/powerpoint/2010/main" val="3010861514"/>
              </p:ext>
            </p:extLst>
          </p:nvPr>
        </p:nvGraphicFramePr>
        <p:xfrm>
          <a:off x="1" y="1269313"/>
          <a:ext cx="12192000" cy="3482617"/>
        </p:xfrm>
        <a:graphic>
          <a:graphicData uri="http://schemas.openxmlformats.org/drawingml/2006/table">
            <a:tbl>
              <a:tblPr>
                <a:tableStyleId>{BDBED569-4797-4DF1-A0F4-6AAB3CD982D8}</a:tableStyleId>
              </a:tblPr>
              <a:tblGrid>
                <a:gridCol w="4064000">
                  <a:extLst>
                    <a:ext uri="{9D8B030D-6E8A-4147-A177-3AD203B41FA5}">
                      <a16:colId xmlns:a16="http://schemas.microsoft.com/office/drawing/2014/main" val="1117945950"/>
                    </a:ext>
                  </a:extLst>
                </a:gridCol>
                <a:gridCol w="4064000">
                  <a:extLst>
                    <a:ext uri="{9D8B030D-6E8A-4147-A177-3AD203B41FA5}">
                      <a16:colId xmlns:a16="http://schemas.microsoft.com/office/drawing/2014/main" val="1894910114"/>
                    </a:ext>
                  </a:extLst>
                </a:gridCol>
                <a:gridCol w="4064000">
                  <a:extLst>
                    <a:ext uri="{9D8B030D-6E8A-4147-A177-3AD203B41FA5}">
                      <a16:colId xmlns:a16="http://schemas.microsoft.com/office/drawing/2014/main" val="1106428468"/>
                    </a:ext>
                  </a:extLst>
                </a:gridCol>
              </a:tblGrid>
              <a:tr h="0">
                <a:tc>
                  <a:txBody>
                    <a:bodyPr/>
                    <a:lstStyle/>
                    <a:p>
                      <a:pPr>
                        <a:buNone/>
                      </a:pPr>
                      <a:r>
                        <a:rPr lang="en-US" sz="2800" dirty="0">
                          <a:latin typeface="Calibir"/>
                        </a:rPr>
                        <a:t>Topic</a:t>
                      </a:r>
                    </a:p>
                  </a:txBody>
                  <a:tcPr marL="22201" marR="22201" marT="11100" marB="11100" anchor="ctr"/>
                </a:tc>
                <a:tc>
                  <a:txBody>
                    <a:bodyPr/>
                    <a:lstStyle/>
                    <a:p>
                      <a:pPr>
                        <a:buNone/>
                      </a:pPr>
                      <a:r>
                        <a:rPr lang="en-US" sz="2800">
                          <a:latin typeface="Calibir"/>
                        </a:rPr>
                        <a:t>Web Developer Questions</a:t>
                      </a:r>
                    </a:p>
                  </a:txBody>
                  <a:tcPr marL="22201" marR="22201" marT="11100" marB="11100" anchor="ctr"/>
                </a:tc>
                <a:tc>
                  <a:txBody>
                    <a:bodyPr/>
                    <a:lstStyle/>
                    <a:p>
                      <a:pPr>
                        <a:buNone/>
                      </a:pPr>
                      <a:r>
                        <a:rPr lang="en-US" sz="2800">
                          <a:latin typeface="Calibir"/>
                        </a:rPr>
                        <a:t>Answers</a:t>
                      </a:r>
                    </a:p>
                  </a:txBody>
                  <a:tcPr marL="22201" marR="22201" marT="11100" marB="11100" anchor="ctr"/>
                </a:tc>
                <a:extLst>
                  <a:ext uri="{0D108BD9-81ED-4DB2-BD59-A6C34878D82A}">
                    <a16:rowId xmlns:a16="http://schemas.microsoft.com/office/drawing/2014/main" val="974634533"/>
                  </a:ext>
                </a:extLst>
              </a:tr>
              <a:tr h="3033697">
                <a:tc>
                  <a:txBody>
                    <a:bodyPr/>
                    <a:lstStyle/>
                    <a:p>
                      <a:pPr>
                        <a:buNone/>
                      </a:pPr>
                      <a:r>
                        <a:rPr lang="en-US" sz="2800" dirty="0">
                          <a:latin typeface="Calibir"/>
                        </a:rPr>
                        <a:t>Color</a:t>
                      </a:r>
                    </a:p>
                  </a:txBody>
                  <a:tcPr marL="22201" marR="22201" marT="11100" marB="11100" anchor="ctr"/>
                </a:tc>
                <a:tc>
                  <a:txBody>
                    <a:bodyPr/>
                    <a:lstStyle/>
                    <a:p>
                      <a:pPr>
                        <a:buNone/>
                      </a:pPr>
                      <a:r>
                        <a:rPr lang="en-US" sz="2800" dirty="0">
                          <a:latin typeface="Calibir"/>
                        </a:rPr>
                        <a:t>What colors will you use within the site to enhance the purpose and brand?</a:t>
                      </a:r>
                    </a:p>
                  </a:txBody>
                  <a:tcPr marL="22201" marR="22201" marT="11100" marB="11100" anchor="ctr"/>
                </a:tc>
                <a:tc>
                  <a:txBody>
                    <a:bodyPr/>
                    <a:lstStyle/>
                    <a:p>
                      <a:pPr>
                        <a:buNone/>
                      </a:pPr>
                      <a:r>
                        <a:rPr lang="en-US" sz="2800" dirty="0">
                          <a:latin typeface="Calibir"/>
                        </a:rPr>
                        <a:t>Blue, white, dark gray, and light gray colors will be used to create a modern and professional appearance.</a:t>
                      </a:r>
                    </a:p>
                  </a:txBody>
                  <a:tcPr marL="22201" marR="22201" marT="11100" marB="11100" anchor="ctr"/>
                </a:tc>
                <a:extLst>
                  <a:ext uri="{0D108BD9-81ED-4DB2-BD59-A6C34878D82A}">
                    <a16:rowId xmlns:a16="http://schemas.microsoft.com/office/drawing/2014/main" val="2125589770"/>
                  </a:ext>
                </a:extLst>
              </a:tr>
            </a:tbl>
          </a:graphicData>
        </a:graphic>
      </p:graphicFrame>
    </p:spTree>
    <p:extLst>
      <p:ext uri="{BB962C8B-B14F-4D97-AF65-F5344CB8AC3E}">
        <p14:creationId xmlns:p14="http://schemas.microsoft.com/office/powerpoint/2010/main" val="1827406153"/>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3B95FD-6217-BE4F-99EB-3DD3C802F5AA}"/>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877D937C-E88D-BD5F-9003-279B556ABEED}"/>
              </a:ext>
            </a:extLst>
          </p:cNvPr>
          <p:cNvSpPr txBox="1"/>
          <p:nvPr/>
        </p:nvSpPr>
        <p:spPr>
          <a:xfrm>
            <a:off x="0" y="0"/>
            <a:ext cx="8976732"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200" b="1" dirty="0">
                <a:solidFill>
                  <a:prstClr val="black"/>
                </a:solidFill>
                <a:latin typeface="Calibri" panose="020F0502020204030204" pitchFamily="34" charset="0"/>
                <a:cs typeface="Calibri" panose="020F0502020204030204" pitchFamily="34" charset="0"/>
              </a:rPr>
              <a:t>Weeks 2 – 3 Lab</a:t>
            </a:r>
            <a:endParaRPr kumimoji="0" lang="en-US" sz="3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3" name="TextBox 2">
            <a:extLst>
              <a:ext uri="{FF2B5EF4-FFF2-40B4-BE49-F238E27FC236}">
                <a16:creationId xmlns:a16="http://schemas.microsoft.com/office/drawing/2014/main" id="{397DAD60-FD35-EC3B-4093-3223D53D85D1}"/>
              </a:ext>
            </a:extLst>
          </p:cNvPr>
          <p:cNvSpPr txBox="1"/>
          <p:nvPr/>
        </p:nvSpPr>
        <p:spPr>
          <a:xfrm>
            <a:off x="0" y="746093"/>
            <a:ext cx="12192000" cy="523220"/>
          </a:xfrm>
          <a:prstGeom prst="rect">
            <a:avLst/>
          </a:prstGeom>
          <a:noFill/>
        </p:spPr>
        <p:txBody>
          <a:bodyPr wrap="square">
            <a:spAutoFit/>
          </a:bodyPr>
          <a:lstStyle/>
          <a:p>
            <a:r>
              <a:rPr lang="en-US" sz="2800" dirty="0">
                <a:latin typeface="Calibir"/>
              </a:rPr>
              <a:t>Now complete portfolio.docx – Personal Portfolio Website Planning Document</a:t>
            </a:r>
          </a:p>
        </p:txBody>
      </p:sp>
      <p:graphicFrame>
        <p:nvGraphicFramePr>
          <p:cNvPr id="5" name="Table 4">
            <a:extLst>
              <a:ext uri="{FF2B5EF4-FFF2-40B4-BE49-F238E27FC236}">
                <a16:creationId xmlns:a16="http://schemas.microsoft.com/office/drawing/2014/main" id="{6D438604-2CF9-1461-547D-C59D5CC99C05}"/>
              </a:ext>
            </a:extLst>
          </p:cNvPr>
          <p:cNvGraphicFramePr>
            <a:graphicFrameLocks noGrp="1"/>
          </p:cNvGraphicFramePr>
          <p:nvPr>
            <p:extLst>
              <p:ext uri="{D42A27DB-BD31-4B8C-83A1-F6EECF244321}">
                <p14:modId xmlns:p14="http://schemas.microsoft.com/office/powerpoint/2010/main" val="2750385564"/>
              </p:ext>
            </p:extLst>
          </p:nvPr>
        </p:nvGraphicFramePr>
        <p:xfrm>
          <a:off x="1" y="1269313"/>
          <a:ext cx="12192000" cy="3482617"/>
        </p:xfrm>
        <a:graphic>
          <a:graphicData uri="http://schemas.openxmlformats.org/drawingml/2006/table">
            <a:tbl>
              <a:tblPr>
                <a:tableStyleId>{BDBED569-4797-4DF1-A0F4-6AAB3CD982D8}</a:tableStyleId>
              </a:tblPr>
              <a:tblGrid>
                <a:gridCol w="4064000">
                  <a:extLst>
                    <a:ext uri="{9D8B030D-6E8A-4147-A177-3AD203B41FA5}">
                      <a16:colId xmlns:a16="http://schemas.microsoft.com/office/drawing/2014/main" val="1117945950"/>
                    </a:ext>
                  </a:extLst>
                </a:gridCol>
                <a:gridCol w="4064000">
                  <a:extLst>
                    <a:ext uri="{9D8B030D-6E8A-4147-A177-3AD203B41FA5}">
                      <a16:colId xmlns:a16="http://schemas.microsoft.com/office/drawing/2014/main" val="1894910114"/>
                    </a:ext>
                  </a:extLst>
                </a:gridCol>
                <a:gridCol w="4064000">
                  <a:extLst>
                    <a:ext uri="{9D8B030D-6E8A-4147-A177-3AD203B41FA5}">
                      <a16:colId xmlns:a16="http://schemas.microsoft.com/office/drawing/2014/main" val="1106428468"/>
                    </a:ext>
                  </a:extLst>
                </a:gridCol>
              </a:tblGrid>
              <a:tr h="0">
                <a:tc>
                  <a:txBody>
                    <a:bodyPr/>
                    <a:lstStyle/>
                    <a:p>
                      <a:pPr>
                        <a:buNone/>
                      </a:pPr>
                      <a:r>
                        <a:rPr lang="en-US" sz="2800" dirty="0">
                          <a:latin typeface="Calibir"/>
                        </a:rPr>
                        <a:t>Topic</a:t>
                      </a:r>
                    </a:p>
                  </a:txBody>
                  <a:tcPr marL="22201" marR="22201" marT="11100" marB="11100" anchor="ctr"/>
                </a:tc>
                <a:tc>
                  <a:txBody>
                    <a:bodyPr/>
                    <a:lstStyle/>
                    <a:p>
                      <a:pPr>
                        <a:buNone/>
                      </a:pPr>
                      <a:r>
                        <a:rPr lang="en-US" sz="2800">
                          <a:latin typeface="Calibir"/>
                        </a:rPr>
                        <a:t>Web Developer Questions</a:t>
                      </a:r>
                    </a:p>
                  </a:txBody>
                  <a:tcPr marL="22201" marR="22201" marT="11100" marB="11100" anchor="ctr"/>
                </a:tc>
                <a:tc>
                  <a:txBody>
                    <a:bodyPr/>
                    <a:lstStyle/>
                    <a:p>
                      <a:pPr>
                        <a:buNone/>
                      </a:pPr>
                      <a:r>
                        <a:rPr lang="en-US" sz="2800">
                          <a:latin typeface="Calibir"/>
                        </a:rPr>
                        <a:t>Answers</a:t>
                      </a:r>
                    </a:p>
                  </a:txBody>
                  <a:tcPr marL="22201" marR="22201" marT="11100" marB="11100" anchor="ctr"/>
                </a:tc>
                <a:extLst>
                  <a:ext uri="{0D108BD9-81ED-4DB2-BD59-A6C34878D82A}">
                    <a16:rowId xmlns:a16="http://schemas.microsoft.com/office/drawing/2014/main" val="974634533"/>
                  </a:ext>
                </a:extLst>
              </a:tr>
              <a:tr h="3033697">
                <a:tc>
                  <a:txBody>
                    <a:bodyPr/>
                    <a:lstStyle/>
                    <a:p>
                      <a:pPr>
                        <a:buNone/>
                      </a:pPr>
                      <a:r>
                        <a:rPr lang="en-US" sz="2800" dirty="0">
                          <a:latin typeface="Calibir"/>
                        </a:rPr>
                        <a:t>Typography</a:t>
                      </a:r>
                    </a:p>
                  </a:txBody>
                  <a:tcPr marL="22201" marR="22201" marT="11100" marB="11100" anchor="ctr"/>
                </a:tc>
                <a:tc>
                  <a:txBody>
                    <a:bodyPr/>
                    <a:lstStyle/>
                    <a:p>
                      <a:pPr>
                        <a:buNone/>
                      </a:pPr>
                      <a:r>
                        <a:rPr lang="en-US" sz="2800" dirty="0">
                          <a:latin typeface="Calibir"/>
                        </a:rPr>
                        <a:t>What font styles will you use within the website?</a:t>
                      </a:r>
                    </a:p>
                  </a:txBody>
                  <a:tcPr marL="22201" marR="22201" marT="11100" marB="11100" anchor="ctr"/>
                </a:tc>
                <a:tc>
                  <a:txBody>
                    <a:bodyPr/>
                    <a:lstStyle/>
                    <a:p>
                      <a:pPr>
                        <a:buNone/>
                      </a:pPr>
                      <a:r>
                        <a:rPr lang="en-US" sz="2800" dirty="0">
                          <a:latin typeface="Calibir"/>
                        </a:rPr>
                        <a:t>Modern and easy-to-read fonts such as Arial, Verdana, and Sans-serif will be used throughout the website.</a:t>
                      </a:r>
                    </a:p>
                  </a:txBody>
                  <a:tcPr marL="22201" marR="22201" marT="11100" marB="11100" anchor="ctr"/>
                </a:tc>
                <a:extLst>
                  <a:ext uri="{0D108BD9-81ED-4DB2-BD59-A6C34878D82A}">
                    <a16:rowId xmlns:a16="http://schemas.microsoft.com/office/drawing/2014/main" val="2125589770"/>
                  </a:ext>
                </a:extLst>
              </a:tr>
            </a:tbl>
          </a:graphicData>
        </a:graphic>
      </p:graphicFrame>
    </p:spTree>
    <p:extLst>
      <p:ext uri="{BB962C8B-B14F-4D97-AF65-F5344CB8AC3E}">
        <p14:creationId xmlns:p14="http://schemas.microsoft.com/office/powerpoint/2010/main" val="2241958410"/>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3387F2-57BA-056F-AB5A-8CFB189BF18C}"/>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9EAE53CA-B503-5F0E-4B93-245C0CB30DBD}"/>
              </a:ext>
            </a:extLst>
          </p:cNvPr>
          <p:cNvSpPr txBox="1"/>
          <p:nvPr/>
        </p:nvSpPr>
        <p:spPr>
          <a:xfrm>
            <a:off x="0" y="0"/>
            <a:ext cx="8976732"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200" b="1" dirty="0">
                <a:solidFill>
                  <a:prstClr val="black"/>
                </a:solidFill>
                <a:latin typeface="Calibri" panose="020F0502020204030204" pitchFamily="34" charset="0"/>
                <a:cs typeface="Calibri" panose="020F0502020204030204" pitchFamily="34" charset="0"/>
              </a:rPr>
              <a:t>Weeks 2 – 3 Lab</a:t>
            </a:r>
            <a:endParaRPr kumimoji="0" lang="en-US" sz="3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3" name="TextBox 2">
            <a:extLst>
              <a:ext uri="{FF2B5EF4-FFF2-40B4-BE49-F238E27FC236}">
                <a16:creationId xmlns:a16="http://schemas.microsoft.com/office/drawing/2014/main" id="{E15DBD6F-7E66-5E9B-697F-008D449FBA55}"/>
              </a:ext>
            </a:extLst>
          </p:cNvPr>
          <p:cNvSpPr txBox="1"/>
          <p:nvPr/>
        </p:nvSpPr>
        <p:spPr>
          <a:xfrm>
            <a:off x="0" y="746093"/>
            <a:ext cx="12192000" cy="523220"/>
          </a:xfrm>
          <a:prstGeom prst="rect">
            <a:avLst/>
          </a:prstGeom>
          <a:noFill/>
        </p:spPr>
        <p:txBody>
          <a:bodyPr wrap="square">
            <a:spAutoFit/>
          </a:bodyPr>
          <a:lstStyle/>
          <a:p>
            <a:r>
              <a:rPr lang="en-US" sz="2800" dirty="0">
                <a:latin typeface="Calibir"/>
              </a:rPr>
              <a:t>Now complete portfolio.docx – Personal Portfolio Website Planning Document</a:t>
            </a:r>
          </a:p>
        </p:txBody>
      </p:sp>
      <p:graphicFrame>
        <p:nvGraphicFramePr>
          <p:cNvPr id="5" name="Table 4">
            <a:extLst>
              <a:ext uri="{FF2B5EF4-FFF2-40B4-BE49-F238E27FC236}">
                <a16:creationId xmlns:a16="http://schemas.microsoft.com/office/drawing/2014/main" id="{6B057AAD-10B6-AC95-D1E1-DBCD6DB471C6}"/>
              </a:ext>
            </a:extLst>
          </p:cNvPr>
          <p:cNvGraphicFramePr>
            <a:graphicFrameLocks noGrp="1"/>
          </p:cNvGraphicFramePr>
          <p:nvPr>
            <p:extLst>
              <p:ext uri="{D42A27DB-BD31-4B8C-83A1-F6EECF244321}">
                <p14:modId xmlns:p14="http://schemas.microsoft.com/office/powerpoint/2010/main" val="3198363078"/>
              </p:ext>
            </p:extLst>
          </p:nvPr>
        </p:nvGraphicFramePr>
        <p:xfrm>
          <a:off x="1" y="1269313"/>
          <a:ext cx="12192000" cy="3482617"/>
        </p:xfrm>
        <a:graphic>
          <a:graphicData uri="http://schemas.openxmlformats.org/drawingml/2006/table">
            <a:tbl>
              <a:tblPr>
                <a:tableStyleId>{BDBED569-4797-4DF1-A0F4-6AAB3CD982D8}</a:tableStyleId>
              </a:tblPr>
              <a:tblGrid>
                <a:gridCol w="4064000">
                  <a:extLst>
                    <a:ext uri="{9D8B030D-6E8A-4147-A177-3AD203B41FA5}">
                      <a16:colId xmlns:a16="http://schemas.microsoft.com/office/drawing/2014/main" val="1117945950"/>
                    </a:ext>
                  </a:extLst>
                </a:gridCol>
                <a:gridCol w="4064000">
                  <a:extLst>
                    <a:ext uri="{9D8B030D-6E8A-4147-A177-3AD203B41FA5}">
                      <a16:colId xmlns:a16="http://schemas.microsoft.com/office/drawing/2014/main" val="1894910114"/>
                    </a:ext>
                  </a:extLst>
                </a:gridCol>
                <a:gridCol w="4064000">
                  <a:extLst>
                    <a:ext uri="{9D8B030D-6E8A-4147-A177-3AD203B41FA5}">
                      <a16:colId xmlns:a16="http://schemas.microsoft.com/office/drawing/2014/main" val="1106428468"/>
                    </a:ext>
                  </a:extLst>
                </a:gridCol>
              </a:tblGrid>
              <a:tr h="0">
                <a:tc>
                  <a:txBody>
                    <a:bodyPr/>
                    <a:lstStyle/>
                    <a:p>
                      <a:pPr>
                        <a:buNone/>
                      </a:pPr>
                      <a:r>
                        <a:rPr lang="en-US" sz="2800" dirty="0">
                          <a:latin typeface="Calibir"/>
                        </a:rPr>
                        <a:t>Topic</a:t>
                      </a:r>
                    </a:p>
                  </a:txBody>
                  <a:tcPr marL="22201" marR="22201" marT="11100" marB="11100" anchor="ctr"/>
                </a:tc>
                <a:tc>
                  <a:txBody>
                    <a:bodyPr/>
                    <a:lstStyle/>
                    <a:p>
                      <a:pPr>
                        <a:buNone/>
                      </a:pPr>
                      <a:r>
                        <a:rPr lang="en-US" sz="2800">
                          <a:latin typeface="Calibir"/>
                        </a:rPr>
                        <a:t>Web Developer Questions</a:t>
                      </a:r>
                    </a:p>
                  </a:txBody>
                  <a:tcPr marL="22201" marR="22201" marT="11100" marB="11100" anchor="ctr"/>
                </a:tc>
                <a:tc>
                  <a:txBody>
                    <a:bodyPr/>
                    <a:lstStyle/>
                    <a:p>
                      <a:pPr>
                        <a:buNone/>
                      </a:pPr>
                      <a:r>
                        <a:rPr lang="en-US" sz="2800">
                          <a:latin typeface="Calibir"/>
                        </a:rPr>
                        <a:t>Answers</a:t>
                      </a:r>
                    </a:p>
                  </a:txBody>
                  <a:tcPr marL="22201" marR="22201" marT="11100" marB="11100" anchor="ctr"/>
                </a:tc>
                <a:extLst>
                  <a:ext uri="{0D108BD9-81ED-4DB2-BD59-A6C34878D82A}">
                    <a16:rowId xmlns:a16="http://schemas.microsoft.com/office/drawing/2014/main" val="974634533"/>
                  </a:ext>
                </a:extLst>
              </a:tr>
              <a:tr h="3033697">
                <a:tc>
                  <a:txBody>
                    <a:bodyPr/>
                    <a:lstStyle/>
                    <a:p>
                      <a:pPr>
                        <a:buNone/>
                      </a:pPr>
                      <a:r>
                        <a:rPr lang="en-US" sz="2800" dirty="0">
                          <a:latin typeface="Calibir"/>
                        </a:rPr>
                        <a:t>Accessibility</a:t>
                      </a:r>
                    </a:p>
                  </a:txBody>
                  <a:tcPr marL="22201" marR="22201" marT="11100" marB="11100" anchor="ctr"/>
                </a:tc>
                <a:tc>
                  <a:txBody>
                    <a:bodyPr/>
                    <a:lstStyle/>
                    <a:p>
                      <a:pPr>
                        <a:buNone/>
                      </a:pPr>
                      <a:r>
                        <a:rPr lang="en-US" sz="2800" dirty="0">
                          <a:latin typeface="Calibir"/>
                        </a:rPr>
                        <a:t>How will the website accommodate people with disabilities?</a:t>
                      </a:r>
                    </a:p>
                  </a:txBody>
                  <a:tcPr marL="22201" marR="22201" marT="11100" marB="11100" anchor="ctr"/>
                </a:tc>
                <a:tc>
                  <a:txBody>
                    <a:bodyPr/>
                    <a:lstStyle/>
                    <a:p>
                      <a:pPr>
                        <a:buNone/>
                      </a:pPr>
                      <a:r>
                        <a:rPr lang="en-US" sz="2800" dirty="0">
                          <a:latin typeface="Calibir"/>
                        </a:rPr>
                        <a:t>The website will include readable fonts, high color contrast, alternative text for images, keyboard-friendly navigation, and responsive layouts for accessibility.</a:t>
                      </a:r>
                    </a:p>
                  </a:txBody>
                  <a:tcPr marL="22201" marR="22201" marT="11100" marB="11100" anchor="ctr"/>
                </a:tc>
                <a:extLst>
                  <a:ext uri="{0D108BD9-81ED-4DB2-BD59-A6C34878D82A}">
                    <a16:rowId xmlns:a16="http://schemas.microsoft.com/office/drawing/2014/main" val="2125589770"/>
                  </a:ext>
                </a:extLst>
              </a:tr>
            </a:tbl>
          </a:graphicData>
        </a:graphic>
      </p:graphicFrame>
    </p:spTree>
    <p:extLst>
      <p:ext uri="{BB962C8B-B14F-4D97-AF65-F5344CB8AC3E}">
        <p14:creationId xmlns:p14="http://schemas.microsoft.com/office/powerpoint/2010/main" val="235725206"/>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8D2380-E25A-6E9C-BEE0-7AEC63A42F86}"/>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11438E18-B7FB-F1A2-A855-122D61C16999}"/>
              </a:ext>
            </a:extLst>
          </p:cNvPr>
          <p:cNvSpPr txBox="1"/>
          <p:nvPr/>
        </p:nvSpPr>
        <p:spPr>
          <a:xfrm>
            <a:off x="0" y="0"/>
            <a:ext cx="8976732"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200" b="1" dirty="0">
                <a:solidFill>
                  <a:prstClr val="black"/>
                </a:solidFill>
                <a:latin typeface="Calibri" panose="020F0502020204030204" pitchFamily="34" charset="0"/>
                <a:cs typeface="Calibri" panose="020F0502020204030204" pitchFamily="34" charset="0"/>
              </a:rPr>
              <a:t>Weeks 2 – 3 Lab</a:t>
            </a:r>
            <a:endParaRPr kumimoji="0" lang="en-US" sz="3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3" name="TextBox 2">
            <a:extLst>
              <a:ext uri="{FF2B5EF4-FFF2-40B4-BE49-F238E27FC236}">
                <a16:creationId xmlns:a16="http://schemas.microsoft.com/office/drawing/2014/main" id="{88C4AC7F-AC71-26F5-428E-88399F5BC049}"/>
              </a:ext>
            </a:extLst>
          </p:cNvPr>
          <p:cNvSpPr txBox="1"/>
          <p:nvPr/>
        </p:nvSpPr>
        <p:spPr>
          <a:xfrm>
            <a:off x="0" y="746093"/>
            <a:ext cx="12192000" cy="3257174"/>
          </a:xfrm>
          <a:prstGeom prst="rect">
            <a:avLst/>
          </a:prstGeom>
          <a:noFill/>
        </p:spPr>
        <p:txBody>
          <a:bodyPr wrap="square">
            <a:spAutoFit/>
          </a:bodyPr>
          <a:lstStyle/>
          <a:p>
            <a:pPr>
              <a:lnSpc>
                <a:spcPct val="150000"/>
              </a:lnSpc>
            </a:pPr>
            <a:r>
              <a:rPr lang="en-US" sz="2800" b="1" dirty="0">
                <a:latin typeface="Calibir"/>
              </a:rPr>
              <a:t>Part 2 – What do you want this website to accomplish?</a:t>
            </a:r>
          </a:p>
          <a:p>
            <a:pPr>
              <a:lnSpc>
                <a:spcPct val="150000"/>
              </a:lnSpc>
            </a:pPr>
            <a:r>
              <a:rPr lang="en-US" sz="2800" dirty="0">
                <a:latin typeface="Calibir"/>
              </a:rPr>
              <a:t>This website should help showcase professional web development skills and create opportunities for employment, freelance work, networking, and career growth. It should present projects and technical abilities in a professional and easy-to-use format.</a:t>
            </a:r>
          </a:p>
        </p:txBody>
      </p:sp>
    </p:spTree>
    <p:extLst>
      <p:ext uri="{BB962C8B-B14F-4D97-AF65-F5344CB8AC3E}">
        <p14:creationId xmlns:p14="http://schemas.microsoft.com/office/powerpoint/2010/main" val="676069308"/>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4CBBCA-9BD1-1151-6FB1-AB5550DCD954}"/>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C1B05403-8767-8411-91C4-BD1C24A0F2E8}"/>
              </a:ext>
            </a:extLst>
          </p:cNvPr>
          <p:cNvSpPr txBox="1"/>
          <p:nvPr/>
        </p:nvSpPr>
        <p:spPr>
          <a:xfrm>
            <a:off x="0" y="0"/>
            <a:ext cx="8976732"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200" b="1" dirty="0">
                <a:solidFill>
                  <a:prstClr val="black"/>
                </a:solidFill>
                <a:latin typeface="Calibri" panose="020F0502020204030204" pitchFamily="34" charset="0"/>
                <a:cs typeface="Calibri" panose="020F0502020204030204" pitchFamily="34" charset="0"/>
              </a:rPr>
              <a:t>Weeks 2 – 3 Lab</a:t>
            </a:r>
            <a:endParaRPr kumimoji="0" lang="en-US" sz="3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3" name="TextBox 2">
            <a:extLst>
              <a:ext uri="{FF2B5EF4-FFF2-40B4-BE49-F238E27FC236}">
                <a16:creationId xmlns:a16="http://schemas.microsoft.com/office/drawing/2014/main" id="{7E56440B-6F5F-E58C-3BE1-6934A30250A8}"/>
              </a:ext>
            </a:extLst>
          </p:cNvPr>
          <p:cNvSpPr txBox="1"/>
          <p:nvPr/>
        </p:nvSpPr>
        <p:spPr>
          <a:xfrm>
            <a:off x="0" y="746093"/>
            <a:ext cx="12192000" cy="1318181"/>
          </a:xfrm>
          <a:prstGeom prst="rect">
            <a:avLst/>
          </a:prstGeom>
          <a:noFill/>
        </p:spPr>
        <p:txBody>
          <a:bodyPr wrap="square">
            <a:spAutoFit/>
          </a:bodyPr>
          <a:lstStyle/>
          <a:p>
            <a:pPr>
              <a:lnSpc>
                <a:spcPct val="150000"/>
              </a:lnSpc>
            </a:pPr>
            <a:r>
              <a:rPr lang="en-US" sz="2800" b="1" dirty="0">
                <a:latin typeface="Calibir"/>
              </a:rPr>
              <a:t>2. webpublishing.docx – Web Publishing Information</a:t>
            </a:r>
          </a:p>
          <a:p>
            <a:pPr>
              <a:lnSpc>
                <a:spcPct val="150000"/>
              </a:lnSpc>
            </a:pPr>
            <a:r>
              <a:rPr lang="en-US" sz="2800" b="1" dirty="0">
                <a:latin typeface="Calibir"/>
              </a:rPr>
              <a:t>Information Needed to Publish Files to a Free Web Server</a:t>
            </a:r>
          </a:p>
        </p:txBody>
      </p:sp>
      <p:graphicFrame>
        <p:nvGraphicFramePr>
          <p:cNvPr id="2" name="Table 1">
            <a:extLst>
              <a:ext uri="{FF2B5EF4-FFF2-40B4-BE49-F238E27FC236}">
                <a16:creationId xmlns:a16="http://schemas.microsoft.com/office/drawing/2014/main" id="{0C3B8ED7-5A13-3B6E-AAC7-4E98A17591A6}"/>
              </a:ext>
            </a:extLst>
          </p:cNvPr>
          <p:cNvGraphicFramePr>
            <a:graphicFrameLocks noGrp="1"/>
          </p:cNvGraphicFramePr>
          <p:nvPr>
            <p:extLst>
              <p:ext uri="{D42A27DB-BD31-4B8C-83A1-F6EECF244321}">
                <p14:modId xmlns:p14="http://schemas.microsoft.com/office/powerpoint/2010/main" val="3289245566"/>
              </p:ext>
            </p:extLst>
          </p:nvPr>
        </p:nvGraphicFramePr>
        <p:xfrm>
          <a:off x="104448" y="2064274"/>
          <a:ext cx="11983104" cy="4574352"/>
        </p:xfrm>
        <a:graphic>
          <a:graphicData uri="http://schemas.openxmlformats.org/drawingml/2006/table">
            <a:tbl>
              <a:tblPr>
                <a:tableStyleId>{BDBED569-4797-4DF1-A0F4-6AAB3CD982D8}</a:tableStyleId>
              </a:tblPr>
              <a:tblGrid>
                <a:gridCol w="5991552">
                  <a:extLst>
                    <a:ext uri="{9D8B030D-6E8A-4147-A177-3AD203B41FA5}">
                      <a16:colId xmlns:a16="http://schemas.microsoft.com/office/drawing/2014/main" val="4177012732"/>
                    </a:ext>
                  </a:extLst>
                </a:gridCol>
                <a:gridCol w="5991552">
                  <a:extLst>
                    <a:ext uri="{9D8B030D-6E8A-4147-A177-3AD203B41FA5}">
                      <a16:colId xmlns:a16="http://schemas.microsoft.com/office/drawing/2014/main" val="3360696124"/>
                    </a:ext>
                  </a:extLst>
                </a:gridCol>
              </a:tblGrid>
              <a:tr h="396528">
                <a:tc>
                  <a:txBody>
                    <a:bodyPr/>
                    <a:lstStyle/>
                    <a:p>
                      <a:pPr>
                        <a:buNone/>
                      </a:pPr>
                      <a:r>
                        <a:rPr lang="en-US" sz="2800">
                          <a:latin typeface="Calibir"/>
                        </a:rPr>
                        <a:t>Item</a:t>
                      </a:r>
                    </a:p>
                  </a:txBody>
                  <a:tcPr marL="51192" marR="51192" marT="25596" marB="25596" anchor="ctr"/>
                </a:tc>
                <a:tc>
                  <a:txBody>
                    <a:bodyPr/>
                    <a:lstStyle/>
                    <a:p>
                      <a:pPr>
                        <a:buNone/>
                      </a:pPr>
                      <a:r>
                        <a:rPr lang="en-US" sz="2800">
                          <a:latin typeface="Calibir"/>
                        </a:rPr>
                        <a:t>Information</a:t>
                      </a:r>
                    </a:p>
                  </a:txBody>
                  <a:tcPr marL="51192" marR="51192" marT="25596" marB="25596" anchor="ctr"/>
                </a:tc>
                <a:extLst>
                  <a:ext uri="{0D108BD9-81ED-4DB2-BD59-A6C34878D82A}">
                    <a16:rowId xmlns:a16="http://schemas.microsoft.com/office/drawing/2014/main" val="4237206260"/>
                  </a:ext>
                </a:extLst>
              </a:tr>
              <a:tr h="396528">
                <a:tc>
                  <a:txBody>
                    <a:bodyPr/>
                    <a:lstStyle/>
                    <a:p>
                      <a:pPr>
                        <a:buNone/>
                      </a:pPr>
                      <a:r>
                        <a:rPr lang="en-US" sz="2800">
                          <a:latin typeface="Calibir"/>
                        </a:rPr>
                        <a:t>Provider name</a:t>
                      </a:r>
                    </a:p>
                  </a:txBody>
                  <a:tcPr marL="51192" marR="51192" marT="25596" marB="25596" anchor="ctr"/>
                </a:tc>
                <a:tc>
                  <a:txBody>
                    <a:bodyPr/>
                    <a:lstStyle/>
                    <a:p>
                      <a:pPr>
                        <a:buNone/>
                      </a:pPr>
                      <a:r>
                        <a:rPr lang="en-US" sz="2800">
                          <a:latin typeface="Calibir"/>
                        </a:rPr>
                        <a:t>InfinityFree</a:t>
                      </a:r>
                    </a:p>
                  </a:txBody>
                  <a:tcPr marL="51192" marR="51192" marT="25596" marB="25596" anchor="ctr"/>
                </a:tc>
                <a:extLst>
                  <a:ext uri="{0D108BD9-81ED-4DB2-BD59-A6C34878D82A}">
                    <a16:rowId xmlns:a16="http://schemas.microsoft.com/office/drawing/2014/main" val="2563590609"/>
                  </a:ext>
                </a:extLst>
              </a:tr>
              <a:tr h="396528">
                <a:tc>
                  <a:txBody>
                    <a:bodyPr/>
                    <a:lstStyle/>
                    <a:p>
                      <a:pPr>
                        <a:buNone/>
                      </a:pPr>
                      <a:r>
                        <a:rPr lang="en-US" sz="2800">
                          <a:latin typeface="Calibir"/>
                        </a:rPr>
                        <a:t>Your name</a:t>
                      </a:r>
                    </a:p>
                  </a:txBody>
                  <a:tcPr marL="51192" marR="51192" marT="25596" marB="25596" anchor="ctr"/>
                </a:tc>
                <a:tc>
                  <a:txBody>
                    <a:bodyPr/>
                    <a:lstStyle/>
                    <a:p>
                      <a:pPr>
                        <a:buNone/>
                      </a:pPr>
                      <a:r>
                        <a:rPr lang="en-US" sz="2800">
                          <a:latin typeface="Calibir"/>
                        </a:rPr>
                        <a:t>[Student Name]</a:t>
                      </a:r>
                    </a:p>
                  </a:txBody>
                  <a:tcPr marL="51192" marR="51192" marT="25596" marB="25596" anchor="ctr"/>
                </a:tc>
                <a:extLst>
                  <a:ext uri="{0D108BD9-81ED-4DB2-BD59-A6C34878D82A}">
                    <a16:rowId xmlns:a16="http://schemas.microsoft.com/office/drawing/2014/main" val="3287668482"/>
                  </a:ext>
                </a:extLst>
              </a:tr>
              <a:tr h="396528">
                <a:tc>
                  <a:txBody>
                    <a:bodyPr/>
                    <a:lstStyle/>
                    <a:p>
                      <a:pPr>
                        <a:buNone/>
                      </a:pPr>
                      <a:r>
                        <a:rPr lang="en-US" sz="2800">
                          <a:latin typeface="Calibir"/>
                        </a:rPr>
                        <a:t>Username</a:t>
                      </a:r>
                    </a:p>
                  </a:txBody>
                  <a:tcPr marL="51192" marR="51192" marT="25596" marB="25596" anchor="ctr"/>
                </a:tc>
                <a:tc>
                  <a:txBody>
                    <a:bodyPr/>
                    <a:lstStyle/>
                    <a:p>
                      <a:pPr>
                        <a:buNone/>
                      </a:pPr>
                      <a:r>
                        <a:rPr lang="en-US" sz="2800">
                          <a:latin typeface="Calibir"/>
                        </a:rPr>
                        <a:t>studentweb1021</a:t>
                      </a:r>
                    </a:p>
                  </a:txBody>
                  <a:tcPr marL="51192" marR="51192" marT="25596" marB="25596" anchor="ctr"/>
                </a:tc>
                <a:extLst>
                  <a:ext uri="{0D108BD9-81ED-4DB2-BD59-A6C34878D82A}">
                    <a16:rowId xmlns:a16="http://schemas.microsoft.com/office/drawing/2014/main" val="961185084"/>
                  </a:ext>
                </a:extLst>
              </a:tr>
              <a:tr h="396528">
                <a:tc>
                  <a:txBody>
                    <a:bodyPr/>
                    <a:lstStyle/>
                    <a:p>
                      <a:pPr>
                        <a:buNone/>
                      </a:pPr>
                      <a:r>
                        <a:rPr lang="en-US" sz="2800">
                          <a:latin typeface="Calibir"/>
                        </a:rPr>
                        <a:t>Password</a:t>
                      </a:r>
                    </a:p>
                  </a:txBody>
                  <a:tcPr marL="51192" marR="51192" marT="25596" marB="25596" anchor="ctr"/>
                </a:tc>
                <a:tc>
                  <a:txBody>
                    <a:bodyPr/>
                    <a:lstStyle/>
                    <a:p>
                      <a:pPr>
                        <a:buNone/>
                      </a:pPr>
                      <a:r>
                        <a:rPr lang="en-US" sz="2800">
                          <a:latin typeface="Calibir"/>
                        </a:rPr>
                        <a:t>WebDesign2026!</a:t>
                      </a:r>
                    </a:p>
                  </a:txBody>
                  <a:tcPr marL="51192" marR="51192" marT="25596" marB="25596" anchor="ctr"/>
                </a:tc>
                <a:extLst>
                  <a:ext uri="{0D108BD9-81ED-4DB2-BD59-A6C34878D82A}">
                    <a16:rowId xmlns:a16="http://schemas.microsoft.com/office/drawing/2014/main" val="319075268"/>
                  </a:ext>
                </a:extLst>
              </a:tr>
              <a:tr h="2058918">
                <a:tc>
                  <a:txBody>
                    <a:bodyPr/>
                    <a:lstStyle/>
                    <a:p>
                      <a:pPr>
                        <a:buNone/>
                      </a:pPr>
                      <a:r>
                        <a:rPr lang="en-US" sz="2800" dirty="0">
                          <a:latin typeface="Calibir"/>
                        </a:rPr>
                        <a:t>What process is required to request a free web server space?</a:t>
                      </a:r>
                    </a:p>
                  </a:txBody>
                  <a:tcPr marL="51192" marR="51192" marT="25596" marB="25596" anchor="ctr"/>
                </a:tc>
                <a:tc>
                  <a:txBody>
                    <a:bodyPr/>
                    <a:lstStyle/>
                    <a:p>
                      <a:pPr>
                        <a:buNone/>
                      </a:pPr>
                      <a:r>
                        <a:rPr lang="en-US" sz="2800" dirty="0">
                          <a:latin typeface="Calibir"/>
                        </a:rPr>
                        <a:t>Go to </a:t>
                      </a:r>
                      <a:r>
                        <a:rPr lang="en-US" sz="2800" dirty="0">
                          <a:latin typeface="Calibir"/>
                          <a:hlinkClick r:id="rId2"/>
                        </a:rPr>
                        <a:t>https://infinityfree.net/</a:t>
                      </a:r>
                      <a:r>
                        <a:rPr lang="en-US" sz="2800" dirty="0">
                          <a:latin typeface="Calibir"/>
                        </a:rPr>
                        <a:t> and create a free account using an email address. Verify the email, create a hosting account, and activate the free web hosting service.</a:t>
                      </a:r>
                    </a:p>
                  </a:txBody>
                  <a:tcPr marL="51192" marR="51192" marT="25596" marB="25596" anchor="ctr"/>
                </a:tc>
                <a:extLst>
                  <a:ext uri="{0D108BD9-81ED-4DB2-BD59-A6C34878D82A}">
                    <a16:rowId xmlns:a16="http://schemas.microsoft.com/office/drawing/2014/main" val="1840070413"/>
                  </a:ext>
                </a:extLst>
              </a:tr>
            </a:tbl>
          </a:graphicData>
        </a:graphic>
      </p:graphicFrame>
    </p:spTree>
    <p:extLst>
      <p:ext uri="{BB962C8B-B14F-4D97-AF65-F5344CB8AC3E}">
        <p14:creationId xmlns:p14="http://schemas.microsoft.com/office/powerpoint/2010/main" val="3081956395"/>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248836-EFF0-6C46-C689-C89466FBB6D2}"/>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2302136-04DD-4ABD-AC97-22F02466C010}"/>
              </a:ext>
            </a:extLst>
          </p:cNvPr>
          <p:cNvSpPr txBox="1"/>
          <p:nvPr/>
        </p:nvSpPr>
        <p:spPr>
          <a:xfrm>
            <a:off x="0" y="0"/>
            <a:ext cx="8976732"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200" b="1" dirty="0">
                <a:solidFill>
                  <a:prstClr val="black"/>
                </a:solidFill>
                <a:latin typeface="Calibri" panose="020F0502020204030204" pitchFamily="34" charset="0"/>
                <a:cs typeface="Calibri" panose="020F0502020204030204" pitchFamily="34" charset="0"/>
              </a:rPr>
              <a:t>Weeks 2 – 3 Lab</a:t>
            </a:r>
            <a:endParaRPr kumimoji="0" lang="en-US" sz="3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3" name="TextBox 2">
            <a:extLst>
              <a:ext uri="{FF2B5EF4-FFF2-40B4-BE49-F238E27FC236}">
                <a16:creationId xmlns:a16="http://schemas.microsoft.com/office/drawing/2014/main" id="{0850344C-FE85-08C6-5BFA-E663C68F43CE}"/>
              </a:ext>
            </a:extLst>
          </p:cNvPr>
          <p:cNvSpPr txBox="1"/>
          <p:nvPr/>
        </p:nvSpPr>
        <p:spPr>
          <a:xfrm>
            <a:off x="0" y="746093"/>
            <a:ext cx="12192000" cy="1318181"/>
          </a:xfrm>
          <a:prstGeom prst="rect">
            <a:avLst/>
          </a:prstGeom>
          <a:noFill/>
        </p:spPr>
        <p:txBody>
          <a:bodyPr wrap="square">
            <a:spAutoFit/>
          </a:bodyPr>
          <a:lstStyle/>
          <a:p>
            <a:pPr>
              <a:lnSpc>
                <a:spcPct val="150000"/>
              </a:lnSpc>
            </a:pPr>
            <a:r>
              <a:rPr lang="en-US" sz="2800" b="1" dirty="0">
                <a:latin typeface="Calibir"/>
              </a:rPr>
              <a:t>2. webpublishing.docx – Web Publishing Information</a:t>
            </a:r>
          </a:p>
          <a:p>
            <a:pPr>
              <a:lnSpc>
                <a:spcPct val="150000"/>
              </a:lnSpc>
            </a:pPr>
            <a:r>
              <a:rPr lang="en-US" sz="2800" b="1" dirty="0">
                <a:latin typeface="Calibir"/>
              </a:rPr>
              <a:t>Information Needed to Publish Files to a Free Web Server</a:t>
            </a:r>
          </a:p>
        </p:txBody>
      </p:sp>
      <p:graphicFrame>
        <p:nvGraphicFramePr>
          <p:cNvPr id="2" name="Table 1">
            <a:extLst>
              <a:ext uri="{FF2B5EF4-FFF2-40B4-BE49-F238E27FC236}">
                <a16:creationId xmlns:a16="http://schemas.microsoft.com/office/drawing/2014/main" id="{DED61207-E5E0-5385-F6D3-304C86F312BD}"/>
              </a:ext>
            </a:extLst>
          </p:cNvPr>
          <p:cNvGraphicFramePr>
            <a:graphicFrameLocks noGrp="1"/>
          </p:cNvGraphicFramePr>
          <p:nvPr>
            <p:extLst>
              <p:ext uri="{D42A27DB-BD31-4B8C-83A1-F6EECF244321}">
                <p14:modId xmlns:p14="http://schemas.microsoft.com/office/powerpoint/2010/main" val="2223092749"/>
              </p:ext>
            </p:extLst>
          </p:nvPr>
        </p:nvGraphicFramePr>
        <p:xfrm>
          <a:off x="66268" y="2379151"/>
          <a:ext cx="11983104" cy="4045248"/>
        </p:xfrm>
        <a:graphic>
          <a:graphicData uri="http://schemas.openxmlformats.org/drawingml/2006/table">
            <a:tbl>
              <a:tblPr>
                <a:tableStyleId>{BDBED569-4797-4DF1-A0F4-6AAB3CD982D8}</a:tableStyleId>
              </a:tblPr>
              <a:tblGrid>
                <a:gridCol w="5991552">
                  <a:extLst>
                    <a:ext uri="{9D8B030D-6E8A-4147-A177-3AD203B41FA5}">
                      <a16:colId xmlns:a16="http://schemas.microsoft.com/office/drawing/2014/main" val="4177012732"/>
                    </a:ext>
                  </a:extLst>
                </a:gridCol>
                <a:gridCol w="5991552">
                  <a:extLst>
                    <a:ext uri="{9D8B030D-6E8A-4147-A177-3AD203B41FA5}">
                      <a16:colId xmlns:a16="http://schemas.microsoft.com/office/drawing/2014/main" val="3360696124"/>
                    </a:ext>
                  </a:extLst>
                </a:gridCol>
              </a:tblGrid>
              <a:tr h="396528">
                <a:tc>
                  <a:txBody>
                    <a:bodyPr/>
                    <a:lstStyle/>
                    <a:p>
                      <a:pPr>
                        <a:buNone/>
                      </a:pPr>
                      <a:r>
                        <a:rPr lang="en-US" sz="2800" dirty="0">
                          <a:latin typeface="Calibir"/>
                        </a:rPr>
                        <a:t>What software is used to publish webpages to the web server?</a:t>
                      </a:r>
                    </a:p>
                  </a:txBody>
                  <a:tcPr marL="51192" marR="51192" marT="25596" marB="25596" anchor="ctr"/>
                </a:tc>
                <a:tc>
                  <a:txBody>
                    <a:bodyPr/>
                    <a:lstStyle/>
                    <a:p>
                      <a:pPr>
                        <a:buNone/>
                      </a:pPr>
                      <a:r>
                        <a:rPr lang="en-US" sz="2800">
                          <a:latin typeface="Calibir"/>
                        </a:rPr>
                        <a:t>FileZilla Client is commonly used to upload webpage files to the web server using FTP.</a:t>
                      </a:r>
                    </a:p>
                  </a:txBody>
                  <a:tcPr marL="51192" marR="51192" marT="25596" marB="25596" anchor="ctr"/>
                </a:tc>
                <a:extLst>
                  <a:ext uri="{0D108BD9-81ED-4DB2-BD59-A6C34878D82A}">
                    <a16:rowId xmlns:a16="http://schemas.microsoft.com/office/drawing/2014/main" val="4237206260"/>
                  </a:ext>
                </a:extLst>
              </a:tr>
              <a:tr h="396528">
                <a:tc>
                  <a:txBody>
                    <a:bodyPr/>
                    <a:lstStyle/>
                    <a:p>
                      <a:pPr>
                        <a:buNone/>
                      </a:pPr>
                      <a:r>
                        <a:rPr lang="en-US" sz="2800" dirty="0">
                          <a:latin typeface="Calibir"/>
                        </a:rPr>
                        <a:t>What special software settings are required?</a:t>
                      </a:r>
                    </a:p>
                  </a:txBody>
                  <a:tcPr marL="51192" marR="51192" marT="25596" marB="25596" anchor="ctr"/>
                </a:tc>
                <a:tc>
                  <a:txBody>
                    <a:bodyPr/>
                    <a:lstStyle/>
                    <a:p>
                      <a:pPr>
                        <a:buNone/>
                      </a:pPr>
                      <a:r>
                        <a:rPr lang="en-US" sz="2800" dirty="0">
                          <a:latin typeface="Calibir"/>
                        </a:rPr>
                        <a:t>Host: ftpupload.net Username: provided by hosting company Password: account password Port: 21</a:t>
                      </a:r>
                    </a:p>
                  </a:txBody>
                  <a:tcPr marL="51192" marR="51192" marT="25596" marB="25596" anchor="ctr"/>
                </a:tc>
                <a:extLst>
                  <a:ext uri="{0D108BD9-81ED-4DB2-BD59-A6C34878D82A}">
                    <a16:rowId xmlns:a16="http://schemas.microsoft.com/office/drawing/2014/main" val="2563590609"/>
                  </a:ext>
                </a:extLst>
              </a:tr>
              <a:tr h="396528">
                <a:tc>
                  <a:txBody>
                    <a:bodyPr/>
                    <a:lstStyle/>
                    <a:p>
                      <a:pPr>
                        <a:buNone/>
                      </a:pPr>
                      <a:r>
                        <a:rPr lang="en-US" sz="2800">
                          <a:latin typeface="Calibir"/>
                        </a:rPr>
                        <a:t>Root web folder</a:t>
                      </a:r>
                    </a:p>
                  </a:txBody>
                  <a:tcPr marL="51192" marR="51192" marT="25596" marB="25596" anchor="ctr"/>
                </a:tc>
                <a:tc>
                  <a:txBody>
                    <a:bodyPr/>
                    <a:lstStyle/>
                    <a:p>
                      <a:pPr>
                        <a:buNone/>
                      </a:pPr>
                      <a:r>
                        <a:rPr lang="en-US" sz="2800" dirty="0" err="1">
                          <a:latin typeface="Calibir"/>
                        </a:rPr>
                        <a:t>htdocs</a:t>
                      </a:r>
                      <a:r>
                        <a:rPr lang="en-US" sz="2800" dirty="0">
                          <a:latin typeface="Calibir"/>
                        </a:rPr>
                        <a:t>/</a:t>
                      </a:r>
                    </a:p>
                  </a:txBody>
                  <a:tcPr marL="51192" marR="51192" marT="25596" marB="25596" anchor="ctr"/>
                </a:tc>
                <a:extLst>
                  <a:ext uri="{0D108BD9-81ED-4DB2-BD59-A6C34878D82A}">
                    <a16:rowId xmlns:a16="http://schemas.microsoft.com/office/drawing/2014/main" val="3287668482"/>
                  </a:ext>
                </a:extLst>
              </a:tr>
              <a:tr h="396528">
                <a:tc>
                  <a:txBody>
                    <a:bodyPr/>
                    <a:lstStyle/>
                    <a:p>
                      <a:pPr>
                        <a:buNone/>
                      </a:pPr>
                      <a:r>
                        <a:rPr lang="en-US" sz="2800">
                          <a:latin typeface="Calibir"/>
                        </a:rPr>
                        <a:t>Root URL</a:t>
                      </a:r>
                    </a:p>
                  </a:txBody>
                  <a:tcPr marL="51192" marR="51192" marT="25596" marB="25596" anchor="ctr"/>
                </a:tc>
                <a:tc>
                  <a:txBody>
                    <a:bodyPr/>
                    <a:lstStyle/>
                    <a:p>
                      <a:pPr>
                        <a:buNone/>
                      </a:pPr>
                      <a:r>
                        <a:rPr lang="en-US" sz="2800" dirty="0">
                          <a:latin typeface="Calibir"/>
                        </a:rPr>
                        <a:t>http://studentweb1021.infinityfreeapp.com/</a:t>
                      </a:r>
                    </a:p>
                  </a:txBody>
                  <a:tcPr marL="51192" marR="51192" marT="25596" marB="25596" anchor="ctr"/>
                </a:tc>
                <a:extLst>
                  <a:ext uri="{0D108BD9-81ED-4DB2-BD59-A6C34878D82A}">
                    <a16:rowId xmlns:a16="http://schemas.microsoft.com/office/drawing/2014/main" val="961185084"/>
                  </a:ext>
                </a:extLst>
              </a:tr>
            </a:tbl>
          </a:graphicData>
        </a:graphic>
      </p:graphicFrame>
    </p:spTree>
    <p:extLst>
      <p:ext uri="{BB962C8B-B14F-4D97-AF65-F5344CB8AC3E}">
        <p14:creationId xmlns:p14="http://schemas.microsoft.com/office/powerpoint/2010/main" val="3638061715"/>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132DA4-8C54-2032-7EA3-D444143C37D2}"/>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72F2478F-DD2F-DB5B-1101-51E233B71C03}"/>
              </a:ext>
            </a:extLst>
          </p:cNvPr>
          <p:cNvSpPr txBox="1"/>
          <p:nvPr/>
        </p:nvSpPr>
        <p:spPr>
          <a:xfrm>
            <a:off x="0" y="0"/>
            <a:ext cx="8976732"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200" b="1" dirty="0">
                <a:solidFill>
                  <a:prstClr val="black"/>
                </a:solidFill>
                <a:latin typeface="Calibri" panose="020F0502020204030204" pitchFamily="34" charset="0"/>
                <a:cs typeface="Calibri" panose="020F0502020204030204" pitchFamily="34" charset="0"/>
              </a:rPr>
              <a:t>Weeks 2 – 3 Lab</a:t>
            </a:r>
            <a:endParaRPr kumimoji="0" lang="en-US" sz="3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3" name="TextBox 2">
            <a:extLst>
              <a:ext uri="{FF2B5EF4-FFF2-40B4-BE49-F238E27FC236}">
                <a16:creationId xmlns:a16="http://schemas.microsoft.com/office/drawing/2014/main" id="{98F87B1C-85FD-7323-2192-BF79F055C050}"/>
              </a:ext>
            </a:extLst>
          </p:cNvPr>
          <p:cNvSpPr txBox="1"/>
          <p:nvPr/>
        </p:nvSpPr>
        <p:spPr>
          <a:xfrm>
            <a:off x="0" y="746093"/>
            <a:ext cx="12192000" cy="1318181"/>
          </a:xfrm>
          <a:prstGeom prst="rect">
            <a:avLst/>
          </a:prstGeom>
          <a:noFill/>
        </p:spPr>
        <p:txBody>
          <a:bodyPr wrap="square">
            <a:spAutoFit/>
          </a:bodyPr>
          <a:lstStyle/>
          <a:p>
            <a:pPr>
              <a:lnSpc>
                <a:spcPct val="150000"/>
              </a:lnSpc>
            </a:pPr>
            <a:r>
              <a:rPr lang="en-US" sz="2800" b="1" dirty="0">
                <a:latin typeface="Calibir"/>
              </a:rPr>
              <a:t>2. webpublishing.docx – Web Publishing Information</a:t>
            </a:r>
          </a:p>
          <a:p>
            <a:pPr>
              <a:lnSpc>
                <a:spcPct val="150000"/>
              </a:lnSpc>
            </a:pPr>
            <a:r>
              <a:rPr lang="en-US" sz="2800" b="1" dirty="0">
                <a:latin typeface="Calibir"/>
              </a:rPr>
              <a:t>Information Needed to Publish Files to a Free Web Server</a:t>
            </a:r>
          </a:p>
        </p:txBody>
      </p:sp>
      <p:graphicFrame>
        <p:nvGraphicFramePr>
          <p:cNvPr id="2" name="Table 1">
            <a:extLst>
              <a:ext uri="{FF2B5EF4-FFF2-40B4-BE49-F238E27FC236}">
                <a16:creationId xmlns:a16="http://schemas.microsoft.com/office/drawing/2014/main" id="{E0C98EC5-3698-6949-619D-B88051DED29C}"/>
              </a:ext>
            </a:extLst>
          </p:cNvPr>
          <p:cNvGraphicFramePr>
            <a:graphicFrameLocks noGrp="1"/>
          </p:cNvGraphicFramePr>
          <p:nvPr>
            <p:extLst>
              <p:ext uri="{D42A27DB-BD31-4B8C-83A1-F6EECF244321}">
                <p14:modId xmlns:p14="http://schemas.microsoft.com/office/powerpoint/2010/main" val="3779403933"/>
              </p:ext>
            </p:extLst>
          </p:nvPr>
        </p:nvGraphicFramePr>
        <p:xfrm>
          <a:off x="66268" y="2379151"/>
          <a:ext cx="11983104" cy="3171096"/>
        </p:xfrm>
        <a:graphic>
          <a:graphicData uri="http://schemas.openxmlformats.org/drawingml/2006/table">
            <a:tbl>
              <a:tblPr>
                <a:tableStyleId>{BDBED569-4797-4DF1-A0F4-6AAB3CD982D8}</a:tableStyleId>
              </a:tblPr>
              <a:tblGrid>
                <a:gridCol w="5991552">
                  <a:extLst>
                    <a:ext uri="{9D8B030D-6E8A-4147-A177-3AD203B41FA5}">
                      <a16:colId xmlns:a16="http://schemas.microsoft.com/office/drawing/2014/main" val="4177012732"/>
                    </a:ext>
                  </a:extLst>
                </a:gridCol>
                <a:gridCol w="5991552">
                  <a:extLst>
                    <a:ext uri="{9D8B030D-6E8A-4147-A177-3AD203B41FA5}">
                      <a16:colId xmlns:a16="http://schemas.microsoft.com/office/drawing/2014/main" val="3360696124"/>
                    </a:ext>
                  </a:extLst>
                </a:gridCol>
              </a:tblGrid>
              <a:tr h="396528">
                <a:tc>
                  <a:txBody>
                    <a:bodyPr/>
                    <a:lstStyle/>
                    <a:p>
                      <a:pPr>
                        <a:buNone/>
                      </a:pPr>
                      <a:r>
                        <a:rPr lang="en-US" sz="2200" dirty="0">
                          <a:latin typeface="Calibir"/>
                        </a:rPr>
                        <a:t>What URL is created by the server?</a:t>
                      </a:r>
                    </a:p>
                  </a:txBody>
                  <a:tcPr marL="51192" marR="51192" marT="25596" marB="25596" anchor="ctr"/>
                </a:tc>
                <a:tc>
                  <a:txBody>
                    <a:bodyPr/>
                    <a:lstStyle/>
                    <a:p>
                      <a:pPr>
                        <a:buNone/>
                      </a:pPr>
                      <a:r>
                        <a:rPr lang="en-US" sz="2200" dirty="0">
                          <a:latin typeface="Calibir"/>
                        </a:rPr>
                        <a:t>Files uploaded to </a:t>
                      </a:r>
                      <a:r>
                        <a:rPr lang="en-US" sz="2200" dirty="0" err="1">
                          <a:latin typeface="Calibir"/>
                        </a:rPr>
                        <a:t>htdocs</a:t>
                      </a:r>
                      <a:r>
                        <a:rPr lang="en-US" sz="2200" dirty="0">
                          <a:latin typeface="Calibir"/>
                        </a:rPr>
                        <a:t>/index.html become available at: http://studentweb1021.infinityfreeapp.com/index.html</a:t>
                      </a:r>
                    </a:p>
                  </a:txBody>
                  <a:tcPr marL="51192" marR="51192" marT="25596" marB="25596" anchor="ctr"/>
                </a:tc>
                <a:extLst>
                  <a:ext uri="{0D108BD9-81ED-4DB2-BD59-A6C34878D82A}">
                    <a16:rowId xmlns:a16="http://schemas.microsoft.com/office/drawing/2014/main" val="4237206260"/>
                  </a:ext>
                </a:extLst>
              </a:tr>
              <a:tr h="396528">
                <a:tc>
                  <a:txBody>
                    <a:bodyPr/>
                    <a:lstStyle/>
                    <a:p>
                      <a:pPr>
                        <a:buNone/>
                      </a:pPr>
                      <a:r>
                        <a:rPr lang="en-US" sz="2200">
                          <a:latin typeface="Calibir"/>
                        </a:rPr>
                        <a:t>How do I contact my free web server Help Desk if needed?</a:t>
                      </a:r>
                    </a:p>
                  </a:txBody>
                  <a:tcPr marL="51192" marR="51192" marT="25596" marB="25596" anchor="ctr"/>
                </a:tc>
                <a:tc>
                  <a:txBody>
                    <a:bodyPr/>
                    <a:lstStyle/>
                    <a:p>
                      <a:pPr>
                        <a:buNone/>
                      </a:pPr>
                      <a:r>
                        <a:rPr lang="en-US" sz="2200" dirty="0">
                          <a:latin typeface="Calibir"/>
                        </a:rPr>
                        <a:t>Support forums and help pages are available at </a:t>
                      </a:r>
                      <a:r>
                        <a:rPr lang="en-US" sz="2200" dirty="0">
                          <a:latin typeface="Calibir"/>
                          <a:hlinkClick r:id="rId2"/>
                        </a:rPr>
                        <a:t>https://forum.infinityfree.com/</a:t>
                      </a:r>
                      <a:endParaRPr lang="en-US" sz="2200" dirty="0">
                        <a:latin typeface="Calibir"/>
                      </a:endParaRPr>
                    </a:p>
                  </a:txBody>
                  <a:tcPr marL="51192" marR="51192" marT="25596" marB="25596" anchor="ctr"/>
                </a:tc>
                <a:extLst>
                  <a:ext uri="{0D108BD9-81ED-4DB2-BD59-A6C34878D82A}">
                    <a16:rowId xmlns:a16="http://schemas.microsoft.com/office/drawing/2014/main" val="2563590609"/>
                  </a:ext>
                </a:extLst>
              </a:tr>
              <a:tr h="396528">
                <a:tc>
                  <a:txBody>
                    <a:bodyPr/>
                    <a:lstStyle/>
                    <a:p>
                      <a:pPr>
                        <a:buNone/>
                      </a:pPr>
                      <a:r>
                        <a:rPr lang="en-US" sz="2200">
                          <a:latin typeface="Calibir"/>
                        </a:rPr>
                        <a:t>Where can I get additional help on how to publish my webpages?</a:t>
                      </a:r>
                    </a:p>
                  </a:txBody>
                  <a:tcPr marL="51192" marR="51192" marT="25596" marB="25596" anchor="ctr"/>
                </a:tc>
                <a:tc>
                  <a:txBody>
                    <a:bodyPr/>
                    <a:lstStyle/>
                    <a:p>
                      <a:pPr>
                        <a:buNone/>
                      </a:pPr>
                      <a:r>
                        <a:rPr lang="en-US" sz="2200" dirty="0">
                          <a:latin typeface="Calibir"/>
                        </a:rPr>
                        <a:t>YouTube tutorials, FileZilla tutorials, and hosting provider documentation can be used for additional support.</a:t>
                      </a:r>
                    </a:p>
                  </a:txBody>
                  <a:tcPr marL="51192" marR="51192" marT="25596" marB="25596" anchor="ctr"/>
                </a:tc>
                <a:extLst>
                  <a:ext uri="{0D108BD9-81ED-4DB2-BD59-A6C34878D82A}">
                    <a16:rowId xmlns:a16="http://schemas.microsoft.com/office/drawing/2014/main" val="3287668482"/>
                  </a:ext>
                </a:extLst>
              </a:tr>
            </a:tbl>
          </a:graphicData>
        </a:graphic>
      </p:graphicFrame>
    </p:spTree>
    <p:extLst>
      <p:ext uri="{BB962C8B-B14F-4D97-AF65-F5344CB8AC3E}">
        <p14:creationId xmlns:p14="http://schemas.microsoft.com/office/powerpoint/2010/main" val="626315647"/>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EEEEB0-B4B6-CF12-C0E6-804B66AEDC12}"/>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7F71BA4B-A507-C8F4-08D7-03147A8BF05C}"/>
              </a:ext>
            </a:extLst>
          </p:cNvPr>
          <p:cNvSpPr txBox="1"/>
          <p:nvPr/>
        </p:nvSpPr>
        <p:spPr>
          <a:xfrm>
            <a:off x="0" y="0"/>
            <a:ext cx="8976732"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200" b="1" dirty="0">
                <a:solidFill>
                  <a:prstClr val="black"/>
                </a:solidFill>
                <a:latin typeface="Calibri" panose="020F0502020204030204" pitchFamily="34" charset="0"/>
                <a:cs typeface="Calibri" panose="020F0502020204030204" pitchFamily="34" charset="0"/>
              </a:rPr>
              <a:t>Weeks 2 – 3 Lab</a:t>
            </a:r>
            <a:endParaRPr kumimoji="0" lang="en-US" sz="3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3" name="TextBox 2">
            <a:extLst>
              <a:ext uri="{FF2B5EF4-FFF2-40B4-BE49-F238E27FC236}">
                <a16:creationId xmlns:a16="http://schemas.microsoft.com/office/drawing/2014/main" id="{D0F7F4BC-C36E-0657-28BF-B58C8BABB59E}"/>
              </a:ext>
            </a:extLst>
          </p:cNvPr>
          <p:cNvSpPr txBox="1"/>
          <p:nvPr/>
        </p:nvSpPr>
        <p:spPr>
          <a:xfrm>
            <a:off x="0" y="746093"/>
            <a:ext cx="12192000" cy="2610843"/>
          </a:xfrm>
          <a:prstGeom prst="rect">
            <a:avLst/>
          </a:prstGeom>
          <a:noFill/>
        </p:spPr>
        <p:txBody>
          <a:bodyPr wrap="square">
            <a:spAutoFit/>
          </a:bodyPr>
          <a:lstStyle/>
          <a:p>
            <a:pPr>
              <a:lnSpc>
                <a:spcPct val="150000"/>
              </a:lnSpc>
            </a:pPr>
            <a:r>
              <a:rPr lang="en-US" sz="2800" b="1" dirty="0">
                <a:latin typeface="Calibir"/>
              </a:rPr>
              <a:t>Three Ways Free Web Hosting Companies Generate Revenue</a:t>
            </a:r>
          </a:p>
          <a:p>
            <a:pPr marL="971550" lvl="1" indent="-514350">
              <a:lnSpc>
                <a:spcPct val="150000"/>
              </a:lnSpc>
              <a:buFont typeface="+mj-lt"/>
              <a:buAutoNum type="arabicPeriod"/>
            </a:pPr>
            <a:r>
              <a:rPr lang="en-US" sz="2800" dirty="0">
                <a:latin typeface="Calibir"/>
              </a:rPr>
              <a:t>Advertisements placed on free websites </a:t>
            </a:r>
          </a:p>
          <a:p>
            <a:pPr marL="971550" lvl="1" indent="-514350">
              <a:lnSpc>
                <a:spcPct val="150000"/>
              </a:lnSpc>
              <a:buFont typeface="+mj-lt"/>
              <a:buAutoNum type="arabicPeriod"/>
            </a:pPr>
            <a:r>
              <a:rPr lang="en-US" sz="2800" dirty="0">
                <a:latin typeface="Calibir"/>
              </a:rPr>
              <a:t>Selling premium hosting plans and upgrades </a:t>
            </a:r>
          </a:p>
          <a:p>
            <a:pPr marL="971550" lvl="1" indent="-514350">
              <a:lnSpc>
                <a:spcPct val="150000"/>
              </a:lnSpc>
              <a:buFont typeface="+mj-lt"/>
              <a:buAutoNum type="arabicPeriod"/>
            </a:pPr>
            <a:r>
              <a:rPr lang="en-US" sz="2800" dirty="0">
                <a:latin typeface="Calibir"/>
              </a:rPr>
              <a:t>Selling domain names and additional services</a:t>
            </a:r>
          </a:p>
        </p:txBody>
      </p:sp>
    </p:spTree>
    <p:extLst>
      <p:ext uri="{BB962C8B-B14F-4D97-AF65-F5344CB8AC3E}">
        <p14:creationId xmlns:p14="http://schemas.microsoft.com/office/powerpoint/2010/main" val="3047673444"/>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733615-673E-B147-4179-A6C94338CB30}"/>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EE402D71-6F1A-FCB7-6062-EEDE7FA9B36E}"/>
              </a:ext>
            </a:extLst>
          </p:cNvPr>
          <p:cNvSpPr txBox="1"/>
          <p:nvPr/>
        </p:nvSpPr>
        <p:spPr>
          <a:xfrm>
            <a:off x="0" y="0"/>
            <a:ext cx="8976732"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200" b="1" dirty="0">
                <a:solidFill>
                  <a:prstClr val="black"/>
                </a:solidFill>
                <a:latin typeface="Calibri" panose="020F0502020204030204" pitchFamily="34" charset="0"/>
                <a:cs typeface="Calibri" panose="020F0502020204030204" pitchFamily="34" charset="0"/>
              </a:rPr>
              <a:t>Weeks 2 – 3 Lab</a:t>
            </a:r>
            <a:endParaRPr kumimoji="0" lang="en-US" sz="3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3" name="TextBox 2">
            <a:extLst>
              <a:ext uri="{FF2B5EF4-FFF2-40B4-BE49-F238E27FC236}">
                <a16:creationId xmlns:a16="http://schemas.microsoft.com/office/drawing/2014/main" id="{6C8AC618-8E23-5D9A-1B2E-8BBC32CFF5AA}"/>
              </a:ext>
            </a:extLst>
          </p:cNvPr>
          <p:cNvSpPr txBox="1"/>
          <p:nvPr/>
        </p:nvSpPr>
        <p:spPr>
          <a:xfrm>
            <a:off x="0" y="746093"/>
            <a:ext cx="12192000" cy="1318181"/>
          </a:xfrm>
          <a:prstGeom prst="rect">
            <a:avLst/>
          </a:prstGeom>
          <a:noFill/>
        </p:spPr>
        <p:txBody>
          <a:bodyPr wrap="square">
            <a:spAutoFit/>
          </a:bodyPr>
          <a:lstStyle/>
          <a:p>
            <a:pPr>
              <a:lnSpc>
                <a:spcPct val="150000"/>
              </a:lnSpc>
            </a:pPr>
            <a:r>
              <a:rPr lang="en-US" sz="2800" b="1" dirty="0">
                <a:latin typeface="Calibir"/>
              </a:rPr>
              <a:t>3. webserveralternatives.docx – Web Hosting Alternatives</a:t>
            </a:r>
          </a:p>
          <a:p>
            <a:pPr>
              <a:lnSpc>
                <a:spcPct val="150000"/>
              </a:lnSpc>
            </a:pPr>
            <a:r>
              <a:rPr lang="en-US" sz="2800" b="1" dirty="0">
                <a:latin typeface="Calibir"/>
              </a:rPr>
              <a:t>Web Hosting Alternatives Comparison</a:t>
            </a:r>
          </a:p>
        </p:txBody>
      </p:sp>
      <p:graphicFrame>
        <p:nvGraphicFramePr>
          <p:cNvPr id="2" name="Table 1">
            <a:extLst>
              <a:ext uri="{FF2B5EF4-FFF2-40B4-BE49-F238E27FC236}">
                <a16:creationId xmlns:a16="http://schemas.microsoft.com/office/drawing/2014/main" id="{401C58EB-3DD1-6F93-D486-985B437F4F8D}"/>
              </a:ext>
            </a:extLst>
          </p:cNvPr>
          <p:cNvGraphicFramePr>
            <a:graphicFrameLocks noGrp="1"/>
          </p:cNvGraphicFramePr>
          <p:nvPr>
            <p:extLst>
              <p:ext uri="{D42A27DB-BD31-4B8C-83A1-F6EECF244321}">
                <p14:modId xmlns:p14="http://schemas.microsoft.com/office/powerpoint/2010/main" val="386709867"/>
              </p:ext>
            </p:extLst>
          </p:nvPr>
        </p:nvGraphicFramePr>
        <p:xfrm>
          <a:off x="0" y="2238042"/>
          <a:ext cx="11821976" cy="3489120"/>
        </p:xfrm>
        <a:graphic>
          <a:graphicData uri="http://schemas.openxmlformats.org/drawingml/2006/table">
            <a:tbl>
              <a:tblPr>
                <a:tableStyleId>{BDBED569-4797-4DF1-A0F4-6AAB3CD982D8}</a:tableStyleId>
              </a:tblPr>
              <a:tblGrid>
                <a:gridCol w="2955494">
                  <a:extLst>
                    <a:ext uri="{9D8B030D-6E8A-4147-A177-3AD203B41FA5}">
                      <a16:colId xmlns:a16="http://schemas.microsoft.com/office/drawing/2014/main" val="1703334681"/>
                    </a:ext>
                  </a:extLst>
                </a:gridCol>
                <a:gridCol w="2955494">
                  <a:extLst>
                    <a:ext uri="{9D8B030D-6E8A-4147-A177-3AD203B41FA5}">
                      <a16:colId xmlns:a16="http://schemas.microsoft.com/office/drawing/2014/main" val="3261449132"/>
                    </a:ext>
                  </a:extLst>
                </a:gridCol>
                <a:gridCol w="2955494">
                  <a:extLst>
                    <a:ext uri="{9D8B030D-6E8A-4147-A177-3AD203B41FA5}">
                      <a16:colId xmlns:a16="http://schemas.microsoft.com/office/drawing/2014/main" val="2400014401"/>
                    </a:ext>
                  </a:extLst>
                </a:gridCol>
                <a:gridCol w="2955494">
                  <a:extLst>
                    <a:ext uri="{9D8B030D-6E8A-4147-A177-3AD203B41FA5}">
                      <a16:colId xmlns:a16="http://schemas.microsoft.com/office/drawing/2014/main" val="2347456108"/>
                    </a:ext>
                  </a:extLst>
                </a:gridCol>
              </a:tblGrid>
              <a:tr h="429859">
                <a:tc>
                  <a:txBody>
                    <a:bodyPr/>
                    <a:lstStyle/>
                    <a:p>
                      <a:pPr>
                        <a:buNone/>
                      </a:pPr>
                      <a:endParaRPr lang="en-US" sz="2800" dirty="0">
                        <a:latin typeface="Calibir"/>
                      </a:endParaRPr>
                    </a:p>
                  </a:txBody>
                  <a:tcPr marL="83680" marR="83680" marT="41840" marB="41840" anchor="ctr"/>
                </a:tc>
                <a:tc>
                  <a:txBody>
                    <a:bodyPr/>
                    <a:lstStyle/>
                    <a:p>
                      <a:pPr>
                        <a:buNone/>
                      </a:pPr>
                      <a:r>
                        <a:rPr lang="en-US" sz="2800">
                          <a:latin typeface="Calibir"/>
                        </a:rPr>
                        <a:t>Alternative 1</a:t>
                      </a:r>
                    </a:p>
                  </a:txBody>
                  <a:tcPr marL="83680" marR="83680" marT="41840" marB="41840" anchor="ctr"/>
                </a:tc>
                <a:tc>
                  <a:txBody>
                    <a:bodyPr/>
                    <a:lstStyle/>
                    <a:p>
                      <a:pPr>
                        <a:buNone/>
                      </a:pPr>
                      <a:r>
                        <a:rPr lang="en-US" sz="2800">
                          <a:latin typeface="Calibir"/>
                        </a:rPr>
                        <a:t>Alternative 2</a:t>
                      </a:r>
                    </a:p>
                  </a:txBody>
                  <a:tcPr marL="83680" marR="83680" marT="41840" marB="41840" anchor="ctr"/>
                </a:tc>
                <a:tc>
                  <a:txBody>
                    <a:bodyPr/>
                    <a:lstStyle/>
                    <a:p>
                      <a:pPr>
                        <a:buNone/>
                      </a:pPr>
                      <a:r>
                        <a:rPr lang="en-US" sz="2800">
                          <a:latin typeface="Calibir"/>
                        </a:rPr>
                        <a:t>Alternative 3</a:t>
                      </a:r>
                    </a:p>
                  </a:txBody>
                  <a:tcPr marL="83680" marR="83680" marT="41840" marB="41840" anchor="ctr"/>
                </a:tc>
                <a:extLst>
                  <a:ext uri="{0D108BD9-81ED-4DB2-BD59-A6C34878D82A}">
                    <a16:rowId xmlns:a16="http://schemas.microsoft.com/office/drawing/2014/main" val="1729446722"/>
                  </a:ext>
                </a:extLst>
              </a:tr>
              <a:tr h="429859">
                <a:tc>
                  <a:txBody>
                    <a:bodyPr/>
                    <a:lstStyle/>
                    <a:p>
                      <a:pPr>
                        <a:buNone/>
                      </a:pPr>
                      <a:r>
                        <a:rPr lang="en-US" sz="2800">
                          <a:latin typeface="Calibir"/>
                        </a:rPr>
                        <a:t>Websites</a:t>
                      </a:r>
                    </a:p>
                  </a:txBody>
                  <a:tcPr marL="83680" marR="83680" marT="41840" marB="41840" anchor="ctr"/>
                </a:tc>
                <a:tc>
                  <a:txBody>
                    <a:bodyPr/>
                    <a:lstStyle/>
                    <a:p>
                      <a:pPr>
                        <a:buNone/>
                      </a:pPr>
                      <a:r>
                        <a:rPr lang="en-US" sz="2800">
                          <a:latin typeface="Calibir"/>
                        </a:rPr>
                        <a:t>Hostinger.com</a:t>
                      </a:r>
                    </a:p>
                  </a:txBody>
                  <a:tcPr marL="83680" marR="83680" marT="41840" marB="41840" anchor="ctr"/>
                </a:tc>
                <a:tc>
                  <a:txBody>
                    <a:bodyPr/>
                    <a:lstStyle/>
                    <a:p>
                      <a:pPr>
                        <a:buNone/>
                      </a:pPr>
                      <a:r>
                        <a:rPr lang="en-US" sz="2800">
                          <a:latin typeface="Calibir"/>
                        </a:rPr>
                        <a:t>GoDaddy.com</a:t>
                      </a:r>
                    </a:p>
                  </a:txBody>
                  <a:tcPr marL="83680" marR="83680" marT="41840" marB="41840" anchor="ctr"/>
                </a:tc>
                <a:tc>
                  <a:txBody>
                    <a:bodyPr/>
                    <a:lstStyle/>
                    <a:p>
                      <a:pPr>
                        <a:buNone/>
                      </a:pPr>
                      <a:r>
                        <a:rPr lang="en-US" sz="2800">
                          <a:latin typeface="Calibir"/>
                        </a:rPr>
                        <a:t>HostGator.com</a:t>
                      </a:r>
                    </a:p>
                  </a:txBody>
                  <a:tcPr marL="83680" marR="83680" marT="41840" marB="41840" anchor="ctr"/>
                </a:tc>
                <a:extLst>
                  <a:ext uri="{0D108BD9-81ED-4DB2-BD59-A6C34878D82A}">
                    <a16:rowId xmlns:a16="http://schemas.microsoft.com/office/drawing/2014/main" val="4181158700"/>
                  </a:ext>
                </a:extLst>
              </a:tr>
              <a:tr h="773861">
                <a:tc>
                  <a:txBody>
                    <a:bodyPr/>
                    <a:lstStyle/>
                    <a:p>
                      <a:pPr>
                        <a:buNone/>
                      </a:pPr>
                      <a:r>
                        <a:rPr lang="en-US" sz="2800">
                          <a:latin typeface="Calibir"/>
                        </a:rPr>
                        <a:t>Cost for most basic plan</a:t>
                      </a:r>
                    </a:p>
                  </a:txBody>
                  <a:tcPr marL="83680" marR="83680" marT="41840" marB="41840" anchor="ctr"/>
                </a:tc>
                <a:tc>
                  <a:txBody>
                    <a:bodyPr/>
                    <a:lstStyle/>
                    <a:p>
                      <a:pPr>
                        <a:buNone/>
                      </a:pPr>
                      <a:r>
                        <a:rPr lang="en-US" sz="2800">
                          <a:latin typeface="Calibir"/>
                        </a:rPr>
                        <a:t>$2.99/month</a:t>
                      </a:r>
                    </a:p>
                  </a:txBody>
                  <a:tcPr marL="83680" marR="83680" marT="41840" marB="41840" anchor="ctr"/>
                </a:tc>
                <a:tc>
                  <a:txBody>
                    <a:bodyPr/>
                    <a:lstStyle/>
                    <a:p>
                      <a:pPr>
                        <a:buNone/>
                      </a:pPr>
                      <a:r>
                        <a:rPr lang="en-US" sz="2800">
                          <a:latin typeface="Calibir"/>
                        </a:rPr>
                        <a:t>$4.99/month</a:t>
                      </a:r>
                    </a:p>
                  </a:txBody>
                  <a:tcPr marL="83680" marR="83680" marT="41840" marB="41840" anchor="ctr"/>
                </a:tc>
                <a:tc>
                  <a:txBody>
                    <a:bodyPr/>
                    <a:lstStyle/>
                    <a:p>
                      <a:pPr>
                        <a:buNone/>
                      </a:pPr>
                      <a:r>
                        <a:rPr lang="en-US" sz="2800">
                          <a:latin typeface="Calibir"/>
                        </a:rPr>
                        <a:t>$3.75/month</a:t>
                      </a:r>
                    </a:p>
                  </a:txBody>
                  <a:tcPr marL="83680" marR="83680" marT="41840" marB="41840" anchor="ctr"/>
                </a:tc>
                <a:extLst>
                  <a:ext uri="{0D108BD9-81ED-4DB2-BD59-A6C34878D82A}">
                    <a16:rowId xmlns:a16="http://schemas.microsoft.com/office/drawing/2014/main" val="2101667588"/>
                  </a:ext>
                </a:extLst>
              </a:tr>
              <a:tr h="429859">
                <a:tc>
                  <a:txBody>
                    <a:bodyPr/>
                    <a:lstStyle/>
                    <a:p>
                      <a:pPr>
                        <a:buNone/>
                      </a:pPr>
                      <a:r>
                        <a:rPr lang="en-US" sz="2800">
                          <a:latin typeface="Calibir"/>
                        </a:rPr>
                        <a:t>Contract length</a:t>
                      </a:r>
                    </a:p>
                  </a:txBody>
                  <a:tcPr marL="83680" marR="83680" marT="41840" marB="41840" anchor="ctr"/>
                </a:tc>
                <a:tc>
                  <a:txBody>
                    <a:bodyPr/>
                    <a:lstStyle/>
                    <a:p>
                      <a:pPr>
                        <a:buNone/>
                      </a:pPr>
                      <a:r>
                        <a:rPr lang="en-US" sz="2800" dirty="0">
                          <a:latin typeface="Calibir"/>
                        </a:rPr>
                        <a:t>1 year</a:t>
                      </a:r>
                    </a:p>
                  </a:txBody>
                  <a:tcPr marL="83680" marR="83680" marT="41840" marB="41840" anchor="ctr"/>
                </a:tc>
                <a:tc>
                  <a:txBody>
                    <a:bodyPr/>
                    <a:lstStyle/>
                    <a:p>
                      <a:pPr>
                        <a:buNone/>
                      </a:pPr>
                      <a:r>
                        <a:rPr lang="en-US" sz="2800">
                          <a:latin typeface="Calibir"/>
                        </a:rPr>
                        <a:t>1 year</a:t>
                      </a:r>
                    </a:p>
                  </a:txBody>
                  <a:tcPr marL="83680" marR="83680" marT="41840" marB="41840" anchor="ctr"/>
                </a:tc>
                <a:tc>
                  <a:txBody>
                    <a:bodyPr/>
                    <a:lstStyle/>
                    <a:p>
                      <a:pPr>
                        <a:buNone/>
                      </a:pPr>
                      <a:r>
                        <a:rPr lang="en-US" sz="2800">
                          <a:latin typeface="Calibir"/>
                        </a:rPr>
                        <a:t>3 years</a:t>
                      </a:r>
                    </a:p>
                  </a:txBody>
                  <a:tcPr marL="83680" marR="83680" marT="41840" marB="41840" anchor="ctr"/>
                </a:tc>
                <a:extLst>
                  <a:ext uri="{0D108BD9-81ED-4DB2-BD59-A6C34878D82A}">
                    <a16:rowId xmlns:a16="http://schemas.microsoft.com/office/drawing/2014/main" val="2235578866"/>
                  </a:ext>
                </a:extLst>
              </a:tr>
              <a:tr h="429859">
                <a:tc>
                  <a:txBody>
                    <a:bodyPr/>
                    <a:lstStyle/>
                    <a:p>
                      <a:pPr>
                        <a:buNone/>
                      </a:pPr>
                      <a:r>
                        <a:rPr lang="en-US" sz="2800">
                          <a:latin typeface="Calibir"/>
                        </a:rPr>
                        <a:t>Disk space</a:t>
                      </a:r>
                    </a:p>
                  </a:txBody>
                  <a:tcPr marL="83680" marR="83680" marT="41840" marB="41840" anchor="ctr"/>
                </a:tc>
                <a:tc>
                  <a:txBody>
                    <a:bodyPr/>
                    <a:lstStyle/>
                    <a:p>
                      <a:pPr>
                        <a:buNone/>
                      </a:pPr>
                      <a:r>
                        <a:rPr lang="en-US" sz="2800">
                          <a:latin typeface="Calibir"/>
                        </a:rPr>
                        <a:t>50 GB</a:t>
                      </a:r>
                    </a:p>
                  </a:txBody>
                  <a:tcPr marL="83680" marR="83680" marT="41840" marB="41840" anchor="ctr"/>
                </a:tc>
                <a:tc>
                  <a:txBody>
                    <a:bodyPr/>
                    <a:lstStyle/>
                    <a:p>
                      <a:pPr>
                        <a:buNone/>
                      </a:pPr>
                      <a:r>
                        <a:rPr lang="en-US" sz="2800">
                          <a:latin typeface="Calibir"/>
                        </a:rPr>
                        <a:t>100 GB</a:t>
                      </a:r>
                    </a:p>
                  </a:txBody>
                  <a:tcPr marL="83680" marR="83680" marT="41840" marB="41840" anchor="ctr"/>
                </a:tc>
                <a:tc>
                  <a:txBody>
                    <a:bodyPr/>
                    <a:lstStyle/>
                    <a:p>
                      <a:pPr>
                        <a:buNone/>
                      </a:pPr>
                      <a:r>
                        <a:rPr lang="en-US" sz="2800">
                          <a:latin typeface="Calibir"/>
                        </a:rPr>
                        <a:t>Unlimited</a:t>
                      </a:r>
                    </a:p>
                  </a:txBody>
                  <a:tcPr marL="83680" marR="83680" marT="41840" marB="41840" anchor="ctr"/>
                </a:tc>
                <a:extLst>
                  <a:ext uri="{0D108BD9-81ED-4DB2-BD59-A6C34878D82A}">
                    <a16:rowId xmlns:a16="http://schemas.microsoft.com/office/drawing/2014/main" val="2021444835"/>
                  </a:ext>
                </a:extLst>
              </a:tr>
              <a:tr h="429859">
                <a:tc>
                  <a:txBody>
                    <a:bodyPr/>
                    <a:lstStyle/>
                    <a:p>
                      <a:pPr>
                        <a:buNone/>
                      </a:pPr>
                      <a:r>
                        <a:rPr lang="en-US" sz="2800">
                          <a:latin typeface="Calibir"/>
                        </a:rPr>
                        <a:t>Domain name</a:t>
                      </a:r>
                    </a:p>
                  </a:txBody>
                  <a:tcPr marL="83680" marR="83680" marT="41840" marB="41840" anchor="ctr"/>
                </a:tc>
                <a:tc>
                  <a:txBody>
                    <a:bodyPr/>
                    <a:lstStyle/>
                    <a:p>
                      <a:pPr>
                        <a:buNone/>
                      </a:pPr>
                      <a:r>
                        <a:rPr lang="en-US" sz="2800" dirty="0">
                          <a:latin typeface="Calibir"/>
                        </a:rPr>
                        <a:t>Included</a:t>
                      </a:r>
                    </a:p>
                  </a:txBody>
                  <a:tcPr marL="83680" marR="83680" marT="41840" marB="41840" anchor="ctr"/>
                </a:tc>
                <a:tc>
                  <a:txBody>
                    <a:bodyPr/>
                    <a:lstStyle/>
                    <a:p>
                      <a:pPr>
                        <a:buNone/>
                      </a:pPr>
                      <a:r>
                        <a:rPr lang="en-US" sz="2800" dirty="0">
                          <a:latin typeface="Calibir"/>
                        </a:rPr>
                        <a:t>Included</a:t>
                      </a:r>
                    </a:p>
                  </a:txBody>
                  <a:tcPr marL="83680" marR="83680" marT="41840" marB="41840" anchor="ctr"/>
                </a:tc>
                <a:tc>
                  <a:txBody>
                    <a:bodyPr/>
                    <a:lstStyle/>
                    <a:p>
                      <a:pPr>
                        <a:buNone/>
                      </a:pPr>
                      <a:r>
                        <a:rPr lang="en-US" sz="2800" dirty="0">
                          <a:latin typeface="Calibir"/>
                        </a:rPr>
                        <a:t>Included</a:t>
                      </a:r>
                    </a:p>
                  </a:txBody>
                  <a:tcPr marL="83680" marR="83680" marT="41840" marB="41840" anchor="ctr"/>
                </a:tc>
                <a:extLst>
                  <a:ext uri="{0D108BD9-81ED-4DB2-BD59-A6C34878D82A}">
                    <a16:rowId xmlns:a16="http://schemas.microsoft.com/office/drawing/2014/main" val="3658219307"/>
                  </a:ext>
                </a:extLst>
              </a:tr>
            </a:tbl>
          </a:graphicData>
        </a:graphic>
      </p:graphicFrame>
    </p:spTree>
    <p:extLst>
      <p:ext uri="{BB962C8B-B14F-4D97-AF65-F5344CB8AC3E}">
        <p14:creationId xmlns:p14="http://schemas.microsoft.com/office/powerpoint/2010/main" val="4008427990"/>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61F8A5-A5F1-96DA-1A99-FB1E4A389E5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C6A986CD-20BB-EE5E-2EA2-DFF79D14F590}"/>
              </a:ext>
            </a:extLst>
          </p:cNvPr>
          <p:cNvSpPr txBox="1"/>
          <p:nvPr/>
        </p:nvSpPr>
        <p:spPr>
          <a:xfrm>
            <a:off x="0" y="0"/>
            <a:ext cx="8976732"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200" b="1" dirty="0">
                <a:solidFill>
                  <a:prstClr val="black"/>
                </a:solidFill>
                <a:latin typeface="Calibri" panose="020F0502020204030204" pitchFamily="34" charset="0"/>
                <a:cs typeface="Calibri" panose="020F0502020204030204" pitchFamily="34" charset="0"/>
              </a:rPr>
              <a:t>Weeks 2 – 3 Lab</a:t>
            </a:r>
            <a:endParaRPr kumimoji="0" lang="en-US" sz="3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3" name="TextBox 2">
            <a:extLst>
              <a:ext uri="{FF2B5EF4-FFF2-40B4-BE49-F238E27FC236}">
                <a16:creationId xmlns:a16="http://schemas.microsoft.com/office/drawing/2014/main" id="{F45A2E7B-7560-A2BD-F6B4-AC005F2DB16A}"/>
              </a:ext>
            </a:extLst>
          </p:cNvPr>
          <p:cNvSpPr txBox="1"/>
          <p:nvPr/>
        </p:nvSpPr>
        <p:spPr>
          <a:xfrm>
            <a:off x="0" y="746093"/>
            <a:ext cx="12192000" cy="1318181"/>
          </a:xfrm>
          <a:prstGeom prst="rect">
            <a:avLst/>
          </a:prstGeom>
          <a:noFill/>
        </p:spPr>
        <p:txBody>
          <a:bodyPr wrap="square">
            <a:spAutoFit/>
          </a:bodyPr>
          <a:lstStyle/>
          <a:p>
            <a:pPr>
              <a:lnSpc>
                <a:spcPct val="150000"/>
              </a:lnSpc>
            </a:pPr>
            <a:r>
              <a:rPr lang="en-US" sz="2800" b="1" dirty="0">
                <a:latin typeface="Calibir"/>
              </a:rPr>
              <a:t>3. webserveralternatives.docx – Web Hosting Alternatives</a:t>
            </a:r>
          </a:p>
          <a:p>
            <a:pPr>
              <a:lnSpc>
                <a:spcPct val="150000"/>
              </a:lnSpc>
            </a:pPr>
            <a:r>
              <a:rPr lang="en-US" sz="2800" b="1" dirty="0">
                <a:latin typeface="Calibir"/>
              </a:rPr>
              <a:t>Web Hosting Alternatives Comparison</a:t>
            </a:r>
          </a:p>
        </p:txBody>
      </p:sp>
      <p:graphicFrame>
        <p:nvGraphicFramePr>
          <p:cNvPr id="2" name="Table 1">
            <a:extLst>
              <a:ext uri="{FF2B5EF4-FFF2-40B4-BE49-F238E27FC236}">
                <a16:creationId xmlns:a16="http://schemas.microsoft.com/office/drawing/2014/main" id="{87DD4646-11CF-D4F3-840C-A1BFE1BD674D}"/>
              </a:ext>
            </a:extLst>
          </p:cNvPr>
          <p:cNvGraphicFramePr>
            <a:graphicFrameLocks noGrp="1"/>
          </p:cNvGraphicFramePr>
          <p:nvPr>
            <p:extLst>
              <p:ext uri="{D42A27DB-BD31-4B8C-83A1-F6EECF244321}">
                <p14:modId xmlns:p14="http://schemas.microsoft.com/office/powerpoint/2010/main" val="3829833765"/>
              </p:ext>
            </p:extLst>
          </p:nvPr>
        </p:nvGraphicFramePr>
        <p:xfrm>
          <a:off x="0" y="2172400"/>
          <a:ext cx="11821976" cy="4685600"/>
        </p:xfrm>
        <a:graphic>
          <a:graphicData uri="http://schemas.openxmlformats.org/drawingml/2006/table">
            <a:tbl>
              <a:tblPr>
                <a:tableStyleId>{BDBED569-4797-4DF1-A0F4-6AAB3CD982D8}</a:tableStyleId>
              </a:tblPr>
              <a:tblGrid>
                <a:gridCol w="2955494">
                  <a:extLst>
                    <a:ext uri="{9D8B030D-6E8A-4147-A177-3AD203B41FA5}">
                      <a16:colId xmlns:a16="http://schemas.microsoft.com/office/drawing/2014/main" val="1703334681"/>
                    </a:ext>
                  </a:extLst>
                </a:gridCol>
                <a:gridCol w="2955494">
                  <a:extLst>
                    <a:ext uri="{9D8B030D-6E8A-4147-A177-3AD203B41FA5}">
                      <a16:colId xmlns:a16="http://schemas.microsoft.com/office/drawing/2014/main" val="3261449132"/>
                    </a:ext>
                  </a:extLst>
                </a:gridCol>
                <a:gridCol w="2955494">
                  <a:extLst>
                    <a:ext uri="{9D8B030D-6E8A-4147-A177-3AD203B41FA5}">
                      <a16:colId xmlns:a16="http://schemas.microsoft.com/office/drawing/2014/main" val="2400014401"/>
                    </a:ext>
                  </a:extLst>
                </a:gridCol>
                <a:gridCol w="2955494">
                  <a:extLst>
                    <a:ext uri="{9D8B030D-6E8A-4147-A177-3AD203B41FA5}">
                      <a16:colId xmlns:a16="http://schemas.microsoft.com/office/drawing/2014/main" val="2347456108"/>
                    </a:ext>
                  </a:extLst>
                </a:gridCol>
              </a:tblGrid>
              <a:tr h="429859">
                <a:tc>
                  <a:txBody>
                    <a:bodyPr/>
                    <a:lstStyle/>
                    <a:p>
                      <a:pPr>
                        <a:buNone/>
                      </a:pPr>
                      <a:endParaRPr lang="en-US" sz="2800" dirty="0">
                        <a:latin typeface="Calibir"/>
                      </a:endParaRPr>
                    </a:p>
                  </a:txBody>
                  <a:tcPr marL="83680" marR="83680" marT="41840" marB="41840" anchor="ctr"/>
                </a:tc>
                <a:tc>
                  <a:txBody>
                    <a:bodyPr/>
                    <a:lstStyle/>
                    <a:p>
                      <a:pPr>
                        <a:buNone/>
                      </a:pPr>
                      <a:r>
                        <a:rPr lang="en-US" sz="2800">
                          <a:latin typeface="Calibir"/>
                        </a:rPr>
                        <a:t>Alternative 1</a:t>
                      </a:r>
                    </a:p>
                  </a:txBody>
                  <a:tcPr marL="83680" marR="83680" marT="41840" marB="41840" anchor="ctr"/>
                </a:tc>
                <a:tc>
                  <a:txBody>
                    <a:bodyPr/>
                    <a:lstStyle/>
                    <a:p>
                      <a:pPr>
                        <a:buNone/>
                      </a:pPr>
                      <a:r>
                        <a:rPr lang="en-US" sz="2800">
                          <a:latin typeface="Calibir"/>
                        </a:rPr>
                        <a:t>Alternative 2</a:t>
                      </a:r>
                    </a:p>
                  </a:txBody>
                  <a:tcPr marL="83680" marR="83680" marT="41840" marB="41840" anchor="ctr"/>
                </a:tc>
                <a:tc>
                  <a:txBody>
                    <a:bodyPr/>
                    <a:lstStyle/>
                    <a:p>
                      <a:pPr>
                        <a:buNone/>
                      </a:pPr>
                      <a:r>
                        <a:rPr lang="en-US" sz="2800">
                          <a:latin typeface="Calibir"/>
                        </a:rPr>
                        <a:t>Alternative 3</a:t>
                      </a:r>
                    </a:p>
                  </a:txBody>
                  <a:tcPr marL="83680" marR="83680" marT="41840" marB="41840" anchor="ctr"/>
                </a:tc>
                <a:extLst>
                  <a:ext uri="{0D108BD9-81ED-4DB2-BD59-A6C34878D82A}">
                    <a16:rowId xmlns:a16="http://schemas.microsoft.com/office/drawing/2014/main" val="1729446722"/>
                  </a:ext>
                </a:extLst>
              </a:tr>
              <a:tr h="429859">
                <a:tc>
                  <a:txBody>
                    <a:bodyPr/>
                    <a:lstStyle/>
                    <a:p>
                      <a:pPr>
                        <a:buNone/>
                      </a:pPr>
                      <a:r>
                        <a:rPr lang="en-US" sz="2800" dirty="0">
                          <a:latin typeface="Calibir"/>
                        </a:rPr>
                        <a:t>Traffic</a:t>
                      </a:r>
                    </a:p>
                  </a:txBody>
                  <a:tcPr marL="83680" marR="83680" marT="41840" marB="41840" anchor="ctr"/>
                </a:tc>
                <a:tc>
                  <a:txBody>
                    <a:bodyPr/>
                    <a:lstStyle/>
                    <a:p>
                      <a:pPr>
                        <a:buNone/>
                      </a:pPr>
                      <a:r>
                        <a:rPr lang="en-US" sz="2800">
                          <a:latin typeface="Calibir"/>
                        </a:rPr>
                        <a:t>Unlimited</a:t>
                      </a:r>
                    </a:p>
                  </a:txBody>
                  <a:tcPr marL="83680" marR="83680" marT="41840" marB="41840" anchor="ctr"/>
                </a:tc>
                <a:tc>
                  <a:txBody>
                    <a:bodyPr/>
                    <a:lstStyle/>
                    <a:p>
                      <a:pPr>
                        <a:buNone/>
                      </a:pPr>
                      <a:r>
                        <a:rPr lang="en-US" sz="2800">
                          <a:latin typeface="Calibir"/>
                        </a:rPr>
                        <a:t>Unlimited</a:t>
                      </a:r>
                    </a:p>
                  </a:txBody>
                  <a:tcPr marL="83680" marR="83680" marT="41840" marB="41840" anchor="ctr"/>
                </a:tc>
                <a:tc>
                  <a:txBody>
                    <a:bodyPr/>
                    <a:lstStyle/>
                    <a:p>
                      <a:pPr>
                        <a:buNone/>
                      </a:pPr>
                      <a:r>
                        <a:rPr lang="en-US" sz="2800" dirty="0">
                          <a:latin typeface="Calibir"/>
                        </a:rPr>
                        <a:t>Unlimited</a:t>
                      </a:r>
                    </a:p>
                  </a:txBody>
                  <a:tcPr marL="83680" marR="83680" marT="41840" marB="41840" anchor="ctr"/>
                </a:tc>
                <a:extLst>
                  <a:ext uri="{0D108BD9-81ED-4DB2-BD59-A6C34878D82A}">
                    <a16:rowId xmlns:a16="http://schemas.microsoft.com/office/drawing/2014/main" val="4181158700"/>
                  </a:ext>
                </a:extLst>
              </a:tr>
              <a:tr h="773861">
                <a:tc>
                  <a:txBody>
                    <a:bodyPr/>
                    <a:lstStyle/>
                    <a:p>
                      <a:pPr>
                        <a:buNone/>
                      </a:pPr>
                      <a:r>
                        <a:rPr lang="en-US" sz="2800" dirty="0">
                          <a:latin typeface="Calibir"/>
                        </a:rPr>
                        <a:t>Pros</a:t>
                      </a:r>
                    </a:p>
                  </a:txBody>
                  <a:tcPr marL="83680" marR="83680" marT="41840" marB="41840" anchor="ctr"/>
                </a:tc>
                <a:tc>
                  <a:txBody>
                    <a:bodyPr/>
                    <a:lstStyle/>
                    <a:p>
                      <a:pPr>
                        <a:buNone/>
                      </a:pPr>
                      <a:r>
                        <a:rPr lang="en-US" sz="2800" dirty="0">
                          <a:latin typeface="Calibir"/>
                        </a:rPr>
                        <a:t>Affordable, beginner friendly, fast performance</a:t>
                      </a:r>
                    </a:p>
                  </a:txBody>
                  <a:tcPr marL="83680" marR="83680" marT="41840" marB="41840" anchor="ctr"/>
                </a:tc>
                <a:tc>
                  <a:txBody>
                    <a:bodyPr/>
                    <a:lstStyle/>
                    <a:p>
                      <a:pPr>
                        <a:buNone/>
                      </a:pPr>
                      <a:r>
                        <a:rPr lang="en-US" sz="2800" dirty="0">
                          <a:latin typeface="Calibir"/>
                        </a:rPr>
                        <a:t>Strong customer support, popular provider</a:t>
                      </a:r>
                    </a:p>
                  </a:txBody>
                  <a:tcPr marL="83680" marR="83680" marT="41840" marB="41840" anchor="ctr"/>
                </a:tc>
                <a:tc>
                  <a:txBody>
                    <a:bodyPr/>
                    <a:lstStyle/>
                    <a:p>
                      <a:pPr>
                        <a:buNone/>
                      </a:pPr>
                      <a:r>
                        <a:rPr lang="en-US" sz="2800" dirty="0">
                          <a:latin typeface="Calibir"/>
                        </a:rPr>
                        <a:t>Unlimited bandwidth and storage</a:t>
                      </a:r>
                    </a:p>
                  </a:txBody>
                  <a:tcPr marL="83680" marR="83680" marT="41840" marB="41840" anchor="ctr"/>
                </a:tc>
                <a:extLst>
                  <a:ext uri="{0D108BD9-81ED-4DB2-BD59-A6C34878D82A}">
                    <a16:rowId xmlns:a16="http://schemas.microsoft.com/office/drawing/2014/main" val="2101667588"/>
                  </a:ext>
                </a:extLst>
              </a:tr>
              <a:tr h="429859">
                <a:tc>
                  <a:txBody>
                    <a:bodyPr/>
                    <a:lstStyle/>
                    <a:p>
                      <a:pPr>
                        <a:buNone/>
                      </a:pPr>
                      <a:r>
                        <a:rPr lang="en-US" sz="2800" dirty="0">
                          <a:latin typeface="Calibir"/>
                        </a:rPr>
                        <a:t>Cons</a:t>
                      </a:r>
                    </a:p>
                  </a:txBody>
                  <a:tcPr marL="83680" marR="83680" marT="41840" marB="41840" anchor="ctr"/>
                </a:tc>
                <a:tc>
                  <a:txBody>
                    <a:bodyPr/>
                    <a:lstStyle/>
                    <a:p>
                      <a:pPr>
                        <a:buNone/>
                      </a:pPr>
                      <a:r>
                        <a:rPr lang="en-US" sz="2800" dirty="0">
                          <a:latin typeface="Calibir"/>
                        </a:rPr>
                        <a:t>Higher renewal prices</a:t>
                      </a:r>
                    </a:p>
                  </a:txBody>
                  <a:tcPr marL="83680" marR="83680" marT="41840" marB="41840" anchor="ctr"/>
                </a:tc>
                <a:tc>
                  <a:txBody>
                    <a:bodyPr/>
                    <a:lstStyle/>
                    <a:p>
                      <a:pPr>
                        <a:buNone/>
                      </a:pPr>
                      <a:r>
                        <a:rPr lang="en-US" sz="2800" dirty="0">
                          <a:latin typeface="Calibir"/>
                        </a:rPr>
                        <a:t>More expensive after first year</a:t>
                      </a:r>
                    </a:p>
                  </a:txBody>
                  <a:tcPr marL="83680" marR="83680" marT="41840" marB="41840" anchor="ctr"/>
                </a:tc>
                <a:tc>
                  <a:txBody>
                    <a:bodyPr/>
                    <a:lstStyle/>
                    <a:p>
                      <a:pPr>
                        <a:buNone/>
                      </a:pPr>
                      <a:r>
                        <a:rPr lang="en-US" sz="2800" dirty="0">
                          <a:latin typeface="Calibir"/>
                        </a:rPr>
                        <a:t>Some features require higher plans</a:t>
                      </a:r>
                    </a:p>
                  </a:txBody>
                  <a:tcPr marL="83680" marR="83680" marT="41840" marB="41840" anchor="ctr"/>
                </a:tc>
                <a:extLst>
                  <a:ext uri="{0D108BD9-81ED-4DB2-BD59-A6C34878D82A}">
                    <a16:rowId xmlns:a16="http://schemas.microsoft.com/office/drawing/2014/main" val="2235578866"/>
                  </a:ext>
                </a:extLst>
              </a:tr>
              <a:tr h="429859">
                <a:tc>
                  <a:txBody>
                    <a:bodyPr/>
                    <a:lstStyle/>
                    <a:p>
                      <a:pPr>
                        <a:buNone/>
                      </a:pPr>
                      <a:r>
                        <a:rPr lang="en-US" sz="2800" dirty="0">
                          <a:latin typeface="Calibir"/>
                        </a:rPr>
                        <a:t>Email</a:t>
                      </a:r>
                    </a:p>
                  </a:txBody>
                  <a:tcPr marL="83680" marR="83680" marT="41840" marB="41840" anchor="ctr"/>
                </a:tc>
                <a:tc>
                  <a:txBody>
                    <a:bodyPr/>
                    <a:lstStyle/>
                    <a:p>
                      <a:pPr>
                        <a:buNone/>
                      </a:pPr>
                      <a:r>
                        <a:rPr lang="en-US" sz="2800" dirty="0">
                          <a:latin typeface="Calibir"/>
                        </a:rPr>
                        <a:t>1 free email account</a:t>
                      </a:r>
                    </a:p>
                  </a:txBody>
                  <a:tcPr marL="83680" marR="83680" marT="41840" marB="41840" anchor="ctr"/>
                </a:tc>
                <a:tc>
                  <a:txBody>
                    <a:bodyPr/>
                    <a:lstStyle/>
                    <a:p>
                      <a:pPr>
                        <a:buNone/>
                      </a:pPr>
                      <a:r>
                        <a:rPr lang="en-US" sz="2800" dirty="0">
                          <a:latin typeface="Calibir"/>
                        </a:rPr>
                        <a:t>Professional email available</a:t>
                      </a:r>
                    </a:p>
                  </a:txBody>
                  <a:tcPr marL="83680" marR="83680" marT="41840" marB="41840" anchor="ctr"/>
                </a:tc>
                <a:tc>
                  <a:txBody>
                    <a:bodyPr/>
                    <a:lstStyle/>
                    <a:p>
                      <a:pPr>
                        <a:buNone/>
                      </a:pPr>
                      <a:r>
                        <a:rPr lang="en-US" sz="2800" dirty="0">
                          <a:latin typeface="Calibir"/>
                        </a:rPr>
                        <a:t>Unlimited email accounts</a:t>
                      </a:r>
                    </a:p>
                  </a:txBody>
                  <a:tcPr marL="83680" marR="83680" marT="41840" marB="41840" anchor="ctr"/>
                </a:tc>
                <a:extLst>
                  <a:ext uri="{0D108BD9-81ED-4DB2-BD59-A6C34878D82A}">
                    <a16:rowId xmlns:a16="http://schemas.microsoft.com/office/drawing/2014/main" val="2021444835"/>
                  </a:ext>
                </a:extLst>
              </a:tr>
            </a:tbl>
          </a:graphicData>
        </a:graphic>
      </p:graphicFrame>
    </p:spTree>
    <p:extLst>
      <p:ext uri="{BB962C8B-B14F-4D97-AF65-F5344CB8AC3E}">
        <p14:creationId xmlns:p14="http://schemas.microsoft.com/office/powerpoint/2010/main" val="3416394583"/>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EEADC4-C462-8B2E-B32F-BC2E9B3FAC81}"/>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A547B7CB-863F-FDA0-BFAC-39BCCD30E4EC}"/>
              </a:ext>
            </a:extLst>
          </p:cNvPr>
          <p:cNvSpPr txBox="1"/>
          <p:nvPr/>
        </p:nvSpPr>
        <p:spPr>
          <a:xfrm>
            <a:off x="0" y="0"/>
            <a:ext cx="8976732"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200" b="1" dirty="0">
                <a:solidFill>
                  <a:prstClr val="black"/>
                </a:solidFill>
                <a:latin typeface="Calibri" panose="020F0502020204030204" pitchFamily="34" charset="0"/>
                <a:cs typeface="Calibri" panose="020F0502020204030204" pitchFamily="34" charset="0"/>
              </a:rPr>
              <a:t>Weeks 2 – 3 Lab</a:t>
            </a:r>
            <a:endParaRPr kumimoji="0" lang="en-US" sz="3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3" name="TextBox 2">
            <a:extLst>
              <a:ext uri="{FF2B5EF4-FFF2-40B4-BE49-F238E27FC236}">
                <a16:creationId xmlns:a16="http://schemas.microsoft.com/office/drawing/2014/main" id="{2EAB6671-1B66-4032-2F87-5464AFBC7198}"/>
              </a:ext>
            </a:extLst>
          </p:cNvPr>
          <p:cNvSpPr txBox="1"/>
          <p:nvPr/>
        </p:nvSpPr>
        <p:spPr>
          <a:xfrm>
            <a:off x="0" y="746093"/>
            <a:ext cx="12192000" cy="1318181"/>
          </a:xfrm>
          <a:prstGeom prst="rect">
            <a:avLst/>
          </a:prstGeom>
          <a:noFill/>
        </p:spPr>
        <p:txBody>
          <a:bodyPr wrap="square">
            <a:spAutoFit/>
          </a:bodyPr>
          <a:lstStyle/>
          <a:p>
            <a:pPr>
              <a:lnSpc>
                <a:spcPct val="150000"/>
              </a:lnSpc>
            </a:pPr>
            <a:r>
              <a:rPr lang="en-US" sz="2800" b="1" dirty="0">
                <a:latin typeface="Calibir"/>
              </a:rPr>
              <a:t>3. webserveralternatives.docx – Web Hosting Alternatives</a:t>
            </a:r>
          </a:p>
          <a:p>
            <a:pPr>
              <a:lnSpc>
                <a:spcPct val="150000"/>
              </a:lnSpc>
            </a:pPr>
            <a:r>
              <a:rPr lang="en-US" sz="2800" b="1" dirty="0">
                <a:latin typeface="Calibir"/>
              </a:rPr>
              <a:t>Web Hosting Alternatives Comparison</a:t>
            </a:r>
          </a:p>
        </p:txBody>
      </p:sp>
      <p:graphicFrame>
        <p:nvGraphicFramePr>
          <p:cNvPr id="5" name="Table 4">
            <a:extLst>
              <a:ext uri="{FF2B5EF4-FFF2-40B4-BE49-F238E27FC236}">
                <a16:creationId xmlns:a16="http://schemas.microsoft.com/office/drawing/2014/main" id="{5BBC2793-363B-3499-FB19-3AD5F124C841}"/>
              </a:ext>
            </a:extLst>
          </p:cNvPr>
          <p:cNvGraphicFramePr>
            <a:graphicFrameLocks noGrp="1"/>
          </p:cNvGraphicFramePr>
          <p:nvPr>
            <p:extLst>
              <p:ext uri="{D42A27DB-BD31-4B8C-83A1-F6EECF244321}">
                <p14:modId xmlns:p14="http://schemas.microsoft.com/office/powerpoint/2010/main" val="3910097295"/>
              </p:ext>
            </p:extLst>
          </p:nvPr>
        </p:nvGraphicFramePr>
        <p:xfrm>
          <a:off x="838200" y="3132614"/>
          <a:ext cx="10515600" cy="3352800"/>
        </p:xfrm>
        <a:graphic>
          <a:graphicData uri="http://schemas.openxmlformats.org/drawingml/2006/table">
            <a:tbl>
              <a:tblPr>
                <a:tableStyleId>{BDBED569-4797-4DF1-A0F4-6AAB3CD982D8}</a:tableStyleId>
              </a:tblPr>
              <a:tblGrid>
                <a:gridCol w="5257800">
                  <a:extLst>
                    <a:ext uri="{9D8B030D-6E8A-4147-A177-3AD203B41FA5}">
                      <a16:colId xmlns:a16="http://schemas.microsoft.com/office/drawing/2014/main" val="3127950400"/>
                    </a:ext>
                  </a:extLst>
                </a:gridCol>
                <a:gridCol w="5257800">
                  <a:extLst>
                    <a:ext uri="{9D8B030D-6E8A-4147-A177-3AD203B41FA5}">
                      <a16:colId xmlns:a16="http://schemas.microsoft.com/office/drawing/2014/main" val="535808610"/>
                    </a:ext>
                  </a:extLst>
                </a:gridCol>
              </a:tblGrid>
              <a:tr h="0">
                <a:tc>
                  <a:txBody>
                    <a:bodyPr/>
                    <a:lstStyle/>
                    <a:p>
                      <a:pPr>
                        <a:buNone/>
                      </a:pPr>
                      <a:r>
                        <a:rPr lang="en-US" sz="2800" dirty="0">
                          <a:latin typeface="Calibir"/>
                        </a:rPr>
                        <a:t>Method</a:t>
                      </a:r>
                    </a:p>
                  </a:txBody>
                  <a:tcPr anchor="ctr">
                    <a:solidFill>
                      <a:schemeClr val="accent5">
                        <a:lumMod val="20000"/>
                        <a:lumOff val="80000"/>
                      </a:schemeClr>
                    </a:solidFill>
                  </a:tcPr>
                </a:tc>
                <a:tc>
                  <a:txBody>
                    <a:bodyPr/>
                    <a:lstStyle/>
                    <a:p>
                      <a:pPr>
                        <a:buNone/>
                      </a:pPr>
                      <a:r>
                        <a:rPr lang="en-US" sz="2800" dirty="0">
                          <a:latin typeface="Calibir"/>
                        </a:rPr>
                        <a:t>Explanation</a:t>
                      </a:r>
                    </a:p>
                  </a:txBody>
                  <a:tcPr anchor="ctr">
                    <a:solidFill>
                      <a:schemeClr val="accent5">
                        <a:lumMod val="20000"/>
                        <a:lumOff val="80000"/>
                      </a:schemeClr>
                    </a:solidFill>
                  </a:tcPr>
                </a:tc>
                <a:extLst>
                  <a:ext uri="{0D108BD9-81ED-4DB2-BD59-A6C34878D82A}">
                    <a16:rowId xmlns:a16="http://schemas.microsoft.com/office/drawing/2014/main" val="1014150328"/>
                  </a:ext>
                </a:extLst>
              </a:tr>
              <a:tr h="0">
                <a:tc>
                  <a:txBody>
                    <a:bodyPr/>
                    <a:lstStyle/>
                    <a:p>
                      <a:pPr>
                        <a:buNone/>
                      </a:pPr>
                      <a:r>
                        <a:rPr lang="en-US" sz="2800">
                          <a:latin typeface="Calibir"/>
                        </a:rPr>
                        <a:t>Advertisements</a:t>
                      </a:r>
                    </a:p>
                  </a:txBody>
                  <a:tcPr anchor="ctr"/>
                </a:tc>
                <a:tc>
                  <a:txBody>
                    <a:bodyPr/>
                    <a:lstStyle/>
                    <a:p>
                      <a:pPr>
                        <a:buNone/>
                      </a:pPr>
                      <a:r>
                        <a:rPr lang="en-US" sz="2800">
                          <a:latin typeface="Calibir"/>
                        </a:rPr>
                        <a:t>Ads are displayed on users’ free websites</a:t>
                      </a:r>
                    </a:p>
                  </a:txBody>
                  <a:tcPr anchor="ctr"/>
                </a:tc>
                <a:extLst>
                  <a:ext uri="{0D108BD9-81ED-4DB2-BD59-A6C34878D82A}">
                    <a16:rowId xmlns:a16="http://schemas.microsoft.com/office/drawing/2014/main" val="3078525275"/>
                  </a:ext>
                </a:extLst>
              </a:tr>
              <a:tr h="0">
                <a:tc>
                  <a:txBody>
                    <a:bodyPr/>
                    <a:lstStyle/>
                    <a:p>
                      <a:pPr>
                        <a:buNone/>
                      </a:pPr>
                      <a:r>
                        <a:rPr lang="en-US" sz="2800">
                          <a:latin typeface="Calibir"/>
                        </a:rPr>
                        <a:t>Premium Upgrades</a:t>
                      </a:r>
                    </a:p>
                  </a:txBody>
                  <a:tcPr anchor="ctr"/>
                </a:tc>
                <a:tc>
                  <a:txBody>
                    <a:bodyPr/>
                    <a:lstStyle/>
                    <a:p>
                      <a:pPr>
                        <a:buNone/>
                      </a:pPr>
                      <a:r>
                        <a:rPr lang="en-US" sz="2800">
                          <a:latin typeface="Calibir"/>
                        </a:rPr>
                        <a:t>Users pay to upgrade storage, speed, and features</a:t>
                      </a:r>
                    </a:p>
                  </a:txBody>
                  <a:tcPr anchor="ctr"/>
                </a:tc>
                <a:extLst>
                  <a:ext uri="{0D108BD9-81ED-4DB2-BD59-A6C34878D82A}">
                    <a16:rowId xmlns:a16="http://schemas.microsoft.com/office/drawing/2014/main" val="1261861444"/>
                  </a:ext>
                </a:extLst>
              </a:tr>
              <a:tr h="0">
                <a:tc>
                  <a:txBody>
                    <a:bodyPr/>
                    <a:lstStyle/>
                    <a:p>
                      <a:pPr>
                        <a:buNone/>
                      </a:pPr>
                      <a:r>
                        <a:rPr lang="en-US" sz="2800">
                          <a:latin typeface="Calibir"/>
                        </a:rPr>
                        <a:t>Domain &amp; Extra Services</a:t>
                      </a:r>
                    </a:p>
                  </a:txBody>
                  <a:tcPr anchor="ctr"/>
                </a:tc>
                <a:tc>
                  <a:txBody>
                    <a:bodyPr/>
                    <a:lstStyle/>
                    <a:p>
                      <a:pPr>
                        <a:buNone/>
                      </a:pPr>
                      <a:r>
                        <a:rPr lang="en-US" sz="2800" dirty="0">
                          <a:latin typeface="Calibir"/>
                        </a:rPr>
                        <a:t>Companies sell domain names, SSL certificates, and business tools</a:t>
                      </a:r>
                    </a:p>
                  </a:txBody>
                  <a:tcPr anchor="ctr"/>
                </a:tc>
                <a:extLst>
                  <a:ext uri="{0D108BD9-81ED-4DB2-BD59-A6C34878D82A}">
                    <a16:rowId xmlns:a16="http://schemas.microsoft.com/office/drawing/2014/main" val="1262103390"/>
                  </a:ext>
                </a:extLst>
              </a:tr>
            </a:tbl>
          </a:graphicData>
        </a:graphic>
      </p:graphicFrame>
      <p:sp>
        <p:nvSpPr>
          <p:cNvPr id="7" name="TextBox 6">
            <a:extLst>
              <a:ext uri="{FF2B5EF4-FFF2-40B4-BE49-F238E27FC236}">
                <a16:creationId xmlns:a16="http://schemas.microsoft.com/office/drawing/2014/main" id="{C685F551-E681-F35F-583A-869A2B7AF05F}"/>
              </a:ext>
            </a:extLst>
          </p:cNvPr>
          <p:cNvSpPr txBox="1"/>
          <p:nvPr/>
        </p:nvSpPr>
        <p:spPr>
          <a:xfrm>
            <a:off x="0" y="2312538"/>
            <a:ext cx="12192000" cy="523220"/>
          </a:xfrm>
          <a:prstGeom prst="rect">
            <a:avLst/>
          </a:prstGeom>
          <a:noFill/>
        </p:spPr>
        <p:txBody>
          <a:bodyPr wrap="square">
            <a:spAutoFit/>
          </a:bodyPr>
          <a:lstStyle/>
          <a:p>
            <a:pPr>
              <a:buNone/>
            </a:pPr>
            <a:r>
              <a:rPr lang="en-US" sz="2800" b="1" dirty="0">
                <a:latin typeface="Calibir"/>
              </a:rPr>
              <a:t>Three Ways Free Hosting Companies Generate Revenue</a:t>
            </a:r>
          </a:p>
        </p:txBody>
      </p:sp>
    </p:spTree>
    <p:extLst>
      <p:ext uri="{BB962C8B-B14F-4D97-AF65-F5344CB8AC3E}">
        <p14:creationId xmlns:p14="http://schemas.microsoft.com/office/powerpoint/2010/main" val="3698117423"/>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E6927C8F-21EE-2C4A-D5A5-CE6E4426EF9F}"/>
              </a:ext>
            </a:extLst>
          </p:cNvPr>
          <p:cNvPicPr>
            <a:picLocks noChangeAspect="1"/>
          </p:cNvPicPr>
          <p:nvPr/>
        </p:nvPicPr>
        <p:blipFill>
          <a:blip r:embed="rId2"/>
          <a:stretch>
            <a:fillRect/>
          </a:stretch>
        </p:blipFill>
        <p:spPr>
          <a:xfrm>
            <a:off x="1820040" y="738506"/>
            <a:ext cx="8551920" cy="5793944"/>
          </a:xfrm>
          <a:prstGeom prst="rect">
            <a:avLst/>
          </a:prstGeom>
        </p:spPr>
      </p:pic>
      <p:sp>
        <p:nvSpPr>
          <p:cNvPr id="2" name="TextBox 1">
            <a:extLst>
              <a:ext uri="{FF2B5EF4-FFF2-40B4-BE49-F238E27FC236}">
                <a16:creationId xmlns:a16="http://schemas.microsoft.com/office/drawing/2014/main" id="{2E2F80AB-37B3-37E8-04DA-00F5CF121827}"/>
              </a:ext>
            </a:extLst>
          </p:cNvPr>
          <p:cNvSpPr txBox="1"/>
          <p:nvPr/>
        </p:nvSpPr>
        <p:spPr>
          <a:xfrm>
            <a:off x="0" y="0"/>
            <a:ext cx="8976732"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200" b="1" dirty="0">
                <a:solidFill>
                  <a:prstClr val="black"/>
                </a:solidFill>
                <a:latin typeface="Calibri" panose="020F0502020204030204" pitchFamily="34" charset="0"/>
                <a:cs typeface="Calibri" panose="020F0502020204030204" pitchFamily="34" charset="0"/>
              </a:rPr>
              <a:t>Weeks 2 – 3 Lab</a:t>
            </a:r>
            <a:endParaRPr kumimoji="0" lang="en-US" sz="3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5" name="Rectangle 4">
            <a:extLst>
              <a:ext uri="{FF2B5EF4-FFF2-40B4-BE49-F238E27FC236}">
                <a16:creationId xmlns:a16="http://schemas.microsoft.com/office/drawing/2014/main" id="{F640E8C9-E5B6-639D-30A4-157F6CC9E520}"/>
              </a:ext>
            </a:extLst>
          </p:cNvPr>
          <p:cNvSpPr/>
          <p:nvPr/>
        </p:nvSpPr>
        <p:spPr>
          <a:xfrm>
            <a:off x="3038168" y="1578077"/>
            <a:ext cx="5855109" cy="353962"/>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654390895"/>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FAAE50AB-9AFB-5417-8ADC-FA185307FE2D}"/>
              </a:ext>
            </a:extLst>
          </p:cNvPr>
          <p:cNvPicPr>
            <a:picLocks noChangeAspect="1"/>
          </p:cNvPicPr>
          <p:nvPr/>
        </p:nvPicPr>
        <p:blipFill>
          <a:blip r:embed="rId2"/>
          <a:stretch>
            <a:fillRect/>
          </a:stretch>
        </p:blipFill>
        <p:spPr>
          <a:xfrm>
            <a:off x="1176268" y="348628"/>
            <a:ext cx="9839463" cy="6349929"/>
          </a:xfrm>
          <a:prstGeom prst="rect">
            <a:avLst/>
          </a:prstGeom>
        </p:spPr>
      </p:pic>
    </p:spTree>
    <p:extLst>
      <p:ext uri="{BB962C8B-B14F-4D97-AF65-F5344CB8AC3E}">
        <p14:creationId xmlns:p14="http://schemas.microsoft.com/office/powerpoint/2010/main" val="1326557486"/>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048FCCE7-CA36-7E71-FC6F-271303D9AAA5}"/>
              </a:ext>
            </a:extLst>
          </p:cNvPr>
          <p:cNvPicPr>
            <a:picLocks noChangeAspect="1"/>
          </p:cNvPicPr>
          <p:nvPr/>
        </p:nvPicPr>
        <p:blipFill>
          <a:blip r:embed="rId2"/>
          <a:stretch>
            <a:fillRect/>
          </a:stretch>
        </p:blipFill>
        <p:spPr>
          <a:xfrm>
            <a:off x="3701282" y="143312"/>
            <a:ext cx="4789435" cy="6571376"/>
          </a:xfrm>
          <a:prstGeom prst="rect">
            <a:avLst/>
          </a:prstGeom>
        </p:spPr>
      </p:pic>
    </p:spTree>
    <p:extLst>
      <p:ext uri="{BB962C8B-B14F-4D97-AF65-F5344CB8AC3E}">
        <p14:creationId xmlns:p14="http://schemas.microsoft.com/office/powerpoint/2010/main" val="3680588149"/>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AC15BFFA-B370-C769-F153-6AC581F76EE3}"/>
              </a:ext>
            </a:extLst>
          </p:cNvPr>
          <p:cNvPicPr>
            <a:picLocks noChangeAspect="1"/>
          </p:cNvPicPr>
          <p:nvPr/>
        </p:nvPicPr>
        <p:blipFill>
          <a:blip r:embed="rId2"/>
          <a:stretch>
            <a:fillRect/>
          </a:stretch>
        </p:blipFill>
        <p:spPr>
          <a:xfrm>
            <a:off x="2861201" y="1487213"/>
            <a:ext cx="6469598" cy="3883574"/>
          </a:xfrm>
          <a:prstGeom prst="rect">
            <a:avLst/>
          </a:prstGeom>
        </p:spPr>
      </p:pic>
    </p:spTree>
    <p:extLst>
      <p:ext uri="{BB962C8B-B14F-4D97-AF65-F5344CB8AC3E}">
        <p14:creationId xmlns:p14="http://schemas.microsoft.com/office/powerpoint/2010/main" val="1581089685"/>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4978D2-C9E7-AE2A-EBB3-539B048C5907}"/>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149FA9C7-1BC7-C10D-2368-6011ED7BD19B}"/>
              </a:ext>
            </a:extLst>
          </p:cNvPr>
          <p:cNvSpPr txBox="1"/>
          <p:nvPr/>
        </p:nvSpPr>
        <p:spPr>
          <a:xfrm>
            <a:off x="0" y="0"/>
            <a:ext cx="8976732" cy="584775"/>
          </a:xfrm>
          <a:prstGeom prst="rect">
            <a:avLst/>
          </a:prstGeom>
          <a:noFill/>
        </p:spPr>
        <p:txBody>
          <a:bodyPr wrap="square" rtlCol="0">
            <a:spAutoFit/>
          </a:bodyPr>
          <a:lstStyle/>
          <a:p>
            <a:pPr lvl="0">
              <a:defRPr/>
            </a:pPr>
            <a:r>
              <a:rPr lang="en-US" sz="3200" b="1" dirty="0">
                <a:solidFill>
                  <a:prstClr val="black"/>
                </a:solidFill>
                <a:latin typeface="Calibri" panose="020F0502020204030204" pitchFamily="34" charset="0"/>
                <a:cs typeface="Calibri" panose="020F0502020204030204" pitchFamily="34" charset="0"/>
              </a:rPr>
              <a:t>Weeks 2 – 3 Lab</a:t>
            </a:r>
          </a:p>
        </p:txBody>
      </p:sp>
      <p:pic>
        <p:nvPicPr>
          <p:cNvPr id="7" name="Picture 6">
            <a:extLst>
              <a:ext uri="{FF2B5EF4-FFF2-40B4-BE49-F238E27FC236}">
                <a16:creationId xmlns:a16="http://schemas.microsoft.com/office/drawing/2014/main" id="{078DE856-F0BC-DB75-672D-F92DB0E190C6}"/>
              </a:ext>
            </a:extLst>
          </p:cNvPr>
          <p:cNvPicPr>
            <a:picLocks noChangeAspect="1"/>
          </p:cNvPicPr>
          <p:nvPr/>
        </p:nvPicPr>
        <p:blipFill>
          <a:blip r:embed="rId2"/>
          <a:stretch>
            <a:fillRect/>
          </a:stretch>
        </p:blipFill>
        <p:spPr>
          <a:xfrm>
            <a:off x="1659097" y="584775"/>
            <a:ext cx="8873806" cy="6276773"/>
          </a:xfrm>
          <a:prstGeom prst="rect">
            <a:avLst/>
          </a:prstGeom>
        </p:spPr>
      </p:pic>
    </p:spTree>
    <p:extLst>
      <p:ext uri="{BB962C8B-B14F-4D97-AF65-F5344CB8AC3E}">
        <p14:creationId xmlns:p14="http://schemas.microsoft.com/office/powerpoint/2010/main" val="1143044846"/>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41AE96B1-34CD-B44C-FC88-E15AFA30DB54}"/>
              </a:ext>
            </a:extLst>
          </p:cNvPr>
          <p:cNvSpPr txBox="1"/>
          <p:nvPr/>
        </p:nvSpPr>
        <p:spPr>
          <a:xfrm>
            <a:off x="0" y="0"/>
            <a:ext cx="8976732" cy="43088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rPr>
              <a:t>Challenge 1 (HTML code in </a:t>
            </a:r>
            <a:r>
              <a:rPr kumimoji="0" lang="en-US" sz="2200" b="1" i="0" u="none" strike="noStrike" kern="1200" cap="none" spc="0" normalizeH="0" baseline="0" noProof="0" dirty="0">
                <a:ln>
                  <a:noFill/>
                </a:ln>
                <a:solidFill>
                  <a:prstClr val="black"/>
                </a:solidFill>
                <a:effectLst/>
                <a:highlight>
                  <a:srgbClr val="FFFF00"/>
                </a:highlight>
                <a:uLnTx/>
                <a:uFillTx/>
                <a:latin typeface="Calibri" panose="020F0502020204030204" pitchFamily="34" charset="0"/>
                <a:ea typeface="+mn-ea"/>
                <a:cs typeface="Calibri" panose="020F0502020204030204" pitchFamily="34" charset="0"/>
              </a:rPr>
              <a:t>Notepad ++)</a:t>
            </a:r>
          </a:p>
        </p:txBody>
      </p:sp>
      <p:pic>
        <p:nvPicPr>
          <p:cNvPr id="7" name="Picture 6">
            <a:extLst>
              <a:ext uri="{FF2B5EF4-FFF2-40B4-BE49-F238E27FC236}">
                <a16:creationId xmlns:a16="http://schemas.microsoft.com/office/drawing/2014/main" id="{62E0C68B-CBD7-2BA1-1E2B-07A6EA53D37C}"/>
              </a:ext>
            </a:extLst>
          </p:cNvPr>
          <p:cNvPicPr>
            <a:picLocks noChangeAspect="1"/>
          </p:cNvPicPr>
          <p:nvPr/>
        </p:nvPicPr>
        <p:blipFill>
          <a:blip r:embed="rId2"/>
          <a:stretch>
            <a:fillRect/>
          </a:stretch>
        </p:blipFill>
        <p:spPr>
          <a:xfrm>
            <a:off x="94669" y="557049"/>
            <a:ext cx="12002662" cy="3641834"/>
          </a:xfrm>
          <a:prstGeom prst="rect">
            <a:avLst/>
          </a:prstGeom>
        </p:spPr>
      </p:pic>
      <p:sp>
        <p:nvSpPr>
          <p:cNvPr id="10" name="TextBox 9">
            <a:extLst>
              <a:ext uri="{FF2B5EF4-FFF2-40B4-BE49-F238E27FC236}">
                <a16:creationId xmlns:a16="http://schemas.microsoft.com/office/drawing/2014/main" id="{231E31BF-CFD4-7D58-0C28-F170AEFF2F1F}"/>
              </a:ext>
            </a:extLst>
          </p:cNvPr>
          <p:cNvSpPr txBox="1"/>
          <p:nvPr/>
        </p:nvSpPr>
        <p:spPr>
          <a:xfrm>
            <a:off x="94669" y="4325045"/>
            <a:ext cx="12002662" cy="430887"/>
          </a:xfrm>
          <a:prstGeom prst="rect">
            <a:avLst/>
          </a:prstGeom>
          <a:noFill/>
        </p:spPr>
        <p:txBody>
          <a:bodyPr wrap="square" rtlCol="0">
            <a:spAutoFit/>
          </a:bodyPr>
          <a:lstStyle/>
          <a:p>
            <a:pPr marL="342900" indent="-342900">
              <a:buFont typeface="Arial" panose="020B0604020202020204" pitchFamily="34" charset="0"/>
              <a:buChar char="•"/>
            </a:pPr>
            <a:r>
              <a:rPr lang="en-US" sz="2200" dirty="0">
                <a:latin typeface="Calibri" panose="020F0502020204030204" pitchFamily="34" charset="0"/>
                <a:cs typeface="Calibri" panose="020F0502020204030204" pitchFamily="34" charset="0"/>
              </a:rPr>
              <a:t>Replace "</a:t>
            </a:r>
            <a:r>
              <a:rPr lang="en-US" sz="2200" b="1" dirty="0">
                <a:latin typeface="Calibri" panose="020F0502020204030204" pitchFamily="34" charset="0"/>
                <a:cs typeface="Calibri" panose="020F0502020204030204" pitchFamily="34" charset="0"/>
              </a:rPr>
              <a:t>Your First and Last Name</a:t>
            </a:r>
            <a:r>
              <a:rPr lang="en-US" sz="2200" dirty="0">
                <a:latin typeface="Calibri" panose="020F0502020204030204" pitchFamily="34" charset="0"/>
                <a:cs typeface="Calibri" panose="020F0502020204030204" pitchFamily="34" charset="0"/>
              </a:rPr>
              <a:t>" with your actual name and "</a:t>
            </a:r>
            <a:r>
              <a:rPr lang="en-US" sz="2200" b="1" dirty="0">
                <a:latin typeface="Calibri" panose="020F0502020204030204" pitchFamily="34" charset="0"/>
                <a:cs typeface="Calibri" panose="020F0502020204030204" pitchFamily="34" charset="0"/>
              </a:rPr>
              <a:t>Today’s Date</a:t>
            </a:r>
            <a:r>
              <a:rPr lang="en-US" sz="2200" dirty="0">
                <a:latin typeface="Calibri" panose="020F0502020204030204" pitchFamily="34" charset="0"/>
                <a:cs typeface="Calibri" panose="020F0502020204030204" pitchFamily="34" charset="0"/>
              </a:rPr>
              <a:t>" with the current date.</a:t>
            </a:r>
            <a:endParaRPr lang="en-AU" sz="2200" dirty="0">
              <a:latin typeface="Calibri" panose="020F0502020204030204" pitchFamily="34" charset="0"/>
              <a:cs typeface="Calibri" panose="020F0502020204030204" pitchFamily="34" charset="0"/>
            </a:endParaRPr>
          </a:p>
        </p:txBody>
      </p:sp>
      <p:sp>
        <p:nvSpPr>
          <p:cNvPr id="11" name="TextBox 10">
            <a:extLst>
              <a:ext uri="{FF2B5EF4-FFF2-40B4-BE49-F238E27FC236}">
                <a16:creationId xmlns:a16="http://schemas.microsoft.com/office/drawing/2014/main" id="{4444DD1D-9442-6E69-3969-69C2C4F493A7}"/>
              </a:ext>
            </a:extLst>
          </p:cNvPr>
          <p:cNvSpPr txBox="1"/>
          <p:nvPr/>
        </p:nvSpPr>
        <p:spPr>
          <a:xfrm>
            <a:off x="94669" y="4755932"/>
            <a:ext cx="12002662" cy="430887"/>
          </a:xfrm>
          <a:prstGeom prst="rect">
            <a:avLst/>
          </a:prstGeom>
          <a:noFill/>
        </p:spPr>
        <p:txBody>
          <a:bodyPr wrap="square" rtlCol="0">
            <a:spAutoFit/>
          </a:bodyPr>
          <a:lstStyle/>
          <a:p>
            <a:pPr marL="342900" indent="-342900">
              <a:buFont typeface="Arial" panose="020B0604020202020204" pitchFamily="34" charset="0"/>
              <a:buChar char="•"/>
            </a:pPr>
            <a:r>
              <a:rPr lang="en-US" sz="2200" b="1" dirty="0">
                <a:latin typeface="Calibri" panose="020F0502020204030204" pitchFamily="34" charset="0"/>
                <a:cs typeface="Calibri" panose="020F0502020204030204" pitchFamily="34" charset="0"/>
              </a:rPr>
              <a:t>Save</a:t>
            </a:r>
            <a:r>
              <a:rPr lang="en-US" sz="2200" dirty="0">
                <a:latin typeface="Calibri" panose="020F0502020204030204" pitchFamily="34" charset="0"/>
                <a:cs typeface="Calibri" panose="020F0502020204030204" pitchFamily="34" charset="0"/>
              </a:rPr>
              <a:t> the file as ‘</a:t>
            </a:r>
            <a:r>
              <a:rPr lang="en-US" sz="2200" b="1" dirty="0">
                <a:latin typeface="Calibri" panose="020F0502020204030204" pitchFamily="34" charset="0"/>
                <a:cs typeface="Calibri" panose="020F0502020204030204" pitchFamily="34" charset="0"/>
              </a:rPr>
              <a:t>index.html’</a:t>
            </a:r>
            <a:r>
              <a:rPr lang="en-US" sz="2200" dirty="0">
                <a:latin typeface="Calibri" panose="020F0502020204030204" pitchFamily="34" charset="0"/>
                <a:cs typeface="Calibri" panose="020F0502020204030204" pitchFamily="34" charset="0"/>
              </a:rPr>
              <a:t> in your desired folder (e.g., a folder named </a:t>
            </a:r>
            <a:r>
              <a:rPr lang="en-US" sz="2200" b="1" dirty="0">
                <a:latin typeface="Calibri" panose="020F0502020204030204" pitchFamily="34" charset="0"/>
                <a:cs typeface="Calibri" panose="020F0502020204030204" pitchFamily="34" charset="0"/>
              </a:rPr>
              <a:t>lab 1 or Week2</a:t>
            </a:r>
            <a:r>
              <a:rPr lang="en-US" sz="2200" dirty="0">
                <a:latin typeface="Calibri" panose="020F0502020204030204" pitchFamily="34" charset="0"/>
                <a:cs typeface="Calibri" panose="020F0502020204030204" pitchFamily="34" charset="0"/>
              </a:rPr>
              <a:t>)</a:t>
            </a:r>
            <a:endParaRPr lang="en-AU" sz="2200" dirty="0">
              <a:latin typeface="Calibri" panose="020F0502020204030204" pitchFamily="34" charset="0"/>
              <a:cs typeface="Calibri" panose="020F0502020204030204" pitchFamily="34" charset="0"/>
            </a:endParaRPr>
          </a:p>
        </p:txBody>
      </p:sp>
      <p:sp>
        <p:nvSpPr>
          <p:cNvPr id="12" name="TextBox 11">
            <a:extLst>
              <a:ext uri="{FF2B5EF4-FFF2-40B4-BE49-F238E27FC236}">
                <a16:creationId xmlns:a16="http://schemas.microsoft.com/office/drawing/2014/main" id="{6417B966-78DE-4B91-F87A-9E56AB9172F8}"/>
              </a:ext>
            </a:extLst>
          </p:cNvPr>
          <p:cNvSpPr txBox="1"/>
          <p:nvPr/>
        </p:nvSpPr>
        <p:spPr>
          <a:xfrm>
            <a:off x="94669" y="5186819"/>
            <a:ext cx="12002662" cy="769441"/>
          </a:xfrm>
          <a:prstGeom prst="rect">
            <a:avLst/>
          </a:prstGeom>
          <a:noFill/>
        </p:spPr>
        <p:txBody>
          <a:bodyPr wrap="square" rtlCol="0">
            <a:spAutoFit/>
          </a:bodyPr>
          <a:lstStyle/>
          <a:p>
            <a:pPr marL="342900" indent="-342900">
              <a:buFont typeface="Arial" panose="020B0604020202020204" pitchFamily="34" charset="0"/>
              <a:buChar char="•"/>
            </a:pPr>
            <a:r>
              <a:rPr lang="en-US" sz="2200" dirty="0">
                <a:latin typeface="Calibri" panose="020F0502020204030204" pitchFamily="34" charset="0"/>
                <a:cs typeface="Calibri" panose="020F0502020204030204" pitchFamily="34" charset="0"/>
              </a:rPr>
              <a:t>Open ‘</a:t>
            </a:r>
            <a:r>
              <a:rPr lang="en-US" sz="2200" b="1" dirty="0">
                <a:latin typeface="Calibri" panose="020F0502020204030204" pitchFamily="34" charset="0"/>
                <a:cs typeface="Calibri" panose="020F0502020204030204" pitchFamily="34" charset="0"/>
              </a:rPr>
              <a:t>index.html’</a:t>
            </a:r>
            <a:r>
              <a:rPr lang="en-US" sz="2200" dirty="0">
                <a:latin typeface="Calibri" panose="020F0502020204030204" pitchFamily="34" charset="0"/>
                <a:cs typeface="Calibri" panose="020F0502020204030204" pitchFamily="34" charset="0"/>
              </a:rPr>
              <a:t> in various web browsers (Chrome, Firefox, Internet Explorer) to view the webpage. Ensure it matches the expected layout and content.</a:t>
            </a:r>
            <a:endParaRPr lang="en-AU" sz="2200" dirty="0">
              <a:latin typeface="Calibri" panose="020F0502020204030204" pitchFamily="34" charset="0"/>
              <a:cs typeface="Calibri" panose="020F0502020204030204" pitchFamily="34" charset="0"/>
            </a:endParaRPr>
          </a:p>
        </p:txBody>
      </p:sp>
      <p:sp>
        <p:nvSpPr>
          <p:cNvPr id="13" name="TextBox 12">
            <a:extLst>
              <a:ext uri="{FF2B5EF4-FFF2-40B4-BE49-F238E27FC236}">
                <a16:creationId xmlns:a16="http://schemas.microsoft.com/office/drawing/2014/main" id="{977F69B6-7A05-C69F-F19C-E7ABBAF5354C}"/>
              </a:ext>
            </a:extLst>
          </p:cNvPr>
          <p:cNvSpPr txBox="1"/>
          <p:nvPr/>
        </p:nvSpPr>
        <p:spPr>
          <a:xfrm>
            <a:off x="94669" y="5942644"/>
            <a:ext cx="12002662" cy="769441"/>
          </a:xfrm>
          <a:prstGeom prst="rect">
            <a:avLst/>
          </a:prstGeom>
          <a:noFill/>
        </p:spPr>
        <p:txBody>
          <a:bodyPr wrap="square" rtlCol="0">
            <a:spAutoFit/>
          </a:bodyPr>
          <a:lstStyle/>
          <a:p>
            <a:pPr marL="342900" indent="-342900">
              <a:buFont typeface="Arial" panose="020B0604020202020204" pitchFamily="34" charset="0"/>
              <a:buChar char="•"/>
            </a:pPr>
            <a:r>
              <a:rPr lang="en-US" sz="2200" b="1" dirty="0">
                <a:latin typeface="Calibri" panose="020F0502020204030204" pitchFamily="34" charset="0"/>
                <a:cs typeface="Calibri" panose="020F0502020204030204" pitchFamily="34" charset="0"/>
              </a:rPr>
              <a:t>Test</a:t>
            </a:r>
            <a:r>
              <a:rPr lang="en-US" sz="2200" dirty="0">
                <a:latin typeface="Calibri" panose="020F0502020204030204" pitchFamily="34" charset="0"/>
                <a:cs typeface="Calibri" panose="020F0502020204030204" pitchFamily="34" charset="0"/>
              </a:rPr>
              <a:t> viewing the webpage on different devices (smartphone, tablet) as suggested, using a code editor with a built-in web server or by manually transferring the file to the device for local viewing.</a:t>
            </a:r>
            <a:endParaRPr lang="en-AU" sz="2200"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15541105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1000"/>
                                        <p:tgtEl>
                                          <p:spTgt spid="10"/>
                                        </p:tgtEl>
                                      </p:cBhvr>
                                    </p:animEffect>
                                    <p:anim calcmode="lin" valueType="num">
                                      <p:cBhvr>
                                        <p:cTn id="8" dur="1000" fill="hold"/>
                                        <p:tgtEl>
                                          <p:spTgt spid="10"/>
                                        </p:tgtEl>
                                        <p:attrNameLst>
                                          <p:attrName>ppt_x</p:attrName>
                                        </p:attrNameLst>
                                      </p:cBhvr>
                                      <p:tavLst>
                                        <p:tav tm="0">
                                          <p:val>
                                            <p:strVal val="#ppt_x"/>
                                          </p:val>
                                        </p:tav>
                                        <p:tav tm="100000">
                                          <p:val>
                                            <p:strVal val="#ppt_x"/>
                                          </p:val>
                                        </p:tav>
                                      </p:tavLst>
                                    </p:anim>
                                    <p:anim calcmode="lin" valueType="num">
                                      <p:cBhvr>
                                        <p:cTn id="9" dur="1000" fill="hold"/>
                                        <p:tgtEl>
                                          <p:spTgt spid="10"/>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11"/>
                                        </p:tgtEl>
                                        <p:attrNameLst>
                                          <p:attrName>style.visibility</p:attrName>
                                        </p:attrNameLst>
                                      </p:cBhvr>
                                      <p:to>
                                        <p:strVal val="visible"/>
                                      </p:to>
                                    </p:set>
                                    <p:animEffect transition="in" filter="fade">
                                      <p:cBhvr>
                                        <p:cTn id="14" dur="1000"/>
                                        <p:tgtEl>
                                          <p:spTgt spid="11"/>
                                        </p:tgtEl>
                                      </p:cBhvr>
                                    </p:animEffect>
                                    <p:anim calcmode="lin" valueType="num">
                                      <p:cBhvr>
                                        <p:cTn id="15" dur="1000" fill="hold"/>
                                        <p:tgtEl>
                                          <p:spTgt spid="11"/>
                                        </p:tgtEl>
                                        <p:attrNameLst>
                                          <p:attrName>ppt_x</p:attrName>
                                        </p:attrNameLst>
                                      </p:cBhvr>
                                      <p:tavLst>
                                        <p:tav tm="0">
                                          <p:val>
                                            <p:strVal val="#ppt_x"/>
                                          </p:val>
                                        </p:tav>
                                        <p:tav tm="100000">
                                          <p:val>
                                            <p:strVal val="#ppt_x"/>
                                          </p:val>
                                        </p:tav>
                                      </p:tavLst>
                                    </p:anim>
                                    <p:anim calcmode="lin" valueType="num">
                                      <p:cBhvr>
                                        <p:cTn id="16" dur="1000" fill="hold"/>
                                        <p:tgtEl>
                                          <p:spTgt spid="11"/>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p:stCondLst>
                                    <p:cond delay="0"/>
                                  </p:stCondLst>
                                  <p:childTnLst>
                                    <p:set>
                                      <p:cBhvr>
                                        <p:cTn id="20" dur="1" fill="hold">
                                          <p:stCondLst>
                                            <p:cond delay="0"/>
                                          </p:stCondLst>
                                        </p:cTn>
                                        <p:tgtEl>
                                          <p:spTgt spid="12"/>
                                        </p:tgtEl>
                                        <p:attrNameLst>
                                          <p:attrName>style.visibility</p:attrName>
                                        </p:attrNameLst>
                                      </p:cBhvr>
                                      <p:to>
                                        <p:strVal val="visible"/>
                                      </p:to>
                                    </p:set>
                                    <p:animEffect transition="in" filter="fade">
                                      <p:cBhvr>
                                        <p:cTn id="21" dur="1000"/>
                                        <p:tgtEl>
                                          <p:spTgt spid="12"/>
                                        </p:tgtEl>
                                      </p:cBhvr>
                                    </p:animEffect>
                                    <p:anim calcmode="lin" valueType="num">
                                      <p:cBhvr>
                                        <p:cTn id="22" dur="1000" fill="hold"/>
                                        <p:tgtEl>
                                          <p:spTgt spid="12"/>
                                        </p:tgtEl>
                                        <p:attrNameLst>
                                          <p:attrName>ppt_x</p:attrName>
                                        </p:attrNameLst>
                                      </p:cBhvr>
                                      <p:tavLst>
                                        <p:tav tm="0">
                                          <p:val>
                                            <p:strVal val="#ppt_x"/>
                                          </p:val>
                                        </p:tav>
                                        <p:tav tm="100000">
                                          <p:val>
                                            <p:strVal val="#ppt_x"/>
                                          </p:val>
                                        </p:tav>
                                      </p:tavLst>
                                    </p:anim>
                                    <p:anim calcmode="lin" valueType="num">
                                      <p:cBhvr>
                                        <p:cTn id="23" dur="1000" fill="hold"/>
                                        <p:tgtEl>
                                          <p:spTgt spid="12"/>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1000"/>
                                        <p:tgtEl>
                                          <p:spTgt spid="13"/>
                                        </p:tgtEl>
                                      </p:cBhvr>
                                    </p:animEffect>
                                    <p:anim calcmode="lin" valueType="num">
                                      <p:cBhvr>
                                        <p:cTn id="29" dur="1000" fill="hold"/>
                                        <p:tgtEl>
                                          <p:spTgt spid="13"/>
                                        </p:tgtEl>
                                        <p:attrNameLst>
                                          <p:attrName>ppt_x</p:attrName>
                                        </p:attrNameLst>
                                      </p:cBhvr>
                                      <p:tavLst>
                                        <p:tav tm="0">
                                          <p:val>
                                            <p:strVal val="#ppt_x"/>
                                          </p:val>
                                        </p:tav>
                                        <p:tav tm="100000">
                                          <p:val>
                                            <p:strVal val="#ppt_x"/>
                                          </p:val>
                                        </p:tav>
                                      </p:tavLst>
                                    </p:anim>
                                    <p:anim calcmode="lin" valueType="num">
                                      <p:cBhvr>
                                        <p:cTn id="30" dur="1000" fill="hold"/>
                                        <p:tgtEl>
                                          <p:spTgt spid="13"/>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11" grpId="0"/>
      <p:bldP spid="12" grpId="0"/>
      <p:bldP spid="13" grpId="0"/>
    </p:bldLst>
  </p:timing>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41AE96B1-34CD-B44C-FC88-E15AFA30DB54}"/>
              </a:ext>
            </a:extLst>
          </p:cNvPr>
          <p:cNvSpPr txBox="1"/>
          <p:nvPr/>
        </p:nvSpPr>
        <p:spPr>
          <a:xfrm>
            <a:off x="0" y="0"/>
            <a:ext cx="8976732" cy="43088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rPr>
              <a:t>Challenge 1 (HTML code in </a:t>
            </a:r>
            <a:r>
              <a:rPr kumimoji="0" lang="en-US" sz="2200" b="1" i="0" u="none" strike="noStrike" kern="1200" cap="none" spc="0" normalizeH="0" baseline="0" noProof="0" dirty="0">
                <a:ln>
                  <a:noFill/>
                </a:ln>
                <a:solidFill>
                  <a:prstClr val="black"/>
                </a:solidFill>
                <a:effectLst/>
                <a:highlight>
                  <a:srgbClr val="FFFF00"/>
                </a:highlight>
                <a:uLnTx/>
                <a:uFillTx/>
                <a:latin typeface="Calibri" panose="020F0502020204030204" pitchFamily="34" charset="0"/>
                <a:ea typeface="+mn-ea"/>
                <a:cs typeface="Calibri" panose="020F0502020204030204" pitchFamily="34" charset="0"/>
              </a:rPr>
              <a:t>Visual Studio</a:t>
            </a:r>
            <a:r>
              <a:rPr kumimoji="0" lang="en-US" sz="2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rPr>
              <a:t>)</a:t>
            </a:r>
          </a:p>
        </p:txBody>
      </p:sp>
      <p:sp>
        <p:nvSpPr>
          <p:cNvPr id="3" name="TextBox 2">
            <a:extLst>
              <a:ext uri="{FF2B5EF4-FFF2-40B4-BE49-F238E27FC236}">
                <a16:creationId xmlns:a16="http://schemas.microsoft.com/office/drawing/2014/main" id="{59DDBD33-1CBE-D9C1-0AC7-B528263ABD14}"/>
              </a:ext>
            </a:extLst>
          </p:cNvPr>
          <p:cNvSpPr txBox="1"/>
          <p:nvPr/>
        </p:nvSpPr>
        <p:spPr>
          <a:xfrm>
            <a:off x="562303" y="674400"/>
            <a:ext cx="11067393" cy="5509200"/>
          </a:xfrm>
          <a:prstGeom prst="rect">
            <a:avLst/>
          </a:prstGeom>
          <a:solidFill>
            <a:schemeClr val="tx1"/>
          </a:solidFill>
        </p:spPr>
        <p:txBody>
          <a:bodyPr wrap="square" rtlCol="0">
            <a:spAutoFit/>
          </a:bodyPr>
          <a:lstStyle/>
          <a:p>
            <a:r>
              <a:rPr lang="en-US" sz="2200" b="0" dirty="0">
                <a:solidFill>
                  <a:srgbClr val="808080"/>
                </a:solidFill>
                <a:effectLst/>
                <a:latin typeface="Consolas" panose="020B0609020204030204" pitchFamily="49" charset="0"/>
              </a:rPr>
              <a:t>&lt;!</a:t>
            </a:r>
            <a:r>
              <a:rPr lang="en-US" sz="2200" b="0" dirty="0">
                <a:solidFill>
                  <a:srgbClr val="569CD6"/>
                </a:solidFill>
                <a:effectLst/>
                <a:latin typeface="Consolas" panose="020B0609020204030204" pitchFamily="49" charset="0"/>
              </a:rPr>
              <a:t>DOCTYPE</a:t>
            </a:r>
            <a:r>
              <a:rPr lang="en-US" sz="2200" b="0" dirty="0">
                <a:solidFill>
                  <a:srgbClr val="CCCCCC"/>
                </a:solidFill>
                <a:effectLst/>
                <a:latin typeface="Consolas" panose="020B0609020204030204" pitchFamily="49" charset="0"/>
              </a:rPr>
              <a:t> </a:t>
            </a:r>
            <a:r>
              <a:rPr lang="en-US" sz="2200" b="0" dirty="0">
                <a:solidFill>
                  <a:srgbClr val="9CDCFE"/>
                </a:solidFill>
                <a:effectLst/>
                <a:latin typeface="Consolas" panose="020B0609020204030204" pitchFamily="49" charset="0"/>
              </a:rPr>
              <a:t>html</a:t>
            </a:r>
            <a:r>
              <a:rPr lang="en-US" sz="2200" b="0" dirty="0">
                <a:solidFill>
                  <a:srgbClr val="808080"/>
                </a:solidFill>
                <a:effectLst/>
                <a:latin typeface="Consolas" panose="020B0609020204030204" pitchFamily="49" charset="0"/>
              </a:rPr>
              <a:t>&gt;</a:t>
            </a:r>
            <a:endParaRPr lang="en-US" sz="2200" b="0" dirty="0">
              <a:solidFill>
                <a:srgbClr val="CCCCCC"/>
              </a:solidFill>
              <a:effectLst/>
              <a:latin typeface="Consolas" panose="020B0609020204030204" pitchFamily="49" charset="0"/>
            </a:endParaRPr>
          </a:p>
          <a:p>
            <a:r>
              <a:rPr lang="en-US" sz="2200" b="0" dirty="0">
                <a:solidFill>
                  <a:srgbClr val="808080"/>
                </a:solidFill>
                <a:effectLst/>
                <a:latin typeface="Consolas" panose="020B0609020204030204" pitchFamily="49" charset="0"/>
              </a:rPr>
              <a:t>&lt;</a:t>
            </a:r>
            <a:r>
              <a:rPr lang="en-US" sz="2200" b="0" dirty="0">
                <a:solidFill>
                  <a:srgbClr val="569CD6"/>
                </a:solidFill>
                <a:effectLst/>
                <a:latin typeface="Consolas" panose="020B0609020204030204" pitchFamily="49" charset="0"/>
              </a:rPr>
              <a:t>html</a:t>
            </a:r>
            <a:r>
              <a:rPr lang="en-US" sz="2200" b="0" dirty="0">
                <a:solidFill>
                  <a:srgbClr val="808080"/>
                </a:solidFill>
                <a:effectLst/>
                <a:latin typeface="Consolas" panose="020B0609020204030204" pitchFamily="49" charset="0"/>
              </a:rPr>
              <a:t>&gt;</a:t>
            </a:r>
            <a:endParaRPr lang="en-US" sz="2200" b="0" dirty="0">
              <a:solidFill>
                <a:srgbClr val="CCCCCC"/>
              </a:solidFill>
              <a:effectLst/>
              <a:latin typeface="Consolas" panose="020B0609020204030204" pitchFamily="49" charset="0"/>
            </a:endParaRPr>
          </a:p>
          <a:p>
            <a:r>
              <a:rPr lang="en-US" sz="2200" b="0" dirty="0">
                <a:solidFill>
                  <a:srgbClr val="808080"/>
                </a:solidFill>
                <a:effectLst/>
                <a:latin typeface="Consolas" panose="020B0609020204030204" pitchFamily="49" charset="0"/>
              </a:rPr>
              <a:t>&lt;</a:t>
            </a:r>
            <a:r>
              <a:rPr lang="en-US" sz="2200" b="0" dirty="0">
                <a:solidFill>
                  <a:srgbClr val="569CD6"/>
                </a:solidFill>
                <a:effectLst/>
                <a:latin typeface="Consolas" panose="020B0609020204030204" pitchFamily="49" charset="0"/>
              </a:rPr>
              <a:t>head</a:t>
            </a:r>
            <a:r>
              <a:rPr lang="en-US" sz="2200" b="0" dirty="0">
                <a:solidFill>
                  <a:srgbClr val="808080"/>
                </a:solidFill>
                <a:effectLst/>
                <a:latin typeface="Consolas" panose="020B0609020204030204" pitchFamily="49" charset="0"/>
              </a:rPr>
              <a:t>&gt;</a:t>
            </a:r>
            <a:endParaRPr lang="en-US" sz="2200" b="0" dirty="0">
              <a:solidFill>
                <a:srgbClr val="CCCCCC"/>
              </a:solidFill>
              <a:effectLst/>
              <a:latin typeface="Consolas" panose="020B0609020204030204" pitchFamily="49" charset="0"/>
            </a:endParaRPr>
          </a:p>
          <a:p>
            <a:r>
              <a:rPr lang="en-US" sz="2200" b="0" dirty="0">
                <a:solidFill>
                  <a:srgbClr val="CCCCCC"/>
                </a:solidFill>
                <a:effectLst/>
                <a:latin typeface="Consolas" panose="020B0609020204030204" pitchFamily="49" charset="0"/>
              </a:rPr>
              <a:t>    </a:t>
            </a:r>
            <a:r>
              <a:rPr lang="en-US" sz="2200" b="0" dirty="0">
                <a:solidFill>
                  <a:srgbClr val="808080"/>
                </a:solidFill>
                <a:effectLst/>
                <a:latin typeface="Consolas" panose="020B0609020204030204" pitchFamily="49" charset="0"/>
              </a:rPr>
              <a:t>&lt;</a:t>
            </a:r>
            <a:r>
              <a:rPr lang="en-US" sz="2200" b="0" dirty="0">
                <a:solidFill>
                  <a:srgbClr val="569CD6"/>
                </a:solidFill>
                <a:effectLst/>
                <a:latin typeface="Consolas" panose="020B0609020204030204" pitchFamily="49" charset="0"/>
              </a:rPr>
              <a:t>title</a:t>
            </a:r>
            <a:r>
              <a:rPr lang="en-US" sz="2200" b="0" dirty="0">
                <a:solidFill>
                  <a:srgbClr val="808080"/>
                </a:solidFill>
                <a:effectLst/>
                <a:latin typeface="Consolas" panose="020B0609020204030204" pitchFamily="49" charset="0"/>
              </a:rPr>
              <a:t>&gt;</a:t>
            </a:r>
            <a:r>
              <a:rPr lang="en-US" sz="2200" b="0" dirty="0">
                <a:solidFill>
                  <a:srgbClr val="CCCCCC"/>
                </a:solidFill>
                <a:effectLst/>
                <a:latin typeface="Consolas" panose="020B0609020204030204" pitchFamily="49" charset="0"/>
              </a:rPr>
              <a:t>Spotted Wren Garden Center</a:t>
            </a:r>
            <a:r>
              <a:rPr lang="en-US" sz="2200" b="0" dirty="0">
                <a:solidFill>
                  <a:srgbClr val="808080"/>
                </a:solidFill>
                <a:effectLst/>
                <a:latin typeface="Consolas" panose="020B0609020204030204" pitchFamily="49" charset="0"/>
              </a:rPr>
              <a:t>&lt;/</a:t>
            </a:r>
            <a:r>
              <a:rPr lang="en-US" sz="2200" b="0" dirty="0">
                <a:solidFill>
                  <a:srgbClr val="569CD6"/>
                </a:solidFill>
                <a:effectLst/>
                <a:latin typeface="Consolas" panose="020B0609020204030204" pitchFamily="49" charset="0"/>
              </a:rPr>
              <a:t>title</a:t>
            </a:r>
            <a:r>
              <a:rPr lang="en-US" sz="2200" b="0" dirty="0">
                <a:solidFill>
                  <a:srgbClr val="808080"/>
                </a:solidFill>
                <a:effectLst/>
                <a:latin typeface="Consolas" panose="020B0609020204030204" pitchFamily="49" charset="0"/>
              </a:rPr>
              <a:t>&gt;</a:t>
            </a:r>
            <a:endParaRPr lang="en-US" sz="2200" b="0" dirty="0">
              <a:solidFill>
                <a:srgbClr val="CCCCCC"/>
              </a:solidFill>
              <a:effectLst/>
              <a:latin typeface="Consolas" panose="020B0609020204030204" pitchFamily="49" charset="0"/>
            </a:endParaRPr>
          </a:p>
          <a:p>
            <a:r>
              <a:rPr lang="en-US" sz="2200" b="0" dirty="0">
                <a:solidFill>
                  <a:srgbClr val="CCCCCC"/>
                </a:solidFill>
                <a:effectLst/>
                <a:latin typeface="Consolas" panose="020B0609020204030204" pitchFamily="49" charset="0"/>
              </a:rPr>
              <a:t>    </a:t>
            </a:r>
            <a:r>
              <a:rPr lang="en-US" sz="2200" b="0" dirty="0">
                <a:solidFill>
                  <a:srgbClr val="6A9955"/>
                </a:solidFill>
                <a:effectLst/>
                <a:latin typeface="Consolas" panose="020B0609020204030204" pitchFamily="49" charset="0"/>
              </a:rPr>
              <a:t>&lt;!-- Spotted Wren Garden Center main web page</a:t>
            </a:r>
            <a:endParaRPr lang="en-US" sz="2200" b="0" dirty="0">
              <a:solidFill>
                <a:srgbClr val="CCCCCC"/>
              </a:solidFill>
              <a:effectLst/>
              <a:latin typeface="Consolas" panose="020B0609020204030204" pitchFamily="49" charset="0"/>
            </a:endParaRPr>
          </a:p>
          <a:p>
            <a:r>
              <a:rPr lang="en-US" sz="2200" b="0" dirty="0">
                <a:solidFill>
                  <a:srgbClr val="6A9955"/>
                </a:solidFill>
                <a:effectLst/>
                <a:latin typeface="Consolas" panose="020B0609020204030204" pitchFamily="49" charset="0"/>
              </a:rPr>
              <a:t>    Filename: index.html</a:t>
            </a:r>
            <a:endParaRPr lang="en-US" sz="2200" b="0" dirty="0">
              <a:solidFill>
                <a:srgbClr val="CCCCCC"/>
              </a:solidFill>
              <a:effectLst/>
              <a:latin typeface="Consolas" panose="020B0609020204030204" pitchFamily="49" charset="0"/>
            </a:endParaRPr>
          </a:p>
          <a:p>
            <a:r>
              <a:rPr lang="en-US" sz="2200" b="0" dirty="0">
                <a:solidFill>
                  <a:srgbClr val="6A9955"/>
                </a:solidFill>
                <a:effectLst/>
                <a:latin typeface="Consolas" panose="020B0609020204030204" pitchFamily="49" charset="0"/>
              </a:rPr>
              <a:t>    Author: Your First and Last Name</a:t>
            </a:r>
            <a:endParaRPr lang="en-US" sz="2200" b="0" dirty="0">
              <a:solidFill>
                <a:srgbClr val="CCCCCC"/>
              </a:solidFill>
              <a:effectLst/>
              <a:latin typeface="Consolas" panose="020B0609020204030204" pitchFamily="49" charset="0"/>
            </a:endParaRPr>
          </a:p>
          <a:p>
            <a:r>
              <a:rPr lang="en-US" sz="2200" b="0" dirty="0">
                <a:solidFill>
                  <a:srgbClr val="6A9955"/>
                </a:solidFill>
                <a:effectLst/>
                <a:latin typeface="Consolas" panose="020B0609020204030204" pitchFamily="49" charset="0"/>
              </a:rPr>
              <a:t>    Date: Today’s Date --&gt;</a:t>
            </a:r>
            <a:endParaRPr lang="en-US" sz="2200" b="0" dirty="0">
              <a:solidFill>
                <a:srgbClr val="CCCCCC"/>
              </a:solidFill>
              <a:effectLst/>
              <a:latin typeface="Consolas" panose="020B0609020204030204" pitchFamily="49" charset="0"/>
            </a:endParaRPr>
          </a:p>
          <a:p>
            <a:r>
              <a:rPr lang="en-US" sz="2200" b="0" dirty="0">
                <a:solidFill>
                  <a:srgbClr val="808080"/>
                </a:solidFill>
                <a:effectLst/>
                <a:latin typeface="Consolas" panose="020B0609020204030204" pitchFamily="49" charset="0"/>
              </a:rPr>
              <a:t>&lt;/</a:t>
            </a:r>
            <a:r>
              <a:rPr lang="en-US" sz="2200" b="0" dirty="0">
                <a:solidFill>
                  <a:srgbClr val="569CD6"/>
                </a:solidFill>
                <a:effectLst/>
                <a:latin typeface="Consolas" panose="020B0609020204030204" pitchFamily="49" charset="0"/>
              </a:rPr>
              <a:t>head</a:t>
            </a:r>
            <a:r>
              <a:rPr lang="en-US" sz="2200" b="0" dirty="0">
                <a:solidFill>
                  <a:srgbClr val="808080"/>
                </a:solidFill>
                <a:effectLst/>
                <a:latin typeface="Consolas" panose="020B0609020204030204" pitchFamily="49" charset="0"/>
              </a:rPr>
              <a:t>&gt;</a:t>
            </a:r>
            <a:endParaRPr lang="en-US" sz="2200" b="0" dirty="0">
              <a:solidFill>
                <a:srgbClr val="CCCCCC"/>
              </a:solidFill>
              <a:effectLst/>
              <a:latin typeface="Consolas" panose="020B0609020204030204" pitchFamily="49" charset="0"/>
            </a:endParaRPr>
          </a:p>
          <a:p>
            <a:r>
              <a:rPr lang="en-US" sz="2200" b="0" dirty="0">
                <a:solidFill>
                  <a:srgbClr val="808080"/>
                </a:solidFill>
                <a:effectLst/>
                <a:latin typeface="Consolas" panose="020B0609020204030204" pitchFamily="49" charset="0"/>
              </a:rPr>
              <a:t>&lt;</a:t>
            </a:r>
            <a:r>
              <a:rPr lang="en-US" sz="2200" b="0" dirty="0">
                <a:solidFill>
                  <a:srgbClr val="569CD6"/>
                </a:solidFill>
                <a:effectLst/>
                <a:latin typeface="Consolas" panose="020B0609020204030204" pitchFamily="49" charset="0"/>
              </a:rPr>
              <a:t>body</a:t>
            </a:r>
            <a:r>
              <a:rPr lang="en-US" sz="2200" b="0" dirty="0">
                <a:solidFill>
                  <a:srgbClr val="808080"/>
                </a:solidFill>
                <a:effectLst/>
                <a:latin typeface="Consolas" panose="020B0609020204030204" pitchFamily="49" charset="0"/>
              </a:rPr>
              <a:t>&gt;</a:t>
            </a:r>
            <a:endParaRPr lang="en-US" sz="2200" b="0" dirty="0">
              <a:solidFill>
                <a:srgbClr val="CCCCCC"/>
              </a:solidFill>
              <a:effectLst/>
              <a:latin typeface="Consolas" panose="020B0609020204030204" pitchFamily="49" charset="0"/>
            </a:endParaRPr>
          </a:p>
          <a:p>
            <a:r>
              <a:rPr lang="en-US" sz="2200" b="0" dirty="0">
                <a:solidFill>
                  <a:srgbClr val="CCCCCC"/>
                </a:solidFill>
                <a:effectLst/>
                <a:latin typeface="Consolas" panose="020B0609020204030204" pitchFamily="49" charset="0"/>
              </a:rPr>
              <a:t>    </a:t>
            </a:r>
            <a:r>
              <a:rPr lang="en-US" sz="2200" b="0" dirty="0">
                <a:solidFill>
                  <a:srgbClr val="808080"/>
                </a:solidFill>
                <a:effectLst/>
                <a:latin typeface="Consolas" panose="020B0609020204030204" pitchFamily="49" charset="0"/>
              </a:rPr>
              <a:t>&lt;</a:t>
            </a:r>
            <a:r>
              <a:rPr lang="en-US" sz="2200" b="0" dirty="0">
                <a:solidFill>
                  <a:srgbClr val="569CD6"/>
                </a:solidFill>
                <a:effectLst/>
                <a:latin typeface="Consolas" panose="020B0609020204030204" pitchFamily="49" charset="0"/>
              </a:rPr>
              <a:t>h1</a:t>
            </a:r>
            <a:r>
              <a:rPr lang="en-US" sz="2200" b="0" dirty="0">
                <a:solidFill>
                  <a:srgbClr val="808080"/>
                </a:solidFill>
                <a:effectLst/>
                <a:latin typeface="Consolas" panose="020B0609020204030204" pitchFamily="49" charset="0"/>
              </a:rPr>
              <a:t>&gt;</a:t>
            </a:r>
            <a:r>
              <a:rPr lang="en-US" sz="2200" b="0" dirty="0">
                <a:solidFill>
                  <a:srgbClr val="CCCCCC"/>
                </a:solidFill>
                <a:effectLst/>
                <a:latin typeface="Consolas" panose="020B0609020204030204" pitchFamily="49" charset="0"/>
              </a:rPr>
              <a:t>Spotted Wren Garden Center</a:t>
            </a:r>
            <a:r>
              <a:rPr lang="en-US" sz="2200" b="0" dirty="0">
                <a:solidFill>
                  <a:srgbClr val="808080"/>
                </a:solidFill>
                <a:effectLst/>
                <a:latin typeface="Consolas" panose="020B0609020204030204" pitchFamily="49" charset="0"/>
              </a:rPr>
              <a:t>&lt;/</a:t>
            </a:r>
            <a:r>
              <a:rPr lang="en-US" sz="2200" b="0" dirty="0">
                <a:solidFill>
                  <a:srgbClr val="569CD6"/>
                </a:solidFill>
                <a:effectLst/>
                <a:latin typeface="Consolas" panose="020B0609020204030204" pitchFamily="49" charset="0"/>
              </a:rPr>
              <a:t>h1</a:t>
            </a:r>
            <a:r>
              <a:rPr lang="en-US" sz="2200" b="0" dirty="0">
                <a:solidFill>
                  <a:srgbClr val="808080"/>
                </a:solidFill>
                <a:effectLst/>
                <a:latin typeface="Consolas" panose="020B0609020204030204" pitchFamily="49" charset="0"/>
              </a:rPr>
              <a:t>&gt;</a:t>
            </a:r>
            <a:endParaRPr lang="en-US" sz="2200" b="0" dirty="0">
              <a:solidFill>
                <a:srgbClr val="CCCCCC"/>
              </a:solidFill>
              <a:effectLst/>
              <a:latin typeface="Consolas" panose="020B0609020204030204" pitchFamily="49" charset="0"/>
            </a:endParaRPr>
          </a:p>
          <a:p>
            <a:r>
              <a:rPr lang="en-US" sz="2200" b="0" dirty="0">
                <a:solidFill>
                  <a:srgbClr val="CCCCCC"/>
                </a:solidFill>
                <a:effectLst/>
                <a:latin typeface="Consolas" panose="020B0609020204030204" pitchFamily="49" charset="0"/>
              </a:rPr>
              <a:t>    </a:t>
            </a:r>
            <a:r>
              <a:rPr lang="en-US" sz="2200" b="0" dirty="0">
                <a:solidFill>
                  <a:srgbClr val="808080"/>
                </a:solidFill>
                <a:effectLst/>
                <a:latin typeface="Consolas" panose="020B0609020204030204" pitchFamily="49" charset="0"/>
              </a:rPr>
              <a:t>&lt;</a:t>
            </a:r>
            <a:r>
              <a:rPr lang="en-US" sz="2200" b="0" dirty="0">
                <a:solidFill>
                  <a:srgbClr val="569CD6"/>
                </a:solidFill>
                <a:effectLst/>
                <a:latin typeface="Consolas" panose="020B0609020204030204" pitchFamily="49" charset="0"/>
              </a:rPr>
              <a:t>p</a:t>
            </a:r>
            <a:r>
              <a:rPr lang="en-US" sz="2200" b="0" dirty="0">
                <a:solidFill>
                  <a:srgbClr val="808080"/>
                </a:solidFill>
                <a:effectLst/>
                <a:latin typeface="Consolas" panose="020B0609020204030204" pitchFamily="49" charset="0"/>
              </a:rPr>
              <a:t>&gt;</a:t>
            </a:r>
            <a:r>
              <a:rPr lang="en-US" sz="2200" b="0" dirty="0">
                <a:solidFill>
                  <a:srgbClr val="CCCCCC"/>
                </a:solidFill>
                <a:effectLst/>
                <a:latin typeface="Consolas" panose="020B0609020204030204" pitchFamily="49" charset="0"/>
              </a:rPr>
              <a:t>For your year-round garden and yard needs with a focus on the unusual and hard to find.</a:t>
            </a:r>
            <a:r>
              <a:rPr lang="en-US" sz="2200" b="0" dirty="0">
                <a:solidFill>
                  <a:srgbClr val="808080"/>
                </a:solidFill>
                <a:effectLst/>
                <a:latin typeface="Consolas" panose="020B0609020204030204" pitchFamily="49" charset="0"/>
              </a:rPr>
              <a:t>&lt;/</a:t>
            </a:r>
            <a:r>
              <a:rPr lang="en-US" sz="2200" b="0" dirty="0">
                <a:solidFill>
                  <a:srgbClr val="569CD6"/>
                </a:solidFill>
                <a:effectLst/>
                <a:latin typeface="Consolas" panose="020B0609020204030204" pitchFamily="49" charset="0"/>
              </a:rPr>
              <a:t>p</a:t>
            </a:r>
            <a:r>
              <a:rPr lang="en-US" sz="2200" b="0" dirty="0">
                <a:solidFill>
                  <a:srgbClr val="808080"/>
                </a:solidFill>
                <a:effectLst/>
                <a:latin typeface="Consolas" panose="020B0609020204030204" pitchFamily="49" charset="0"/>
              </a:rPr>
              <a:t>&gt;</a:t>
            </a:r>
            <a:endParaRPr lang="en-US" sz="2200" b="0" dirty="0">
              <a:solidFill>
                <a:srgbClr val="CCCCCC"/>
              </a:solidFill>
              <a:effectLst/>
              <a:latin typeface="Consolas" panose="020B0609020204030204" pitchFamily="49" charset="0"/>
            </a:endParaRPr>
          </a:p>
          <a:p>
            <a:r>
              <a:rPr lang="en-US" sz="2200" b="0" dirty="0">
                <a:solidFill>
                  <a:srgbClr val="CCCCCC"/>
                </a:solidFill>
                <a:effectLst/>
                <a:latin typeface="Consolas" panose="020B0609020204030204" pitchFamily="49" charset="0"/>
              </a:rPr>
              <a:t>    </a:t>
            </a:r>
            <a:r>
              <a:rPr lang="en-US" sz="2200" b="0" dirty="0">
                <a:solidFill>
                  <a:srgbClr val="808080"/>
                </a:solidFill>
                <a:effectLst/>
                <a:latin typeface="Consolas" panose="020B0609020204030204" pitchFamily="49" charset="0"/>
              </a:rPr>
              <a:t>&lt;</a:t>
            </a:r>
            <a:r>
              <a:rPr lang="en-US" sz="2200" b="0" dirty="0">
                <a:solidFill>
                  <a:srgbClr val="569CD6"/>
                </a:solidFill>
                <a:effectLst/>
                <a:latin typeface="Consolas" panose="020B0609020204030204" pitchFamily="49" charset="0"/>
              </a:rPr>
              <a:t>p</a:t>
            </a:r>
            <a:r>
              <a:rPr lang="en-US" sz="2200" b="0" dirty="0">
                <a:solidFill>
                  <a:srgbClr val="808080"/>
                </a:solidFill>
                <a:effectLst/>
                <a:latin typeface="Consolas" panose="020B0609020204030204" pitchFamily="49" charset="0"/>
              </a:rPr>
              <a:t>&gt;</a:t>
            </a:r>
            <a:r>
              <a:rPr lang="en-US" sz="2200" b="0" dirty="0">
                <a:solidFill>
                  <a:srgbClr val="CCCCCC"/>
                </a:solidFill>
                <a:effectLst/>
                <a:latin typeface="Consolas" panose="020B0609020204030204" pitchFamily="49" charset="0"/>
              </a:rPr>
              <a:t>(402) 555-9736</a:t>
            </a:r>
            <a:r>
              <a:rPr lang="en-US" sz="2200" b="0" dirty="0">
                <a:solidFill>
                  <a:srgbClr val="808080"/>
                </a:solidFill>
                <a:effectLst/>
                <a:latin typeface="Consolas" panose="020B0609020204030204" pitchFamily="49" charset="0"/>
              </a:rPr>
              <a:t>&lt;/</a:t>
            </a:r>
            <a:r>
              <a:rPr lang="en-US" sz="2200" b="0" dirty="0">
                <a:solidFill>
                  <a:srgbClr val="569CD6"/>
                </a:solidFill>
                <a:effectLst/>
                <a:latin typeface="Consolas" panose="020B0609020204030204" pitchFamily="49" charset="0"/>
              </a:rPr>
              <a:t>p</a:t>
            </a:r>
            <a:r>
              <a:rPr lang="en-US" sz="2200" b="0" dirty="0">
                <a:solidFill>
                  <a:srgbClr val="808080"/>
                </a:solidFill>
                <a:effectLst/>
                <a:latin typeface="Consolas" panose="020B0609020204030204" pitchFamily="49" charset="0"/>
              </a:rPr>
              <a:t>&gt;</a:t>
            </a:r>
            <a:endParaRPr lang="en-US" sz="2200" b="0" dirty="0">
              <a:solidFill>
                <a:srgbClr val="CCCCCC"/>
              </a:solidFill>
              <a:effectLst/>
              <a:latin typeface="Consolas" panose="020B0609020204030204" pitchFamily="49" charset="0"/>
            </a:endParaRPr>
          </a:p>
          <a:p>
            <a:r>
              <a:rPr lang="en-US" sz="2200" b="0" dirty="0">
                <a:solidFill>
                  <a:srgbClr val="808080"/>
                </a:solidFill>
                <a:effectLst/>
                <a:latin typeface="Consolas" panose="020B0609020204030204" pitchFamily="49" charset="0"/>
              </a:rPr>
              <a:t>&lt;/</a:t>
            </a:r>
            <a:r>
              <a:rPr lang="en-US" sz="2200" b="0" dirty="0">
                <a:solidFill>
                  <a:srgbClr val="569CD6"/>
                </a:solidFill>
                <a:effectLst/>
                <a:latin typeface="Consolas" panose="020B0609020204030204" pitchFamily="49" charset="0"/>
              </a:rPr>
              <a:t>body</a:t>
            </a:r>
            <a:r>
              <a:rPr lang="en-US" sz="2200" b="0" dirty="0">
                <a:solidFill>
                  <a:srgbClr val="808080"/>
                </a:solidFill>
                <a:effectLst/>
                <a:latin typeface="Consolas" panose="020B0609020204030204" pitchFamily="49" charset="0"/>
              </a:rPr>
              <a:t>&gt;</a:t>
            </a:r>
            <a:endParaRPr lang="en-US" sz="2200" b="0" dirty="0">
              <a:solidFill>
                <a:srgbClr val="CCCCCC"/>
              </a:solidFill>
              <a:effectLst/>
              <a:latin typeface="Consolas" panose="020B0609020204030204" pitchFamily="49" charset="0"/>
            </a:endParaRPr>
          </a:p>
          <a:p>
            <a:r>
              <a:rPr lang="en-US" sz="2200" b="0" dirty="0">
                <a:solidFill>
                  <a:srgbClr val="808080"/>
                </a:solidFill>
                <a:effectLst/>
                <a:latin typeface="Consolas" panose="020B0609020204030204" pitchFamily="49" charset="0"/>
              </a:rPr>
              <a:t>&lt;/</a:t>
            </a:r>
            <a:r>
              <a:rPr lang="en-US" sz="2200" b="0" dirty="0">
                <a:solidFill>
                  <a:srgbClr val="569CD6"/>
                </a:solidFill>
                <a:effectLst/>
                <a:latin typeface="Consolas" panose="020B0609020204030204" pitchFamily="49" charset="0"/>
              </a:rPr>
              <a:t>html</a:t>
            </a:r>
            <a:r>
              <a:rPr lang="en-US" sz="2200" b="0" dirty="0">
                <a:solidFill>
                  <a:srgbClr val="808080"/>
                </a:solidFill>
                <a:effectLst/>
                <a:latin typeface="Consolas" panose="020B0609020204030204" pitchFamily="49" charset="0"/>
              </a:rPr>
              <a:t>&gt;</a:t>
            </a:r>
            <a:endParaRPr lang="en-US" sz="2200" b="0" dirty="0">
              <a:solidFill>
                <a:srgbClr val="CCCCCC"/>
              </a:solidFill>
              <a:effectLst/>
              <a:latin typeface="Consolas" panose="020B0609020204030204" pitchFamily="49" charset="0"/>
            </a:endParaRPr>
          </a:p>
        </p:txBody>
      </p:sp>
    </p:spTree>
    <p:extLst>
      <p:ext uri="{BB962C8B-B14F-4D97-AF65-F5344CB8AC3E}">
        <p14:creationId xmlns:p14="http://schemas.microsoft.com/office/powerpoint/2010/main" val="1049098603"/>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41AE96B1-34CD-B44C-FC88-E15AFA30DB54}"/>
              </a:ext>
            </a:extLst>
          </p:cNvPr>
          <p:cNvSpPr txBox="1"/>
          <p:nvPr/>
        </p:nvSpPr>
        <p:spPr>
          <a:xfrm>
            <a:off x="-1" y="0"/>
            <a:ext cx="11666483" cy="43088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rPr>
              <a:t>* Additional Information: Find Hosting Service e.g.</a:t>
            </a:r>
            <a:r>
              <a:rPr lang="en-US" sz="2200" b="1" dirty="0">
                <a:solidFill>
                  <a:prstClr val="black"/>
                </a:solidFill>
                <a:latin typeface="Calibri" panose="020F0502020204030204" pitchFamily="34" charset="0"/>
                <a:cs typeface="Calibri" panose="020F0502020204030204" pitchFamily="34" charset="0"/>
              </a:rPr>
              <a:t> </a:t>
            </a:r>
            <a:r>
              <a:rPr kumimoji="0" lang="en-US" sz="2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hlinkClick r:id="rId2"/>
              </a:rPr>
              <a:t>https://www.turbify.com/</a:t>
            </a:r>
            <a:r>
              <a:rPr kumimoji="0" lang="en-US" sz="2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rPr>
              <a:t> </a:t>
            </a:r>
          </a:p>
        </p:txBody>
      </p:sp>
      <p:pic>
        <p:nvPicPr>
          <p:cNvPr id="3" name="Picture 2">
            <a:extLst>
              <a:ext uri="{FF2B5EF4-FFF2-40B4-BE49-F238E27FC236}">
                <a16:creationId xmlns:a16="http://schemas.microsoft.com/office/drawing/2014/main" id="{ABAFF9C8-1EFF-DD70-B45B-CC2F972608D6}"/>
              </a:ext>
            </a:extLst>
          </p:cNvPr>
          <p:cNvPicPr>
            <a:picLocks noChangeAspect="1"/>
          </p:cNvPicPr>
          <p:nvPr/>
        </p:nvPicPr>
        <p:blipFill>
          <a:blip r:embed="rId3"/>
          <a:stretch>
            <a:fillRect/>
          </a:stretch>
        </p:blipFill>
        <p:spPr>
          <a:xfrm>
            <a:off x="0" y="572339"/>
            <a:ext cx="12192000" cy="5713322"/>
          </a:xfrm>
          <a:prstGeom prst="rect">
            <a:avLst/>
          </a:prstGeom>
        </p:spPr>
      </p:pic>
    </p:spTree>
    <p:extLst>
      <p:ext uri="{BB962C8B-B14F-4D97-AF65-F5344CB8AC3E}">
        <p14:creationId xmlns:p14="http://schemas.microsoft.com/office/powerpoint/2010/main" val="1572555885"/>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41AE96B1-34CD-B44C-FC88-E15AFA30DB54}"/>
              </a:ext>
            </a:extLst>
          </p:cNvPr>
          <p:cNvSpPr txBox="1"/>
          <p:nvPr/>
        </p:nvSpPr>
        <p:spPr>
          <a:xfrm>
            <a:off x="-1" y="0"/>
            <a:ext cx="11666483" cy="43088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rPr>
              <a:t>* Additional Information: Find Hosting Service e.g.</a:t>
            </a:r>
            <a:r>
              <a:rPr lang="en-US" sz="2200" b="1" dirty="0">
                <a:solidFill>
                  <a:prstClr val="black"/>
                </a:solidFill>
                <a:latin typeface="Calibri" panose="020F0502020204030204" pitchFamily="34" charset="0"/>
                <a:cs typeface="Calibri" panose="020F0502020204030204" pitchFamily="34" charset="0"/>
              </a:rPr>
              <a:t> </a:t>
            </a:r>
            <a:r>
              <a:rPr kumimoji="0" lang="en-US" sz="2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hlinkClick r:id="rId2"/>
              </a:rPr>
              <a:t>https://www.godaddy.com/en-au</a:t>
            </a:r>
            <a:r>
              <a:rPr kumimoji="0" lang="en-US" sz="2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rPr>
              <a:t> </a:t>
            </a:r>
          </a:p>
        </p:txBody>
      </p:sp>
      <p:pic>
        <p:nvPicPr>
          <p:cNvPr id="5" name="Picture 4">
            <a:extLst>
              <a:ext uri="{FF2B5EF4-FFF2-40B4-BE49-F238E27FC236}">
                <a16:creationId xmlns:a16="http://schemas.microsoft.com/office/drawing/2014/main" id="{8DEA2E42-8485-728E-B2C1-E5B35ED71DA9}"/>
              </a:ext>
            </a:extLst>
          </p:cNvPr>
          <p:cNvPicPr>
            <a:picLocks noChangeAspect="1"/>
          </p:cNvPicPr>
          <p:nvPr/>
        </p:nvPicPr>
        <p:blipFill>
          <a:blip r:embed="rId3"/>
          <a:stretch>
            <a:fillRect/>
          </a:stretch>
        </p:blipFill>
        <p:spPr>
          <a:xfrm>
            <a:off x="1732607" y="704194"/>
            <a:ext cx="8726786" cy="5449612"/>
          </a:xfrm>
          <a:prstGeom prst="rect">
            <a:avLst/>
          </a:prstGeom>
        </p:spPr>
      </p:pic>
    </p:spTree>
    <p:extLst>
      <p:ext uri="{BB962C8B-B14F-4D97-AF65-F5344CB8AC3E}">
        <p14:creationId xmlns:p14="http://schemas.microsoft.com/office/powerpoint/2010/main" val="489931795"/>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41AE96B1-34CD-B44C-FC88-E15AFA30DB54}"/>
              </a:ext>
            </a:extLst>
          </p:cNvPr>
          <p:cNvSpPr txBox="1"/>
          <p:nvPr/>
        </p:nvSpPr>
        <p:spPr>
          <a:xfrm>
            <a:off x="-1" y="0"/>
            <a:ext cx="11666483" cy="43088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rPr>
              <a:t>* Additional Information: Find Hosting Service e.g.</a:t>
            </a:r>
            <a:r>
              <a:rPr lang="en-US" sz="2200" b="1" dirty="0">
                <a:solidFill>
                  <a:prstClr val="black"/>
                </a:solidFill>
                <a:latin typeface="Calibri" panose="020F0502020204030204" pitchFamily="34" charset="0"/>
                <a:cs typeface="Calibri" panose="020F0502020204030204" pitchFamily="34" charset="0"/>
              </a:rPr>
              <a:t> </a:t>
            </a:r>
            <a:r>
              <a:rPr kumimoji="0" lang="en-US" sz="2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hlinkClick r:id="rId2"/>
              </a:rPr>
              <a:t>https://www.hostgator.com/</a:t>
            </a:r>
            <a:r>
              <a:rPr kumimoji="0" lang="en-US" sz="2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rPr>
              <a:t> </a:t>
            </a:r>
          </a:p>
        </p:txBody>
      </p:sp>
      <p:pic>
        <p:nvPicPr>
          <p:cNvPr id="3" name="Picture 2">
            <a:extLst>
              <a:ext uri="{FF2B5EF4-FFF2-40B4-BE49-F238E27FC236}">
                <a16:creationId xmlns:a16="http://schemas.microsoft.com/office/drawing/2014/main" id="{95AC1D35-D88B-2E4D-A70E-C9D6907B6FA3}"/>
              </a:ext>
            </a:extLst>
          </p:cNvPr>
          <p:cNvPicPr>
            <a:picLocks noChangeAspect="1"/>
          </p:cNvPicPr>
          <p:nvPr/>
        </p:nvPicPr>
        <p:blipFill>
          <a:blip r:embed="rId3"/>
          <a:stretch>
            <a:fillRect/>
          </a:stretch>
        </p:blipFill>
        <p:spPr>
          <a:xfrm>
            <a:off x="-1" y="551785"/>
            <a:ext cx="12192000" cy="6216884"/>
          </a:xfrm>
          <a:prstGeom prst="rect">
            <a:avLst/>
          </a:prstGeom>
        </p:spPr>
      </p:pic>
    </p:spTree>
    <p:extLst>
      <p:ext uri="{BB962C8B-B14F-4D97-AF65-F5344CB8AC3E}">
        <p14:creationId xmlns:p14="http://schemas.microsoft.com/office/powerpoint/2010/main" val="3837936163"/>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41AE96B1-34CD-B44C-FC88-E15AFA30DB54}"/>
              </a:ext>
            </a:extLst>
          </p:cNvPr>
          <p:cNvSpPr txBox="1"/>
          <p:nvPr/>
        </p:nvSpPr>
        <p:spPr>
          <a:xfrm>
            <a:off x="-1" y="0"/>
            <a:ext cx="11666483" cy="1107996"/>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rPr>
              <a:t>* Additional Information: Ranking Hosts, e.g.</a:t>
            </a:r>
            <a:r>
              <a:rPr lang="en-US" sz="2200" b="1" dirty="0">
                <a:solidFill>
                  <a:prstClr val="black"/>
                </a:solidFill>
                <a:latin typeface="Calibri" panose="020F0502020204030204" pitchFamily="34" charset="0"/>
                <a:cs typeface="Calibri" panose="020F0502020204030204" pitchFamily="34" charset="0"/>
              </a:rPr>
              <a:t> </a:t>
            </a:r>
            <a:r>
              <a:rPr kumimoji="0" lang="en-US" sz="2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hlinkClick r:id="rId2"/>
              </a:rPr>
              <a:t>https://www.consumer-rankings.com/hosting/?a=148&amp;c=2968&amp;s1=76537702.78231060&amp;vn=nrd3-nbf&amp;ls=g&amp;gclid=CM-8u8fezcECFZeFaQodw3YANA</a:t>
            </a:r>
            <a:r>
              <a:rPr kumimoji="0" lang="en-US" sz="2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rPr>
              <a:t> </a:t>
            </a:r>
          </a:p>
        </p:txBody>
      </p:sp>
      <p:pic>
        <p:nvPicPr>
          <p:cNvPr id="5" name="Picture 4">
            <a:extLst>
              <a:ext uri="{FF2B5EF4-FFF2-40B4-BE49-F238E27FC236}">
                <a16:creationId xmlns:a16="http://schemas.microsoft.com/office/drawing/2014/main" id="{E5FD0866-D74E-3358-B539-070EF1713F3C}"/>
              </a:ext>
            </a:extLst>
          </p:cNvPr>
          <p:cNvPicPr>
            <a:picLocks noChangeAspect="1"/>
          </p:cNvPicPr>
          <p:nvPr/>
        </p:nvPicPr>
        <p:blipFill>
          <a:blip r:embed="rId3"/>
          <a:stretch>
            <a:fillRect/>
          </a:stretch>
        </p:blipFill>
        <p:spPr>
          <a:xfrm>
            <a:off x="2626214" y="1107996"/>
            <a:ext cx="6414052" cy="5401308"/>
          </a:xfrm>
          <a:prstGeom prst="rect">
            <a:avLst/>
          </a:prstGeom>
        </p:spPr>
      </p:pic>
    </p:spTree>
    <p:extLst>
      <p:ext uri="{BB962C8B-B14F-4D97-AF65-F5344CB8AC3E}">
        <p14:creationId xmlns:p14="http://schemas.microsoft.com/office/powerpoint/2010/main" val="2472974782"/>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2BD3A558-B1D9-FEF2-CCDE-0EF67FBC6887}"/>
              </a:ext>
            </a:extLst>
          </p:cNvPr>
          <p:cNvSpPr txBox="1"/>
          <p:nvPr/>
        </p:nvSpPr>
        <p:spPr>
          <a:xfrm>
            <a:off x="0" y="0"/>
            <a:ext cx="12191998" cy="430887"/>
          </a:xfrm>
          <a:prstGeom prst="rect">
            <a:avLst/>
          </a:prstGeom>
          <a:noFill/>
        </p:spPr>
        <p:txBody>
          <a:bodyPr wrap="square" rtlCol="0">
            <a:spAutoFit/>
          </a:bodyPr>
          <a:lstStyle/>
          <a:p>
            <a:r>
              <a:rPr lang="en-US" sz="2200" b="1" dirty="0">
                <a:latin typeface="Calibri" panose="020F0502020204030204" pitchFamily="34" charset="0"/>
                <a:cs typeface="Calibri" panose="020F0502020204030204" pitchFamily="34" charset="0"/>
              </a:rPr>
              <a:t>Challenge 2 (Homepage Portfolio Development)</a:t>
            </a:r>
          </a:p>
        </p:txBody>
      </p:sp>
      <p:pic>
        <p:nvPicPr>
          <p:cNvPr id="6" name="Picture 5">
            <a:extLst>
              <a:ext uri="{FF2B5EF4-FFF2-40B4-BE49-F238E27FC236}">
                <a16:creationId xmlns:a16="http://schemas.microsoft.com/office/drawing/2014/main" id="{97F10BA4-40B8-D10D-2BC3-8BC4D637935B}"/>
              </a:ext>
            </a:extLst>
          </p:cNvPr>
          <p:cNvPicPr>
            <a:picLocks noChangeAspect="1"/>
          </p:cNvPicPr>
          <p:nvPr/>
        </p:nvPicPr>
        <p:blipFill>
          <a:blip r:embed="rId2"/>
          <a:stretch>
            <a:fillRect/>
          </a:stretch>
        </p:blipFill>
        <p:spPr>
          <a:xfrm>
            <a:off x="280816" y="1429407"/>
            <a:ext cx="11911182" cy="3999186"/>
          </a:xfrm>
          <a:prstGeom prst="rect">
            <a:avLst/>
          </a:prstGeom>
        </p:spPr>
      </p:pic>
    </p:spTree>
    <p:extLst>
      <p:ext uri="{BB962C8B-B14F-4D97-AF65-F5344CB8AC3E}">
        <p14:creationId xmlns:p14="http://schemas.microsoft.com/office/powerpoint/2010/main" val="2917342837"/>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09885B52-C44A-A8B9-C7C0-55E166CF0754}"/>
              </a:ext>
            </a:extLst>
          </p:cNvPr>
          <p:cNvGraphicFramePr>
            <a:graphicFrameLocks noGrp="1"/>
          </p:cNvGraphicFramePr>
          <p:nvPr>
            <p:extLst>
              <p:ext uri="{D42A27DB-BD31-4B8C-83A1-F6EECF244321}">
                <p14:modId xmlns:p14="http://schemas.microsoft.com/office/powerpoint/2010/main" val="2038500597"/>
              </p:ext>
            </p:extLst>
          </p:nvPr>
        </p:nvGraphicFramePr>
        <p:xfrm>
          <a:off x="57806" y="1026380"/>
          <a:ext cx="12076386" cy="5831620"/>
        </p:xfrm>
        <a:graphic>
          <a:graphicData uri="http://schemas.openxmlformats.org/drawingml/2006/table">
            <a:tbl>
              <a:tblPr/>
              <a:tblGrid>
                <a:gridCol w="4025462">
                  <a:extLst>
                    <a:ext uri="{9D8B030D-6E8A-4147-A177-3AD203B41FA5}">
                      <a16:colId xmlns:a16="http://schemas.microsoft.com/office/drawing/2014/main" val="3150186767"/>
                    </a:ext>
                  </a:extLst>
                </a:gridCol>
                <a:gridCol w="4025462">
                  <a:extLst>
                    <a:ext uri="{9D8B030D-6E8A-4147-A177-3AD203B41FA5}">
                      <a16:colId xmlns:a16="http://schemas.microsoft.com/office/drawing/2014/main" val="2593760403"/>
                    </a:ext>
                  </a:extLst>
                </a:gridCol>
                <a:gridCol w="4025462">
                  <a:extLst>
                    <a:ext uri="{9D8B030D-6E8A-4147-A177-3AD203B41FA5}">
                      <a16:colId xmlns:a16="http://schemas.microsoft.com/office/drawing/2014/main" val="1634184553"/>
                    </a:ext>
                  </a:extLst>
                </a:gridCol>
              </a:tblGrid>
              <a:tr h="443027">
                <a:tc>
                  <a:txBody>
                    <a:bodyPr/>
                    <a:lstStyle/>
                    <a:p>
                      <a:pPr fontAlgn="b"/>
                      <a:br>
                        <a:rPr lang="en-US" sz="2200" b="1" dirty="0">
                          <a:effectLst/>
                          <a:latin typeface="Calibri" panose="020F0502020204030204" pitchFamily="34" charset="0"/>
                          <a:cs typeface="Calibri" panose="020F0502020204030204" pitchFamily="34" charset="0"/>
                        </a:rPr>
                      </a:br>
                      <a:r>
                        <a:rPr lang="en-US" sz="2200" b="1" dirty="0">
                          <a:effectLst/>
                          <a:latin typeface="Calibri" panose="020F0502020204030204" pitchFamily="34" charset="0"/>
                          <a:cs typeface="Calibri" panose="020F0502020204030204" pitchFamily="34" charset="0"/>
                        </a:rPr>
                        <a:t>Web Developer Questions</a:t>
                      </a:r>
                    </a:p>
                  </a:txBody>
                  <a:tcPr marL="26372" marR="26372" marT="13186" marB="13186" anchor="b">
                    <a:lnL w="7315" cap="flat" cmpd="sng" algn="ctr">
                      <a:solidFill>
                        <a:srgbClr val="E3E3E3"/>
                      </a:solidFill>
                      <a:prstDash val="solid"/>
                      <a:round/>
                      <a:headEnd type="none" w="med" len="med"/>
                      <a:tailEnd type="none" w="med" len="med"/>
                    </a:lnL>
                    <a:lnR w="7315" cap="flat" cmpd="sng" algn="ctr">
                      <a:solidFill>
                        <a:srgbClr val="E3E3E3"/>
                      </a:solidFill>
                      <a:prstDash val="solid"/>
                      <a:round/>
                      <a:headEnd type="none" w="med" len="med"/>
                      <a:tailEnd type="none" w="med" len="med"/>
                    </a:lnR>
                    <a:lnT w="7315"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tc>
                  <a:txBody>
                    <a:bodyPr/>
                    <a:lstStyle/>
                    <a:p>
                      <a:pPr fontAlgn="b"/>
                      <a:r>
                        <a:rPr lang="en-US" sz="2200" b="1" dirty="0">
                          <a:effectLst/>
                          <a:latin typeface="Calibri" panose="020F0502020204030204" pitchFamily="34" charset="0"/>
                          <a:cs typeface="Calibri" panose="020F0502020204030204" pitchFamily="34" charset="0"/>
                        </a:rPr>
                        <a:t>Practical Example Answers</a:t>
                      </a:r>
                    </a:p>
                  </a:txBody>
                  <a:tcPr marL="26372" marR="26372" marT="13186" marB="13186" anchor="b">
                    <a:lnL w="7315" cap="flat" cmpd="sng" algn="ctr">
                      <a:solidFill>
                        <a:srgbClr val="E3E3E3"/>
                      </a:solidFill>
                      <a:prstDash val="solid"/>
                      <a:round/>
                      <a:headEnd type="none" w="med" len="med"/>
                      <a:tailEnd type="none" w="med" len="med"/>
                    </a:lnL>
                    <a:lnR w="7315" cap="flat" cmpd="sng" algn="ctr">
                      <a:solidFill>
                        <a:srgbClr val="E3E3E3"/>
                      </a:solidFill>
                      <a:prstDash val="solid"/>
                      <a:round/>
                      <a:headEnd type="none" w="med" len="med"/>
                      <a:tailEnd type="none" w="med" len="med"/>
                    </a:lnR>
                    <a:lnT w="7315"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tc>
                  <a:txBody>
                    <a:bodyPr/>
                    <a:lstStyle/>
                    <a:p>
                      <a:endParaRPr lang="en-AU" sz="2200">
                        <a:latin typeface="Calibri" panose="020F0502020204030204" pitchFamily="34" charset="0"/>
                        <a:cs typeface="Calibri" panose="020F0502020204030204" pitchFamily="34" charset="0"/>
                      </a:endParaRPr>
                    </a:p>
                  </a:txBody>
                  <a:tcPr marL="26372" marR="26372" marT="13186" marB="13186">
                    <a:lnL w="7315" cap="flat" cmpd="sng" algn="ctr">
                      <a:solidFill>
                        <a:srgbClr val="E3E3E3"/>
                      </a:solidFill>
                      <a:prstDash val="solid"/>
                      <a:round/>
                      <a:headEnd type="none" w="med" len="med"/>
                      <a:tailEnd type="none" w="med" len="med"/>
                    </a:lnL>
                    <a:lnB w="12700" cap="flat" cmpd="sng" algn="ctr">
                      <a:solidFill>
                        <a:srgbClr val="E3E3E3"/>
                      </a:solidFill>
                      <a:prstDash val="solid"/>
                      <a:round/>
                      <a:headEnd type="none" w="med" len="med"/>
                      <a:tailEnd type="none" w="med" len="med"/>
                    </a:lnB>
                  </a:tcPr>
                </a:tc>
                <a:extLst>
                  <a:ext uri="{0D108BD9-81ED-4DB2-BD59-A6C34878D82A}">
                    <a16:rowId xmlns:a16="http://schemas.microsoft.com/office/drawing/2014/main" val="2427971201"/>
                  </a:ext>
                </a:extLst>
              </a:tr>
              <a:tr h="1056449">
                <a:tc>
                  <a:txBody>
                    <a:bodyPr/>
                    <a:lstStyle/>
                    <a:p>
                      <a:pPr fontAlgn="base"/>
                      <a:r>
                        <a:rPr lang="en-US" sz="2200" dirty="0">
                          <a:effectLst/>
                          <a:latin typeface="Calibri" panose="020F0502020204030204" pitchFamily="34" charset="0"/>
                          <a:cs typeface="Calibri" panose="020F0502020204030204" pitchFamily="34" charset="0"/>
                        </a:rPr>
                        <a:t>Purpose of the Website</a:t>
                      </a:r>
                    </a:p>
                  </a:txBody>
                  <a:tcPr marL="26372" marR="26372" marT="13186" marB="13186" anchor="ctr">
                    <a:lnL w="7315" cap="flat" cmpd="sng" algn="ctr">
                      <a:solidFill>
                        <a:srgbClr val="E3E3E3"/>
                      </a:solidFill>
                      <a:prstDash val="solid"/>
                      <a:round/>
                      <a:headEnd type="none" w="med" len="med"/>
                      <a:tailEnd type="none" w="med" len="med"/>
                    </a:lnL>
                    <a:lnR w="7315"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tc>
                  <a:txBody>
                    <a:bodyPr/>
                    <a:lstStyle/>
                    <a:p>
                      <a:pPr fontAlgn="base"/>
                      <a:r>
                        <a:rPr lang="en-US" sz="2200">
                          <a:effectLst/>
                          <a:latin typeface="Calibri" panose="020F0502020204030204" pitchFamily="34" charset="0"/>
                          <a:cs typeface="Calibri" panose="020F0502020204030204" pitchFamily="34" charset="0"/>
                        </a:rPr>
                        <a:t>What is the purpose and goal of the website?</a:t>
                      </a:r>
                    </a:p>
                  </a:txBody>
                  <a:tcPr marL="26372" marR="26372" marT="13186" marB="13186" anchor="ctr">
                    <a:lnL w="7315" cap="flat" cmpd="sng" algn="ctr">
                      <a:solidFill>
                        <a:srgbClr val="E3E3E3"/>
                      </a:solidFill>
                      <a:prstDash val="solid"/>
                      <a:round/>
                      <a:headEnd type="none" w="med" len="med"/>
                      <a:tailEnd type="none" w="med" len="med"/>
                    </a:lnL>
                    <a:lnR w="7315"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tc>
                  <a:txBody>
                    <a:bodyPr/>
                    <a:lstStyle/>
                    <a:p>
                      <a:pPr fontAlgn="base"/>
                      <a:r>
                        <a:rPr lang="en-US" sz="2200" dirty="0">
                          <a:effectLst/>
                          <a:latin typeface="Calibri" panose="020F0502020204030204" pitchFamily="34" charset="0"/>
                          <a:cs typeface="Calibri" panose="020F0502020204030204" pitchFamily="34" charset="0"/>
                        </a:rPr>
                        <a:t>To showcase my web development projects, skills, and professional experience to potential employers and clients.</a:t>
                      </a:r>
                    </a:p>
                  </a:txBody>
                  <a:tcPr marL="26372" marR="26372" marT="13186" marB="13186" anchor="ctr">
                    <a:lnL w="7315" cap="flat" cmpd="sng" algn="ctr">
                      <a:solidFill>
                        <a:srgbClr val="E3E3E3"/>
                      </a:solidFill>
                      <a:prstDash val="solid"/>
                      <a:round/>
                      <a:headEnd type="none" w="med" len="med"/>
                      <a:tailEnd type="none" w="med" len="med"/>
                    </a:lnL>
                    <a:lnR w="7315"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extLst>
                  <a:ext uri="{0D108BD9-81ED-4DB2-BD59-A6C34878D82A}">
                    <a16:rowId xmlns:a16="http://schemas.microsoft.com/office/drawing/2014/main" val="3679189450"/>
                  </a:ext>
                </a:extLst>
              </a:tr>
              <a:tr h="1158686">
                <a:tc>
                  <a:txBody>
                    <a:bodyPr/>
                    <a:lstStyle/>
                    <a:p>
                      <a:pPr fontAlgn="base"/>
                      <a:endParaRPr lang="en-US" sz="2200">
                        <a:effectLst/>
                        <a:latin typeface="Calibri" panose="020F0502020204030204" pitchFamily="34" charset="0"/>
                        <a:cs typeface="Calibri" panose="020F0502020204030204" pitchFamily="34" charset="0"/>
                      </a:endParaRPr>
                    </a:p>
                  </a:txBody>
                  <a:tcPr marL="26372" marR="26372" marT="13186" marB="13186" anchor="ctr">
                    <a:lnL w="7315" cap="flat" cmpd="sng" algn="ctr">
                      <a:solidFill>
                        <a:srgbClr val="E3E3E3"/>
                      </a:solidFill>
                      <a:prstDash val="solid"/>
                      <a:round/>
                      <a:headEnd type="none" w="med" len="med"/>
                      <a:tailEnd type="none" w="med" len="med"/>
                    </a:lnL>
                    <a:lnR w="7315"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tc>
                  <a:txBody>
                    <a:bodyPr/>
                    <a:lstStyle/>
                    <a:p>
                      <a:pPr fontAlgn="base"/>
                      <a:r>
                        <a:rPr lang="en-US" sz="2200" dirty="0">
                          <a:effectLst/>
                          <a:latin typeface="Calibri" panose="020F0502020204030204" pitchFamily="34" charset="0"/>
                          <a:cs typeface="Calibri" panose="020F0502020204030204" pitchFamily="34" charset="0"/>
                        </a:rPr>
                        <a:t>What is the company’s mission statement?</a:t>
                      </a:r>
                    </a:p>
                  </a:txBody>
                  <a:tcPr marL="26372" marR="26372" marT="13186" marB="13186" anchor="ctr">
                    <a:lnL w="7315" cap="flat" cmpd="sng" algn="ctr">
                      <a:solidFill>
                        <a:srgbClr val="E3E3E3"/>
                      </a:solidFill>
                      <a:prstDash val="solid"/>
                      <a:round/>
                      <a:headEnd type="none" w="med" len="med"/>
                      <a:tailEnd type="none" w="med" len="med"/>
                    </a:lnL>
                    <a:lnR w="7315"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tc>
                  <a:txBody>
                    <a:bodyPr/>
                    <a:lstStyle/>
                    <a:p>
                      <a:pPr fontAlgn="base"/>
                      <a:r>
                        <a:rPr lang="en-US" sz="2200" dirty="0">
                          <a:effectLst/>
                          <a:latin typeface="Calibri" panose="020F0502020204030204" pitchFamily="34" charset="0"/>
                          <a:cs typeface="Calibri" panose="020F0502020204030204" pitchFamily="34" charset="0"/>
                        </a:rPr>
                        <a:t>To demonstrate innovative web solutions and technical expertise that drive success for clients and businesses.</a:t>
                      </a:r>
                    </a:p>
                  </a:txBody>
                  <a:tcPr marL="26372" marR="26372" marT="13186" marB="13186" anchor="ctr">
                    <a:lnL w="7315" cap="flat" cmpd="sng" algn="ctr">
                      <a:solidFill>
                        <a:srgbClr val="E3E3E3"/>
                      </a:solidFill>
                      <a:prstDash val="solid"/>
                      <a:round/>
                      <a:headEnd type="none" w="med" len="med"/>
                      <a:tailEnd type="none" w="med" len="med"/>
                    </a:lnL>
                    <a:lnR w="7315"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extLst>
                  <a:ext uri="{0D108BD9-81ED-4DB2-BD59-A6C34878D82A}">
                    <a16:rowId xmlns:a16="http://schemas.microsoft.com/office/drawing/2014/main" val="1453160615"/>
                  </a:ext>
                </a:extLst>
              </a:tr>
              <a:tr h="954212">
                <a:tc>
                  <a:txBody>
                    <a:bodyPr/>
                    <a:lstStyle/>
                    <a:p>
                      <a:pPr fontAlgn="base"/>
                      <a:r>
                        <a:rPr lang="en-US" sz="2200">
                          <a:effectLst/>
                          <a:latin typeface="Calibri" panose="020F0502020204030204" pitchFamily="34" charset="0"/>
                          <a:cs typeface="Calibri" panose="020F0502020204030204" pitchFamily="34" charset="0"/>
                        </a:rPr>
                        <a:t>Target Audience</a:t>
                      </a:r>
                    </a:p>
                  </a:txBody>
                  <a:tcPr marL="26372" marR="26372" marT="13186" marB="13186" anchor="ctr">
                    <a:lnL w="7315" cap="flat" cmpd="sng" algn="ctr">
                      <a:solidFill>
                        <a:srgbClr val="E3E3E3"/>
                      </a:solidFill>
                      <a:prstDash val="solid"/>
                      <a:round/>
                      <a:headEnd type="none" w="med" len="med"/>
                      <a:tailEnd type="none" w="med" len="med"/>
                    </a:lnL>
                    <a:lnR w="7315"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tc>
                  <a:txBody>
                    <a:bodyPr/>
                    <a:lstStyle/>
                    <a:p>
                      <a:pPr fontAlgn="base"/>
                      <a:r>
                        <a:rPr lang="en-US" sz="2200" dirty="0">
                          <a:effectLst/>
                          <a:latin typeface="Calibri" panose="020F0502020204030204" pitchFamily="34" charset="0"/>
                          <a:cs typeface="Calibri" panose="020F0502020204030204" pitchFamily="34" charset="0"/>
                        </a:rPr>
                        <a:t>Describe the target audience (age, gender, demographics)</a:t>
                      </a:r>
                    </a:p>
                  </a:txBody>
                  <a:tcPr marL="26372" marR="26372" marT="13186" marB="13186" anchor="ctr">
                    <a:lnL w="7315" cap="flat" cmpd="sng" algn="ctr">
                      <a:solidFill>
                        <a:srgbClr val="E3E3E3"/>
                      </a:solidFill>
                      <a:prstDash val="solid"/>
                      <a:round/>
                      <a:headEnd type="none" w="med" len="med"/>
                      <a:tailEnd type="none" w="med" len="med"/>
                    </a:lnL>
                    <a:lnR w="7315"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tc>
                  <a:txBody>
                    <a:bodyPr/>
                    <a:lstStyle/>
                    <a:p>
                      <a:pPr fontAlgn="base"/>
                      <a:r>
                        <a:rPr lang="en-US" sz="2200" dirty="0">
                          <a:effectLst/>
                          <a:latin typeface="Calibri" panose="020F0502020204030204" pitchFamily="34" charset="0"/>
                          <a:cs typeface="Calibri" panose="020F0502020204030204" pitchFamily="34" charset="0"/>
                        </a:rPr>
                        <a:t>Tech industry professionals, hiring managers, and peers in web development, aged 20-50, regardless of gender.</a:t>
                      </a:r>
                    </a:p>
                  </a:txBody>
                  <a:tcPr marL="26372" marR="26372" marT="13186" marB="13186" anchor="ctr">
                    <a:lnL w="7315" cap="flat" cmpd="sng" algn="ctr">
                      <a:solidFill>
                        <a:srgbClr val="E3E3E3"/>
                      </a:solidFill>
                      <a:prstDash val="solid"/>
                      <a:round/>
                      <a:headEnd type="none" w="med" len="med"/>
                      <a:tailEnd type="none" w="med" len="med"/>
                    </a:lnL>
                    <a:lnR w="7315"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extLst>
                  <a:ext uri="{0D108BD9-81ED-4DB2-BD59-A6C34878D82A}">
                    <a16:rowId xmlns:a16="http://schemas.microsoft.com/office/drawing/2014/main" val="3970135888"/>
                  </a:ext>
                </a:extLst>
              </a:tr>
              <a:tr h="954212">
                <a:tc>
                  <a:txBody>
                    <a:bodyPr/>
                    <a:lstStyle/>
                    <a:p>
                      <a:pPr fontAlgn="base"/>
                      <a:endParaRPr lang="en-US" sz="2200" dirty="0">
                        <a:effectLst/>
                        <a:latin typeface="Calibri" panose="020F0502020204030204" pitchFamily="34" charset="0"/>
                        <a:cs typeface="Calibri" panose="020F0502020204030204" pitchFamily="34" charset="0"/>
                      </a:endParaRPr>
                    </a:p>
                  </a:txBody>
                  <a:tcPr marL="26372" marR="26372" marT="13186" marB="13186" anchor="ctr">
                    <a:lnL w="7315" cap="flat" cmpd="sng" algn="ctr">
                      <a:solidFill>
                        <a:srgbClr val="E3E3E3"/>
                      </a:solidFill>
                      <a:prstDash val="solid"/>
                      <a:round/>
                      <a:headEnd type="none" w="med" len="med"/>
                      <a:tailEnd type="none" w="med" len="med"/>
                    </a:lnL>
                    <a:lnR w="7315"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tc>
                  <a:txBody>
                    <a:bodyPr/>
                    <a:lstStyle/>
                    <a:p>
                      <a:pPr fontAlgn="base"/>
                      <a:r>
                        <a:rPr lang="en-US" sz="2200" dirty="0">
                          <a:effectLst/>
                          <a:latin typeface="Calibri" panose="020F0502020204030204" pitchFamily="34" charset="0"/>
                          <a:cs typeface="Calibri" panose="020F0502020204030204" pitchFamily="34" charset="0"/>
                        </a:rPr>
                        <a:t>What information is most pertinent to the users?</a:t>
                      </a:r>
                    </a:p>
                  </a:txBody>
                  <a:tcPr marL="26372" marR="26372" marT="13186" marB="13186" anchor="ctr">
                    <a:lnL w="7315" cap="flat" cmpd="sng" algn="ctr">
                      <a:solidFill>
                        <a:srgbClr val="E3E3E3"/>
                      </a:solidFill>
                      <a:prstDash val="solid"/>
                      <a:round/>
                      <a:headEnd type="none" w="med" len="med"/>
                      <a:tailEnd type="none" w="med" len="med"/>
                    </a:lnL>
                    <a:lnR w="7315"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tc>
                  <a:txBody>
                    <a:bodyPr/>
                    <a:lstStyle/>
                    <a:p>
                      <a:pPr fontAlgn="base"/>
                      <a:r>
                        <a:rPr lang="en-US" sz="2200" dirty="0">
                          <a:effectLst/>
                          <a:latin typeface="Calibri" panose="020F0502020204030204" pitchFamily="34" charset="0"/>
                          <a:cs typeface="Calibri" panose="020F0502020204030204" pitchFamily="34" charset="0"/>
                        </a:rPr>
                        <a:t>Portfolio of projects, list of skills, professional bio, and contact information.</a:t>
                      </a:r>
                    </a:p>
                  </a:txBody>
                  <a:tcPr marL="26372" marR="26372" marT="13186" marB="13186" anchor="ctr">
                    <a:lnL w="7315" cap="flat" cmpd="sng" algn="ctr">
                      <a:solidFill>
                        <a:srgbClr val="E3E3E3"/>
                      </a:solidFill>
                      <a:prstDash val="solid"/>
                      <a:round/>
                      <a:headEnd type="none" w="med" len="med"/>
                      <a:tailEnd type="none" w="med" len="med"/>
                    </a:lnL>
                    <a:lnR w="7315"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extLst>
                  <a:ext uri="{0D108BD9-81ED-4DB2-BD59-A6C34878D82A}">
                    <a16:rowId xmlns:a16="http://schemas.microsoft.com/office/drawing/2014/main" val="1574746228"/>
                  </a:ext>
                </a:extLst>
              </a:tr>
            </a:tbl>
          </a:graphicData>
        </a:graphic>
      </p:graphicFrame>
      <p:sp>
        <p:nvSpPr>
          <p:cNvPr id="3" name="TextBox 2">
            <a:extLst>
              <a:ext uri="{FF2B5EF4-FFF2-40B4-BE49-F238E27FC236}">
                <a16:creationId xmlns:a16="http://schemas.microsoft.com/office/drawing/2014/main" id="{2BD3A558-B1D9-FEF2-CCDE-0EF67FBC6887}"/>
              </a:ext>
            </a:extLst>
          </p:cNvPr>
          <p:cNvSpPr txBox="1"/>
          <p:nvPr/>
        </p:nvSpPr>
        <p:spPr>
          <a:xfrm>
            <a:off x="0" y="0"/>
            <a:ext cx="12191998" cy="1107996"/>
          </a:xfrm>
          <a:prstGeom prst="rect">
            <a:avLst/>
          </a:prstGeom>
          <a:noFill/>
        </p:spPr>
        <p:txBody>
          <a:bodyPr wrap="square" rtlCol="0">
            <a:spAutoFit/>
          </a:bodyPr>
          <a:lstStyle/>
          <a:p>
            <a:r>
              <a:rPr lang="en-US" sz="2200" b="1" dirty="0">
                <a:latin typeface="Calibri" panose="020F0502020204030204" pitchFamily="34" charset="0"/>
                <a:cs typeface="Calibri" panose="020F0502020204030204" pitchFamily="34" charset="0"/>
              </a:rPr>
              <a:t>Challenge 2 (Homepage Portfolio Development)</a:t>
            </a:r>
          </a:p>
          <a:p>
            <a:r>
              <a:rPr lang="en-US" sz="2200" b="1" dirty="0">
                <a:latin typeface="Calibri" panose="020F0502020204030204" pitchFamily="34" charset="0"/>
                <a:cs typeface="Calibri" panose="020F0502020204030204" pitchFamily="34" charset="0"/>
              </a:rPr>
              <a:t>A cohesive practical example for the planning document of a personal portfolio website. This example is for a hypothetical website aimed at showcasing a web developer's professional portfolio.</a:t>
            </a:r>
            <a:endParaRPr lang="en-AU" sz="2200" b="1"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3181373034"/>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09885B52-C44A-A8B9-C7C0-55E166CF0754}"/>
              </a:ext>
            </a:extLst>
          </p:cNvPr>
          <p:cNvGraphicFramePr>
            <a:graphicFrameLocks noGrp="1"/>
          </p:cNvGraphicFramePr>
          <p:nvPr>
            <p:extLst>
              <p:ext uri="{D42A27DB-BD31-4B8C-83A1-F6EECF244321}">
                <p14:modId xmlns:p14="http://schemas.microsoft.com/office/powerpoint/2010/main" val="2647907035"/>
              </p:ext>
            </p:extLst>
          </p:nvPr>
        </p:nvGraphicFramePr>
        <p:xfrm>
          <a:off x="57806" y="1309893"/>
          <a:ext cx="12076386" cy="5354129"/>
        </p:xfrm>
        <a:graphic>
          <a:graphicData uri="http://schemas.openxmlformats.org/drawingml/2006/table">
            <a:tbl>
              <a:tblPr/>
              <a:tblGrid>
                <a:gridCol w="4025462">
                  <a:extLst>
                    <a:ext uri="{9D8B030D-6E8A-4147-A177-3AD203B41FA5}">
                      <a16:colId xmlns:a16="http://schemas.microsoft.com/office/drawing/2014/main" val="3150186767"/>
                    </a:ext>
                  </a:extLst>
                </a:gridCol>
                <a:gridCol w="4025462">
                  <a:extLst>
                    <a:ext uri="{9D8B030D-6E8A-4147-A177-3AD203B41FA5}">
                      <a16:colId xmlns:a16="http://schemas.microsoft.com/office/drawing/2014/main" val="2593760403"/>
                    </a:ext>
                  </a:extLst>
                </a:gridCol>
                <a:gridCol w="4025462">
                  <a:extLst>
                    <a:ext uri="{9D8B030D-6E8A-4147-A177-3AD203B41FA5}">
                      <a16:colId xmlns:a16="http://schemas.microsoft.com/office/drawing/2014/main" val="1634184553"/>
                    </a:ext>
                  </a:extLst>
                </a:gridCol>
              </a:tblGrid>
              <a:tr h="443027">
                <a:tc>
                  <a:txBody>
                    <a:bodyPr/>
                    <a:lstStyle/>
                    <a:p>
                      <a:pPr fontAlgn="base"/>
                      <a:r>
                        <a:rPr lang="en-US" sz="2200" dirty="0">
                          <a:effectLst/>
                          <a:latin typeface="Calibri" panose="020F0502020204030204" pitchFamily="34" charset="0"/>
                          <a:cs typeface="Calibri" panose="020F0502020204030204" pitchFamily="34" charset="0"/>
                        </a:rPr>
                        <a:t>Multiplatform Display</a:t>
                      </a:r>
                    </a:p>
                  </a:txBody>
                  <a:tcPr anchor="ctr">
                    <a:lnL w="7315" cap="flat" cmpd="sng" algn="ctr">
                      <a:solidFill>
                        <a:srgbClr val="E3E3E3"/>
                      </a:solidFill>
                      <a:prstDash val="solid"/>
                      <a:round/>
                      <a:headEnd type="none" w="med" len="med"/>
                      <a:tailEnd type="none" w="med" len="med"/>
                    </a:lnL>
                    <a:lnR w="7315" cap="flat" cmpd="sng" algn="ctr">
                      <a:solidFill>
                        <a:srgbClr val="E3E3E3"/>
                      </a:solidFill>
                      <a:prstDash val="solid"/>
                      <a:round/>
                      <a:headEnd type="none" w="med" len="med"/>
                      <a:tailEnd type="none" w="med" len="med"/>
                    </a:lnR>
                    <a:lnT w="7315"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tc>
                  <a:txBody>
                    <a:bodyPr/>
                    <a:lstStyle/>
                    <a:p>
                      <a:pPr fontAlgn="base"/>
                      <a:r>
                        <a:rPr lang="en-US" sz="2200" dirty="0">
                          <a:effectLst/>
                          <a:latin typeface="Calibri" panose="020F0502020204030204" pitchFamily="34" charset="0"/>
                          <a:cs typeface="Calibri" panose="020F0502020204030204" pitchFamily="34" charset="0"/>
                        </a:rPr>
                        <a:t>Will you design for multiple platform display or only focus on a desktop or mobile design?</a:t>
                      </a:r>
                    </a:p>
                  </a:txBody>
                  <a:tcPr anchor="ctr">
                    <a:lnL w="7315" cap="flat" cmpd="sng" algn="ctr">
                      <a:solidFill>
                        <a:srgbClr val="E3E3E3"/>
                      </a:solidFill>
                      <a:prstDash val="solid"/>
                      <a:round/>
                      <a:headEnd type="none" w="med" len="med"/>
                      <a:tailEnd type="none" w="med" len="med"/>
                    </a:lnL>
                    <a:lnR w="7315" cap="flat" cmpd="sng" algn="ctr">
                      <a:solidFill>
                        <a:srgbClr val="E3E3E3"/>
                      </a:solidFill>
                      <a:prstDash val="solid"/>
                      <a:round/>
                      <a:headEnd type="none" w="med" len="med"/>
                      <a:tailEnd type="none" w="med" len="med"/>
                    </a:lnR>
                    <a:lnT w="7315"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tc>
                  <a:txBody>
                    <a:bodyPr/>
                    <a:lstStyle/>
                    <a:p>
                      <a:pPr fontAlgn="base"/>
                      <a:r>
                        <a:rPr lang="en-US" sz="2200">
                          <a:effectLst/>
                          <a:latin typeface="Calibri" panose="020F0502020204030204" pitchFamily="34" charset="0"/>
                          <a:cs typeface="Calibri" panose="020F0502020204030204" pitchFamily="34" charset="0"/>
                        </a:rPr>
                        <a:t>The site will be responsive, designed for optimal viewing across desktop, mobile, and tablet devices.</a:t>
                      </a:r>
                    </a:p>
                  </a:txBody>
                  <a:tcPr anchor="ctr">
                    <a:lnL w="7315" cap="flat" cmpd="sng" algn="ctr">
                      <a:solidFill>
                        <a:srgbClr val="E3E3E3"/>
                      </a:solidFill>
                      <a:prstDash val="solid"/>
                      <a:round/>
                      <a:headEnd type="none" w="med" len="med"/>
                      <a:tailEnd type="none" w="med" len="med"/>
                    </a:lnL>
                    <a:lnB w="12700" cap="flat" cmpd="sng" algn="ctr">
                      <a:solidFill>
                        <a:srgbClr val="E3E3E3"/>
                      </a:solidFill>
                      <a:prstDash val="solid"/>
                      <a:round/>
                      <a:headEnd type="none" w="med" len="med"/>
                      <a:tailEnd type="none" w="med" len="med"/>
                    </a:lnB>
                  </a:tcPr>
                </a:tc>
                <a:extLst>
                  <a:ext uri="{0D108BD9-81ED-4DB2-BD59-A6C34878D82A}">
                    <a16:rowId xmlns:a16="http://schemas.microsoft.com/office/drawing/2014/main" val="2427971201"/>
                  </a:ext>
                </a:extLst>
              </a:tr>
              <a:tr h="1056449">
                <a:tc>
                  <a:txBody>
                    <a:bodyPr/>
                    <a:lstStyle/>
                    <a:p>
                      <a:pPr fontAlgn="base"/>
                      <a:r>
                        <a:rPr lang="en-US" sz="2200">
                          <a:effectLst/>
                          <a:latin typeface="Calibri" panose="020F0502020204030204" pitchFamily="34" charset="0"/>
                          <a:cs typeface="Calibri" panose="020F0502020204030204" pitchFamily="34" charset="0"/>
                        </a:rPr>
                        <a:t>Wireframe</a:t>
                      </a:r>
                    </a:p>
                  </a:txBody>
                  <a:tcPr anchor="ctr">
                    <a:lnL w="7315" cap="flat" cmpd="sng" algn="ctr">
                      <a:solidFill>
                        <a:srgbClr val="E3E3E3"/>
                      </a:solidFill>
                      <a:prstDash val="solid"/>
                      <a:round/>
                      <a:headEnd type="none" w="med" len="med"/>
                      <a:tailEnd type="none" w="med" len="med"/>
                    </a:lnL>
                    <a:lnR w="7315"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tc>
                  <a:txBody>
                    <a:bodyPr/>
                    <a:lstStyle/>
                    <a:p>
                      <a:pPr fontAlgn="base"/>
                      <a:r>
                        <a:rPr lang="en-US" sz="2200" dirty="0">
                          <a:effectLst/>
                          <a:latin typeface="Calibri" panose="020F0502020204030204" pitchFamily="34" charset="0"/>
                          <a:cs typeface="Calibri" panose="020F0502020204030204" pitchFamily="34" charset="0"/>
                        </a:rPr>
                        <a:t>How many pages will be included in the website?</a:t>
                      </a:r>
                    </a:p>
                  </a:txBody>
                  <a:tcPr anchor="ctr">
                    <a:lnL w="7315" cap="flat" cmpd="sng" algn="ctr">
                      <a:solidFill>
                        <a:srgbClr val="E3E3E3"/>
                      </a:solidFill>
                      <a:prstDash val="solid"/>
                      <a:round/>
                      <a:headEnd type="none" w="med" len="med"/>
                      <a:tailEnd type="none" w="med" len="med"/>
                    </a:lnL>
                    <a:lnR w="7315"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tc>
                  <a:txBody>
                    <a:bodyPr/>
                    <a:lstStyle/>
                    <a:p>
                      <a:pPr fontAlgn="base"/>
                      <a:r>
                        <a:rPr lang="en-US" sz="2200" dirty="0">
                          <a:effectLst/>
                          <a:latin typeface="Calibri" panose="020F0502020204030204" pitchFamily="34" charset="0"/>
                          <a:cs typeface="Calibri" panose="020F0502020204030204" pitchFamily="34" charset="0"/>
                        </a:rPr>
                        <a:t>5 main pages: Home, About, Portfolio, Skills, Contact.</a:t>
                      </a:r>
                    </a:p>
                  </a:txBody>
                  <a:tcPr anchor="ctr">
                    <a:lnL w="7315" cap="flat" cmpd="sng" algn="ctr">
                      <a:solidFill>
                        <a:srgbClr val="E3E3E3"/>
                      </a:solidFill>
                      <a:prstDash val="solid"/>
                      <a:round/>
                      <a:headEnd type="none" w="med" len="med"/>
                      <a:tailEnd type="none" w="med" len="med"/>
                    </a:lnL>
                    <a:lnR w="7315"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extLst>
                  <a:ext uri="{0D108BD9-81ED-4DB2-BD59-A6C34878D82A}">
                    <a16:rowId xmlns:a16="http://schemas.microsoft.com/office/drawing/2014/main" val="3679189450"/>
                  </a:ext>
                </a:extLst>
              </a:tr>
              <a:tr h="1158686">
                <a:tc>
                  <a:txBody>
                    <a:bodyPr/>
                    <a:lstStyle/>
                    <a:p>
                      <a:pPr fontAlgn="base"/>
                      <a:endParaRPr lang="en-US" sz="2200">
                        <a:effectLst/>
                        <a:latin typeface="Calibri" panose="020F0502020204030204" pitchFamily="34" charset="0"/>
                        <a:cs typeface="Calibri" panose="020F0502020204030204" pitchFamily="34" charset="0"/>
                      </a:endParaRPr>
                    </a:p>
                  </a:txBody>
                  <a:tcPr marL="26372" marR="26372" marT="13186" marB="13186" anchor="ctr">
                    <a:lnL w="7315" cap="flat" cmpd="sng" algn="ctr">
                      <a:solidFill>
                        <a:srgbClr val="E3E3E3"/>
                      </a:solidFill>
                      <a:prstDash val="solid"/>
                      <a:round/>
                      <a:headEnd type="none" w="med" len="med"/>
                      <a:tailEnd type="none" w="med" len="med"/>
                    </a:lnL>
                    <a:lnR w="7315"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tc>
                  <a:txBody>
                    <a:bodyPr/>
                    <a:lstStyle/>
                    <a:p>
                      <a:pPr fontAlgn="base"/>
                      <a:r>
                        <a:rPr lang="en-US" sz="2200" dirty="0">
                          <a:effectLst/>
                          <a:latin typeface="Calibri" panose="020F0502020204030204" pitchFamily="34" charset="0"/>
                          <a:cs typeface="Calibri" panose="020F0502020204030204" pitchFamily="34" charset="0"/>
                        </a:rPr>
                        <a:t>How will the pages be organized?</a:t>
                      </a:r>
                    </a:p>
                  </a:txBody>
                  <a:tcPr anchor="ctr">
                    <a:lnL w="7315" cap="flat" cmpd="sng" algn="ctr">
                      <a:solidFill>
                        <a:srgbClr val="E3E3E3"/>
                      </a:solidFill>
                      <a:prstDash val="solid"/>
                      <a:round/>
                      <a:headEnd type="none" w="med" len="med"/>
                      <a:tailEnd type="none" w="med" len="med"/>
                    </a:lnL>
                    <a:lnR w="7315"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tc>
                  <a:txBody>
                    <a:bodyPr/>
                    <a:lstStyle/>
                    <a:p>
                      <a:pPr fontAlgn="base"/>
                      <a:r>
                        <a:rPr lang="en-US" sz="2200" dirty="0">
                          <a:effectLst/>
                          <a:latin typeface="Calibri" panose="020F0502020204030204" pitchFamily="34" charset="0"/>
                          <a:cs typeface="Calibri" panose="020F0502020204030204" pitchFamily="34" charset="0"/>
                        </a:rPr>
                        <a:t>A navigation bar at the top for easy access to all sections, with smooth scroll functionality for single-page navigation.</a:t>
                      </a:r>
                    </a:p>
                  </a:txBody>
                  <a:tcPr anchor="ctr">
                    <a:lnL w="7315" cap="flat" cmpd="sng" algn="ctr">
                      <a:solidFill>
                        <a:srgbClr val="E3E3E3"/>
                      </a:solidFill>
                      <a:prstDash val="solid"/>
                      <a:round/>
                      <a:headEnd type="none" w="med" len="med"/>
                      <a:tailEnd type="none" w="med" len="med"/>
                    </a:lnL>
                    <a:lnR w="7315"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extLst>
                  <a:ext uri="{0D108BD9-81ED-4DB2-BD59-A6C34878D82A}">
                    <a16:rowId xmlns:a16="http://schemas.microsoft.com/office/drawing/2014/main" val="1453160615"/>
                  </a:ext>
                </a:extLst>
              </a:tr>
              <a:tr h="954212">
                <a:tc>
                  <a:txBody>
                    <a:bodyPr/>
                    <a:lstStyle/>
                    <a:p>
                      <a:pPr fontAlgn="base"/>
                      <a:endParaRPr lang="en-US" sz="2200" dirty="0">
                        <a:effectLst/>
                        <a:latin typeface="Calibri" panose="020F0502020204030204" pitchFamily="34" charset="0"/>
                        <a:cs typeface="Calibri" panose="020F0502020204030204" pitchFamily="34" charset="0"/>
                      </a:endParaRPr>
                    </a:p>
                  </a:txBody>
                  <a:tcPr marL="26372" marR="26372" marT="13186" marB="13186" anchor="ctr">
                    <a:lnL w="7315" cap="flat" cmpd="sng" algn="ctr">
                      <a:solidFill>
                        <a:srgbClr val="E3E3E3"/>
                      </a:solidFill>
                      <a:prstDash val="solid"/>
                      <a:round/>
                      <a:headEnd type="none" w="med" len="med"/>
                      <a:tailEnd type="none" w="med" len="med"/>
                    </a:lnL>
                    <a:lnR w="7315"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tc>
                  <a:txBody>
                    <a:bodyPr/>
                    <a:lstStyle/>
                    <a:p>
                      <a:pPr marL="0" marR="0" lvl="0" indent="0" algn="l" defTabSz="914400" rtl="0" eaLnBrk="1" fontAlgn="base" latinLnBrk="0" hangingPunct="1">
                        <a:lnSpc>
                          <a:spcPct val="100000"/>
                        </a:lnSpc>
                        <a:spcBef>
                          <a:spcPts val="0"/>
                        </a:spcBef>
                        <a:spcAft>
                          <a:spcPts val="0"/>
                        </a:spcAft>
                        <a:buClrTx/>
                        <a:buSzTx/>
                        <a:buFontTx/>
                        <a:buNone/>
                        <a:tabLst/>
                        <a:defRPr/>
                      </a:pPr>
                      <a:r>
                        <a:rPr lang="en-US" sz="2200" dirty="0">
                          <a:effectLst/>
                          <a:latin typeface="Calibri" panose="020F0502020204030204" pitchFamily="34" charset="0"/>
                          <a:cs typeface="Calibri" panose="020F0502020204030204" pitchFamily="34" charset="0"/>
                        </a:rPr>
                        <a:t>What type of website structure is appropriate for the content?</a:t>
                      </a:r>
                    </a:p>
                  </a:txBody>
                  <a:tcPr anchor="ctr">
                    <a:lnL w="7315" cap="flat" cmpd="sng" algn="ctr">
                      <a:solidFill>
                        <a:srgbClr val="E3E3E3"/>
                      </a:solidFill>
                      <a:prstDash val="solid"/>
                      <a:round/>
                      <a:headEnd type="none" w="med" len="med"/>
                      <a:tailEnd type="none" w="med" len="med"/>
                    </a:lnL>
                    <a:lnR w="7315"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tc>
                  <a:txBody>
                    <a:bodyPr/>
                    <a:lstStyle/>
                    <a:p>
                      <a:pPr fontAlgn="base"/>
                      <a:r>
                        <a:rPr lang="en-US" sz="2200" b="0" i="0" kern="1200" dirty="0">
                          <a:solidFill>
                            <a:schemeClr val="tx1"/>
                          </a:solidFill>
                          <a:effectLst/>
                          <a:latin typeface="Calibri" panose="020F0502020204030204" pitchFamily="34" charset="0"/>
                          <a:ea typeface="+mn-ea"/>
                          <a:cs typeface="Calibri" panose="020F0502020204030204" pitchFamily="34" charset="0"/>
                        </a:rPr>
                        <a:t>A single-page application (SPA) structure for the main content with additional pages for detailed project views.</a:t>
                      </a:r>
                      <a:endParaRPr lang="en-US" sz="2200" dirty="0">
                        <a:effectLst/>
                        <a:latin typeface="Calibri" panose="020F0502020204030204" pitchFamily="34" charset="0"/>
                        <a:cs typeface="Calibri" panose="020F0502020204030204" pitchFamily="34" charset="0"/>
                      </a:endParaRPr>
                    </a:p>
                  </a:txBody>
                  <a:tcPr anchor="ctr">
                    <a:lnL w="7315" cap="flat" cmpd="sng" algn="ctr">
                      <a:solidFill>
                        <a:srgbClr val="E3E3E3"/>
                      </a:solidFill>
                      <a:prstDash val="solid"/>
                      <a:round/>
                      <a:headEnd type="none" w="med" len="med"/>
                      <a:tailEnd type="none" w="med" len="med"/>
                    </a:lnL>
                    <a:lnR w="7315"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extLst>
                  <a:ext uri="{0D108BD9-81ED-4DB2-BD59-A6C34878D82A}">
                    <a16:rowId xmlns:a16="http://schemas.microsoft.com/office/drawing/2014/main" val="3970135888"/>
                  </a:ext>
                </a:extLst>
              </a:tr>
            </a:tbl>
          </a:graphicData>
        </a:graphic>
      </p:graphicFrame>
      <p:sp>
        <p:nvSpPr>
          <p:cNvPr id="3" name="TextBox 2">
            <a:extLst>
              <a:ext uri="{FF2B5EF4-FFF2-40B4-BE49-F238E27FC236}">
                <a16:creationId xmlns:a16="http://schemas.microsoft.com/office/drawing/2014/main" id="{2BD3A558-B1D9-FEF2-CCDE-0EF67FBC6887}"/>
              </a:ext>
            </a:extLst>
          </p:cNvPr>
          <p:cNvSpPr txBox="1"/>
          <p:nvPr/>
        </p:nvSpPr>
        <p:spPr>
          <a:xfrm>
            <a:off x="0" y="0"/>
            <a:ext cx="12191998" cy="430887"/>
          </a:xfrm>
          <a:prstGeom prst="rect">
            <a:avLst/>
          </a:prstGeom>
          <a:noFill/>
        </p:spPr>
        <p:txBody>
          <a:bodyPr wrap="square" rtlCol="0">
            <a:spAutoFit/>
          </a:bodyPr>
          <a:lstStyle/>
          <a:p>
            <a:r>
              <a:rPr lang="en-US" sz="2200" b="1" dirty="0">
                <a:latin typeface="Calibri" panose="020F0502020204030204" pitchFamily="34" charset="0"/>
                <a:cs typeface="Calibri" panose="020F0502020204030204" pitchFamily="34" charset="0"/>
              </a:rPr>
              <a:t>Challenge 2 (Homepage Portfolio Development)</a:t>
            </a:r>
          </a:p>
        </p:txBody>
      </p:sp>
    </p:spTree>
    <p:extLst>
      <p:ext uri="{BB962C8B-B14F-4D97-AF65-F5344CB8AC3E}">
        <p14:creationId xmlns:p14="http://schemas.microsoft.com/office/powerpoint/2010/main" val="963668370"/>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09885B52-C44A-A8B9-C7C0-55E166CF0754}"/>
              </a:ext>
            </a:extLst>
          </p:cNvPr>
          <p:cNvGraphicFramePr>
            <a:graphicFrameLocks noGrp="1"/>
          </p:cNvGraphicFramePr>
          <p:nvPr>
            <p:extLst>
              <p:ext uri="{D42A27DB-BD31-4B8C-83A1-F6EECF244321}">
                <p14:modId xmlns:p14="http://schemas.microsoft.com/office/powerpoint/2010/main" val="1281490072"/>
              </p:ext>
            </p:extLst>
          </p:nvPr>
        </p:nvGraphicFramePr>
        <p:xfrm>
          <a:off x="57806" y="1309893"/>
          <a:ext cx="12076386" cy="5121086"/>
        </p:xfrm>
        <a:graphic>
          <a:graphicData uri="http://schemas.openxmlformats.org/drawingml/2006/table">
            <a:tbl>
              <a:tblPr/>
              <a:tblGrid>
                <a:gridCol w="4025462">
                  <a:extLst>
                    <a:ext uri="{9D8B030D-6E8A-4147-A177-3AD203B41FA5}">
                      <a16:colId xmlns:a16="http://schemas.microsoft.com/office/drawing/2014/main" val="3150186767"/>
                    </a:ext>
                  </a:extLst>
                </a:gridCol>
                <a:gridCol w="4025462">
                  <a:extLst>
                    <a:ext uri="{9D8B030D-6E8A-4147-A177-3AD203B41FA5}">
                      <a16:colId xmlns:a16="http://schemas.microsoft.com/office/drawing/2014/main" val="2593760403"/>
                    </a:ext>
                  </a:extLst>
                </a:gridCol>
                <a:gridCol w="4025462">
                  <a:extLst>
                    <a:ext uri="{9D8B030D-6E8A-4147-A177-3AD203B41FA5}">
                      <a16:colId xmlns:a16="http://schemas.microsoft.com/office/drawing/2014/main" val="1634184553"/>
                    </a:ext>
                  </a:extLst>
                </a:gridCol>
              </a:tblGrid>
              <a:tr h="443027">
                <a:tc>
                  <a:txBody>
                    <a:bodyPr/>
                    <a:lstStyle/>
                    <a:p>
                      <a:pPr fontAlgn="base"/>
                      <a:r>
                        <a:rPr lang="en-US" sz="2200">
                          <a:effectLst/>
                          <a:latin typeface="Calibri" panose="020F0502020204030204" pitchFamily="34" charset="0"/>
                          <a:cs typeface="Calibri" panose="020F0502020204030204" pitchFamily="34" charset="0"/>
                        </a:rPr>
                        <a:t>Graphics</a:t>
                      </a:r>
                    </a:p>
                  </a:txBody>
                  <a:tcPr anchor="ctr">
                    <a:lnL w="7315" cap="flat" cmpd="sng" algn="ctr">
                      <a:solidFill>
                        <a:srgbClr val="E3E3E3"/>
                      </a:solidFill>
                      <a:prstDash val="solid"/>
                      <a:round/>
                      <a:headEnd type="none" w="med" len="med"/>
                      <a:tailEnd type="none" w="med" len="med"/>
                    </a:lnL>
                    <a:lnR w="7315" cap="flat" cmpd="sng" algn="ctr">
                      <a:solidFill>
                        <a:srgbClr val="E3E3E3"/>
                      </a:solidFill>
                      <a:prstDash val="solid"/>
                      <a:round/>
                      <a:headEnd type="none" w="med" len="med"/>
                      <a:tailEnd type="none" w="med" len="med"/>
                    </a:lnR>
                    <a:lnT w="7315"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tc>
                  <a:txBody>
                    <a:bodyPr/>
                    <a:lstStyle/>
                    <a:p>
                      <a:pPr fontAlgn="base"/>
                      <a:r>
                        <a:rPr lang="en-US" sz="2200">
                          <a:effectLst/>
                          <a:latin typeface="Calibri" panose="020F0502020204030204" pitchFamily="34" charset="0"/>
                          <a:cs typeface="Calibri" panose="020F0502020204030204" pitchFamily="34" charset="0"/>
                        </a:rPr>
                        <a:t>What graphics will you use on the website?</a:t>
                      </a:r>
                    </a:p>
                  </a:txBody>
                  <a:tcPr anchor="ctr">
                    <a:lnL w="7315" cap="flat" cmpd="sng" algn="ctr">
                      <a:solidFill>
                        <a:srgbClr val="E3E3E3"/>
                      </a:solidFill>
                      <a:prstDash val="solid"/>
                      <a:round/>
                      <a:headEnd type="none" w="med" len="med"/>
                      <a:tailEnd type="none" w="med" len="med"/>
                    </a:lnL>
                    <a:lnR w="7315" cap="flat" cmpd="sng" algn="ctr">
                      <a:solidFill>
                        <a:srgbClr val="E3E3E3"/>
                      </a:solidFill>
                      <a:prstDash val="solid"/>
                      <a:round/>
                      <a:headEnd type="none" w="med" len="med"/>
                      <a:tailEnd type="none" w="med" len="med"/>
                    </a:lnR>
                    <a:lnT w="7315"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tc>
                  <a:txBody>
                    <a:bodyPr/>
                    <a:lstStyle/>
                    <a:p>
                      <a:pPr fontAlgn="base"/>
                      <a:r>
                        <a:rPr lang="en-US" sz="2200" dirty="0">
                          <a:effectLst/>
                          <a:latin typeface="Calibri" panose="020F0502020204030204" pitchFamily="34" charset="0"/>
                          <a:cs typeface="Calibri" panose="020F0502020204030204" pitchFamily="34" charset="0"/>
                        </a:rPr>
                        <a:t>High-quality images of my projects, personal branding logo, and icons for technical skills.</a:t>
                      </a:r>
                    </a:p>
                  </a:txBody>
                  <a:tcPr anchor="ctr">
                    <a:lnL w="7315" cap="flat" cmpd="sng" algn="ctr">
                      <a:solidFill>
                        <a:srgbClr val="E3E3E3"/>
                      </a:solidFill>
                      <a:prstDash val="solid"/>
                      <a:round/>
                      <a:headEnd type="none" w="med" len="med"/>
                      <a:tailEnd type="none" w="med" len="med"/>
                    </a:lnL>
                    <a:lnB w="12700" cap="flat" cmpd="sng" algn="ctr">
                      <a:solidFill>
                        <a:srgbClr val="E3E3E3"/>
                      </a:solidFill>
                      <a:prstDash val="solid"/>
                      <a:round/>
                      <a:headEnd type="none" w="med" len="med"/>
                      <a:tailEnd type="none" w="med" len="med"/>
                    </a:lnB>
                  </a:tcPr>
                </a:tc>
                <a:extLst>
                  <a:ext uri="{0D108BD9-81ED-4DB2-BD59-A6C34878D82A}">
                    <a16:rowId xmlns:a16="http://schemas.microsoft.com/office/drawing/2014/main" val="2427971201"/>
                  </a:ext>
                </a:extLst>
              </a:tr>
              <a:tr h="1056449">
                <a:tc>
                  <a:txBody>
                    <a:bodyPr/>
                    <a:lstStyle/>
                    <a:p>
                      <a:pPr fontAlgn="base"/>
                      <a:r>
                        <a:rPr lang="en-US" sz="2200">
                          <a:effectLst/>
                          <a:latin typeface="Calibri" panose="020F0502020204030204" pitchFamily="34" charset="0"/>
                          <a:cs typeface="Calibri" panose="020F0502020204030204" pitchFamily="34" charset="0"/>
                        </a:rPr>
                        <a:t>Color</a:t>
                      </a:r>
                    </a:p>
                  </a:txBody>
                  <a:tcPr anchor="ctr">
                    <a:lnL w="7315" cap="flat" cmpd="sng" algn="ctr">
                      <a:solidFill>
                        <a:srgbClr val="E3E3E3"/>
                      </a:solidFill>
                      <a:prstDash val="solid"/>
                      <a:round/>
                      <a:headEnd type="none" w="med" len="med"/>
                      <a:tailEnd type="none" w="med" len="med"/>
                    </a:lnL>
                    <a:lnR w="7315"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tc>
                  <a:txBody>
                    <a:bodyPr/>
                    <a:lstStyle/>
                    <a:p>
                      <a:pPr fontAlgn="base"/>
                      <a:r>
                        <a:rPr lang="en-US" sz="2200">
                          <a:effectLst/>
                          <a:latin typeface="Calibri" panose="020F0502020204030204" pitchFamily="34" charset="0"/>
                          <a:cs typeface="Calibri" panose="020F0502020204030204" pitchFamily="34" charset="0"/>
                        </a:rPr>
                        <a:t>What colors will you use within the site to enhance the purpose and brand?</a:t>
                      </a:r>
                    </a:p>
                  </a:txBody>
                  <a:tcPr anchor="ctr">
                    <a:lnL w="7315" cap="flat" cmpd="sng" algn="ctr">
                      <a:solidFill>
                        <a:srgbClr val="E3E3E3"/>
                      </a:solidFill>
                      <a:prstDash val="solid"/>
                      <a:round/>
                      <a:headEnd type="none" w="med" len="med"/>
                      <a:tailEnd type="none" w="med" len="med"/>
                    </a:lnL>
                    <a:lnR w="7315"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tc>
                  <a:txBody>
                    <a:bodyPr/>
                    <a:lstStyle/>
                    <a:p>
                      <a:pPr fontAlgn="base"/>
                      <a:r>
                        <a:rPr lang="en-US" sz="2200" dirty="0">
                          <a:effectLst/>
                          <a:latin typeface="Calibri" panose="020F0502020204030204" pitchFamily="34" charset="0"/>
                          <a:cs typeface="Calibri" panose="020F0502020204030204" pitchFamily="34" charset="0"/>
                        </a:rPr>
                        <a:t>A color scheme of navy blue (professionalism), light gray (modern), and white (clean).</a:t>
                      </a:r>
                    </a:p>
                  </a:txBody>
                  <a:tcPr anchor="ctr">
                    <a:lnL w="7315" cap="flat" cmpd="sng" algn="ctr">
                      <a:solidFill>
                        <a:srgbClr val="E3E3E3"/>
                      </a:solidFill>
                      <a:prstDash val="solid"/>
                      <a:round/>
                      <a:headEnd type="none" w="med" len="med"/>
                      <a:tailEnd type="none" w="med" len="med"/>
                    </a:lnL>
                    <a:lnR w="7315"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extLst>
                  <a:ext uri="{0D108BD9-81ED-4DB2-BD59-A6C34878D82A}">
                    <a16:rowId xmlns:a16="http://schemas.microsoft.com/office/drawing/2014/main" val="3679189450"/>
                  </a:ext>
                </a:extLst>
              </a:tr>
              <a:tr h="1158686">
                <a:tc>
                  <a:txBody>
                    <a:bodyPr/>
                    <a:lstStyle/>
                    <a:p>
                      <a:pPr fontAlgn="base"/>
                      <a:r>
                        <a:rPr lang="en-US" sz="2200">
                          <a:effectLst/>
                          <a:latin typeface="Calibri" panose="020F0502020204030204" pitchFamily="34" charset="0"/>
                          <a:cs typeface="Calibri" panose="020F0502020204030204" pitchFamily="34" charset="0"/>
                        </a:rPr>
                        <a:t>Typography</a:t>
                      </a:r>
                    </a:p>
                  </a:txBody>
                  <a:tcPr anchor="ctr">
                    <a:lnL w="7315" cap="flat" cmpd="sng" algn="ctr">
                      <a:solidFill>
                        <a:srgbClr val="E3E3E3"/>
                      </a:solidFill>
                      <a:prstDash val="solid"/>
                      <a:round/>
                      <a:headEnd type="none" w="med" len="med"/>
                      <a:tailEnd type="none" w="med" len="med"/>
                    </a:lnL>
                    <a:lnR w="7315"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tc>
                  <a:txBody>
                    <a:bodyPr/>
                    <a:lstStyle/>
                    <a:p>
                      <a:pPr fontAlgn="base"/>
                      <a:r>
                        <a:rPr lang="en-US" sz="2200">
                          <a:effectLst/>
                          <a:latin typeface="Calibri" panose="020F0502020204030204" pitchFamily="34" charset="0"/>
                          <a:cs typeface="Calibri" panose="020F0502020204030204" pitchFamily="34" charset="0"/>
                        </a:rPr>
                        <a:t>What font styles will you use within the website?</a:t>
                      </a:r>
                    </a:p>
                  </a:txBody>
                  <a:tcPr anchor="ctr">
                    <a:lnL w="7315" cap="flat" cmpd="sng" algn="ctr">
                      <a:solidFill>
                        <a:srgbClr val="E3E3E3"/>
                      </a:solidFill>
                      <a:prstDash val="solid"/>
                      <a:round/>
                      <a:headEnd type="none" w="med" len="med"/>
                      <a:tailEnd type="none" w="med" len="med"/>
                    </a:lnL>
                    <a:lnR w="7315"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tc>
                  <a:txBody>
                    <a:bodyPr/>
                    <a:lstStyle/>
                    <a:p>
                      <a:pPr fontAlgn="base"/>
                      <a:r>
                        <a:rPr lang="en-US" sz="2200" dirty="0">
                          <a:effectLst/>
                          <a:latin typeface="Calibri" panose="020F0502020204030204" pitchFamily="34" charset="0"/>
                          <a:cs typeface="Calibri" panose="020F0502020204030204" pitchFamily="34" charset="0"/>
                        </a:rPr>
                        <a:t>"Roboto" for headings for its modern look and "Open Sans" for body text for readability.</a:t>
                      </a:r>
                    </a:p>
                  </a:txBody>
                  <a:tcPr anchor="ctr">
                    <a:lnL w="7315" cap="flat" cmpd="sng" algn="ctr">
                      <a:solidFill>
                        <a:srgbClr val="E3E3E3"/>
                      </a:solidFill>
                      <a:prstDash val="solid"/>
                      <a:round/>
                      <a:headEnd type="none" w="med" len="med"/>
                      <a:tailEnd type="none" w="med" len="med"/>
                    </a:lnL>
                    <a:lnR w="7315"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extLst>
                  <a:ext uri="{0D108BD9-81ED-4DB2-BD59-A6C34878D82A}">
                    <a16:rowId xmlns:a16="http://schemas.microsoft.com/office/drawing/2014/main" val="1453160615"/>
                  </a:ext>
                </a:extLst>
              </a:tr>
              <a:tr h="954212">
                <a:tc>
                  <a:txBody>
                    <a:bodyPr/>
                    <a:lstStyle/>
                    <a:p>
                      <a:pPr fontAlgn="base"/>
                      <a:r>
                        <a:rPr lang="en-US" sz="2200">
                          <a:effectLst/>
                          <a:latin typeface="Calibri" panose="020F0502020204030204" pitchFamily="34" charset="0"/>
                          <a:cs typeface="Calibri" panose="020F0502020204030204" pitchFamily="34" charset="0"/>
                        </a:rPr>
                        <a:t>Accessibility</a:t>
                      </a:r>
                    </a:p>
                  </a:txBody>
                  <a:tcPr anchor="ctr">
                    <a:lnL w="7315" cap="flat" cmpd="sng" algn="ctr">
                      <a:solidFill>
                        <a:srgbClr val="E3E3E3"/>
                      </a:solidFill>
                      <a:prstDash val="solid"/>
                      <a:round/>
                      <a:headEnd type="none" w="med" len="med"/>
                      <a:tailEnd type="none" w="med" len="med"/>
                    </a:lnL>
                    <a:lnR w="7315"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tc>
                  <a:txBody>
                    <a:bodyPr/>
                    <a:lstStyle/>
                    <a:p>
                      <a:pPr fontAlgn="base"/>
                      <a:r>
                        <a:rPr lang="en-US" sz="2200">
                          <a:effectLst/>
                          <a:latin typeface="Calibri" panose="020F0502020204030204" pitchFamily="34" charset="0"/>
                          <a:cs typeface="Calibri" panose="020F0502020204030204" pitchFamily="34" charset="0"/>
                        </a:rPr>
                        <a:t>How will the website accommodate people with disabilities?</a:t>
                      </a:r>
                    </a:p>
                  </a:txBody>
                  <a:tcPr anchor="ctr">
                    <a:lnL w="7315" cap="flat" cmpd="sng" algn="ctr">
                      <a:solidFill>
                        <a:srgbClr val="E3E3E3"/>
                      </a:solidFill>
                      <a:prstDash val="solid"/>
                      <a:round/>
                      <a:headEnd type="none" w="med" len="med"/>
                      <a:tailEnd type="none" w="med" len="med"/>
                    </a:lnL>
                    <a:lnR w="7315"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tc>
                  <a:txBody>
                    <a:bodyPr/>
                    <a:lstStyle/>
                    <a:p>
                      <a:pPr fontAlgn="base"/>
                      <a:r>
                        <a:rPr lang="en-US" sz="2200" dirty="0">
                          <a:effectLst/>
                          <a:latin typeface="Calibri" panose="020F0502020204030204" pitchFamily="34" charset="0"/>
                          <a:cs typeface="Calibri" panose="020F0502020204030204" pitchFamily="34" charset="0"/>
                        </a:rPr>
                        <a:t>Use of ARIA roles, ensuring keyboard navigability, high-contrast color scheme for the visually impaired, and alt text for all images.</a:t>
                      </a:r>
                    </a:p>
                  </a:txBody>
                  <a:tcPr anchor="ctr">
                    <a:lnL w="7315" cap="flat" cmpd="sng" algn="ctr">
                      <a:solidFill>
                        <a:srgbClr val="E3E3E3"/>
                      </a:solidFill>
                      <a:prstDash val="solid"/>
                      <a:round/>
                      <a:headEnd type="none" w="med" len="med"/>
                      <a:tailEnd type="none" w="med" len="med"/>
                    </a:lnL>
                    <a:lnR w="7315"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extLst>
                  <a:ext uri="{0D108BD9-81ED-4DB2-BD59-A6C34878D82A}">
                    <a16:rowId xmlns:a16="http://schemas.microsoft.com/office/drawing/2014/main" val="3970135888"/>
                  </a:ext>
                </a:extLst>
              </a:tr>
            </a:tbl>
          </a:graphicData>
        </a:graphic>
      </p:graphicFrame>
      <p:sp>
        <p:nvSpPr>
          <p:cNvPr id="3" name="TextBox 2">
            <a:extLst>
              <a:ext uri="{FF2B5EF4-FFF2-40B4-BE49-F238E27FC236}">
                <a16:creationId xmlns:a16="http://schemas.microsoft.com/office/drawing/2014/main" id="{2BD3A558-B1D9-FEF2-CCDE-0EF67FBC6887}"/>
              </a:ext>
            </a:extLst>
          </p:cNvPr>
          <p:cNvSpPr txBox="1"/>
          <p:nvPr/>
        </p:nvSpPr>
        <p:spPr>
          <a:xfrm>
            <a:off x="0" y="0"/>
            <a:ext cx="12191998" cy="430887"/>
          </a:xfrm>
          <a:prstGeom prst="rect">
            <a:avLst/>
          </a:prstGeom>
          <a:noFill/>
        </p:spPr>
        <p:txBody>
          <a:bodyPr wrap="square" rtlCol="0">
            <a:spAutoFit/>
          </a:bodyPr>
          <a:lstStyle/>
          <a:p>
            <a:r>
              <a:rPr lang="en-US" sz="2200" b="1" dirty="0">
                <a:latin typeface="Calibri" panose="020F0502020204030204" pitchFamily="34" charset="0"/>
                <a:cs typeface="Calibri" panose="020F0502020204030204" pitchFamily="34" charset="0"/>
              </a:rPr>
              <a:t>Challenge 2 (Homepage Portfolio Development)</a:t>
            </a:r>
          </a:p>
        </p:txBody>
      </p:sp>
    </p:spTree>
    <p:extLst>
      <p:ext uri="{BB962C8B-B14F-4D97-AF65-F5344CB8AC3E}">
        <p14:creationId xmlns:p14="http://schemas.microsoft.com/office/powerpoint/2010/main" val="2499313853"/>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2BD3A558-B1D9-FEF2-CCDE-0EF67FBC6887}"/>
              </a:ext>
            </a:extLst>
          </p:cNvPr>
          <p:cNvSpPr txBox="1"/>
          <p:nvPr/>
        </p:nvSpPr>
        <p:spPr>
          <a:xfrm>
            <a:off x="0" y="0"/>
            <a:ext cx="12191998" cy="430887"/>
          </a:xfrm>
          <a:prstGeom prst="rect">
            <a:avLst/>
          </a:prstGeom>
          <a:noFill/>
        </p:spPr>
        <p:txBody>
          <a:bodyPr wrap="square" rtlCol="0">
            <a:spAutoFit/>
          </a:bodyPr>
          <a:lstStyle/>
          <a:p>
            <a:r>
              <a:rPr lang="en-US" sz="2200" b="1" dirty="0">
                <a:latin typeface="Calibri" panose="020F0502020204030204" pitchFamily="34" charset="0"/>
                <a:cs typeface="Calibri" panose="020F0502020204030204" pitchFamily="34" charset="0"/>
              </a:rPr>
              <a:t>Challenge 2 (homepage Portfolio Development)</a:t>
            </a:r>
          </a:p>
        </p:txBody>
      </p:sp>
      <p:sp>
        <p:nvSpPr>
          <p:cNvPr id="4" name="TextBox 3">
            <a:extLst>
              <a:ext uri="{FF2B5EF4-FFF2-40B4-BE49-F238E27FC236}">
                <a16:creationId xmlns:a16="http://schemas.microsoft.com/office/drawing/2014/main" id="{EEEB45F4-F1AD-AD0E-4CC4-7871464F0130}"/>
              </a:ext>
            </a:extLst>
          </p:cNvPr>
          <p:cNvSpPr txBox="1"/>
          <p:nvPr/>
        </p:nvSpPr>
        <p:spPr>
          <a:xfrm>
            <a:off x="136634" y="756745"/>
            <a:ext cx="11561380" cy="2579039"/>
          </a:xfrm>
          <a:prstGeom prst="rect">
            <a:avLst/>
          </a:prstGeom>
          <a:noFill/>
        </p:spPr>
        <p:txBody>
          <a:bodyPr wrap="square" rtlCol="0">
            <a:spAutoFit/>
          </a:bodyPr>
          <a:lstStyle/>
          <a:p>
            <a:pPr>
              <a:lnSpc>
                <a:spcPct val="150000"/>
              </a:lnSpc>
            </a:pPr>
            <a:r>
              <a:rPr lang="en-US" sz="2200" dirty="0">
                <a:latin typeface="Calibri" panose="020F0502020204030204" pitchFamily="34" charset="0"/>
                <a:cs typeface="Calibri" panose="020F0502020204030204" pitchFamily="34" charset="0"/>
              </a:rPr>
              <a:t>The primary goal of this website is to effectively present my professional profile, including work portfolio, skills, and experience, to potential employers and clients in the web development field. This online presence will not only showcase my technical capabilities but also my design sensibility and attention to detail. Additionally, the website aims to facilitate easy communication through a contact form, encouraging professional connections and opportunities.</a:t>
            </a:r>
            <a:endParaRPr lang="en-AU" sz="2200"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3210582977"/>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23581C15-003E-3AEF-B2FA-34A95E1678EB}"/>
              </a:ext>
            </a:extLst>
          </p:cNvPr>
          <p:cNvPicPr>
            <a:picLocks noChangeAspect="1"/>
          </p:cNvPicPr>
          <p:nvPr/>
        </p:nvPicPr>
        <p:blipFill>
          <a:blip r:embed="rId2"/>
          <a:stretch>
            <a:fillRect/>
          </a:stretch>
        </p:blipFill>
        <p:spPr>
          <a:xfrm>
            <a:off x="0" y="0"/>
            <a:ext cx="12192000" cy="5746768"/>
          </a:xfrm>
          <a:prstGeom prst="rect">
            <a:avLst/>
          </a:prstGeom>
        </p:spPr>
      </p:pic>
      <p:pic>
        <p:nvPicPr>
          <p:cNvPr id="4" name="Picture 3">
            <a:extLst>
              <a:ext uri="{FF2B5EF4-FFF2-40B4-BE49-F238E27FC236}">
                <a16:creationId xmlns:a16="http://schemas.microsoft.com/office/drawing/2014/main" id="{372F8830-0C65-0CC5-BA52-2F82300F1606}"/>
              </a:ext>
            </a:extLst>
          </p:cNvPr>
          <p:cNvPicPr>
            <a:picLocks noChangeAspect="1"/>
          </p:cNvPicPr>
          <p:nvPr/>
        </p:nvPicPr>
        <p:blipFill rotWithShape="1">
          <a:blip r:embed="rId3"/>
          <a:srcRect b="74081"/>
          <a:stretch/>
        </p:blipFill>
        <p:spPr>
          <a:xfrm>
            <a:off x="52550" y="5746768"/>
            <a:ext cx="12034346" cy="922931"/>
          </a:xfrm>
          <a:prstGeom prst="rect">
            <a:avLst/>
          </a:prstGeom>
        </p:spPr>
      </p:pic>
    </p:spTree>
    <p:extLst>
      <p:ext uri="{BB962C8B-B14F-4D97-AF65-F5344CB8AC3E}">
        <p14:creationId xmlns:p14="http://schemas.microsoft.com/office/powerpoint/2010/main" val="3839401293"/>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A60F224B-C6FE-4506-26FE-13F866CCFC99}"/>
              </a:ext>
            </a:extLst>
          </p:cNvPr>
          <p:cNvPicPr>
            <a:picLocks noChangeAspect="1"/>
          </p:cNvPicPr>
          <p:nvPr/>
        </p:nvPicPr>
        <p:blipFill rotWithShape="1">
          <a:blip r:embed="rId2"/>
          <a:srcRect t="24542"/>
          <a:stretch/>
        </p:blipFill>
        <p:spPr>
          <a:xfrm>
            <a:off x="0" y="105103"/>
            <a:ext cx="12192000" cy="2686947"/>
          </a:xfrm>
          <a:prstGeom prst="rect">
            <a:avLst/>
          </a:prstGeom>
        </p:spPr>
      </p:pic>
    </p:spTree>
    <p:extLst>
      <p:ext uri="{BB962C8B-B14F-4D97-AF65-F5344CB8AC3E}">
        <p14:creationId xmlns:p14="http://schemas.microsoft.com/office/powerpoint/2010/main" val="1075197300"/>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26BE61A1-AD8A-9E70-9618-4F94E4ABB32B}"/>
              </a:ext>
            </a:extLst>
          </p:cNvPr>
          <p:cNvSpPr txBox="1"/>
          <p:nvPr/>
        </p:nvSpPr>
        <p:spPr>
          <a:xfrm>
            <a:off x="1" y="-20806"/>
            <a:ext cx="12300155" cy="6878806"/>
          </a:xfrm>
          <a:prstGeom prst="rect">
            <a:avLst/>
          </a:prstGeom>
          <a:solidFill>
            <a:schemeClr val="tx1"/>
          </a:solidFill>
        </p:spPr>
        <p:txBody>
          <a:bodyPr wrap="square" rtlCol="0">
            <a:spAutoFit/>
          </a:bodyPr>
          <a:lstStyle/>
          <a:p>
            <a:r>
              <a:rPr lang="en-US" sz="900" b="0" dirty="0">
                <a:solidFill>
                  <a:srgbClr val="808080"/>
                </a:solidFill>
                <a:effectLst/>
                <a:latin typeface="Consolas" panose="020B0609020204030204" pitchFamily="49" charset="0"/>
              </a:rPr>
              <a:t>&lt;!</a:t>
            </a:r>
            <a:r>
              <a:rPr lang="en-US" sz="900" b="0" dirty="0">
                <a:solidFill>
                  <a:srgbClr val="569CD6"/>
                </a:solidFill>
                <a:effectLst/>
                <a:latin typeface="Consolas" panose="020B0609020204030204" pitchFamily="49" charset="0"/>
              </a:rPr>
              <a:t>DOCTYPE</a:t>
            </a:r>
            <a:r>
              <a:rPr lang="en-US" sz="900" b="0" dirty="0">
                <a:solidFill>
                  <a:srgbClr val="CCCCCC"/>
                </a:solidFill>
                <a:effectLst/>
                <a:latin typeface="Consolas" panose="020B0609020204030204" pitchFamily="49" charset="0"/>
              </a:rPr>
              <a:t> </a:t>
            </a:r>
            <a:r>
              <a:rPr lang="en-US" sz="900" b="0" dirty="0">
                <a:solidFill>
                  <a:srgbClr val="9CDCFE"/>
                </a:solidFill>
                <a:effectLst/>
                <a:latin typeface="Consolas" panose="020B0609020204030204" pitchFamily="49" charset="0"/>
              </a:rPr>
              <a:t>html</a:t>
            </a:r>
            <a:r>
              <a:rPr lang="en-US" sz="900" b="0" dirty="0">
                <a:solidFill>
                  <a:srgbClr val="808080"/>
                </a:solidFill>
                <a:effectLst/>
                <a:latin typeface="Consolas" panose="020B0609020204030204" pitchFamily="49" charset="0"/>
              </a:rPr>
              <a:t>&gt;</a:t>
            </a:r>
            <a:endParaRPr lang="en-US" sz="900" b="0" dirty="0">
              <a:solidFill>
                <a:srgbClr val="CCCCCC"/>
              </a:solidFill>
              <a:effectLst/>
              <a:latin typeface="Consolas" panose="020B0609020204030204" pitchFamily="49" charset="0"/>
            </a:endParaRPr>
          </a:p>
          <a:p>
            <a:r>
              <a:rPr lang="en-US" sz="900" b="0" dirty="0">
                <a:solidFill>
                  <a:srgbClr val="808080"/>
                </a:solidFill>
                <a:effectLst/>
                <a:latin typeface="Consolas" panose="020B0609020204030204" pitchFamily="49" charset="0"/>
              </a:rPr>
              <a:t>&lt;</a:t>
            </a:r>
            <a:r>
              <a:rPr lang="en-US" sz="900" b="0" dirty="0">
                <a:solidFill>
                  <a:srgbClr val="569CD6"/>
                </a:solidFill>
                <a:effectLst/>
                <a:latin typeface="Consolas" panose="020B0609020204030204" pitchFamily="49" charset="0"/>
              </a:rPr>
              <a:t>html</a:t>
            </a:r>
            <a:r>
              <a:rPr lang="en-US" sz="900" b="0" dirty="0">
                <a:solidFill>
                  <a:srgbClr val="CCCCCC"/>
                </a:solidFill>
                <a:effectLst/>
                <a:latin typeface="Consolas" panose="020B0609020204030204" pitchFamily="49" charset="0"/>
              </a:rPr>
              <a:t> </a:t>
            </a:r>
            <a:r>
              <a:rPr lang="en-US" sz="900" b="0" dirty="0">
                <a:solidFill>
                  <a:srgbClr val="9CDCFE"/>
                </a:solidFill>
                <a:effectLst/>
                <a:latin typeface="Consolas" panose="020B0609020204030204" pitchFamily="49" charset="0"/>
              </a:rPr>
              <a:t>lang</a:t>
            </a:r>
            <a:r>
              <a:rPr lang="en-US" sz="900" b="0" dirty="0">
                <a:solidFill>
                  <a:srgbClr val="CCCCCC"/>
                </a:solidFill>
                <a:effectLst/>
                <a:latin typeface="Consolas" panose="020B0609020204030204" pitchFamily="49" charset="0"/>
              </a:rPr>
              <a:t>=</a:t>
            </a:r>
            <a:r>
              <a:rPr lang="en-US" sz="900" b="0" dirty="0">
                <a:solidFill>
                  <a:srgbClr val="CE9178"/>
                </a:solidFill>
                <a:effectLst/>
                <a:latin typeface="Consolas" panose="020B0609020204030204" pitchFamily="49" charset="0"/>
              </a:rPr>
              <a:t>"</a:t>
            </a:r>
            <a:r>
              <a:rPr lang="en-US" sz="900" b="0" dirty="0" err="1">
                <a:solidFill>
                  <a:srgbClr val="CE9178"/>
                </a:solidFill>
                <a:effectLst/>
                <a:latin typeface="Consolas" panose="020B0609020204030204" pitchFamily="49" charset="0"/>
              </a:rPr>
              <a:t>en</a:t>
            </a:r>
            <a:r>
              <a:rPr lang="en-US" sz="900" b="0" dirty="0">
                <a:solidFill>
                  <a:srgbClr val="CE9178"/>
                </a:solidFill>
                <a:effectLst/>
                <a:latin typeface="Consolas" panose="020B0609020204030204" pitchFamily="49" charset="0"/>
              </a:rPr>
              <a:t>"</a:t>
            </a:r>
            <a:r>
              <a:rPr lang="en-US" sz="900" b="0" dirty="0">
                <a:solidFill>
                  <a:srgbClr val="808080"/>
                </a:solidFill>
                <a:effectLst/>
                <a:latin typeface="Consolas" panose="020B0609020204030204" pitchFamily="49" charset="0"/>
              </a:rPr>
              <a:t>&gt;</a:t>
            </a:r>
            <a:endParaRPr lang="en-US" sz="900" b="0" dirty="0">
              <a:solidFill>
                <a:srgbClr val="CCCCCC"/>
              </a:solidFill>
              <a:effectLst/>
              <a:latin typeface="Consolas" panose="020B0609020204030204" pitchFamily="49" charset="0"/>
            </a:endParaRPr>
          </a:p>
          <a:p>
            <a:r>
              <a:rPr lang="en-US" sz="900" b="0" dirty="0">
                <a:solidFill>
                  <a:srgbClr val="808080"/>
                </a:solidFill>
                <a:effectLst/>
                <a:latin typeface="Consolas" panose="020B0609020204030204" pitchFamily="49" charset="0"/>
              </a:rPr>
              <a:t>&lt;</a:t>
            </a:r>
            <a:r>
              <a:rPr lang="en-US" sz="900" b="0" dirty="0">
                <a:solidFill>
                  <a:srgbClr val="569CD6"/>
                </a:solidFill>
                <a:effectLst/>
                <a:latin typeface="Consolas" panose="020B0609020204030204" pitchFamily="49" charset="0"/>
              </a:rPr>
              <a:t>head</a:t>
            </a:r>
            <a:r>
              <a:rPr lang="en-US" sz="900" b="0" dirty="0">
                <a:solidFill>
                  <a:srgbClr val="808080"/>
                </a:solidFill>
                <a:effectLst/>
                <a:latin typeface="Consolas" panose="020B0609020204030204" pitchFamily="49" charset="0"/>
              </a:rPr>
              <a:t>&gt;</a:t>
            </a:r>
            <a:endParaRPr lang="en-US" sz="900" b="0" dirty="0">
              <a:solidFill>
                <a:srgbClr val="CCCCCC"/>
              </a:solidFill>
              <a:effectLst/>
              <a:latin typeface="Consolas" panose="020B0609020204030204" pitchFamily="49" charset="0"/>
            </a:endParaRPr>
          </a:p>
          <a:p>
            <a:r>
              <a:rPr lang="en-US" sz="900" b="0" dirty="0">
                <a:solidFill>
                  <a:srgbClr val="CCCCCC"/>
                </a:solidFill>
                <a:effectLst/>
                <a:latin typeface="Consolas" panose="020B0609020204030204" pitchFamily="49" charset="0"/>
              </a:rPr>
              <a:t>    </a:t>
            </a:r>
            <a:r>
              <a:rPr lang="en-US" sz="900" b="0" dirty="0">
                <a:solidFill>
                  <a:srgbClr val="808080"/>
                </a:solidFill>
                <a:effectLst/>
                <a:latin typeface="Consolas" panose="020B0609020204030204" pitchFamily="49" charset="0"/>
              </a:rPr>
              <a:t>&lt;</a:t>
            </a:r>
            <a:r>
              <a:rPr lang="en-US" sz="900" b="0" dirty="0">
                <a:solidFill>
                  <a:srgbClr val="569CD6"/>
                </a:solidFill>
                <a:effectLst/>
                <a:latin typeface="Consolas" panose="020B0609020204030204" pitchFamily="49" charset="0"/>
              </a:rPr>
              <a:t>meta</a:t>
            </a:r>
            <a:r>
              <a:rPr lang="en-US" sz="900" b="0" dirty="0">
                <a:solidFill>
                  <a:srgbClr val="CCCCCC"/>
                </a:solidFill>
                <a:effectLst/>
                <a:latin typeface="Consolas" panose="020B0609020204030204" pitchFamily="49" charset="0"/>
              </a:rPr>
              <a:t> </a:t>
            </a:r>
            <a:r>
              <a:rPr lang="en-US" sz="900" b="0" dirty="0">
                <a:solidFill>
                  <a:srgbClr val="9CDCFE"/>
                </a:solidFill>
                <a:effectLst/>
                <a:latin typeface="Consolas" panose="020B0609020204030204" pitchFamily="49" charset="0"/>
              </a:rPr>
              <a:t>charset</a:t>
            </a:r>
            <a:r>
              <a:rPr lang="en-US" sz="900" b="0" dirty="0">
                <a:solidFill>
                  <a:srgbClr val="CCCCCC"/>
                </a:solidFill>
                <a:effectLst/>
                <a:latin typeface="Consolas" panose="020B0609020204030204" pitchFamily="49" charset="0"/>
              </a:rPr>
              <a:t>=</a:t>
            </a:r>
            <a:r>
              <a:rPr lang="en-US" sz="900" b="0" dirty="0">
                <a:solidFill>
                  <a:srgbClr val="CE9178"/>
                </a:solidFill>
                <a:effectLst/>
                <a:latin typeface="Consolas" panose="020B0609020204030204" pitchFamily="49" charset="0"/>
              </a:rPr>
              <a:t>"UTF-8"</a:t>
            </a:r>
            <a:r>
              <a:rPr lang="en-US" sz="900" b="0" dirty="0">
                <a:solidFill>
                  <a:srgbClr val="808080"/>
                </a:solidFill>
                <a:effectLst/>
                <a:latin typeface="Consolas" panose="020B0609020204030204" pitchFamily="49" charset="0"/>
              </a:rPr>
              <a:t>&gt;</a:t>
            </a:r>
            <a:endParaRPr lang="en-US" sz="900" b="0" dirty="0">
              <a:solidFill>
                <a:srgbClr val="CCCCCC"/>
              </a:solidFill>
              <a:effectLst/>
              <a:latin typeface="Consolas" panose="020B0609020204030204" pitchFamily="49" charset="0"/>
            </a:endParaRPr>
          </a:p>
          <a:p>
            <a:r>
              <a:rPr lang="en-US" sz="900" b="0" dirty="0">
                <a:solidFill>
                  <a:srgbClr val="CCCCCC"/>
                </a:solidFill>
                <a:effectLst/>
                <a:latin typeface="Consolas" panose="020B0609020204030204" pitchFamily="49" charset="0"/>
              </a:rPr>
              <a:t>    </a:t>
            </a:r>
            <a:r>
              <a:rPr lang="en-US" sz="900" b="0" dirty="0">
                <a:solidFill>
                  <a:srgbClr val="808080"/>
                </a:solidFill>
                <a:effectLst/>
                <a:latin typeface="Consolas" panose="020B0609020204030204" pitchFamily="49" charset="0"/>
              </a:rPr>
              <a:t>&lt;</a:t>
            </a:r>
            <a:r>
              <a:rPr lang="en-US" sz="900" b="0" dirty="0">
                <a:solidFill>
                  <a:srgbClr val="569CD6"/>
                </a:solidFill>
                <a:effectLst/>
                <a:latin typeface="Consolas" panose="020B0609020204030204" pitchFamily="49" charset="0"/>
              </a:rPr>
              <a:t>meta</a:t>
            </a:r>
            <a:r>
              <a:rPr lang="en-US" sz="900" b="0" dirty="0">
                <a:solidFill>
                  <a:srgbClr val="CCCCCC"/>
                </a:solidFill>
                <a:effectLst/>
                <a:latin typeface="Consolas" panose="020B0609020204030204" pitchFamily="49" charset="0"/>
              </a:rPr>
              <a:t> </a:t>
            </a:r>
            <a:r>
              <a:rPr lang="en-US" sz="900" b="0" dirty="0">
                <a:solidFill>
                  <a:srgbClr val="9CDCFE"/>
                </a:solidFill>
                <a:effectLst/>
                <a:latin typeface="Consolas" panose="020B0609020204030204" pitchFamily="49" charset="0"/>
              </a:rPr>
              <a:t>name</a:t>
            </a:r>
            <a:r>
              <a:rPr lang="en-US" sz="900" b="0" dirty="0">
                <a:solidFill>
                  <a:srgbClr val="CCCCCC"/>
                </a:solidFill>
                <a:effectLst/>
                <a:latin typeface="Consolas" panose="020B0609020204030204" pitchFamily="49" charset="0"/>
              </a:rPr>
              <a:t>=</a:t>
            </a:r>
            <a:r>
              <a:rPr lang="en-US" sz="900" b="0" dirty="0">
                <a:solidFill>
                  <a:srgbClr val="CE9178"/>
                </a:solidFill>
                <a:effectLst/>
                <a:latin typeface="Consolas" panose="020B0609020204030204" pitchFamily="49" charset="0"/>
              </a:rPr>
              <a:t>"viewport"</a:t>
            </a:r>
            <a:r>
              <a:rPr lang="en-US" sz="900" b="0" dirty="0">
                <a:solidFill>
                  <a:srgbClr val="CCCCCC"/>
                </a:solidFill>
                <a:effectLst/>
                <a:latin typeface="Consolas" panose="020B0609020204030204" pitchFamily="49" charset="0"/>
              </a:rPr>
              <a:t> </a:t>
            </a:r>
            <a:r>
              <a:rPr lang="en-US" sz="900" b="0" dirty="0">
                <a:solidFill>
                  <a:srgbClr val="9CDCFE"/>
                </a:solidFill>
                <a:effectLst/>
                <a:latin typeface="Consolas" panose="020B0609020204030204" pitchFamily="49" charset="0"/>
              </a:rPr>
              <a:t>content</a:t>
            </a:r>
            <a:r>
              <a:rPr lang="en-US" sz="900" b="0" dirty="0">
                <a:solidFill>
                  <a:srgbClr val="CCCCCC"/>
                </a:solidFill>
                <a:effectLst/>
                <a:latin typeface="Consolas" panose="020B0609020204030204" pitchFamily="49" charset="0"/>
              </a:rPr>
              <a:t>=</a:t>
            </a:r>
            <a:r>
              <a:rPr lang="en-US" sz="900" b="0" dirty="0">
                <a:solidFill>
                  <a:srgbClr val="CE9178"/>
                </a:solidFill>
                <a:effectLst/>
                <a:latin typeface="Consolas" panose="020B0609020204030204" pitchFamily="49" charset="0"/>
              </a:rPr>
              <a:t>"width=device-width, initial-scale=1.0"</a:t>
            </a:r>
            <a:r>
              <a:rPr lang="en-US" sz="900" b="0" dirty="0">
                <a:solidFill>
                  <a:srgbClr val="808080"/>
                </a:solidFill>
                <a:effectLst/>
                <a:latin typeface="Consolas" panose="020B0609020204030204" pitchFamily="49" charset="0"/>
              </a:rPr>
              <a:t>&gt;</a:t>
            </a:r>
            <a:endParaRPr lang="en-US" sz="900" b="0" dirty="0">
              <a:solidFill>
                <a:srgbClr val="CCCCCC"/>
              </a:solidFill>
              <a:effectLst/>
              <a:latin typeface="Consolas" panose="020B0609020204030204" pitchFamily="49" charset="0"/>
            </a:endParaRPr>
          </a:p>
          <a:p>
            <a:r>
              <a:rPr lang="en-US" sz="900" b="0" dirty="0">
                <a:solidFill>
                  <a:srgbClr val="CCCCCC"/>
                </a:solidFill>
                <a:effectLst/>
                <a:latin typeface="Consolas" panose="020B0609020204030204" pitchFamily="49" charset="0"/>
              </a:rPr>
              <a:t>    </a:t>
            </a:r>
            <a:r>
              <a:rPr lang="en-US" sz="900" b="0" dirty="0">
                <a:solidFill>
                  <a:srgbClr val="808080"/>
                </a:solidFill>
                <a:effectLst/>
                <a:latin typeface="Consolas" panose="020B0609020204030204" pitchFamily="49" charset="0"/>
              </a:rPr>
              <a:t>&lt;</a:t>
            </a:r>
            <a:r>
              <a:rPr lang="en-US" sz="900" b="0" dirty="0">
                <a:solidFill>
                  <a:srgbClr val="569CD6"/>
                </a:solidFill>
                <a:effectLst/>
                <a:latin typeface="Consolas" panose="020B0609020204030204" pitchFamily="49" charset="0"/>
              </a:rPr>
              <a:t>title</a:t>
            </a:r>
            <a:r>
              <a:rPr lang="en-US" sz="900" b="0" dirty="0">
                <a:solidFill>
                  <a:srgbClr val="808080"/>
                </a:solidFill>
                <a:effectLst/>
                <a:latin typeface="Consolas" panose="020B0609020204030204" pitchFamily="49" charset="0"/>
              </a:rPr>
              <a:t>&gt;</a:t>
            </a:r>
            <a:r>
              <a:rPr lang="en-US" sz="900" b="0" dirty="0">
                <a:solidFill>
                  <a:srgbClr val="CCCCCC"/>
                </a:solidFill>
                <a:effectLst/>
                <a:latin typeface="Consolas" panose="020B0609020204030204" pitchFamily="49" charset="0"/>
              </a:rPr>
              <a:t>Alex Johnson - Web Developer</a:t>
            </a:r>
            <a:r>
              <a:rPr lang="en-US" sz="900" b="0" dirty="0">
                <a:solidFill>
                  <a:srgbClr val="808080"/>
                </a:solidFill>
                <a:effectLst/>
                <a:latin typeface="Consolas" panose="020B0609020204030204" pitchFamily="49" charset="0"/>
              </a:rPr>
              <a:t>&lt;/</a:t>
            </a:r>
            <a:r>
              <a:rPr lang="en-US" sz="900" b="0" dirty="0">
                <a:solidFill>
                  <a:srgbClr val="569CD6"/>
                </a:solidFill>
                <a:effectLst/>
                <a:latin typeface="Consolas" panose="020B0609020204030204" pitchFamily="49" charset="0"/>
              </a:rPr>
              <a:t>title</a:t>
            </a:r>
            <a:r>
              <a:rPr lang="en-US" sz="900" b="0" dirty="0">
                <a:solidFill>
                  <a:srgbClr val="808080"/>
                </a:solidFill>
                <a:effectLst/>
                <a:latin typeface="Consolas" panose="020B0609020204030204" pitchFamily="49" charset="0"/>
              </a:rPr>
              <a:t>&gt;</a:t>
            </a:r>
            <a:endParaRPr lang="en-US" sz="900" b="0" dirty="0">
              <a:solidFill>
                <a:srgbClr val="CCCCCC"/>
              </a:solidFill>
              <a:effectLst/>
              <a:latin typeface="Consolas" panose="020B0609020204030204" pitchFamily="49" charset="0"/>
            </a:endParaRPr>
          </a:p>
          <a:p>
            <a:r>
              <a:rPr lang="en-US" sz="900" b="0" dirty="0">
                <a:solidFill>
                  <a:srgbClr val="CCCCCC"/>
                </a:solidFill>
                <a:effectLst/>
                <a:latin typeface="Consolas" panose="020B0609020204030204" pitchFamily="49" charset="0"/>
              </a:rPr>
              <a:t>    </a:t>
            </a:r>
            <a:r>
              <a:rPr lang="en-US" sz="900" b="0" dirty="0">
                <a:solidFill>
                  <a:srgbClr val="6A9955"/>
                </a:solidFill>
                <a:effectLst/>
                <a:latin typeface="Consolas" panose="020B0609020204030204" pitchFamily="49" charset="0"/>
              </a:rPr>
              <a:t>&lt;!-- Link to CSS file --&gt;</a:t>
            </a:r>
            <a:endParaRPr lang="en-US" sz="900" b="0" dirty="0">
              <a:solidFill>
                <a:srgbClr val="CCCCCC"/>
              </a:solidFill>
              <a:effectLst/>
              <a:latin typeface="Consolas" panose="020B0609020204030204" pitchFamily="49" charset="0"/>
            </a:endParaRPr>
          </a:p>
          <a:p>
            <a:r>
              <a:rPr lang="en-US" sz="900" b="0" dirty="0">
                <a:solidFill>
                  <a:srgbClr val="CCCCCC"/>
                </a:solidFill>
                <a:effectLst/>
                <a:latin typeface="Consolas" panose="020B0609020204030204" pitchFamily="49" charset="0"/>
              </a:rPr>
              <a:t>    </a:t>
            </a:r>
            <a:r>
              <a:rPr lang="en-US" sz="900" b="0" dirty="0">
                <a:solidFill>
                  <a:srgbClr val="808080"/>
                </a:solidFill>
                <a:effectLst/>
                <a:latin typeface="Consolas" panose="020B0609020204030204" pitchFamily="49" charset="0"/>
              </a:rPr>
              <a:t>&lt;</a:t>
            </a:r>
            <a:r>
              <a:rPr lang="en-US" sz="900" b="0" dirty="0">
                <a:solidFill>
                  <a:srgbClr val="569CD6"/>
                </a:solidFill>
                <a:effectLst/>
                <a:latin typeface="Consolas" panose="020B0609020204030204" pitchFamily="49" charset="0"/>
              </a:rPr>
              <a:t>link</a:t>
            </a:r>
            <a:r>
              <a:rPr lang="en-US" sz="900" b="0" dirty="0">
                <a:solidFill>
                  <a:srgbClr val="CCCCCC"/>
                </a:solidFill>
                <a:effectLst/>
                <a:latin typeface="Consolas" panose="020B0609020204030204" pitchFamily="49" charset="0"/>
              </a:rPr>
              <a:t> </a:t>
            </a:r>
            <a:r>
              <a:rPr lang="en-US" sz="900" b="0" dirty="0" err="1">
                <a:solidFill>
                  <a:srgbClr val="9CDCFE"/>
                </a:solidFill>
                <a:effectLst/>
                <a:latin typeface="Consolas" panose="020B0609020204030204" pitchFamily="49" charset="0"/>
              </a:rPr>
              <a:t>rel</a:t>
            </a:r>
            <a:r>
              <a:rPr lang="en-US" sz="900" b="0" dirty="0">
                <a:solidFill>
                  <a:srgbClr val="CCCCCC"/>
                </a:solidFill>
                <a:effectLst/>
                <a:latin typeface="Consolas" panose="020B0609020204030204" pitchFamily="49" charset="0"/>
              </a:rPr>
              <a:t>=</a:t>
            </a:r>
            <a:r>
              <a:rPr lang="en-US" sz="900" b="0" dirty="0">
                <a:solidFill>
                  <a:srgbClr val="CE9178"/>
                </a:solidFill>
                <a:effectLst/>
                <a:latin typeface="Consolas" panose="020B0609020204030204" pitchFamily="49" charset="0"/>
              </a:rPr>
              <a:t>"stylesheet"</a:t>
            </a:r>
            <a:r>
              <a:rPr lang="en-US" sz="900" b="0" dirty="0">
                <a:solidFill>
                  <a:srgbClr val="CCCCCC"/>
                </a:solidFill>
                <a:effectLst/>
                <a:latin typeface="Consolas" panose="020B0609020204030204" pitchFamily="49" charset="0"/>
              </a:rPr>
              <a:t> </a:t>
            </a:r>
            <a:r>
              <a:rPr lang="en-US" sz="900" b="0" dirty="0" err="1">
                <a:solidFill>
                  <a:srgbClr val="9CDCFE"/>
                </a:solidFill>
                <a:effectLst/>
                <a:latin typeface="Consolas" panose="020B0609020204030204" pitchFamily="49" charset="0"/>
              </a:rPr>
              <a:t>href</a:t>
            </a:r>
            <a:r>
              <a:rPr lang="en-US" sz="900" b="0" dirty="0">
                <a:solidFill>
                  <a:srgbClr val="CCCCCC"/>
                </a:solidFill>
                <a:effectLst/>
                <a:latin typeface="Consolas" panose="020B0609020204030204" pitchFamily="49" charset="0"/>
              </a:rPr>
              <a:t>=</a:t>
            </a:r>
            <a:r>
              <a:rPr lang="en-US" sz="900" b="0" dirty="0">
                <a:solidFill>
                  <a:srgbClr val="CE9178"/>
                </a:solidFill>
                <a:effectLst/>
                <a:latin typeface="Consolas" panose="020B0609020204030204" pitchFamily="49" charset="0"/>
              </a:rPr>
              <a:t>"style.css"</a:t>
            </a:r>
            <a:r>
              <a:rPr lang="en-US" sz="900" b="0" dirty="0">
                <a:solidFill>
                  <a:srgbClr val="808080"/>
                </a:solidFill>
                <a:effectLst/>
                <a:latin typeface="Consolas" panose="020B0609020204030204" pitchFamily="49" charset="0"/>
              </a:rPr>
              <a:t>&gt;</a:t>
            </a:r>
            <a:endParaRPr lang="en-US" sz="900" b="0" dirty="0">
              <a:solidFill>
                <a:srgbClr val="CCCCCC"/>
              </a:solidFill>
              <a:effectLst/>
              <a:latin typeface="Consolas" panose="020B0609020204030204" pitchFamily="49" charset="0"/>
            </a:endParaRPr>
          </a:p>
          <a:p>
            <a:r>
              <a:rPr lang="en-US" sz="900" b="0" dirty="0">
                <a:solidFill>
                  <a:srgbClr val="808080"/>
                </a:solidFill>
                <a:effectLst/>
                <a:latin typeface="Consolas" panose="020B0609020204030204" pitchFamily="49" charset="0"/>
              </a:rPr>
              <a:t>&lt;/</a:t>
            </a:r>
            <a:r>
              <a:rPr lang="en-US" sz="900" b="0" dirty="0">
                <a:solidFill>
                  <a:srgbClr val="569CD6"/>
                </a:solidFill>
                <a:effectLst/>
                <a:latin typeface="Consolas" panose="020B0609020204030204" pitchFamily="49" charset="0"/>
              </a:rPr>
              <a:t>head</a:t>
            </a:r>
            <a:r>
              <a:rPr lang="en-US" sz="900" b="0" dirty="0">
                <a:solidFill>
                  <a:srgbClr val="808080"/>
                </a:solidFill>
                <a:effectLst/>
                <a:latin typeface="Consolas" panose="020B0609020204030204" pitchFamily="49" charset="0"/>
              </a:rPr>
              <a:t>&gt;</a:t>
            </a:r>
            <a:endParaRPr lang="en-US" sz="900" b="0" dirty="0">
              <a:solidFill>
                <a:srgbClr val="CCCCCC"/>
              </a:solidFill>
              <a:effectLst/>
              <a:latin typeface="Consolas" panose="020B0609020204030204" pitchFamily="49" charset="0"/>
            </a:endParaRPr>
          </a:p>
          <a:p>
            <a:r>
              <a:rPr lang="en-US" sz="900" b="0" dirty="0">
                <a:solidFill>
                  <a:srgbClr val="808080"/>
                </a:solidFill>
                <a:effectLst/>
                <a:latin typeface="Consolas" panose="020B0609020204030204" pitchFamily="49" charset="0"/>
              </a:rPr>
              <a:t>&lt;</a:t>
            </a:r>
            <a:r>
              <a:rPr lang="en-US" sz="900" b="0" dirty="0">
                <a:solidFill>
                  <a:srgbClr val="569CD6"/>
                </a:solidFill>
                <a:effectLst/>
                <a:latin typeface="Consolas" panose="020B0609020204030204" pitchFamily="49" charset="0"/>
              </a:rPr>
              <a:t>body</a:t>
            </a:r>
            <a:r>
              <a:rPr lang="en-US" sz="900" b="0" dirty="0">
                <a:solidFill>
                  <a:srgbClr val="808080"/>
                </a:solidFill>
                <a:effectLst/>
                <a:latin typeface="Consolas" panose="020B0609020204030204" pitchFamily="49" charset="0"/>
              </a:rPr>
              <a:t>&gt;</a:t>
            </a:r>
            <a:endParaRPr lang="en-US" sz="900" b="0" dirty="0">
              <a:solidFill>
                <a:srgbClr val="CCCCCC"/>
              </a:solidFill>
              <a:effectLst/>
              <a:latin typeface="Consolas" panose="020B0609020204030204" pitchFamily="49" charset="0"/>
            </a:endParaRPr>
          </a:p>
          <a:p>
            <a:r>
              <a:rPr lang="en-US" sz="900" b="0" dirty="0">
                <a:solidFill>
                  <a:srgbClr val="CCCCCC"/>
                </a:solidFill>
                <a:effectLst/>
                <a:latin typeface="Consolas" panose="020B0609020204030204" pitchFamily="49" charset="0"/>
              </a:rPr>
              <a:t>    </a:t>
            </a:r>
            <a:r>
              <a:rPr lang="en-US" sz="900" b="0" dirty="0">
                <a:solidFill>
                  <a:srgbClr val="808080"/>
                </a:solidFill>
                <a:effectLst/>
                <a:latin typeface="Consolas" panose="020B0609020204030204" pitchFamily="49" charset="0"/>
              </a:rPr>
              <a:t>&lt;</a:t>
            </a:r>
            <a:r>
              <a:rPr lang="en-US" sz="900" b="0" dirty="0">
                <a:solidFill>
                  <a:srgbClr val="569CD6"/>
                </a:solidFill>
                <a:effectLst/>
                <a:latin typeface="Consolas" panose="020B0609020204030204" pitchFamily="49" charset="0"/>
              </a:rPr>
              <a:t>header</a:t>
            </a:r>
            <a:r>
              <a:rPr lang="en-US" sz="900" b="0" dirty="0">
                <a:solidFill>
                  <a:srgbClr val="808080"/>
                </a:solidFill>
                <a:effectLst/>
                <a:latin typeface="Consolas" panose="020B0609020204030204" pitchFamily="49" charset="0"/>
              </a:rPr>
              <a:t>&gt;</a:t>
            </a:r>
            <a:endParaRPr lang="en-US" sz="900" b="0" dirty="0">
              <a:solidFill>
                <a:srgbClr val="CCCCCC"/>
              </a:solidFill>
              <a:effectLst/>
              <a:latin typeface="Consolas" panose="020B0609020204030204" pitchFamily="49" charset="0"/>
            </a:endParaRPr>
          </a:p>
          <a:p>
            <a:r>
              <a:rPr lang="en-US" sz="900" b="0" dirty="0">
                <a:solidFill>
                  <a:srgbClr val="CCCCCC"/>
                </a:solidFill>
                <a:effectLst/>
                <a:latin typeface="Consolas" panose="020B0609020204030204" pitchFamily="49" charset="0"/>
              </a:rPr>
              <a:t>        </a:t>
            </a:r>
            <a:r>
              <a:rPr lang="en-US" sz="900" b="0" dirty="0">
                <a:solidFill>
                  <a:srgbClr val="808080"/>
                </a:solidFill>
                <a:effectLst/>
                <a:latin typeface="Consolas" panose="020B0609020204030204" pitchFamily="49" charset="0"/>
              </a:rPr>
              <a:t>&lt;</a:t>
            </a:r>
            <a:r>
              <a:rPr lang="en-US" sz="900" b="0" dirty="0">
                <a:solidFill>
                  <a:srgbClr val="569CD6"/>
                </a:solidFill>
                <a:effectLst/>
                <a:latin typeface="Consolas" panose="020B0609020204030204" pitchFamily="49" charset="0"/>
              </a:rPr>
              <a:t>nav</a:t>
            </a:r>
            <a:r>
              <a:rPr lang="en-US" sz="900" b="0" dirty="0">
                <a:solidFill>
                  <a:srgbClr val="808080"/>
                </a:solidFill>
                <a:effectLst/>
                <a:latin typeface="Consolas" panose="020B0609020204030204" pitchFamily="49" charset="0"/>
              </a:rPr>
              <a:t>&gt;</a:t>
            </a:r>
            <a:endParaRPr lang="en-US" sz="900" b="0" dirty="0">
              <a:solidFill>
                <a:srgbClr val="CCCCCC"/>
              </a:solidFill>
              <a:effectLst/>
              <a:latin typeface="Consolas" panose="020B0609020204030204" pitchFamily="49" charset="0"/>
            </a:endParaRPr>
          </a:p>
          <a:p>
            <a:r>
              <a:rPr lang="en-US" sz="900" b="0" dirty="0">
                <a:solidFill>
                  <a:srgbClr val="CCCCCC"/>
                </a:solidFill>
                <a:effectLst/>
                <a:latin typeface="Consolas" panose="020B0609020204030204" pitchFamily="49" charset="0"/>
              </a:rPr>
              <a:t>            </a:t>
            </a:r>
            <a:r>
              <a:rPr lang="en-US" sz="900" b="0" dirty="0">
                <a:solidFill>
                  <a:srgbClr val="808080"/>
                </a:solidFill>
                <a:effectLst/>
                <a:latin typeface="Consolas" panose="020B0609020204030204" pitchFamily="49" charset="0"/>
              </a:rPr>
              <a:t>&lt;</a:t>
            </a:r>
            <a:r>
              <a:rPr lang="en-US" sz="900" b="0" dirty="0" err="1">
                <a:solidFill>
                  <a:srgbClr val="569CD6"/>
                </a:solidFill>
                <a:effectLst/>
                <a:latin typeface="Consolas" panose="020B0609020204030204" pitchFamily="49" charset="0"/>
              </a:rPr>
              <a:t>ul</a:t>
            </a:r>
            <a:r>
              <a:rPr lang="en-US" sz="900" b="0" dirty="0">
                <a:solidFill>
                  <a:srgbClr val="808080"/>
                </a:solidFill>
                <a:effectLst/>
                <a:latin typeface="Consolas" panose="020B0609020204030204" pitchFamily="49" charset="0"/>
              </a:rPr>
              <a:t>&gt;</a:t>
            </a:r>
            <a:endParaRPr lang="en-US" sz="900" b="0" dirty="0">
              <a:solidFill>
                <a:srgbClr val="CCCCCC"/>
              </a:solidFill>
              <a:effectLst/>
              <a:latin typeface="Consolas" panose="020B0609020204030204" pitchFamily="49" charset="0"/>
            </a:endParaRPr>
          </a:p>
          <a:p>
            <a:r>
              <a:rPr lang="en-US" sz="900" b="0" dirty="0">
                <a:solidFill>
                  <a:srgbClr val="CCCCCC"/>
                </a:solidFill>
                <a:effectLst/>
                <a:latin typeface="Consolas" panose="020B0609020204030204" pitchFamily="49" charset="0"/>
              </a:rPr>
              <a:t>                </a:t>
            </a:r>
            <a:r>
              <a:rPr lang="en-US" sz="900" b="0" dirty="0">
                <a:solidFill>
                  <a:srgbClr val="808080"/>
                </a:solidFill>
                <a:effectLst/>
                <a:latin typeface="Consolas" panose="020B0609020204030204" pitchFamily="49" charset="0"/>
              </a:rPr>
              <a:t>&lt;</a:t>
            </a:r>
            <a:r>
              <a:rPr lang="en-US" sz="900" b="0" dirty="0">
                <a:solidFill>
                  <a:srgbClr val="569CD6"/>
                </a:solidFill>
                <a:effectLst/>
                <a:latin typeface="Consolas" panose="020B0609020204030204" pitchFamily="49" charset="0"/>
              </a:rPr>
              <a:t>li</a:t>
            </a:r>
            <a:r>
              <a:rPr lang="en-US" sz="900" b="0" dirty="0">
                <a:solidFill>
                  <a:srgbClr val="808080"/>
                </a:solidFill>
                <a:effectLst/>
                <a:latin typeface="Consolas" panose="020B0609020204030204" pitchFamily="49" charset="0"/>
              </a:rPr>
              <a:t>&gt;&lt;</a:t>
            </a:r>
            <a:r>
              <a:rPr lang="en-US" sz="900" b="0" dirty="0">
                <a:solidFill>
                  <a:srgbClr val="569CD6"/>
                </a:solidFill>
                <a:effectLst/>
                <a:latin typeface="Consolas" panose="020B0609020204030204" pitchFamily="49" charset="0"/>
              </a:rPr>
              <a:t>a</a:t>
            </a:r>
            <a:r>
              <a:rPr lang="en-US" sz="900" b="0" dirty="0">
                <a:solidFill>
                  <a:srgbClr val="CCCCCC"/>
                </a:solidFill>
                <a:effectLst/>
                <a:latin typeface="Consolas" panose="020B0609020204030204" pitchFamily="49" charset="0"/>
              </a:rPr>
              <a:t> </a:t>
            </a:r>
            <a:r>
              <a:rPr lang="en-US" sz="900" b="0" dirty="0" err="1">
                <a:solidFill>
                  <a:srgbClr val="9CDCFE"/>
                </a:solidFill>
                <a:effectLst/>
                <a:latin typeface="Consolas" panose="020B0609020204030204" pitchFamily="49" charset="0"/>
              </a:rPr>
              <a:t>href</a:t>
            </a:r>
            <a:r>
              <a:rPr lang="en-US" sz="900" b="0" dirty="0">
                <a:solidFill>
                  <a:srgbClr val="CCCCCC"/>
                </a:solidFill>
                <a:effectLst/>
                <a:latin typeface="Consolas" panose="020B0609020204030204" pitchFamily="49" charset="0"/>
              </a:rPr>
              <a:t>=</a:t>
            </a:r>
            <a:r>
              <a:rPr lang="en-US" sz="900" b="0" dirty="0">
                <a:solidFill>
                  <a:srgbClr val="CE9178"/>
                </a:solidFill>
                <a:effectLst/>
                <a:latin typeface="Consolas" panose="020B0609020204030204" pitchFamily="49" charset="0"/>
              </a:rPr>
              <a:t>"#about"</a:t>
            </a:r>
            <a:r>
              <a:rPr lang="en-US" sz="900" b="0" dirty="0">
                <a:solidFill>
                  <a:srgbClr val="808080"/>
                </a:solidFill>
                <a:effectLst/>
                <a:latin typeface="Consolas" panose="020B0609020204030204" pitchFamily="49" charset="0"/>
              </a:rPr>
              <a:t>&gt;</a:t>
            </a:r>
            <a:r>
              <a:rPr lang="en-US" sz="900" b="0" dirty="0">
                <a:solidFill>
                  <a:srgbClr val="CCCCCC"/>
                </a:solidFill>
                <a:effectLst/>
                <a:latin typeface="Consolas" panose="020B0609020204030204" pitchFamily="49" charset="0"/>
              </a:rPr>
              <a:t>About Me</a:t>
            </a:r>
            <a:r>
              <a:rPr lang="en-US" sz="900" b="0" dirty="0">
                <a:solidFill>
                  <a:srgbClr val="808080"/>
                </a:solidFill>
                <a:effectLst/>
                <a:latin typeface="Consolas" panose="020B0609020204030204" pitchFamily="49" charset="0"/>
              </a:rPr>
              <a:t>&lt;/</a:t>
            </a:r>
            <a:r>
              <a:rPr lang="en-US" sz="900" b="0" dirty="0">
                <a:solidFill>
                  <a:srgbClr val="569CD6"/>
                </a:solidFill>
                <a:effectLst/>
                <a:latin typeface="Consolas" panose="020B0609020204030204" pitchFamily="49" charset="0"/>
              </a:rPr>
              <a:t>a</a:t>
            </a:r>
            <a:r>
              <a:rPr lang="en-US" sz="900" b="0" dirty="0">
                <a:solidFill>
                  <a:srgbClr val="808080"/>
                </a:solidFill>
                <a:effectLst/>
                <a:latin typeface="Consolas" panose="020B0609020204030204" pitchFamily="49" charset="0"/>
              </a:rPr>
              <a:t>&gt;&lt;/</a:t>
            </a:r>
            <a:r>
              <a:rPr lang="en-US" sz="900" b="0" dirty="0">
                <a:solidFill>
                  <a:srgbClr val="569CD6"/>
                </a:solidFill>
                <a:effectLst/>
                <a:latin typeface="Consolas" panose="020B0609020204030204" pitchFamily="49" charset="0"/>
              </a:rPr>
              <a:t>li</a:t>
            </a:r>
            <a:r>
              <a:rPr lang="en-US" sz="900" b="0" dirty="0">
                <a:solidFill>
                  <a:srgbClr val="808080"/>
                </a:solidFill>
                <a:effectLst/>
                <a:latin typeface="Consolas" panose="020B0609020204030204" pitchFamily="49" charset="0"/>
              </a:rPr>
              <a:t>&gt;</a:t>
            </a:r>
            <a:endParaRPr lang="en-US" sz="900" b="0" dirty="0">
              <a:solidFill>
                <a:srgbClr val="CCCCCC"/>
              </a:solidFill>
              <a:effectLst/>
              <a:latin typeface="Consolas" panose="020B0609020204030204" pitchFamily="49" charset="0"/>
            </a:endParaRPr>
          </a:p>
          <a:p>
            <a:r>
              <a:rPr lang="en-US" sz="900" b="0" dirty="0">
                <a:solidFill>
                  <a:srgbClr val="CCCCCC"/>
                </a:solidFill>
                <a:effectLst/>
                <a:latin typeface="Consolas" panose="020B0609020204030204" pitchFamily="49" charset="0"/>
              </a:rPr>
              <a:t>                </a:t>
            </a:r>
            <a:r>
              <a:rPr lang="en-US" sz="900" b="0" dirty="0">
                <a:solidFill>
                  <a:srgbClr val="808080"/>
                </a:solidFill>
                <a:effectLst/>
                <a:latin typeface="Consolas" panose="020B0609020204030204" pitchFamily="49" charset="0"/>
              </a:rPr>
              <a:t>&lt;</a:t>
            </a:r>
            <a:r>
              <a:rPr lang="en-US" sz="900" b="0" dirty="0">
                <a:solidFill>
                  <a:srgbClr val="569CD6"/>
                </a:solidFill>
                <a:effectLst/>
                <a:latin typeface="Consolas" panose="020B0609020204030204" pitchFamily="49" charset="0"/>
              </a:rPr>
              <a:t>li</a:t>
            </a:r>
            <a:r>
              <a:rPr lang="en-US" sz="900" b="0" dirty="0">
                <a:solidFill>
                  <a:srgbClr val="808080"/>
                </a:solidFill>
                <a:effectLst/>
                <a:latin typeface="Consolas" panose="020B0609020204030204" pitchFamily="49" charset="0"/>
              </a:rPr>
              <a:t>&gt;&lt;</a:t>
            </a:r>
            <a:r>
              <a:rPr lang="en-US" sz="900" b="0" dirty="0">
                <a:solidFill>
                  <a:srgbClr val="569CD6"/>
                </a:solidFill>
                <a:effectLst/>
                <a:latin typeface="Consolas" panose="020B0609020204030204" pitchFamily="49" charset="0"/>
              </a:rPr>
              <a:t>a</a:t>
            </a:r>
            <a:r>
              <a:rPr lang="en-US" sz="900" b="0" dirty="0">
                <a:solidFill>
                  <a:srgbClr val="CCCCCC"/>
                </a:solidFill>
                <a:effectLst/>
                <a:latin typeface="Consolas" panose="020B0609020204030204" pitchFamily="49" charset="0"/>
              </a:rPr>
              <a:t> </a:t>
            </a:r>
            <a:r>
              <a:rPr lang="en-US" sz="900" b="0" dirty="0" err="1">
                <a:solidFill>
                  <a:srgbClr val="9CDCFE"/>
                </a:solidFill>
                <a:effectLst/>
                <a:latin typeface="Consolas" panose="020B0609020204030204" pitchFamily="49" charset="0"/>
              </a:rPr>
              <a:t>href</a:t>
            </a:r>
            <a:r>
              <a:rPr lang="en-US" sz="900" b="0" dirty="0">
                <a:solidFill>
                  <a:srgbClr val="CCCCCC"/>
                </a:solidFill>
                <a:effectLst/>
                <a:latin typeface="Consolas" panose="020B0609020204030204" pitchFamily="49" charset="0"/>
              </a:rPr>
              <a:t>=</a:t>
            </a:r>
            <a:r>
              <a:rPr lang="en-US" sz="900" b="0" dirty="0">
                <a:solidFill>
                  <a:srgbClr val="CE9178"/>
                </a:solidFill>
                <a:effectLst/>
                <a:latin typeface="Consolas" panose="020B0609020204030204" pitchFamily="49" charset="0"/>
              </a:rPr>
              <a:t>"#portfolio"</a:t>
            </a:r>
            <a:r>
              <a:rPr lang="en-US" sz="900" b="0" dirty="0">
                <a:solidFill>
                  <a:srgbClr val="808080"/>
                </a:solidFill>
                <a:effectLst/>
                <a:latin typeface="Consolas" panose="020B0609020204030204" pitchFamily="49" charset="0"/>
              </a:rPr>
              <a:t>&gt;</a:t>
            </a:r>
            <a:r>
              <a:rPr lang="en-US" sz="900" b="0" dirty="0">
                <a:solidFill>
                  <a:srgbClr val="CCCCCC"/>
                </a:solidFill>
                <a:effectLst/>
                <a:latin typeface="Consolas" panose="020B0609020204030204" pitchFamily="49" charset="0"/>
              </a:rPr>
              <a:t>Portfolio</a:t>
            </a:r>
            <a:r>
              <a:rPr lang="en-US" sz="900" b="0" dirty="0">
                <a:solidFill>
                  <a:srgbClr val="808080"/>
                </a:solidFill>
                <a:effectLst/>
                <a:latin typeface="Consolas" panose="020B0609020204030204" pitchFamily="49" charset="0"/>
              </a:rPr>
              <a:t>&lt;/</a:t>
            </a:r>
            <a:r>
              <a:rPr lang="en-US" sz="900" b="0" dirty="0">
                <a:solidFill>
                  <a:srgbClr val="569CD6"/>
                </a:solidFill>
                <a:effectLst/>
                <a:latin typeface="Consolas" panose="020B0609020204030204" pitchFamily="49" charset="0"/>
              </a:rPr>
              <a:t>a</a:t>
            </a:r>
            <a:r>
              <a:rPr lang="en-US" sz="900" b="0" dirty="0">
                <a:solidFill>
                  <a:srgbClr val="808080"/>
                </a:solidFill>
                <a:effectLst/>
                <a:latin typeface="Consolas" panose="020B0609020204030204" pitchFamily="49" charset="0"/>
              </a:rPr>
              <a:t>&gt;&lt;/</a:t>
            </a:r>
            <a:r>
              <a:rPr lang="en-US" sz="900" b="0" dirty="0">
                <a:solidFill>
                  <a:srgbClr val="569CD6"/>
                </a:solidFill>
                <a:effectLst/>
                <a:latin typeface="Consolas" panose="020B0609020204030204" pitchFamily="49" charset="0"/>
              </a:rPr>
              <a:t>li</a:t>
            </a:r>
            <a:r>
              <a:rPr lang="en-US" sz="900" b="0" dirty="0">
                <a:solidFill>
                  <a:srgbClr val="808080"/>
                </a:solidFill>
                <a:effectLst/>
                <a:latin typeface="Consolas" panose="020B0609020204030204" pitchFamily="49" charset="0"/>
              </a:rPr>
              <a:t>&gt;</a:t>
            </a:r>
            <a:endParaRPr lang="en-US" sz="900" b="0" dirty="0">
              <a:solidFill>
                <a:srgbClr val="CCCCCC"/>
              </a:solidFill>
              <a:effectLst/>
              <a:latin typeface="Consolas" panose="020B0609020204030204" pitchFamily="49" charset="0"/>
            </a:endParaRPr>
          </a:p>
          <a:p>
            <a:r>
              <a:rPr lang="en-US" sz="900" b="0" dirty="0">
                <a:solidFill>
                  <a:srgbClr val="CCCCCC"/>
                </a:solidFill>
                <a:effectLst/>
                <a:latin typeface="Consolas" panose="020B0609020204030204" pitchFamily="49" charset="0"/>
              </a:rPr>
              <a:t>                </a:t>
            </a:r>
            <a:r>
              <a:rPr lang="en-US" sz="900" b="0" dirty="0">
                <a:solidFill>
                  <a:srgbClr val="808080"/>
                </a:solidFill>
                <a:effectLst/>
                <a:latin typeface="Consolas" panose="020B0609020204030204" pitchFamily="49" charset="0"/>
              </a:rPr>
              <a:t>&lt;</a:t>
            </a:r>
            <a:r>
              <a:rPr lang="en-US" sz="900" b="0" dirty="0">
                <a:solidFill>
                  <a:srgbClr val="569CD6"/>
                </a:solidFill>
                <a:effectLst/>
                <a:latin typeface="Consolas" panose="020B0609020204030204" pitchFamily="49" charset="0"/>
              </a:rPr>
              <a:t>li</a:t>
            </a:r>
            <a:r>
              <a:rPr lang="en-US" sz="900" b="0" dirty="0">
                <a:solidFill>
                  <a:srgbClr val="808080"/>
                </a:solidFill>
                <a:effectLst/>
                <a:latin typeface="Consolas" panose="020B0609020204030204" pitchFamily="49" charset="0"/>
              </a:rPr>
              <a:t>&gt;&lt;</a:t>
            </a:r>
            <a:r>
              <a:rPr lang="en-US" sz="900" b="0" dirty="0">
                <a:solidFill>
                  <a:srgbClr val="569CD6"/>
                </a:solidFill>
                <a:effectLst/>
                <a:latin typeface="Consolas" panose="020B0609020204030204" pitchFamily="49" charset="0"/>
              </a:rPr>
              <a:t>a</a:t>
            </a:r>
            <a:r>
              <a:rPr lang="en-US" sz="900" b="0" dirty="0">
                <a:solidFill>
                  <a:srgbClr val="CCCCCC"/>
                </a:solidFill>
                <a:effectLst/>
                <a:latin typeface="Consolas" panose="020B0609020204030204" pitchFamily="49" charset="0"/>
              </a:rPr>
              <a:t> </a:t>
            </a:r>
            <a:r>
              <a:rPr lang="en-US" sz="900" b="0" dirty="0" err="1">
                <a:solidFill>
                  <a:srgbClr val="9CDCFE"/>
                </a:solidFill>
                <a:effectLst/>
                <a:latin typeface="Consolas" panose="020B0609020204030204" pitchFamily="49" charset="0"/>
              </a:rPr>
              <a:t>href</a:t>
            </a:r>
            <a:r>
              <a:rPr lang="en-US" sz="900" b="0" dirty="0">
                <a:solidFill>
                  <a:srgbClr val="CCCCCC"/>
                </a:solidFill>
                <a:effectLst/>
                <a:latin typeface="Consolas" panose="020B0609020204030204" pitchFamily="49" charset="0"/>
              </a:rPr>
              <a:t>=</a:t>
            </a:r>
            <a:r>
              <a:rPr lang="en-US" sz="900" b="0" dirty="0">
                <a:solidFill>
                  <a:srgbClr val="CE9178"/>
                </a:solidFill>
                <a:effectLst/>
                <a:latin typeface="Consolas" panose="020B0609020204030204" pitchFamily="49" charset="0"/>
              </a:rPr>
              <a:t>"#skills"</a:t>
            </a:r>
            <a:r>
              <a:rPr lang="en-US" sz="900" b="0" dirty="0">
                <a:solidFill>
                  <a:srgbClr val="808080"/>
                </a:solidFill>
                <a:effectLst/>
                <a:latin typeface="Consolas" panose="020B0609020204030204" pitchFamily="49" charset="0"/>
              </a:rPr>
              <a:t>&gt;</a:t>
            </a:r>
            <a:r>
              <a:rPr lang="en-US" sz="900" b="0" dirty="0">
                <a:solidFill>
                  <a:srgbClr val="CCCCCC"/>
                </a:solidFill>
                <a:effectLst/>
                <a:latin typeface="Consolas" panose="020B0609020204030204" pitchFamily="49" charset="0"/>
              </a:rPr>
              <a:t>Skills</a:t>
            </a:r>
            <a:r>
              <a:rPr lang="en-US" sz="900" b="0" dirty="0">
                <a:solidFill>
                  <a:srgbClr val="808080"/>
                </a:solidFill>
                <a:effectLst/>
                <a:latin typeface="Consolas" panose="020B0609020204030204" pitchFamily="49" charset="0"/>
              </a:rPr>
              <a:t>&lt;/</a:t>
            </a:r>
            <a:r>
              <a:rPr lang="en-US" sz="900" b="0" dirty="0">
                <a:solidFill>
                  <a:srgbClr val="569CD6"/>
                </a:solidFill>
                <a:effectLst/>
                <a:latin typeface="Consolas" panose="020B0609020204030204" pitchFamily="49" charset="0"/>
              </a:rPr>
              <a:t>a</a:t>
            </a:r>
            <a:r>
              <a:rPr lang="en-US" sz="900" b="0" dirty="0">
                <a:solidFill>
                  <a:srgbClr val="808080"/>
                </a:solidFill>
                <a:effectLst/>
                <a:latin typeface="Consolas" panose="020B0609020204030204" pitchFamily="49" charset="0"/>
              </a:rPr>
              <a:t>&gt;&lt;/</a:t>
            </a:r>
            <a:r>
              <a:rPr lang="en-US" sz="900" b="0" dirty="0">
                <a:solidFill>
                  <a:srgbClr val="569CD6"/>
                </a:solidFill>
                <a:effectLst/>
                <a:latin typeface="Consolas" panose="020B0609020204030204" pitchFamily="49" charset="0"/>
              </a:rPr>
              <a:t>li</a:t>
            </a:r>
            <a:r>
              <a:rPr lang="en-US" sz="900" b="0" dirty="0">
                <a:solidFill>
                  <a:srgbClr val="808080"/>
                </a:solidFill>
                <a:effectLst/>
                <a:latin typeface="Consolas" panose="020B0609020204030204" pitchFamily="49" charset="0"/>
              </a:rPr>
              <a:t>&gt;</a:t>
            </a:r>
            <a:endParaRPr lang="en-US" sz="900" b="0" dirty="0">
              <a:solidFill>
                <a:srgbClr val="CCCCCC"/>
              </a:solidFill>
              <a:effectLst/>
              <a:latin typeface="Consolas" panose="020B0609020204030204" pitchFamily="49" charset="0"/>
            </a:endParaRPr>
          </a:p>
          <a:p>
            <a:r>
              <a:rPr lang="en-US" sz="900" b="0" dirty="0">
                <a:solidFill>
                  <a:srgbClr val="CCCCCC"/>
                </a:solidFill>
                <a:effectLst/>
                <a:latin typeface="Consolas" panose="020B0609020204030204" pitchFamily="49" charset="0"/>
              </a:rPr>
              <a:t>                </a:t>
            </a:r>
            <a:r>
              <a:rPr lang="en-US" sz="900" b="0" dirty="0">
                <a:solidFill>
                  <a:srgbClr val="808080"/>
                </a:solidFill>
                <a:effectLst/>
                <a:latin typeface="Consolas" panose="020B0609020204030204" pitchFamily="49" charset="0"/>
              </a:rPr>
              <a:t>&lt;</a:t>
            </a:r>
            <a:r>
              <a:rPr lang="en-US" sz="900" b="0" dirty="0">
                <a:solidFill>
                  <a:srgbClr val="569CD6"/>
                </a:solidFill>
                <a:effectLst/>
                <a:latin typeface="Consolas" panose="020B0609020204030204" pitchFamily="49" charset="0"/>
              </a:rPr>
              <a:t>li</a:t>
            </a:r>
            <a:r>
              <a:rPr lang="en-US" sz="900" b="0" dirty="0">
                <a:solidFill>
                  <a:srgbClr val="808080"/>
                </a:solidFill>
                <a:effectLst/>
                <a:latin typeface="Consolas" panose="020B0609020204030204" pitchFamily="49" charset="0"/>
              </a:rPr>
              <a:t>&gt;&lt;</a:t>
            </a:r>
            <a:r>
              <a:rPr lang="en-US" sz="900" b="0" dirty="0">
                <a:solidFill>
                  <a:srgbClr val="569CD6"/>
                </a:solidFill>
                <a:effectLst/>
                <a:latin typeface="Consolas" panose="020B0609020204030204" pitchFamily="49" charset="0"/>
              </a:rPr>
              <a:t>a</a:t>
            </a:r>
            <a:r>
              <a:rPr lang="en-US" sz="900" b="0" dirty="0">
                <a:solidFill>
                  <a:srgbClr val="CCCCCC"/>
                </a:solidFill>
                <a:effectLst/>
                <a:latin typeface="Consolas" panose="020B0609020204030204" pitchFamily="49" charset="0"/>
              </a:rPr>
              <a:t> </a:t>
            </a:r>
            <a:r>
              <a:rPr lang="en-US" sz="900" b="0" dirty="0" err="1">
                <a:solidFill>
                  <a:srgbClr val="9CDCFE"/>
                </a:solidFill>
                <a:effectLst/>
                <a:latin typeface="Consolas" panose="020B0609020204030204" pitchFamily="49" charset="0"/>
              </a:rPr>
              <a:t>href</a:t>
            </a:r>
            <a:r>
              <a:rPr lang="en-US" sz="900" b="0" dirty="0">
                <a:solidFill>
                  <a:srgbClr val="CCCCCC"/>
                </a:solidFill>
                <a:effectLst/>
                <a:latin typeface="Consolas" panose="020B0609020204030204" pitchFamily="49" charset="0"/>
              </a:rPr>
              <a:t>=</a:t>
            </a:r>
            <a:r>
              <a:rPr lang="en-US" sz="900" b="0" dirty="0">
                <a:solidFill>
                  <a:srgbClr val="CE9178"/>
                </a:solidFill>
                <a:effectLst/>
                <a:latin typeface="Consolas" panose="020B0609020204030204" pitchFamily="49" charset="0"/>
              </a:rPr>
              <a:t>"#contact"</a:t>
            </a:r>
            <a:r>
              <a:rPr lang="en-US" sz="900" b="0" dirty="0">
                <a:solidFill>
                  <a:srgbClr val="808080"/>
                </a:solidFill>
                <a:effectLst/>
                <a:latin typeface="Consolas" panose="020B0609020204030204" pitchFamily="49" charset="0"/>
              </a:rPr>
              <a:t>&gt;</a:t>
            </a:r>
            <a:r>
              <a:rPr lang="en-US" sz="900" b="0" dirty="0">
                <a:solidFill>
                  <a:srgbClr val="CCCCCC"/>
                </a:solidFill>
                <a:effectLst/>
                <a:latin typeface="Consolas" panose="020B0609020204030204" pitchFamily="49" charset="0"/>
              </a:rPr>
              <a:t>Contact</a:t>
            </a:r>
            <a:r>
              <a:rPr lang="en-US" sz="900" b="0" dirty="0">
                <a:solidFill>
                  <a:srgbClr val="808080"/>
                </a:solidFill>
                <a:effectLst/>
                <a:latin typeface="Consolas" panose="020B0609020204030204" pitchFamily="49" charset="0"/>
              </a:rPr>
              <a:t>&lt;/</a:t>
            </a:r>
            <a:r>
              <a:rPr lang="en-US" sz="900" b="0" dirty="0">
                <a:solidFill>
                  <a:srgbClr val="569CD6"/>
                </a:solidFill>
                <a:effectLst/>
                <a:latin typeface="Consolas" panose="020B0609020204030204" pitchFamily="49" charset="0"/>
              </a:rPr>
              <a:t>a</a:t>
            </a:r>
            <a:r>
              <a:rPr lang="en-US" sz="900" b="0" dirty="0">
                <a:solidFill>
                  <a:srgbClr val="808080"/>
                </a:solidFill>
                <a:effectLst/>
                <a:latin typeface="Consolas" panose="020B0609020204030204" pitchFamily="49" charset="0"/>
              </a:rPr>
              <a:t>&gt;&lt;/</a:t>
            </a:r>
            <a:r>
              <a:rPr lang="en-US" sz="900" b="0" dirty="0">
                <a:solidFill>
                  <a:srgbClr val="569CD6"/>
                </a:solidFill>
                <a:effectLst/>
                <a:latin typeface="Consolas" panose="020B0609020204030204" pitchFamily="49" charset="0"/>
              </a:rPr>
              <a:t>li</a:t>
            </a:r>
            <a:r>
              <a:rPr lang="en-US" sz="900" b="0" dirty="0">
                <a:solidFill>
                  <a:srgbClr val="808080"/>
                </a:solidFill>
                <a:effectLst/>
                <a:latin typeface="Consolas" panose="020B0609020204030204" pitchFamily="49" charset="0"/>
              </a:rPr>
              <a:t>&gt;</a:t>
            </a:r>
            <a:endParaRPr lang="en-US" sz="900" b="0" dirty="0">
              <a:solidFill>
                <a:srgbClr val="CCCCCC"/>
              </a:solidFill>
              <a:effectLst/>
              <a:latin typeface="Consolas" panose="020B0609020204030204" pitchFamily="49" charset="0"/>
            </a:endParaRPr>
          </a:p>
          <a:p>
            <a:r>
              <a:rPr lang="en-US" sz="900" b="0" dirty="0">
                <a:solidFill>
                  <a:srgbClr val="CCCCCC"/>
                </a:solidFill>
                <a:effectLst/>
                <a:latin typeface="Consolas" panose="020B0609020204030204" pitchFamily="49" charset="0"/>
              </a:rPr>
              <a:t>            </a:t>
            </a:r>
            <a:r>
              <a:rPr lang="en-US" sz="900" b="0" dirty="0">
                <a:solidFill>
                  <a:srgbClr val="808080"/>
                </a:solidFill>
                <a:effectLst/>
                <a:latin typeface="Consolas" panose="020B0609020204030204" pitchFamily="49" charset="0"/>
              </a:rPr>
              <a:t>&lt;/</a:t>
            </a:r>
            <a:r>
              <a:rPr lang="en-US" sz="900" b="0" dirty="0" err="1">
                <a:solidFill>
                  <a:srgbClr val="569CD6"/>
                </a:solidFill>
                <a:effectLst/>
                <a:latin typeface="Consolas" panose="020B0609020204030204" pitchFamily="49" charset="0"/>
              </a:rPr>
              <a:t>ul</a:t>
            </a:r>
            <a:r>
              <a:rPr lang="en-US" sz="900" b="0" dirty="0">
                <a:solidFill>
                  <a:srgbClr val="808080"/>
                </a:solidFill>
                <a:effectLst/>
                <a:latin typeface="Consolas" panose="020B0609020204030204" pitchFamily="49" charset="0"/>
              </a:rPr>
              <a:t>&gt;</a:t>
            </a:r>
            <a:endParaRPr lang="en-US" sz="900" b="0" dirty="0">
              <a:solidFill>
                <a:srgbClr val="CCCCCC"/>
              </a:solidFill>
              <a:effectLst/>
              <a:latin typeface="Consolas" panose="020B0609020204030204" pitchFamily="49" charset="0"/>
            </a:endParaRPr>
          </a:p>
          <a:p>
            <a:r>
              <a:rPr lang="en-US" sz="900" b="0" dirty="0">
                <a:solidFill>
                  <a:srgbClr val="CCCCCC"/>
                </a:solidFill>
                <a:effectLst/>
                <a:latin typeface="Consolas" panose="020B0609020204030204" pitchFamily="49" charset="0"/>
              </a:rPr>
              <a:t>        </a:t>
            </a:r>
            <a:r>
              <a:rPr lang="en-US" sz="900" b="0" dirty="0">
                <a:solidFill>
                  <a:srgbClr val="808080"/>
                </a:solidFill>
                <a:effectLst/>
                <a:latin typeface="Consolas" panose="020B0609020204030204" pitchFamily="49" charset="0"/>
              </a:rPr>
              <a:t>&lt;/</a:t>
            </a:r>
            <a:r>
              <a:rPr lang="en-US" sz="900" b="0" dirty="0">
                <a:solidFill>
                  <a:srgbClr val="569CD6"/>
                </a:solidFill>
                <a:effectLst/>
                <a:latin typeface="Consolas" panose="020B0609020204030204" pitchFamily="49" charset="0"/>
              </a:rPr>
              <a:t>nav</a:t>
            </a:r>
            <a:r>
              <a:rPr lang="en-US" sz="900" b="0" dirty="0">
                <a:solidFill>
                  <a:srgbClr val="808080"/>
                </a:solidFill>
                <a:effectLst/>
                <a:latin typeface="Consolas" panose="020B0609020204030204" pitchFamily="49" charset="0"/>
              </a:rPr>
              <a:t>&gt;</a:t>
            </a:r>
            <a:endParaRPr lang="en-US" sz="900" b="0" dirty="0">
              <a:solidFill>
                <a:srgbClr val="CCCCCC"/>
              </a:solidFill>
              <a:effectLst/>
              <a:latin typeface="Consolas" panose="020B0609020204030204" pitchFamily="49" charset="0"/>
            </a:endParaRPr>
          </a:p>
          <a:p>
            <a:r>
              <a:rPr lang="en-US" sz="900" b="0" dirty="0">
                <a:solidFill>
                  <a:srgbClr val="CCCCCC"/>
                </a:solidFill>
                <a:effectLst/>
                <a:latin typeface="Consolas" panose="020B0609020204030204" pitchFamily="49" charset="0"/>
              </a:rPr>
              <a:t>    </a:t>
            </a:r>
            <a:r>
              <a:rPr lang="en-US" sz="900" b="0" dirty="0">
                <a:solidFill>
                  <a:srgbClr val="808080"/>
                </a:solidFill>
                <a:effectLst/>
                <a:latin typeface="Consolas" panose="020B0609020204030204" pitchFamily="49" charset="0"/>
              </a:rPr>
              <a:t>&lt;/</a:t>
            </a:r>
            <a:r>
              <a:rPr lang="en-US" sz="900" b="0" dirty="0">
                <a:solidFill>
                  <a:srgbClr val="569CD6"/>
                </a:solidFill>
                <a:effectLst/>
                <a:latin typeface="Consolas" panose="020B0609020204030204" pitchFamily="49" charset="0"/>
              </a:rPr>
              <a:t>header</a:t>
            </a:r>
            <a:r>
              <a:rPr lang="en-US" sz="900" b="0" dirty="0">
                <a:solidFill>
                  <a:srgbClr val="808080"/>
                </a:solidFill>
                <a:effectLst/>
                <a:latin typeface="Consolas" panose="020B0609020204030204" pitchFamily="49" charset="0"/>
              </a:rPr>
              <a:t>&gt;</a:t>
            </a:r>
            <a:endParaRPr lang="en-US" sz="900" b="0" dirty="0">
              <a:solidFill>
                <a:srgbClr val="CCCCCC"/>
              </a:solidFill>
              <a:effectLst/>
              <a:latin typeface="Consolas" panose="020B0609020204030204" pitchFamily="49" charset="0"/>
            </a:endParaRPr>
          </a:p>
          <a:p>
            <a:r>
              <a:rPr lang="en-US" sz="900" b="0" dirty="0">
                <a:solidFill>
                  <a:srgbClr val="CCCCCC"/>
                </a:solidFill>
                <a:effectLst/>
                <a:latin typeface="Consolas" panose="020B0609020204030204" pitchFamily="49" charset="0"/>
              </a:rPr>
              <a:t>    </a:t>
            </a:r>
            <a:r>
              <a:rPr lang="en-US" sz="900" b="0" dirty="0">
                <a:solidFill>
                  <a:srgbClr val="808080"/>
                </a:solidFill>
                <a:effectLst/>
                <a:latin typeface="Consolas" panose="020B0609020204030204" pitchFamily="49" charset="0"/>
              </a:rPr>
              <a:t>&lt;</a:t>
            </a:r>
            <a:r>
              <a:rPr lang="en-US" sz="900" b="0" dirty="0">
                <a:solidFill>
                  <a:srgbClr val="569CD6"/>
                </a:solidFill>
                <a:effectLst/>
                <a:latin typeface="Consolas" panose="020B0609020204030204" pitchFamily="49" charset="0"/>
              </a:rPr>
              <a:t>main</a:t>
            </a:r>
            <a:r>
              <a:rPr lang="en-US" sz="900" b="0" dirty="0">
                <a:solidFill>
                  <a:srgbClr val="808080"/>
                </a:solidFill>
                <a:effectLst/>
                <a:latin typeface="Consolas" panose="020B0609020204030204" pitchFamily="49" charset="0"/>
              </a:rPr>
              <a:t>&gt;</a:t>
            </a:r>
            <a:endParaRPr lang="en-US" sz="900" b="0" dirty="0">
              <a:solidFill>
                <a:srgbClr val="CCCCCC"/>
              </a:solidFill>
              <a:effectLst/>
              <a:latin typeface="Consolas" panose="020B0609020204030204" pitchFamily="49" charset="0"/>
            </a:endParaRPr>
          </a:p>
          <a:p>
            <a:r>
              <a:rPr lang="en-US" sz="900" b="0" dirty="0">
                <a:solidFill>
                  <a:srgbClr val="CCCCCC"/>
                </a:solidFill>
                <a:effectLst/>
                <a:latin typeface="Consolas" panose="020B0609020204030204" pitchFamily="49" charset="0"/>
              </a:rPr>
              <a:t>        </a:t>
            </a:r>
            <a:r>
              <a:rPr lang="en-US" sz="900" b="0" dirty="0">
                <a:solidFill>
                  <a:srgbClr val="808080"/>
                </a:solidFill>
                <a:effectLst/>
                <a:latin typeface="Consolas" panose="020B0609020204030204" pitchFamily="49" charset="0"/>
              </a:rPr>
              <a:t>&lt;</a:t>
            </a:r>
            <a:r>
              <a:rPr lang="en-US" sz="900" b="0" dirty="0">
                <a:solidFill>
                  <a:srgbClr val="569CD6"/>
                </a:solidFill>
                <a:effectLst/>
                <a:latin typeface="Consolas" panose="020B0609020204030204" pitchFamily="49" charset="0"/>
              </a:rPr>
              <a:t>section</a:t>
            </a:r>
            <a:r>
              <a:rPr lang="en-US" sz="900" b="0" dirty="0">
                <a:solidFill>
                  <a:srgbClr val="CCCCCC"/>
                </a:solidFill>
                <a:effectLst/>
                <a:latin typeface="Consolas" panose="020B0609020204030204" pitchFamily="49" charset="0"/>
              </a:rPr>
              <a:t> </a:t>
            </a:r>
            <a:r>
              <a:rPr lang="en-US" sz="900" b="0" dirty="0">
                <a:solidFill>
                  <a:srgbClr val="9CDCFE"/>
                </a:solidFill>
                <a:effectLst/>
                <a:latin typeface="Consolas" panose="020B0609020204030204" pitchFamily="49" charset="0"/>
              </a:rPr>
              <a:t>id</a:t>
            </a:r>
            <a:r>
              <a:rPr lang="en-US" sz="900" b="0" dirty="0">
                <a:solidFill>
                  <a:srgbClr val="CCCCCC"/>
                </a:solidFill>
                <a:effectLst/>
                <a:latin typeface="Consolas" panose="020B0609020204030204" pitchFamily="49" charset="0"/>
              </a:rPr>
              <a:t>=</a:t>
            </a:r>
            <a:r>
              <a:rPr lang="en-US" sz="900" b="0" dirty="0">
                <a:solidFill>
                  <a:srgbClr val="CE9178"/>
                </a:solidFill>
                <a:effectLst/>
                <a:latin typeface="Consolas" panose="020B0609020204030204" pitchFamily="49" charset="0"/>
              </a:rPr>
              <a:t>"about"</a:t>
            </a:r>
            <a:r>
              <a:rPr lang="en-US" sz="900" b="0" dirty="0">
                <a:solidFill>
                  <a:srgbClr val="808080"/>
                </a:solidFill>
                <a:effectLst/>
                <a:latin typeface="Consolas" panose="020B0609020204030204" pitchFamily="49" charset="0"/>
              </a:rPr>
              <a:t>&gt;</a:t>
            </a:r>
            <a:endParaRPr lang="en-US" sz="900" b="0" dirty="0">
              <a:solidFill>
                <a:srgbClr val="CCCCCC"/>
              </a:solidFill>
              <a:effectLst/>
              <a:latin typeface="Consolas" panose="020B0609020204030204" pitchFamily="49" charset="0"/>
            </a:endParaRPr>
          </a:p>
          <a:p>
            <a:r>
              <a:rPr lang="en-US" sz="900" b="0" dirty="0">
                <a:solidFill>
                  <a:srgbClr val="CCCCCC"/>
                </a:solidFill>
                <a:effectLst/>
                <a:latin typeface="Consolas" panose="020B0609020204030204" pitchFamily="49" charset="0"/>
              </a:rPr>
              <a:t>            </a:t>
            </a:r>
            <a:r>
              <a:rPr lang="en-US" sz="900" b="0" dirty="0">
                <a:solidFill>
                  <a:srgbClr val="808080"/>
                </a:solidFill>
                <a:effectLst/>
                <a:latin typeface="Consolas" panose="020B0609020204030204" pitchFamily="49" charset="0"/>
              </a:rPr>
              <a:t>&lt;</a:t>
            </a:r>
            <a:r>
              <a:rPr lang="en-US" sz="900" b="0" dirty="0">
                <a:solidFill>
                  <a:srgbClr val="569CD6"/>
                </a:solidFill>
                <a:effectLst/>
                <a:latin typeface="Consolas" panose="020B0609020204030204" pitchFamily="49" charset="0"/>
              </a:rPr>
              <a:t>h1</a:t>
            </a:r>
            <a:r>
              <a:rPr lang="en-US" sz="900" b="0" dirty="0">
                <a:solidFill>
                  <a:srgbClr val="808080"/>
                </a:solidFill>
                <a:effectLst/>
                <a:latin typeface="Consolas" panose="020B0609020204030204" pitchFamily="49" charset="0"/>
              </a:rPr>
              <a:t>&gt;</a:t>
            </a:r>
            <a:r>
              <a:rPr lang="en-US" sz="900" b="0" dirty="0">
                <a:solidFill>
                  <a:srgbClr val="CCCCCC"/>
                </a:solidFill>
                <a:effectLst/>
                <a:latin typeface="Consolas" panose="020B0609020204030204" pitchFamily="49" charset="0"/>
              </a:rPr>
              <a:t>About Farshid Keivanian</a:t>
            </a:r>
            <a:r>
              <a:rPr lang="en-US" sz="900" b="0" dirty="0">
                <a:solidFill>
                  <a:srgbClr val="808080"/>
                </a:solidFill>
                <a:effectLst/>
                <a:latin typeface="Consolas" panose="020B0609020204030204" pitchFamily="49" charset="0"/>
              </a:rPr>
              <a:t>&lt;/</a:t>
            </a:r>
            <a:r>
              <a:rPr lang="en-US" sz="900" b="0" dirty="0">
                <a:solidFill>
                  <a:srgbClr val="569CD6"/>
                </a:solidFill>
                <a:effectLst/>
                <a:latin typeface="Consolas" panose="020B0609020204030204" pitchFamily="49" charset="0"/>
              </a:rPr>
              <a:t>h1</a:t>
            </a:r>
            <a:r>
              <a:rPr lang="en-US" sz="900" b="0" dirty="0">
                <a:solidFill>
                  <a:srgbClr val="808080"/>
                </a:solidFill>
                <a:effectLst/>
                <a:latin typeface="Consolas" panose="020B0609020204030204" pitchFamily="49" charset="0"/>
              </a:rPr>
              <a:t>&gt;</a:t>
            </a:r>
            <a:endParaRPr lang="en-US" sz="900" b="0" dirty="0">
              <a:solidFill>
                <a:srgbClr val="CCCCCC"/>
              </a:solidFill>
              <a:effectLst/>
              <a:latin typeface="Consolas" panose="020B0609020204030204" pitchFamily="49" charset="0"/>
            </a:endParaRPr>
          </a:p>
          <a:p>
            <a:r>
              <a:rPr lang="en-US" sz="900" b="0" dirty="0">
                <a:solidFill>
                  <a:srgbClr val="CCCCCC"/>
                </a:solidFill>
                <a:effectLst/>
                <a:latin typeface="Consolas" panose="020B0609020204030204" pitchFamily="49" charset="0"/>
              </a:rPr>
              <a:t>            </a:t>
            </a:r>
            <a:r>
              <a:rPr lang="en-US" sz="900" b="0" dirty="0">
                <a:solidFill>
                  <a:srgbClr val="808080"/>
                </a:solidFill>
                <a:effectLst/>
                <a:latin typeface="Consolas" panose="020B0609020204030204" pitchFamily="49" charset="0"/>
              </a:rPr>
              <a:t>&lt;</a:t>
            </a:r>
            <a:r>
              <a:rPr lang="en-US" sz="900" b="0" dirty="0">
                <a:solidFill>
                  <a:srgbClr val="569CD6"/>
                </a:solidFill>
                <a:effectLst/>
                <a:latin typeface="Consolas" panose="020B0609020204030204" pitchFamily="49" charset="0"/>
              </a:rPr>
              <a:t>p</a:t>
            </a:r>
            <a:r>
              <a:rPr lang="en-US" sz="900" b="0" dirty="0">
                <a:solidFill>
                  <a:srgbClr val="808080"/>
                </a:solidFill>
                <a:effectLst/>
                <a:latin typeface="Consolas" panose="020B0609020204030204" pitchFamily="49" charset="0"/>
              </a:rPr>
              <a:t>&gt;</a:t>
            </a:r>
            <a:r>
              <a:rPr lang="en-US" sz="900" b="0" dirty="0">
                <a:solidFill>
                  <a:srgbClr val="CCCCCC"/>
                </a:solidFill>
                <a:effectLst/>
                <a:latin typeface="Consolas" panose="020B0609020204030204" pitchFamily="49" charset="0"/>
              </a:rPr>
              <a:t>With a PhD in Information Technology and an expansive career marked by roles as a Sessional Lecturer, Learning Facilitator, Researcher, and Global Advisor, I bring a wealth of experience that aligns with the responsibilities and aspirations of this role.</a:t>
            </a:r>
            <a:r>
              <a:rPr lang="en-US" sz="900" b="0" dirty="0">
                <a:solidFill>
                  <a:srgbClr val="808080"/>
                </a:solidFill>
                <a:effectLst/>
                <a:latin typeface="Consolas" panose="020B0609020204030204" pitchFamily="49" charset="0"/>
              </a:rPr>
              <a:t>&lt;/</a:t>
            </a:r>
            <a:r>
              <a:rPr lang="en-US" sz="900" b="0" dirty="0">
                <a:solidFill>
                  <a:srgbClr val="569CD6"/>
                </a:solidFill>
                <a:effectLst/>
                <a:latin typeface="Consolas" panose="020B0609020204030204" pitchFamily="49" charset="0"/>
              </a:rPr>
              <a:t>p</a:t>
            </a:r>
            <a:r>
              <a:rPr lang="en-US" sz="900" b="0" dirty="0">
                <a:solidFill>
                  <a:srgbClr val="808080"/>
                </a:solidFill>
                <a:effectLst/>
                <a:latin typeface="Consolas" panose="020B0609020204030204" pitchFamily="49" charset="0"/>
              </a:rPr>
              <a:t>&gt;</a:t>
            </a:r>
            <a:endParaRPr lang="en-US" sz="900" b="0" dirty="0">
              <a:solidFill>
                <a:srgbClr val="CCCCCC"/>
              </a:solidFill>
              <a:effectLst/>
              <a:latin typeface="Consolas" panose="020B0609020204030204" pitchFamily="49" charset="0"/>
            </a:endParaRPr>
          </a:p>
          <a:p>
            <a:r>
              <a:rPr lang="en-US" sz="900" b="0" dirty="0">
                <a:solidFill>
                  <a:srgbClr val="CCCCCC"/>
                </a:solidFill>
                <a:effectLst/>
                <a:latin typeface="Consolas" panose="020B0609020204030204" pitchFamily="49" charset="0"/>
              </a:rPr>
              <a:t>        </a:t>
            </a:r>
            <a:r>
              <a:rPr lang="en-US" sz="900" b="0" dirty="0">
                <a:solidFill>
                  <a:srgbClr val="808080"/>
                </a:solidFill>
                <a:effectLst/>
                <a:latin typeface="Consolas" panose="020B0609020204030204" pitchFamily="49" charset="0"/>
              </a:rPr>
              <a:t>&lt;/</a:t>
            </a:r>
            <a:r>
              <a:rPr lang="en-US" sz="900" b="0" dirty="0">
                <a:solidFill>
                  <a:srgbClr val="569CD6"/>
                </a:solidFill>
                <a:effectLst/>
                <a:latin typeface="Consolas" panose="020B0609020204030204" pitchFamily="49" charset="0"/>
              </a:rPr>
              <a:t>section</a:t>
            </a:r>
            <a:r>
              <a:rPr lang="en-US" sz="900" b="0" dirty="0">
                <a:solidFill>
                  <a:srgbClr val="808080"/>
                </a:solidFill>
                <a:effectLst/>
                <a:latin typeface="Consolas" panose="020B0609020204030204" pitchFamily="49" charset="0"/>
              </a:rPr>
              <a:t>&gt;</a:t>
            </a:r>
            <a:endParaRPr lang="en-US" sz="900" b="0" dirty="0">
              <a:solidFill>
                <a:srgbClr val="CCCCCC"/>
              </a:solidFill>
              <a:effectLst/>
              <a:latin typeface="Consolas" panose="020B0609020204030204" pitchFamily="49" charset="0"/>
            </a:endParaRPr>
          </a:p>
          <a:p>
            <a:r>
              <a:rPr lang="en-US" sz="900" b="0" dirty="0">
                <a:solidFill>
                  <a:srgbClr val="CCCCCC"/>
                </a:solidFill>
                <a:effectLst/>
                <a:latin typeface="Consolas" panose="020B0609020204030204" pitchFamily="49" charset="0"/>
              </a:rPr>
              <a:t>        </a:t>
            </a:r>
            <a:r>
              <a:rPr lang="en-US" sz="900" b="0" dirty="0">
                <a:solidFill>
                  <a:srgbClr val="808080"/>
                </a:solidFill>
                <a:effectLst/>
                <a:latin typeface="Consolas" panose="020B0609020204030204" pitchFamily="49" charset="0"/>
              </a:rPr>
              <a:t>&lt;</a:t>
            </a:r>
            <a:r>
              <a:rPr lang="en-US" sz="900" b="0" dirty="0">
                <a:solidFill>
                  <a:srgbClr val="569CD6"/>
                </a:solidFill>
                <a:effectLst/>
                <a:latin typeface="Consolas" panose="020B0609020204030204" pitchFamily="49" charset="0"/>
              </a:rPr>
              <a:t>section</a:t>
            </a:r>
            <a:r>
              <a:rPr lang="en-US" sz="900" b="0" dirty="0">
                <a:solidFill>
                  <a:srgbClr val="CCCCCC"/>
                </a:solidFill>
                <a:effectLst/>
                <a:latin typeface="Consolas" panose="020B0609020204030204" pitchFamily="49" charset="0"/>
              </a:rPr>
              <a:t> </a:t>
            </a:r>
            <a:r>
              <a:rPr lang="en-US" sz="900" b="0" dirty="0">
                <a:solidFill>
                  <a:srgbClr val="9CDCFE"/>
                </a:solidFill>
                <a:effectLst/>
                <a:latin typeface="Consolas" panose="020B0609020204030204" pitchFamily="49" charset="0"/>
              </a:rPr>
              <a:t>id</a:t>
            </a:r>
            <a:r>
              <a:rPr lang="en-US" sz="900" b="0" dirty="0">
                <a:solidFill>
                  <a:srgbClr val="CCCCCC"/>
                </a:solidFill>
                <a:effectLst/>
                <a:latin typeface="Consolas" panose="020B0609020204030204" pitchFamily="49" charset="0"/>
              </a:rPr>
              <a:t>=</a:t>
            </a:r>
            <a:r>
              <a:rPr lang="en-US" sz="900" b="0" dirty="0">
                <a:solidFill>
                  <a:srgbClr val="CE9178"/>
                </a:solidFill>
                <a:effectLst/>
                <a:latin typeface="Consolas" panose="020B0609020204030204" pitchFamily="49" charset="0"/>
              </a:rPr>
              <a:t>"portfolio"</a:t>
            </a:r>
            <a:r>
              <a:rPr lang="en-US" sz="900" b="0" dirty="0">
                <a:solidFill>
                  <a:srgbClr val="808080"/>
                </a:solidFill>
                <a:effectLst/>
                <a:latin typeface="Consolas" panose="020B0609020204030204" pitchFamily="49" charset="0"/>
              </a:rPr>
              <a:t>&gt;</a:t>
            </a:r>
            <a:endParaRPr lang="en-US" sz="900" b="0" dirty="0">
              <a:solidFill>
                <a:srgbClr val="CCCCCC"/>
              </a:solidFill>
              <a:effectLst/>
              <a:latin typeface="Consolas" panose="020B0609020204030204" pitchFamily="49" charset="0"/>
            </a:endParaRPr>
          </a:p>
          <a:p>
            <a:r>
              <a:rPr lang="en-US" sz="900" b="0" dirty="0">
                <a:solidFill>
                  <a:srgbClr val="CCCCCC"/>
                </a:solidFill>
                <a:effectLst/>
                <a:latin typeface="Consolas" panose="020B0609020204030204" pitchFamily="49" charset="0"/>
              </a:rPr>
              <a:t>            </a:t>
            </a:r>
            <a:r>
              <a:rPr lang="en-US" sz="900" b="0" dirty="0">
                <a:solidFill>
                  <a:srgbClr val="808080"/>
                </a:solidFill>
                <a:effectLst/>
                <a:latin typeface="Consolas" panose="020B0609020204030204" pitchFamily="49" charset="0"/>
              </a:rPr>
              <a:t>&lt;</a:t>
            </a:r>
            <a:r>
              <a:rPr lang="en-US" sz="900" b="0" dirty="0">
                <a:solidFill>
                  <a:srgbClr val="569CD6"/>
                </a:solidFill>
                <a:effectLst/>
                <a:latin typeface="Consolas" panose="020B0609020204030204" pitchFamily="49" charset="0"/>
              </a:rPr>
              <a:t>h2</a:t>
            </a:r>
            <a:r>
              <a:rPr lang="en-US" sz="900" b="0" dirty="0">
                <a:solidFill>
                  <a:srgbClr val="808080"/>
                </a:solidFill>
                <a:effectLst/>
                <a:latin typeface="Consolas" panose="020B0609020204030204" pitchFamily="49" charset="0"/>
              </a:rPr>
              <a:t>&gt;</a:t>
            </a:r>
            <a:r>
              <a:rPr lang="en-US" sz="900" b="0" dirty="0">
                <a:solidFill>
                  <a:srgbClr val="CCCCCC"/>
                </a:solidFill>
                <a:effectLst/>
                <a:latin typeface="Consolas" panose="020B0609020204030204" pitchFamily="49" charset="0"/>
              </a:rPr>
              <a:t>Portfolio Highlights</a:t>
            </a:r>
            <a:r>
              <a:rPr lang="en-US" sz="900" b="0" dirty="0">
                <a:solidFill>
                  <a:srgbClr val="808080"/>
                </a:solidFill>
                <a:effectLst/>
                <a:latin typeface="Consolas" panose="020B0609020204030204" pitchFamily="49" charset="0"/>
              </a:rPr>
              <a:t>&lt;/</a:t>
            </a:r>
            <a:r>
              <a:rPr lang="en-US" sz="900" b="0" dirty="0">
                <a:solidFill>
                  <a:srgbClr val="569CD6"/>
                </a:solidFill>
                <a:effectLst/>
                <a:latin typeface="Consolas" panose="020B0609020204030204" pitchFamily="49" charset="0"/>
              </a:rPr>
              <a:t>h2</a:t>
            </a:r>
            <a:r>
              <a:rPr lang="en-US" sz="900" b="0" dirty="0">
                <a:solidFill>
                  <a:srgbClr val="808080"/>
                </a:solidFill>
                <a:effectLst/>
                <a:latin typeface="Consolas" panose="020B0609020204030204" pitchFamily="49" charset="0"/>
              </a:rPr>
              <a:t>&gt;</a:t>
            </a:r>
            <a:endParaRPr lang="en-US" sz="900" b="0" dirty="0">
              <a:solidFill>
                <a:srgbClr val="CCCCCC"/>
              </a:solidFill>
              <a:effectLst/>
              <a:latin typeface="Consolas" panose="020B0609020204030204" pitchFamily="49" charset="0"/>
            </a:endParaRPr>
          </a:p>
          <a:p>
            <a:r>
              <a:rPr lang="en-US" sz="900" b="0" dirty="0">
                <a:solidFill>
                  <a:srgbClr val="CCCCCC"/>
                </a:solidFill>
                <a:effectLst/>
                <a:latin typeface="Consolas" panose="020B0609020204030204" pitchFamily="49" charset="0"/>
              </a:rPr>
              <a:t>            </a:t>
            </a:r>
            <a:r>
              <a:rPr lang="en-US" sz="900" b="0" dirty="0">
                <a:solidFill>
                  <a:srgbClr val="808080"/>
                </a:solidFill>
                <a:effectLst/>
                <a:latin typeface="Consolas" panose="020B0609020204030204" pitchFamily="49" charset="0"/>
              </a:rPr>
              <a:t>&lt;</a:t>
            </a:r>
            <a:r>
              <a:rPr lang="en-US" sz="900" b="0" dirty="0" err="1">
                <a:solidFill>
                  <a:srgbClr val="569CD6"/>
                </a:solidFill>
                <a:effectLst/>
                <a:latin typeface="Consolas" panose="020B0609020204030204" pitchFamily="49" charset="0"/>
              </a:rPr>
              <a:t>ul</a:t>
            </a:r>
            <a:r>
              <a:rPr lang="en-US" sz="900" b="0" dirty="0">
                <a:solidFill>
                  <a:srgbClr val="808080"/>
                </a:solidFill>
                <a:effectLst/>
                <a:latin typeface="Consolas" panose="020B0609020204030204" pitchFamily="49" charset="0"/>
              </a:rPr>
              <a:t>&gt;</a:t>
            </a:r>
            <a:endParaRPr lang="en-US" sz="900" b="0" dirty="0">
              <a:solidFill>
                <a:srgbClr val="CCCCCC"/>
              </a:solidFill>
              <a:effectLst/>
              <a:latin typeface="Consolas" panose="020B0609020204030204" pitchFamily="49" charset="0"/>
            </a:endParaRPr>
          </a:p>
          <a:p>
            <a:r>
              <a:rPr lang="en-US" sz="900" b="0" dirty="0">
                <a:solidFill>
                  <a:srgbClr val="CCCCCC"/>
                </a:solidFill>
                <a:effectLst/>
                <a:latin typeface="Consolas" panose="020B0609020204030204" pitchFamily="49" charset="0"/>
              </a:rPr>
              <a:t>                </a:t>
            </a:r>
            <a:r>
              <a:rPr lang="en-US" sz="900" b="0" dirty="0">
                <a:solidFill>
                  <a:srgbClr val="808080"/>
                </a:solidFill>
                <a:effectLst/>
                <a:latin typeface="Consolas" panose="020B0609020204030204" pitchFamily="49" charset="0"/>
              </a:rPr>
              <a:t>&lt;</a:t>
            </a:r>
            <a:r>
              <a:rPr lang="en-US" sz="900" b="0" dirty="0">
                <a:solidFill>
                  <a:srgbClr val="569CD6"/>
                </a:solidFill>
                <a:effectLst/>
                <a:latin typeface="Consolas" panose="020B0609020204030204" pitchFamily="49" charset="0"/>
              </a:rPr>
              <a:t>li</a:t>
            </a:r>
            <a:r>
              <a:rPr lang="en-US" sz="900" b="0" dirty="0">
                <a:solidFill>
                  <a:srgbClr val="808080"/>
                </a:solidFill>
                <a:effectLst/>
                <a:latin typeface="Consolas" panose="020B0609020204030204" pitchFamily="49" charset="0"/>
              </a:rPr>
              <a:t>&gt;</a:t>
            </a:r>
            <a:r>
              <a:rPr lang="en-US" sz="900" b="0" dirty="0">
                <a:solidFill>
                  <a:srgbClr val="CCCCCC"/>
                </a:solidFill>
                <a:effectLst/>
                <a:latin typeface="Consolas" panose="020B0609020204030204" pitchFamily="49" charset="0"/>
              </a:rPr>
              <a:t>Course 1: Data Science, Big Data Analytics, and AI development using Python.</a:t>
            </a:r>
            <a:r>
              <a:rPr lang="en-US" sz="900" b="0" dirty="0">
                <a:solidFill>
                  <a:srgbClr val="808080"/>
                </a:solidFill>
                <a:effectLst/>
                <a:latin typeface="Consolas" panose="020B0609020204030204" pitchFamily="49" charset="0"/>
              </a:rPr>
              <a:t>&lt;/</a:t>
            </a:r>
            <a:r>
              <a:rPr lang="en-US" sz="900" b="0" dirty="0">
                <a:solidFill>
                  <a:srgbClr val="569CD6"/>
                </a:solidFill>
                <a:effectLst/>
                <a:latin typeface="Consolas" panose="020B0609020204030204" pitchFamily="49" charset="0"/>
              </a:rPr>
              <a:t>li</a:t>
            </a:r>
            <a:r>
              <a:rPr lang="en-US" sz="900" b="0" dirty="0">
                <a:solidFill>
                  <a:srgbClr val="808080"/>
                </a:solidFill>
                <a:effectLst/>
                <a:latin typeface="Consolas" panose="020B0609020204030204" pitchFamily="49" charset="0"/>
              </a:rPr>
              <a:t>&gt;</a:t>
            </a:r>
            <a:endParaRPr lang="en-US" sz="900" b="0" dirty="0">
              <a:solidFill>
                <a:srgbClr val="CCCCCC"/>
              </a:solidFill>
              <a:effectLst/>
              <a:latin typeface="Consolas" panose="020B0609020204030204" pitchFamily="49" charset="0"/>
            </a:endParaRPr>
          </a:p>
          <a:p>
            <a:r>
              <a:rPr lang="en-US" sz="900" b="0" dirty="0">
                <a:solidFill>
                  <a:srgbClr val="CCCCCC"/>
                </a:solidFill>
                <a:effectLst/>
                <a:latin typeface="Consolas" panose="020B0609020204030204" pitchFamily="49" charset="0"/>
              </a:rPr>
              <a:t>                </a:t>
            </a:r>
            <a:r>
              <a:rPr lang="en-US" sz="900" b="0" dirty="0">
                <a:solidFill>
                  <a:srgbClr val="808080"/>
                </a:solidFill>
                <a:effectLst/>
                <a:latin typeface="Consolas" panose="020B0609020204030204" pitchFamily="49" charset="0"/>
              </a:rPr>
              <a:t>&lt;</a:t>
            </a:r>
            <a:r>
              <a:rPr lang="en-US" sz="900" b="0" dirty="0">
                <a:solidFill>
                  <a:srgbClr val="569CD6"/>
                </a:solidFill>
                <a:effectLst/>
                <a:latin typeface="Consolas" panose="020B0609020204030204" pitchFamily="49" charset="0"/>
              </a:rPr>
              <a:t>li</a:t>
            </a:r>
            <a:r>
              <a:rPr lang="en-US" sz="900" b="0" dirty="0">
                <a:solidFill>
                  <a:srgbClr val="808080"/>
                </a:solidFill>
                <a:effectLst/>
                <a:latin typeface="Consolas" panose="020B0609020204030204" pitchFamily="49" charset="0"/>
              </a:rPr>
              <a:t>&gt;</a:t>
            </a:r>
            <a:r>
              <a:rPr lang="en-US" sz="900" b="0" dirty="0">
                <a:solidFill>
                  <a:srgbClr val="CCCCCC"/>
                </a:solidFill>
                <a:effectLst/>
                <a:latin typeface="Consolas" panose="020B0609020204030204" pitchFamily="49" charset="0"/>
              </a:rPr>
              <a:t>Course 2: Web Development using HTML and CSS.</a:t>
            </a:r>
            <a:r>
              <a:rPr lang="en-US" sz="900" b="0" dirty="0">
                <a:solidFill>
                  <a:srgbClr val="808080"/>
                </a:solidFill>
                <a:effectLst/>
                <a:latin typeface="Consolas" panose="020B0609020204030204" pitchFamily="49" charset="0"/>
              </a:rPr>
              <a:t>&lt;/</a:t>
            </a:r>
            <a:r>
              <a:rPr lang="en-US" sz="900" b="0" dirty="0">
                <a:solidFill>
                  <a:srgbClr val="569CD6"/>
                </a:solidFill>
                <a:effectLst/>
                <a:latin typeface="Consolas" panose="020B0609020204030204" pitchFamily="49" charset="0"/>
              </a:rPr>
              <a:t>li</a:t>
            </a:r>
            <a:r>
              <a:rPr lang="en-US" sz="900" b="0" dirty="0">
                <a:solidFill>
                  <a:srgbClr val="808080"/>
                </a:solidFill>
                <a:effectLst/>
                <a:latin typeface="Consolas" panose="020B0609020204030204" pitchFamily="49" charset="0"/>
              </a:rPr>
              <a:t>&gt;</a:t>
            </a:r>
            <a:endParaRPr lang="en-US" sz="900" b="0" dirty="0">
              <a:solidFill>
                <a:srgbClr val="CCCCCC"/>
              </a:solidFill>
              <a:effectLst/>
              <a:latin typeface="Consolas" panose="020B0609020204030204" pitchFamily="49" charset="0"/>
            </a:endParaRPr>
          </a:p>
          <a:p>
            <a:r>
              <a:rPr lang="en-US" sz="900" b="0" dirty="0">
                <a:solidFill>
                  <a:srgbClr val="CCCCCC"/>
                </a:solidFill>
                <a:effectLst/>
                <a:latin typeface="Consolas" panose="020B0609020204030204" pitchFamily="49" charset="0"/>
              </a:rPr>
              <a:t>                </a:t>
            </a:r>
            <a:r>
              <a:rPr lang="en-US" sz="900" b="0" dirty="0">
                <a:solidFill>
                  <a:srgbClr val="808080"/>
                </a:solidFill>
                <a:effectLst/>
                <a:latin typeface="Consolas" panose="020B0609020204030204" pitchFamily="49" charset="0"/>
              </a:rPr>
              <a:t>&lt;</a:t>
            </a:r>
            <a:r>
              <a:rPr lang="en-US" sz="900" b="0" dirty="0">
                <a:solidFill>
                  <a:srgbClr val="569CD6"/>
                </a:solidFill>
                <a:effectLst/>
                <a:latin typeface="Consolas" panose="020B0609020204030204" pitchFamily="49" charset="0"/>
              </a:rPr>
              <a:t>li</a:t>
            </a:r>
            <a:r>
              <a:rPr lang="en-US" sz="900" b="0" dirty="0">
                <a:solidFill>
                  <a:srgbClr val="808080"/>
                </a:solidFill>
                <a:effectLst/>
                <a:latin typeface="Consolas" panose="020B0609020204030204" pitchFamily="49" charset="0"/>
              </a:rPr>
              <a:t>&gt;</a:t>
            </a:r>
            <a:r>
              <a:rPr lang="en-US" sz="900" b="0" dirty="0">
                <a:solidFill>
                  <a:srgbClr val="CCCCCC"/>
                </a:solidFill>
                <a:effectLst/>
                <a:latin typeface="Consolas" panose="020B0609020204030204" pitchFamily="49" charset="0"/>
              </a:rPr>
              <a:t>Course 3: Database design and development using MySQL.</a:t>
            </a:r>
            <a:r>
              <a:rPr lang="en-US" sz="900" b="0" dirty="0">
                <a:solidFill>
                  <a:srgbClr val="808080"/>
                </a:solidFill>
                <a:effectLst/>
                <a:latin typeface="Consolas" panose="020B0609020204030204" pitchFamily="49" charset="0"/>
              </a:rPr>
              <a:t>&lt;/</a:t>
            </a:r>
            <a:r>
              <a:rPr lang="en-US" sz="900" b="0" dirty="0">
                <a:solidFill>
                  <a:srgbClr val="569CD6"/>
                </a:solidFill>
                <a:effectLst/>
                <a:latin typeface="Consolas" panose="020B0609020204030204" pitchFamily="49" charset="0"/>
              </a:rPr>
              <a:t>li</a:t>
            </a:r>
            <a:r>
              <a:rPr lang="en-US" sz="900" b="0" dirty="0">
                <a:solidFill>
                  <a:srgbClr val="808080"/>
                </a:solidFill>
                <a:effectLst/>
                <a:latin typeface="Consolas" panose="020B0609020204030204" pitchFamily="49" charset="0"/>
              </a:rPr>
              <a:t>&gt;</a:t>
            </a:r>
            <a:endParaRPr lang="en-US" sz="900" b="0" dirty="0">
              <a:solidFill>
                <a:srgbClr val="CCCCCC"/>
              </a:solidFill>
              <a:effectLst/>
              <a:latin typeface="Consolas" panose="020B0609020204030204" pitchFamily="49" charset="0"/>
            </a:endParaRPr>
          </a:p>
          <a:p>
            <a:r>
              <a:rPr lang="en-US" sz="900" b="0" dirty="0">
                <a:solidFill>
                  <a:srgbClr val="CCCCCC"/>
                </a:solidFill>
                <a:effectLst/>
                <a:latin typeface="Consolas" panose="020B0609020204030204" pitchFamily="49" charset="0"/>
              </a:rPr>
              <a:t>                </a:t>
            </a:r>
            <a:r>
              <a:rPr lang="en-US" sz="900" b="0" dirty="0">
                <a:solidFill>
                  <a:srgbClr val="808080"/>
                </a:solidFill>
                <a:effectLst/>
                <a:latin typeface="Consolas" panose="020B0609020204030204" pitchFamily="49" charset="0"/>
              </a:rPr>
              <a:t>&lt;</a:t>
            </a:r>
            <a:r>
              <a:rPr lang="en-US" sz="900" b="0" dirty="0">
                <a:solidFill>
                  <a:srgbClr val="569CD6"/>
                </a:solidFill>
                <a:effectLst/>
                <a:latin typeface="Consolas" panose="020B0609020204030204" pitchFamily="49" charset="0"/>
              </a:rPr>
              <a:t>li</a:t>
            </a:r>
            <a:r>
              <a:rPr lang="en-US" sz="900" b="0" dirty="0">
                <a:solidFill>
                  <a:srgbClr val="808080"/>
                </a:solidFill>
                <a:effectLst/>
                <a:latin typeface="Consolas" panose="020B0609020204030204" pitchFamily="49" charset="0"/>
              </a:rPr>
              <a:t>&gt;</a:t>
            </a:r>
            <a:r>
              <a:rPr lang="en-US" sz="900" b="0" dirty="0">
                <a:solidFill>
                  <a:srgbClr val="CCCCCC"/>
                </a:solidFill>
                <a:effectLst/>
                <a:latin typeface="Consolas" panose="020B0609020204030204" pitchFamily="49" charset="0"/>
              </a:rPr>
              <a:t>Course 4: IT Project Management using Microsoft Project.</a:t>
            </a:r>
            <a:r>
              <a:rPr lang="en-US" sz="900" b="0" dirty="0">
                <a:solidFill>
                  <a:srgbClr val="808080"/>
                </a:solidFill>
                <a:effectLst/>
                <a:latin typeface="Consolas" panose="020B0609020204030204" pitchFamily="49" charset="0"/>
              </a:rPr>
              <a:t>&lt;/</a:t>
            </a:r>
            <a:r>
              <a:rPr lang="en-US" sz="900" b="0" dirty="0">
                <a:solidFill>
                  <a:srgbClr val="569CD6"/>
                </a:solidFill>
                <a:effectLst/>
                <a:latin typeface="Consolas" panose="020B0609020204030204" pitchFamily="49" charset="0"/>
              </a:rPr>
              <a:t>li</a:t>
            </a:r>
            <a:r>
              <a:rPr lang="en-US" sz="900" b="0" dirty="0">
                <a:solidFill>
                  <a:srgbClr val="808080"/>
                </a:solidFill>
                <a:effectLst/>
                <a:latin typeface="Consolas" panose="020B0609020204030204" pitchFamily="49" charset="0"/>
              </a:rPr>
              <a:t>&gt;</a:t>
            </a:r>
            <a:endParaRPr lang="en-US" sz="900" b="0" dirty="0">
              <a:solidFill>
                <a:srgbClr val="CCCCCC"/>
              </a:solidFill>
              <a:effectLst/>
              <a:latin typeface="Consolas" panose="020B0609020204030204" pitchFamily="49" charset="0"/>
            </a:endParaRPr>
          </a:p>
          <a:p>
            <a:r>
              <a:rPr lang="en-US" sz="900" b="0" dirty="0">
                <a:solidFill>
                  <a:srgbClr val="CCCCCC"/>
                </a:solidFill>
                <a:effectLst/>
                <a:latin typeface="Consolas" panose="020B0609020204030204" pitchFamily="49" charset="0"/>
              </a:rPr>
              <a:t>            </a:t>
            </a:r>
            <a:r>
              <a:rPr lang="en-US" sz="900" b="0" dirty="0">
                <a:solidFill>
                  <a:srgbClr val="808080"/>
                </a:solidFill>
                <a:effectLst/>
                <a:latin typeface="Consolas" panose="020B0609020204030204" pitchFamily="49" charset="0"/>
              </a:rPr>
              <a:t>&lt;/</a:t>
            </a:r>
            <a:r>
              <a:rPr lang="en-US" sz="900" b="0" dirty="0" err="1">
                <a:solidFill>
                  <a:srgbClr val="569CD6"/>
                </a:solidFill>
                <a:effectLst/>
                <a:latin typeface="Consolas" panose="020B0609020204030204" pitchFamily="49" charset="0"/>
              </a:rPr>
              <a:t>ul</a:t>
            </a:r>
            <a:r>
              <a:rPr lang="en-US" sz="900" b="0" dirty="0">
                <a:solidFill>
                  <a:srgbClr val="808080"/>
                </a:solidFill>
                <a:effectLst/>
                <a:latin typeface="Consolas" panose="020B0609020204030204" pitchFamily="49" charset="0"/>
              </a:rPr>
              <a:t>&gt;</a:t>
            </a:r>
            <a:endParaRPr lang="en-US" sz="900" b="0" dirty="0">
              <a:solidFill>
                <a:srgbClr val="CCCCCC"/>
              </a:solidFill>
              <a:effectLst/>
              <a:latin typeface="Consolas" panose="020B0609020204030204" pitchFamily="49" charset="0"/>
            </a:endParaRPr>
          </a:p>
          <a:p>
            <a:r>
              <a:rPr lang="en-US" sz="900" b="0" dirty="0">
                <a:solidFill>
                  <a:srgbClr val="CCCCCC"/>
                </a:solidFill>
                <a:effectLst/>
                <a:latin typeface="Consolas" panose="020B0609020204030204" pitchFamily="49" charset="0"/>
              </a:rPr>
              <a:t>        </a:t>
            </a:r>
            <a:r>
              <a:rPr lang="en-US" sz="900" b="0" dirty="0">
                <a:solidFill>
                  <a:srgbClr val="808080"/>
                </a:solidFill>
                <a:effectLst/>
                <a:latin typeface="Consolas" panose="020B0609020204030204" pitchFamily="49" charset="0"/>
              </a:rPr>
              <a:t>&lt;/</a:t>
            </a:r>
            <a:r>
              <a:rPr lang="en-US" sz="900" b="0" dirty="0">
                <a:solidFill>
                  <a:srgbClr val="569CD6"/>
                </a:solidFill>
                <a:effectLst/>
                <a:latin typeface="Consolas" panose="020B0609020204030204" pitchFamily="49" charset="0"/>
              </a:rPr>
              <a:t>section</a:t>
            </a:r>
            <a:r>
              <a:rPr lang="en-US" sz="900" b="0" dirty="0">
                <a:solidFill>
                  <a:srgbClr val="808080"/>
                </a:solidFill>
                <a:effectLst/>
                <a:latin typeface="Consolas" panose="020B0609020204030204" pitchFamily="49" charset="0"/>
              </a:rPr>
              <a:t>&gt;</a:t>
            </a:r>
            <a:endParaRPr lang="en-US" sz="900" b="0" dirty="0">
              <a:solidFill>
                <a:srgbClr val="CCCCCC"/>
              </a:solidFill>
              <a:effectLst/>
              <a:latin typeface="Consolas" panose="020B0609020204030204" pitchFamily="49" charset="0"/>
            </a:endParaRPr>
          </a:p>
          <a:p>
            <a:r>
              <a:rPr lang="en-US" sz="900" b="0" dirty="0">
                <a:solidFill>
                  <a:srgbClr val="CCCCCC"/>
                </a:solidFill>
                <a:effectLst/>
                <a:latin typeface="Consolas" panose="020B0609020204030204" pitchFamily="49" charset="0"/>
              </a:rPr>
              <a:t>        </a:t>
            </a:r>
            <a:r>
              <a:rPr lang="en-US" sz="900" b="0" dirty="0">
                <a:solidFill>
                  <a:srgbClr val="808080"/>
                </a:solidFill>
                <a:effectLst/>
                <a:latin typeface="Consolas" panose="020B0609020204030204" pitchFamily="49" charset="0"/>
              </a:rPr>
              <a:t>&lt;</a:t>
            </a:r>
            <a:r>
              <a:rPr lang="en-US" sz="900" b="0" dirty="0">
                <a:solidFill>
                  <a:srgbClr val="569CD6"/>
                </a:solidFill>
                <a:effectLst/>
                <a:latin typeface="Consolas" panose="020B0609020204030204" pitchFamily="49" charset="0"/>
              </a:rPr>
              <a:t>section</a:t>
            </a:r>
            <a:r>
              <a:rPr lang="en-US" sz="900" b="0" dirty="0">
                <a:solidFill>
                  <a:srgbClr val="CCCCCC"/>
                </a:solidFill>
                <a:effectLst/>
                <a:latin typeface="Consolas" panose="020B0609020204030204" pitchFamily="49" charset="0"/>
              </a:rPr>
              <a:t> </a:t>
            </a:r>
            <a:r>
              <a:rPr lang="en-US" sz="900" b="0" dirty="0">
                <a:solidFill>
                  <a:srgbClr val="9CDCFE"/>
                </a:solidFill>
                <a:effectLst/>
                <a:latin typeface="Consolas" panose="020B0609020204030204" pitchFamily="49" charset="0"/>
              </a:rPr>
              <a:t>id</a:t>
            </a:r>
            <a:r>
              <a:rPr lang="en-US" sz="900" b="0" dirty="0">
                <a:solidFill>
                  <a:srgbClr val="CCCCCC"/>
                </a:solidFill>
                <a:effectLst/>
                <a:latin typeface="Consolas" panose="020B0609020204030204" pitchFamily="49" charset="0"/>
              </a:rPr>
              <a:t>=</a:t>
            </a:r>
            <a:r>
              <a:rPr lang="en-US" sz="900" b="0" dirty="0">
                <a:solidFill>
                  <a:srgbClr val="CE9178"/>
                </a:solidFill>
                <a:effectLst/>
                <a:latin typeface="Consolas" panose="020B0609020204030204" pitchFamily="49" charset="0"/>
              </a:rPr>
              <a:t>"skills"</a:t>
            </a:r>
            <a:r>
              <a:rPr lang="en-US" sz="900" b="0" dirty="0">
                <a:solidFill>
                  <a:srgbClr val="808080"/>
                </a:solidFill>
                <a:effectLst/>
                <a:latin typeface="Consolas" panose="020B0609020204030204" pitchFamily="49" charset="0"/>
              </a:rPr>
              <a:t>&gt;</a:t>
            </a:r>
            <a:endParaRPr lang="en-US" sz="900" b="0" dirty="0">
              <a:solidFill>
                <a:srgbClr val="CCCCCC"/>
              </a:solidFill>
              <a:effectLst/>
              <a:latin typeface="Consolas" panose="020B0609020204030204" pitchFamily="49" charset="0"/>
            </a:endParaRPr>
          </a:p>
          <a:p>
            <a:r>
              <a:rPr lang="en-US" sz="900" b="0" dirty="0">
                <a:solidFill>
                  <a:srgbClr val="CCCCCC"/>
                </a:solidFill>
                <a:effectLst/>
                <a:latin typeface="Consolas" panose="020B0609020204030204" pitchFamily="49" charset="0"/>
              </a:rPr>
              <a:t>            </a:t>
            </a:r>
            <a:r>
              <a:rPr lang="en-US" sz="900" b="0" dirty="0">
                <a:solidFill>
                  <a:srgbClr val="808080"/>
                </a:solidFill>
                <a:effectLst/>
                <a:latin typeface="Consolas" panose="020B0609020204030204" pitchFamily="49" charset="0"/>
              </a:rPr>
              <a:t>&lt;</a:t>
            </a:r>
            <a:r>
              <a:rPr lang="en-US" sz="900" b="0" dirty="0">
                <a:solidFill>
                  <a:srgbClr val="569CD6"/>
                </a:solidFill>
                <a:effectLst/>
                <a:latin typeface="Consolas" panose="020B0609020204030204" pitchFamily="49" charset="0"/>
              </a:rPr>
              <a:t>h2</a:t>
            </a:r>
            <a:r>
              <a:rPr lang="en-US" sz="900" b="0" dirty="0">
                <a:solidFill>
                  <a:srgbClr val="808080"/>
                </a:solidFill>
                <a:effectLst/>
                <a:latin typeface="Consolas" panose="020B0609020204030204" pitchFamily="49" charset="0"/>
              </a:rPr>
              <a:t>&gt;</a:t>
            </a:r>
            <a:r>
              <a:rPr lang="en-US" sz="900" b="0" dirty="0">
                <a:solidFill>
                  <a:srgbClr val="CCCCCC"/>
                </a:solidFill>
                <a:effectLst/>
                <a:latin typeface="Consolas" panose="020B0609020204030204" pitchFamily="49" charset="0"/>
              </a:rPr>
              <a:t>Professional Skills</a:t>
            </a:r>
            <a:r>
              <a:rPr lang="en-US" sz="900" b="0" dirty="0">
                <a:solidFill>
                  <a:srgbClr val="808080"/>
                </a:solidFill>
                <a:effectLst/>
                <a:latin typeface="Consolas" panose="020B0609020204030204" pitchFamily="49" charset="0"/>
              </a:rPr>
              <a:t>&lt;/</a:t>
            </a:r>
            <a:r>
              <a:rPr lang="en-US" sz="900" b="0" dirty="0">
                <a:solidFill>
                  <a:srgbClr val="569CD6"/>
                </a:solidFill>
                <a:effectLst/>
                <a:latin typeface="Consolas" panose="020B0609020204030204" pitchFamily="49" charset="0"/>
              </a:rPr>
              <a:t>h2</a:t>
            </a:r>
            <a:r>
              <a:rPr lang="en-US" sz="900" b="0" dirty="0">
                <a:solidFill>
                  <a:srgbClr val="808080"/>
                </a:solidFill>
                <a:effectLst/>
                <a:latin typeface="Consolas" panose="020B0609020204030204" pitchFamily="49" charset="0"/>
              </a:rPr>
              <a:t>&gt;</a:t>
            </a:r>
            <a:endParaRPr lang="en-US" sz="900" b="0" dirty="0">
              <a:solidFill>
                <a:srgbClr val="CCCCCC"/>
              </a:solidFill>
              <a:effectLst/>
              <a:latin typeface="Consolas" panose="020B0609020204030204" pitchFamily="49" charset="0"/>
            </a:endParaRPr>
          </a:p>
          <a:p>
            <a:r>
              <a:rPr lang="en-US" sz="900" b="0" dirty="0">
                <a:solidFill>
                  <a:srgbClr val="CCCCCC"/>
                </a:solidFill>
                <a:effectLst/>
                <a:latin typeface="Consolas" panose="020B0609020204030204" pitchFamily="49" charset="0"/>
              </a:rPr>
              <a:t>            </a:t>
            </a:r>
            <a:r>
              <a:rPr lang="en-US" sz="900" b="0" dirty="0">
                <a:solidFill>
                  <a:srgbClr val="808080"/>
                </a:solidFill>
                <a:effectLst/>
                <a:latin typeface="Consolas" panose="020B0609020204030204" pitchFamily="49" charset="0"/>
              </a:rPr>
              <a:t>&lt;</a:t>
            </a:r>
            <a:r>
              <a:rPr lang="en-US" sz="900" b="0" dirty="0">
                <a:solidFill>
                  <a:srgbClr val="569CD6"/>
                </a:solidFill>
                <a:effectLst/>
                <a:latin typeface="Consolas" panose="020B0609020204030204" pitchFamily="49" charset="0"/>
              </a:rPr>
              <a:t>p</a:t>
            </a:r>
            <a:r>
              <a:rPr lang="en-US" sz="900" b="0" dirty="0">
                <a:solidFill>
                  <a:srgbClr val="808080"/>
                </a:solidFill>
                <a:effectLst/>
                <a:latin typeface="Consolas" panose="020B0609020204030204" pitchFamily="49" charset="0"/>
              </a:rPr>
              <a:t>&gt;</a:t>
            </a:r>
            <a:r>
              <a:rPr lang="en-US" sz="900" b="0" dirty="0">
                <a:solidFill>
                  <a:srgbClr val="CCCCCC"/>
                </a:solidFill>
                <a:effectLst/>
                <a:latin typeface="Consolas" panose="020B0609020204030204" pitchFamily="49" charset="0"/>
              </a:rPr>
              <a:t>Proficient in: Python, HTML, CSS, MATLAB, JavaScript, SQL, MongoDB, and more.</a:t>
            </a:r>
            <a:r>
              <a:rPr lang="en-US" sz="900" b="0" dirty="0">
                <a:solidFill>
                  <a:srgbClr val="808080"/>
                </a:solidFill>
                <a:effectLst/>
                <a:latin typeface="Consolas" panose="020B0609020204030204" pitchFamily="49" charset="0"/>
              </a:rPr>
              <a:t>&lt;/</a:t>
            </a:r>
            <a:r>
              <a:rPr lang="en-US" sz="900" b="0" dirty="0">
                <a:solidFill>
                  <a:srgbClr val="569CD6"/>
                </a:solidFill>
                <a:effectLst/>
                <a:latin typeface="Consolas" panose="020B0609020204030204" pitchFamily="49" charset="0"/>
              </a:rPr>
              <a:t>p</a:t>
            </a:r>
            <a:r>
              <a:rPr lang="en-US" sz="900" b="0" dirty="0">
                <a:solidFill>
                  <a:srgbClr val="808080"/>
                </a:solidFill>
                <a:effectLst/>
                <a:latin typeface="Consolas" panose="020B0609020204030204" pitchFamily="49" charset="0"/>
              </a:rPr>
              <a:t>&gt;</a:t>
            </a:r>
            <a:endParaRPr lang="en-US" sz="900" b="0" dirty="0">
              <a:solidFill>
                <a:srgbClr val="CCCCCC"/>
              </a:solidFill>
              <a:effectLst/>
              <a:latin typeface="Consolas" panose="020B0609020204030204" pitchFamily="49" charset="0"/>
            </a:endParaRPr>
          </a:p>
          <a:p>
            <a:r>
              <a:rPr lang="en-US" sz="900" b="0" dirty="0">
                <a:solidFill>
                  <a:srgbClr val="CCCCCC"/>
                </a:solidFill>
                <a:effectLst/>
                <a:latin typeface="Consolas" panose="020B0609020204030204" pitchFamily="49" charset="0"/>
              </a:rPr>
              <a:t>        </a:t>
            </a:r>
            <a:r>
              <a:rPr lang="en-US" sz="900" b="0" dirty="0">
                <a:solidFill>
                  <a:srgbClr val="808080"/>
                </a:solidFill>
                <a:effectLst/>
                <a:latin typeface="Consolas" panose="020B0609020204030204" pitchFamily="49" charset="0"/>
              </a:rPr>
              <a:t>&lt;/</a:t>
            </a:r>
            <a:r>
              <a:rPr lang="en-US" sz="900" b="0" dirty="0">
                <a:solidFill>
                  <a:srgbClr val="569CD6"/>
                </a:solidFill>
                <a:effectLst/>
                <a:latin typeface="Consolas" panose="020B0609020204030204" pitchFamily="49" charset="0"/>
              </a:rPr>
              <a:t>section</a:t>
            </a:r>
            <a:r>
              <a:rPr lang="en-US" sz="900" b="0" dirty="0">
                <a:solidFill>
                  <a:srgbClr val="808080"/>
                </a:solidFill>
                <a:effectLst/>
                <a:latin typeface="Consolas" panose="020B0609020204030204" pitchFamily="49" charset="0"/>
              </a:rPr>
              <a:t>&gt;</a:t>
            </a:r>
            <a:endParaRPr lang="en-US" sz="900" b="0" dirty="0">
              <a:solidFill>
                <a:srgbClr val="CCCCCC"/>
              </a:solidFill>
              <a:effectLst/>
              <a:latin typeface="Consolas" panose="020B0609020204030204" pitchFamily="49" charset="0"/>
            </a:endParaRPr>
          </a:p>
          <a:p>
            <a:r>
              <a:rPr lang="en-US" sz="900" b="0" dirty="0">
                <a:solidFill>
                  <a:srgbClr val="CCCCCC"/>
                </a:solidFill>
                <a:effectLst/>
                <a:latin typeface="Consolas" panose="020B0609020204030204" pitchFamily="49" charset="0"/>
              </a:rPr>
              <a:t>        </a:t>
            </a:r>
            <a:r>
              <a:rPr lang="en-US" sz="900" b="0" dirty="0">
                <a:solidFill>
                  <a:srgbClr val="808080"/>
                </a:solidFill>
                <a:effectLst/>
                <a:latin typeface="Consolas" panose="020B0609020204030204" pitchFamily="49" charset="0"/>
              </a:rPr>
              <a:t>&lt;</a:t>
            </a:r>
            <a:r>
              <a:rPr lang="en-US" sz="900" b="0" dirty="0">
                <a:solidFill>
                  <a:srgbClr val="569CD6"/>
                </a:solidFill>
                <a:effectLst/>
                <a:latin typeface="Consolas" panose="020B0609020204030204" pitchFamily="49" charset="0"/>
              </a:rPr>
              <a:t>section</a:t>
            </a:r>
            <a:r>
              <a:rPr lang="en-US" sz="900" b="0" dirty="0">
                <a:solidFill>
                  <a:srgbClr val="CCCCCC"/>
                </a:solidFill>
                <a:effectLst/>
                <a:latin typeface="Consolas" panose="020B0609020204030204" pitchFamily="49" charset="0"/>
              </a:rPr>
              <a:t> </a:t>
            </a:r>
            <a:r>
              <a:rPr lang="en-US" sz="900" b="0" dirty="0">
                <a:solidFill>
                  <a:srgbClr val="9CDCFE"/>
                </a:solidFill>
                <a:effectLst/>
                <a:latin typeface="Consolas" panose="020B0609020204030204" pitchFamily="49" charset="0"/>
              </a:rPr>
              <a:t>id</a:t>
            </a:r>
            <a:r>
              <a:rPr lang="en-US" sz="900" b="0" dirty="0">
                <a:solidFill>
                  <a:srgbClr val="CCCCCC"/>
                </a:solidFill>
                <a:effectLst/>
                <a:latin typeface="Consolas" panose="020B0609020204030204" pitchFamily="49" charset="0"/>
              </a:rPr>
              <a:t>=</a:t>
            </a:r>
            <a:r>
              <a:rPr lang="en-US" sz="900" b="0" dirty="0">
                <a:solidFill>
                  <a:srgbClr val="CE9178"/>
                </a:solidFill>
                <a:effectLst/>
                <a:latin typeface="Consolas" panose="020B0609020204030204" pitchFamily="49" charset="0"/>
              </a:rPr>
              <a:t>"contact"</a:t>
            </a:r>
            <a:r>
              <a:rPr lang="en-US" sz="900" b="0" dirty="0">
                <a:solidFill>
                  <a:srgbClr val="808080"/>
                </a:solidFill>
                <a:effectLst/>
                <a:latin typeface="Consolas" panose="020B0609020204030204" pitchFamily="49" charset="0"/>
              </a:rPr>
              <a:t>&gt;</a:t>
            </a:r>
            <a:endParaRPr lang="en-US" sz="900" b="0" dirty="0">
              <a:solidFill>
                <a:srgbClr val="CCCCCC"/>
              </a:solidFill>
              <a:effectLst/>
              <a:latin typeface="Consolas" panose="020B0609020204030204" pitchFamily="49" charset="0"/>
            </a:endParaRPr>
          </a:p>
          <a:p>
            <a:r>
              <a:rPr lang="en-US" sz="900" b="0" dirty="0">
                <a:solidFill>
                  <a:srgbClr val="CCCCCC"/>
                </a:solidFill>
                <a:effectLst/>
                <a:latin typeface="Consolas" panose="020B0609020204030204" pitchFamily="49" charset="0"/>
              </a:rPr>
              <a:t>            </a:t>
            </a:r>
            <a:r>
              <a:rPr lang="en-US" sz="900" b="0" dirty="0">
                <a:solidFill>
                  <a:srgbClr val="808080"/>
                </a:solidFill>
                <a:effectLst/>
                <a:latin typeface="Consolas" panose="020B0609020204030204" pitchFamily="49" charset="0"/>
              </a:rPr>
              <a:t>&lt;</a:t>
            </a:r>
            <a:r>
              <a:rPr lang="en-US" sz="900" b="0" dirty="0">
                <a:solidFill>
                  <a:srgbClr val="569CD6"/>
                </a:solidFill>
                <a:effectLst/>
                <a:latin typeface="Consolas" panose="020B0609020204030204" pitchFamily="49" charset="0"/>
              </a:rPr>
              <a:t>h2</a:t>
            </a:r>
            <a:r>
              <a:rPr lang="en-US" sz="900" b="0" dirty="0">
                <a:solidFill>
                  <a:srgbClr val="808080"/>
                </a:solidFill>
                <a:effectLst/>
                <a:latin typeface="Consolas" panose="020B0609020204030204" pitchFamily="49" charset="0"/>
              </a:rPr>
              <a:t>&gt;</a:t>
            </a:r>
            <a:r>
              <a:rPr lang="en-US" sz="900" b="0" dirty="0">
                <a:solidFill>
                  <a:srgbClr val="CCCCCC"/>
                </a:solidFill>
                <a:effectLst/>
                <a:latin typeface="Consolas" panose="020B0609020204030204" pitchFamily="49" charset="0"/>
              </a:rPr>
              <a:t>Contact Me</a:t>
            </a:r>
            <a:r>
              <a:rPr lang="en-US" sz="900" b="0" dirty="0">
                <a:solidFill>
                  <a:srgbClr val="808080"/>
                </a:solidFill>
                <a:effectLst/>
                <a:latin typeface="Consolas" panose="020B0609020204030204" pitchFamily="49" charset="0"/>
              </a:rPr>
              <a:t>&lt;/</a:t>
            </a:r>
            <a:r>
              <a:rPr lang="en-US" sz="900" b="0" dirty="0">
                <a:solidFill>
                  <a:srgbClr val="569CD6"/>
                </a:solidFill>
                <a:effectLst/>
                <a:latin typeface="Consolas" panose="020B0609020204030204" pitchFamily="49" charset="0"/>
              </a:rPr>
              <a:t>h2</a:t>
            </a:r>
            <a:r>
              <a:rPr lang="en-US" sz="900" b="0" dirty="0">
                <a:solidFill>
                  <a:srgbClr val="808080"/>
                </a:solidFill>
                <a:effectLst/>
                <a:latin typeface="Consolas" panose="020B0609020204030204" pitchFamily="49" charset="0"/>
              </a:rPr>
              <a:t>&gt;</a:t>
            </a:r>
            <a:endParaRPr lang="en-US" sz="900" b="0" dirty="0">
              <a:solidFill>
                <a:srgbClr val="CCCCCC"/>
              </a:solidFill>
              <a:effectLst/>
              <a:latin typeface="Consolas" panose="020B0609020204030204" pitchFamily="49" charset="0"/>
            </a:endParaRPr>
          </a:p>
          <a:p>
            <a:r>
              <a:rPr lang="en-US" sz="900" b="0" dirty="0">
                <a:solidFill>
                  <a:srgbClr val="CCCCCC"/>
                </a:solidFill>
                <a:effectLst/>
                <a:latin typeface="Consolas" panose="020B0609020204030204" pitchFamily="49" charset="0"/>
              </a:rPr>
              <a:t>            </a:t>
            </a:r>
            <a:r>
              <a:rPr lang="en-US" sz="900" b="0" dirty="0">
                <a:solidFill>
                  <a:srgbClr val="808080"/>
                </a:solidFill>
                <a:effectLst/>
                <a:latin typeface="Consolas" panose="020B0609020204030204" pitchFamily="49" charset="0"/>
              </a:rPr>
              <a:t>&lt;</a:t>
            </a:r>
            <a:r>
              <a:rPr lang="en-US" sz="900" b="0" dirty="0">
                <a:solidFill>
                  <a:srgbClr val="569CD6"/>
                </a:solidFill>
                <a:effectLst/>
                <a:latin typeface="Consolas" panose="020B0609020204030204" pitchFamily="49" charset="0"/>
              </a:rPr>
              <a:t>p</a:t>
            </a:r>
            <a:r>
              <a:rPr lang="en-US" sz="900" b="0" dirty="0">
                <a:solidFill>
                  <a:srgbClr val="808080"/>
                </a:solidFill>
                <a:effectLst/>
                <a:latin typeface="Consolas" panose="020B0609020204030204" pitchFamily="49" charset="0"/>
              </a:rPr>
              <a:t>&gt;</a:t>
            </a:r>
            <a:r>
              <a:rPr lang="en-US" sz="900" b="0" dirty="0">
                <a:solidFill>
                  <a:srgbClr val="CCCCCC"/>
                </a:solidFill>
                <a:effectLst/>
                <a:latin typeface="Consolas" panose="020B0609020204030204" pitchFamily="49" charset="0"/>
              </a:rPr>
              <a:t>Interested in working together? Reach out to me at </a:t>
            </a:r>
            <a:r>
              <a:rPr lang="en-US" sz="900" b="0" dirty="0">
                <a:solidFill>
                  <a:srgbClr val="808080"/>
                </a:solidFill>
                <a:effectLst/>
                <a:latin typeface="Consolas" panose="020B0609020204030204" pitchFamily="49" charset="0"/>
              </a:rPr>
              <a:t>&lt;</a:t>
            </a:r>
            <a:r>
              <a:rPr lang="en-US" sz="900" b="0" dirty="0">
                <a:solidFill>
                  <a:srgbClr val="569CD6"/>
                </a:solidFill>
                <a:effectLst/>
                <a:latin typeface="Consolas" panose="020B0609020204030204" pitchFamily="49" charset="0"/>
              </a:rPr>
              <a:t>a</a:t>
            </a:r>
            <a:r>
              <a:rPr lang="en-US" sz="900" b="0" dirty="0">
                <a:solidFill>
                  <a:srgbClr val="CCCCCC"/>
                </a:solidFill>
                <a:effectLst/>
                <a:latin typeface="Consolas" panose="020B0609020204030204" pitchFamily="49" charset="0"/>
              </a:rPr>
              <a:t> </a:t>
            </a:r>
            <a:r>
              <a:rPr lang="en-US" sz="900" b="0" dirty="0" err="1">
                <a:solidFill>
                  <a:srgbClr val="9CDCFE"/>
                </a:solidFill>
                <a:effectLst/>
                <a:latin typeface="Consolas" panose="020B0609020204030204" pitchFamily="49" charset="0"/>
              </a:rPr>
              <a:t>href</a:t>
            </a:r>
            <a:r>
              <a:rPr lang="en-US" sz="900" b="0" dirty="0">
                <a:solidFill>
                  <a:srgbClr val="CCCCCC"/>
                </a:solidFill>
                <a:effectLst/>
                <a:latin typeface="Consolas" panose="020B0609020204030204" pitchFamily="49" charset="0"/>
              </a:rPr>
              <a:t>=</a:t>
            </a:r>
            <a:r>
              <a:rPr lang="en-US" sz="900" b="0" dirty="0">
                <a:solidFill>
                  <a:srgbClr val="CE9178"/>
                </a:solidFill>
                <a:effectLst/>
                <a:latin typeface="Consolas" panose="020B0609020204030204" pitchFamily="49" charset="0"/>
              </a:rPr>
              <a:t>"mailto:FKeivanian@my.holmes.edu.au"</a:t>
            </a:r>
            <a:r>
              <a:rPr lang="en-US" sz="900" b="0" dirty="0">
                <a:solidFill>
                  <a:srgbClr val="808080"/>
                </a:solidFill>
                <a:effectLst/>
                <a:latin typeface="Consolas" panose="020B0609020204030204" pitchFamily="49" charset="0"/>
              </a:rPr>
              <a:t>&gt;</a:t>
            </a:r>
            <a:r>
              <a:rPr lang="en-US" sz="900" b="0" dirty="0">
                <a:solidFill>
                  <a:srgbClr val="CCCCCC"/>
                </a:solidFill>
                <a:effectLst/>
                <a:latin typeface="Consolas" panose="020B0609020204030204" pitchFamily="49" charset="0"/>
              </a:rPr>
              <a:t>FKeivanian@my.holmes.edu.au</a:t>
            </a:r>
            <a:r>
              <a:rPr lang="en-US" sz="900" b="0" dirty="0">
                <a:solidFill>
                  <a:srgbClr val="808080"/>
                </a:solidFill>
                <a:effectLst/>
                <a:latin typeface="Consolas" panose="020B0609020204030204" pitchFamily="49" charset="0"/>
              </a:rPr>
              <a:t>&lt;/</a:t>
            </a:r>
            <a:r>
              <a:rPr lang="en-US" sz="900" b="0" dirty="0">
                <a:solidFill>
                  <a:srgbClr val="569CD6"/>
                </a:solidFill>
                <a:effectLst/>
                <a:latin typeface="Consolas" panose="020B0609020204030204" pitchFamily="49" charset="0"/>
              </a:rPr>
              <a:t>a</a:t>
            </a:r>
            <a:r>
              <a:rPr lang="en-US" sz="900" b="0" dirty="0">
                <a:solidFill>
                  <a:srgbClr val="808080"/>
                </a:solidFill>
                <a:effectLst/>
                <a:latin typeface="Consolas" panose="020B0609020204030204" pitchFamily="49" charset="0"/>
              </a:rPr>
              <a:t>&gt;</a:t>
            </a:r>
            <a:r>
              <a:rPr lang="en-US" sz="900" b="0" dirty="0">
                <a:solidFill>
                  <a:srgbClr val="CCCCCC"/>
                </a:solidFill>
                <a:effectLst/>
                <a:latin typeface="Consolas" panose="020B0609020204030204" pitchFamily="49" charset="0"/>
              </a:rPr>
              <a:t>.</a:t>
            </a:r>
            <a:r>
              <a:rPr lang="en-US" sz="900" b="0" dirty="0">
                <a:solidFill>
                  <a:srgbClr val="808080"/>
                </a:solidFill>
                <a:effectLst/>
                <a:latin typeface="Consolas" panose="020B0609020204030204" pitchFamily="49" charset="0"/>
              </a:rPr>
              <a:t>&lt;/</a:t>
            </a:r>
            <a:r>
              <a:rPr lang="en-US" sz="900" b="0" dirty="0">
                <a:solidFill>
                  <a:srgbClr val="569CD6"/>
                </a:solidFill>
                <a:effectLst/>
                <a:latin typeface="Consolas" panose="020B0609020204030204" pitchFamily="49" charset="0"/>
              </a:rPr>
              <a:t>p</a:t>
            </a:r>
            <a:r>
              <a:rPr lang="en-US" sz="900" b="0" dirty="0">
                <a:solidFill>
                  <a:srgbClr val="808080"/>
                </a:solidFill>
                <a:effectLst/>
                <a:latin typeface="Consolas" panose="020B0609020204030204" pitchFamily="49" charset="0"/>
              </a:rPr>
              <a:t>&gt;</a:t>
            </a:r>
            <a:endParaRPr lang="en-US" sz="900" b="0" dirty="0">
              <a:solidFill>
                <a:srgbClr val="CCCCCC"/>
              </a:solidFill>
              <a:effectLst/>
              <a:latin typeface="Consolas" panose="020B0609020204030204" pitchFamily="49" charset="0"/>
            </a:endParaRPr>
          </a:p>
          <a:p>
            <a:r>
              <a:rPr lang="en-US" sz="900" b="0" dirty="0">
                <a:solidFill>
                  <a:srgbClr val="CCCCCC"/>
                </a:solidFill>
                <a:effectLst/>
                <a:latin typeface="Consolas" panose="020B0609020204030204" pitchFamily="49" charset="0"/>
              </a:rPr>
              <a:t>        </a:t>
            </a:r>
            <a:r>
              <a:rPr lang="en-US" sz="900" b="0" dirty="0">
                <a:solidFill>
                  <a:srgbClr val="808080"/>
                </a:solidFill>
                <a:effectLst/>
                <a:latin typeface="Consolas" panose="020B0609020204030204" pitchFamily="49" charset="0"/>
              </a:rPr>
              <a:t>&lt;/</a:t>
            </a:r>
            <a:r>
              <a:rPr lang="en-US" sz="900" b="0" dirty="0">
                <a:solidFill>
                  <a:srgbClr val="569CD6"/>
                </a:solidFill>
                <a:effectLst/>
                <a:latin typeface="Consolas" panose="020B0609020204030204" pitchFamily="49" charset="0"/>
              </a:rPr>
              <a:t>section</a:t>
            </a:r>
            <a:r>
              <a:rPr lang="en-US" sz="900" b="0" dirty="0">
                <a:solidFill>
                  <a:srgbClr val="808080"/>
                </a:solidFill>
                <a:effectLst/>
                <a:latin typeface="Consolas" panose="020B0609020204030204" pitchFamily="49" charset="0"/>
              </a:rPr>
              <a:t>&gt;</a:t>
            </a:r>
            <a:endParaRPr lang="en-US" sz="900" b="0" dirty="0">
              <a:solidFill>
                <a:srgbClr val="CCCCCC"/>
              </a:solidFill>
              <a:effectLst/>
              <a:latin typeface="Consolas" panose="020B0609020204030204" pitchFamily="49" charset="0"/>
            </a:endParaRPr>
          </a:p>
          <a:p>
            <a:r>
              <a:rPr lang="en-US" sz="900" b="0" dirty="0">
                <a:solidFill>
                  <a:srgbClr val="CCCCCC"/>
                </a:solidFill>
                <a:effectLst/>
                <a:latin typeface="Consolas" panose="020B0609020204030204" pitchFamily="49" charset="0"/>
              </a:rPr>
              <a:t>    </a:t>
            </a:r>
            <a:r>
              <a:rPr lang="en-US" sz="900" b="0" dirty="0">
                <a:solidFill>
                  <a:srgbClr val="808080"/>
                </a:solidFill>
                <a:effectLst/>
                <a:latin typeface="Consolas" panose="020B0609020204030204" pitchFamily="49" charset="0"/>
              </a:rPr>
              <a:t>&lt;/</a:t>
            </a:r>
            <a:r>
              <a:rPr lang="en-US" sz="900" b="0" dirty="0">
                <a:solidFill>
                  <a:srgbClr val="569CD6"/>
                </a:solidFill>
                <a:effectLst/>
                <a:latin typeface="Consolas" panose="020B0609020204030204" pitchFamily="49" charset="0"/>
              </a:rPr>
              <a:t>main</a:t>
            </a:r>
            <a:r>
              <a:rPr lang="en-US" sz="900" b="0" dirty="0">
                <a:solidFill>
                  <a:srgbClr val="808080"/>
                </a:solidFill>
                <a:effectLst/>
                <a:latin typeface="Consolas" panose="020B0609020204030204" pitchFamily="49" charset="0"/>
              </a:rPr>
              <a:t>&gt;</a:t>
            </a:r>
            <a:endParaRPr lang="en-US" sz="900" b="0" dirty="0">
              <a:solidFill>
                <a:srgbClr val="CCCCCC"/>
              </a:solidFill>
              <a:effectLst/>
              <a:latin typeface="Consolas" panose="020B0609020204030204" pitchFamily="49" charset="0"/>
            </a:endParaRPr>
          </a:p>
          <a:p>
            <a:r>
              <a:rPr lang="en-US" sz="900" b="0" dirty="0">
                <a:solidFill>
                  <a:srgbClr val="CCCCCC"/>
                </a:solidFill>
                <a:effectLst/>
                <a:latin typeface="Consolas" panose="020B0609020204030204" pitchFamily="49" charset="0"/>
              </a:rPr>
              <a:t>    </a:t>
            </a:r>
            <a:r>
              <a:rPr lang="en-US" sz="900" b="0" dirty="0">
                <a:solidFill>
                  <a:srgbClr val="808080"/>
                </a:solidFill>
                <a:effectLst/>
                <a:latin typeface="Consolas" panose="020B0609020204030204" pitchFamily="49" charset="0"/>
              </a:rPr>
              <a:t>&lt;</a:t>
            </a:r>
            <a:r>
              <a:rPr lang="en-US" sz="900" b="0" dirty="0">
                <a:solidFill>
                  <a:srgbClr val="569CD6"/>
                </a:solidFill>
                <a:effectLst/>
                <a:latin typeface="Consolas" panose="020B0609020204030204" pitchFamily="49" charset="0"/>
              </a:rPr>
              <a:t>footer</a:t>
            </a:r>
            <a:r>
              <a:rPr lang="en-US" sz="900" b="0" dirty="0">
                <a:solidFill>
                  <a:srgbClr val="808080"/>
                </a:solidFill>
                <a:effectLst/>
                <a:latin typeface="Consolas" panose="020B0609020204030204" pitchFamily="49" charset="0"/>
              </a:rPr>
              <a:t>&gt;</a:t>
            </a:r>
            <a:endParaRPr lang="en-US" sz="900" b="0" dirty="0">
              <a:solidFill>
                <a:srgbClr val="CCCCCC"/>
              </a:solidFill>
              <a:effectLst/>
              <a:latin typeface="Consolas" panose="020B0609020204030204" pitchFamily="49" charset="0"/>
            </a:endParaRPr>
          </a:p>
          <a:p>
            <a:r>
              <a:rPr lang="en-US" sz="900" b="0" dirty="0">
                <a:solidFill>
                  <a:srgbClr val="CCCCCC"/>
                </a:solidFill>
                <a:effectLst/>
                <a:latin typeface="Consolas" panose="020B0609020204030204" pitchFamily="49" charset="0"/>
              </a:rPr>
              <a:t>        </a:t>
            </a:r>
            <a:r>
              <a:rPr lang="en-US" sz="900" b="0" dirty="0">
                <a:solidFill>
                  <a:srgbClr val="808080"/>
                </a:solidFill>
                <a:effectLst/>
                <a:latin typeface="Consolas" panose="020B0609020204030204" pitchFamily="49" charset="0"/>
              </a:rPr>
              <a:t>&lt;</a:t>
            </a:r>
            <a:r>
              <a:rPr lang="en-US" sz="900" b="0" dirty="0">
                <a:solidFill>
                  <a:srgbClr val="569CD6"/>
                </a:solidFill>
                <a:effectLst/>
                <a:latin typeface="Consolas" panose="020B0609020204030204" pitchFamily="49" charset="0"/>
              </a:rPr>
              <a:t>p</a:t>
            </a:r>
            <a:r>
              <a:rPr lang="en-US" sz="900" b="0" dirty="0">
                <a:solidFill>
                  <a:srgbClr val="808080"/>
                </a:solidFill>
                <a:effectLst/>
                <a:latin typeface="Consolas" panose="020B0609020204030204" pitchFamily="49" charset="0"/>
              </a:rPr>
              <a:t>&gt;</a:t>
            </a:r>
            <a:r>
              <a:rPr lang="en-US" sz="900" b="0" dirty="0">
                <a:solidFill>
                  <a:srgbClr val="569CD6"/>
                </a:solidFill>
                <a:effectLst/>
                <a:latin typeface="Consolas" panose="020B0609020204030204" pitchFamily="49" charset="0"/>
              </a:rPr>
              <a:t>&amp;copy;</a:t>
            </a:r>
            <a:r>
              <a:rPr lang="en-US" sz="900" b="0" dirty="0">
                <a:solidFill>
                  <a:srgbClr val="CCCCCC"/>
                </a:solidFill>
                <a:effectLst/>
                <a:latin typeface="Consolas" panose="020B0609020204030204" pitchFamily="49" charset="0"/>
              </a:rPr>
              <a:t> 2024 Farshid Keivanian</a:t>
            </a:r>
            <a:r>
              <a:rPr lang="en-US" sz="900" b="0" dirty="0">
                <a:solidFill>
                  <a:srgbClr val="808080"/>
                </a:solidFill>
                <a:effectLst/>
                <a:latin typeface="Consolas" panose="020B0609020204030204" pitchFamily="49" charset="0"/>
              </a:rPr>
              <a:t>&lt;/</a:t>
            </a:r>
            <a:r>
              <a:rPr lang="en-US" sz="900" b="0" dirty="0">
                <a:solidFill>
                  <a:srgbClr val="569CD6"/>
                </a:solidFill>
                <a:effectLst/>
                <a:latin typeface="Consolas" panose="020B0609020204030204" pitchFamily="49" charset="0"/>
              </a:rPr>
              <a:t>p</a:t>
            </a:r>
            <a:r>
              <a:rPr lang="en-US" sz="900" b="0" dirty="0">
                <a:solidFill>
                  <a:srgbClr val="808080"/>
                </a:solidFill>
                <a:effectLst/>
                <a:latin typeface="Consolas" panose="020B0609020204030204" pitchFamily="49" charset="0"/>
              </a:rPr>
              <a:t>&gt;</a:t>
            </a:r>
            <a:endParaRPr lang="en-US" sz="900" b="0" dirty="0">
              <a:solidFill>
                <a:srgbClr val="CCCCCC"/>
              </a:solidFill>
              <a:effectLst/>
              <a:latin typeface="Consolas" panose="020B0609020204030204" pitchFamily="49" charset="0"/>
            </a:endParaRPr>
          </a:p>
          <a:p>
            <a:r>
              <a:rPr lang="en-US" sz="900" b="0" dirty="0">
                <a:solidFill>
                  <a:srgbClr val="CCCCCC"/>
                </a:solidFill>
                <a:effectLst/>
                <a:latin typeface="Consolas" panose="020B0609020204030204" pitchFamily="49" charset="0"/>
              </a:rPr>
              <a:t>    </a:t>
            </a:r>
            <a:r>
              <a:rPr lang="en-US" sz="900" b="0" dirty="0">
                <a:solidFill>
                  <a:srgbClr val="808080"/>
                </a:solidFill>
                <a:effectLst/>
                <a:latin typeface="Consolas" panose="020B0609020204030204" pitchFamily="49" charset="0"/>
              </a:rPr>
              <a:t>&lt;/</a:t>
            </a:r>
            <a:r>
              <a:rPr lang="en-US" sz="900" b="0" dirty="0">
                <a:solidFill>
                  <a:srgbClr val="569CD6"/>
                </a:solidFill>
                <a:effectLst/>
                <a:latin typeface="Consolas" panose="020B0609020204030204" pitchFamily="49" charset="0"/>
              </a:rPr>
              <a:t>footer</a:t>
            </a:r>
            <a:r>
              <a:rPr lang="en-US" sz="900" b="0" dirty="0">
                <a:solidFill>
                  <a:srgbClr val="808080"/>
                </a:solidFill>
                <a:effectLst/>
                <a:latin typeface="Consolas" panose="020B0609020204030204" pitchFamily="49" charset="0"/>
              </a:rPr>
              <a:t>&gt;</a:t>
            </a:r>
            <a:endParaRPr lang="en-US" sz="900" b="0" dirty="0">
              <a:solidFill>
                <a:srgbClr val="CCCCCC"/>
              </a:solidFill>
              <a:effectLst/>
              <a:latin typeface="Consolas" panose="020B0609020204030204" pitchFamily="49" charset="0"/>
            </a:endParaRPr>
          </a:p>
          <a:p>
            <a:r>
              <a:rPr lang="en-US" sz="900" b="0" dirty="0">
                <a:solidFill>
                  <a:srgbClr val="808080"/>
                </a:solidFill>
                <a:effectLst/>
                <a:latin typeface="Consolas" panose="020B0609020204030204" pitchFamily="49" charset="0"/>
              </a:rPr>
              <a:t>&lt;/</a:t>
            </a:r>
            <a:r>
              <a:rPr lang="en-US" sz="900" b="0" dirty="0">
                <a:solidFill>
                  <a:srgbClr val="569CD6"/>
                </a:solidFill>
                <a:effectLst/>
                <a:latin typeface="Consolas" panose="020B0609020204030204" pitchFamily="49" charset="0"/>
              </a:rPr>
              <a:t>body</a:t>
            </a:r>
            <a:r>
              <a:rPr lang="en-US" sz="900" b="0" dirty="0">
                <a:solidFill>
                  <a:srgbClr val="808080"/>
                </a:solidFill>
                <a:effectLst/>
                <a:latin typeface="Consolas" panose="020B0609020204030204" pitchFamily="49" charset="0"/>
              </a:rPr>
              <a:t>&gt;</a:t>
            </a:r>
            <a:endParaRPr lang="en-US" sz="900" b="0" dirty="0">
              <a:solidFill>
                <a:srgbClr val="CCCCCC"/>
              </a:solidFill>
              <a:effectLst/>
              <a:latin typeface="Consolas" panose="020B0609020204030204" pitchFamily="49" charset="0"/>
            </a:endParaRPr>
          </a:p>
          <a:p>
            <a:r>
              <a:rPr lang="en-US" sz="900" b="0" dirty="0">
                <a:solidFill>
                  <a:srgbClr val="808080"/>
                </a:solidFill>
                <a:effectLst/>
                <a:latin typeface="Consolas" panose="020B0609020204030204" pitchFamily="49" charset="0"/>
              </a:rPr>
              <a:t>&lt;/</a:t>
            </a:r>
            <a:r>
              <a:rPr lang="en-US" sz="900" b="0" dirty="0">
                <a:solidFill>
                  <a:srgbClr val="569CD6"/>
                </a:solidFill>
                <a:effectLst/>
                <a:latin typeface="Consolas" panose="020B0609020204030204" pitchFamily="49" charset="0"/>
              </a:rPr>
              <a:t>html</a:t>
            </a:r>
            <a:r>
              <a:rPr lang="en-US" sz="900" b="0" dirty="0">
                <a:solidFill>
                  <a:srgbClr val="808080"/>
                </a:solidFill>
                <a:effectLst/>
                <a:latin typeface="Consolas" panose="020B0609020204030204" pitchFamily="49" charset="0"/>
              </a:rPr>
              <a:t>&gt;</a:t>
            </a:r>
            <a:endParaRPr lang="en-US" sz="900" b="0" dirty="0">
              <a:solidFill>
                <a:srgbClr val="CCCCCC"/>
              </a:solidFill>
              <a:effectLst/>
              <a:latin typeface="Consolas" panose="020B0609020204030204" pitchFamily="49" charset="0"/>
            </a:endParaRPr>
          </a:p>
        </p:txBody>
      </p:sp>
      <p:sp>
        <p:nvSpPr>
          <p:cNvPr id="7" name="TextBox 6">
            <a:extLst>
              <a:ext uri="{FF2B5EF4-FFF2-40B4-BE49-F238E27FC236}">
                <a16:creationId xmlns:a16="http://schemas.microsoft.com/office/drawing/2014/main" id="{0A95668B-DF25-52A4-2F64-A45B0870C27B}"/>
              </a:ext>
            </a:extLst>
          </p:cNvPr>
          <p:cNvSpPr txBox="1"/>
          <p:nvPr/>
        </p:nvSpPr>
        <p:spPr>
          <a:xfrm>
            <a:off x="1725560" y="0"/>
            <a:ext cx="8849034" cy="769441"/>
          </a:xfrm>
          <a:prstGeom prst="rect">
            <a:avLst/>
          </a:prstGeom>
          <a:noFill/>
        </p:spPr>
        <p:txBody>
          <a:bodyPr wrap="square" rtlCol="0">
            <a:spAutoFit/>
          </a:bodyPr>
          <a:lstStyle/>
          <a:p>
            <a:pPr algn="ctr"/>
            <a:r>
              <a:rPr lang="en-US" sz="2200" dirty="0">
                <a:solidFill>
                  <a:schemeClr val="bg1"/>
                </a:solidFill>
                <a:latin typeface="Calibri" panose="020F0502020204030204" pitchFamily="34" charset="0"/>
                <a:cs typeface="Calibri" panose="020F0502020204030204" pitchFamily="34" charset="0"/>
              </a:rPr>
              <a:t>Modify the code based on your information or preferences and save as ‘Portfolio.html’</a:t>
            </a:r>
            <a:endParaRPr lang="en-AU" sz="2200" dirty="0">
              <a:solidFill>
                <a:schemeClr val="bg1"/>
              </a:solidFill>
              <a:latin typeface="Calibri" panose="020F0502020204030204" pitchFamily="34" charset="0"/>
              <a:cs typeface="Calibri" panose="020F0502020204030204" pitchFamily="34" charset="0"/>
            </a:endParaRPr>
          </a:p>
        </p:txBody>
      </p:sp>
      <p:pic>
        <p:nvPicPr>
          <p:cNvPr id="10" name="Picture 9">
            <a:extLst>
              <a:ext uri="{FF2B5EF4-FFF2-40B4-BE49-F238E27FC236}">
                <a16:creationId xmlns:a16="http://schemas.microsoft.com/office/drawing/2014/main" id="{EDDB9FE9-E0F7-6187-22E9-576FD265B633}"/>
              </a:ext>
            </a:extLst>
          </p:cNvPr>
          <p:cNvPicPr>
            <a:picLocks noChangeAspect="1"/>
          </p:cNvPicPr>
          <p:nvPr/>
        </p:nvPicPr>
        <p:blipFill>
          <a:blip r:embed="rId2"/>
          <a:stretch>
            <a:fillRect/>
          </a:stretch>
        </p:blipFill>
        <p:spPr>
          <a:xfrm>
            <a:off x="4125951" y="787260"/>
            <a:ext cx="8174205" cy="2363707"/>
          </a:xfrm>
          <a:prstGeom prst="rect">
            <a:avLst/>
          </a:prstGeom>
        </p:spPr>
      </p:pic>
    </p:spTree>
    <p:extLst>
      <p:ext uri="{BB962C8B-B14F-4D97-AF65-F5344CB8AC3E}">
        <p14:creationId xmlns:p14="http://schemas.microsoft.com/office/powerpoint/2010/main" val="1526714197"/>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EDE8537B-B833-EDE0-14B2-E153592EFDCF}"/>
              </a:ext>
            </a:extLst>
          </p:cNvPr>
          <p:cNvPicPr>
            <a:picLocks noChangeAspect="1"/>
          </p:cNvPicPr>
          <p:nvPr/>
        </p:nvPicPr>
        <p:blipFill>
          <a:blip r:embed="rId2"/>
          <a:srcRect b="7742"/>
          <a:stretch>
            <a:fillRect/>
          </a:stretch>
        </p:blipFill>
        <p:spPr>
          <a:xfrm>
            <a:off x="0" y="265471"/>
            <a:ext cx="12192000" cy="6327058"/>
          </a:xfrm>
          <a:prstGeom prst="rect">
            <a:avLst/>
          </a:prstGeom>
        </p:spPr>
      </p:pic>
    </p:spTree>
    <p:extLst>
      <p:ext uri="{BB962C8B-B14F-4D97-AF65-F5344CB8AC3E}">
        <p14:creationId xmlns:p14="http://schemas.microsoft.com/office/powerpoint/2010/main" val="1727976849"/>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B18257F0-26A7-176D-AA56-E22B645D7E4B}"/>
              </a:ext>
            </a:extLst>
          </p:cNvPr>
          <p:cNvPicPr>
            <a:picLocks noChangeAspect="1"/>
          </p:cNvPicPr>
          <p:nvPr/>
        </p:nvPicPr>
        <p:blipFill>
          <a:blip r:embed="rId2"/>
          <a:stretch>
            <a:fillRect/>
          </a:stretch>
        </p:blipFill>
        <p:spPr>
          <a:xfrm>
            <a:off x="408131" y="650601"/>
            <a:ext cx="11375737" cy="5940256"/>
          </a:xfrm>
          <a:prstGeom prst="rect">
            <a:avLst/>
          </a:prstGeom>
        </p:spPr>
      </p:pic>
      <p:sp>
        <p:nvSpPr>
          <p:cNvPr id="6" name="TextBox 5">
            <a:extLst>
              <a:ext uri="{FF2B5EF4-FFF2-40B4-BE49-F238E27FC236}">
                <a16:creationId xmlns:a16="http://schemas.microsoft.com/office/drawing/2014/main" id="{ECFB7565-0E10-2FAA-6C32-C423C04D3E14}"/>
              </a:ext>
            </a:extLst>
          </p:cNvPr>
          <p:cNvSpPr txBox="1"/>
          <p:nvPr/>
        </p:nvSpPr>
        <p:spPr>
          <a:xfrm>
            <a:off x="457200" y="0"/>
            <a:ext cx="3421626" cy="430887"/>
          </a:xfrm>
          <a:prstGeom prst="rect">
            <a:avLst/>
          </a:prstGeom>
          <a:noFill/>
        </p:spPr>
        <p:txBody>
          <a:bodyPr wrap="square" rtlCol="0">
            <a:spAutoFit/>
          </a:bodyPr>
          <a:lstStyle/>
          <a:p>
            <a:r>
              <a:rPr lang="en-US" sz="2200" dirty="0">
                <a:latin typeface="Calibri" panose="020F0502020204030204" pitchFamily="34" charset="0"/>
                <a:cs typeface="Calibri" panose="020F0502020204030204" pitchFamily="34" charset="0"/>
              </a:rPr>
              <a:t>Using </a:t>
            </a:r>
            <a:r>
              <a:rPr lang="en-US" sz="2200" b="1" dirty="0" err="1">
                <a:latin typeface="Calibri" panose="020F0502020204030204" pitchFamily="34" charset="0"/>
                <a:cs typeface="Calibri" panose="020F0502020204030204" pitchFamily="34" charset="0"/>
              </a:rPr>
              <a:t>Xampp</a:t>
            </a:r>
            <a:r>
              <a:rPr lang="en-US" sz="2200" dirty="0">
                <a:latin typeface="Calibri" panose="020F0502020204030204" pitchFamily="34" charset="0"/>
                <a:cs typeface="Calibri" panose="020F0502020204030204" pitchFamily="34" charset="0"/>
              </a:rPr>
              <a:t> local host:</a:t>
            </a:r>
            <a:endParaRPr lang="en-AU" sz="2200"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2238821843"/>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8FB26E-E4E6-9277-F546-F5A9A65F4D52}"/>
            </a:ext>
          </a:extLst>
        </p:cNvPr>
        <p:cNvGrpSpPr/>
        <p:nvPr/>
      </p:nvGrpSpPr>
      <p:grpSpPr>
        <a:xfrm>
          <a:off x="0" y="0"/>
          <a:ext cx="0" cy="0"/>
          <a:chOff x="0" y="0"/>
          <a:chExt cx="0" cy="0"/>
        </a:xfrm>
      </p:grpSpPr>
      <p:sp>
        <p:nvSpPr>
          <p:cNvPr id="15" name="Title 1">
            <a:extLst>
              <a:ext uri="{FF2B5EF4-FFF2-40B4-BE49-F238E27FC236}">
                <a16:creationId xmlns:a16="http://schemas.microsoft.com/office/drawing/2014/main" id="{AF2B1819-398A-6A16-1BAD-7C6C9AEEF432}"/>
              </a:ext>
            </a:extLst>
          </p:cNvPr>
          <p:cNvSpPr>
            <a:spLocks noGrp="1"/>
          </p:cNvSpPr>
          <p:nvPr>
            <p:ph type="title"/>
          </p:nvPr>
        </p:nvSpPr>
        <p:spPr>
          <a:xfrm>
            <a:off x="2895600" y="171826"/>
            <a:ext cx="9144000" cy="577517"/>
          </a:xfrm>
        </p:spPr>
        <p:txBody>
          <a:bodyPr>
            <a:noAutofit/>
          </a:bodyPr>
          <a:lstStyle/>
          <a:p>
            <a:r>
              <a:rPr lang="en-US" sz="3500" dirty="0">
                <a:solidFill>
                  <a:schemeClr val="bg1"/>
                </a:solidFill>
                <a:latin typeface="Calibri" panose="020F0502020204030204" pitchFamily="34" charset="0"/>
                <a:cs typeface="Calibri" panose="020F0502020204030204" pitchFamily="34" charset="0"/>
              </a:rPr>
              <a:t>Let’s Answer Your Questions</a:t>
            </a:r>
            <a:endParaRPr lang="en-AU" sz="3500" dirty="0">
              <a:solidFill>
                <a:schemeClr val="bg1"/>
              </a:solidFill>
              <a:latin typeface="Calibri" panose="020F0502020204030204" pitchFamily="34" charset="0"/>
              <a:cs typeface="Calibri" panose="020F0502020204030204" pitchFamily="34" charset="0"/>
            </a:endParaRPr>
          </a:p>
        </p:txBody>
      </p:sp>
      <p:pic>
        <p:nvPicPr>
          <p:cNvPr id="1028" name="Picture 4" descr="Answering Questions In Complete Sentences">
            <a:extLst>
              <a:ext uri="{FF2B5EF4-FFF2-40B4-BE49-F238E27FC236}">
                <a16:creationId xmlns:a16="http://schemas.microsoft.com/office/drawing/2014/main" id="{F3F39DD1-1664-A2BF-97E5-6BA3145EE9BD}"/>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403245" y="1340457"/>
            <a:ext cx="3385511" cy="2115944"/>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7F84D911-33A5-B864-56FB-887C30BDEF0D}"/>
              </a:ext>
            </a:extLst>
          </p:cNvPr>
          <p:cNvSpPr txBox="1"/>
          <p:nvPr/>
        </p:nvSpPr>
        <p:spPr>
          <a:xfrm>
            <a:off x="1540727" y="3429000"/>
            <a:ext cx="9144000" cy="3257174"/>
          </a:xfrm>
          <a:prstGeom prst="rect">
            <a:avLst/>
          </a:prstGeom>
          <a:noFill/>
        </p:spPr>
        <p:txBody>
          <a:bodyPr wrap="square" rtlCol="0">
            <a:spAutoFit/>
          </a:bodyPr>
          <a:lstStyle/>
          <a:p>
            <a:pPr marL="385763" marR="0" lvl="0" indent="-385763" algn="l" defTabSz="685800" rtl="0" eaLnBrk="0" fontAlgn="base" latinLnBrk="0" hangingPunct="0">
              <a:lnSpc>
                <a:spcPct val="150000"/>
              </a:lnSpc>
              <a:spcBef>
                <a:spcPct val="0"/>
              </a:spcBef>
              <a:spcAft>
                <a:spcPct val="0"/>
              </a:spcAft>
              <a:buClrTx/>
              <a:buSzTx/>
              <a:buFont typeface="+mj-lt"/>
              <a:buAutoNum type="arabicPeriod"/>
              <a:tabLst/>
              <a:defRPr/>
            </a:pPr>
            <a:r>
              <a:rPr kumimoji="0" lang="en-US" altLang="en-US" sz="28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rPr>
              <a:t>Live during class</a:t>
            </a:r>
            <a:r>
              <a:rPr kumimoji="0" lang="en-US" altLang="en-US" sz="2800" b="0"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rPr>
              <a:t> – Ask directly during sessions.</a:t>
            </a:r>
          </a:p>
          <a:p>
            <a:pPr marL="385763" marR="0" lvl="0" indent="-385763" algn="l" defTabSz="685800" rtl="0" eaLnBrk="0" fontAlgn="base" latinLnBrk="0" hangingPunct="0">
              <a:lnSpc>
                <a:spcPct val="150000"/>
              </a:lnSpc>
              <a:spcBef>
                <a:spcPct val="0"/>
              </a:spcBef>
              <a:spcAft>
                <a:spcPct val="0"/>
              </a:spcAft>
              <a:buClrTx/>
              <a:buSzTx/>
              <a:buFont typeface="+mj-lt"/>
              <a:buAutoNum type="arabicPeriod"/>
              <a:tabLst/>
              <a:defRPr/>
            </a:pPr>
            <a:r>
              <a:rPr kumimoji="0" lang="en-US" altLang="en-US" sz="28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rPr>
              <a:t>Blackboard Inbox</a:t>
            </a:r>
            <a:r>
              <a:rPr kumimoji="0" lang="en-US" altLang="en-US" sz="2800" b="0"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rPr>
              <a:t> – For structured academic queries.</a:t>
            </a:r>
          </a:p>
          <a:p>
            <a:pPr marL="385763" marR="0" lvl="0" indent="-385763" algn="l" defTabSz="685800" rtl="0" eaLnBrk="0" fontAlgn="base" latinLnBrk="0" hangingPunct="0">
              <a:lnSpc>
                <a:spcPct val="150000"/>
              </a:lnSpc>
              <a:spcBef>
                <a:spcPct val="0"/>
              </a:spcBef>
              <a:spcAft>
                <a:spcPct val="0"/>
              </a:spcAft>
              <a:buClrTx/>
              <a:buSzTx/>
              <a:buFont typeface="+mj-lt"/>
              <a:buAutoNum type="arabicPeriod"/>
              <a:tabLst/>
              <a:defRPr/>
            </a:pPr>
            <a:r>
              <a:rPr kumimoji="0" lang="en-US" altLang="en-US" sz="28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rPr>
              <a:t>Email</a:t>
            </a:r>
            <a:r>
              <a:rPr kumimoji="0" lang="en-US" altLang="en-US" sz="2800" b="0"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rPr>
              <a:t> – For formal communications or attachments.</a:t>
            </a:r>
          </a:p>
          <a:p>
            <a:pPr marL="385763" marR="0" lvl="0" indent="-385763" algn="l" defTabSz="685800" rtl="0" eaLnBrk="0" fontAlgn="base" latinLnBrk="0" hangingPunct="0">
              <a:lnSpc>
                <a:spcPct val="150000"/>
              </a:lnSpc>
              <a:spcBef>
                <a:spcPct val="0"/>
              </a:spcBef>
              <a:spcAft>
                <a:spcPct val="0"/>
              </a:spcAft>
              <a:buClrTx/>
              <a:buSzTx/>
              <a:buFont typeface="+mj-lt"/>
              <a:buAutoNum type="arabicPeriod"/>
              <a:tabLst/>
              <a:defRPr/>
            </a:pPr>
            <a:r>
              <a:rPr kumimoji="0" lang="en-US" altLang="en-US" sz="28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rPr>
              <a:t>Discussion Forum </a:t>
            </a:r>
            <a:r>
              <a:rPr kumimoji="0" lang="en-US" altLang="en-US" sz="2800" b="0"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rPr>
              <a:t>– Everyone can see and learn from your question.</a:t>
            </a:r>
          </a:p>
        </p:txBody>
      </p:sp>
    </p:spTree>
    <p:extLst>
      <p:ext uri="{BB962C8B-B14F-4D97-AF65-F5344CB8AC3E}">
        <p14:creationId xmlns:p14="http://schemas.microsoft.com/office/powerpoint/2010/main" val="2475363991"/>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0C101F-C65F-1D84-0824-C2471518F032}"/>
            </a:ext>
          </a:extLst>
        </p:cNvPr>
        <p:cNvGrpSpPr/>
        <p:nvPr/>
      </p:nvGrpSpPr>
      <p:grpSpPr>
        <a:xfrm>
          <a:off x="0" y="0"/>
          <a:ext cx="0" cy="0"/>
          <a:chOff x="0" y="0"/>
          <a:chExt cx="0" cy="0"/>
        </a:xfrm>
      </p:grpSpPr>
      <p:pic>
        <p:nvPicPr>
          <p:cNvPr id="19" name="Picture 18" descr="Tying a bow in an arrangment of presents">
            <a:extLst>
              <a:ext uri="{FF2B5EF4-FFF2-40B4-BE49-F238E27FC236}">
                <a16:creationId xmlns:a16="http://schemas.microsoft.com/office/drawing/2014/main" id="{E6D721DE-1453-5AA6-9447-209B227E2123}"/>
              </a:ext>
            </a:extLst>
          </p:cNvPr>
          <p:cNvPicPr>
            <a:picLocks noChangeAspect="1"/>
          </p:cNvPicPr>
          <p:nvPr/>
        </p:nvPicPr>
        <p:blipFill rotWithShape="1">
          <a:blip r:embed="rId2"/>
          <a:srcRect l="17081" r="16168" b="-2"/>
          <a:stretch/>
        </p:blipFill>
        <p:spPr>
          <a:xfrm>
            <a:off x="1730930" y="1420349"/>
            <a:ext cx="4306642" cy="4306642"/>
          </a:xfrm>
          <a:custGeom>
            <a:avLst/>
            <a:gdLst/>
            <a:ahLst/>
            <a:cxnLst/>
            <a:rect l="l" t="t" r="r" b="b"/>
            <a:pathLst>
              <a:path w="1838528" h="1838528">
                <a:moveTo>
                  <a:pt x="919264" y="0"/>
                </a:moveTo>
                <a:cubicBezTo>
                  <a:pt x="1426959" y="0"/>
                  <a:pt x="1838528" y="411569"/>
                  <a:pt x="1838528" y="919264"/>
                </a:cubicBezTo>
                <a:cubicBezTo>
                  <a:pt x="1838528" y="1426959"/>
                  <a:pt x="1426959" y="1838528"/>
                  <a:pt x="919264" y="1838528"/>
                </a:cubicBezTo>
                <a:cubicBezTo>
                  <a:pt x="411569" y="1838528"/>
                  <a:pt x="0" y="1426959"/>
                  <a:pt x="0" y="919264"/>
                </a:cubicBezTo>
                <a:cubicBezTo>
                  <a:pt x="0" y="411569"/>
                  <a:pt x="411569" y="0"/>
                  <a:pt x="919264" y="0"/>
                </a:cubicBezTo>
                <a:close/>
              </a:path>
            </a:pathLst>
          </a:custGeom>
        </p:spPr>
      </p:pic>
      <p:sp>
        <p:nvSpPr>
          <p:cNvPr id="3" name="TextBox 2">
            <a:extLst>
              <a:ext uri="{FF2B5EF4-FFF2-40B4-BE49-F238E27FC236}">
                <a16:creationId xmlns:a16="http://schemas.microsoft.com/office/drawing/2014/main" id="{84845029-98A4-9C92-04B4-320B6AFDD1B8}"/>
              </a:ext>
            </a:extLst>
          </p:cNvPr>
          <p:cNvSpPr txBox="1"/>
          <p:nvPr/>
        </p:nvSpPr>
        <p:spPr>
          <a:xfrm>
            <a:off x="6154430" y="1594466"/>
            <a:ext cx="4513571" cy="4543576"/>
          </a:xfrm>
          <a:prstGeom prst="rect">
            <a:avLst/>
          </a:prstGeom>
        </p:spPr>
        <p:txBody>
          <a:bodyPr vert="horz" lIns="68580" tIns="34290" rIns="68580" bIns="34290" rtlCol="0" anchor="t">
            <a:noAutofit/>
          </a:bodyPr>
          <a:lstStyle/>
          <a:p>
            <a:pPr marL="0" marR="0" lvl="0" indent="0" defTabSz="685800" eaLnBrk="1" fontAlgn="auto" latinLnBrk="0" hangingPunct="1">
              <a:lnSpc>
                <a:spcPct val="150000"/>
              </a:lnSpc>
              <a:spcBef>
                <a:spcPts val="0"/>
              </a:spcBef>
              <a:spcAft>
                <a:spcPts val="450"/>
              </a:spcAft>
              <a:buClrTx/>
              <a:buSzTx/>
              <a:buFontTx/>
              <a:buNone/>
              <a:tabLst/>
              <a:defRPr/>
            </a:pPr>
            <a:r>
              <a:rPr kumimoji="0" lang="en-US" sz="2400" b="0" i="0" u="none" strike="noStrike" kern="0" cap="none" spc="-20" normalizeH="0" baseline="0" noProof="0" dirty="0">
                <a:ln>
                  <a:noFill/>
                </a:ln>
                <a:solidFill>
                  <a:sysClr val="windowText" lastClr="000000"/>
                </a:solidFill>
                <a:effectLst/>
                <a:uLnTx/>
                <a:uFillTx/>
                <a:latin typeface="Calibri" panose="020F0502020204030204" pitchFamily="34" charset="0"/>
                <a:cs typeface="Calibri" panose="020F0502020204030204" pitchFamily="34" charset="0"/>
              </a:rPr>
              <a:t>Happy Learning and Bright Futures Ahead!</a:t>
            </a:r>
          </a:p>
          <a:p>
            <a:pPr marL="0" marR="0" lvl="0" indent="0" defTabSz="685800" eaLnBrk="1" fontAlgn="auto" latinLnBrk="0" hangingPunct="1">
              <a:lnSpc>
                <a:spcPct val="150000"/>
              </a:lnSpc>
              <a:spcBef>
                <a:spcPts val="0"/>
              </a:spcBef>
              <a:spcAft>
                <a:spcPts val="450"/>
              </a:spcAft>
              <a:buClrTx/>
              <a:buSzTx/>
              <a:buFontTx/>
              <a:buNone/>
              <a:tabLst/>
              <a:defRPr/>
            </a:pPr>
            <a:r>
              <a:rPr kumimoji="0" lang="en-US" sz="2400" b="1" i="0" u="none" strike="noStrike" kern="1200" cap="none" spc="0" normalizeH="0" baseline="0" noProof="0" dirty="0">
                <a:ln>
                  <a:noFill/>
                </a:ln>
                <a:solidFill>
                  <a:prstClr val="black">
                    <a:alpha val="80000"/>
                  </a:prstClr>
                </a:solidFill>
                <a:effectLst/>
                <a:uLnTx/>
                <a:uFillTx/>
                <a:latin typeface="Calibri" panose="020F0502020204030204" pitchFamily="34" charset="0"/>
                <a:cs typeface="Calibri" panose="020F0502020204030204" pitchFamily="34" charset="0"/>
              </a:rPr>
              <a:t>Stay Connected:</a:t>
            </a:r>
            <a:br>
              <a:rPr kumimoji="0" lang="en-US" sz="2400" b="0" i="0" u="none" strike="noStrike" kern="1200" cap="none" spc="0" normalizeH="0" baseline="0" noProof="0" dirty="0">
                <a:ln>
                  <a:noFill/>
                </a:ln>
                <a:solidFill>
                  <a:prstClr val="black">
                    <a:alpha val="80000"/>
                  </a:prstClr>
                </a:solidFill>
                <a:effectLst/>
                <a:uLnTx/>
                <a:uFillTx/>
                <a:latin typeface="Calibri" panose="020F0502020204030204" pitchFamily="34" charset="0"/>
                <a:cs typeface="Calibri" panose="020F0502020204030204" pitchFamily="34" charset="0"/>
              </a:rPr>
            </a:br>
            <a:r>
              <a:rPr kumimoji="0" lang="en-US" sz="2400" b="0" i="0" u="none" strike="noStrike" kern="1200" cap="none" spc="0" normalizeH="0" baseline="0" noProof="0" dirty="0">
                <a:ln>
                  <a:noFill/>
                </a:ln>
                <a:solidFill>
                  <a:prstClr val="black">
                    <a:alpha val="80000"/>
                  </a:prstClr>
                </a:solidFill>
                <a:effectLst/>
                <a:uLnTx/>
                <a:uFillTx/>
                <a:latin typeface="Calibri" panose="020F0502020204030204" pitchFamily="34" charset="0"/>
                <a:cs typeface="Calibri" panose="020F0502020204030204" pitchFamily="34" charset="0"/>
                <a:hlinkClick r:id="rId3"/>
              </a:rPr>
              <a:t>linkedin.com/in/farshid-keivanian</a:t>
            </a:r>
            <a:r>
              <a:rPr kumimoji="0" lang="en-US" sz="2400" b="0" i="0" u="none" strike="noStrike" kern="1200" cap="none" spc="0" normalizeH="0" baseline="0" noProof="0" dirty="0">
                <a:ln>
                  <a:noFill/>
                </a:ln>
                <a:solidFill>
                  <a:prstClr val="black">
                    <a:alpha val="80000"/>
                  </a:prstClr>
                </a:solidFill>
                <a:effectLst/>
                <a:uLnTx/>
                <a:uFillTx/>
                <a:latin typeface="Calibri" panose="020F0502020204030204" pitchFamily="34" charset="0"/>
                <a:cs typeface="Calibri" panose="020F0502020204030204" pitchFamily="34" charset="0"/>
              </a:rPr>
              <a:t> </a:t>
            </a:r>
            <a:br>
              <a:rPr kumimoji="0" lang="en-US" sz="2400" b="0" i="0" u="none" strike="noStrike" kern="1200" cap="none" spc="0" normalizeH="0" baseline="0" noProof="0" dirty="0">
                <a:ln>
                  <a:noFill/>
                </a:ln>
                <a:solidFill>
                  <a:prstClr val="black">
                    <a:alpha val="80000"/>
                  </a:prstClr>
                </a:solidFill>
                <a:effectLst/>
                <a:uLnTx/>
                <a:uFillTx/>
                <a:latin typeface="Calibri" panose="020F0502020204030204" pitchFamily="34" charset="0"/>
                <a:cs typeface="Calibri" panose="020F0502020204030204" pitchFamily="34" charset="0"/>
              </a:rPr>
            </a:br>
            <a:r>
              <a:rPr kumimoji="0" lang="en-US" sz="2400" b="0" i="0" u="none" strike="noStrike" kern="1200" cap="none" spc="0" normalizeH="0" baseline="0" noProof="0" dirty="0">
                <a:ln>
                  <a:noFill/>
                </a:ln>
                <a:solidFill>
                  <a:prstClr val="black">
                    <a:alpha val="80000"/>
                  </a:prstClr>
                </a:solidFill>
                <a:effectLst/>
                <a:uLnTx/>
                <a:uFillTx/>
                <a:latin typeface="Calibri" panose="020F0502020204030204" pitchFamily="34" charset="0"/>
                <a:cs typeface="Calibri" panose="020F0502020204030204" pitchFamily="34" charset="0"/>
                <a:hlinkClick r:id="rId4"/>
              </a:rPr>
              <a:t>github.com/FarshidKeivanian</a:t>
            </a:r>
            <a:r>
              <a:rPr kumimoji="0" lang="en-US" sz="2400" b="0" i="0" u="none" strike="noStrike" kern="1200" cap="none" spc="0" normalizeH="0" baseline="0" noProof="0" dirty="0">
                <a:ln>
                  <a:noFill/>
                </a:ln>
                <a:solidFill>
                  <a:prstClr val="black">
                    <a:alpha val="80000"/>
                  </a:prstClr>
                </a:solidFill>
                <a:effectLst/>
                <a:uLnTx/>
                <a:uFillTx/>
                <a:latin typeface="Calibri" panose="020F0502020204030204" pitchFamily="34" charset="0"/>
                <a:cs typeface="Calibri" panose="020F0502020204030204" pitchFamily="34" charset="0"/>
              </a:rPr>
              <a:t> </a:t>
            </a:r>
          </a:p>
          <a:p>
            <a:pPr marL="0" marR="0" lvl="0" indent="-171450" algn="l" defTabSz="685800" rtl="0" eaLnBrk="1" fontAlgn="auto" latinLnBrk="0" hangingPunct="1">
              <a:lnSpc>
                <a:spcPct val="150000"/>
              </a:lnSpc>
              <a:spcBef>
                <a:spcPts val="0"/>
              </a:spcBef>
              <a:spcAft>
                <a:spcPts val="450"/>
              </a:spcAft>
              <a:buClrTx/>
              <a:buSzTx/>
              <a:buFont typeface="Arial" panose="020B0604020202020204" pitchFamily="34" charset="0"/>
              <a:buChar char="•"/>
              <a:tabLst/>
              <a:defRPr/>
            </a:pPr>
            <a:r>
              <a:rPr kumimoji="0" lang="en-US" sz="2400" b="0" i="1" u="none" strike="noStrike" kern="1200" cap="none" spc="0" normalizeH="0" baseline="0" noProof="0" dirty="0">
                <a:ln>
                  <a:noFill/>
                </a:ln>
                <a:solidFill>
                  <a:prstClr val="black">
                    <a:alpha val="80000"/>
                  </a:prstClr>
                </a:solidFill>
                <a:effectLst/>
                <a:uLnTx/>
                <a:uFillTx/>
                <a:latin typeface="Calibri" panose="020F0502020204030204" pitchFamily="34" charset="0"/>
                <a:cs typeface="Calibri" panose="020F0502020204030204" pitchFamily="34" charset="0"/>
              </a:rPr>
              <a:t>Education is the most powerful weapon you can use to change the world. </a:t>
            </a:r>
            <a:r>
              <a:rPr kumimoji="0" lang="en-US" sz="2400" b="0" i="0" u="none" strike="noStrike" kern="1200" cap="none" spc="0" normalizeH="0" baseline="0" noProof="0" dirty="0">
                <a:ln>
                  <a:noFill/>
                </a:ln>
                <a:solidFill>
                  <a:prstClr val="black">
                    <a:alpha val="80000"/>
                  </a:prstClr>
                </a:solidFill>
                <a:effectLst/>
                <a:uLnTx/>
                <a:uFillTx/>
                <a:latin typeface="Calibri" panose="020F0502020204030204" pitchFamily="34" charset="0"/>
                <a:cs typeface="Calibri" panose="020F0502020204030204" pitchFamily="34" charset="0"/>
              </a:rPr>
              <a:t>— Nelson Mandela</a:t>
            </a:r>
          </a:p>
        </p:txBody>
      </p:sp>
      <p:sp>
        <p:nvSpPr>
          <p:cNvPr id="2" name="object 2">
            <a:extLst>
              <a:ext uri="{FF2B5EF4-FFF2-40B4-BE49-F238E27FC236}">
                <a16:creationId xmlns:a16="http://schemas.microsoft.com/office/drawing/2014/main" id="{92EB8C87-8395-5CF8-FB02-8B57ECDD50A8}"/>
              </a:ext>
            </a:extLst>
          </p:cNvPr>
          <p:cNvSpPr txBox="1">
            <a:spLocks noGrp="1"/>
          </p:cNvSpPr>
          <p:nvPr>
            <p:ph type="title"/>
          </p:nvPr>
        </p:nvSpPr>
        <p:spPr>
          <a:xfrm>
            <a:off x="2895600" y="-152400"/>
            <a:ext cx="6920865" cy="800732"/>
          </a:xfrm>
          <a:prstGeom prst="rect">
            <a:avLst/>
          </a:prstGeom>
        </p:spPr>
        <p:txBody>
          <a:bodyPr vert="horz" wrap="square" lIns="0" tIns="259588" rIns="0" bIns="0" rtlCol="0">
            <a:spAutoFit/>
          </a:bodyPr>
          <a:lstStyle/>
          <a:p>
            <a:pPr marL="123825">
              <a:spcBef>
                <a:spcPts val="100"/>
              </a:spcBef>
            </a:pPr>
            <a:r>
              <a:rPr lang="en-US" sz="3500" spc="-20" dirty="0">
                <a:solidFill>
                  <a:schemeClr val="bg1"/>
                </a:solidFill>
                <a:latin typeface="Calibri" panose="020F0502020204030204" pitchFamily="34" charset="0"/>
                <a:cs typeface="Calibri" panose="020F0502020204030204" pitchFamily="34" charset="0"/>
              </a:rPr>
              <a:t>Thank You</a:t>
            </a:r>
            <a:endParaRPr sz="3500" spc="-20" dirty="0">
              <a:solidFill>
                <a:schemeClr val="bg1"/>
              </a:solidFill>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238215110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1_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514</TotalTime>
  <Words>5260</Words>
  <Application>Microsoft Office PowerPoint</Application>
  <PresentationFormat>Widescreen</PresentationFormat>
  <Paragraphs>990</Paragraphs>
  <Slides>121</Slides>
  <Notes>0</Notes>
  <HiddenSlides>0</HiddenSlides>
  <MMClips>0</MMClips>
  <ScaleCrop>false</ScaleCrop>
  <HeadingPairs>
    <vt:vector size="6" baseType="variant">
      <vt:variant>
        <vt:lpstr>Fonts Used</vt:lpstr>
      </vt:variant>
      <vt:variant>
        <vt:i4>7</vt:i4>
      </vt:variant>
      <vt:variant>
        <vt:lpstr>Theme</vt:lpstr>
      </vt:variant>
      <vt:variant>
        <vt:i4>2</vt:i4>
      </vt:variant>
      <vt:variant>
        <vt:lpstr>Slide Titles</vt:lpstr>
      </vt:variant>
      <vt:variant>
        <vt:i4>121</vt:i4>
      </vt:variant>
    </vt:vector>
  </HeadingPairs>
  <TitlesOfParts>
    <vt:vector size="130" baseType="lpstr">
      <vt:lpstr>Aptos</vt:lpstr>
      <vt:lpstr>Aptos Display</vt:lpstr>
      <vt:lpstr>Arial</vt:lpstr>
      <vt:lpstr>Calibir</vt:lpstr>
      <vt:lpstr>Calibri</vt:lpstr>
      <vt:lpstr>Consolas</vt:lpstr>
      <vt:lpstr>Tahoma</vt:lpstr>
      <vt:lpstr>Office Theme</vt:lpstr>
      <vt:lpstr>1_Office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Let’s Answer Your Questions</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Farshid Keivanian</dc:creator>
  <cp:lastModifiedBy>Farshid Keivanian</cp:lastModifiedBy>
  <cp:revision>179</cp:revision>
  <dcterms:created xsi:type="dcterms:W3CDTF">2024-04-02T03:16:29Z</dcterms:created>
  <dcterms:modified xsi:type="dcterms:W3CDTF">2026-05-13T21:19:45Z</dcterms:modified>
</cp:coreProperties>
</file>
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7"/>
  </p:notesMasterIdLst>
  <p:sldIdLst>
    <p:sldId id="287" r:id="rId3"/>
    <p:sldId id="323" r:id="rId4"/>
    <p:sldId id="353" r:id="rId5"/>
    <p:sldId id="356" r:id="rId6"/>
    <p:sldId id="354" r:id="rId7"/>
    <p:sldId id="355" r:id="rId8"/>
    <p:sldId id="357" r:id="rId9"/>
    <p:sldId id="358" r:id="rId10"/>
    <p:sldId id="1851" r:id="rId11"/>
    <p:sldId id="1852" r:id="rId12"/>
    <p:sldId id="1853" r:id="rId13"/>
    <p:sldId id="1854" r:id="rId14"/>
    <p:sldId id="1855" r:id="rId15"/>
    <p:sldId id="1856" r:id="rId16"/>
    <p:sldId id="1857" r:id="rId17"/>
    <p:sldId id="1858" r:id="rId18"/>
    <p:sldId id="1859" r:id="rId19"/>
    <p:sldId id="1860" r:id="rId20"/>
    <p:sldId id="1861" r:id="rId21"/>
    <p:sldId id="1862" r:id="rId22"/>
    <p:sldId id="1863" r:id="rId23"/>
    <p:sldId id="1864" r:id="rId24"/>
    <p:sldId id="1865" r:id="rId25"/>
    <p:sldId id="1866" r:id="rId26"/>
    <p:sldId id="1867" r:id="rId27"/>
    <p:sldId id="1868" r:id="rId28"/>
    <p:sldId id="1869" r:id="rId29"/>
    <p:sldId id="1870" r:id="rId30"/>
    <p:sldId id="1871" r:id="rId31"/>
    <p:sldId id="1872" r:id="rId32"/>
    <p:sldId id="1873" r:id="rId33"/>
    <p:sldId id="1874" r:id="rId34"/>
    <p:sldId id="1875" r:id="rId35"/>
    <p:sldId id="1876" r:id="rId36"/>
    <p:sldId id="1877" r:id="rId37"/>
    <p:sldId id="359" r:id="rId38"/>
    <p:sldId id="361" r:id="rId39"/>
    <p:sldId id="362" r:id="rId40"/>
    <p:sldId id="363" r:id="rId41"/>
    <p:sldId id="364" r:id="rId42"/>
    <p:sldId id="365"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5" r:id="rId59"/>
    <p:sldId id="386" r:id="rId60"/>
    <p:sldId id="387" r:id="rId61"/>
    <p:sldId id="388" r:id="rId62"/>
    <p:sldId id="389"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1898" r:id="rId77"/>
    <p:sldId id="1884" r:id="rId78"/>
    <p:sldId id="1893" r:id="rId79"/>
    <p:sldId id="1879" r:id="rId80"/>
    <p:sldId id="1894" r:id="rId81"/>
    <p:sldId id="1880" r:id="rId82"/>
    <p:sldId id="1881" r:id="rId83"/>
    <p:sldId id="1895" r:id="rId84"/>
    <p:sldId id="1882" r:id="rId85"/>
    <p:sldId id="1896" r:id="rId86"/>
    <p:sldId id="1883" r:id="rId87"/>
    <p:sldId id="1897" r:id="rId88"/>
    <p:sldId id="1885" r:id="rId89"/>
    <p:sldId id="1886" r:id="rId90"/>
    <p:sldId id="1887" r:id="rId91"/>
    <p:sldId id="1888" r:id="rId92"/>
    <p:sldId id="1889" r:id="rId93"/>
    <p:sldId id="1890" r:id="rId94"/>
    <p:sldId id="1891" r:id="rId95"/>
    <p:sldId id="1892" r:id="rId96"/>
    <p:sldId id="333" r:id="rId97"/>
    <p:sldId id="334" r:id="rId98"/>
    <p:sldId id="335" r:id="rId99"/>
    <p:sldId id="336" r:id="rId100"/>
    <p:sldId id="1878" r:id="rId101"/>
    <p:sldId id="337" r:id="rId102"/>
    <p:sldId id="338" r:id="rId103"/>
    <p:sldId id="329" r:id="rId104"/>
    <p:sldId id="330" r:id="rId105"/>
    <p:sldId id="331" r:id="rId106"/>
    <p:sldId id="332" r:id="rId107"/>
    <p:sldId id="324" r:id="rId108"/>
    <p:sldId id="340" r:id="rId109"/>
    <p:sldId id="341" r:id="rId110"/>
    <p:sldId id="342" r:id="rId111"/>
    <p:sldId id="344" r:id="rId112"/>
    <p:sldId id="348" r:id="rId113"/>
    <p:sldId id="349" r:id="rId114"/>
    <p:sldId id="345" r:id="rId115"/>
    <p:sldId id="346" r:id="rId116"/>
    <p:sldId id="347" r:id="rId117"/>
    <p:sldId id="352" r:id="rId118"/>
    <p:sldId id="1899" r:id="rId119"/>
    <p:sldId id="1900" r:id="rId120"/>
    <p:sldId id="1901" r:id="rId121"/>
    <p:sldId id="1902" r:id="rId122"/>
    <p:sldId id="1903" r:id="rId123"/>
    <p:sldId id="1904" r:id="rId124"/>
    <p:sldId id="1905" r:id="rId125"/>
    <p:sldId id="1906" r:id="rId126"/>
    <p:sldId id="1907" r:id="rId127"/>
    <p:sldId id="1908" r:id="rId128"/>
    <p:sldId id="1909" r:id="rId129"/>
    <p:sldId id="1910" r:id="rId130"/>
    <p:sldId id="1911" r:id="rId131"/>
    <p:sldId id="1912" r:id="rId132"/>
    <p:sldId id="1913" r:id="rId133"/>
    <p:sldId id="1914" r:id="rId134"/>
    <p:sldId id="1915" r:id="rId135"/>
    <p:sldId id="1916" r:id="rId136"/>
    <p:sldId id="1917" r:id="rId137"/>
    <p:sldId id="1918" r:id="rId138"/>
    <p:sldId id="1919" r:id="rId139"/>
    <p:sldId id="1920" r:id="rId140"/>
    <p:sldId id="1921" r:id="rId141"/>
    <p:sldId id="1922" r:id="rId142"/>
    <p:sldId id="1923" r:id="rId143"/>
    <p:sldId id="1924" r:id="rId144"/>
    <p:sldId id="1925" r:id="rId145"/>
    <p:sldId id="1926" r:id="rId146"/>
    <p:sldId id="1927" r:id="rId147"/>
    <p:sldId id="1928" r:id="rId148"/>
    <p:sldId id="1929" r:id="rId149"/>
    <p:sldId id="1930" r:id="rId150"/>
    <p:sldId id="1931" r:id="rId151"/>
    <p:sldId id="1932" r:id="rId152"/>
    <p:sldId id="1933" r:id="rId153"/>
    <p:sldId id="1934" r:id="rId154"/>
    <p:sldId id="1935" r:id="rId155"/>
    <p:sldId id="1936" r:id="rId156"/>
    <p:sldId id="1937" r:id="rId157"/>
    <p:sldId id="1938" r:id="rId158"/>
    <p:sldId id="1939" r:id="rId159"/>
    <p:sldId id="1940" r:id="rId160"/>
    <p:sldId id="1941" r:id="rId161"/>
    <p:sldId id="1942" r:id="rId162"/>
    <p:sldId id="1943" r:id="rId163"/>
    <p:sldId id="1944" r:id="rId164"/>
    <p:sldId id="1817" r:id="rId165"/>
    <p:sldId id="1850" r:id="rId1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7" autoAdjust="0"/>
    <p:restoredTop sz="94660"/>
  </p:normalViewPr>
  <p:slideViewPr>
    <p:cSldViewPr snapToGrid="0">
      <p:cViewPr varScale="1">
        <p:scale>
          <a:sx n="107" d="100"/>
          <a:sy n="107" d="100"/>
        </p:scale>
        <p:origin x="46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theme" Target="theme/theme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tableStyles" Target="tableStyle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1EC19-7E08-40F0-ACF2-22F660FC7C40}" type="datetimeFigureOut">
              <a:rPr lang="en-AU" smtClean="0"/>
              <a:t>15/05/2026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BD98D-E85B-4601-A77C-B7964013730D}" type="slidenum">
              <a:rPr lang="en-AU" smtClean="0"/>
              <a:t>‹#›</a:t>
            </a:fld>
            <a:endParaRPr lang="en-AU"/>
          </a:p>
        </p:txBody>
      </p:sp>
    </p:spTree>
    <p:extLst>
      <p:ext uri="{BB962C8B-B14F-4D97-AF65-F5344CB8AC3E}">
        <p14:creationId xmlns:p14="http://schemas.microsoft.com/office/powerpoint/2010/main" val="36971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6C70-B768-65B1-6556-96BF184E4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5F93E1-16D1-D364-FDE1-F5C43AA28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CB9E7BB-4707-201F-EE06-A48A12D48944}"/>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64A58FB7-C93E-81F6-2E41-0C2CEE839C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5B1B3D-3648-BA5A-F1E8-F3576B98545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9599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B4AE-322D-B6C3-A1DE-738FD7ED34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99D54C3-19F9-02AD-025C-69DD9166D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A2C77A-6A88-8738-8A39-76BAC476ADD6}"/>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57019BD3-F1D6-5FE6-72A9-07F9F9DB2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632BB2-ED4D-4A8C-20BA-C64F1C360C7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6908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EACA-7AAE-C32F-ACC2-3D8D45E23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41DE1E7-6228-8F00-4C8C-49BCF562ED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B1251-888D-5407-DE40-24E0B5666EAD}"/>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1CDD5024-26A5-9A9C-921F-4553B2F00B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3B14B6-C9EC-FC5A-AFAB-8BAA369AC61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64319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5A3B-F871-EAB2-E4CA-F479C9EFA4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592C35-B8A5-0F3E-E963-C2D19DB882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3940B5-8BCA-4EF3-185B-F0CF288E5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717141-9800-0D1B-F4A8-EC0024210BC9}"/>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6" name="Footer Placeholder 5">
            <a:extLst>
              <a:ext uri="{FF2B5EF4-FFF2-40B4-BE49-F238E27FC236}">
                <a16:creationId xmlns:a16="http://schemas.microsoft.com/office/drawing/2014/main" id="{F4C73B31-82FC-930B-CBCE-6402904919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455AE7-9072-1FF9-7749-898A9ED13F41}"/>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398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3EF-EF8F-F539-964B-C4820289D46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8393D2D-46D0-C65F-3CD4-8CA1DC156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504EA2-A069-2AB5-BE4D-5A9531F1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1DD3DA3-5E8A-468F-D96D-DEF4FCA9D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753A7-BCB6-8494-67C4-A2DE23125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96EAE1E-45A7-184F-1859-0151A0F6F174}"/>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8" name="Footer Placeholder 7">
            <a:extLst>
              <a:ext uri="{FF2B5EF4-FFF2-40B4-BE49-F238E27FC236}">
                <a16:creationId xmlns:a16="http://schemas.microsoft.com/office/drawing/2014/main" id="{CBE74A07-DECC-AF4C-A1B9-945896FF614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2B7527C-A026-733A-81F8-612A3672D2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80729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8692-6A66-A81A-F64D-252A01D72B5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205C8B-6899-F7CD-218F-53B25A8C28A2}"/>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4" name="Footer Placeholder 3">
            <a:extLst>
              <a:ext uri="{FF2B5EF4-FFF2-40B4-BE49-F238E27FC236}">
                <a16:creationId xmlns:a16="http://schemas.microsoft.com/office/drawing/2014/main" id="{BC578AB9-14B5-81D7-6DB2-7A92246ECE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BE25876-36CF-424C-ABB5-B54C23E4EACF}"/>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245458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8F218-7BAB-6440-4B90-DD84170B86C6}"/>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3" name="Footer Placeholder 2">
            <a:extLst>
              <a:ext uri="{FF2B5EF4-FFF2-40B4-BE49-F238E27FC236}">
                <a16:creationId xmlns:a16="http://schemas.microsoft.com/office/drawing/2014/main" id="{98B0DA65-2C36-C5F9-E815-493215A422A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990D7-0136-D22F-360A-B252C724BC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2072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82E2-A10E-6ABD-55B7-3CF2BB17A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8AFB820-3B67-54EE-9204-21E91A5B6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C38F663-644F-F023-2E42-582EF5E9C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E879A-8E01-B66D-0599-3AC685A7BBDA}"/>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6" name="Footer Placeholder 5">
            <a:extLst>
              <a:ext uri="{FF2B5EF4-FFF2-40B4-BE49-F238E27FC236}">
                <a16:creationId xmlns:a16="http://schemas.microsoft.com/office/drawing/2014/main" id="{675E3D63-660A-D02B-96B2-4D753F7C06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9EB7DC-A1C1-DBE0-4D1D-DC8818D620F3}"/>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86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59C-D9F3-8D06-AD72-B0ACFEC8A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451E33A-D236-7697-03E8-F0AB97BD5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47BB688-BC97-FCC2-C6B6-4BF70D29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F0714-9BF9-CEE3-2D93-A2D3000B4FBE}"/>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6" name="Footer Placeholder 5">
            <a:extLst>
              <a:ext uri="{FF2B5EF4-FFF2-40B4-BE49-F238E27FC236}">
                <a16:creationId xmlns:a16="http://schemas.microsoft.com/office/drawing/2014/main" id="{22D2D7F7-5B88-507C-DE4C-730E04E87A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E44157-7A04-856B-4C28-125F1006953A}"/>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4831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5458-5F73-9470-8CAE-2E81515E08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69212-ADB1-50EC-5CEA-45FC69553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DE07B7-9900-254A-5FCC-8FA7A36E9CDC}"/>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1462B5A4-5993-85D1-5468-04356E670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76EC13-E83E-ED79-64A4-4003E3E1652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03171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3886C-B88F-C1C9-1FB1-F136ADFDB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7E0EB-AE17-BE86-7C82-F2CA8993E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DDFC22-96DC-6854-A720-1925CC85A54A}"/>
              </a:ext>
            </a:extLst>
          </p:cNvPr>
          <p:cNvSpPr>
            <a:spLocks noGrp="1"/>
          </p:cNvSpPr>
          <p:nvPr>
            <p:ph type="dt" sz="half" idx="10"/>
          </p:nvPr>
        </p:nvSpPr>
        <p:spPr/>
        <p:txBody>
          <a:body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FC091287-7765-7759-35E1-6830A960FA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AECDA5-B452-46B1-123F-041BF41F130E}"/>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90216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1647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7253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69160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02120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39626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5/15/2026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79963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6B418-3ADB-3D52-362F-EF8EB606C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F0B803-0FBE-9FD0-EA3C-E4F9B70AE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6BA73C-3BBF-5A39-4403-330159E2A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6F693-4807-4ACB-9866-42E633ECA663}" type="datetimeFigureOut">
              <a:rPr lang="en-AU" smtClean="0"/>
              <a:t>15/05/2026</a:t>
            </a:fld>
            <a:endParaRPr lang="en-AU"/>
          </a:p>
        </p:txBody>
      </p:sp>
      <p:sp>
        <p:nvSpPr>
          <p:cNvPr id="5" name="Footer Placeholder 4">
            <a:extLst>
              <a:ext uri="{FF2B5EF4-FFF2-40B4-BE49-F238E27FC236}">
                <a16:creationId xmlns:a16="http://schemas.microsoft.com/office/drawing/2014/main" id="{A569C9B0-90EA-F790-C481-782B3C03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2F78BE7-9EF2-8115-D3BF-53CF0589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F9DD6F-E86F-40A2-88B8-DD3E2998C092}" type="slidenum">
              <a:rPr lang="en-AU" smtClean="0"/>
              <a:t>‹#›</a:t>
            </a:fld>
            <a:endParaRPr lang="en-AU"/>
          </a:p>
        </p:txBody>
      </p:sp>
    </p:spTree>
    <p:extLst>
      <p:ext uri="{BB962C8B-B14F-4D97-AF65-F5344CB8AC3E}">
        <p14:creationId xmlns:p14="http://schemas.microsoft.com/office/powerpoint/2010/main" val="280653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947620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FarshidKeivanian/Sessions_Web_Development_HTML_CSS_Javascript_PHP" TargetMode="Externa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hyperlink" Target="https://infinityfree.net/" TargetMode="Externa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hyperlink" Target="https://forum.infinityfree.com/" TargetMode="Externa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turbify.com/" TargetMode="Externa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odaddy.com/en-au" TargetMode="Externa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hostgator.com/" TargetMode="Externa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consumer-rankings.com/hosting/?a=148&amp;c=2968&amp;s1=76537702.78231060&amp;vn=nrd3-nbf&amp;ls=g&amp;gclid=CM-8u8fezcECFZeFaQodw3YANA" TargetMode="Externa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31.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1" y="838200"/>
            <a:ext cx="5954988" cy="4876800"/>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latin typeface="Calibir"/>
                <a:ea typeface="+mj-ea"/>
                <a:cs typeface="+mj-cs"/>
              </a:rPr>
              <a:t>HS1021: Web Design</a:t>
            </a:r>
            <a:br>
              <a:rPr lang="en-US" sz="3800" b="1" dirty="0">
                <a:latin typeface="Calibir"/>
                <a:ea typeface="+mj-ea"/>
                <a:cs typeface="+mj-cs"/>
              </a:rPr>
            </a:b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Student Success Guide and Weeks 2 – 3 Tutorial, Lab 1 Test &amp; Online Test 1 Practice</a:t>
            </a:r>
          </a:p>
          <a:p>
            <a:pPr algn="ctr">
              <a:lnSpc>
                <a:spcPct val="90000"/>
              </a:lnSpc>
              <a:spcBef>
                <a:spcPct val="0"/>
              </a:spcBef>
              <a:spcAft>
                <a:spcPts val="338"/>
              </a:spcAft>
            </a:pP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Unit Overview</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2678ED34-D285-00F9-8D5F-BECDB3D9F256}"/>
              </a:ext>
            </a:extLst>
          </p:cNvPr>
          <p:cNvSpPr txBox="1"/>
          <p:nvPr/>
        </p:nvSpPr>
        <p:spPr>
          <a:xfrm>
            <a:off x="207579" y="1938084"/>
            <a:ext cx="11290737" cy="3903504"/>
          </a:xfrm>
          <a:prstGeom prst="rect">
            <a:avLst/>
          </a:prstGeom>
          <a:noFill/>
        </p:spPr>
        <p:txBody>
          <a:bodyPr wrap="square">
            <a:spAutoFit/>
          </a:bodyPr>
          <a:lstStyle/>
          <a:p>
            <a:pPr>
              <a:lnSpc>
                <a:spcPct val="150000"/>
              </a:lnSpc>
            </a:pPr>
            <a:r>
              <a:rPr lang="en-US" sz="2800" dirty="0">
                <a:latin typeface="Calibir"/>
              </a:rPr>
              <a:t>Web Design | Week 8–13 (Regular Term) / Intensive Mode Week 1–6</a:t>
            </a:r>
            <a:br>
              <a:rPr lang="en-US" sz="2800" dirty="0">
                <a:latin typeface="Calibir"/>
              </a:rPr>
            </a:br>
            <a:r>
              <a:rPr lang="en-US" sz="2800" dirty="0">
                <a:latin typeface="Calibir"/>
              </a:rPr>
              <a:t>Lecturer: Dr. Farshid Keivanian</a:t>
            </a:r>
            <a:br>
              <a:rPr lang="en-US" sz="2800" dirty="0">
                <a:latin typeface="Calibir"/>
              </a:rPr>
            </a:br>
            <a:r>
              <a:rPr lang="en-US" sz="2800" dirty="0">
                <a:latin typeface="Calibir"/>
              </a:rPr>
              <a:t>Class Location: Lab Level 10</a:t>
            </a:r>
            <a:br>
              <a:rPr lang="en-US" sz="2800" dirty="0">
                <a:latin typeface="Calibir"/>
              </a:rPr>
            </a:br>
            <a:r>
              <a:rPr lang="en-US" sz="2800" dirty="0">
                <a:latin typeface="Calibir"/>
              </a:rPr>
              <a:t>Thursdays: 3-5 PM</a:t>
            </a:r>
            <a:br>
              <a:rPr lang="en-US" sz="2800" dirty="0">
                <a:latin typeface="Calibir"/>
              </a:rPr>
            </a:br>
            <a:r>
              <a:rPr lang="en-US" sz="2800" dirty="0">
                <a:latin typeface="Calibir"/>
              </a:rPr>
              <a:t>Fridays: 3-5 PM</a:t>
            </a:r>
            <a:br>
              <a:rPr lang="en-US" sz="2800" dirty="0">
                <a:latin typeface="Calibir"/>
              </a:rPr>
            </a:br>
            <a:r>
              <a:rPr lang="en-US" sz="2800" dirty="0">
                <a:latin typeface="Calibir"/>
              </a:rPr>
              <a:t>(Only 15 May Friday and 29 May Friday starts at ~ 3:15 PM)</a:t>
            </a:r>
          </a:p>
        </p:txBody>
      </p:sp>
    </p:spTree>
    <p:extLst>
      <p:ext uri="{BB962C8B-B14F-4D97-AF65-F5344CB8AC3E}">
        <p14:creationId xmlns:p14="http://schemas.microsoft.com/office/powerpoint/2010/main" val="186277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F2D21-0D41-8ECD-17D9-66F9305C9E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B26AF3-A105-FF5A-4887-18B4621789E2}"/>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Unit Overview</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1F6181E0-1B70-79D5-4C69-220DD282ADBD}"/>
              </a:ext>
            </a:extLst>
          </p:cNvPr>
          <p:cNvSpPr txBox="1"/>
          <p:nvPr/>
        </p:nvSpPr>
        <p:spPr>
          <a:xfrm>
            <a:off x="0" y="584775"/>
            <a:ext cx="11290737" cy="5842497"/>
          </a:xfrm>
          <a:prstGeom prst="rect">
            <a:avLst/>
          </a:prstGeom>
          <a:noFill/>
        </p:spPr>
        <p:txBody>
          <a:bodyPr wrap="square">
            <a:spAutoFit/>
          </a:bodyPr>
          <a:lstStyle/>
          <a:p>
            <a:pPr>
              <a:lnSpc>
                <a:spcPct val="150000"/>
              </a:lnSpc>
            </a:pPr>
            <a:r>
              <a:rPr lang="en-US" sz="2800" dirty="0">
                <a:latin typeface="Calibir"/>
              </a:rPr>
              <a:t>Welcome to HS1021 Web Design.</a:t>
            </a:r>
          </a:p>
          <a:p>
            <a:pPr>
              <a:lnSpc>
                <a:spcPct val="150000"/>
              </a:lnSpc>
            </a:pPr>
            <a:r>
              <a:rPr lang="en-US" sz="2800" dirty="0">
                <a:latin typeface="Calibir"/>
              </a:rPr>
              <a:t>This unit teaches you how websites work, how to design professional webpages, and how to create websites using HTML5 and CSS.</a:t>
            </a:r>
          </a:p>
          <a:p>
            <a:pPr>
              <a:lnSpc>
                <a:spcPct val="150000"/>
              </a:lnSpc>
            </a:pPr>
            <a:r>
              <a:rPr lang="en-US" sz="2800" dirty="0">
                <a:latin typeface="Calibir"/>
              </a:rPr>
              <a:t>You will learn:</a:t>
            </a:r>
          </a:p>
          <a:p>
            <a:pPr marL="811213" indent="-457200">
              <a:lnSpc>
                <a:spcPct val="150000"/>
              </a:lnSpc>
              <a:buFont typeface="Arial" panose="020B0604020202020204" pitchFamily="34" charset="0"/>
              <a:buChar char="•"/>
            </a:pPr>
            <a:r>
              <a:rPr lang="en-US" sz="2800" dirty="0">
                <a:latin typeface="Calibir"/>
              </a:rPr>
              <a:t>How the Internet and websites work </a:t>
            </a:r>
          </a:p>
          <a:p>
            <a:pPr marL="811213" indent="-457200">
              <a:lnSpc>
                <a:spcPct val="150000"/>
              </a:lnSpc>
              <a:buFont typeface="Arial" panose="020B0604020202020204" pitchFamily="34" charset="0"/>
              <a:buChar char="•"/>
            </a:pPr>
            <a:r>
              <a:rPr lang="en-US" sz="2800" dirty="0">
                <a:latin typeface="Calibir"/>
              </a:rPr>
              <a:t>Website planning and structure </a:t>
            </a:r>
          </a:p>
          <a:p>
            <a:pPr marL="811213" indent="-457200">
              <a:lnSpc>
                <a:spcPct val="150000"/>
              </a:lnSpc>
              <a:buFont typeface="Arial" panose="020B0604020202020204" pitchFamily="34" charset="0"/>
              <a:buChar char="•"/>
            </a:pPr>
            <a:r>
              <a:rPr lang="en-US" sz="2800" dirty="0">
                <a:latin typeface="Calibir"/>
              </a:rPr>
              <a:t>HTML5 webpage creation </a:t>
            </a:r>
          </a:p>
          <a:p>
            <a:pPr marL="811213" indent="-457200">
              <a:lnSpc>
                <a:spcPct val="150000"/>
              </a:lnSpc>
              <a:buFont typeface="Arial" panose="020B0604020202020204" pitchFamily="34" charset="0"/>
              <a:buChar char="•"/>
            </a:pPr>
            <a:r>
              <a:rPr lang="en-US" sz="2800" dirty="0">
                <a:latin typeface="Calibir"/>
              </a:rPr>
              <a:t>CSS styling and layouts </a:t>
            </a:r>
          </a:p>
          <a:p>
            <a:pPr marL="811213" indent="-457200">
              <a:lnSpc>
                <a:spcPct val="150000"/>
              </a:lnSpc>
              <a:buFont typeface="Arial" panose="020B0604020202020204" pitchFamily="34" charset="0"/>
              <a:buChar char="•"/>
            </a:pPr>
            <a:r>
              <a:rPr lang="en-US" sz="2800" dirty="0">
                <a:latin typeface="Calibir"/>
              </a:rPr>
              <a:t>Links, images, lists, and navigation</a:t>
            </a:r>
          </a:p>
        </p:txBody>
      </p:sp>
    </p:spTree>
    <p:extLst>
      <p:ext uri="{BB962C8B-B14F-4D97-AF65-F5344CB8AC3E}">
        <p14:creationId xmlns:p14="http://schemas.microsoft.com/office/powerpoint/2010/main" val="196501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349D1-E47B-A349-8CCA-557BE84125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9794DD-30AF-26AC-A5FC-0D08C2484C0F}"/>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Unit Overview</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CC60785-C042-B3FE-312A-9A46609E6B73}"/>
              </a:ext>
            </a:extLst>
          </p:cNvPr>
          <p:cNvSpPr txBox="1"/>
          <p:nvPr/>
        </p:nvSpPr>
        <p:spPr>
          <a:xfrm>
            <a:off x="0" y="584775"/>
            <a:ext cx="11290737" cy="3257174"/>
          </a:xfrm>
          <a:prstGeom prst="rect">
            <a:avLst/>
          </a:prstGeom>
          <a:noFill/>
        </p:spPr>
        <p:txBody>
          <a:bodyPr wrap="square">
            <a:spAutoFit/>
          </a:bodyPr>
          <a:lstStyle/>
          <a:p>
            <a:pPr>
              <a:lnSpc>
                <a:spcPct val="150000"/>
              </a:lnSpc>
            </a:pPr>
            <a:r>
              <a:rPr lang="en-US" sz="2800" dirty="0">
                <a:latin typeface="Calibir"/>
              </a:rPr>
              <a:t>This unit is very practical. Success comes from:</a:t>
            </a:r>
          </a:p>
          <a:p>
            <a:pPr marL="914400" lvl="1" indent="-457200">
              <a:lnSpc>
                <a:spcPct val="150000"/>
              </a:lnSpc>
              <a:buFont typeface="Arial" panose="020B0604020202020204" pitchFamily="34" charset="0"/>
              <a:buChar char="•"/>
            </a:pPr>
            <a:r>
              <a:rPr lang="en-US" sz="2800" dirty="0">
                <a:latin typeface="Calibir"/>
              </a:rPr>
              <a:t>attending classes, </a:t>
            </a:r>
          </a:p>
          <a:p>
            <a:pPr marL="914400" lvl="1" indent="-457200">
              <a:lnSpc>
                <a:spcPct val="150000"/>
              </a:lnSpc>
              <a:buFont typeface="Arial" panose="020B0604020202020204" pitchFamily="34" charset="0"/>
              <a:buChar char="•"/>
            </a:pPr>
            <a:r>
              <a:rPr lang="en-US" sz="2800" dirty="0" err="1">
                <a:latin typeface="Calibir"/>
              </a:rPr>
              <a:t>practising</a:t>
            </a:r>
            <a:r>
              <a:rPr lang="en-US" sz="2800" dirty="0">
                <a:latin typeface="Calibir"/>
              </a:rPr>
              <a:t> coding regularly, </a:t>
            </a:r>
          </a:p>
          <a:p>
            <a:pPr marL="914400" lvl="1" indent="-457200">
              <a:lnSpc>
                <a:spcPct val="150000"/>
              </a:lnSpc>
              <a:buFont typeface="Arial" panose="020B0604020202020204" pitchFamily="34" charset="0"/>
              <a:buChar char="•"/>
            </a:pPr>
            <a:r>
              <a:rPr lang="en-US" sz="2800" dirty="0">
                <a:latin typeface="Calibir"/>
              </a:rPr>
              <a:t>completing weekly tutorials, </a:t>
            </a:r>
          </a:p>
          <a:p>
            <a:pPr marL="914400" lvl="1" indent="-457200">
              <a:lnSpc>
                <a:spcPct val="150000"/>
              </a:lnSpc>
              <a:buFont typeface="Arial" panose="020B0604020202020204" pitchFamily="34" charset="0"/>
              <a:buChar char="•"/>
            </a:pPr>
            <a:r>
              <a:rPr lang="en-US" sz="2800" dirty="0">
                <a:latin typeface="Calibir"/>
              </a:rPr>
              <a:t>and building webpages every week.</a:t>
            </a:r>
          </a:p>
        </p:txBody>
      </p:sp>
    </p:spTree>
    <p:extLst>
      <p:ext uri="{BB962C8B-B14F-4D97-AF65-F5344CB8AC3E}">
        <p14:creationId xmlns:p14="http://schemas.microsoft.com/office/powerpoint/2010/main" val="3957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D8FF-874B-9C36-3079-3AE047CC80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765713-6F1D-2FBD-293E-1782BD1957FD}"/>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Unit Overview</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A163BC4F-98E0-2312-BD35-73195596A0F6}"/>
              </a:ext>
            </a:extLst>
          </p:cNvPr>
          <p:cNvSpPr txBox="1"/>
          <p:nvPr/>
        </p:nvSpPr>
        <p:spPr>
          <a:xfrm>
            <a:off x="0" y="584775"/>
            <a:ext cx="11290737" cy="3257174"/>
          </a:xfrm>
          <a:prstGeom prst="rect">
            <a:avLst/>
          </a:prstGeom>
          <a:noFill/>
        </p:spPr>
        <p:txBody>
          <a:bodyPr wrap="square">
            <a:spAutoFit/>
          </a:bodyPr>
          <a:lstStyle/>
          <a:p>
            <a:pPr marL="811213" indent="-457200">
              <a:lnSpc>
                <a:spcPct val="150000"/>
              </a:lnSpc>
              <a:buFont typeface="Arial" panose="020B0604020202020204" pitchFamily="34" charset="0"/>
              <a:buChar char="•"/>
            </a:pPr>
            <a:r>
              <a:rPr lang="en-US" sz="2800" dirty="0">
                <a:latin typeface="Calibir"/>
              </a:rPr>
              <a:t>Responsive and user-friendly design </a:t>
            </a:r>
          </a:p>
          <a:p>
            <a:pPr marL="811213" indent="-457200">
              <a:lnSpc>
                <a:spcPct val="150000"/>
              </a:lnSpc>
              <a:buFont typeface="Arial" panose="020B0604020202020204" pitchFamily="34" charset="0"/>
              <a:buChar char="•"/>
            </a:pPr>
            <a:r>
              <a:rPr lang="en-US" sz="2800" dirty="0">
                <a:latin typeface="Calibir"/>
              </a:rPr>
              <a:t>Hosting and domain management </a:t>
            </a:r>
          </a:p>
          <a:p>
            <a:pPr marL="811213" indent="-457200">
              <a:lnSpc>
                <a:spcPct val="150000"/>
              </a:lnSpc>
              <a:buFont typeface="Arial" panose="020B0604020202020204" pitchFamily="34" charset="0"/>
              <a:buChar char="•"/>
            </a:pPr>
            <a:r>
              <a:rPr lang="en-US" sz="2800" dirty="0">
                <a:latin typeface="Calibir"/>
              </a:rPr>
              <a:t>Website accessibility and usability </a:t>
            </a:r>
          </a:p>
          <a:p>
            <a:pPr marL="811213" indent="-457200">
              <a:lnSpc>
                <a:spcPct val="150000"/>
              </a:lnSpc>
              <a:buFont typeface="Arial" panose="020B0604020202020204" pitchFamily="34" charset="0"/>
              <a:buChar char="•"/>
            </a:pPr>
            <a:r>
              <a:rPr lang="en-US" sz="2800" dirty="0">
                <a:latin typeface="Calibir"/>
              </a:rPr>
              <a:t>SEO (Search Engine Optimization) </a:t>
            </a:r>
          </a:p>
          <a:p>
            <a:pPr marL="811213" indent="-457200">
              <a:lnSpc>
                <a:spcPct val="150000"/>
              </a:lnSpc>
              <a:buFont typeface="Arial" panose="020B0604020202020204" pitchFamily="34" charset="0"/>
              <a:buChar char="•"/>
            </a:pPr>
            <a:r>
              <a:rPr lang="en-US" sz="2800" dirty="0">
                <a:latin typeface="Calibir"/>
              </a:rPr>
              <a:t>Teamwork and professional web development practices</a:t>
            </a:r>
          </a:p>
        </p:txBody>
      </p:sp>
    </p:spTree>
    <p:extLst>
      <p:ext uri="{BB962C8B-B14F-4D97-AF65-F5344CB8AC3E}">
        <p14:creationId xmlns:p14="http://schemas.microsoft.com/office/powerpoint/2010/main" val="2794593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CDC7B-5F8E-7CD7-ED7F-728791D5C8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A508DF-7B4D-2FC7-4AEA-5A06E898906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Important Assessments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0EE77106-E190-E2CE-9364-CD909B62E85D}"/>
              </a:ext>
            </a:extLst>
          </p:cNvPr>
          <p:cNvGraphicFramePr>
            <a:graphicFrameLocks noGrp="1"/>
          </p:cNvGraphicFramePr>
          <p:nvPr>
            <p:extLst>
              <p:ext uri="{D42A27DB-BD31-4B8C-83A1-F6EECF244321}">
                <p14:modId xmlns:p14="http://schemas.microsoft.com/office/powerpoint/2010/main" val="54137651"/>
              </p:ext>
            </p:extLst>
          </p:nvPr>
        </p:nvGraphicFramePr>
        <p:xfrm>
          <a:off x="838200" y="2098294"/>
          <a:ext cx="10515600" cy="2661412"/>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3574859117"/>
                    </a:ext>
                  </a:extLst>
                </a:gridCol>
                <a:gridCol w="3505200">
                  <a:extLst>
                    <a:ext uri="{9D8B030D-6E8A-4147-A177-3AD203B41FA5}">
                      <a16:colId xmlns:a16="http://schemas.microsoft.com/office/drawing/2014/main" val="2431632962"/>
                    </a:ext>
                  </a:extLst>
                </a:gridCol>
                <a:gridCol w="3505200">
                  <a:extLst>
                    <a:ext uri="{9D8B030D-6E8A-4147-A177-3AD203B41FA5}">
                      <a16:colId xmlns:a16="http://schemas.microsoft.com/office/drawing/2014/main" val="426991555"/>
                    </a:ext>
                  </a:extLst>
                </a:gridCol>
              </a:tblGrid>
              <a:tr h="0">
                <a:tc>
                  <a:txBody>
                    <a:bodyPr/>
                    <a:lstStyle/>
                    <a:p>
                      <a:pPr>
                        <a:lnSpc>
                          <a:spcPct val="150000"/>
                        </a:lnSpc>
                        <a:buNone/>
                      </a:pPr>
                      <a:r>
                        <a:rPr lang="en-US" sz="2800" dirty="0">
                          <a:latin typeface="Calibir"/>
                        </a:rPr>
                        <a:t>Assessment</a:t>
                      </a:r>
                    </a:p>
                  </a:txBody>
                  <a:tcPr anchor="ctr">
                    <a:solidFill>
                      <a:schemeClr val="accent5">
                        <a:lumMod val="20000"/>
                        <a:lumOff val="80000"/>
                      </a:schemeClr>
                    </a:solidFill>
                  </a:tcPr>
                </a:tc>
                <a:tc>
                  <a:txBody>
                    <a:bodyPr/>
                    <a:lstStyle/>
                    <a:p>
                      <a:pPr>
                        <a:lnSpc>
                          <a:spcPct val="150000"/>
                        </a:lnSpc>
                        <a:buNone/>
                      </a:pPr>
                      <a:r>
                        <a:rPr lang="en-US" sz="2800" dirty="0">
                          <a:latin typeface="Calibir"/>
                        </a:rPr>
                        <a:t>Weight</a:t>
                      </a:r>
                    </a:p>
                  </a:txBody>
                  <a:tcPr anchor="ctr">
                    <a:solidFill>
                      <a:schemeClr val="accent5">
                        <a:lumMod val="20000"/>
                        <a:lumOff val="80000"/>
                      </a:schemeClr>
                    </a:solidFill>
                  </a:tcPr>
                </a:tc>
                <a:tc>
                  <a:txBody>
                    <a:bodyPr/>
                    <a:lstStyle/>
                    <a:p>
                      <a:pPr>
                        <a:lnSpc>
                          <a:spcPct val="150000"/>
                        </a:lnSpc>
                        <a:buNone/>
                      </a:pPr>
                      <a:r>
                        <a:rPr lang="en-US" sz="2800" dirty="0">
                          <a:latin typeface="Calibir"/>
                        </a:rPr>
                        <a:t>Type</a:t>
                      </a:r>
                    </a:p>
                  </a:txBody>
                  <a:tcPr anchor="ctr">
                    <a:solidFill>
                      <a:schemeClr val="accent5">
                        <a:lumMod val="20000"/>
                        <a:lumOff val="80000"/>
                      </a:schemeClr>
                    </a:solidFill>
                  </a:tcPr>
                </a:tc>
                <a:extLst>
                  <a:ext uri="{0D108BD9-81ED-4DB2-BD59-A6C34878D82A}">
                    <a16:rowId xmlns:a16="http://schemas.microsoft.com/office/drawing/2014/main" val="452292632"/>
                  </a:ext>
                </a:extLst>
              </a:tr>
              <a:tr h="0">
                <a:tc>
                  <a:txBody>
                    <a:bodyPr/>
                    <a:lstStyle/>
                    <a:p>
                      <a:pPr>
                        <a:lnSpc>
                          <a:spcPct val="150000"/>
                        </a:lnSpc>
                        <a:buNone/>
                      </a:pPr>
                      <a:r>
                        <a:rPr lang="en-US" sz="2800">
                          <a:latin typeface="Calibir"/>
                        </a:rPr>
                        <a:t>Lab Exercises</a:t>
                      </a:r>
                    </a:p>
                  </a:txBody>
                  <a:tcPr anchor="ctr"/>
                </a:tc>
                <a:tc>
                  <a:txBody>
                    <a:bodyPr/>
                    <a:lstStyle/>
                    <a:p>
                      <a:pPr>
                        <a:lnSpc>
                          <a:spcPct val="150000"/>
                        </a:lnSpc>
                        <a:buNone/>
                      </a:pPr>
                      <a:r>
                        <a:rPr lang="en-US" sz="2800">
                          <a:latin typeface="Calibir"/>
                        </a:rPr>
                        <a:t>20%</a:t>
                      </a:r>
                    </a:p>
                  </a:txBody>
                  <a:tcPr anchor="ctr"/>
                </a:tc>
                <a:tc>
                  <a:txBody>
                    <a:bodyPr/>
                    <a:lstStyle/>
                    <a:p>
                      <a:pPr>
                        <a:lnSpc>
                          <a:spcPct val="150000"/>
                        </a:lnSpc>
                        <a:buNone/>
                      </a:pPr>
                      <a:r>
                        <a:rPr lang="en-US" sz="2800">
                          <a:latin typeface="Calibir"/>
                        </a:rPr>
                        <a:t>Individual</a:t>
                      </a:r>
                    </a:p>
                  </a:txBody>
                  <a:tcPr anchor="ctr"/>
                </a:tc>
                <a:extLst>
                  <a:ext uri="{0D108BD9-81ED-4DB2-BD59-A6C34878D82A}">
                    <a16:rowId xmlns:a16="http://schemas.microsoft.com/office/drawing/2014/main" val="1428911273"/>
                  </a:ext>
                </a:extLst>
              </a:tr>
              <a:tr h="0">
                <a:tc>
                  <a:txBody>
                    <a:bodyPr/>
                    <a:lstStyle/>
                    <a:p>
                      <a:pPr>
                        <a:lnSpc>
                          <a:spcPct val="150000"/>
                        </a:lnSpc>
                        <a:buNone/>
                      </a:pPr>
                      <a:r>
                        <a:rPr lang="en-US" sz="2800">
                          <a:latin typeface="Calibir"/>
                        </a:rPr>
                        <a:t>Online Test</a:t>
                      </a:r>
                    </a:p>
                  </a:txBody>
                  <a:tcPr anchor="ctr"/>
                </a:tc>
                <a:tc>
                  <a:txBody>
                    <a:bodyPr/>
                    <a:lstStyle/>
                    <a:p>
                      <a:pPr>
                        <a:lnSpc>
                          <a:spcPct val="150000"/>
                        </a:lnSpc>
                        <a:buNone/>
                      </a:pPr>
                      <a:r>
                        <a:rPr lang="en-US" sz="2800">
                          <a:latin typeface="Calibir"/>
                        </a:rPr>
                        <a:t>20%</a:t>
                      </a:r>
                    </a:p>
                  </a:txBody>
                  <a:tcPr anchor="ctr"/>
                </a:tc>
                <a:tc>
                  <a:txBody>
                    <a:bodyPr/>
                    <a:lstStyle/>
                    <a:p>
                      <a:pPr>
                        <a:lnSpc>
                          <a:spcPct val="150000"/>
                        </a:lnSpc>
                        <a:buNone/>
                      </a:pPr>
                      <a:r>
                        <a:rPr lang="en-US" sz="2800">
                          <a:latin typeface="Calibir"/>
                        </a:rPr>
                        <a:t>Individual</a:t>
                      </a:r>
                    </a:p>
                  </a:txBody>
                  <a:tcPr anchor="ctr"/>
                </a:tc>
                <a:extLst>
                  <a:ext uri="{0D108BD9-81ED-4DB2-BD59-A6C34878D82A}">
                    <a16:rowId xmlns:a16="http://schemas.microsoft.com/office/drawing/2014/main" val="3447573828"/>
                  </a:ext>
                </a:extLst>
              </a:tr>
              <a:tr h="0">
                <a:tc>
                  <a:txBody>
                    <a:bodyPr/>
                    <a:lstStyle/>
                    <a:p>
                      <a:pPr>
                        <a:lnSpc>
                          <a:spcPct val="150000"/>
                        </a:lnSpc>
                        <a:buNone/>
                      </a:pPr>
                      <a:r>
                        <a:rPr lang="en-US" sz="2800">
                          <a:latin typeface="Calibir"/>
                        </a:rPr>
                        <a:t>Group Assignment</a:t>
                      </a:r>
                    </a:p>
                  </a:txBody>
                  <a:tcPr anchor="ctr"/>
                </a:tc>
                <a:tc>
                  <a:txBody>
                    <a:bodyPr/>
                    <a:lstStyle/>
                    <a:p>
                      <a:pPr>
                        <a:lnSpc>
                          <a:spcPct val="150000"/>
                        </a:lnSpc>
                        <a:buNone/>
                      </a:pPr>
                      <a:r>
                        <a:rPr lang="en-US" sz="2800">
                          <a:latin typeface="Calibir"/>
                        </a:rPr>
                        <a:t>60%</a:t>
                      </a:r>
                    </a:p>
                  </a:txBody>
                  <a:tcPr anchor="ctr"/>
                </a:tc>
                <a:tc>
                  <a:txBody>
                    <a:bodyPr/>
                    <a:lstStyle/>
                    <a:p>
                      <a:pPr>
                        <a:lnSpc>
                          <a:spcPct val="150000"/>
                        </a:lnSpc>
                        <a:buNone/>
                      </a:pPr>
                      <a:r>
                        <a:rPr lang="en-US" sz="2800" dirty="0">
                          <a:latin typeface="Calibir"/>
                        </a:rPr>
                        <a:t>Group</a:t>
                      </a:r>
                    </a:p>
                  </a:txBody>
                  <a:tcPr anchor="ctr"/>
                </a:tc>
                <a:extLst>
                  <a:ext uri="{0D108BD9-81ED-4DB2-BD59-A6C34878D82A}">
                    <a16:rowId xmlns:a16="http://schemas.microsoft.com/office/drawing/2014/main" val="1593261796"/>
                  </a:ext>
                </a:extLst>
              </a:tr>
            </a:tbl>
          </a:graphicData>
        </a:graphic>
      </p:graphicFrame>
    </p:spTree>
    <p:extLst>
      <p:ext uri="{BB962C8B-B14F-4D97-AF65-F5344CB8AC3E}">
        <p14:creationId xmlns:p14="http://schemas.microsoft.com/office/powerpoint/2010/main" val="2110180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966D-7F92-5D95-CC11-A6292FB706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134674-5612-4C11-A54A-415D98A2892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Understanding the Lab Test (Important)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A2D568D-3CD9-388D-0B93-F5B8837791CF}"/>
              </a:ext>
            </a:extLst>
          </p:cNvPr>
          <p:cNvSpPr txBox="1"/>
          <p:nvPr/>
        </p:nvSpPr>
        <p:spPr>
          <a:xfrm>
            <a:off x="0" y="478955"/>
            <a:ext cx="12061603" cy="6632072"/>
          </a:xfrm>
          <a:prstGeom prst="rect">
            <a:avLst/>
          </a:prstGeom>
          <a:noFill/>
        </p:spPr>
        <p:txBody>
          <a:bodyPr wrap="square">
            <a:spAutoFit/>
          </a:bodyPr>
          <a:lstStyle/>
          <a:p>
            <a:pPr>
              <a:lnSpc>
                <a:spcPct val="150000"/>
              </a:lnSpc>
              <a:buNone/>
            </a:pPr>
            <a:r>
              <a:rPr lang="en-US" sz="2500" dirty="0">
                <a:latin typeface="Calibir"/>
              </a:rPr>
              <a:t>From the Blackboard screenshot:</a:t>
            </a:r>
          </a:p>
          <a:p>
            <a:pPr>
              <a:lnSpc>
                <a:spcPct val="150000"/>
              </a:lnSpc>
              <a:buNone/>
            </a:pPr>
            <a:r>
              <a:rPr lang="en-US" sz="2500" dirty="0">
                <a:latin typeface="Calibir"/>
              </a:rPr>
              <a:t>Lab Test 1</a:t>
            </a:r>
          </a:p>
          <a:p>
            <a:pPr marL="457200" indent="-457200">
              <a:lnSpc>
                <a:spcPct val="150000"/>
              </a:lnSpc>
              <a:buFont typeface="Arial" panose="020B0604020202020204" pitchFamily="34" charset="0"/>
              <a:buChar char="•"/>
            </a:pPr>
            <a:r>
              <a:rPr lang="en-US" sz="2500" dirty="0">
                <a:latin typeface="Calibir"/>
              </a:rPr>
              <a:t>Total Marks: 4 </a:t>
            </a:r>
          </a:p>
          <a:p>
            <a:pPr marL="457200" indent="-457200">
              <a:lnSpc>
                <a:spcPct val="150000"/>
              </a:lnSpc>
              <a:buFont typeface="Arial" panose="020B0604020202020204" pitchFamily="34" charset="0"/>
              <a:buChar char="•"/>
            </a:pPr>
            <a:r>
              <a:rPr lang="en-US" sz="2500" dirty="0">
                <a:latin typeface="Calibir"/>
              </a:rPr>
              <a:t>Time Limit: 30 minutes </a:t>
            </a:r>
          </a:p>
          <a:p>
            <a:pPr marL="457200" indent="-457200">
              <a:lnSpc>
                <a:spcPct val="150000"/>
              </a:lnSpc>
              <a:buFont typeface="Arial" panose="020B0604020202020204" pitchFamily="34" charset="0"/>
              <a:buChar char="•"/>
            </a:pPr>
            <a:r>
              <a:rPr lang="en-US" sz="2500" dirty="0">
                <a:latin typeface="Calibir"/>
              </a:rPr>
              <a:t>Questions Displayed: 8 random questions </a:t>
            </a:r>
          </a:p>
          <a:p>
            <a:pPr marL="457200" indent="-457200">
              <a:lnSpc>
                <a:spcPct val="150000"/>
              </a:lnSpc>
              <a:buFont typeface="Arial" panose="020B0604020202020204" pitchFamily="34" charset="0"/>
              <a:buChar char="•"/>
            </a:pPr>
            <a:r>
              <a:rPr lang="en-US" sz="2500" dirty="0">
                <a:latin typeface="Calibir"/>
              </a:rPr>
              <a:t>Question Types: </a:t>
            </a:r>
          </a:p>
          <a:p>
            <a:pPr marL="914400" lvl="1" indent="-457200">
              <a:lnSpc>
                <a:spcPct val="150000"/>
              </a:lnSpc>
              <a:buFont typeface="Arial" panose="020B0604020202020204" pitchFamily="34" charset="0"/>
              <a:buChar char="•"/>
            </a:pPr>
            <a:r>
              <a:rPr lang="en-US" sz="2500" dirty="0">
                <a:latin typeface="Calibir"/>
              </a:rPr>
              <a:t>Multiple Choice </a:t>
            </a:r>
          </a:p>
          <a:p>
            <a:pPr marL="914400" lvl="1" indent="-457200">
              <a:lnSpc>
                <a:spcPct val="150000"/>
              </a:lnSpc>
              <a:buFont typeface="Arial" panose="020B0604020202020204" pitchFamily="34" charset="0"/>
              <a:buChar char="•"/>
            </a:pPr>
            <a:r>
              <a:rPr lang="en-US" sz="2500" dirty="0">
                <a:latin typeface="Calibir"/>
              </a:rPr>
              <a:t>True/False </a:t>
            </a:r>
          </a:p>
          <a:p>
            <a:pPr marL="914400" lvl="1" indent="-457200">
              <a:lnSpc>
                <a:spcPct val="150000"/>
              </a:lnSpc>
              <a:buFont typeface="Arial" panose="020B0604020202020204" pitchFamily="34" charset="0"/>
              <a:buChar char="•"/>
            </a:pPr>
            <a:r>
              <a:rPr lang="en-US" sz="2500" dirty="0">
                <a:latin typeface="Calibir"/>
              </a:rPr>
              <a:t>Completion </a:t>
            </a:r>
          </a:p>
          <a:p>
            <a:pPr marL="914400" lvl="1" indent="-457200">
              <a:lnSpc>
                <a:spcPct val="150000"/>
              </a:lnSpc>
              <a:buFont typeface="Arial" panose="020B0604020202020204" pitchFamily="34" charset="0"/>
              <a:buChar char="•"/>
            </a:pPr>
            <a:r>
              <a:rPr lang="en-US" sz="2500" dirty="0">
                <a:latin typeface="Calibir"/>
              </a:rPr>
              <a:t>Critical Thinking </a:t>
            </a:r>
          </a:p>
          <a:p>
            <a:pPr marL="914400" lvl="1" indent="-457200">
              <a:lnSpc>
                <a:spcPct val="150000"/>
              </a:lnSpc>
              <a:buFont typeface="Arial" panose="020B0604020202020204" pitchFamily="34" charset="0"/>
              <a:buChar char="•"/>
            </a:pPr>
            <a:r>
              <a:rPr lang="en-US" sz="2500" dirty="0">
                <a:latin typeface="Calibir"/>
              </a:rPr>
              <a:t>Essay Questions</a:t>
            </a:r>
          </a:p>
        </p:txBody>
      </p:sp>
    </p:spTree>
    <p:extLst>
      <p:ext uri="{BB962C8B-B14F-4D97-AF65-F5344CB8AC3E}">
        <p14:creationId xmlns:p14="http://schemas.microsoft.com/office/powerpoint/2010/main" val="4168292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CF6D-3182-CE8E-0673-FB9027C3DE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5AE680-E6F4-835F-0229-85B701AAD12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Understanding the Lab Test (Important)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E01C473-FE2D-65CD-22BF-F7A03D89494B}"/>
              </a:ext>
            </a:extLst>
          </p:cNvPr>
          <p:cNvSpPr txBox="1"/>
          <p:nvPr/>
        </p:nvSpPr>
        <p:spPr>
          <a:xfrm>
            <a:off x="0" y="478955"/>
            <a:ext cx="12061603" cy="4549835"/>
          </a:xfrm>
          <a:prstGeom prst="rect">
            <a:avLst/>
          </a:prstGeom>
          <a:noFill/>
        </p:spPr>
        <p:txBody>
          <a:bodyPr wrap="square">
            <a:spAutoFit/>
          </a:bodyPr>
          <a:lstStyle/>
          <a:p>
            <a:pPr>
              <a:lnSpc>
                <a:spcPct val="150000"/>
              </a:lnSpc>
            </a:pPr>
            <a:r>
              <a:rPr lang="en-US" sz="2800" dirty="0">
                <a:latin typeface="Calibir"/>
              </a:rPr>
              <a:t>Due Date</a:t>
            </a:r>
          </a:p>
          <a:p>
            <a:pPr>
              <a:lnSpc>
                <a:spcPct val="150000"/>
              </a:lnSpc>
            </a:pPr>
            <a:r>
              <a:rPr lang="en-US" sz="2800" dirty="0">
                <a:latin typeface="Calibir"/>
              </a:rPr>
              <a:t>Friday 15 May 2026 – 9:00 PM (AEST)</a:t>
            </a:r>
          </a:p>
          <a:p>
            <a:pPr>
              <a:lnSpc>
                <a:spcPct val="150000"/>
              </a:lnSpc>
            </a:pPr>
            <a:r>
              <a:rPr lang="en-US" sz="2800" dirty="0">
                <a:latin typeface="Calibir"/>
              </a:rPr>
              <a:t>Important</a:t>
            </a:r>
          </a:p>
          <a:p>
            <a:pPr marL="914400" lvl="1" indent="-457200">
              <a:lnSpc>
                <a:spcPct val="150000"/>
              </a:lnSpc>
              <a:buFont typeface="Arial" panose="020B0604020202020204" pitchFamily="34" charset="0"/>
              <a:buChar char="•"/>
            </a:pPr>
            <a:r>
              <a:rPr lang="en-US" sz="2800" dirty="0">
                <a:latin typeface="Calibir"/>
              </a:rPr>
              <a:t>Only 1 attempt </a:t>
            </a:r>
          </a:p>
          <a:p>
            <a:pPr marL="914400" lvl="1" indent="-457200">
              <a:lnSpc>
                <a:spcPct val="150000"/>
              </a:lnSpc>
              <a:buFont typeface="Arial" panose="020B0604020202020204" pitchFamily="34" charset="0"/>
              <a:buChar char="•"/>
            </a:pPr>
            <a:r>
              <a:rPr lang="en-US" sz="2800" dirty="0">
                <a:latin typeface="Calibir"/>
              </a:rPr>
              <a:t>Automatic submission after 30 minutes </a:t>
            </a:r>
          </a:p>
          <a:p>
            <a:pPr marL="914400" lvl="1" indent="-457200">
              <a:lnSpc>
                <a:spcPct val="150000"/>
              </a:lnSpc>
              <a:buFont typeface="Arial" panose="020B0604020202020204" pitchFamily="34" charset="0"/>
              <a:buChar char="•"/>
            </a:pPr>
            <a:r>
              <a:rPr lang="en-US" sz="2800" dirty="0">
                <a:latin typeface="Calibir"/>
              </a:rPr>
              <a:t>Questions are random </a:t>
            </a:r>
          </a:p>
          <a:p>
            <a:pPr marL="914400" lvl="1" indent="-457200">
              <a:lnSpc>
                <a:spcPct val="150000"/>
              </a:lnSpc>
              <a:buFont typeface="Arial" panose="020B0604020202020204" pitchFamily="34" charset="0"/>
              <a:buChar char="•"/>
            </a:pPr>
            <a:r>
              <a:rPr lang="en-US" sz="2800" dirty="0">
                <a:latin typeface="Calibir"/>
              </a:rPr>
              <a:t>You must prepare weekly</a:t>
            </a:r>
          </a:p>
        </p:txBody>
      </p:sp>
    </p:spTree>
    <p:extLst>
      <p:ext uri="{BB962C8B-B14F-4D97-AF65-F5344CB8AC3E}">
        <p14:creationId xmlns:p14="http://schemas.microsoft.com/office/powerpoint/2010/main" val="219531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B2997-1213-7DB5-E45F-6832CB5F4A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3DA4852-21FA-0F86-5540-FC56312B805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5A7393D9-2A31-7C71-16DA-A049D366A6E5}"/>
              </a:ext>
            </a:extLst>
          </p:cNvPr>
          <p:cNvSpPr txBox="1"/>
          <p:nvPr/>
        </p:nvSpPr>
        <p:spPr>
          <a:xfrm>
            <a:off x="0" y="478955"/>
            <a:ext cx="12061603" cy="6133859"/>
          </a:xfrm>
          <a:prstGeom prst="rect">
            <a:avLst/>
          </a:prstGeom>
          <a:noFill/>
        </p:spPr>
        <p:txBody>
          <a:bodyPr wrap="square">
            <a:spAutoFit/>
          </a:bodyPr>
          <a:lstStyle/>
          <a:p>
            <a:pPr>
              <a:lnSpc>
                <a:spcPct val="150000"/>
              </a:lnSpc>
            </a:pPr>
            <a:r>
              <a:rPr lang="en-US" sz="2200" b="1" dirty="0">
                <a:latin typeface="Calibir"/>
              </a:rPr>
              <a:t>Week 1 – Internet and Web Basics</a:t>
            </a:r>
          </a:p>
          <a:p>
            <a:pPr>
              <a:lnSpc>
                <a:spcPct val="150000"/>
              </a:lnSpc>
            </a:pPr>
            <a:r>
              <a:rPr lang="en-US" sz="2200" dirty="0">
                <a:latin typeface="Calibir"/>
              </a:rPr>
              <a:t>Learn:</a:t>
            </a:r>
          </a:p>
          <a:p>
            <a:pPr marL="800100" lvl="1" indent="-342900">
              <a:lnSpc>
                <a:spcPct val="150000"/>
              </a:lnSpc>
              <a:buFont typeface="Arial" panose="020B0604020202020204" pitchFamily="34" charset="0"/>
              <a:buChar char="•"/>
            </a:pPr>
            <a:r>
              <a:rPr lang="en-US" sz="2200" dirty="0">
                <a:latin typeface="Calibir"/>
              </a:rPr>
              <a:t>Internet concepts </a:t>
            </a:r>
          </a:p>
          <a:p>
            <a:pPr marL="800100" lvl="1" indent="-342900">
              <a:lnSpc>
                <a:spcPct val="150000"/>
              </a:lnSpc>
              <a:buFont typeface="Arial" panose="020B0604020202020204" pitchFamily="34" charset="0"/>
              <a:buChar char="•"/>
            </a:pPr>
            <a:r>
              <a:rPr lang="en-US" sz="2200" dirty="0">
                <a:latin typeface="Calibir"/>
              </a:rPr>
              <a:t>Web browsers </a:t>
            </a:r>
          </a:p>
          <a:p>
            <a:pPr marL="800100" lvl="1" indent="-342900">
              <a:lnSpc>
                <a:spcPct val="150000"/>
              </a:lnSpc>
              <a:buFont typeface="Arial" panose="020B0604020202020204" pitchFamily="34" charset="0"/>
              <a:buChar char="•"/>
            </a:pPr>
            <a:r>
              <a:rPr lang="en-US" sz="2200" dirty="0">
                <a:latin typeface="Calibir"/>
              </a:rPr>
              <a:t>Servers and clients </a:t>
            </a:r>
          </a:p>
          <a:p>
            <a:pPr marL="800100" lvl="1" indent="-342900">
              <a:lnSpc>
                <a:spcPct val="150000"/>
              </a:lnSpc>
              <a:buFont typeface="Arial" panose="020B0604020202020204" pitchFamily="34" charset="0"/>
              <a:buChar char="•"/>
            </a:pPr>
            <a:r>
              <a:rPr lang="en-US" sz="2200" dirty="0">
                <a:latin typeface="Calibir"/>
              </a:rPr>
              <a:t>HTTP, TCP/IP </a:t>
            </a:r>
          </a:p>
          <a:p>
            <a:pPr marL="800100" lvl="1" indent="-342900">
              <a:lnSpc>
                <a:spcPct val="150000"/>
              </a:lnSpc>
              <a:buFont typeface="Arial" panose="020B0604020202020204" pitchFamily="34" charset="0"/>
              <a:buChar char="•"/>
            </a:pPr>
            <a:r>
              <a:rPr lang="en-US" sz="2200" dirty="0">
                <a:latin typeface="Calibir"/>
              </a:rPr>
              <a:t>IP addresses </a:t>
            </a:r>
          </a:p>
          <a:p>
            <a:pPr marL="800100" lvl="1" indent="-342900">
              <a:lnSpc>
                <a:spcPct val="150000"/>
              </a:lnSpc>
              <a:buFont typeface="Arial" panose="020B0604020202020204" pitchFamily="34" charset="0"/>
              <a:buChar char="•"/>
            </a:pPr>
            <a:r>
              <a:rPr lang="en-US" sz="2200" dirty="0">
                <a:latin typeface="Calibir"/>
              </a:rPr>
              <a:t>LMS concepts </a:t>
            </a:r>
          </a:p>
          <a:p>
            <a:pPr marL="800100" lvl="1" indent="-342900">
              <a:lnSpc>
                <a:spcPct val="150000"/>
              </a:lnSpc>
              <a:buFont typeface="Arial" panose="020B0604020202020204" pitchFamily="34" charset="0"/>
              <a:buChar char="•"/>
            </a:pPr>
            <a:r>
              <a:rPr lang="en-US" sz="2200" dirty="0">
                <a:latin typeface="Calibir"/>
              </a:rPr>
              <a:t>Web standards (W3C) </a:t>
            </a:r>
          </a:p>
          <a:p>
            <a:pPr>
              <a:lnSpc>
                <a:spcPct val="150000"/>
              </a:lnSpc>
            </a:pPr>
            <a:r>
              <a:rPr lang="en-US" sz="2200" dirty="0">
                <a:latin typeface="Calibir"/>
              </a:rPr>
              <a:t>Practice:</a:t>
            </a:r>
          </a:p>
          <a:p>
            <a:pPr marL="800100" lvl="1" indent="-342900">
              <a:lnSpc>
                <a:spcPct val="150000"/>
              </a:lnSpc>
              <a:buFont typeface="Arial" panose="020B0604020202020204" pitchFamily="34" charset="0"/>
              <a:buChar char="•"/>
            </a:pPr>
            <a:r>
              <a:rPr lang="en-US" sz="2200" dirty="0">
                <a:latin typeface="Calibir"/>
              </a:rPr>
              <a:t>Answer MCQ and True/False questions </a:t>
            </a:r>
          </a:p>
          <a:p>
            <a:pPr marL="800100" lvl="1" indent="-342900">
              <a:lnSpc>
                <a:spcPct val="150000"/>
              </a:lnSpc>
              <a:buFont typeface="Arial" panose="020B0604020202020204" pitchFamily="34" charset="0"/>
              <a:buChar char="•"/>
            </a:pPr>
            <a:r>
              <a:rPr lang="en-US" sz="2200" dirty="0">
                <a:latin typeface="Calibir"/>
              </a:rPr>
              <a:t>Learn basic definitions</a:t>
            </a:r>
          </a:p>
        </p:txBody>
      </p:sp>
    </p:spTree>
    <p:extLst>
      <p:ext uri="{BB962C8B-B14F-4D97-AF65-F5344CB8AC3E}">
        <p14:creationId xmlns:p14="http://schemas.microsoft.com/office/powerpoint/2010/main" val="164210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9F9F1-256A-2211-837D-C5D3D8DD3B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E29545-5647-E665-A555-13B0AD4F513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658784E3-B683-773E-16E9-3561CC159D94}"/>
              </a:ext>
            </a:extLst>
          </p:cNvPr>
          <p:cNvSpPr txBox="1"/>
          <p:nvPr/>
        </p:nvSpPr>
        <p:spPr>
          <a:xfrm>
            <a:off x="0" y="478955"/>
            <a:ext cx="12061603" cy="6488828"/>
          </a:xfrm>
          <a:prstGeom prst="rect">
            <a:avLst/>
          </a:prstGeom>
          <a:noFill/>
        </p:spPr>
        <p:txBody>
          <a:bodyPr wrap="square">
            <a:spAutoFit/>
          </a:bodyPr>
          <a:lstStyle/>
          <a:p>
            <a:pPr>
              <a:lnSpc>
                <a:spcPct val="150000"/>
              </a:lnSpc>
            </a:pPr>
            <a:r>
              <a:rPr lang="en-US" sz="2800" b="1" dirty="0">
                <a:latin typeface="Calibir"/>
              </a:rPr>
              <a:t>Week 2 – Website Planning</a:t>
            </a:r>
          </a:p>
          <a:p>
            <a:pPr>
              <a:lnSpc>
                <a:spcPct val="150000"/>
              </a:lnSpc>
            </a:pPr>
            <a:r>
              <a:rPr lang="en-US" sz="2800" dirty="0">
                <a:latin typeface="Calibir"/>
              </a:rPr>
              <a:t>Learn:</a:t>
            </a:r>
          </a:p>
          <a:p>
            <a:pPr marL="914400" lvl="1" indent="-457200">
              <a:lnSpc>
                <a:spcPct val="150000"/>
              </a:lnSpc>
              <a:buFont typeface="Arial" panose="020B0604020202020204" pitchFamily="34" charset="0"/>
              <a:buChar char="•"/>
            </a:pPr>
            <a:r>
              <a:rPr lang="en-US" sz="2800" dirty="0">
                <a:latin typeface="Calibir"/>
              </a:rPr>
              <a:t>Website structure </a:t>
            </a:r>
          </a:p>
          <a:p>
            <a:pPr marL="914400" lvl="1" indent="-457200">
              <a:lnSpc>
                <a:spcPct val="150000"/>
              </a:lnSpc>
              <a:buFont typeface="Arial" panose="020B0604020202020204" pitchFamily="34" charset="0"/>
              <a:buChar char="•"/>
            </a:pPr>
            <a:r>
              <a:rPr lang="en-US" sz="2800" dirty="0">
                <a:latin typeface="Calibir"/>
              </a:rPr>
              <a:t>Navigation design </a:t>
            </a:r>
          </a:p>
          <a:p>
            <a:pPr marL="914400" lvl="1" indent="-457200">
              <a:lnSpc>
                <a:spcPct val="150000"/>
              </a:lnSpc>
              <a:buFont typeface="Arial" panose="020B0604020202020204" pitchFamily="34" charset="0"/>
              <a:buChar char="•"/>
            </a:pPr>
            <a:r>
              <a:rPr lang="en-US" sz="2800" dirty="0">
                <a:latin typeface="Calibir"/>
              </a:rPr>
              <a:t>Wireframes </a:t>
            </a:r>
          </a:p>
          <a:p>
            <a:pPr marL="914400" lvl="1" indent="-457200">
              <a:lnSpc>
                <a:spcPct val="150000"/>
              </a:lnSpc>
              <a:buFont typeface="Arial" panose="020B0604020202020204" pitchFamily="34" charset="0"/>
              <a:buChar char="•"/>
            </a:pPr>
            <a:r>
              <a:rPr lang="en-US" sz="2800" dirty="0">
                <a:latin typeface="Calibir"/>
              </a:rPr>
              <a:t>White space </a:t>
            </a:r>
          </a:p>
          <a:p>
            <a:pPr marL="914400" lvl="1" indent="-457200">
              <a:lnSpc>
                <a:spcPct val="150000"/>
              </a:lnSpc>
              <a:buFont typeface="Arial" panose="020B0604020202020204" pitchFamily="34" charset="0"/>
              <a:buChar char="•"/>
            </a:pPr>
            <a:r>
              <a:rPr lang="en-US" sz="2800" dirty="0">
                <a:latin typeface="Calibir"/>
              </a:rPr>
              <a:t>Accessibility </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Draw simple wireframes </a:t>
            </a:r>
          </a:p>
          <a:p>
            <a:pPr marL="914400" lvl="1" indent="-457200">
              <a:lnSpc>
                <a:spcPct val="150000"/>
              </a:lnSpc>
              <a:buFont typeface="Arial" panose="020B0604020202020204" pitchFamily="34" charset="0"/>
              <a:buChar char="•"/>
            </a:pPr>
            <a:r>
              <a:rPr lang="en-US" sz="2800" dirty="0">
                <a:latin typeface="Calibir"/>
              </a:rPr>
              <a:t>Plan webpage layouts</a:t>
            </a:r>
          </a:p>
        </p:txBody>
      </p:sp>
    </p:spTree>
    <p:extLst>
      <p:ext uri="{BB962C8B-B14F-4D97-AF65-F5344CB8AC3E}">
        <p14:creationId xmlns:p14="http://schemas.microsoft.com/office/powerpoint/2010/main" val="3503421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9040-803A-148A-F524-1BB32F7C45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5760A7-029B-856B-0995-1555CE2662C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C8842FA8-0044-D53C-90A6-E41D56009A8C}"/>
              </a:ext>
            </a:extLst>
          </p:cNvPr>
          <p:cNvSpPr txBox="1"/>
          <p:nvPr/>
        </p:nvSpPr>
        <p:spPr>
          <a:xfrm>
            <a:off x="0" y="478955"/>
            <a:ext cx="12061603" cy="5842497"/>
          </a:xfrm>
          <a:prstGeom prst="rect">
            <a:avLst/>
          </a:prstGeom>
          <a:noFill/>
        </p:spPr>
        <p:txBody>
          <a:bodyPr wrap="square">
            <a:spAutoFit/>
          </a:bodyPr>
          <a:lstStyle/>
          <a:p>
            <a:pPr>
              <a:lnSpc>
                <a:spcPct val="150000"/>
              </a:lnSpc>
            </a:pPr>
            <a:r>
              <a:rPr lang="en-US" sz="2800" b="1" dirty="0">
                <a:latin typeface="Calibir"/>
              </a:rPr>
              <a:t>Week 3 – HTML5 Basics</a:t>
            </a:r>
          </a:p>
          <a:p>
            <a:pPr>
              <a:lnSpc>
                <a:spcPct val="150000"/>
              </a:lnSpc>
            </a:pPr>
            <a:r>
              <a:rPr lang="en-US" sz="2800" dirty="0">
                <a:latin typeface="Calibir"/>
              </a:rPr>
              <a:t>Learn:</a:t>
            </a:r>
          </a:p>
          <a:p>
            <a:pPr marL="914400" lvl="1" indent="-457200">
              <a:lnSpc>
                <a:spcPct val="150000"/>
              </a:lnSpc>
              <a:buFont typeface="Arial" panose="020B0604020202020204" pitchFamily="34" charset="0"/>
              <a:buChar char="•"/>
            </a:pPr>
            <a:r>
              <a:rPr lang="en-US" sz="2800" dirty="0">
                <a:latin typeface="Calibir"/>
              </a:rPr>
              <a:t>HTML structure </a:t>
            </a:r>
          </a:p>
          <a:p>
            <a:pPr marL="914400" lvl="1" indent="-457200">
              <a:lnSpc>
                <a:spcPct val="150000"/>
              </a:lnSpc>
              <a:buFont typeface="Arial" panose="020B0604020202020204" pitchFamily="34" charset="0"/>
              <a:buChar char="•"/>
            </a:pPr>
            <a:r>
              <a:rPr lang="en-US" sz="2800" dirty="0">
                <a:latin typeface="Calibir"/>
              </a:rPr>
              <a:t>Headings </a:t>
            </a:r>
          </a:p>
          <a:p>
            <a:pPr marL="914400" lvl="1" indent="-457200">
              <a:lnSpc>
                <a:spcPct val="150000"/>
              </a:lnSpc>
              <a:buFont typeface="Arial" panose="020B0604020202020204" pitchFamily="34" charset="0"/>
              <a:buChar char="•"/>
            </a:pPr>
            <a:r>
              <a:rPr lang="en-US" sz="2800" dirty="0">
                <a:latin typeface="Calibir"/>
              </a:rPr>
              <a:t>Paragraphs </a:t>
            </a:r>
          </a:p>
          <a:p>
            <a:pPr marL="914400" lvl="1" indent="-457200">
              <a:lnSpc>
                <a:spcPct val="150000"/>
              </a:lnSpc>
              <a:buFont typeface="Arial" panose="020B0604020202020204" pitchFamily="34" charset="0"/>
              <a:buChar char="•"/>
            </a:pPr>
            <a:r>
              <a:rPr lang="en-US" sz="2800" dirty="0">
                <a:latin typeface="Calibir"/>
              </a:rPr>
              <a:t>Lists </a:t>
            </a:r>
          </a:p>
          <a:p>
            <a:pPr marL="914400" lvl="1" indent="-457200">
              <a:lnSpc>
                <a:spcPct val="150000"/>
              </a:lnSpc>
              <a:buFont typeface="Arial" panose="020B0604020202020204" pitchFamily="34" charset="0"/>
              <a:buChar char="•"/>
            </a:pPr>
            <a:r>
              <a:rPr lang="en-US" sz="2800" dirty="0">
                <a:latin typeface="Calibir"/>
              </a:rPr>
              <a:t>Basic webpage template </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Build simple webpages daily</a:t>
            </a:r>
          </a:p>
        </p:txBody>
      </p:sp>
    </p:spTree>
    <p:extLst>
      <p:ext uri="{BB962C8B-B14F-4D97-AF65-F5344CB8AC3E}">
        <p14:creationId xmlns:p14="http://schemas.microsoft.com/office/powerpoint/2010/main" val="3552533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AF25E-8917-703C-24A5-EB5A7890BE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FC748C-DBEF-D9DA-614C-900EEBA94AA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2B664AF8-5719-0DD9-9A79-66374D1111DF}"/>
              </a:ext>
            </a:extLst>
          </p:cNvPr>
          <p:cNvSpPr txBox="1"/>
          <p:nvPr/>
        </p:nvSpPr>
        <p:spPr>
          <a:xfrm>
            <a:off x="0" y="478955"/>
            <a:ext cx="12061603" cy="5196166"/>
          </a:xfrm>
          <a:prstGeom prst="rect">
            <a:avLst/>
          </a:prstGeom>
          <a:noFill/>
        </p:spPr>
        <p:txBody>
          <a:bodyPr wrap="square">
            <a:spAutoFit/>
          </a:bodyPr>
          <a:lstStyle/>
          <a:p>
            <a:pPr>
              <a:lnSpc>
                <a:spcPct val="150000"/>
              </a:lnSpc>
            </a:pPr>
            <a:r>
              <a:rPr lang="en-US" sz="2800" b="1" dirty="0">
                <a:latin typeface="Calibir"/>
              </a:rPr>
              <a:t>Week 4 – Links and Images</a:t>
            </a:r>
          </a:p>
          <a:p>
            <a:pPr>
              <a:lnSpc>
                <a:spcPct val="150000"/>
              </a:lnSpc>
            </a:pPr>
            <a:r>
              <a:rPr lang="en-US" sz="2800" dirty="0">
                <a:latin typeface="Calibir"/>
              </a:rPr>
              <a:t>Learn:</a:t>
            </a:r>
          </a:p>
          <a:p>
            <a:pPr marL="914400" lvl="1" indent="-457200">
              <a:lnSpc>
                <a:spcPct val="150000"/>
              </a:lnSpc>
              <a:buFont typeface="Arial" panose="020B0604020202020204" pitchFamily="34" charset="0"/>
              <a:buChar char="•"/>
            </a:pPr>
            <a:r>
              <a:rPr lang="en-US" sz="2800" dirty="0">
                <a:latin typeface="Calibir"/>
              </a:rPr>
              <a:t>Hyperlinks </a:t>
            </a:r>
          </a:p>
          <a:p>
            <a:pPr marL="914400" lvl="1" indent="-457200">
              <a:lnSpc>
                <a:spcPct val="150000"/>
              </a:lnSpc>
              <a:buFont typeface="Arial" panose="020B0604020202020204" pitchFamily="34" charset="0"/>
              <a:buChar char="•"/>
            </a:pPr>
            <a:r>
              <a:rPr lang="en-US" sz="2800" dirty="0">
                <a:latin typeface="Calibir"/>
              </a:rPr>
              <a:t>Navigation menus </a:t>
            </a:r>
          </a:p>
          <a:p>
            <a:pPr marL="914400" lvl="1" indent="-457200">
              <a:lnSpc>
                <a:spcPct val="150000"/>
              </a:lnSpc>
              <a:buFont typeface="Arial" panose="020B0604020202020204" pitchFamily="34" charset="0"/>
              <a:buChar char="•"/>
            </a:pPr>
            <a:r>
              <a:rPr lang="en-US" sz="2800" dirty="0">
                <a:latin typeface="Calibir"/>
              </a:rPr>
              <a:t>Images </a:t>
            </a:r>
          </a:p>
          <a:p>
            <a:pPr marL="914400" lvl="1" indent="-457200">
              <a:lnSpc>
                <a:spcPct val="150000"/>
              </a:lnSpc>
              <a:buFont typeface="Arial" panose="020B0604020202020204" pitchFamily="34" charset="0"/>
              <a:buChar char="•"/>
            </a:pPr>
            <a:r>
              <a:rPr lang="en-US" sz="2800" dirty="0">
                <a:latin typeface="Calibir"/>
              </a:rPr>
              <a:t>File paths </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Create multi-page websites</a:t>
            </a:r>
          </a:p>
        </p:txBody>
      </p:sp>
    </p:spTree>
    <p:extLst>
      <p:ext uri="{BB962C8B-B14F-4D97-AF65-F5344CB8AC3E}">
        <p14:creationId xmlns:p14="http://schemas.microsoft.com/office/powerpoint/2010/main" val="134834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BA7D-EDA5-1042-2FA0-DE96E787B2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D8F6F7-91AD-D10C-A5CF-EFEC8CD2E42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4D9C290F-F4F3-DBD8-5F86-D759B4C0AB9A}"/>
              </a:ext>
            </a:extLst>
          </p:cNvPr>
          <p:cNvSpPr txBox="1"/>
          <p:nvPr/>
        </p:nvSpPr>
        <p:spPr>
          <a:xfrm>
            <a:off x="0" y="478955"/>
            <a:ext cx="12061603" cy="4549835"/>
          </a:xfrm>
          <a:prstGeom prst="rect">
            <a:avLst/>
          </a:prstGeom>
          <a:noFill/>
        </p:spPr>
        <p:txBody>
          <a:bodyPr wrap="square">
            <a:spAutoFit/>
          </a:bodyPr>
          <a:lstStyle/>
          <a:p>
            <a:pPr>
              <a:lnSpc>
                <a:spcPct val="150000"/>
              </a:lnSpc>
            </a:pPr>
            <a:r>
              <a:rPr lang="en-US" sz="2800" b="1" dirty="0">
                <a:latin typeface="Calibir"/>
              </a:rPr>
              <a:t>Week 5 – </a:t>
            </a:r>
            <a:r>
              <a:rPr lang="en-US" sz="2800" b="1" dirty="0" err="1">
                <a:latin typeface="Calibir"/>
              </a:rPr>
              <a:t>Divs</a:t>
            </a:r>
            <a:r>
              <a:rPr lang="en-US" sz="2800" b="1" dirty="0">
                <a:latin typeface="Calibir"/>
              </a:rPr>
              <a:t>, Headings and Lists</a:t>
            </a:r>
          </a:p>
          <a:p>
            <a:pPr>
              <a:lnSpc>
                <a:spcPct val="150000"/>
              </a:lnSpc>
            </a:pPr>
            <a:r>
              <a:rPr lang="en-US" sz="2800" dirty="0">
                <a:latin typeface="Calibir"/>
              </a:rPr>
              <a:t>Learn:</a:t>
            </a:r>
          </a:p>
          <a:p>
            <a:pPr marL="914400" lvl="1" indent="-457200">
              <a:lnSpc>
                <a:spcPct val="150000"/>
              </a:lnSpc>
              <a:buFont typeface="Arial" panose="020B0604020202020204" pitchFamily="34" charset="0"/>
              <a:buChar char="•"/>
            </a:pPr>
            <a:r>
              <a:rPr lang="en-US" sz="2800" dirty="0">
                <a:latin typeface="Calibir"/>
              </a:rPr>
              <a:t>div containers </a:t>
            </a:r>
          </a:p>
          <a:p>
            <a:pPr marL="914400" lvl="1" indent="-457200">
              <a:lnSpc>
                <a:spcPct val="150000"/>
              </a:lnSpc>
              <a:buFont typeface="Arial" panose="020B0604020202020204" pitchFamily="34" charset="0"/>
              <a:buChar char="•"/>
            </a:pPr>
            <a:r>
              <a:rPr lang="en-US" sz="2800" dirty="0">
                <a:latin typeface="Calibir"/>
              </a:rPr>
              <a:t>webpage organization </a:t>
            </a:r>
          </a:p>
          <a:p>
            <a:pPr marL="914400" lvl="1" indent="-457200">
              <a:lnSpc>
                <a:spcPct val="150000"/>
              </a:lnSpc>
              <a:buFont typeface="Arial" panose="020B0604020202020204" pitchFamily="34" charset="0"/>
              <a:buChar char="•"/>
            </a:pPr>
            <a:r>
              <a:rPr lang="en-US" sz="2800" dirty="0">
                <a:latin typeface="Calibir"/>
              </a:rPr>
              <a:t>ordered and unordered lists </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Build cleaner webpage structures</a:t>
            </a:r>
          </a:p>
        </p:txBody>
      </p:sp>
    </p:spTree>
    <p:extLst>
      <p:ext uri="{BB962C8B-B14F-4D97-AF65-F5344CB8AC3E}">
        <p14:creationId xmlns:p14="http://schemas.microsoft.com/office/powerpoint/2010/main" val="1974708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5C9E-4402-A08E-A507-0A9C5FB4F9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6578C5-7FBB-3C87-35C6-24F6171C532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Weekly Learning Plan</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53399D77-21E0-8A65-36A2-006EB0754DF0}"/>
              </a:ext>
            </a:extLst>
          </p:cNvPr>
          <p:cNvSpPr txBox="1"/>
          <p:nvPr/>
        </p:nvSpPr>
        <p:spPr>
          <a:xfrm>
            <a:off x="0" y="478955"/>
            <a:ext cx="12061603" cy="5842497"/>
          </a:xfrm>
          <a:prstGeom prst="rect">
            <a:avLst/>
          </a:prstGeom>
          <a:noFill/>
        </p:spPr>
        <p:txBody>
          <a:bodyPr wrap="square">
            <a:spAutoFit/>
          </a:bodyPr>
          <a:lstStyle/>
          <a:p>
            <a:pPr>
              <a:lnSpc>
                <a:spcPct val="150000"/>
              </a:lnSpc>
            </a:pPr>
            <a:r>
              <a:rPr lang="en-US" sz="2800" b="1" dirty="0">
                <a:latin typeface="Calibir"/>
              </a:rPr>
              <a:t>Week 6 – CSS Basics</a:t>
            </a:r>
          </a:p>
          <a:p>
            <a:pPr>
              <a:lnSpc>
                <a:spcPct val="150000"/>
              </a:lnSpc>
            </a:pPr>
            <a:r>
              <a:rPr lang="en-US" sz="2800" dirty="0">
                <a:latin typeface="Calibir"/>
              </a:rPr>
              <a:t>Learn:</a:t>
            </a:r>
          </a:p>
          <a:p>
            <a:pPr marL="914400" lvl="1" indent="-457200">
              <a:lnSpc>
                <a:spcPct val="150000"/>
              </a:lnSpc>
              <a:buFont typeface="Arial" panose="020B0604020202020204" pitchFamily="34" charset="0"/>
              <a:buChar char="•"/>
            </a:pPr>
            <a:r>
              <a:rPr lang="en-US" sz="2800" dirty="0">
                <a:latin typeface="Calibir"/>
              </a:rPr>
              <a:t>Colors </a:t>
            </a:r>
          </a:p>
          <a:p>
            <a:pPr marL="914400" lvl="1" indent="-457200">
              <a:lnSpc>
                <a:spcPct val="150000"/>
              </a:lnSpc>
              <a:buFont typeface="Arial" panose="020B0604020202020204" pitchFamily="34" charset="0"/>
              <a:buChar char="•"/>
            </a:pPr>
            <a:r>
              <a:rPr lang="en-US" sz="2800" dirty="0">
                <a:latin typeface="Calibir"/>
              </a:rPr>
              <a:t>Fonts </a:t>
            </a:r>
          </a:p>
          <a:p>
            <a:pPr marL="914400" lvl="1" indent="-457200">
              <a:lnSpc>
                <a:spcPct val="150000"/>
              </a:lnSpc>
              <a:buFont typeface="Arial" panose="020B0604020202020204" pitchFamily="34" charset="0"/>
              <a:buChar char="•"/>
            </a:pPr>
            <a:r>
              <a:rPr lang="en-US" sz="2800" dirty="0">
                <a:latin typeface="Calibir"/>
              </a:rPr>
              <a:t>Backgrounds </a:t>
            </a:r>
          </a:p>
          <a:p>
            <a:pPr marL="914400" lvl="1" indent="-457200">
              <a:lnSpc>
                <a:spcPct val="150000"/>
              </a:lnSpc>
              <a:buFont typeface="Arial" panose="020B0604020202020204" pitchFamily="34" charset="0"/>
              <a:buChar char="•"/>
            </a:pPr>
            <a:r>
              <a:rPr lang="en-US" sz="2800" dirty="0">
                <a:latin typeface="Calibir"/>
              </a:rPr>
              <a:t>Borders </a:t>
            </a:r>
          </a:p>
          <a:p>
            <a:pPr marL="914400" lvl="1" indent="-457200">
              <a:lnSpc>
                <a:spcPct val="150000"/>
              </a:lnSpc>
              <a:buFont typeface="Arial" panose="020B0604020202020204" pitchFamily="34" charset="0"/>
              <a:buChar char="•"/>
            </a:pPr>
            <a:r>
              <a:rPr lang="en-US" sz="2800" dirty="0">
                <a:latin typeface="Calibir"/>
              </a:rPr>
              <a:t>External CSS </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Style webpages professionally</a:t>
            </a:r>
          </a:p>
        </p:txBody>
      </p:sp>
    </p:spTree>
    <p:extLst>
      <p:ext uri="{BB962C8B-B14F-4D97-AF65-F5344CB8AC3E}">
        <p14:creationId xmlns:p14="http://schemas.microsoft.com/office/powerpoint/2010/main" val="829178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4B6A-0E62-2A66-237A-3F17D27CB8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2FDC4D-D29D-0B60-9F99-8665C2A1EE2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81B02311-148A-D854-31BE-17D29084ACA1}"/>
              </a:ext>
            </a:extLst>
          </p:cNvPr>
          <p:cNvSpPr txBox="1"/>
          <p:nvPr/>
        </p:nvSpPr>
        <p:spPr>
          <a:xfrm>
            <a:off x="0" y="830917"/>
            <a:ext cx="12061603" cy="5196166"/>
          </a:xfrm>
          <a:prstGeom prst="rect">
            <a:avLst/>
          </a:prstGeom>
          <a:noFill/>
        </p:spPr>
        <p:txBody>
          <a:bodyPr wrap="square">
            <a:spAutoFit/>
          </a:bodyPr>
          <a:lstStyle/>
          <a:p>
            <a:pPr>
              <a:lnSpc>
                <a:spcPct val="150000"/>
              </a:lnSpc>
            </a:pPr>
            <a:r>
              <a:rPr lang="en-US" sz="2800" b="1" dirty="0">
                <a:latin typeface="Calibir"/>
              </a:rPr>
              <a:t>Step 1 – Attend Every Class</a:t>
            </a:r>
          </a:p>
          <a:p>
            <a:pPr>
              <a:lnSpc>
                <a:spcPct val="150000"/>
              </a:lnSpc>
            </a:pPr>
            <a:r>
              <a:rPr lang="en-US" sz="2800" dirty="0">
                <a:latin typeface="Calibir"/>
              </a:rPr>
              <a:t>Web Design is skill-based.</a:t>
            </a:r>
          </a:p>
          <a:p>
            <a:pPr>
              <a:lnSpc>
                <a:spcPct val="150000"/>
              </a:lnSpc>
            </a:pPr>
            <a:r>
              <a:rPr lang="en-US" sz="2800" dirty="0">
                <a:latin typeface="Calibir"/>
              </a:rPr>
              <a:t>Missing one class can make later topics difficult.</a:t>
            </a:r>
          </a:p>
          <a:p>
            <a:pPr>
              <a:lnSpc>
                <a:spcPct val="150000"/>
              </a:lnSpc>
            </a:pPr>
            <a:r>
              <a:rPr lang="en-US" sz="2800" b="1" dirty="0">
                <a:latin typeface="Calibir"/>
              </a:rPr>
              <a:t>What to do</a:t>
            </a:r>
          </a:p>
          <a:p>
            <a:pPr marL="914400" lvl="1" indent="-457200">
              <a:lnSpc>
                <a:spcPct val="150000"/>
              </a:lnSpc>
              <a:buFont typeface="Arial" panose="020B0604020202020204" pitchFamily="34" charset="0"/>
              <a:buChar char="•"/>
            </a:pPr>
            <a:r>
              <a:rPr lang="en-US" sz="2800" dirty="0">
                <a:latin typeface="Calibir"/>
              </a:rPr>
              <a:t>Attend both weekly sessions </a:t>
            </a:r>
          </a:p>
          <a:p>
            <a:pPr marL="914400" lvl="1" indent="-457200">
              <a:lnSpc>
                <a:spcPct val="150000"/>
              </a:lnSpc>
              <a:buFont typeface="Arial" panose="020B0604020202020204" pitchFamily="34" charset="0"/>
              <a:buChar char="•"/>
            </a:pPr>
            <a:r>
              <a:rPr lang="en-US" sz="2800" dirty="0">
                <a:latin typeface="Calibir"/>
              </a:rPr>
              <a:t>Take notes </a:t>
            </a:r>
          </a:p>
          <a:p>
            <a:pPr marL="914400" lvl="1" indent="-457200">
              <a:lnSpc>
                <a:spcPct val="150000"/>
              </a:lnSpc>
              <a:buFont typeface="Arial" panose="020B0604020202020204" pitchFamily="34" charset="0"/>
              <a:buChar char="•"/>
            </a:pPr>
            <a:r>
              <a:rPr lang="en-US" sz="2800" dirty="0">
                <a:latin typeface="Calibir"/>
              </a:rPr>
              <a:t>Ask questions </a:t>
            </a:r>
          </a:p>
          <a:p>
            <a:pPr marL="914400" lvl="1" indent="-457200">
              <a:lnSpc>
                <a:spcPct val="150000"/>
              </a:lnSpc>
              <a:buFont typeface="Arial" panose="020B0604020202020204" pitchFamily="34" charset="0"/>
              <a:buChar char="•"/>
            </a:pPr>
            <a:r>
              <a:rPr lang="en-US" sz="2800" dirty="0">
                <a:latin typeface="Calibir"/>
              </a:rPr>
              <a:t>Watch demonstrations carefully </a:t>
            </a:r>
          </a:p>
        </p:txBody>
      </p:sp>
    </p:spTree>
    <p:extLst>
      <p:ext uri="{BB962C8B-B14F-4D97-AF65-F5344CB8AC3E}">
        <p14:creationId xmlns:p14="http://schemas.microsoft.com/office/powerpoint/2010/main" val="606369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EB2F-8618-0BE9-F431-9E34393B66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C9D9A0-E5B3-E641-85D9-8459ADDDCBA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57096EAE-FCEE-6D20-EFDA-49EE614E1242}"/>
              </a:ext>
            </a:extLst>
          </p:cNvPr>
          <p:cNvSpPr txBox="1"/>
          <p:nvPr/>
        </p:nvSpPr>
        <p:spPr>
          <a:xfrm>
            <a:off x="0" y="830917"/>
            <a:ext cx="12061603" cy="2610843"/>
          </a:xfrm>
          <a:prstGeom prst="rect">
            <a:avLst/>
          </a:prstGeom>
          <a:noFill/>
        </p:spPr>
        <p:txBody>
          <a:bodyPr wrap="square">
            <a:spAutoFit/>
          </a:bodyPr>
          <a:lstStyle/>
          <a:p>
            <a:pPr>
              <a:lnSpc>
                <a:spcPct val="150000"/>
              </a:lnSpc>
            </a:pPr>
            <a:r>
              <a:rPr lang="en-US" sz="2800" b="1" dirty="0">
                <a:latin typeface="Calibir"/>
              </a:rPr>
              <a:t>Avoid</a:t>
            </a:r>
          </a:p>
          <a:p>
            <a:pPr marL="914400" lvl="1" indent="-457200">
              <a:lnSpc>
                <a:spcPct val="150000"/>
              </a:lnSpc>
              <a:buFont typeface="Arial" panose="020B0604020202020204" pitchFamily="34" charset="0"/>
              <a:buChar char="•"/>
            </a:pPr>
            <a:r>
              <a:rPr lang="en-US" sz="2800" dirty="0">
                <a:latin typeface="Calibir"/>
              </a:rPr>
              <a:t>Skipping practical labs </a:t>
            </a:r>
          </a:p>
          <a:p>
            <a:pPr marL="914400" lvl="1" indent="-457200">
              <a:lnSpc>
                <a:spcPct val="150000"/>
              </a:lnSpc>
              <a:buFont typeface="Arial" panose="020B0604020202020204" pitchFamily="34" charset="0"/>
              <a:buChar char="•"/>
            </a:pPr>
            <a:r>
              <a:rPr lang="en-US" sz="2800" dirty="0">
                <a:latin typeface="Calibir"/>
              </a:rPr>
              <a:t>Relying only on slides </a:t>
            </a:r>
          </a:p>
          <a:p>
            <a:pPr marL="914400" lvl="1" indent="-457200">
              <a:lnSpc>
                <a:spcPct val="150000"/>
              </a:lnSpc>
              <a:buFont typeface="Arial" panose="020B0604020202020204" pitchFamily="34" charset="0"/>
              <a:buChar char="•"/>
            </a:pPr>
            <a:r>
              <a:rPr lang="en-US" sz="2800" dirty="0">
                <a:latin typeface="Calibir"/>
              </a:rPr>
              <a:t>Waiting until assessment week</a:t>
            </a:r>
          </a:p>
        </p:txBody>
      </p:sp>
    </p:spTree>
    <p:extLst>
      <p:ext uri="{BB962C8B-B14F-4D97-AF65-F5344CB8AC3E}">
        <p14:creationId xmlns:p14="http://schemas.microsoft.com/office/powerpoint/2010/main" val="4011676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7C91D-D724-8DB9-5388-A24269BEA8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B57760-126D-A579-B97A-B6FAC5D62AF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17A1D9E5-49A1-4F8F-B5F4-0286E2D862D1}"/>
              </a:ext>
            </a:extLst>
          </p:cNvPr>
          <p:cNvSpPr txBox="1"/>
          <p:nvPr/>
        </p:nvSpPr>
        <p:spPr>
          <a:xfrm>
            <a:off x="0" y="830917"/>
            <a:ext cx="12061603" cy="3903504"/>
          </a:xfrm>
          <a:prstGeom prst="rect">
            <a:avLst/>
          </a:prstGeom>
          <a:noFill/>
        </p:spPr>
        <p:txBody>
          <a:bodyPr wrap="square">
            <a:spAutoFit/>
          </a:bodyPr>
          <a:lstStyle/>
          <a:p>
            <a:pPr>
              <a:lnSpc>
                <a:spcPct val="150000"/>
              </a:lnSpc>
            </a:pPr>
            <a:r>
              <a:rPr lang="en-US" sz="2800" b="1" dirty="0">
                <a:latin typeface="Calibir"/>
              </a:rPr>
              <a:t>Step 2 – </a:t>
            </a:r>
            <a:r>
              <a:rPr lang="en-US" sz="2800" b="1" dirty="0" err="1">
                <a:latin typeface="Calibir"/>
              </a:rPr>
              <a:t>Practise</a:t>
            </a:r>
            <a:r>
              <a:rPr lang="en-US" sz="2800" b="1" dirty="0">
                <a:latin typeface="Calibir"/>
              </a:rPr>
              <a:t> Coding Every Week</a:t>
            </a:r>
          </a:p>
          <a:p>
            <a:pPr>
              <a:lnSpc>
                <a:spcPct val="150000"/>
              </a:lnSpc>
            </a:pPr>
            <a:r>
              <a:rPr lang="en-US" sz="2800" dirty="0">
                <a:latin typeface="Calibir"/>
              </a:rPr>
              <a:t>Coding improves only with practice.</a:t>
            </a:r>
          </a:p>
          <a:p>
            <a:pPr>
              <a:lnSpc>
                <a:spcPct val="150000"/>
              </a:lnSpc>
            </a:pPr>
            <a:r>
              <a:rPr lang="en-US" sz="2800" b="1" dirty="0">
                <a:latin typeface="Calibir"/>
              </a:rPr>
              <a:t>Minimum Recommendation</a:t>
            </a:r>
          </a:p>
          <a:p>
            <a:pPr>
              <a:lnSpc>
                <a:spcPct val="150000"/>
              </a:lnSpc>
            </a:pPr>
            <a:r>
              <a:rPr lang="en-US" sz="2800" dirty="0">
                <a:latin typeface="Calibir"/>
              </a:rPr>
              <a:t>Practice:</a:t>
            </a:r>
          </a:p>
          <a:p>
            <a:pPr marL="914400" lvl="1" indent="-457200">
              <a:lnSpc>
                <a:spcPct val="150000"/>
              </a:lnSpc>
              <a:buFont typeface="Arial" panose="020B0604020202020204" pitchFamily="34" charset="0"/>
              <a:buChar char="•"/>
            </a:pPr>
            <a:r>
              <a:rPr lang="en-US" sz="2800" dirty="0">
                <a:latin typeface="Calibir"/>
              </a:rPr>
              <a:t>30–60 minutes daily </a:t>
            </a:r>
          </a:p>
          <a:p>
            <a:pPr marL="914400" lvl="1" indent="-457200">
              <a:lnSpc>
                <a:spcPct val="150000"/>
              </a:lnSpc>
              <a:buFont typeface="Arial" panose="020B0604020202020204" pitchFamily="34" charset="0"/>
              <a:buChar char="•"/>
            </a:pPr>
            <a:r>
              <a:rPr lang="en-US" sz="2800" dirty="0">
                <a:latin typeface="Calibir"/>
              </a:rPr>
              <a:t>Build small webpages weekly </a:t>
            </a:r>
          </a:p>
        </p:txBody>
      </p:sp>
    </p:spTree>
    <p:extLst>
      <p:ext uri="{BB962C8B-B14F-4D97-AF65-F5344CB8AC3E}">
        <p14:creationId xmlns:p14="http://schemas.microsoft.com/office/powerpoint/2010/main" val="1614002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6E08-5E9E-8986-8667-784A04B56C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C8D023-8349-5D90-1C8D-4E03622A89E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11651983-6894-9B63-193A-9A27C1B8ADEC}"/>
              </a:ext>
            </a:extLst>
          </p:cNvPr>
          <p:cNvSpPr txBox="1"/>
          <p:nvPr/>
        </p:nvSpPr>
        <p:spPr>
          <a:xfrm>
            <a:off x="0" y="830917"/>
            <a:ext cx="12061603" cy="3257174"/>
          </a:xfrm>
          <a:prstGeom prst="rect">
            <a:avLst/>
          </a:prstGeom>
          <a:noFill/>
        </p:spPr>
        <p:txBody>
          <a:bodyPr wrap="square">
            <a:spAutoFit/>
          </a:bodyPr>
          <a:lstStyle/>
          <a:p>
            <a:pPr>
              <a:lnSpc>
                <a:spcPct val="150000"/>
              </a:lnSpc>
            </a:pPr>
            <a:r>
              <a:rPr lang="en-US" sz="2800" b="1" dirty="0">
                <a:latin typeface="Calibir"/>
              </a:rPr>
              <a:t>Good Habit</a:t>
            </a:r>
          </a:p>
          <a:p>
            <a:pPr>
              <a:lnSpc>
                <a:spcPct val="150000"/>
              </a:lnSpc>
            </a:pPr>
            <a:r>
              <a:rPr lang="en-US" sz="2800" dirty="0">
                <a:latin typeface="Calibir"/>
              </a:rPr>
              <a:t>After each class:</a:t>
            </a:r>
          </a:p>
          <a:p>
            <a:pPr marL="971550" lvl="1" indent="-514350">
              <a:lnSpc>
                <a:spcPct val="150000"/>
              </a:lnSpc>
              <a:buFont typeface="+mj-lt"/>
              <a:buAutoNum type="arabicPeriod"/>
            </a:pPr>
            <a:r>
              <a:rPr lang="en-US" sz="2800" dirty="0">
                <a:latin typeface="Calibir"/>
              </a:rPr>
              <a:t>Re-type the examples yourself </a:t>
            </a:r>
          </a:p>
          <a:p>
            <a:pPr marL="971550" lvl="1" indent="-514350">
              <a:lnSpc>
                <a:spcPct val="150000"/>
              </a:lnSpc>
              <a:buFont typeface="+mj-lt"/>
              <a:buAutoNum type="arabicPeriod"/>
            </a:pPr>
            <a:r>
              <a:rPr lang="en-US" sz="2800" dirty="0">
                <a:latin typeface="Calibir"/>
              </a:rPr>
              <a:t>Change colors, text, images </a:t>
            </a:r>
          </a:p>
          <a:p>
            <a:pPr marL="971550" lvl="1" indent="-514350">
              <a:lnSpc>
                <a:spcPct val="150000"/>
              </a:lnSpc>
              <a:buFont typeface="+mj-lt"/>
              <a:buAutoNum type="arabicPeriod"/>
            </a:pPr>
            <a:r>
              <a:rPr lang="en-US" sz="2800" dirty="0">
                <a:latin typeface="Calibir"/>
              </a:rPr>
              <a:t>Experiment with layouts</a:t>
            </a:r>
          </a:p>
        </p:txBody>
      </p:sp>
    </p:spTree>
    <p:extLst>
      <p:ext uri="{BB962C8B-B14F-4D97-AF65-F5344CB8AC3E}">
        <p14:creationId xmlns:p14="http://schemas.microsoft.com/office/powerpoint/2010/main" val="1062370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8A5F9-813C-9258-4BA8-E598886E8E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68F5B4-FD5F-3EB3-E0B5-2DCECE91DD4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DA3DC750-55CA-1EB2-F0C8-852A709BA43E}"/>
              </a:ext>
            </a:extLst>
          </p:cNvPr>
          <p:cNvSpPr txBox="1"/>
          <p:nvPr/>
        </p:nvSpPr>
        <p:spPr>
          <a:xfrm>
            <a:off x="0" y="584775"/>
            <a:ext cx="12061603" cy="6632072"/>
          </a:xfrm>
          <a:prstGeom prst="rect">
            <a:avLst/>
          </a:prstGeom>
          <a:noFill/>
        </p:spPr>
        <p:txBody>
          <a:bodyPr wrap="square">
            <a:spAutoFit/>
          </a:bodyPr>
          <a:lstStyle/>
          <a:p>
            <a:pPr>
              <a:lnSpc>
                <a:spcPct val="150000"/>
              </a:lnSpc>
            </a:pPr>
            <a:r>
              <a:rPr lang="en-US" sz="2500" b="1" dirty="0">
                <a:latin typeface="Calibir"/>
              </a:rPr>
              <a:t>Step 3 – Create a Practice Folder</a:t>
            </a:r>
          </a:p>
          <a:p>
            <a:pPr>
              <a:lnSpc>
                <a:spcPct val="150000"/>
              </a:lnSpc>
            </a:pPr>
            <a:r>
              <a:rPr lang="en-US" sz="2500" dirty="0">
                <a:latin typeface="Calibir"/>
              </a:rPr>
              <a:t>Organize your work.</a:t>
            </a:r>
          </a:p>
          <a:p>
            <a:pPr>
              <a:lnSpc>
                <a:spcPct val="150000"/>
              </a:lnSpc>
            </a:pPr>
            <a:r>
              <a:rPr lang="en-US" sz="2500" dirty="0">
                <a:latin typeface="Calibir"/>
              </a:rPr>
              <a:t>Example:</a:t>
            </a:r>
          </a:p>
          <a:p>
            <a:pPr>
              <a:lnSpc>
                <a:spcPct val="150000"/>
              </a:lnSpc>
            </a:pPr>
            <a:r>
              <a:rPr lang="en-US" sz="2500" dirty="0">
                <a:latin typeface="Calibir"/>
              </a:rPr>
              <a:t>HS1021/</a:t>
            </a:r>
            <a:br>
              <a:rPr lang="en-US" sz="2500" dirty="0">
                <a:latin typeface="Calibir"/>
              </a:rPr>
            </a:br>
            <a:r>
              <a:rPr lang="en-US" sz="2500" dirty="0">
                <a:latin typeface="Calibir"/>
              </a:rPr>
              <a:t> ├ Week 1 and 2/</a:t>
            </a:r>
            <a:br>
              <a:rPr lang="en-US" sz="2500" dirty="0">
                <a:latin typeface="Calibir"/>
              </a:rPr>
            </a:br>
            <a:r>
              <a:rPr lang="en-US" sz="2500" dirty="0">
                <a:latin typeface="Calibir"/>
              </a:rPr>
              <a:t> ├ Week 3 and 4/</a:t>
            </a:r>
            <a:br>
              <a:rPr lang="en-US" sz="2500" dirty="0">
                <a:latin typeface="Calibir"/>
              </a:rPr>
            </a:br>
            <a:r>
              <a:rPr lang="en-US" sz="2500" dirty="0">
                <a:latin typeface="Calibir"/>
              </a:rPr>
              <a:t> ├ Week 5 and 6/</a:t>
            </a:r>
            <a:br>
              <a:rPr lang="en-US" sz="2500" dirty="0">
                <a:latin typeface="Calibir"/>
              </a:rPr>
            </a:br>
            <a:r>
              <a:rPr lang="en-US" sz="2500" dirty="0">
                <a:latin typeface="Calibir"/>
              </a:rPr>
              <a:t> ├ Images/</a:t>
            </a:r>
            <a:br>
              <a:rPr lang="en-US" sz="2500" dirty="0">
                <a:latin typeface="Calibir"/>
              </a:rPr>
            </a:br>
            <a:r>
              <a:rPr lang="en-US" sz="2500" dirty="0">
                <a:latin typeface="Calibir"/>
              </a:rPr>
              <a:t> ├ CSS/</a:t>
            </a:r>
            <a:br>
              <a:rPr lang="en-US" sz="2500" dirty="0">
                <a:latin typeface="Calibir"/>
              </a:rPr>
            </a:br>
            <a:r>
              <a:rPr lang="en-US" sz="2500" dirty="0">
                <a:latin typeface="Calibir"/>
              </a:rPr>
              <a:t>  └─ Assignment/</a:t>
            </a:r>
          </a:p>
          <a:p>
            <a:pPr>
              <a:lnSpc>
                <a:spcPct val="150000"/>
              </a:lnSpc>
            </a:pPr>
            <a:r>
              <a:rPr lang="en-US" sz="2500" dirty="0">
                <a:latin typeface="Calibir"/>
              </a:rPr>
              <a:t>This helps avoid confusion later.</a:t>
            </a:r>
          </a:p>
        </p:txBody>
      </p:sp>
    </p:spTree>
    <p:extLst>
      <p:ext uri="{BB962C8B-B14F-4D97-AF65-F5344CB8AC3E}">
        <p14:creationId xmlns:p14="http://schemas.microsoft.com/office/powerpoint/2010/main" val="1830935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9835-7BDC-6377-94F7-9D52C096CE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BB273D-58D4-9D8A-D1D7-7CE474C0ED3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B304CD42-9F52-570A-39EE-430C40F6FBD7}"/>
              </a:ext>
            </a:extLst>
          </p:cNvPr>
          <p:cNvSpPr txBox="1"/>
          <p:nvPr/>
        </p:nvSpPr>
        <p:spPr>
          <a:xfrm>
            <a:off x="0" y="584775"/>
            <a:ext cx="12061603" cy="5196166"/>
          </a:xfrm>
          <a:prstGeom prst="rect">
            <a:avLst/>
          </a:prstGeom>
          <a:noFill/>
        </p:spPr>
        <p:txBody>
          <a:bodyPr wrap="square">
            <a:spAutoFit/>
          </a:bodyPr>
          <a:lstStyle/>
          <a:p>
            <a:pPr>
              <a:lnSpc>
                <a:spcPct val="150000"/>
              </a:lnSpc>
            </a:pPr>
            <a:r>
              <a:rPr lang="en-US" sz="2800" b="1" dirty="0">
                <a:latin typeface="Calibir"/>
              </a:rPr>
              <a:t>Step 4 – Learn by Building</a:t>
            </a:r>
          </a:p>
          <a:p>
            <a:pPr>
              <a:lnSpc>
                <a:spcPct val="150000"/>
              </a:lnSpc>
            </a:pPr>
            <a:r>
              <a:rPr lang="en-US" sz="2800" dirty="0">
                <a:latin typeface="Calibir"/>
              </a:rPr>
              <a:t>Do not memorize only.</a:t>
            </a:r>
          </a:p>
          <a:p>
            <a:pPr>
              <a:lnSpc>
                <a:spcPct val="150000"/>
              </a:lnSpc>
            </a:pPr>
            <a:r>
              <a:rPr lang="en-US" sz="2800" dirty="0">
                <a:latin typeface="Calibir"/>
              </a:rPr>
              <a:t>Build:</a:t>
            </a:r>
          </a:p>
          <a:p>
            <a:pPr marL="914400" lvl="1" indent="-457200">
              <a:lnSpc>
                <a:spcPct val="150000"/>
              </a:lnSpc>
              <a:buFont typeface="Arial" panose="020B0604020202020204" pitchFamily="34" charset="0"/>
              <a:buChar char="•"/>
            </a:pPr>
            <a:r>
              <a:rPr lang="en-US" sz="2800" dirty="0">
                <a:latin typeface="Calibir"/>
              </a:rPr>
              <a:t>Personal webpage </a:t>
            </a:r>
          </a:p>
          <a:p>
            <a:pPr marL="914400" lvl="1" indent="-457200">
              <a:lnSpc>
                <a:spcPct val="150000"/>
              </a:lnSpc>
              <a:buFont typeface="Arial" panose="020B0604020202020204" pitchFamily="34" charset="0"/>
              <a:buChar char="•"/>
            </a:pPr>
            <a:r>
              <a:rPr lang="en-US" sz="2800" dirty="0">
                <a:latin typeface="Calibir"/>
              </a:rPr>
              <a:t>Restaurant webpage </a:t>
            </a:r>
          </a:p>
          <a:p>
            <a:pPr marL="914400" lvl="1" indent="-457200">
              <a:lnSpc>
                <a:spcPct val="150000"/>
              </a:lnSpc>
              <a:buFont typeface="Arial" panose="020B0604020202020204" pitchFamily="34" charset="0"/>
              <a:buChar char="•"/>
            </a:pPr>
            <a:r>
              <a:rPr lang="en-US" sz="2800" dirty="0">
                <a:latin typeface="Calibir"/>
              </a:rPr>
              <a:t>Portfolio webpage </a:t>
            </a:r>
          </a:p>
          <a:p>
            <a:pPr marL="914400" lvl="1" indent="-457200">
              <a:lnSpc>
                <a:spcPct val="150000"/>
              </a:lnSpc>
              <a:buFont typeface="Arial" panose="020B0604020202020204" pitchFamily="34" charset="0"/>
              <a:buChar char="•"/>
            </a:pPr>
            <a:r>
              <a:rPr lang="en-US" sz="2800" dirty="0">
                <a:latin typeface="Calibir"/>
              </a:rPr>
              <a:t>E-commerce homepage </a:t>
            </a:r>
          </a:p>
          <a:p>
            <a:pPr>
              <a:lnSpc>
                <a:spcPct val="150000"/>
              </a:lnSpc>
            </a:pPr>
            <a:r>
              <a:rPr lang="en-US" sz="2800" dirty="0">
                <a:latin typeface="Calibir"/>
              </a:rPr>
              <a:t>Small projects improve skills quickly.</a:t>
            </a:r>
          </a:p>
        </p:txBody>
      </p:sp>
    </p:spTree>
    <p:extLst>
      <p:ext uri="{BB962C8B-B14F-4D97-AF65-F5344CB8AC3E}">
        <p14:creationId xmlns:p14="http://schemas.microsoft.com/office/powerpoint/2010/main" val="1382399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826C0-FA55-17DB-9A71-A77E006652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28D3686-983C-E06D-70FE-D70B8C96466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6EC8411A-D79E-E9C3-291D-EFFF56C5626E}"/>
              </a:ext>
            </a:extLst>
          </p:cNvPr>
          <p:cNvSpPr txBox="1"/>
          <p:nvPr/>
        </p:nvSpPr>
        <p:spPr>
          <a:xfrm>
            <a:off x="0" y="584775"/>
            <a:ext cx="12061603" cy="5196166"/>
          </a:xfrm>
          <a:prstGeom prst="rect">
            <a:avLst/>
          </a:prstGeom>
          <a:noFill/>
        </p:spPr>
        <p:txBody>
          <a:bodyPr wrap="square">
            <a:spAutoFit/>
          </a:bodyPr>
          <a:lstStyle/>
          <a:p>
            <a:pPr>
              <a:lnSpc>
                <a:spcPct val="150000"/>
              </a:lnSpc>
            </a:pPr>
            <a:r>
              <a:rPr lang="en-US" sz="2800" b="1" dirty="0">
                <a:latin typeface="Calibir"/>
              </a:rPr>
              <a:t>6. Lab Test Preparation Guide</a:t>
            </a:r>
          </a:p>
          <a:p>
            <a:pPr>
              <a:lnSpc>
                <a:spcPct val="150000"/>
              </a:lnSpc>
            </a:pPr>
            <a:r>
              <a:rPr lang="en-US" sz="2800" dirty="0">
                <a:latin typeface="Calibir"/>
              </a:rPr>
              <a:t>The Lab Test uses questions from tutorials and lectures.</a:t>
            </a:r>
          </a:p>
          <a:p>
            <a:pPr>
              <a:lnSpc>
                <a:spcPct val="150000"/>
              </a:lnSpc>
            </a:pPr>
            <a:r>
              <a:rPr lang="en-US" sz="2800" b="1" dirty="0">
                <a:latin typeface="Calibir"/>
              </a:rPr>
              <a:t>Best Preparation Method</a:t>
            </a:r>
          </a:p>
          <a:p>
            <a:pPr>
              <a:lnSpc>
                <a:spcPct val="150000"/>
              </a:lnSpc>
            </a:pPr>
            <a:r>
              <a:rPr lang="en-US" sz="2800" b="1" dirty="0">
                <a:latin typeface="Calibir"/>
              </a:rPr>
              <a:t>1. Review Tutorial Questions Weekly</a:t>
            </a:r>
          </a:p>
          <a:p>
            <a:pPr>
              <a:lnSpc>
                <a:spcPct val="150000"/>
              </a:lnSpc>
            </a:pPr>
            <a:r>
              <a:rPr lang="en-US" sz="2800" dirty="0">
                <a:latin typeface="Calibir"/>
              </a:rPr>
              <a:t>Especially:</a:t>
            </a:r>
          </a:p>
          <a:p>
            <a:pPr marL="914400" lvl="1" indent="-457200">
              <a:lnSpc>
                <a:spcPct val="150000"/>
              </a:lnSpc>
              <a:buFont typeface="Arial" panose="020B0604020202020204" pitchFamily="34" charset="0"/>
              <a:buChar char="•"/>
            </a:pPr>
            <a:r>
              <a:rPr lang="en-US" sz="2800" dirty="0">
                <a:latin typeface="Calibir"/>
              </a:rPr>
              <a:t>Multiple choice </a:t>
            </a:r>
          </a:p>
          <a:p>
            <a:pPr marL="914400" lvl="1" indent="-457200">
              <a:lnSpc>
                <a:spcPct val="150000"/>
              </a:lnSpc>
              <a:buFont typeface="Arial" panose="020B0604020202020204" pitchFamily="34" charset="0"/>
              <a:buChar char="•"/>
            </a:pPr>
            <a:r>
              <a:rPr lang="en-US" sz="2800" dirty="0">
                <a:latin typeface="Calibir"/>
              </a:rPr>
              <a:t>True/False </a:t>
            </a:r>
          </a:p>
          <a:p>
            <a:pPr marL="914400" lvl="1" indent="-457200">
              <a:lnSpc>
                <a:spcPct val="150000"/>
              </a:lnSpc>
              <a:buFont typeface="Arial" panose="020B0604020202020204" pitchFamily="34" charset="0"/>
              <a:buChar char="•"/>
            </a:pPr>
            <a:r>
              <a:rPr lang="en-US" sz="2800" dirty="0">
                <a:latin typeface="Calibir"/>
              </a:rPr>
              <a:t>Definitions</a:t>
            </a:r>
          </a:p>
        </p:txBody>
      </p:sp>
    </p:spTree>
    <p:extLst>
      <p:ext uri="{BB962C8B-B14F-4D97-AF65-F5344CB8AC3E}">
        <p14:creationId xmlns:p14="http://schemas.microsoft.com/office/powerpoint/2010/main" val="4186287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C343C-8EF9-3257-624C-65DB8BA365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B0095D-6299-2AC4-FAD5-C8C8DFA6F71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883BF7B3-069B-00CE-AE56-A8DA5AF2EBBB}"/>
              </a:ext>
            </a:extLst>
          </p:cNvPr>
          <p:cNvSpPr txBox="1"/>
          <p:nvPr/>
        </p:nvSpPr>
        <p:spPr>
          <a:xfrm>
            <a:off x="0" y="584775"/>
            <a:ext cx="12061603" cy="675441"/>
          </a:xfrm>
          <a:prstGeom prst="rect">
            <a:avLst/>
          </a:prstGeom>
          <a:noFill/>
        </p:spPr>
        <p:txBody>
          <a:bodyPr wrap="square">
            <a:spAutoFit/>
          </a:bodyPr>
          <a:lstStyle/>
          <a:p>
            <a:pPr>
              <a:lnSpc>
                <a:spcPct val="150000"/>
              </a:lnSpc>
            </a:pPr>
            <a:r>
              <a:rPr lang="en-US" sz="2800" b="1" dirty="0">
                <a:latin typeface="Calibir"/>
              </a:rPr>
              <a:t>2. Memorize Important Terms</a:t>
            </a:r>
          </a:p>
        </p:txBody>
      </p:sp>
      <p:graphicFrame>
        <p:nvGraphicFramePr>
          <p:cNvPr id="2" name="Table 1">
            <a:extLst>
              <a:ext uri="{FF2B5EF4-FFF2-40B4-BE49-F238E27FC236}">
                <a16:creationId xmlns:a16="http://schemas.microsoft.com/office/drawing/2014/main" id="{3575C7BF-0ABB-151B-80D9-CE72CFAC8842}"/>
              </a:ext>
            </a:extLst>
          </p:cNvPr>
          <p:cNvGraphicFramePr>
            <a:graphicFrameLocks noGrp="1"/>
          </p:cNvGraphicFramePr>
          <p:nvPr>
            <p:extLst>
              <p:ext uri="{D42A27DB-BD31-4B8C-83A1-F6EECF244321}">
                <p14:modId xmlns:p14="http://schemas.microsoft.com/office/powerpoint/2010/main" val="634560622"/>
              </p:ext>
            </p:extLst>
          </p:nvPr>
        </p:nvGraphicFramePr>
        <p:xfrm>
          <a:off x="773001" y="2194560"/>
          <a:ext cx="10515600" cy="466344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1540094220"/>
                    </a:ext>
                  </a:extLst>
                </a:gridCol>
                <a:gridCol w="5257800">
                  <a:extLst>
                    <a:ext uri="{9D8B030D-6E8A-4147-A177-3AD203B41FA5}">
                      <a16:colId xmlns:a16="http://schemas.microsoft.com/office/drawing/2014/main" val="2648296991"/>
                    </a:ext>
                  </a:extLst>
                </a:gridCol>
              </a:tblGrid>
              <a:tr h="0">
                <a:tc>
                  <a:txBody>
                    <a:bodyPr/>
                    <a:lstStyle/>
                    <a:p>
                      <a:pPr>
                        <a:buNone/>
                      </a:pPr>
                      <a:r>
                        <a:rPr lang="en-US" sz="2800" dirty="0">
                          <a:latin typeface="Calibir"/>
                        </a:rPr>
                        <a:t>Term</a:t>
                      </a:r>
                    </a:p>
                  </a:txBody>
                  <a:tcPr anchor="ctr">
                    <a:solidFill>
                      <a:schemeClr val="accent5">
                        <a:lumMod val="20000"/>
                        <a:lumOff val="80000"/>
                      </a:schemeClr>
                    </a:solidFill>
                  </a:tcPr>
                </a:tc>
                <a:tc>
                  <a:txBody>
                    <a:bodyPr/>
                    <a:lstStyle/>
                    <a:p>
                      <a:pPr>
                        <a:buNone/>
                      </a:pPr>
                      <a:r>
                        <a:rPr lang="en-US" sz="2800" dirty="0">
                          <a:latin typeface="Calibir"/>
                        </a:rPr>
                        <a:t>Meaning</a:t>
                      </a:r>
                    </a:p>
                  </a:txBody>
                  <a:tcPr anchor="ctr">
                    <a:solidFill>
                      <a:schemeClr val="accent5">
                        <a:lumMod val="20000"/>
                        <a:lumOff val="80000"/>
                      </a:schemeClr>
                    </a:solidFill>
                  </a:tcPr>
                </a:tc>
                <a:extLst>
                  <a:ext uri="{0D108BD9-81ED-4DB2-BD59-A6C34878D82A}">
                    <a16:rowId xmlns:a16="http://schemas.microsoft.com/office/drawing/2014/main" val="603887454"/>
                  </a:ext>
                </a:extLst>
              </a:tr>
              <a:tr h="0">
                <a:tc>
                  <a:txBody>
                    <a:bodyPr/>
                    <a:lstStyle/>
                    <a:p>
                      <a:pPr>
                        <a:buNone/>
                      </a:pPr>
                      <a:r>
                        <a:rPr lang="en-US" sz="2800">
                          <a:latin typeface="Calibir"/>
                        </a:rPr>
                        <a:t>Server</a:t>
                      </a:r>
                    </a:p>
                  </a:txBody>
                  <a:tcPr anchor="ctr"/>
                </a:tc>
                <a:tc>
                  <a:txBody>
                    <a:bodyPr/>
                    <a:lstStyle/>
                    <a:p>
                      <a:pPr>
                        <a:buNone/>
                      </a:pPr>
                      <a:r>
                        <a:rPr lang="en-US" sz="2800">
                          <a:latin typeface="Calibir"/>
                        </a:rPr>
                        <a:t>Computer storing websites</a:t>
                      </a:r>
                    </a:p>
                  </a:txBody>
                  <a:tcPr anchor="ctr"/>
                </a:tc>
                <a:extLst>
                  <a:ext uri="{0D108BD9-81ED-4DB2-BD59-A6C34878D82A}">
                    <a16:rowId xmlns:a16="http://schemas.microsoft.com/office/drawing/2014/main" val="1344611026"/>
                  </a:ext>
                </a:extLst>
              </a:tr>
              <a:tr h="0">
                <a:tc>
                  <a:txBody>
                    <a:bodyPr/>
                    <a:lstStyle/>
                    <a:p>
                      <a:pPr>
                        <a:buNone/>
                      </a:pPr>
                      <a:r>
                        <a:rPr lang="en-US" sz="2800">
                          <a:latin typeface="Calibir"/>
                        </a:rPr>
                        <a:t>Client</a:t>
                      </a:r>
                    </a:p>
                  </a:txBody>
                  <a:tcPr anchor="ctr"/>
                </a:tc>
                <a:tc>
                  <a:txBody>
                    <a:bodyPr/>
                    <a:lstStyle/>
                    <a:p>
                      <a:pPr>
                        <a:buNone/>
                      </a:pPr>
                      <a:r>
                        <a:rPr lang="en-US" sz="2800">
                          <a:latin typeface="Calibir"/>
                        </a:rPr>
                        <a:t>User computer/browser</a:t>
                      </a:r>
                    </a:p>
                  </a:txBody>
                  <a:tcPr anchor="ctr"/>
                </a:tc>
                <a:extLst>
                  <a:ext uri="{0D108BD9-81ED-4DB2-BD59-A6C34878D82A}">
                    <a16:rowId xmlns:a16="http://schemas.microsoft.com/office/drawing/2014/main" val="4063056823"/>
                  </a:ext>
                </a:extLst>
              </a:tr>
              <a:tr h="0">
                <a:tc>
                  <a:txBody>
                    <a:bodyPr/>
                    <a:lstStyle/>
                    <a:p>
                      <a:pPr>
                        <a:buNone/>
                      </a:pPr>
                      <a:r>
                        <a:rPr lang="en-US" sz="2800">
                          <a:latin typeface="Calibir"/>
                        </a:rPr>
                        <a:t>HTTP</a:t>
                      </a:r>
                    </a:p>
                  </a:txBody>
                  <a:tcPr anchor="ctr"/>
                </a:tc>
                <a:tc>
                  <a:txBody>
                    <a:bodyPr/>
                    <a:lstStyle/>
                    <a:p>
                      <a:pPr>
                        <a:buNone/>
                      </a:pPr>
                      <a:r>
                        <a:rPr lang="en-US" sz="2800">
                          <a:latin typeface="Calibir"/>
                        </a:rPr>
                        <a:t>Web communication protocol</a:t>
                      </a:r>
                    </a:p>
                  </a:txBody>
                  <a:tcPr anchor="ctr"/>
                </a:tc>
                <a:extLst>
                  <a:ext uri="{0D108BD9-81ED-4DB2-BD59-A6C34878D82A}">
                    <a16:rowId xmlns:a16="http://schemas.microsoft.com/office/drawing/2014/main" val="1543842929"/>
                  </a:ext>
                </a:extLst>
              </a:tr>
              <a:tr h="0">
                <a:tc>
                  <a:txBody>
                    <a:bodyPr/>
                    <a:lstStyle/>
                    <a:p>
                      <a:pPr>
                        <a:buNone/>
                      </a:pPr>
                      <a:r>
                        <a:rPr lang="en-US" sz="2800">
                          <a:latin typeface="Calibir"/>
                        </a:rPr>
                        <a:t>TCP/IP</a:t>
                      </a:r>
                    </a:p>
                  </a:txBody>
                  <a:tcPr anchor="ctr"/>
                </a:tc>
                <a:tc>
                  <a:txBody>
                    <a:bodyPr/>
                    <a:lstStyle/>
                    <a:p>
                      <a:pPr>
                        <a:buNone/>
                      </a:pPr>
                      <a:r>
                        <a:rPr lang="en-US" sz="2800">
                          <a:latin typeface="Calibir"/>
                        </a:rPr>
                        <a:t>Internet communication rules</a:t>
                      </a:r>
                    </a:p>
                  </a:txBody>
                  <a:tcPr anchor="ctr"/>
                </a:tc>
                <a:extLst>
                  <a:ext uri="{0D108BD9-81ED-4DB2-BD59-A6C34878D82A}">
                    <a16:rowId xmlns:a16="http://schemas.microsoft.com/office/drawing/2014/main" val="2188771049"/>
                  </a:ext>
                </a:extLst>
              </a:tr>
              <a:tr h="0">
                <a:tc>
                  <a:txBody>
                    <a:bodyPr/>
                    <a:lstStyle/>
                    <a:p>
                      <a:pPr>
                        <a:buNone/>
                      </a:pPr>
                      <a:r>
                        <a:rPr lang="en-US" sz="2800">
                          <a:latin typeface="Calibir"/>
                        </a:rPr>
                        <a:t>IP Address</a:t>
                      </a:r>
                    </a:p>
                  </a:txBody>
                  <a:tcPr anchor="ctr"/>
                </a:tc>
                <a:tc>
                  <a:txBody>
                    <a:bodyPr/>
                    <a:lstStyle/>
                    <a:p>
                      <a:pPr>
                        <a:buNone/>
                      </a:pPr>
                      <a:r>
                        <a:rPr lang="en-US" sz="2800">
                          <a:latin typeface="Calibir"/>
                        </a:rPr>
                        <a:t>Device network address</a:t>
                      </a:r>
                    </a:p>
                  </a:txBody>
                  <a:tcPr anchor="ctr"/>
                </a:tc>
                <a:extLst>
                  <a:ext uri="{0D108BD9-81ED-4DB2-BD59-A6C34878D82A}">
                    <a16:rowId xmlns:a16="http://schemas.microsoft.com/office/drawing/2014/main" val="3058159438"/>
                  </a:ext>
                </a:extLst>
              </a:tr>
              <a:tr h="0">
                <a:tc>
                  <a:txBody>
                    <a:bodyPr/>
                    <a:lstStyle/>
                    <a:p>
                      <a:pPr>
                        <a:buNone/>
                      </a:pPr>
                      <a:r>
                        <a:rPr lang="en-US" sz="2800">
                          <a:latin typeface="Calibir"/>
                        </a:rPr>
                        <a:t>Wireframe</a:t>
                      </a:r>
                    </a:p>
                  </a:txBody>
                  <a:tcPr anchor="ctr"/>
                </a:tc>
                <a:tc>
                  <a:txBody>
                    <a:bodyPr/>
                    <a:lstStyle/>
                    <a:p>
                      <a:pPr>
                        <a:buNone/>
                      </a:pPr>
                      <a:r>
                        <a:rPr lang="en-US" sz="2800">
                          <a:latin typeface="Calibir"/>
                        </a:rPr>
                        <a:t>Website planning layout</a:t>
                      </a:r>
                    </a:p>
                  </a:txBody>
                  <a:tcPr anchor="ctr"/>
                </a:tc>
                <a:extLst>
                  <a:ext uri="{0D108BD9-81ED-4DB2-BD59-A6C34878D82A}">
                    <a16:rowId xmlns:a16="http://schemas.microsoft.com/office/drawing/2014/main" val="3249861015"/>
                  </a:ext>
                </a:extLst>
              </a:tr>
              <a:tr h="0">
                <a:tc>
                  <a:txBody>
                    <a:bodyPr/>
                    <a:lstStyle/>
                    <a:p>
                      <a:pPr>
                        <a:buNone/>
                      </a:pPr>
                      <a:r>
                        <a:rPr lang="en-US" sz="2800">
                          <a:latin typeface="Calibir"/>
                        </a:rPr>
                        <a:t>Responsive Design</a:t>
                      </a:r>
                    </a:p>
                  </a:txBody>
                  <a:tcPr anchor="ctr"/>
                </a:tc>
                <a:tc>
                  <a:txBody>
                    <a:bodyPr/>
                    <a:lstStyle/>
                    <a:p>
                      <a:pPr>
                        <a:buNone/>
                      </a:pPr>
                      <a:r>
                        <a:rPr lang="en-US" sz="2800">
                          <a:latin typeface="Calibir"/>
                        </a:rPr>
                        <a:t>Works on all devices</a:t>
                      </a:r>
                    </a:p>
                  </a:txBody>
                  <a:tcPr anchor="ctr"/>
                </a:tc>
                <a:extLst>
                  <a:ext uri="{0D108BD9-81ED-4DB2-BD59-A6C34878D82A}">
                    <a16:rowId xmlns:a16="http://schemas.microsoft.com/office/drawing/2014/main" val="3523894375"/>
                  </a:ext>
                </a:extLst>
              </a:tr>
              <a:tr h="0">
                <a:tc>
                  <a:txBody>
                    <a:bodyPr/>
                    <a:lstStyle/>
                    <a:p>
                      <a:pPr>
                        <a:buNone/>
                      </a:pPr>
                      <a:r>
                        <a:rPr lang="en-US" sz="2800">
                          <a:latin typeface="Calibir"/>
                        </a:rPr>
                        <a:t>W3C</a:t>
                      </a:r>
                    </a:p>
                  </a:txBody>
                  <a:tcPr anchor="ctr"/>
                </a:tc>
                <a:tc>
                  <a:txBody>
                    <a:bodyPr/>
                    <a:lstStyle/>
                    <a:p>
                      <a:pPr>
                        <a:buNone/>
                      </a:pPr>
                      <a:r>
                        <a:rPr lang="en-US" sz="2800" dirty="0">
                          <a:latin typeface="Calibir"/>
                        </a:rPr>
                        <a:t>Web standards organization</a:t>
                      </a:r>
                    </a:p>
                  </a:txBody>
                  <a:tcPr anchor="ctr"/>
                </a:tc>
                <a:extLst>
                  <a:ext uri="{0D108BD9-81ED-4DB2-BD59-A6C34878D82A}">
                    <a16:rowId xmlns:a16="http://schemas.microsoft.com/office/drawing/2014/main" val="2340472980"/>
                  </a:ext>
                </a:extLst>
              </a:tr>
            </a:tbl>
          </a:graphicData>
        </a:graphic>
      </p:graphicFrame>
      <p:sp>
        <p:nvSpPr>
          <p:cNvPr id="6" name="TextBox 5">
            <a:extLst>
              <a:ext uri="{FF2B5EF4-FFF2-40B4-BE49-F238E27FC236}">
                <a16:creationId xmlns:a16="http://schemas.microsoft.com/office/drawing/2014/main" id="{2DB317FB-E2F6-E0B6-4DE3-5CAC081C26AA}"/>
              </a:ext>
            </a:extLst>
          </p:cNvPr>
          <p:cNvSpPr txBox="1"/>
          <p:nvPr/>
        </p:nvSpPr>
        <p:spPr>
          <a:xfrm>
            <a:off x="0" y="1438463"/>
            <a:ext cx="6179574" cy="523220"/>
          </a:xfrm>
          <a:prstGeom prst="rect">
            <a:avLst/>
          </a:prstGeom>
          <a:noFill/>
        </p:spPr>
        <p:txBody>
          <a:bodyPr wrap="square">
            <a:spAutoFit/>
          </a:bodyPr>
          <a:lstStyle/>
          <a:p>
            <a:pPr>
              <a:buNone/>
            </a:pPr>
            <a:r>
              <a:rPr lang="en-US" sz="2800" dirty="0">
                <a:latin typeface="Calibir"/>
              </a:rPr>
              <a:t>Examples:</a:t>
            </a:r>
          </a:p>
        </p:txBody>
      </p:sp>
    </p:spTree>
    <p:extLst>
      <p:ext uri="{BB962C8B-B14F-4D97-AF65-F5344CB8AC3E}">
        <p14:creationId xmlns:p14="http://schemas.microsoft.com/office/powerpoint/2010/main" val="1618928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0717-B364-D309-4FF5-FC3C9D4707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BE989D-39FB-A28A-35A8-486E76702BE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F1373B2F-D9F4-FF00-B304-CA5D486D8AD0}"/>
              </a:ext>
            </a:extLst>
          </p:cNvPr>
          <p:cNvSpPr txBox="1"/>
          <p:nvPr/>
        </p:nvSpPr>
        <p:spPr>
          <a:xfrm>
            <a:off x="0" y="584775"/>
            <a:ext cx="12061603" cy="4549835"/>
          </a:xfrm>
          <a:prstGeom prst="rect">
            <a:avLst/>
          </a:prstGeom>
          <a:noFill/>
        </p:spPr>
        <p:txBody>
          <a:bodyPr wrap="square">
            <a:spAutoFit/>
          </a:bodyPr>
          <a:lstStyle/>
          <a:p>
            <a:pPr>
              <a:lnSpc>
                <a:spcPct val="150000"/>
              </a:lnSpc>
            </a:pPr>
            <a:r>
              <a:rPr lang="en-US" sz="2800" b="1" dirty="0">
                <a:latin typeface="Calibir"/>
              </a:rPr>
              <a:t>3. Practice Essay Questions</a:t>
            </a:r>
          </a:p>
          <a:p>
            <a:pPr>
              <a:lnSpc>
                <a:spcPct val="150000"/>
              </a:lnSpc>
            </a:pPr>
            <a:r>
              <a:rPr lang="en-US" sz="2800" dirty="0">
                <a:latin typeface="Calibir"/>
              </a:rPr>
              <a:t>Example:</a:t>
            </a:r>
          </a:p>
          <a:p>
            <a:pPr>
              <a:lnSpc>
                <a:spcPct val="150000"/>
              </a:lnSpc>
            </a:pPr>
            <a:r>
              <a:rPr lang="en-US" sz="2800" b="1" dirty="0">
                <a:latin typeface="Calibir"/>
              </a:rPr>
              <a:t>Question</a:t>
            </a:r>
          </a:p>
          <a:p>
            <a:pPr>
              <a:lnSpc>
                <a:spcPct val="150000"/>
              </a:lnSpc>
            </a:pPr>
            <a:r>
              <a:rPr lang="en-US" sz="2800" dirty="0">
                <a:latin typeface="Calibir"/>
              </a:rPr>
              <a:t>What is the difference between a text editor and an HTML editor?</a:t>
            </a:r>
          </a:p>
          <a:p>
            <a:pPr>
              <a:lnSpc>
                <a:spcPct val="150000"/>
              </a:lnSpc>
            </a:pPr>
            <a:r>
              <a:rPr lang="en-US" sz="2800" b="1" dirty="0">
                <a:latin typeface="Calibir"/>
              </a:rPr>
              <a:t>Simple Answer</a:t>
            </a:r>
          </a:p>
          <a:p>
            <a:pPr>
              <a:lnSpc>
                <a:spcPct val="150000"/>
              </a:lnSpc>
            </a:pPr>
            <a:r>
              <a:rPr lang="en-US" sz="2800" dirty="0">
                <a:latin typeface="Calibir"/>
              </a:rPr>
              <a:t>A text editor writes plain text only, while an HTML editor helps create webpages with HTML features such as syntax highlighting and webpage preview.</a:t>
            </a:r>
          </a:p>
        </p:txBody>
      </p:sp>
    </p:spTree>
    <p:extLst>
      <p:ext uri="{BB962C8B-B14F-4D97-AF65-F5344CB8AC3E}">
        <p14:creationId xmlns:p14="http://schemas.microsoft.com/office/powerpoint/2010/main" val="2960701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9165F-C3A4-8307-E8CD-DED8CDF0D4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1D975F-AA3A-2794-FBED-D9A76E84DF9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719BA259-F76A-ECEE-4C6E-ED32A377B751}"/>
              </a:ext>
            </a:extLst>
          </p:cNvPr>
          <p:cNvSpPr txBox="1"/>
          <p:nvPr/>
        </p:nvSpPr>
        <p:spPr>
          <a:xfrm>
            <a:off x="0" y="584775"/>
            <a:ext cx="12061603" cy="3903504"/>
          </a:xfrm>
          <a:prstGeom prst="rect">
            <a:avLst/>
          </a:prstGeom>
          <a:noFill/>
        </p:spPr>
        <p:txBody>
          <a:bodyPr wrap="square">
            <a:spAutoFit/>
          </a:bodyPr>
          <a:lstStyle/>
          <a:p>
            <a:pPr>
              <a:lnSpc>
                <a:spcPct val="150000"/>
              </a:lnSpc>
            </a:pPr>
            <a:r>
              <a:rPr lang="en-US" sz="2800" b="1" dirty="0">
                <a:latin typeface="Calibir"/>
              </a:rPr>
              <a:t>4. Practice Time Management</a:t>
            </a:r>
          </a:p>
          <a:p>
            <a:pPr>
              <a:lnSpc>
                <a:spcPct val="150000"/>
              </a:lnSpc>
            </a:pPr>
            <a:r>
              <a:rPr lang="en-US" sz="2800" dirty="0">
                <a:latin typeface="Calibir"/>
              </a:rPr>
              <a:t>The test is only 30 minutes.</a:t>
            </a:r>
          </a:p>
          <a:p>
            <a:pPr>
              <a:lnSpc>
                <a:spcPct val="150000"/>
              </a:lnSpc>
            </a:pPr>
            <a:r>
              <a:rPr lang="en-US" sz="2800" dirty="0">
                <a:latin typeface="Calibir"/>
              </a:rPr>
              <a:t>Tips:</a:t>
            </a:r>
          </a:p>
          <a:p>
            <a:pPr marL="914400" lvl="1" indent="-457200">
              <a:lnSpc>
                <a:spcPct val="150000"/>
              </a:lnSpc>
              <a:buFont typeface="Arial" panose="020B0604020202020204" pitchFamily="34" charset="0"/>
              <a:buChar char="•"/>
            </a:pPr>
            <a:r>
              <a:rPr lang="en-US" sz="2800" dirty="0">
                <a:latin typeface="Calibir"/>
              </a:rPr>
              <a:t>Answer easy questions first </a:t>
            </a:r>
          </a:p>
          <a:p>
            <a:pPr marL="914400" lvl="1" indent="-457200">
              <a:lnSpc>
                <a:spcPct val="150000"/>
              </a:lnSpc>
              <a:buFont typeface="Arial" panose="020B0604020202020204" pitchFamily="34" charset="0"/>
              <a:buChar char="•"/>
            </a:pPr>
            <a:r>
              <a:rPr lang="en-US" sz="2800" dirty="0">
                <a:latin typeface="Calibir"/>
              </a:rPr>
              <a:t>Do not spend too long on one question </a:t>
            </a:r>
          </a:p>
          <a:p>
            <a:pPr marL="914400" lvl="1" indent="-457200">
              <a:lnSpc>
                <a:spcPct val="150000"/>
              </a:lnSpc>
              <a:buFont typeface="Arial" panose="020B0604020202020204" pitchFamily="34" charset="0"/>
              <a:buChar char="•"/>
            </a:pPr>
            <a:r>
              <a:rPr lang="en-US" sz="2800" dirty="0">
                <a:latin typeface="Calibir"/>
              </a:rPr>
              <a:t>Leave essay questions for the end if needed</a:t>
            </a:r>
          </a:p>
        </p:txBody>
      </p:sp>
    </p:spTree>
    <p:extLst>
      <p:ext uri="{BB962C8B-B14F-4D97-AF65-F5344CB8AC3E}">
        <p14:creationId xmlns:p14="http://schemas.microsoft.com/office/powerpoint/2010/main" val="4221329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9659-3AD8-17E7-79EB-06DB33FC8E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F924BB-BDE0-FDE8-8E68-6ACBFD86070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48F4194F-5724-0F64-4E42-AB218167C04F}"/>
              </a:ext>
            </a:extLst>
          </p:cNvPr>
          <p:cNvSpPr txBox="1"/>
          <p:nvPr/>
        </p:nvSpPr>
        <p:spPr>
          <a:xfrm>
            <a:off x="35702" y="389149"/>
            <a:ext cx="12061603" cy="6507935"/>
          </a:xfrm>
          <a:prstGeom prst="rect">
            <a:avLst/>
          </a:prstGeom>
          <a:noFill/>
        </p:spPr>
        <p:txBody>
          <a:bodyPr wrap="square">
            <a:spAutoFit/>
          </a:bodyPr>
          <a:lstStyle/>
          <a:p>
            <a:pPr>
              <a:lnSpc>
                <a:spcPct val="150000"/>
              </a:lnSpc>
            </a:pPr>
            <a:r>
              <a:rPr lang="en-US" sz="2000" b="1" dirty="0">
                <a:latin typeface="Calibir"/>
              </a:rPr>
              <a:t>7. Important Hints for Success</a:t>
            </a:r>
          </a:p>
          <a:p>
            <a:pPr>
              <a:lnSpc>
                <a:spcPct val="150000"/>
              </a:lnSpc>
            </a:pPr>
            <a:r>
              <a:rPr lang="en-US" sz="2000" b="1" dirty="0">
                <a:latin typeface="Calibir"/>
              </a:rPr>
              <a:t>Hint 1 – Learn HTML Tags Properly</a:t>
            </a:r>
          </a:p>
          <a:p>
            <a:pPr>
              <a:lnSpc>
                <a:spcPct val="150000"/>
              </a:lnSpc>
            </a:pPr>
            <a:r>
              <a:rPr lang="en-US" sz="2000" dirty="0">
                <a:latin typeface="Calibir"/>
              </a:rPr>
              <a:t>Important tags:</a:t>
            </a:r>
          </a:p>
          <a:p>
            <a:pPr>
              <a:lnSpc>
                <a:spcPct val="150000"/>
              </a:lnSpc>
            </a:pPr>
            <a:r>
              <a:rPr lang="en-US" sz="2000" dirty="0">
                <a:highlight>
                  <a:srgbClr val="FFFF00"/>
                </a:highlight>
                <a:latin typeface="Calibir"/>
              </a:rPr>
              <a:t>&lt;html&gt;</a:t>
            </a:r>
            <a:br>
              <a:rPr lang="en-US" sz="2000" dirty="0">
                <a:highlight>
                  <a:srgbClr val="FFFF00"/>
                </a:highlight>
                <a:latin typeface="Calibir"/>
              </a:rPr>
            </a:br>
            <a:r>
              <a:rPr lang="en-US" sz="2000" dirty="0">
                <a:highlight>
                  <a:srgbClr val="FFFF00"/>
                </a:highlight>
                <a:latin typeface="Calibir"/>
              </a:rPr>
              <a:t>&lt;head&gt;</a:t>
            </a:r>
            <a:br>
              <a:rPr lang="en-US" sz="2000" dirty="0">
                <a:highlight>
                  <a:srgbClr val="FFFF00"/>
                </a:highlight>
                <a:latin typeface="Calibir"/>
              </a:rPr>
            </a:br>
            <a:r>
              <a:rPr lang="en-US" sz="2000" dirty="0">
                <a:highlight>
                  <a:srgbClr val="FFFF00"/>
                </a:highlight>
                <a:latin typeface="Calibir"/>
              </a:rPr>
              <a:t>&lt;body&gt;</a:t>
            </a:r>
            <a:br>
              <a:rPr lang="en-US" sz="2000" dirty="0">
                <a:highlight>
                  <a:srgbClr val="FFFF00"/>
                </a:highlight>
                <a:latin typeface="Calibir"/>
              </a:rPr>
            </a:br>
            <a:r>
              <a:rPr lang="en-US" sz="2000" dirty="0">
                <a:highlight>
                  <a:srgbClr val="FFFF00"/>
                </a:highlight>
                <a:latin typeface="Calibir"/>
              </a:rPr>
              <a:t>&lt;h1&gt;</a:t>
            </a:r>
            <a:br>
              <a:rPr lang="en-US" sz="2000" dirty="0">
                <a:highlight>
                  <a:srgbClr val="FFFF00"/>
                </a:highlight>
                <a:latin typeface="Calibir"/>
              </a:rPr>
            </a:br>
            <a:r>
              <a:rPr lang="en-US" sz="2000" dirty="0">
                <a:highlight>
                  <a:srgbClr val="FFFF00"/>
                </a:highlight>
                <a:latin typeface="Calibir"/>
              </a:rPr>
              <a:t>&lt;p&gt;</a:t>
            </a:r>
            <a:br>
              <a:rPr lang="en-US" sz="2000" dirty="0">
                <a:highlight>
                  <a:srgbClr val="FFFF00"/>
                </a:highlight>
                <a:latin typeface="Calibir"/>
              </a:rPr>
            </a:br>
            <a:r>
              <a:rPr lang="en-US" sz="2000" dirty="0">
                <a:highlight>
                  <a:srgbClr val="FFFF00"/>
                </a:highlight>
                <a:latin typeface="Calibir"/>
              </a:rPr>
              <a:t>&lt;</a:t>
            </a:r>
            <a:r>
              <a:rPr lang="en-US" sz="2000" dirty="0" err="1">
                <a:highlight>
                  <a:srgbClr val="FFFF00"/>
                </a:highlight>
                <a:latin typeface="Calibir"/>
              </a:rPr>
              <a:t>img</a:t>
            </a:r>
            <a:r>
              <a:rPr lang="en-US" sz="2000" dirty="0">
                <a:highlight>
                  <a:srgbClr val="FFFF00"/>
                </a:highlight>
                <a:latin typeface="Calibir"/>
              </a:rPr>
              <a:t>&gt;</a:t>
            </a:r>
            <a:br>
              <a:rPr lang="en-US" sz="2000" dirty="0">
                <a:highlight>
                  <a:srgbClr val="FFFF00"/>
                </a:highlight>
                <a:latin typeface="Calibir"/>
              </a:rPr>
            </a:br>
            <a:r>
              <a:rPr lang="en-US" sz="2000" dirty="0">
                <a:highlight>
                  <a:srgbClr val="FFFF00"/>
                </a:highlight>
                <a:latin typeface="Calibir"/>
              </a:rPr>
              <a:t>&lt;a&gt;</a:t>
            </a:r>
            <a:br>
              <a:rPr lang="en-US" sz="2000" dirty="0">
                <a:highlight>
                  <a:srgbClr val="FFFF00"/>
                </a:highlight>
                <a:latin typeface="Calibir"/>
              </a:rPr>
            </a:br>
            <a:r>
              <a:rPr lang="en-US" sz="2000" dirty="0">
                <a:highlight>
                  <a:srgbClr val="FFFF00"/>
                </a:highlight>
                <a:latin typeface="Calibir"/>
              </a:rPr>
              <a:t>&lt;div&gt;</a:t>
            </a:r>
            <a:br>
              <a:rPr lang="en-US" sz="2000" dirty="0">
                <a:highlight>
                  <a:srgbClr val="FFFF00"/>
                </a:highlight>
                <a:latin typeface="Calibir"/>
              </a:rPr>
            </a:br>
            <a:r>
              <a:rPr lang="en-US" sz="2000" dirty="0">
                <a:highlight>
                  <a:srgbClr val="FFFF00"/>
                </a:highlight>
                <a:latin typeface="Calibir"/>
              </a:rPr>
              <a:t>&lt;ul&gt;</a:t>
            </a:r>
            <a:br>
              <a:rPr lang="en-US" sz="2000" dirty="0">
                <a:highlight>
                  <a:srgbClr val="FFFF00"/>
                </a:highlight>
                <a:latin typeface="Calibir"/>
              </a:rPr>
            </a:br>
            <a:r>
              <a:rPr lang="en-US" sz="2000" dirty="0">
                <a:highlight>
                  <a:srgbClr val="FFFF00"/>
                </a:highlight>
                <a:latin typeface="Calibir"/>
              </a:rPr>
              <a:t>&lt;li&gt;</a:t>
            </a:r>
          </a:p>
          <a:p>
            <a:pPr>
              <a:lnSpc>
                <a:spcPct val="150000"/>
              </a:lnSpc>
            </a:pPr>
            <a:r>
              <a:rPr lang="en-US" sz="2000" dirty="0">
                <a:latin typeface="Calibir"/>
              </a:rPr>
              <a:t>Practice them often.</a:t>
            </a:r>
          </a:p>
        </p:txBody>
      </p:sp>
    </p:spTree>
    <p:extLst>
      <p:ext uri="{BB962C8B-B14F-4D97-AF65-F5344CB8AC3E}">
        <p14:creationId xmlns:p14="http://schemas.microsoft.com/office/powerpoint/2010/main" val="149023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ACC88-B79E-042C-3551-5269B33A52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6D70BA-472E-F130-A869-AC3A68C75E0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F41ACB1D-A5CC-11E7-4A0B-5E9C55C0F1AC}"/>
              </a:ext>
            </a:extLst>
          </p:cNvPr>
          <p:cNvSpPr txBox="1"/>
          <p:nvPr/>
        </p:nvSpPr>
        <p:spPr>
          <a:xfrm>
            <a:off x="0" y="1154082"/>
            <a:ext cx="12061603" cy="4549835"/>
          </a:xfrm>
          <a:prstGeom prst="rect">
            <a:avLst/>
          </a:prstGeom>
          <a:noFill/>
        </p:spPr>
        <p:txBody>
          <a:bodyPr wrap="square">
            <a:spAutoFit/>
          </a:bodyPr>
          <a:lstStyle/>
          <a:p>
            <a:pPr>
              <a:lnSpc>
                <a:spcPct val="150000"/>
              </a:lnSpc>
            </a:pPr>
            <a:r>
              <a:rPr lang="en-US" sz="2800" b="1" dirty="0">
                <a:latin typeface="Calibir"/>
              </a:rPr>
              <a:t>Hint 2 – Understand, Don’t Memorize</a:t>
            </a:r>
          </a:p>
          <a:p>
            <a:pPr>
              <a:lnSpc>
                <a:spcPct val="150000"/>
              </a:lnSpc>
            </a:pPr>
            <a:r>
              <a:rPr lang="en-US" sz="2800" dirty="0">
                <a:latin typeface="Calibir"/>
              </a:rPr>
              <a:t>Example:</a:t>
            </a:r>
          </a:p>
          <a:p>
            <a:pPr>
              <a:lnSpc>
                <a:spcPct val="150000"/>
              </a:lnSpc>
            </a:pPr>
            <a:r>
              <a:rPr lang="en-US" sz="2800" dirty="0">
                <a:latin typeface="Calibir"/>
              </a:rPr>
              <a:t>Instead of memorizing:</a:t>
            </a:r>
          </a:p>
          <a:p>
            <a:pPr>
              <a:lnSpc>
                <a:spcPct val="150000"/>
              </a:lnSpc>
            </a:pPr>
            <a:r>
              <a:rPr lang="en-US" sz="2800" dirty="0">
                <a:latin typeface="Calibir"/>
              </a:rPr>
              <a:t>“HTTP is a protocol.”</a:t>
            </a:r>
          </a:p>
          <a:p>
            <a:pPr>
              <a:lnSpc>
                <a:spcPct val="150000"/>
              </a:lnSpc>
            </a:pPr>
            <a:r>
              <a:rPr lang="en-US" sz="2800" dirty="0">
                <a:latin typeface="Calibir"/>
              </a:rPr>
              <a:t>Understand:</a:t>
            </a:r>
          </a:p>
          <a:p>
            <a:pPr>
              <a:lnSpc>
                <a:spcPct val="150000"/>
              </a:lnSpc>
            </a:pPr>
            <a:r>
              <a:rPr lang="en-US" sz="2800" dirty="0">
                <a:latin typeface="Calibir"/>
              </a:rPr>
              <a:t>HTTP allows browsers and servers to communicate.</a:t>
            </a:r>
          </a:p>
          <a:p>
            <a:pPr>
              <a:lnSpc>
                <a:spcPct val="150000"/>
              </a:lnSpc>
            </a:pPr>
            <a:r>
              <a:rPr lang="en-US" sz="2800" dirty="0">
                <a:latin typeface="Calibir"/>
              </a:rPr>
              <a:t>Understanding helps in exams and assignments.</a:t>
            </a:r>
          </a:p>
        </p:txBody>
      </p:sp>
    </p:spTree>
    <p:extLst>
      <p:ext uri="{BB962C8B-B14F-4D97-AF65-F5344CB8AC3E}">
        <p14:creationId xmlns:p14="http://schemas.microsoft.com/office/powerpoint/2010/main" val="523023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318C-E723-79BB-A479-2511DD5C89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63F0AD-E5BE-483B-878D-DB29F6EF6B6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7AB2B451-C09B-9B1A-F395-F514545AB453}"/>
              </a:ext>
            </a:extLst>
          </p:cNvPr>
          <p:cNvSpPr txBox="1"/>
          <p:nvPr/>
        </p:nvSpPr>
        <p:spPr>
          <a:xfrm>
            <a:off x="0" y="1154082"/>
            <a:ext cx="12061603" cy="5196166"/>
          </a:xfrm>
          <a:prstGeom prst="rect">
            <a:avLst/>
          </a:prstGeom>
          <a:noFill/>
        </p:spPr>
        <p:txBody>
          <a:bodyPr wrap="square">
            <a:spAutoFit/>
          </a:bodyPr>
          <a:lstStyle/>
          <a:p>
            <a:pPr>
              <a:lnSpc>
                <a:spcPct val="150000"/>
              </a:lnSpc>
            </a:pPr>
            <a:r>
              <a:rPr lang="en-US" sz="2800" b="1" dirty="0">
                <a:latin typeface="Calibir"/>
              </a:rPr>
              <a:t>Hint 3 – Use Simple and Clean Code</a:t>
            </a:r>
          </a:p>
          <a:p>
            <a:pPr>
              <a:lnSpc>
                <a:spcPct val="150000"/>
              </a:lnSpc>
            </a:pPr>
            <a:r>
              <a:rPr lang="en-US" sz="2800" dirty="0">
                <a:latin typeface="Calibir"/>
              </a:rPr>
              <a:t>Good:</a:t>
            </a:r>
          </a:p>
          <a:p>
            <a:pPr>
              <a:lnSpc>
                <a:spcPct val="150000"/>
              </a:lnSpc>
            </a:pPr>
            <a:r>
              <a:rPr lang="en-US" sz="2800" dirty="0">
                <a:highlight>
                  <a:srgbClr val="FFFF00"/>
                </a:highlight>
                <a:latin typeface="Calibir"/>
              </a:rPr>
              <a:t>&lt;h1&gt;Welcome&lt;/h1&gt;</a:t>
            </a:r>
            <a:br>
              <a:rPr lang="en-US" sz="2800" dirty="0">
                <a:highlight>
                  <a:srgbClr val="FFFF00"/>
                </a:highlight>
                <a:latin typeface="Calibir"/>
              </a:rPr>
            </a:br>
            <a:r>
              <a:rPr lang="en-US" sz="2800" dirty="0">
                <a:highlight>
                  <a:srgbClr val="FFFF00"/>
                </a:highlight>
                <a:latin typeface="Calibir"/>
              </a:rPr>
              <a:t>&lt;p&gt;This is my webpage.&lt;/p&gt;</a:t>
            </a:r>
          </a:p>
          <a:p>
            <a:pPr>
              <a:lnSpc>
                <a:spcPct val="150000"/>
              </a:lnSpc>
            </a:pPr>
            <a:r>
              <a:rPr lang="en-US" sz="2800" dirty="0">
                <a:latin typeface="Calibir"/>
              </a:rPr>
              <a:t>Avoid:</a:t>
            </a:r>
          </a:p>
          <a:p>
            <a:pPr marL="914400" lvl="1" indent="-457200">
              <a:lnSpc>
                <a:spcPct val="150000"/>
              </a:lnSpc>
              <a:buFont typeface="Arial" panose="020B0604020202020204" pitchFamily="34" charset="0"/>
              <a:buChar char="•"/>
            </a:pPr>
            <a:r>
              <a:rPr lang="en-US" sz="2800" dirty="0">
                <a:latin typeface="Calibir"/>
              </a:rPr>
              <a:t>messy formatting </a:t>
            </a:r>
          </a:p>
          <a:p>
            <a:pPr marL="914400" lvl="1" indent="-457200">
              <a:lnSpc>
                <a:spcPct val="150000"/>
              </a:lnSpc>
              <a:buFont typeface="Arial" panose="020B0604020202020204" pitchFamily="34" charset="0"/>
              <a:buChar char="•"/>
            </a:pPr>
            <a:r>
              <a:rPr lang="en-US" sz="2800" dirty="0">
                <a:latin typeface="Calibir"/>
              </a:rPr>
              <a:t>missing closing tags </a:t>
            </a:r>
          </a:p>
          <a:p>
            <a:pPr marL="914400" lvl="1" indent="-457200">
              <a:lnSpc>
                <a:spcPct val="150000"/>
              </a:lnSpc>
              <a:buFont typeface="Arial" panose="020B0604020202020204" pitchFamily="34" charset="0"/>
              <a:buChar char="•"/>
            </a:pPr>
            <a:r>
              <a:rPr lang="en-US" sz="2800" dirty="0">
                <a:latin typeface="Calibir"/>
              </a:rPr>
              <a:t>random spacing</a:t>
            </a:r>
          </a:p>
        </p:txBody>
      </p:sp>
    </p:spTree>
    <p:extLst>
      <p:ext uri="{BB962C8B-B14F-4D97-AF65-F5344CB8AC3E}">
        <p14:creationId xmlns:p14="http://schemas.microsoft.com/office/powerpoint/2010/main" val="381508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1BF6-4DCB-D4D4-602D-F4D7CC1A44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9D4D39-8586-3B25-2740-D50C34ECA3F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27F062B4-51D0-E763-1682-5B736CAAF42F}"/>
              </a:ext>
            </a:extLst>
          </p:cNvPr>
          <p:cNvSpPr txBox="1"/>
          <p:nvPr/>
        </p:nvSpPr>
        <p:spPr>
          <a:xfrm>
            <a:off x="0" y="1154082"/>
            <a:ext cx="12061603" cy="4549835"/>
          </a:xfrm>
          <a:prstGeom prst="rect">
            <a:avLst/>
          </a:prstGeom>
          <a:noFill/>
        </p:spPr>
        <p:txBody>
          <a:bodyPr wrap="square">
            <a:spAutoFit/>
          </a:bodyPr>
          <a:lstStyle/>
          <a:p>
            <a:pPr>
              <a:lnSpc>
                <a:spcPct val="150000"/>
              </a:lnSpc>
            </a:pPr>
            <a:r>
              <a:rPr lang="en-US" sz="2800" b="1" dirty="0">
                <a:latin typeface="Calibir"/>
              </a:rPr>
              <a:t>Hint 4 – Validate Your HTML</a:t>
            </a:r>
          </a:p>
          <a:p>
            <a:pPr>
              <a:lnSpc>
                <a:spcPct val="150000"/>
              </a:lnSpc>
            </a:pPr>
            <a:r>
              <a:rPr lang="en-US" sz="2800" dirty="0">
                <a:latin typeface="Calibir"/>
              </a:rPr>
              <a:t>Always test:</a:t>
            </a:r>
          </a:p>
          <a:p>
            <a:pPr marL="914400" lvl="1" indent="-457200">
              <a:lnSpc>
                <a:spcPct val="150000"/>
              </a:lnSpc>
              <a:buFont typeface="Arial" panose="020B0604020202020204" pitchFamily="34" charset="0"/>
              <a:buChar char="•"/>
            </a:pPr>
            <a:r>
              <a:rPr lang="en-US" sz="2800" dirty="0">
                <a:latin typeface="Calibir"/>
              </a:rPr>
              <a:t>webpage layout </a:t>
            </a:r>
          </a:p>
          <a:p>
            <a:pPr marL="914400" lvl="1" indent="-457200">
              <a:lnSpc>
                <a:spcPct val="150000"/>
              </a:lnSpc>
              <a:buFont typeface="Arial" panose="020B0604020202020204" pitchFamily="34" charset="0"/>
              <a:buChar char="•"/>
            </a:pPr>
            <a:r>
              <a:rPr lang="en-US" sz="2800" dirty="0">
                <a:latin typeface="Calibir"/>
              </a:rPr>
              <a:t>links </a:t>
            </a:r>
          </a:p>
          <a:p>
            <a:pPr marL="914400" lvl="1" indent="-457200">
              <a:lnSpc>
                <a:spcPct val="150000"/>
              </a:lnSpc>
              <a:buFont typeface="Arial" panose="020B0604020202020204" pitchFamily="34" charset="0"/>
              <a:buChar char="•"/>
            </a:pPr>
            <a:r>
              <a:rPr lang="en-US" sz="2800" dirty="0">
                <a:latin typeface="Calibir"/>
              </a:rPr>
              <a:t>images </a:t>
            </a:r>
          </a:p>
          <a:p>
            <a:pPr marL="914400" lvl="1" indent="-457200">
              <a:lnSpc>
                <a:spcPct val="150000"/>
              </a:lnSpc>
              <a:buFont typeface="Arial" panose="020B0604020202020204" pitchFamily="34" charset="0"/>
              <a:buChar char="•"/>
            </a:pPr>
            <a:r>
              <a:rPr lang="en-US" sz="2800" dirty="0">
                <a:latin typeface="Calibir"/>
              </a:rPr>
              <a:t>spelling </a:t>
            </a:r>
          </a:p>
          <a:p>
            <a:pPr marL="914400" lvl="1" indent="-457200">
              <a:lnSpc>
                <a:spcPct val="150000"/>
              </a:lnSpc>
              <a:buFont typeface="Arial" panose="020B0604020202020204" pitchFamily="34" charset="0"/>
              <a:buChar char="•"/>
            </a:pPr>
            <a:r>
              <a:rPr lang="en-US" sz="2800" dirty="0">
                <a:latin typeface="Calibir"/>
              </a:rPr>
              <a:t>HTML syntax</a:t>
            </a:r>
          </a:p>
        </p:txBody>
      </p:sp>
    </p:spTree>
    <p:extLst>
      <p:ext uri="{BB962C8B-B14F-4D97-AF65-F5344CB8AC3E}">
        <p14:creationId xmlns:p14="http://schemas.microsoft.com/office/powerpoint/2010/main" val="105714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3E57-F108-D45E-5BC8-4D94A5029B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B97DBC-B42B-A8B0-B8D6-306C89D5CE2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C793C143-F6A4-1056-DE7A-CF37B6767538}"/>
              </a:ext>
            </a:extLst>
          </p:cNvPr>
          <p:cNvSpPr txBox="1"/>
          <p:nvPr/>
        </p:nvSpPr>
        <p:spPr>
          <a:xfrm>
            <a:off x="0" y="1154082"/>
            <a:ext cx="12061603" cy="1964512"/>
          </a:xfrm>
          <a:prstGeom prst="rect">
            <a:avLst/>
          </a:prstGeom>
          <a:noFill/>
        </p:spPr>
        <p:txBody>
          <a:bodyPr wrap="square">
            <a:spAutoFit/>
          </a:bodyPr>
          <a:lstStyle/>
          <a:p>
            <a:pPr>
              <a:lnSpc>
                <a:spcPct val="150000"/>
              </a:lnSpc>
            </a:pPr>
            <a:r>
              <a:rPr lang="en-US" sz="2800" b="1" dirty="0">
                <a:latin typeface="Calibir"/>
              </a:rPr>
              <a:t>Hint 5 – Start Group Assignment Early</a:t>
            </a:r>
          </a:p>
          <a:p>
            <a:pPr>
              <a:lnSpc>
                <a:spcPct val="150000"/>
              </a:lnSpc>
            </a:pPr>
            <a:r>
              <a:rPr lang="en-US" sz="2800" dirty="0">
                <a:latin typeface="Calibir"/>
              </a:rPr>
              <a:t>The group assignment is worth 60%.</a:t>
            </a:r>
          </a:p>
          <a:p>
            <a:pPr>
              <a:lnSpc>
                <a:spcPct val="150000"/>
              </a:lnSpc>
            </a:pPr>
            <a:r>
              <a:rPr lang="en-US" sz="2800" dirty="0">
                <a:latin typeface="Calibir"/>
              </a:rPr>
              <a:t>Do not wait until the final weeks.</a:t>
            </a:r>
          </a:p>
        </p:txBody>
      </p:sp>
    </p:spTree>
    <p:extLst>
      <p:ext uri="{BB962C8B-B14F-4D97-AF65-F5344CB8AC3E}">
        <p14:creationId xmlns:p14="http://schemas.microsoft.com/office/powerpoint/2010/main" val="941335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6177A-171A-2A47-5347-6487EBDF68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90A14D-C870-1B04-3119-D876B8DAEF8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ACF51AF5-9E88-11E8-D10C-F1C0A2688C60}"/>
              </a:ext>
            </a:extLst>
          </p:cNvPr>
          <p:cNvSpPr txBox="1"/>
          <p:nvPr/>
        </p:nvSpPr>
        <p:spPr>
          <a:xfrm>
            <a:off x="0" y="1154082"/>
            <a:ext cx="12061603" cy="4549835"/>
          </a:xfrm>
          <a:prstGeom prst="rect">
            <a:avLst/>
          </a:prstGeom>
          <a:noFill/>
        </p:spPr>
        <p:txBody>
          <a:bodyPr wrap="square">
            <a:spAutoFit/>
          </a:bodyPr>
          <a:lstStyle/>
          <a:p>
            <a:pPr>
              <a:lnSpc>
                <a:spcPct val="150000"/>
              </a:lnSpc>
            </a:pPr>
            <a:r>
              <a:rPr lang="en-US" sz="2800" b="1" dirty="0">
                <a:latin typeface="Calibir"/>
              </a:rPr>
              <a:t>8. Group Assignment Survival Guide</a:t>
            </a:r>
          </a:p>
          <a:p>
            <a:pPr>
              <a:lnSpc>
                <a:spcPct val="150000"/>
              </a:lnSpc>
            </a:pPr>
            <a:r>
              <a:rPr lang="en-US" sz="2800" b="1" dirty="0">
                <a:latin typeface="Calibir"/>
              </a:rPr>
              <a:t>What You Must Do</a:t>
            </a:r>
          </a:p>
          <a:p>
            <a:pPr>
              <a:lnSpc>
                <a:spcPct val="150000"/>
              </a:lnSpc>
            </a:pPr>
            <a:r>
              <a:rPr lang="en-US" sz="2800" b="1" dirty="0">
                <a:latin typeface="Calibir"/>
              </a:rPr>
              <a:t>Before Coding</a:t>
            </a:r>
          </a:p>
          <a:p>
            <a:pPr marL="914400" lvl="1" indent="-457200">
              <a:lnSpc>
                <a:spcPct val="150000"/>
              </a:lnSpc>
              <a:buFont typeface="Arial" panose="020B0604020202020204" pitchFamily="34" charset="0"/>
              <a:buChar char="•"/>
            </a:pPr>
            <a:r>
              <a:rPr lang="en-US" sz="2800" dirty="0">
                <a:latin typeface="Calibir"/>
              </a:rPr>
              <a:t>Understand business scenario </a:t>
            </a:r>
          </a:p>
          <a:p>
            <a:pPr marL="914400" lvl="1" indent="-457200">
              <a:lnSpc>
                <a:spcPct val="150000"/>
              </a:lnSpc>
              <a:buFont typeface="Arial" panose="020B0604020202020204" pitchFamily="34" charset="0"/>
              <a:buChar char="•"/>
            </a:pPr>
            <a:r>
              <a:rPr lang="en-US" sz="2800" dirty="0">
                <a:latin typeface="Calibir"/>
              </a:rPr>
              <a:t>Plan the website </a:t>
            </a:r>
          </a:p>
          <a:p>
            <a:pPr marL="914400" lvl="1" indent="-457200">
              <a:lnSpc>
                <a:spcPct val="150000"/>
              </a:lnSpc>
              <a:buFont typeface="Arial" panose="020B0604020202020204" pitchFamily="34" charset="0"/>
              <a:buChar char="•"/>
            </a:pPr>
            <a:r>
              <a:rPr lang="en-US" sz="2800" dirty="0">
                <a:latin typeface="Calibir"/>
              </a:rPr>
              <a:t>Draw wireframes </a:t>
            </a:r>
          </a:p>
          <a:p>
            <a:pPr marL="914400" lvl="1" indent="-457200">
              <a:lnSpc>
                <a:spcPct val="150000"/>
              </a:lnSpc>
              <a:buFont typeface="Arial" panose="020B0604020202020204" pitchFamily="34" charset="0"/>
              <a:buChar char="•"/>
            </a:pPr>
            <a:r>
              <a:rPr lang="en-US" sz="2800" dirty="0">
                <a:latin typeface="Calibir"/>
              </a:rPr>
              <a:t>Decide responsibilities</a:t>
            </a:r>
          </a:p>
        </p:txBody>
      </p:sp>
    </p:spTree>
    <p:extLst>
      <p:ext uri="{BB962C8B-B14F-4D97-AF65-F5344CB8AC3E}">
        <p14:creationId xmlns:p14="http://schemas.microsoft.com/office/powerpoint/2010/main" val="1441198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6469-02C6-F9D2-6FF5-B934CD934F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EB210B-5A9C-C903-9945-622A646E25A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9419B5A9-D2EA-C76C-332F-1065F8C79FC2}"/>
              </a:ext>
            </a:extLst>
          </p:cNvPr>
          <p:cNvSpPr txBox="1"/>
          <p:nvPr/>
        </p:nvSpPr>
        <p:spPr>
          <a:xfrm>
            <a:off x="0" y="1154082"/>
            <a:ext cx="12061603" cy="4549835"/>
          </a:xfrm>
          <a:prstGeom prst="rect">
            <a:avLst/>
          </a:prstGeom>
          <a:noFill/>
        </p:spPr>
        <p:txBody>
          <a:bodyPr wrap="square">
            <a:spAutoFit/>
          </a:bodyPr>
          <a:lstStyle/>
          <a:p>
            <a:pPr>
              <a:lnSpc>
                <a:spcPct val="150000"/>
              </a:lnSpc>
            </a:pPr>
            <a:r>
              <a:rPr lang="en-US" sz="2800" b="1" dirty="0">
                <a:latin typeface="Calibir"/>
              </a:rPr>
              <a:t>Teamwork Tips</a:t>
            </a:r>
          </a:p>
          <a:p>
            <a:pPr>
              <a:lnSpc>
                <a:spcPct val="150000"/>
              </a:lnSpc>
            </a:pPr>
            <a:r>
              <a:rPr lang="en-US" sz="2800" dirty="0">
                <a:latin typeface="Calibir"/>
              </a:rPr>
              <a:t>Divide tasks:</a:t>
            </a:r>
          </a:p>
          <a:p>
            <a:pPr marL="914400" lvl="1" indent="-457200">
              <a:lnSpc>
                <a:spcPct val="150000"/>
              </a:lnSpc>
              <a:buFont typeface="Arial" panose="020B0604020202020204" pitchFamily="34" charset="0"/>
              <a:buChar char="•"/>
            </a:pPr>
            <a:r>
              <a:rPr lang="en-US" sz="2800" dirty="0">
                <a:latin typeface="Calibir"/>
              </a:rPr>
              <a:t>HTML pages </a:t>
            </a:r>
          </a:p>
          <a:p>
            <a:pPr marL="914400" lvl="1" indent="-457200">
              <a:lnSpc>
                <a:spcPct val="150000"/>
              </a:lnSpc>
              <a:buFont typeface="Arial" panose="020B0604020202020204" pitchFamily="34" charset="0"/>
              <a:buChar char="•"/>
            </a:pPr>
            <a:r>
              <a:rPr lang="en-US" sz="2800" dirty="0">
                <a:latin typeface="Calibir"/>
              </a:rPr>
              <a:t>CSS styling </a:t>
            </a:r>
          </a:p>
          <a:p>
            <a:pPr marL="914400" lvl="1" indent="-457200">
              <a:lnSpc>
                <a:spcPct val="150000"/>
              </a:lnSpc>
              <a:buFont typeface="Arial" panose="020B0604020202020204" pitchFamily="34" charset="0"/>
              <a:buChar char="•"/>
            </a:pPr>
            <a:r>
              <a:rPr lang="en-US" sz="2800" dirty="0">
                <a:latin typeface="Calibir"/>
              </a:rPr>
              <a:t>Images/content </a:t>
            </a:r>
          </a:p>
          <a:p>
            <a:pPr marL="914400" lvl="1" indent="-457200">
              <a:lnSpc>
                <a:spcPct val="150000"/>
              </a:lnSpc>
              <a:buFont typeface="Arial" panose="020B0604020202020204" pitchFamily="34" charset="0"/>
              <a:buChar char="•"/>
            </a:pPr>
            <a:r>
              <a:rPr lang="en-US" sz="2800" dirty="0">
                <a:latin typeface="Calibir"/>
              </a:rPr>
              <a:t>Testing </a:t>
            </a:r>
          </a:p>
          <a:p>
            <a:pPr marL="914400" lvl="1" indent="-457200">
              <a:lnSpc>
                <a:spcPct val="150000"/>
              </a:lnSpc>
              <a:buFont typeface="Arial" panose="020B0604020202020204" pitchFamily="34" charset="0"/>
              <a:buChar char="•"/>
            </a:pPr>
            <a:r>
              <a:rPr lang="en-US" sz="2800" dirty="0">
                <a:latin typeface="Calibir"/>
              </a:rPr>
              <a:t>Documentation</a:t>
            </a:r>
          </a:p>
        </p:txBody>
      </p:sp>
    </p:spTree>
    <p:extLst>
      <p:ext uri="{BB962C8B-B14F-4D97-AF65-F5344CB8AC3E}">
        <p14:creationId xmlns:p14="http://schemas.microsoft.com/office/powerpoint/2010/main" val="1903994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3E0F1-2D62-5D08-8695-29012FC679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A39649-B407-7E6E-39EB-444145FF958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35380CAA-5765-58C4-7D5E-074D702D467B}"/>
              </a:ext>
            </a:extLst>
          </p:cNvPr>
          <p:cNvSpPr txBox="1"/>
          <p:nvPr/>
        </p:nvSpPr>
        <p:spPr>
          <a:xfrm>
            <a:off x="0" y="1154082"/>
            <a:ext cx="12061603" cy="3903504"/>
          </a:xfrm>
          <a:prstGeom prst="rect">
            <a:avLst/>
          </a:prstGeom>
          <a:noFill/>
        </p:spPr>
        <p:txBody>
          <a:bodyPr wrap="square">
            <a:spAutoFit/>
          </a:bodyPr>
          <a:lstStyle/>
          <a:p>
            <a:pPr>
              <a:lnSpc>
                <a:spcPct val="150000"/>
              </a:lnSpc>
            </a:pPr>
            <a:r>
              <a:rPr lang="en-US" sz="2800" b="1" dirty="0">
                <a:latin typeface="Calibir"/>
              </a:rPr>
              <a:t>Communication</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WhatsApp </a:t>
            </a:r>
          </a:p>
          <a:p>
            <a:pPr marL="914400" lvl="1" indent="-457200">
              <a:lnSpc>
                <a:spcPct val="150000"/>
              </a:lnSpc>
              <a:buFont typeface="Arial" panose="020B0604020202020204" pitchFamily="34" charset="0"/>
              <a:buChar char="•"/>
            </a:pPr>
            <a:r>
              <a:rPr lang="en-US" sz="2800" dirty="0">
                <a:latin typeface="Calibir"/>
              </a:rPr>
              <a:t>Teams </a:t>
            </a:r>
          </a:p>
          <a:p>
            <a:pPr marL="914400" lvl="1" indent="-457200">
              <a:lnSpc>
                <a:spcPct val="150000"/>
              </a:lnSpc>
              <a:buFont typeface="Arial" panose="020B0604020202020204" pitchFamily="34" charset="0"/>
              <a:buChar char="•"/>
            </a:pPr>
            <a:r>
              <a:rPr lang="en-US" sz="2800" dirty="0">
                <a:latin typeface="Calibir"/>
              </a:rPr>
              <a:t>Google Drive </a:t>
            </a:r>
          </a:p>
          <a:p>
            <a:pPr>
              <a:lnSpc>
                <a:spcPct val="150000"/>
              </a:lnSpc>
            </a:pPr>
            <a:r>
              <a:rPr lang="en-US" sz="2800" dirty="0">
                <a:latin typeface="Calibir"/>
              </a:rPr>
              <a:t>Meet weekly.</a:t>
            </a:r>
          </a:p>
        </p:txBody>
      </p:sp>
    </p:spTree>
    <p:extLst>
      <p:ext uri="{BB962C8B-B14F-4D97-AF65-F5344CB8AC3E}">
        <p14:creationId xmlns:p14="http://schemas.microsoft.com/office/powerpoint/2010/main" val="2456374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126B-23A7-1DAB-0A59-06FE20459B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5ECD26-110C-85AB-EB91-E852F8F0A12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How to Study Properly for This Unit</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D1B5F347-BAC8-9C4B-68B2-1D568147B3B2}"/>
              </a:ext>
            </a:extLst>
          </p:cNvPr>
          <p:cNvSpPr txBox="1"/>
          <p:nvPr/>
        </p:nvSpPr>
        <p:spPr>
          <a:xfrm>
            <a:off x="0" y="1154082"/>
            <a:ext cx="12061603" cy="4549835"/>
          </a:xfrm>
          <a:prstGeom prst="rect">
            <a:avLst/>
          </a:prstGeom>
          <a:noFill/>
        </p:spPr>
        <p:txBody>
          <a:bodyPr wrap="square">
            <a:spAutoFit/>
          </a:bodyPr>
          <a:lstStyle/>
          <a:p>
            <a:pPr>
              <a:lnSpc>
                <a:spcPct val="150000"/>
              </a:lnSpc>
            </a:pPr>
            <a:r>
              <a:rPr lang="en-US" sz="2800" b="1" dirty="0">
                <a:latin typeface="Calibir"/>
              </a:rPr>
              <a:t>Avoid These Problems</a:t>
            </a:r>
          </a:p>
          <a:p>
            <a:pPr>
              <a:lnSpc>
                <a:spcPct val="150000"/>
              </a:lnSpc>
            </a:pPr>
            <a:r>
              <a:rPr lang="en-US" sz="2800" b="1" dirty="0">
                <a:latin typeface="Calibir"/>
              </a:rPr>
              <a:t>Do NOT:</a:t>
            </a:r>
          </a:p>
          <a:p>
            <a:pPr marL="914400" lvl="1" indent="-457200">
              <a:lnSpc>
                <a:spcPct val="150000"/>
              </a:lnSpc>
              <a:buFont typeface="Arial" panose="020B0604020202020204" pitchFamily="34" charset="0"/>
              <a:buChar char="•"/>
            </a:pPr>
            <a:r>
              <a:rPr lang="en-US" sz="2800" dirty="0">
                <a:latin typeface="Calibir"/>
              </a:rPr>
              <a:t>copy websites </a:t>
            </a:r>
          </a:p>
          <a:p>
            <a:pPr marL="914400" lvl="1" indent="-457200">
              <a:lnSpc>
                <a:spcPct val="150000"/>
              </a:lnSpc>
              <a:buFont typeface="Arial" panose="020B0604020202020204" pitchFamily="34" charset="0"/>
              <a:buChar char="•"/>
            </a:pPr>
            <a:r>
              <a:rPr lang="en-US" sz="2800" dirty="0">
                <a:latin typeface="Calibir"/>
              </a:rPr>
              <a:t>leave work until last week </a:t>
            </a:r>
          </a:p>
          <a:p>
            <a:pPr marL="914400" lvl="1" indent="-457200">
              <a:lnSpc>
                <a:spcPct val="150000"/>
              </a:lnSpc>
              <a:buFont typeface="Arial" panose="020B0604020202020204" pitchFamily="34" charset="0"/>
              <a:buChar char="•"/>
            </a:pPr>
            <a:r>
              <a:rPr lang="en-US" sz="2800" dirty="0">
                <a:latin typeface="Calibir"/>
              </a:rPr>
              <a:t>depend on one team member </a:t>
            </a:r>
          </a:p>
          <a:p>
            <a:pPr marL="914400" lvl="1" indent="-457200">
              <a:lnSpc>
                <a:spcPct val="150000"/>
              </a:lnSpc>
              <a:buFont typeface="Arial" panose="020B0604020202020204" pitchFamily="34" charset="0"/>
              <a:buChar char="•"/>
            </a:pPr>
            <a:r>
              <a:rPr lang="en-US" sz="2800" dirty="0">
                <a:latin typeface="Calibir"/>
              </a:rPr>
              <a:t>ignore W3C validation </a:t>
            </a:r>
          </a:p>
          <a:p>
            <a:pPr marL="914400" lvl="1" indent="-457200">
              <a:lnSpc>
                <a:spcPct val="150000"/>
              </a:lnSpc>
              <a:buFont typeface="Arial" panose="020B0604020202020204" pitchFamily="34" charset="0"/>
              <a:buChar char="•"/>
            </a:pPr>
            <a:r>
              <a:rPr lang="en-US" sz="2800" dirty="0">
                <a:latin typeface="Calibir"/>
              </a:rPr>
              <a:t>submit unfinished pages</a:t>
            </a:r>
          </a:p>
        </p:txBody>
      </p:sp>
    </p:spTree>
    <p:extLst>
      <p:ext uri="{BB962C8B-B14F-4D97-AF65-F5344CB8AC3E}">
        <p14:creationId xmlns:p14="http://schemas.microsoft.com/office/powerpoint/2010/main" val="2890901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EE75-4F9C-A36E-313D-2FB9454FFF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682167-B37C-7CD7-9C2B-ECA8ECF68B7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Common Mistakes Students Make</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graphicFrame>
        <p:nvGraphicFramePr>
          <p:cNvPr id="2" name="Table 1">
            <a:extLst>
              <a:ext uri="{FF2B5EF4-FFF2-40B4-BE49-F238E27FC236}">
                <a16:creationId xmlns:a16="http://schemas.microsoft.com/office/drawing/2014/main" id="{7D069C84-1613-30DB-163C-F0B919EF5634}"/>
              </a:ext>
            </a:extLst>
          </p:cNvPr>
          <p:cNvGraphicFramePr>
            <a:graphicFrameLocks noGrp="1"/>
          </p:cNvGraphicFramePr>
          <p:nvPr>
            <p:extLst>
              <p:ext uri="{D42A27DB-BD31-4B8C-83A1-F6EECF244321}">
                <p14:modId xmlns:p14="http://schemas.microsoft.com/office/powerpoint/2010/main" val="2126827918"/>
              </p:ext>
            </p:extLst>
          </p:nvPr>
        </p:nvGraphicFramePr>
        <p:xfrm>
          <a:off x="631722" y="1172554"/>
          <a:ext cx="10515600" cy="5297551"/>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4009957510"/>
                    </a:ext>
                  </a:extLst>
                </a:gridCol>
                <a:gridCol w="5257800">
                  <a:extLst>
                    <a:ext uri="{9D8B030D-6E8A-4147-A177-3AD203B41FA5}">
                      <a16:colId xmlns:a16="http://schemas.microsoft.com/office/drawing/2014/main" val="2112395628"/>
                    </a:ext>
                  </a:extLst>
                </a:gridCol>
              </a:tblGrid>
              <a:tr h="0">
                <a:tc>
                  <a:txBody>
                    <a:bodyPr/>
                    <a:lstStyle/>
                    <a:p>
                      <a:pPr>
                        <a:lnSpc>
                          <a:spcPct val="150000"/>
                        </a:lnSpc>
                        <a:buNone/>
                      </a:pPr>
                      <a:r>
                        <a:rPr lang="en-US" sz="2800" dirty="0">
                          <a:latin typeface="Calibir"/>
                        </a:rPr>
                        <a:t>Mistake</a:t>
                      </a:r>
                    </a:p>
                  </a:txBody>
                  <a:tcPr anchor="ctr">
                    <a:solidFill>
                      <a:schemeClr val="accent5">
                        <a:lumMod val="20000"/>
                        <a:lumOff val="80000"/>
                      </a:schemeClr>
                    </a:solidFill>
                  </a:tcPr>
                </a:tc>
                <a:tc>
                  <a:txBody>
                    <a:bodyPr/>
                    <a:lstStyle/>
                    <a:p>
                      <a:pPr>
                        <a:lnSpc>
                          <a:spcPct val="150000"/>
                        </a:lnSpc>
                        <a:buNone/>
                      </a:pPr>
                      <a:r>
                        <a:rPr lang="en-US" sz="2800" dirty="0">
                          <a:latin typeface="Calibir"/>
                        </a:rPr>
                        <a:t>Better Approach</a:t>
                      </a:r>
                    </a:p>
                  </a:txBody>
                  <a:tcPr anchor="ctr">
                    <a:solidFill>
                      <a:schemeClr val="accent5">
                        <a:lumMod val="20000"/>
                        <a:lumOff val="80000"/>
                      </a:schemeClr>
                    </a:solidFill>
                  </a:tcPr>
                </a:tc>
                <a:extLst>
                  <a:ext uri="{0D108BD9-81ED-4DB2-BD59-A6C34878D82A}">
                    <a16:rowId xmlns:a16="http://schemas.microsoft.com/office/drawing/2014/main" val="4144086616"/>
                  </a:ext>
                </a:extLst>
              </a:tr>
              <a:tr h="0">
                <a:tc>
                  <a:txBody>
                    <a:bodyPr/>
                    <a:lstStyle/>
                    <a:p>
                      <a:pPr>
                        <a:lnSpc>
                          <a:spcPct val="150000"/>
                        </a:lnSpc>
                        <a:buNone/>
                      </a:pPr>
                      <a:r>
                        <a:rPr lang="en-US" sz="2800">
                          <a:latin typeface="Calibir"/>
                        </a:rPr>
                        <a:t>Studying only before tests</a:t>
                      </a:r>
                    </a:p>
                  </a:txBody>
                  <a:tcPr anchor="ctr"/>
                </a:tc>
                <a:tc>
                  <a:txBody>
                    <a:bodyPr/>
                    <a:lstStyle/>
                    <a:p>
                      <a:pPr>
                        <a:lnSpc>
                          <a:spcPct val="150000"/>
                        </a:lnSpc>
                        <a:buNone/>
                      </a:pPr>
                      <a:r>
                        <a:rPr lang="en-US" sz="2800">
                          <a:latin typeface="Calibir"/>
                        </a:rPr>
                        <a:t>Study weekly</a:t>
                      </a:r>
                    </a:p>
                  </a:txBody>
                  <a:tcPr anchor="ctr"/>
                </a:tc>
                <a:extLst>
                  <a:ext uri="{0D108BD9-81ED-4DB2-BD59-A6C34878D82A}">
                    <a16:rowId xmlns:a16="http://schemas.microsoft.com/office/drawing/2014/main" val="3826647079"/>
                  </a:ext>
                </a:extLst>
              </a:tr>
              <a:tr h="0">
                <a:tc>
                  <a:txBody>
                    <a:bodyPr/>
                    <a:lstStyle/>
                    <a:p>
                      <a:pPr>
                        <a:lnSpc>
                          <a:spcPct val="150000"/>
                        </a:lnSpc>
                        <a:buNone/>
                      </a:pPr>
                      <a:r>
                        <a:rPr lang="en-US" sz="2800">
                          <a:latin typeface="Calibir"/>
                        </a:rPr>
                        <a:t>Copying code without understanding</a:t>
                      </a:r>
                    </a:p>
                  </a:txBody>
                  <a:tcPr anchor="ctr"/>
                </a:tc>
                <a:tc>
                  <a:txBody>
                    <a:bodyPr/>
                    <a:lstStyle/>
                    <a:p>
                      <a:pPr>
                        <a:lnSpc>
                          <a:spcPct val="150000"/>
                        </a:lnSpc>
                        <a:buNone/>
                      </a:pPr>
                      <a:r>
                        <a:rPr lang="en-US" sz="2800">
                          <a:latin typeface="Calibir"/>
                        </a:rPr>
                        <a:t>Type and practise yourself</a:t>
                      </a:r>
                    </a:p>
                  </a:txBody>
                  <a:tcPr anchor="ctr"/>
                </a:tc>
                <a:extLst>
                  <a:ext uri="{0D108BD9-81ED-4DB2-BD59-A6C34878D82A}">
                    <a16:rowId xmlns:a16="http://schemas.microsoft.com/office/drawing/2014/main" val="252164557"/>
                  </a:ext>
                </a:extLst>
              </a:tr>
              <a:tr h="0">
                <a:tc>
                  <a:txBody>
                    <a:bodyPr/>
                    <a:lstStyle/>
                    <a:p>
                      <a:pPr>
                        <a:lnSpc>
                          <a:spcPct val="150000"/>
                        </a:lnSpc>
                        <a:buNone/>
                      </a:pPr>
                      <a:r>
                        <a:rPr lang="en-US" sz="2800">
                          <a:latin typeface="Calibir"/>
                        </a:rPr>
                        <a:t>Ignoring tutorials</a:t>
                      </a:r>
                    </a:p>
                  </a:txBody>
                  <a:tcPr anchor="ctr"/>
                </a:tc>
                <a:tc>
                  <a:txBody>
                    <a:bodyPr/>
                    <a:lstStyle/>
                    <a:p>
                      <a:pPr>
                        <a:lnSpc>
                          <a:spcPct val="150000"/>
                        </a:lnSpc>
                        <a:buNone/>
                      </a:pPr>
                      <a:r>
                        <a:rPr lang="en-US" sz="2800">
                          <a:latin typeface="Calibir"/>
                        </a:rPr>
                        <a:t>Complete every tutorial</a:t>
                      </a:r>
                    </a:p>
                  </a:txBody>
                  <a:tcPr anchor="ctr"/>
                </a:tc>
                <a:extLst>
                  <a:ext uri="{0D108BD9-81ED-4DB2-BD59-A6C34878D82A}">
                    <a16:rowId xmlns:a16="http://schemas.microsoft.com/office/drawing/2014/main" val="1173549729"/>
                  </a:ext>
                </a:extLst>
              </a:tr>
              <a:tr h="0">
                <a:tc>
                  <a:txBody>
                    <a:bodyPr/>
                    <a:lstStyle/>
                    <a:p>
                      <a:pPr>
                        <a:lnSpc>
                          <a:spcPct val="150000"/>
                        </a:lnSpc>
                        <a:buNone/>
                      </a:pPr>
                      <a:r>
                        <a:rPr lang="en-US" sz="2800">
                          <a:latin typeface="Calibir"/>
                        </a:rPr>
                        <a:t>Poor file organization</a:t>
                      </a:r>
                    </a:p>
                  </a:txBody>
                  <a:tcPr anchor="ctr"/>
                </a:tc>
                <a:tc>
                  <a:txBody>
                    <a:bodyPr/>
                    <a:lstStyle/>
                    <a:p>
                      <a:pPr>
                        <a:lnSpc>
                          <a:spcPct val="150000"/>
                        </a:lnSpc>
                        <a:buNone/>
                      </a:pPr>
                      <a:r>
                        <a:rPr lang="en-US" sz="2800">
                          <a:latin typeface="Calibir"/>
                        </a:rPr>
                        <a:t>Use folders properly</a:t>
                      </a:r>
                    </a:p>
                  </a:txBody>
                  <a:tcPr anchor="ctr"/>
                </a:tc>
                <a:extLst>
                  <a:ext uri="{0D108BD9-81ED-4DB2-BD59-A6C34878D82A}">
                    <a16:rowId xmlns:a16="http://schemas.microsoft.com/office/drawing/2014/main" val="2830612871"/>
                  </a:ext>
                </a:extLst>
              </a:tr>
              <a:tr h="0">
                <a:tc>
                  <a:txBody>
                    <a:bodyPr/>
                    <a:lstStyle/>
                    <a:p>
                      <a:pPr>
                        <a:lnSpc>
                          <a:spcPct val="150000"/>
                        </a:lnSpc>
                        <a:buNone/>
                      </a:pPr>
                      <a:r>
                        <a:rPr lang="en-US" sz="2800">
                          <a:latin typeface="Calibir"/>
                        </a:rPr>
                        <a:t>Not testing webpages</a:t>
                      </a:r>
                    </a:p>
                  </a:txBody>
                  <a:tcPr anchor="ctr"/>
                </a:tc>
                <a:tc>
                  <a:txBody>
                    <a:bodyPr/>
                    <a:lstStyle/>
                    <a:p>
                      <a:pPr>
                        <a:lnSpc>
                          <a:spcPct val="150000"/>
                        </a:lnSpc>
                        <a:buNone/>
                      </a:pPr>
                      <a:r>
                        <a:rPr lang="en-US" sz="2800">
                          <a:latin typeface="Calibir"/>
                        </a:rPr>
                        <a:t>Test in browser often</a:t>
                      </a:r>
                    </a:p>
                  </a:txBody>
                  <a:tcPr anchor="ctr"/>
                </a:tc>
                <a:extLst>
                  <a:ext uri="{0D108BD9-81ED-4DB2-BD59-A6C34878D82A}">
                    <a16:rowId xmlns:a16="http://schemas.microsoft.com/office/drawing/2014/main" val="1852730218"/>
                  </a:ext>
                </a:extLst>
              </a:tr>
              <a:tr h="0">
                <a:tc>
                  <a:txBody>
                    <a:bodyPr/>
                    <a:lstStyle/>
                    <a:p>
                      <a:pPr>
                        <a:lnSpc>
                          <a:spcPct val="150000"/>
                        </a:lnSpc>
                        <a:buNone/>
                      </a:pPr>
                      <a:r>
                        <a:rPr lang="en-US" sz="2800" dirty="0">
                          <a:latin typeface="Calibir"/>
                        </a:rPr>
                        <a:t>Waiting too late for assignment</a:t>
                      </a:r>
                    </a:p>
                  </a:txBody>
                  <a:tcPr anchor="ctr"/>
                </a:tc>
                <a:tc>
                  <a:txBody>
                    <a:bodyPr/>
                    <a:lstStyle/>
                    <a:p>
                      <a:pPr>
                        <a:lnSpc>
                          <a:spcPct val="150000"/>
                        </a:lnSpc>
                        <a:buNone/>
                      </a:pPr>
                      <a:r>
                        <a:rPr lang="en-US" sz="2800" dirty="0">
                          <a:latin typeface="Calibir"/>
                        </a:rPr>
                        <a:t>Start early</a:t>
                      </a:r>
                    </a:p>
                  </a:txBody>
                  <a:tcPr anchor="ctr"/>
                </a:tc>
                <a:extLst>
                  <a:ext uri="{0D108BD9-81ED-4DB2-BD59-A6C34878D82A}">
                    <a16:rowId xmlns:a16="http://schemas.microsoft.com/office/drawing/2014/main" val="1717760165"/>
                  </a:ext>
                </a:extLst>
              </a:tr>
            </a:tbl>
          </a:graphicData>
        </a:graphic>
      </p:graphicFrame>
    </p:spTree>
    <p:extLst>
      <p:ext uri="{BB962C8B-B14F-4D97-AF65-F5344CB8AC3E}">
        <p14:creationId xmlns:p14="http://schemas.microsoft.com/office/powerpoint/2010/main" val="2817736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98C5-1D2F-0105-0F10-37193A42C8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9EB3A3-4FED-E60A-1C12-1676BC480BB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latin typeface="Calibir"/>
              </a:rPr>
              <a:t>Example Study Routine</a:t>
            </a:r>
            <a:endParaRPr kumimoji="0" lang="en-US" sz="3200" b="1" i="0" u="none" strike="noStrike" kern="1200" cap="none" spc="0" normalizeH="0" baseline="0" noProof="0" dirty="0">
              <a:ln>
                <a:noFill/>
              </a:ln>
              <a:solidFill>
                <a:prstClr val="black"/>
              </a:solidFill>
              <a:effectLst/>
              <a:uLnTx/>
              <a:uFillTx/>
              <a:latin typeface="Calibir"/>
              <a:cs typeface="Calibri" panose="020F0502020204030204" pitchFamily="34" charset="0"/>
            </a:endParaRPr>
          </a:p>
        </p:txBody>
      </p:sp>
      <p:sp>
        <p:nvSpPr>
          <p:cNvPr id="5" name="TextBox 4">
            <a:extLst>
              <a:ext uri="{FF2B5EF4-FFF2-40B4-BE49-F238E27FC236}">
                <a16:creationId xmlns:a16="http://schemas.microsoft.com/office/drawing/2014/main" id="{368C854F-ECF4-F836-39A5-A9460D42CE42}"/>
              </a:ext>
            </a:extLst>
          </p:cNvPr>
          <p:cNvSpPr txBox="1"/>
          <p:nvPr/>
        </p:nvSpPr>
        <p:spPr>
          <a:xfrm>
            <a:off x="110613" y="873663"/>
            <a:ext cx="6179574" cy="5866350"/>
          </a:xfrm>
          <a:prstGeom prst="rect">
            <a:avLst/>
          </a:prstGeom>
          <a:noFill/>
        </p:spPr>
        <p:txBody>
          <a:bodyPr wrap="square">
            <a:spAutoFit/>
          </a:bodyPr>
          <a:lstStyle/>
          <a:p>
            <a:pPr>
              <a:lnSpc>
                <a:spcPct val="150000"/>
              </a:lnSpc>
              <a:buNone/>
            </a:pPr>
            <a:r>
              <a:rPr lang="en-US" b="1" dirty="0">
                <a:latin typeface="Calibir"/>
              </a:rPr>
              <a:t>Each Week</a:t>
            </a:r>
          </a:p>
          <a:p>
            <a:pPr>
              <a:lnSpc>
                <a:spcPct val="150000"/>
              </a:lnSpc>
              <a:buNone/>
            </a:pPr>
            <a:r>
              <a:rPr lang="en-US" b="1" dirty="0">
                <a:latin typeface="Calibir"/>
              </a:rPr>
              <a:t>Before Class</a:t>
            </a:r>
          </a:p>
          <a:p>
            <a:pPr marL="742950" lvl="1" indent="-285750">
              <a:lnSpc>
                <a:spcPct val="150000"/>
              </a:lnSpc>
              <a:buFont typeface="Arial" panose="020B0604020202020204" pitchFamily="34" charset="0"/>
              <a:buChar char="•"/>
            </a:pPr>
            <a:r>
              <a:rPr lang="en-US" dirty="0">
                <a:latin typeface="Calibir"/>
              </a:rPr>
              <a:t>Read lecture slides </a:t>
            </a:r>
          </a:p>
          <a:p>
            <a:pPr marL="742950" lvl="1" indent="-285750">
              <a:lnSpc>
                <a:spcPct val="150000"/>
              </a:lnSpc>
              <a:buFont typeface="Arial" panose="020B0604020202020204" pitchFamily="34" charset="0"/>
              <a:buChar char="•"/>
            </a:pPr>
            <a:r>
              <a:rPr lang="en-US" dirty="0">
                <a:latin typeface="Calibir"/>
              </a:rPr>
              <a:t>Watch short HTML/CSS videos </a:t>
            </a:r>
          </a:p>
          <a:p>
            <a:pPr>
              <a:lnSpc>
                <a:spcPct val="150000"/>
              </a:lnSpc>
              <a:buNone/>
            </a:pPr>
            <a:r>
              <a:rPr lang="en-US" b="1" dirty="0">
                <a:latin typeface="Calibir"/>
              </a:rPr>
              <a:t>During Class</a:t>
            </a:r>
          </a:p>
          <a:p>
            <a:pPr marL="742950" lvl="1" indent="-285750">
              <a:lnSpc>
                <a:spcPct val="150000"/>
              </a:lnSpc>
              <a:buFont typeface="Arial" panose="020B0604020202020204" pitchFamily="34" charset="0"/>
              <a:buChar char="•"/>
            </a:pPr>
            <a:r>
              <a:rPr lang="en-US" dirty="0">
                <a:latin typeface="Calibir"/>
              </a:rPr>
              <a:t>Take notes </a:t>
            </a:r>
          </a:p>
          <a:p>
            <a:pPr marL="742950" lvl="1" indent="-285750">
              <a:lnSpc>
                <a:spcPct val="150000"/>
              </a:lnSpc>
              <a:buFont typeface="Arial" panose="020B0604020202020204" pitchFamily="34" charset="0"/>
              <a:buChar char="•"/>
            </a:pPr>
            <a:r>
              <a:rPr lang="en-US" dirty="0">
                <a:latin typeface="Calibir"/>
              </a:rPr>
              <a:t>Follow coding demonstrations </a:t>
            </a:r>
          </a:p>
          <a:p>
            <a:pPr>
              <a:lnSpc>
                <a:spcPct val="150000"/>
              </a:lnSpc>
              <a:buNone/>
            </a:pPr>
            <a:r>
              <a:rPr lang="en-US" b="1" dirty="0">
                <a:latin typeface="Calibir"/>
              </a:rPr>
              <a:t>After Class</a:t>
            </a:r>
          </a:p>
          <a:p>
            <a:pPr marL="742950" lvl="1" indent="-285750">
              <a:lnSpc>
                <a:spcPct val="150000"/>
              </a:lnSpc>
              <a:buFont typeface="Arial" panose="020B0604020202020204" pitchFamily="34" charset="0"/>
              <a:buChar char="•"/>
            </a:pPr>
            <a:r>
              <a:rPr lang="en-US" dirty="0">
                <a:latin typeface="Calibir"/>
              </a:rPr>
              <a:t>Rebuild examples </a:t>
            </a:r>
          </a:p>
          <a:p>
            <a:pPr marL="742950" lvl="1" indent="-285750">
              <a:lnSpc>
                <a:spcPct val="150000"/>
              </a:lnSpc>
              <a:buFont typeface="Arial" panose="020B0604020202020204" pitchFamily="34" charset="0"/>
              <a:buChar char="•"/>
            </a:pPr>
            <a:r>
              <a:rPr lang="en-US" dirty="0">
                <a:latin typeface="Calibir"/>
              </a:rPr>
              <a:t>Complete tutorial questions </a:t>
            </a:r>
          </a:p>
          <a:p>
            <a:pPr marL="742950" lvl="1" indent="-285750">
              <a:lnSpc>
                <a:spcPct val="150000"/>
              </a:lnSpc>
              <a:buFont typeface="Arial" panose="020B0604020202020204" pitchFamily="34" charset="0"/>
              <a:buChar char="•"/>
            </a:pPr>
            <a:r>
              <a:rPr lang="en-US" dirty="0">
                <a:latin typeface="Calibir"/>
              </a:rPr>
              <a:t>Practice coding </a:t>
            </a:r>
          </a:p>
          <a:p>
            <a:pPr>
              <a:lnSpc>
                <a:spcPct val="150000"/>
              </a:lnSpc>
              <a:buNone/>
            </a:pPr>
            <a:r>
              <a:rPr lang="en-US" b="1" dirty="0">
                <a:latin typeface="Calibir"/>
              </a:rPr>
              <a:t>Weekend</a:t>
            </a:r>
          </a:p>
          <a:p>
            <a:pPr marL="742950" lvl="1" indent="-285750">
              <a:lnSpc>
                <a:spcPct val="150000"/>
              </a:lnSpc>
              <a:buFont typeface="Arial" panose="020B0604020202020204" pitchFamily="34" charset="0"/>
              <a:buChar char="•"/>
            </a:pPr>
            <a:r>
              <a:rPr lang="en-US" dirty="0">
                <a:latin typeface="Calibir"/>
              </a:rPr>
              <a:t>Review all weekly topics </a:t>
            </a:r>
          </a:p>
          <a:p>
            <a:pPr marL="742950" lvl="1" indent="-285750">
              <a:lnSpc>
                <a:spcPct val="150000"/>
              </a:lnSpc>
              <a:buFont typeface="Arial" panose="020B0604020202020204" pitchFamily="34" charset="0"/>
              <a:buChar char="•"/>
            </a:pPr>
            <a:r>
              <a:rPr lang="en-US" dirty="0">
                <a:latin typeface="Calibir"/>
              </a:rPr>
              <a:t>Build one small webpage</a:t>
            </a:r>
          </a:p>
        </p:txBody>
      </p:sp>
    </p:spTree>
    <p:extLst>
      <p:ext uri="{BB962C8B-B14F-4D97-AF65-F5344CB8AC3E}">
        <p14:creationId xmlns:p14="http://schemas.microsoft.com/office/powerpoint/2010/main" val="3555603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FC22-1BA2-9EDB-0E07-7553F0E63A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47C591-4D4E-F0EC-E064-4C8273E4536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Important Lab Test Schedule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D88E5805-8B37-6A78-8AF5-999479BD67BC}"/>
              </a:ext>
            </a:extLst>
          </p:cNvPr>
          <p:cNvGraphicFramePr>
            <a:graphicFrameLocks noGrp="1"/>
          </p:cNvGraphicFramePr>
          <p:nvPr>
            <p:extLst>
              <p:ext uri="{D42A27DB-BD31-4B8C-83A1-F6EECF244321}">
                <p14:modId xmlns:p14="http://schemas.microsoft.com/office/powerpoint/2010/main" val="3504533766"/>
              </p:ext>
            </p:extLst>
          </p:nvPr>
        </p:nvGraphicFramePr>
        <p:xfrm>
          <a:off x="838200" y="1886375"/>
          <a:ext cx="10515600" cy="3992118"/>
        </p:xfrm>
        <a:graphic>
          <a:graphicData uri="http://schemas.openxmlformats.org/drawingml/2006/table">
            <a:tbl>
              <a:tblPr>
                <a:tableStyleId>{BDBED569-4797-4DF1-A0F4-6AAB3CD982D8}</a:tableStyleId>
              </a:tblPr>
              <a:tblGrid>
                <a:gridCol w="2103120">
                  <a:extLst>
                    <a:ext uri="{9D8B030D-6E8A-4147-A177-3AD203B41FA5}">
                      <a16:colId xmlns:a16="http://schemas.microsoft.com/office/drawing/2014/main" val="374378148"/>
                    </a:ext>
                  </a:extLst>
                </a:gridCol>
                <a:gridCol w="2103120">
                  <a:extLst>
                    <a:ext uri="{9D8B030D-6E8A-4147-A177-3AD203B41FA5}">
                      <a16:colId xmlns:a16="http://schemas.microsoft.com/office/drawing/2014/main" val="701682086"/>
                    </a:ext>
                  </a:extLst>
                </a:gridCol>
                <a:gridCol w="2103120">
                  <a:extLst>
                    <a:ext uri="{9D8B030D-6E8A-4147-A177-3AD203B41FA5}">
                      <a16:colId xmlns:a16="http://schemas.microsoft.com/office/drawing/2014/main" val="1126729970"/>
                    </a:ext>
                  </a:extLst>
                </a:gridCol>
                <a:gridCol w="2103120">
                  <a:extLst>
                    <a:ext uri="{9D8B030D-6E8A-4147-A177-3AD203B41FA5}">
                      <a16:colId xmlns:a16="http://schemas.microsoft.com/office/drawing/2014/main" val="3106631774"/>
                    </a:ext>
                  </a:extLst>
                </a:gridCol>
                <a:gridCol w="2103120">
                  <a:extLst>
                    <a:ext uri="{9D8B030D-6E8A-4147-A177-3AD203B41FA5}">
                      <a16:colId xmlns:a16="http://schemas.microsoft.com/office/drawing/2014/main" val="4264675916"/>
                    </a:ext>
                  </a:extLst>
                </a:gridCol>
              </a:tblGrid>
              <a:tr h="0">
                <a:tc>
                  <a:txBody>
                    <a:bodyPr/>
                    <a:lstStyle/>
                    <a:p>
                      <a:pPr>
                        <a:lnSpc>
                          <a:spcPct val="150000"/>
                        </a:lnSpc>
                        <a:buNone/>
                      </a:pPr>
                      <a:r>
                        <a:rPr lang="en-US" sz="2800">
                          <a:latin typeface="Calibir"/>
                        </a:rPr>
                        <a:t>Lab</a:t>
                      </a:r>
                    </a:p>
                  </a:txBody>
                  <a:tcPr anchor="ctr"/>
                </a:tc>
                <a:tc>
                  <a:txBody>
                    <a:bodyPr/>
                    <a:lstStyle/>
                    <a:p>
                      <a:pPr>
                        <a:lnSpc>
                          <a:spcPct val="150000"/>
                        </a:lnSpc>
                        <a:buNone/>
                      </a:pPr>
                      <a:r>
                        <a:rPr lang="en-US" sz="2800">
                          <a:latin typeface="Calibir"/>
                        </a:rPr>
                        <a:t>Due Date</a:t>
                      </a:r>
                    </a:p>
                  </a:txBody>
                  <a:tcPr anchor="ctr"/>
                </a:tc>
                <a:tc>
                  <a:txBody>
                    <a:bodyPr/>
                    <a:lstStyle/>
                    <a:p>
                      <a:pPr>
                        <a:lnSpc>
                          <a:spcPct val="150000"/>
                        </a:lnSpc>
                        <a:buNone/>
                      </a:pPr>
                      <a:r>
                        <a:rPr lang="en-US" sz="2800">
                          <a:latin typeface="Calibir"/>
                        </a:rPr>
                        <a:t>Open Time</a:t>
                      </a:r>
                    </a:p>
                  </a:txBody>
                  <a:tcPr anchor="ctr"/>
                </a:tc>
                <a:tc>
                  <a:txBody>
                    <a:bodyPr/>
                    <a:lstStyle/>
                    <a:p>
                      <a:pPr>
                        <a:lnSpc>
                          <a:spcPct val="150000"/>
                        </a:lnSpc>
                        <a:buNone/>
                      </a:pPr>
                      <a:r>
                        <a:rPr lang="en-US" sz="2800">
                          <a:latin typeface="Calibir"/>
                        </a:rPr>
                        <a:t>Close Time</a:t>
                      </a:r>
                    </a:p>
                  </a:txBody>
                  <a:tcPr anchor="ctr"/>
                </a:tc>
                <a:tc>
                  <a:txBody>
                    <a:bodyPr/>
                    <a:lstStyle/>
                    <a:p>
                      <a:pPr>
                        <a:lnSpc>
                          <a:spcPct val="150000"/>
                        </a:lnSpc>
                        <a:buNone/>
                      </a:pPr>
                      <a:r>
                        <a:rPr lang="en-US" sz="2800">
                          <a:latin typeface="Calibir"/>
                        </a:rPr>
                        <a:t>Duration</a:t>
                      </a:r>
                    </a:p>
                  </a:txBody>
                  <a:tcPr anchor="ctr"/>
                </a:tc>
                <a:extLst>
                  <a:ext uri="{0D108BD9-81ED-4DB2-BD59-A6C34878D82A}">
                    <a16:rowId xmlns:a16="http://schemas.microsoft.com/office/drawing/2014/main" val="2954339091"/>
                  </a:ext>
                </a:extLst>
              </a:tr>
              <a:tr h="0">
                <a:tc>
                  <a:txBody>
                    <a:bodyPr/>
                    <a:lstStyle/>
                    <a:p>
                      <a:pPr>
                        <a:lnSpc>
                          <a:spcPct val="150000"/>
                        </a:lnSpc>
                        <a:buNone/>
                      </a:pPr>
                      <a:r>
                        <a:rPr lang="en-US" sz="2800">
                          <a:latin typeface="Calibir"/>
                        </a:rPr>
                        <a:t>Lab 1</a:t>
                      </a:r>
                    </a:p>
                  </a:txBody>
                  <a:tcPr anchor="ctr"/>
                </a:tc>
                <a:tc>
                  <a:txBody>
                    <a:bodyPr/>
                    <a:lstStyle/>
                    <a:p>
                      <a:pPr>
                        <a:lnSpc>
                          <a:spcPct val="150000"/>
                        </a:lnSpc>
                        <a:buNone/>
                      </a:pPr>
                      <a:r>
                        <a:rPr lang="en-US" sz="2800">
                          <a:latin typeface="Calibir"/>
                        </a:rPr>
                        <a:t>15 May 2026</a:t>
                      </a:r>
                    </a:p>
                  </a:txBody>
                  <a:tcPr anchor="ctr"/>
                </a:tc>
                <a:tc>
                  <a:txBody>
                    <a:bodyPr/>
                    <a:lstStyle/>
                    <a:p>
                      <a:pPr>
                        <a:lnSpc>
                          <a:spcPct val="150000"/>
                        </a:lnSpc>
                        <a:buNone/>
                      </a:pPr>
                      <a:r>
                        <a:rPr lang="en-US" sz="2800" dirty="0">
                          <a:latin typeface="Calibir"/>
                        </a:rPr>
                        <a:t>6:00 AM</a:t>
                      </a:r>
                    </a:p>
                  </a:txBody>
                  <a:tcPr anchor="ctr"/>
                </a:tc>
                <a:tc>
                  <a:txBody>
                    <a:bodyPr/>
                    <a:lstStyle/>
                    <a:p>
                      <a:pPr>
                        <a:lnSpc>
                          <a:spcPct val="150000"/>
                        </a:lnSpc>
                        <a:buNone/>
                      </a:pPr>
                      <a:r>
                        <a:rPr lang="en-US" sz="2800">
                          <a:latin typeface="Calibir"/>
                        </a:rPr>
                        <a:t>9:00 PM</a:t>
                      </a:r>
                    </a:p>
                  </a:txBody>
                  <a:tcPr anchor="ctr"/>
                </a:tc>
                <a:tc>
                  <a:txBody>
                    <a:bodyPr/>
                    <a:lstStyle/>
                    <a:p>
                      <a:pPr>
                        <a:lnSpc>
                          <a:spcPct val="150000"/>
                        </a:lnSpc>
                        <a:buNone/>
                      </a:pPr>
                      <a:r>
                        <a:rPr lang="en-US" sz="2800">
                          <a:latin typeface="Calibir"/>
                        </a:rPr>
                        <a:t>30 mins</a:t>
                      </a:r>
                    </a:p>
                  </a:txBody>
                  <a:tcPr anchor="ctr"/>
                </a:tc>
                <a:extLst>
                  <a:ext uri="{0D108BD9-81ED-4DB2-BD59-A6C34878D82A}">
                    <a16:rowId xmlns:a16="http://schemas.microsoft.com/office/drawing/2014/main" val="1635476128"/>
                  </a:ext>
                </a:extLst>
              </a:tr>
              <a:tr h="0">
                <a:tc>
                  <a:txBody>
                    <a:bodyPr/>
                    <a:lstStyle/>
                    <a:p>
                      <a:pPr>
                        <a:lnSpc>
                          <a:spcPct val="150000"/>
                        </a:lnSpc>
                        <a:buNone/>
                      </a:pPr>
                      <a:r>
                        <a:rPr lang="en-US" sz="2800">
                          <a:latin typeface="Calibir"/>
                        </a:rPr>
                        <a:t>Lab 2</a:t>
                      </a:r>
                    </a:p>
                  </a:txBody>
                  <a:tcPr anchor="ctr"/>
                </a:tc>
                <a:tc>
                  <a:txBody>
                    <a:bodyPr/>
                    <a:lstStyle/>
                    <a:p>
                      <a:pPr>
                        <a:lnSpc>
                          <a:spcPct val="150000"/>
                        </a:lnSpc>
                        <a:buNone/>
                      </a:pPr>
                      <a:r>
                        <a:rPr lang="en-US" sz="2800">
                          <a:latin typeface="Calibir"/>
                        </a:rPr>
                        <a:t>22 May 2026</a:t>
                      </a:r>
                    </a:p>
                  </a:txBody>
                  <a:tcPr anchor="ctr"/>
                </a:tc>
                <a:tc>
                  <a:txBody>
                    <a:bodyPr/>
                    <a:lstStyle/>
                    <a:p>
                      <a:pPr>
                        <a:lnSpc>
                          <a:spcPct val="150000"/>
                        </a:lnSpc>
                        <a:buNone/>
                      </a:pPr>
                      <a:r>
                        <a:rPr lang="en-US" sz="2800">
                          <a:latin typeface="Calibir"/>
                        </a:rPr>
                        <a:t>6:00 AM</a:t>
                      </a:r>
                    </a:p>
                  </a:txBody>
                  <a:tcPr anchor="ctr"/>
                </a:tc>
                <a:tc>
                  <a:txBody>
                    <a:bodyPr/>
                    <a:lstStyle/>
                    <a:p>
                      <a:pPr>
                        <a:lnSpc>
                          <a:spcPct val="150000"/>
                        </a:lnSpc>
                        <a:buNone/>
                      </a:pPr>
                      <a:r>
                        <a:rPr lang="en-US" sz="2800">
                          <a:latin typeface="Calibir"/>
                        </a:rPr>
                        <a:t>9:00 PM</a:t>
                      </a:r>
                    </a:p>
                  </a:txBody>
                  <a:tcPr anchor="ctr"/>
                </a:tc>
                <a:tc>
                  <a:txBody>
                    <a:bodyPr/>
                    <a:lstStyle/>
                    <a:p>
                      <a:pPr>
                        <a:lnSpc>
                          <a:spcPct val="150000"/>
                        </a:lnSpc>
                        <a:buNone/>
                      </a:pPr>
                      <a:r>
                        <a:rPr lang="en-US" sz="2800">
                          <a:latin typeface="Calibir"/>
                        </a:rPr>
                        <a:t>30 mins</a:t>
                      </a:r>
                    </a:p>
                  </a:txBody>
                  <a:tcPr anchor="ctr"/>
                </a:tc>
                <a:extLst>
                  <a:ext uri="{0D108BD9-81ED-4DB2-BD59-A6C34878D82A}">
                    <a16:rowId xmlns:a16="http://schemas.microsoft.com/office/drawing/2014/main" val="73786588"/>
                  </a:ext>
                </a:extLst>
              </a:tr>
              <a:tr h="0">
                <a:tc>
                  <a:txBody>
                    <a:bodyPr/>
                    <a:lstStyle/>
                    <a:p>
                      <a:pPr>
                        <a:lnSpc>
                          <a:spcPct val="150000"/>
                        </a:lnSpc>
                        <a:buNone/>
                      </a:pPr>
                      <a:r>
                        <a:rPr lang="en-US" sz="2800">
                          <a:latin typeface="Calibir"/>
                        </a:rPr>
                        <a:t>Lab 3</a:t>
                      </a:r>
                    </a:p>
                  </a:txBody>
                  <a:tcPr anchor="ctr"/>
                </a:tc>
                <a:tc>
                  <a:txBody>
                    <a:bodyPr/>
                    <a:lstStyle/>
                    <a:p>
                      <a:pPr>
                        <a:lnSpc>
                          <a:spcPct val="150000"/>
                        </a:lnSpc>
                        <a:buNone/>
                      </a:pPr>
                      <a:r>
                        <a:rPr lang="en-US" sz="2800">
                          <a:latin typeface="Calibir"/>
                        </a:rPr>
                        <a:t>29 May 2026</a:t>
                      </a:r>
                    </a:p>
                  </a:txBody>
                  <a:tcPr anchor="ctr"/>
                </a:tc>
                <a:tc>
                  <a:txBody>
                    <a:bodyPr/>
                    <a:lstStyle/>
                    <a:p>
                      <a:pPr>
                        <a:lnSpc>
                          <a:spcPct val="150000"/>
                        </a:lnSpc>
                        <a:buNone/>
                      </a:pPr>
                      <a:r>
                        <a:rPr lang="en-US" sz="2800">
                          <a:latin typeface="Calibir"/>
                        </a:rPr>
                        <a:t>6:00 AM</a:t>
                      </a:r>
                    </a:p>
                  </a:txBody>
                  <a:tcPr anchor="ctr"/>
                </a:tc>
                <a:tc>
                  <a:txBody>
                    <a:bodyPr/>
                    <a:lstStyle/>
                    <a:p>
                      <a:pPr>
                        <a:lnSpc>
                          <a:spcPct val="150000"/>
                        </a:lnSpc>
                        <a:buNone/>
                      </a:pPr>
                      <a:r>
                        <a:rPr lang="en-US" sz="2800">
                          <a:latin typeface="Calibir"/>
                        </a:rPr>
                        <a:t>9:00 PM</a:t>
                      </a:r>
                    </a:p>
                  </a:txBody>
                  <a:tcPr anchor="ctr"/>
                </a:tc>
                <a:tc>
                  <a:txBody>
                    <a:bodyPr/>
                    <a:lstStyle/>
                    <a:p>
                      <a:pPr>
                        <a:lnSpc>
                          <a:spcPct val="150000"/>
                        </a:lnSpc>
                        <a:buNone/>
                      </a:pPr>
                      <a:r>
                        <a:rPr lang="en-US" sz="2800">
                          <a:latin typeface="Calibir"/>
                        </a:rPr>
                        <a:t>30 mins</a:t>
                      </a:r>
                    </a:p>
                  </a:txBody>
                  <a:tcPr anchor="ctr"/>
                </a:tc>
                <a:extLst>
                  <a:ext uri="{0D108BD9-81ED-4DB2-BD59-A6C34878D82A}">
                    <a16:rowId xmlns:a16="http://schemas.microsoft.com/office/drawing/2014/main" val="2162481676"/>
                  </a:ext>
                </a:extLst>
              </a:tr>
              <a:tr h="0">
                <a:tc>
                  <a:txBody>
                    <a:bodyPr/>
                    <a:lstStyle/>
                    <a:p>
                      <a:pPr>
                        <a:lnSpc>
                          <a:spcPct val="150000"/>
                        </a:lnSpc>
                        <a:buNone/>
                      </a:pPr>
                      <a:r>
                        <a:rPr lang="en-US" sz="2800">
                          <a:latin typeface="Calibir"/>
                        </a:rPr>
                        <a:t>Lab 4</a:t>
                      </a:r>
                    </a:p>
                  </a:txBody>
                  <a:tcPr anchor="ctr"/>
                </a:tc>
                <a:tc>
                  <a:txBody>
                    <a:bodyPr/>
                    <a:lstStyle/>
                    <a:p>
                      <a:pPr>
                        <a:lnSpc>
                          <a:spcPct val="150000"/>
                        </a:lnSpc>
                        <a:buNone/>
                      </a:pPr>
                      <a:r>
                        <a:rPr lang="en-US" sz="2800">
                          <a:latin typeface="Calibir"/>
                        </a:rPr>
                        <a:t>5 June 2026</a:t>
                      </a:r>
                    </a:p>
                  </a:txBody>
                  <a:tcPr anchor="ctr"/>
                </a:tc>
                <a:tc>
                  <a:txBody>
                    <a:bodyPr/>
                    <a:lstStyle/>
                    <a:p>
                      <a:pPr>
                        <a:lnSpc>
                          <a:spcPct val="150000"/>
                        </a:lnSpc>
                        <a:buNone/>
                      </a:pPr>
                      <a:r>
                        <a:rPr lang="en-US" sz="2800">
                          <a:latin typeface="Calibir"/>
                        </a:rPr>
                        <a:t>6:00 AM</a:t>
                      </a:r>
                    </a:p>
                  </a:txBody>
                  <a:tcPr anchor="ctr"/>
                </a:tc>
                <a:tc>
                  <a:txBody>
                    <a:bodyPr/>
                    <a:lstStyle/>
                    <a:p>
                      <a:pPr>
                        <a:lnSpc>
                          <a:spcPct val="150000"/>
                        </a:lnSpc>
                        <a:buNone/>
                      </a:pPr>
                      <a:r>
                        <a:rPr lang="en-US" sz="2800">
                          <a:latin typeface="Calibir"/>
                        </a:rPr>
                        <a:t>9:00 PM</a:t>
                      </a:r>
                    </a:p>
                  </a:txBody>
                  <a:tcPr anchor="ctr"/>
                </a:tc>
                <a:tc>
                  <a:txBody>
                    <a:bodyPr/>
                    <a:lstStyle/>
                    <a:p>
                      <a:pPr>
                        <a:lnSpc>
                          <a:spcPct val="150000"/>
                        </a:lnSpc>
                        <a:buNone/>
                      </a:pPr>
                      <a:r>
                        <a:rPr lang="en-US" sz="2800">
                          <a:latin typeface="Calibir"/>
                        </a:rPr>
                        <a:t>30 mins</a:t>
                      </a:r>
                    </a:p>
                  </a:txBody>
                  <a:tcPr anchor="ctr"/>
                </a:tc>
                <a:extLst>
                  <a:ext uri="{0D108BD9-81ED-4DB2-BD59-A6C34878D82A}">
                    <a16:rowId xmlns:a16="http://schemas.microsoft.com/office/drawing/2014/main" val="617176134"/>
                  </a:ext>
                </a:extLst>
              </a:tr>
              <a:tr h="0">
                <a:tc>
                  <a:txBody>
                    <a:bodyPr/>
                    <a:lstStyle/>
                    <a:p>
                      <a:pPr>
                        <a:lnSpc>
                          <a:spcPct val="150000"/>
                        </a:lnSpc>
                        <a:buNone/>
                      </a:pPr>
                      <a:r>
                        <a:rPr lang="en-US" sz="2800">
                          <a:latin typeface="Calibir"/>
                        </a:rPr>
                        <a:t>Lab 5</a:t>
                      </a:r>
                    </a:p>
                  </a:txBody>
                  <a:tcPr anchor="ctr"/>
                </a:tc>
                <a:tc>
                  <a:txBody>
                    <a:bodyPr/>
                    <a:lstStyle/>
                    <a:p>
                      <a:pPr>
                        <a:lnSpc>
                          <a:spcPct val="150000"/>
                        </a:lnSpc>
                        <a:buNone/>
                      </a:pPr>
                      <a:r>
                        <a:rPr lang="en-US" sz="2800">
                          <a:latin typeface="Calibir"/>
                        </a:rPr>
                        <a:t>12 June 2026</a:t>
                      </a:r>
                    </a:p>
                  </a:txBody>
                  <a:tcPr anchor="ctr"/>
                </a:tc>
                <a:tc>
                  <a:txBody>
                    <a:bodyPr/>
                    <a:lstStyle/>
                    <a:p>
                      <a:pPr>
                        <a:lnSpc>
                          <a:spcPct val="150000"/>
                        </a:lnSpc>
                        <a:buNone/>
                      </a:pPr>
                      <a:r>
                        <a:rPr lang="en-US" sz="2800">
                          <a:latin typeface="Calibir"/>
                        </a:rPr>
                        <a:t>6:00 AM</a:t>
                      </a:r>
                    </a:p>
                  </a:txBody>
                  <a:tcPr anchor="ctr"/>
                </a:tc>
                <a:tc>
                  <a:txBody>
                    <a:bodyPr/>
                    <a:lstStyle/>
                    <a:p>
                      <a:pPr>
                        <a:lnSpc>
                          <a:spcPct val="150000"/>
                        </a:lnSpc>
                        <a:buNone/>
                      </a:pPr>
                      <a:r>
                        <a:rPr lang="en-US" sz="2800">
                          <a:latin typeface="Calibir"/>
                        </a:rPr>
                        <a:t>9:00 PM</a:t>
                      </a:r>
                    </a:p>
                  </a:txBody>
                  <a:tcPr anchor="ctr"/>
                </a:tc>
                <a:tc>
                  <a:txBody>
                    <a:bodyPr/>
                    <a:lstStyle/>
                    <a:p>
                      <a:pPr>
                        <a:lnSpc>
                          <a:spcPct val="150000"/>
                        </a:lnSpc>
                        <a:buNone/>
                      </a:pPr>
                      <a:r>
                        <a:rPr lang="en-US" sz="2800" dirty="0">
                          <a:latin typeface="Calibir"/>
                        </a:rPr>
                        <a:t>30 mins</a:t>
                      </a:r>
                    </a:p>
                  </a:txBody>
                  <a:tcPr anchor="ctr"/>
                </a:tc>
                <a:extLst>
                  <a:ext uri="{0D108BD9-81ED-4DB2-BD59-A6C34878D82A}">
                    <a16:rowId xmlns:a16="http://schemas.microsoft.com/office/drawing/2014/main" val="3366494701"/>
                  </a:ext>
                </a:extLst>
              </a:tr>
            </a:tbl>
          </a:graphicData>
        </a:graphic>
      </p:graphicFrame>
      <p:sp>
        <p:nvSpPr>
          <p:cNvPr id="6" name="TextBox 5">
            <a:extLst>
              <a:ext uri="{FF2B5EF4-FFF2-40B4-BE49-F238E27FC236}">
                <a16:creationId xmlns:a16="http://schemas.microsoft.com/office/drawing/2014/main" id="{43A5BD26-E24B-34B2-620D-27BED251D9D0}"/>
              </a:ext>
            </a:extLst>
          </p:cNvPr>
          <p:cNvSpPr txBox="1"/>
          <p:nvPr/>
        </p:nvSpPr>
        <p:spPr>
          <a:xfrm>
            <a:off x="0" y="810850"/>
            <a:ext cx="6179574" cy="523220"/>
          </a:xfrm>
          <a:prstGeom prst="rect">
            <a:avLst/>
          </a:prstGeom>
          <a:noFill/>
        </p:spPr>
        <p:txBody>
          <a:bodyPr wrap="square">
            <a:spAutoFit/>
          </a:bodyPr>
          <a:lstStyle/>
          <a:p>
            <a:pPr>
              <a:buNone/>
            </a:pPr>
            <a:r>
              <a:rPr lang="en-US" sz="2800" b="1" dirty="0">
                <a:latin typeface="Calibir"/>
              </a:rPr>
              <a:t>Lab Test Dates</a:t>
            </a:r>
          </a:p>
        </p:txBody>
      </p:sp>
    </p:spTree>
    <p:extLst>
      <p:ext uri="{BB962C8B-B14F-4D97-AF65-F5344CB8AC3E}">
        <p14:creationId xmlns:p14="http://schemas.microsoft.com/office/powerpoint/2010/main" val="2712937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7BCB4-5A01-6201-152D-AFB6FA33D3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127A0C-6F7F-19CD-3C13-F06A2D42D4C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IMPORTANT NOTE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E5BE0496-C8DB-BF40-AAD3-E2C126E9FC28}"/>
              </a:ext>
            </a:extLst>
          </p:cNvPr>
          <p:cNvSpPr txBox="1"/>
          <p:nvPr/>
        </p:nvSpPr>
        <p:spPr>
          <a:xfrm>
            <a:off x="0" y="810850"/>
            <a:ext cx="12192000" cy="3257174"/>
          </a:xfrm>
          <a:prstGeom prst="rect">
            <a:avLst/>
          </a:prstGeom>
          <a:noFill/>
        </p:spPr>
        <p:txBody>
          <a:bodyPr wrap="square">
            <a:spAutoFit/>
          </a:bodyPr>
          <a:lstStyle/>
          <a:p>
            <a:pPr>
              <a:lnSpc>
                <a:spcPct val="150000"/>
              </a:lnSpc>
            </a:pPr>
            <a:r>
              <a:rPr lang="en-US" sz="2800" b="1" dirty="0">
                <a:latin typeface="Calibir"/>
              </a:rPr>
              <a:t>Test links are ONLY available during the scheduled time period.</a:t>
            </a:r>
          </a:p>
          <a:p>
            <a:pPr>
              <a:lnSpc>
                <a:spcPct val="150000"/>
              </a:lnSpc>
            </a:pPr>
            <a:r>
              <a:rPr lang="en-US" sz="2800" dirty="0">
                <a:latin typeface="Calibir"/>
              </a:rPr>
              <a:t>If you miss the test time:</a:t>
            </a:r>
          </a:p>
          <a:p>
            <a:pPr>
              <a:lnSpc>
                <a:spcPct val="150000"/>
              </a:lnSpc>
            </a:pPr>
            <a:r>
              <a:rPr lang="en-US" sz="2800" dirty="0">
                <a:latin typeface="Calibir"/>
              </a:rPr>
              <a:t>the link disappears, </a:t>
            </a:r>
          </a:p>
          <a:p>
            <a:pPr>
              <a:lnSpc>
                <a:spcPct val="150000"/>
              </a:lnSpc>
            </a:pPr>
            <a:r>
              <a:rPr lang="en-US" sz="2800" dirty="0">
                <a:latin typeface="Calibir"/>
              </a:rPr>
              <a:t>and you may receive zero marks. </a:t>
            </a:r>
          </a:p>
          <a:p>
            <a:pPr>
              <a:lnSpc>
                <a:spcPct val="150000"/>
              </a:lnSpc>
            </a:pPr>
            <a:r>
              <a:rPr lang="en-US" sz="2800" dirty="0">
                <a:latin typeface="Calibir"/>
              </a:rPr>
              <a:t>Always plan early.</a:t>
            </a:r>
          </a:p>
        </p:txBody>
      </p:sp>
    </p:spTree>
    <p:extLst>
      <p:ext uri="{BB962C8B-B14F-4D97-AF65-F5344CB8AC3E}">
        <p14:creationId xmlns:p14="http://schemas.microsoft.com/office/powerpoint/2010/main" val="3444592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B434D-42CC-EA7B-A3AD-42A178BC44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5EFB0D-4DB2-7E7C-5650-BC225B3C105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VERY IMPORTANT LAB TEST INSTRUCTIONS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75648D2C-1C9C-18C1-7620-B513CE848FF9}"/>
              </a:ext>
            </a:extLst>
          </p:cNvPr>
          <p:cNvSpPr txBox="1"/>
          <p:nvPr/>
        </p:nvSpPr>
        <p:spPr>
          <a:xfrm>
            <a:off x="0" y="810850"/>
            <a:ext cx="12192000" cy="3257174"/>
          </a:xfrm>
          <a:prstGeom prst="rect">
            <a:avLst/>
          </a:prstGeom>
          <a:noFill/>
        </p:spPr>
        <p:txBody>
          <a:bodyPr wrap="square">
            <a:spAutoFit/>
          </a:bodyPr>
          <a:lstStyle/>
          <a:p>
            <a:pPr>
              <a:lnSpc>
                <a:spcPct val="150000"/>
              </a:lnSpc>
            </a:pPr>
            <a:r>
              <a:rPr lang="en-US" sz="2800" b="1" dirty="0">
                <a:latin typeface="Calibir"/>
              </a:rPr>
              <a:t>Internet Connection</a:t>
            </a:r>
          </a:p>
          <a:p>
            <a:pPr>
              <a:lnSpc>
                <a:spcPct val="150000"/>
              </a:lnSpc>
            </a:pPr>
            <a:r>
              <a:rPr lang="en-US" sz="2800" dirty="0">
                <a:latin typeface="Calibir"/>
              </a:rPr>
              <a:t>You MUST:</a:t>
            </a:r>
          </a:p>
          <a:p>
            <a:pPr marL="914400" lvl="1" indent="-457200">
              <a:lnSpc>
                <a:spcPct val="150000"/>
              </a:lnSpc>
              <a:buFont typeface="Arial" panose="020B0604020202020204" pitchFamily="34" charset="0"/>
              <a:buChar char="•"/>
            </a:pPr>
            <a:r>
              <a:rPr lang="en-US" sz="2800" dirty="0">
                <a:latin typeface="Calibir"/>
              </a:rPr>
              <a:t>use stable internet, </a:t>
            </a:r>
          </a:p>
          <a:p>
            <a:pPr marL="914400" lvl="1" indent="-457200">
              <a:lnSpc>
                <a:spcPct val="150000"/>
              </a:lnSpc>
              <a:buFont typeface="Arial" panose="020B0604020202020204" pitchFamily="34" charset="0"/>
              <a:buChar char="•"/>
            </a:pPr>
            <a:r>
              <a:rPr lang="en-US" sz="2800" dirty="0">
                <a:latin typeface="Calibir"/>
              </a:rPr>
              <a:t>avoid weak Wi-Fi, </a:t>
            </a:r>
          </a:p>
          <a:p>
            <a:pPr marL="914400" lvl="1" indent="-457200">
              <a:lnSpc>
                <a:spcPct val="150000"/>
              </a:lnSpc>
              <a:buFont typeface="Arial" panose="020B0604020202020204" pitchFamily="34" charset="0"/>
              <a:buChar char="•"/>
            </a:pPr>
            <a:r>
              <a:rPr lang="en-US" sz="2800" dirty="0">
                <a:latin typeface="Calibir"/>
              </a:rPr>
              <a:t>avoid mobile hotspots if unreliable. </a:t>
            </a:r>
          </a:p>
        </p:txBody>
      </p:sp>
    </p:spTree>
    <p:extLst>
      <p:ext uri="{BB962C8B-B14F-4D97-AF65-F5344CB8AC3E}">
        <p14:creationId xmlns:p14="http://schemas.microsoft.com/office/powerpoint/2010/main" val="1299621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9BF7-7BB5-C342-AC0B-8DD866790C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9CEEC9-D09E-7079-ABDB-2C617D0135C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VERY IMPORTANT LAB TEST INSTRUCTIONS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5E2BF772-0280-2A03-ED59-4139B2811918}"/>
              </a:ext>
            </a:extLst>
          </p:cNvPr>
          <p:cNvSpPr txBox="1"/>
          <p:nvPr/>
        </p:nvSpPr>
        <p:spPr>
          <a:xfrm>
            <a:off x="0" y="810850"/>
            <a:ext cx="12192000" cy="5842497"/>
          </a:xfrm>
          <a:prstGeom prst="rect">
            <a:avLst/>
          </a:prstGeom>
          <a:noFill/>
        </p:spPr>
        <p:txBody>
          <a:bodyPr wrap="square">
            <a:spAutoFit/>
          </a:bodyPr>
          <a:lstStyle/>
          <a:p>
            <a:pPr>
              <a:lnSpc>
                <a:spcPct val="150000"/>
              </a:lnSpc>
            </a:pPr>
            <a:r>
              <a:rPr lang="en-US" sz="2800" b="1" dirty="0">
                <a:latin typeface="Calibir"/>
              </a:rPr>
              <a:t>Important</a:t>
            </a:r>
          </a:p>
          <a:p>
            <a:pPr>
              <a:lnSpc>
                <a:spcPct val="150000"/>
              </a:lnSpc>
            </a:pPr>
            <a:r>
              <a:rPr lang="en-US" sz="2800" dirty="0">
                <a:latin typeface="Calibir"/>
              </a:rPr>
              <a:t>Special consideration is NOT granted for:</a:t>
            </a:r>
          </a:p>
          <a:p>
            <a:pPr marL="914400" lvl="1" indent="-457200">
              <a:lnSpc>
                <a:spcPct val="150000"/>
              </a:lnSpc>
              <a:buFont typeface="Arial" panose="020B0604020202020204" pitchFamily="34" charset="0"/>
              <a:buChar char="•"/>
            </a:pPr>
            <a:r>
              <a:rPr lang="en-US" sz="2800" dirty="0">
                <a:latin typeface="Calibir"/>
              </a:rPr>
              <a:t>poor internet, </a:t>
            </a:r>
          </a:p>
          <a:p>
            <a:pPr marL="914400" lvl="1" indent="-457200">
              <a:lnSpc>
                <a:spcPct val="150000"/>
              </a:lnSpc>
              <a:buFont typeface="Arial" panose="020B0604020202020204" pitchFamily="34" charset="0"/>
              <a:buChar char="•"/>
            </a:pPr>
            <a:r>
              <a:rPr lang="en-US" sz="2800" dirty="0">
                <a:latin typeface="Calibir"/>
              </a:rPr>
              <a:t>disconnections, </a:t>
            </a:r>
          </a:p>
          <a:p>
            <a:pPr marL="914400" lvl="1" indent="-457200">
              <a:lnSpc>
                <a:spcPct val="150000"/>
              </a:lnSpc>
              <a:buFont typeface="Arial" panose="020B0604020202020204" pitchFamily="34" charset="0"/>
              <a:buChar char="•"/>
            </a:pPr>
            <a:r>
              <a:rPr lang="en-US" sz="2800" dirty="0">
                <a:latin typeface="Calibir"/>
              </a:rPr>
              <a:t>unstable Wi-Fi. </a:t>
            </a:r>
          </a:p>
          <a:p>
            <a:pPr>
              <a:lnSpc>
                <a:spcPct val="150000"/>
              </a:lnSpc>
            </a:pPr>
            <a:r>
              <a:rPr lang="en-US" sz="2800" dirty="0">
                <a:latin typeface="Calibir"/>
              </a:rPr>
              <a:t>If needed:</a:t>
            </a:r>
          </a:p>
          <a:p>
            <a:pPr marL="914400" lvl="1" indent="-457200">
              <a:lnSpc>
                <a:spcPct val="150000"/>
              </a:lnSpc>
              <a:buFont typeface="Arial" panose="020B0604020202020204" pitchFamily="34" charset="0"/>
              <a:buChar char="•"/>
            </a:pPr>
            <a:r>
              <a:rPr lang="en-US" sz="2800" dirty="0">
                <a:latin typeface="Calibir"/>
              </a:rPr>
              <a:t>use university labs, </a:t>
            </a:r>
          </a:p>
          <a:p>
            <a:pPr marL="914400" lvl="1" indent="-457200">
              <a:lnSpc>
                <a:spcPct val="150000"/>
              </a:lnSpc>
              <a:buFont typeface="Arial" panose="020B0604020202020204" pitchFamily="34" charset="0"/>
              <a:buChar char="•"/>
            </a:pPr>
            <a:r>
              <a:rPr lang="en-US" sz="2800" dirty="0">
                <a:latin typeface="Calibir"/>
              </a:rPr>
              <a:t>public libraries, </a:t>
            </a:r>
          </a:p>
          <a:p>
            <a:pPr marL="914400" lvl="1" indent="-457200">
              <a:lnSpc>
                <a:spcPct val="150000"/>
              </a:lnSpc>
              <a:buFont typeface="Arial" panose="020B0604020202020204" pitchFamily="34" charset="0"/>
              <a:buChar char="•"/>
            </a:pPr>
            <a:r>
              <a:rPr lang="en-US" sz="2800" dirty="0">
                <a:latin typeface="Calibir"/>
              </a:rPr>
              <a:t>or another reliable location.</a:t>
            </a:r>
          </a:p>
        </p:txBody>
      </p:sp>
    </p:spTree>
    <p:extLst>
      <p:ext uri="{BB962C8B-B14F-4D97-AF65-F5344CB8AC3E}">
        <p14:creationId xmlns:p14="http://schemas.microsoft.com/office/powerpoint/2010/main" val="2417018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C387-6DDB-8F22-36BC-92BCD145BD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9DB87E-50EF-67D4-CA39-FBC81FC20B4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Device Requirements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F600910E-A028-8DF1-495B-B56A484C79ED}"/>
              </a:ext>
            </a:extLst>
          </p:cNvPr>
          <p:cNvSpPr txBox="1"/>
          <p:nvPr/>
        </p:nvSpPr>
        <p:spPr>
          <a:xfrm>
            <a:off x="0" y="810850"/>
            <a:ext cx="12192000" cy="3903504"/>
          </a:xfrm>
          <a:prstGeom prst="rect">
            <a:avLst/>
          </a:prstGeom>
          <a:noFill/>
        </p:spPr>
        <p:txBody>
          <a:bodyPr wrap="square">
            <a:spAutoFit/>
          </a:bodyPr>
          <a:lstStyle/>
          <a:p>
            <a:pPr>
              <a:lnSpc>
                <a:spcPct val="150000"/>
              </a:lnSpc>
            </a:pPr>
            <a:r>
              <a:rPr lang="en-US" sz="2800" b="1" dirty="0">
                <a:latin typeface="Calibir"/>
              </a:rPr>
              <a:t>You MUST use:</a:t>
            </a:r>
          </a:p>
          <a:p>
            <a:pPr marL="914400" lvl="1" indent="-457200">
              <a:lnSpc>
                <a:spcPct val="150000"/>
              </a:lnSpc>
              <a:buFont typeface="Arial" panose="020B0604020202020204" pitchFamily="34" charset="0"/>
              <a:buChar char="•"/>
            </a:pPr>
            <a:r>
              <a:rPr lang="en-US" sz="2800" dirty="0">
                <a:latin typeface="Calibir"/>
              </a:rPr>
              <a:t>a reliable laptop or desktop computer. </a:t>
            </a:r>
          </a:p>
          <a:p>
            <a:pPr>
              <a:lnSpc>
                <a:spcPct val="150000"/>
              </a:lnSpc>
            </a:pPr>
            <a:r>
              <a:rPr lang="en-US" sz="2800" b="1" dirty="0">
                <a:latin typeface="Calibir"/>
              </a:rPr>
              <a:t>You CANNOT use:</a:t>
            </a:r>
          </a:p>
          <a:p>
            <a:pPr marL="914400" lvl="1" indent="-457200">
              <a:lnSpc>
                <a:spcPct val="150000"/>
              </a:lnSpc>
              <a:buFont typeface="Arial" panose="020B0604020202020204" pitchFamily="34" charset="0"/>
              <a:buChar char="•"/>
            </a:pPr>
            <a:r>
              <a:rPr lang="en-US" sz="2800" dirty="0">
                <a:latin typeface="Calibir"/>
              </a:rPr>
              <a:t>phones, </a:t>
            </a:r>
          </a:p>
          <a:p>
            <a:pPr marL="914400" lvl="1" indent="-457200">
              <a:lnSpc>
                <a:spcPct val="150000"/>
              </a:lnSpc>
              <a:buFont typeface="Arial" panose="020B0604020202020204" pitchFamily="34" charset="0"/>
              <a:buChar char="•"/>
            </a:pPr>
            <a:r>
              <a:rPr lang="en-US" sz="2800" dirty="0">
                <a:latin typeface="Calibir"/>
              </a:rPr>
              <a:t>tablets, </a:t>
            </a:r>
          </a:p>
          <a:p>
            <a:pPr marL="914400" lvl="1" indent="-457200">
              <a:lnSpc>
                <a:spcPct val="150000"/>
              </a:lnSpc>
              <a:buFont typeface="Arial" panose="020B0604020202020204" pitchFamily="34" charset="0"/>
              <a:buChar char="•"/>
            </a:pPr>
            <a:r>
              <a:rPr lang="en-US" sz="2800" dirty="0">
                <a:latin typeface="Calibir"/>
              </a:rPr>
              <a:t>Blackboard mobile app.</a:t>
            </a:r>
          </a:p>
        </p:txBody>
      </p:sp>
    </p:spTree>
    <p:extLst>
      <p:ext uri="{BB962C8B-B14F-4D97-AF65-F5344CB8AC3E}">
        <p14:creationId xmlns:p14="http://schemas.microsoft.com/office/powerpoint/2010/main" val="345052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DB14-E648-6DD0-85B9-C5B365952E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1FEC68-7182-7A7D-CF90-7AFFE6C8B6B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Browser Requirements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EED47925-8808-2999-945D-D15601D79BDB}"/>
              </a:ext>
            </a:extLst>
          </p:cNvPr>
          <p:cNvSpPr txBox="1"/>
          <p:nvPr/>
        </p:nvSpPr>
        <p:spPr>
          <a:xfrm>
            <a:off x="0" y="810850"/>
            <a:ext cx="12192000" cy="5196166"/>
          </a:xfrm>
          <a:prstGeom prst="rect">
            <a:avLst/>
          </a:prstGeom>
          <a:noFill/>
        </p:spPr>
        <p:txBody>
          <a:bodyPr wrap="square">
            <a:spAutoFit/>
          </a:bodyPr>
          <a:lstStyle/>
          <a:p>
            <a:pPr>
              <a:lnSpc>
                <a:spcPct val="150000"/>
              </a:lnSpc>
            </a:pPr>
            <a:r>
              <a:rPr lang="en-US" sz="2800" b="1" dirty="0">
                <a:latin typeface="Calibir"/>
              </a:rPr>
              <a:t>Recommended Browsers</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Google Chrome </a:t>
            </a:r>
          </a:p>
          <a:p>
            <a:pPr marL="914400" lvl="1" indent="-457200">
              <a:lnSpc>
                <a:spcPct val="150000"/>
              </a:lnSpc>
              <a:buFont typeface="Arial" panose="020B0604020202020204" pitchFamily="34" charset="0"/>
              <a:buChar char="•"/>
            </a:pPr>
            <a:r>
              <a:rPr lang="en-US" sz="2800" dirty="0">
                <a:latin typeface="Calibir"/>
              </a:rPr>
              <a:t>Mozilla Firefox </a:t>
            </a:r>
          </a:p>
          <a:p>
            <a:pPr>
              <a:lnSpc>
                <a:spcPct val="150000"/>
              </a:lnSpc>
            </a:pPr>
            <a:r>
              <a:rPr lang="en-US" sz="2800" b="1" dirty="0">
                <a:latin typeface="Calibir"/>
              </a:rPr>
              <a:t>Do NOT use:</a:t>
            </a:r>
          </a:p>
          <a:p>
            <a:pPr marL="914400" lvl="1" indent="-457200">
              <a:lnSpc>
                <a:spcPct val="150000"/>
              </a:lnSpc>
              <a:buFont typeface="Arial" panose="020B0604020202020204" pitchFamily="34" charset="0"/>
              <a:buChar char="•"/>
            </a:pPr>
            <a:r>
              <a:rPr lang="en-US" sz="2800" dirty="0">
                <a:latin typeface="Calibir"/>
              </a:rPr>
              <a:t>Safari </a:t>
            </a:r>
          </a:p>
          <a:p>
            <a:pPr marL="914400" lvl="1" indent="-457200">
              <a:lnSpc>
                <a:spcPct val="150000"/>
              </a:lnSpc>
              <a:buFont typeface="Arial" panose="020B0604020202020204" pitchFamily="34" charset="0"/>
              <a:buChar char="•"/>
            </a:pPr>
            <a:r>
              <a:rPr lang="en-US" sz="2800" dirty="0">
                <a:latin typeface="Calibir"/>
              </a:rPr>
              <a:t>Microsoft Edge </a:t>
            </a:r>
          </a:p>
          <a:p>
            <a:pPr marL="914400" lvl="1" indent="-457200">
              <a:lnSpc>
                <a:spcPct val="150000"/>
              </a:lnSpc>
              <a:buFont typeface="Arial" panose="020B0604020202020204" pitchFamily="34" charset="0"/>
              <a:buChar char="•"/>
            </a:pPr>
            <a:r>
              <a:rPr lang="en-US" sz="2800" dirty="0">
                <a:latin typeface="Calibir"/>
              </a:rPr>
              <a:t>Blackboard app</a:t>
            </a:r>
          </a:p>
        </p:txBody>
      </p:sp>
    </p:spTree>
    <p:extLst>
      <p:ext uri="{BB962C8B-B14F-4D97-AF65-F5344CB8AC3E}">
        <p14:creationId xmlns:p14="http://schemas.microsoft.com/office/powerpoint/2010/main" val="1755751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F7F82-1A9E-D3BA-0BE0-F11B1E70D9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1C91E5-9A46-F200-C888-30049C43079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0CF85CA2-FF53-65E6-A5F4-6E2DF27C5197}"/>
              </a:ext>
            </a:extLst>
          </p:cNvPr>
          <p:cNvSpPr txBox="1"/>
          <p:nvPr/>
        </p:nvSpPr>
        <p:spPr>
          <a:xfrm>
            <a:off x="0" y="810850"/>
            <a:ext cx="12192000" cy="5842497"/>
          </a:xfrm>
          <a:prstGeom prst="rect">
            <a:avLst/>
          </a:prstGeom>
          <a:noFill/>
        </p:spPr>
        <p:txBody>
          <a:bodyPr wrap="square">
            <a:spAutoFit/>
          </a:bodyPr>
          <a:lstStyle/>
          <a:p>
            <a:pPr>
              <a:lnSpc>
                <a:spcPct val="150000"/>
              </a:lnSpc>
            </a:pPr>
            <a:r>
              <a:rPr lang="en-US" sz="2800" b="1" dirty="0">
                <a:latin typeface="Calibir"/>
              </a:rPr>
              <a:t>Step-by-Step Preparation</a:t>
            </a:r>
          </a:p>
          <a:p>
            <a:pPr>
              <a:lnSpc>
                <a:spcPct val="150000"/>
              </a:lnSpc>
            </a:pPr>
            <a:r>
              <a:rPr lang="en-US" sz="2800" b="1" dirty="0">
                <a:latin typeface="Calibir"/>
              </a:rPr>
              <a:t>1. Update Your Device Early</a:t>
            </a:r>
          </a:p>
          <a:p>
            <a:pPr>
              <a:lnSpc>
                <a:spcPct val="150000"/>
              </a:lnSpc>
            </a:pPr>
            <a:r>
              <a:rPr lang="en-US" sz="2800" dirty="0">
                <a:latin typeface="Calibir"/>
              </a:rPr>
              <a:t>Install:</a:t>
            </a:r>
          </a:p>
          <a:p>
            <a:pPr marL="914400" lvl="1" indent="-457200">
              <a:lnSpc>
                <a:spcPct val="150000"/>
              </a:lnSpc>
              <a:buFont typeface="Arial" panose="020B0604020202020204" pitchFamily="34" charset="0"/>
              <a:buChar char="•"/>
            </a:pPr>
            <a:r>
              <a:rPr lang="en-US" sz="2800" dirty="0">
                <a:latin typeface="Calibir"/>
              </a:rPr>
              <a:t>browser updates, </a:t>
            </a:r>
          </a:p>
          <a:p>
            <a:pPr marL="914400" lvl="1" indent="-457200">
              <a:lnSpc>
                <a:spcPct val="150000"/>
              </a:lnSpc>
              <a:buFont typeface="Arial" panose="020B0604020202020204" pitchFamily="34" charset="0"/>
              <a:buChar char="•"/>
            </a:pPr>
            <a:r>
              <a:rPr lang="en-US" sz="2800" dirty="0">
                <a:latin typeface="Calibir"/>
              </a:rPr>
              <a:t>Windows updates, </a:t>
            </a:r>
          </a:p>
          <a:p>
            <a:pPr marL="914400" lvl="1" indent="-457200">
              <a:lnSpc>
                <a:spcPct val="150000"/>
              </a:lnSpc>
              <a:buFont typeface="Arial" panose="020B0604020202020204" pitchFamily="34" charset="0"/>
              <a:buChar char="•"/>
            </a:pPr>
            <a:r>
              <a:rPr lang="en-US" sz="2800" dirty="0">
                <a:latin typeface="Calibir"/>
              </a:rPr>
              <a:t>software updates BEFORE test day. </a:t>
            </a:r>
          </a:p>
          <a:p>
            <a:pPr>
              <a:lnSpc>
                <a:spcPct val="150000"/>
              </a:lnSpc>
            </a:pPr>
            <a:r>
              <a:rPr lang="en-US" sz="2800" b="1" dirty="0">
                <a:latin typeface="Calibir"/>
              </a:rPr>
              <a:t>Important</a:t>
            </a:r>
          </a:p>
          <a:p>
            <a:pPr>
              <a:lnSpc>
                <a:spcPct val="150000"/>
              </a:lnSpc>
            </a:pPr>
            <a:r>
              <a:rPr lang="en-US" sz="2800" dirty="0">
                <a:latin typeface="Calibir"/>
              </a:rPr>
              <a:t>If your computer updates during the test:</a:t>
            </a:r>
          </a:p>
          <a:p>
            <a:pPr marL="914400" lvl="1" indent="-457200">
              <a:lnSpc>
                <a:spcPct val="150000"/>
              </a:lnSpc>
              <a:buFont typeface="Arial" panose="020B0604020202020204" pitchFamily="34" charset="0"/>
              <a:buChar char="•"/>
            </a:pPr>
            <a:r>
              <a:rPr lang="en-US" sz="2800" dirty="0">
                <a:latin typeface="Calibir"/>
              </a:rPr>
              <a:t>no special consideration is given.</a:t>
            </a:r>
          </a:p>
        </p:txBody>
      </p:sp>
    </p:spTree>
    <p:extLst>
      <p:ext uri="{BB962C8B-B14F-4D97-AF65-F5344CB8AC3E}">
        <p14:creationId xmlns:p14="http://schemas.microsoft.com/office/powerpoint/2010/main" val="3264051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F8C7-B863-8120-9D8E-81E98E2EB4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F19286-6EF6-89FA-4A1A-3A47AF087F4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5681FE1B-8BA4-56B2-3155-B00040F4FBF0}"/>
              </a:ext>
            </a:extLst>
          </p:cNvPr>
          <p:cNvSpPr txBox="1"/>
          <p:nvPr/>
        </p:nvSpPr>
        <p:spPr>
          <a:xfrm>
            <a:off x="0" y="810850"/>
            <a:ext cx="12192000" cy="4549835"/>
          </a:xfrm>
          <a:prstGeom prst="rect">
            <a:avLst/>
          </a:prstGeom>
          <a:noFill/>
        </p:spPr>
        <p:txBody>
          <a:bodyPr wrap="square">
            <a:spAutoFit/>
          </a:bodyPr>
          <a:lstStyle/>
          <a:p>
            <a:pPr>
              <a:lnSpc>
                <a:spcPct val="150000"/>
              </a:lnSpc>
            </a:pPr>
            <a:r>
              <a:rPr lang="en-US" sz="2800" b="1" dirty="0">
                <a:latin typeface="Calibir"/>
              </a:rPr>
              <a:t>2. Close Extra Programs</a:t>
            </a:r>
          </a:p>
          <a:p>
            <a:pPr>
              <a:lnSpc>
                <a:spcPct val="150000"/>
              </a:lnSpc>
            </a:pPr>
            <a:r>
              <a:rPr lang="en-US" sz="2800" dirty="0">
                <a:latin typeface="Calibir"/>
              </a:rPr>
              <a:t>Close:</a:t>
            </a:r>
          </a:p>
          <a:p>
            <a:pPr marL="914400" lvl="1" indent="-457200">
              <a:lnSpc>
                <a:spcPct val="150000"/>
              </a:lnSpc>
              <a:buFont typeface="Arial" panose="020B0604020202020204" pitchFamily="34" charset="0"/>
              <a:buChar char="•"/>
            </a:pPr>
            <a:r>
              <a:rPr lang="en-US" sz="2800" dirty="0">
                <a:latin typeface="Calibir"/>
              </a:rPr>
              <a:t>games, </a:t>
            </a:r>
          </a:p>
          <a:p>
            <a:pPr marL="914400" lvl="1" indent="-457200">
              <a:lnSpc>
                <a:spcPct val="150000"/>
              </a:lnSpc>
              <a:buFont typeface="Arial" panose="020B0604020202020204" pitchFamily="34" charset="0"/>
              <a:buChar char="•"/>
            </a:pPr>
            <a:r>
              <a:rPr lang="en-US" sz="2800" dirty="0">
                <a:latin typeface="Calibir"/>
              </a:rPr>
              <a:t>streaming apps, </a:t>
            </a:r>
          </a:p>
          <a:p>
            <a:pPr marL="914400" lvl="1" indent="-457200">
              <a:lnSpc>
                <a:spcPct val="150000"/>
              </a:lnSpc>
              <a:buFont typeface="Arial" panose="020B0604020202020204" pitchFamily="34" charset="0"/>
              <a:buChar char="•"/>
            </a:pPr>
            <a:r>
              <a:rPr lang="en-US" sz="2800" dirty="0">
                <a:latin typeface="Calibir"/>
              </a:rPr>
              <a:t>unnecessary browser tabs, </a:t>
            </a:r>
          </a:p>
          <a:p>
            <a:pPr marL="914400" lvl="1" indent="-457200">
              <a:lnSpc>
                <a:spcPct val="150000"/>
              </a:lnSpc>
              <a:buFont typeface="Arial" panose="020B0604020202020204" pitchFamily="34" charset="0"/>
              <a:buChar char="•"/>
            </a:pPr>
            <a:r>
              <a:rPr lang="en-US" sz="2800" dirty="0">
                <a:latin typeface="Calibir"/>
              </a:rPr>
              <a:t>downloads. </a:t>
            </a:r>
          </a:p>
          <a:p>
            <a:pPr>
              <a:lnSpc>
                <a:spcPct val="150000"/>
              </a:lnSpc>
            </a:pPr>
            <a:r>
              <a:rPr lang="en-US" sz="2800" dirty="0">
                <a:latin typeface="Calibir"/>
              </a:rPr>
              <a:t>This improves performance.</a:t>
            </a:r>
          </a:p>
        </p:txBody>
      </p:sp>
    </p:spTree>
    <p:extLst>
      <p:ext uri="{BB962C8B-B14F-4D97-AF65-F5344CB8AC3E}">
        <p14:creationId xmlns:p14="http://schemas.microsoft.com/office/powerpoint/2010/main" val="2182029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EFCD4-909B-A010-32EA-BC4D56B350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CADF4F-DADF-D83C-B4E7-C00AB5FC66E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8B7533DA-00FE-1335-7EED-12A1E4DB5035}"/>
              </a:ext>
            </a:extLst>
          </p:cNvPr>
          <p:cNvSpPr txBox="1"/>
          <p:nvPr/>
        </p:nvSpPr>
        <p:spPr>
          <a:xfrm>
            <a:off x="0" y="810850"/>
            <a:ext cx="12192000" cy="2610843"/>
          </a:xfrm>
          <a:prstGeom prst="rect">
            <a:avLst/>
          </a:prstGeom>
          <a:noFill/>
        </p:spPr>
        <p:txBody>
          <a:bodyPr wrap="square">
            <a:spAutoFit/>
          </a:bodyPr>
          <a:lstStyle/>
          <a:p>
            <a:pPr>
              <a:lnSpc>
                <a:spcPct val="150000"/>
              </a:lnSpc>
            </a:pPr>
            <a:r>
              <a:rPr lang="en-US" sz="2800" b="1" dirty="0">
                <a:latin typeface="Calibir"/>
              </a:rPr>
              <a:t>3. Charge Your Laptop</a:t>
            </a:r>
          </a:p>
          <a:p>
            <a:pPr>
              <a:lnSpc>
                <a:spcPct val="150000"/>
              </a:lnSpc>
            </a:pPr>
            <a:r>
              <a:rPr lang="en-US" sz="2800" dirty="0">
                <a:latin typeface="Calibir"/>
              </a:rPr>
              <a:t>Always:</a:t>
            </a:r>
          </a:p>
          <a:p>
            <a:pPr marL="914400" lvl="1" indent="-457200">
              <a:lnSpc>
                <a:spcPct val="150000"/>
              </a:lnSpc>
              <a:buFont typeface="Arial" panose="020B0604020202020204" pitchFamily="34" charset="0"/>
              <a:buChar char="•"/>
            </a:pPr>
            <a:r>
              <a:rPr lang="en-US" sz="2800" dirty="0">
                <a:latin typeface="Calibir"/>
              </a:rPr>
              <a:t>fully charge your laptop, </a:t>
            </a:r>
          </a:p>
          <a:p>
            <a:pPr marL="914400" lvl="1" indent="-457200">
              <a:lnSpc>
                <a:spcPct val="150000"/>
              </a:lnSpc>
              <a:buFont typeface="Arial" panose="020B0604020202020204" pitchFamily="34" charset="0"/>
              <a:buChar char="•"/>
            </a:pPr>
            <a:r>
              <a:rPr lang="en-US" sz="2800" dirty="0">
                <a:latin typeface="Calibir"/>
              </a:rPr>
              <a:t>or keep charger connected.</a:t>
            </a:r>
          </a:p>
        </p:txBody>
      </p:sp>
    </p:spTree>
    <p:extLst>
      <p:ext uri="{BB962C8B-B14F-4D97-AF65-F5344CB8AC3E}">
        <p14:creationId xmlns:p14="http://schemas.microsoft.com/office/powerpoint/2010/main" val="898121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16E02-7D4C-CF5F-6108-34C220D28F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40719B-7BDC-6103-8D01-A617608E79C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37AD9BE6-AAC7-D739-50F4-225E142265DD}"/>
              </a:ext>
            </a:extLst>
          </p:cNvPr>
          <p:cNvSpPr txBox="1"/>
          <p:nvPr/>
        </p:nvSpPr>
        <p:spPr>
          <a:xfrm>
            <a:off x="0" y="810850"/>
            <a:ext cx="12192000" cy="3257174"/>
          </a:xfrm>
          <a:prstGeom prst="rect">
            <a:avLst/>
          </a:prstGeom>
          <a:noFill/>
        </p:spPr>
        <p:txBody>
          <a:bodyPr wrap="square">
            <a:spAutoFit/>
          </a:bodyPr>
          <a:lstStyle/>
          <a:p>
            <a:pPr>
              <a:lnSpc>
                <a:spcPct val="150000"/>
              </a:lnSpc>
            </a:pPr>
            <a:r>
              <a:rPr lang="en-US" sz="2800" b="1" dirty="0">
                <a:latin typeface="Calibir"/>
              </a:rPr>
              <a:t>4. Use Only ONE Device</a:t>
            </a:r>
          </a:p>
          <a:p>
            <a:pPr>
              <a:lnSpc>
                <a:spcPct val="150000"/>
              </a:lnSpc>
            </a:pPr>
            <a:r>
              <a:rPr lang="en-US" sz="2800" dirty="0">
                <a:latin typeface="Calibir"/>
              </a:rPr>
              <a:t>You must:</a:t>
            </a:r>
          </a:p>
          <a:p>
            <a:pPr marL="914400" lvl="1" indent="-457200">
              <a:lnSpc>
                <a:spcPct val="150000"/>
              </a:lnSpc>
              <a:buFont typeface="Arial" panose="020B0604020202020204" pitchFamily="34" charset="0"/>
              <a:buChar char="•"/>
            </a:pPr>
            <a:r>
              <a:rPr lang="en-US" sz="2800" dirty="0">
                <a:latin typeface="Calibir"/>
              </a:rPr>
              <a:t>use one computer only, </a:t>
            </a:r>
          </a:p>
          <a:p>
            <a:pPr marL="914400" lvl="1" indent="-457200">
              <a:lnSpc>
                <a:spcPct val="150000"/>
              </a:lnSpc>
              <a:buFont typeface="Arial" panose="020B0604020202020204" pitchFamily="34" charset="0"/>
              <a:buChar char="•"/>
            </a:pPr>
            <a:r>
              <a:rPr lang="en-US" sz="2800" dirty="0">
                <a:latin typeface="Calibir"/>
              </a:rPr>
              <a:t>one browser only, </a:t>
            </a:r>
          </a:p>
          <a:p>
            <a:pPr marL="914400" lvl="1" indent="-457200">
              <a:lnSpc>
                <a:spcPct val="150000"/>
              </a:lnSpc>
              <a:buFont typeface="Arial" panose="020B0604020202020204" pitchFamily="34" charset="0"/>
              <a:buChar char="•"/>
            </a:pPr>
            <a:r>
              <a:rPr lang="en-US" sz="2800" dirty="0">
                <a:latin typeface="Calibir"/>
              </a:rPr>
              <a:t>one Blackboard tab only. </a:t>
            </a:r>
          </a:p>
        </p:txBody>
      </p:sp>
    </p:spTree>
    <p:extLst>
      <p:ext uri="{BB962C8B-B14F-4D97-AF65-F5344CB8AC3E}">
        <p14:creationId xmlns:p14="http://schemas.microsoft.com/office/powerpoint/2010/main" val="9438446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34AAE-FE2B-B2AD-4E30-86EE626FCE7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A56BB3-60D8-9688-7626-D105AC62F21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D7C688CE-7CED-35F8-F206-574BA2F5408C}"/>
              </a:ext>
            </a:extLst>
          </p:cNvPr>
          <p:cNvSpPr txBox="1"/>
          <p:nvPr/>
        </p:nvSpPr>
        <p:spPr>
          <a:xfrm>
            <a:off x="0" y="810850"/>
            <a:ext cx="12192000" cy="3903504"/>
          </a:xfrm>
          <a:prstGeom prst="rect">
            <a:avLst/>
          </a:prstGeom>
          <a:noFill/>
        </p:spPr>
        <p:txBody>
          <a:bodyPr wrap="square">
            <a:spAutoFit/>
          </a:bodyPr>
          <a:lstStyle/>
          <a:p>
            <a:pPr>
              <a:lnSpc>
                <a:spcPct val="150000"/>
              </a:lnSpc>
            </a:pPr>
            <a:r>
              <a:rPr lang="en-US" sz="2800" b="1" dirty="0">
                <a:latin typeface="Calibir"/>
              </a:rPr>
              <a:t>Avoid</a:t>
            </a:r>
          </a:p>
          <a:p>
            <a:pPr>
              <a:lnSpc>
                <a:spcPct val="150000"/>
              </a:lnSpc>
            </a:pPr>
            <a:r>
              <a:rPr lang="en-US" sz="2800" dirty="0">
                <a:latin typeface="Calibir"/>
              </a:rPr>
              <a:t>Do NOT:</a:t>
            </a:r>
          </a:p>
          <a:p>
            <a:pPr marL="914400" lvl="1" indent="-457200">
              <a:lnSpc>
                <a:spcPct val="150000"/>
              </a:lnSpc>
              <a:buFont typeface="Arial" panose="020B0604020202020204" pitchFamily="34" charset="0"/>
              <a:buChar char="•"/>
            </a:pPr>
            <a:r>
              <a:rPr lang="en-US" sz="2800" dirty="0">
                <a:latin typeface="Calibir"/>
              </a:rPr>
              <a:t>open Blackboard in multiple tabs, </a:t>
            </a:r>
          </a:p>
          <a:p>
            <a:pPr marL="914400" lvl="1" indent="-457200">
              <a:lnSpc>
                <a:spcPct val="150000"/>
              </a:lnSpc>
              <a:buFont typeface="Arial" panose="020B0604020202020204" pitchFamily="34" charset="0"/>
              <a:buChar char="•"/>
            </a:pPr>
            <a:r>
              <a:rPr lang="en-US" sz="2800" dirty="0">
                <a:latin typeface="Calibir"/>
              </a:rPr>
              <a:t>switch devices, </a:t>
            </a:r>
          </a:p>
          <a:p>
            <a:pPr marL="914400" lvl="1" indent="-457200">
              <a:lnSpc>
                <a:spcPct val="150000"/>
              </a:lnSpc>
              <a:buFont typeface="Arial" panose="020B0604020202020204" pitchFamily="34" charset="0"/>
              <a:buChar char="•"/>
            </a:pPr>
            <a:r>
              <a:rPr lang="en-US" sz="2800" dirty="0">
                <a:latin typeface="Calibir"/>
              </a:rPr>
              <a:t>login from phone and laptop together. </a:t>
            </a:r>
          </a:p>
          <a:p>
            <a:pPr>
              <a:lnSpc>
                <a:spcPct val="150000"/>
              </a:lnSpc>
            </a:pPr>
            <a:r>
              <a:rPr lang="en-US" sz="2800" dirty="0">
                <a:latin typeface="Calibir"/>
              </a:rPr>
              <a:t>This may break the test.</a:t>
            </a:r>
          </a:p>
        </p:txBody>
      </p:sp>
    </p:spTree>
    <p:extLst>
      <p:ext uri="{BB962C8B-B14F-4D97-AF65-F5344CB8AC3E}">
        <p14:creationId xmlns:p14="http://schemas.microsoft.com/office/powerpoint/2010/main" val="5766463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FABA-2A61-8B76-7B5D-8710668BAC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104D69-0007-DEA4-15FB-0304A0A0D229}"/>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Before Starting the Test</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84FFC260-BC6D-18C1-6A98-43A527E2D5EC}"/>
              </a:ext>
            </a:extLst>
          </p:cNvPr>
          <p:cNvSpPr txBox="1"/>
          <p:nvPr/>
        </p:nvSpPr>
        <p:spPr>
          <a:xfrm>
            <a:off x="0" y="810850"/>
            <a:ext cx="12192000" cy="4549835"/>
          </a:xfrm>
          <a:prstGeom prst="rect">
            <a:avLst/>
          </a:prstGeom>
          <a:noFill/>
        </p:spPr>
        <p:txBody>
          <a:bodyPr wrap="square">
            <a:spAutoFit/>
          </a:bodyPr>
          <a:lstStyle/>
          <a:p>
            <a:pPr>
              <a:lnSpc>
                <a:spcPct val="150000"/>
              </a:lnSpc>
            </a:pPr>
            <a:r>
              <a:rPr lang="en-US" sz="2800" b="1" dirty="0">
                <a:latin typeface="Calibir"/>
              </a:rPr>
              <a:t>9. During the Test</a:t>
            </a:r>
          </a:p>
          <a:p>
            <a:pPr>
              <a:lnSpc>
                <a:spcPct val="150000"/>
              </a:lnSpc>
            </a:pPr>
            <a:r>
              <a:rPr lang="en-US" sz="2800" b="1" dirty="0">
                <a:latin typeface="Calibir"/>
              </a:rPr>
              <a:t>Once You Click “Begin”</a:t>
            </a:r>
          </a:p>
          <a:p>
            <a:pPr>
              <a:lnSpc>
                <a:spcPct val="150000"/>
              </a:lnSpc>
            </a:pPr>
            <a:r>
              <a:rPr lang="en-US" sz="2800" dirty="0">
                <a:latin typeface="Calibir"/>
              </a:rPr>
              <a:t>You have:</a:t>
            </a:r>
          </a:p>
          <a:p>
            <a:pPr>
              <a:lnSpc>
                <a:spcPct val="150000"/>
              </a:lnSpc>
            </a:pPr>
            <a:r>
              <a:rPr lang="en-US" sz="2800" b="1" dirty="0">
                <a:latin typeface="Calibir"/>
              </a:rPr>
              <a:t>ONLY 30 minutes</a:t>
            </a:r>
          </a:p>
          <a:p>
            <a:pPr>
              <a:lnSpc>
                <a:spcPct val="150000"/>
              </a:lnSpc>
            </a:pPr>
            <a:r>
              <a:rPr lang="en-US" sz="2800" dirty="0">
                <a:latin typeface="Calibir"/>
              </a:rPr>
              <a:t>The timer:</a:t>
            </a:r>
          </a:p>
          <a:p>
            <a:pPr marL="914400" lvl="1" indent="-457200">
              <a:lnSpc>
                <a:spcPct val="150000"/>
              </a:lnSpc>
              <a:buFont typeface="Arial" panose="020B0604020202020204" pitchFamily="34" charset="0"/>
              <a:buChar char="•"/>
            </a:pPr>
            <a:r>
              <a:rPr lang="en-US" sz="2800" dirty="0">
                <a:latin typeface="Calibir"/>
              </a:rPr>
              <a:t>DOES NOT stop, </a:t>
            </a:r>
          </a:p>
          <a:p>
            <a:pPr marL="914400" lvl="1" indent="-457200">
              <a:lnSpc>
                <a:spcPct val="150000"/>
              </a:lnSpc>
              <a:buFont typeface="Arial" panose="020B0604020202020204" pitchFamily="34" charset="0"/>
              <a:buChar char="•"/>
            </a:pPr>
            <a:r>
              <a:rPr lang="en-US" sz="2800" dirty="0">
                <a:latin typeface="Calibir"/>
              </a:rPr>
              <a:t>even if you leave the test.</a:t>
            </a:r>
          </a:p>
        </p:txBody>
      </p:sp>
    </p:spTree>
    <p:extLst>
      <p:ext uri="{BB962C8B-B14F-4D97-AF65-F5344CB8AC3E}">
        <p14:creationId xmlns:p14="http://schemas.microsoft.com/office/powerpoint/2010/main" val="8588240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38F4-1957-D9B6-1638-982DF252C1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2D3E49-F868-AA3A-FF27-8BCE509ECCEC}"/>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How to Answer Questions Properly</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BEBA88AC-A19F-2820-B446-CD8177476209}"/>
              </a:ext>
            </a:extLst>
          </p:cNvPr>
          <p:cNvSpPr txBox="1"/>
          <p:nvPr/>
        </p:nvSpPr>
        <p:spPr>
          <a:xfrm>
            <a:off x="0" y="810850"/>
            <a:ext cx="12192000" cy="2610843"/>
          </a:xfrm>
          <a:prstGeom prst="rect">
            <a:avLst/>
          </a:prstGeom>
          <a:noFill/>
        </p:spPr>
        <p:txBody>
          <a:bodyPr wrap="square">
            <a:spAutoFit/>
          </a:bodyPr>
          <a:lstStyle/>
          <a:p>
            <a:pPr>
              <a:lnSpc>
                <a:spcPct val="150000"/>
              </a:lnSpc>
            </a:pPr>
            <a:r>
              <a:rPr lang="en-US" sz="2800" b="1" dirty="0">
                <a:latin typeface="Calibir"/>
              </a:rPr>
              <a:t>VERY IMPORTANT</a:t>
            </a:r>
          </a:p>
          <a:p>
            <a:pPr>
              <a:lnSpc>
                <a:spcPct val="150000"/>
              </a:lnSpc>
            </a:pPr>
            <a:r>
              <a:rPr lang="en-US" sz="2800" dirty="0">
                <a:latin typeface="Calibir"/>
              </a:rPr>
              <a:t>After answering each question:</a:t>
            </a:r>
          </a:p>
          <a:p>
            <a:pPr>
              <a:lnSpc>
                <a:spcPct val="150000"/>
              </a:lnSpc>
            </a:pPr>
            <a:r>
              <a:rPr lang="en-US" sz="2800" b="1" dirty="0">
                <a:latin typeface="Calibir"/>
              </a:rPr>
              <a:t>Click “CONTINUE”</a:t>
            </a:r>
          </a:p>
          <a:p>
            <a:pPr>
              <a:lnSpc>
                <a:spcPct val="150000"/>
              </a:lnSpc>
            </a:pPr>
            <a:r>
              <a:rPr lang="en-US" sz="2800" dirty="0">
                <a:latin typeface="Calibir"/>
              </a:rPr>
              <a:t>Do NOT click SUBMIT early.</a:t>
            </a:r>
          </a:p>
        </p:txBody>
      </p:sp>
    </p:spTree>
    <p:extLst>
      <p:ext uri="{BB962C8B-B14F-4D97-AF65-F5344CB8AC3E}">
        <p14:creationId xmlns:p14="http://schemas.microsoft.com/office/powerpoint/2010/main" val="998108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BAF9-6462-9630-285E-7911C88E0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DBF0CA-5AE1-9A54-C9AD-8FDB7635048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How to Answer Questions Properly</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78E88D61-51B4-DAC1-2A93-934113C980A9}"/>
              </a:ext>
            </a:extLst>
          </p:cNvPr>
          <p:cNvSpPr txBox="1"/>
          <p:nvPr/>
        </p:nvSpPr>
        <p:spPr>
          <a:xfrm>
            <a:off x="0" y="810850"/>
            <a:ext cx="12192000" cy="3903504"/>
          </a:xfrm>
          <a:prstGeom prst="rect">
            <a:avLst/>
          </a:prstGeom>
          <a:noFill/>
        </p:spPr>
        <p:txBody>
          <a:bodyPr wrap="square">
            <a:spAutoFit/>
          </a:bodyPr>
          <a:lstStyle/>
          <a:p>
            <a:pPr>
              <a:lnSpc>
                <a:spcPct val="150000"/>
              </a:lnSpc>
            </a:pPr>
            <a:r>
              <a:rPr lang="en-US" sz="2800" b="1" dirty="0">
                <a:latin typeface="Calibir"/>
              </a:rPr>
              <a:t>You Cannot Go Back</a:t>
            </a:r>
          </a:p>
          <a:p>
            <a:pPr>
              <a:lnSpc>
                <a:spcPct val="150000"/>
              </a:lnSpc>
            </a:pPr>
            <a:r>
              <a:rPr lang="en-US" sz="2800" dirty="0">
                <a:latin typeface="Calibir"/>
              </a:rPr>
              <a:t>Once you move forward:</a:t>
            </a:r>
          </a:p>
          <a:p>
            <a:pPr marL="914400" lvl="1" indent="-457200">
              <a:lnSpc>
                <a:spcPct val="150000"/>
              </a:lnSpc>
              <a:buFont typeface="Arial" panose="020B0604020202020204" pitchFamily="34" charset="0"/>
              <a:buChar char="•"/>
            </a:pPr>
            <a:r>
              <a:rPr lang="en-US" sz="2800" dirty="0">
                <a:latin typeface="Calibir"/>
              </a:rPr>
              <a:t>you cannot change answers. </a:t>
            </a:r>
          </a:p>
          <a:p>
            <a:pPr>
              <a:lnSpc>
                <a:spcPct val="150000"/>
              </a:lnSpc>
            </a:pPr>
            <a:r>
              <a:rPr lang="en-US" sz="2800" dirty="0">
                <a:latin typeface="Calibir"/>
              </a:rPr>
              <a:t>So:</a:t>
            </a:r>
          </a:p>
          <a:p>
            <a:pPr marL="914400" lvl="1" indent="-457200">
              <a:lnSpc>
                <a:spcPct val="150000"/>
              </a:lnSpc>
              <a:buFont typeface="Arial" panose="020B0604020202020204" pitchFamily="34" charset="0"/>
              <a:buChar char="•"/>
            </a:pPr>
            <a:r>
              <a:rPr lang="en-US" sz="2800" dirty="0">
                <a:latin typeface="Calibir"/>
              </a:rPr>
              <a:t>read carefully, </a:t>
            </a:r>
          </a:p>
          <a:p>
            <a:pPr marL="914400" lvl="1" indent="-457200">
              <a:lnSpc>
                <a:spcPct val="150000"/>
              </a:lnSpc>
              <a:buFont typeface="Arial" panose="020B0604020202020204" pitchFamily="34" charset="0"/>
              <a:buChar char="•"/>
            </a:pPr>
            <a:r>
              <a:rPr lang="en-US" sz="2800" dirty="0">
                <a:latin typeface="Calibir"/>
              </a:rPr>
              <a:t>double-check before continuing.</a:t>
            </a:r>
          </a:p>
        </p:txBody>
      </p:sp>
    </p:spTree>
    <p:extLst>
      <p:ext uri="{BB962C8B-B14F-4D97-AF65-F5344CB8AC3E}">
        <p14:creationId xmlns:p14="http://schemas.microsoft.com/office/powerpoint/2010/main" val="4013876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D238-AC18-F39E-02C1-A5D49B0F1A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274059-2DC5-ECC9-8F56-E35E7111703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Final Submission</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7809F767-B7F0-67DB-E821-AF063AC013EF}"/>
              </a:ext>
            </a:extLst>
          </p:cNvPr>
          <p:cNvSpPr txBox="1"/>
          <p:nvPr/>
        </p:nvSpPr>
        <p:spPr>
          <a:xfrm>
            <a:off x="0" y="810850"/>
            <a:ext cx="12192000" cy="1964512"/>
          </a:xfrm>
          <a:prstGeom prst="rect">
            <a:avLst/>
          </a:prstGeom>
          <a:noFill/>
        </p:spPr>
        <p:txBody>
          <a:bodyPr wrap="square">
            <a:spAutoFit/>
          </a:bodyPr>
          <a:lstStyle/>
          <a:p>
            <a:pPr>
              <a:lnSpc>
                <a:spcPct val="150000"/>
              </a:lnSpc>
            </a:pPr>
            <a:r>
              <a:rPr lang="en-US" sz="2800" dirty="0">
                <a:latin typeface="Calibir"/>
              </a:rPr>
              <a:t>After answering ALL questions:</a:t>
            </a:r>
          </a:p>
          <a:p>
            <a:pPr>
              <a:lnSpc>
                <a:spcPct val="150000"/>
              </a:lnSpc>
            </a:pPr>
            <a:r>
              <a:rPr lang="en-US" sz="2800" b="1" dirty="0">
                <a:latin typeface="Calibir"/>
              </a:rPr>
              <a:t>Click “SUBMIT”</a:t>
            </a:r>
          </a:p>
          <a:p>
            <a:pPr>
              <a:lnSpc>
                <a:spcPct val="150000"/>
              </a:lnSpc>
            </a:pPr>
            <a:r>
              <a:rPr lang="en-US" sz="2800" dirty="0">
                <a:latin typeface="Calibir"/>
              </a:rPr>
              <a:t>Only submit when fully finished.</a:t>
            </a:r>
          </a:p>
        </p:txBody>
      </p:sp>
    </p:spTree>
    <p:extLst>
      <p:ext uri="{BB962C8B-B14F-4D97-AF65-F5344CB8AC3E}">
        <p14:creationId xmlns:p14="http://schemas.microsoft.com/office/powerpoint/2010/main" val="3097510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9922A-8D0B-EB52-B0F0-C6762B4C8C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14EEE0-386C-1900-8C7C-B84AD64A61C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Automatic Submission</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547AD8E8-6D29-2329-F02B-D01B6886611D}"/>
              </a:ext>
            </a:extLst>
          </p:cNvPr>
          <p:cNvSpPr txBox="1"/>
          <p:nvPr/>
        </p:nvSpPr>
        <p:spPr>
          <a:xfrm>
            <a:off x="0" y="810850"/>
            <a:ext cx="12192000" cy="1318181"/>
          </a:xfrm>
          <a:prstGeom prst="rect">
            <a:avLst/>
          </a:prstGeom>
          <a:noFill/>
        </p:spPr>
        <p:txBody>
          <a:bodyPr wrap="square">
            <a:spAutoFit/>
          </a:bodyPr>
          <a:lstStyle/>
          <a:p>
            <a:pPr>
              <a:lnSpc>
                <a:spcPct val="150000"/>
              </a:lnSpc>
            </a:pPr>
            <a:r>
              <a:rPr lang="en-US" sz="2800" dirty="0">
                <a:latin typeface="Calibir"/>
              </a:rPr>
              <a:t>If time finishes:</a:t>
            </a:r>
          </a:p>
          <a:p>
            <a:pPr marL="914400" lvl="1" indent="-457200">
              <a:lnSpc>
                <a:spcPct val="150000"/>
              </a:lnSpc>
              <a:buFont typeface="Arial" panose="020B0604020202020204" pitchFamily="34" charset="0"/>
              <a:buChar char="•"/>
            </a:pPr>
            <a:r>
              <a:rPr lang="en-US" sz="2800" dirty="0">
                <a:latin typeface="Calibir"/>
              </a:rPr>
              <a:t>Blackboard automatically saves and submits your work.</a:t>
            </a:r>
          </a:p>
        </p:txBody>
      </p:sp>
    </p:spTree>
    <p:extLst>
      <p:ext uri="{BB962C8B-B14F-4D97-AF65-F5344CB8AC3E}">
        <p14:creationId xmlns:p14="http://schemas.microsoft.com/office/powerpoint/2010/main" val="36791032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EFABB-9F03-A36E-1BE6-1F6DB33A60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9D564D-3942-CDFD-F70A-AEEA1C324B2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What Is NOT Allowed</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0E67291E-1049-DACB-DAC8-BF41F787D6F9}"/>
              </a:ext>
            </a:extLst>
          </p:cNvPr>
          <p:cNvSpPr txBox="1"/>
          <p:nvPr/>
        </p:nvSpPr>
        <p:spPr>
          <a:xfrm>
            <a:off x="0" y="810850"/>
            <a:ext cx="12192000" cy="5196166"/>
          </a:xfrm>
          <a:prstGeom prst="rect">
            <a:avLst/>
          </a:prstGeom>
          <a:noFill/>
        </p:spPr>
        <p:txBody>
          <a:bodyPr wrap="square">
            <a:spAutoFit/>
          </a:bodyPr>
          <a:lstStyle/>
          <a:p>
            <a:pPr>
              <a:lnSpc>
                <a:spcPct val="150000"/>
              </a:lnSpc>
            </a:pPr>
            <a:r>
              <a:rPr lang="en-US" sz="2800" b="1" dirty="0">
                <a:latin typeface="Calibir"/>
              </a:rPr>
              <a:t>Students MUST NOT:</a:t>
            </a:r>
          </a:p>
          <a:p>
            <a:pPr>
              <a:lnSpc>
                <a:spcPct val="150000"/>
              </a:lnSpc>
            </a:pPr>
            <a:r>
              <a:rPr lang="en-US" sz="2800" b="1" dirty="0">
                <a:latin typeface="Calibir"/>
              </a:rPr>
              <a:t>Use:</a:t>
            </a:r>
          </a:p>
          <a:p>
            <a:pPr marL="914400" lvl="1" indent="-457200">
              <a:lnSpc>
                <a:spcPct val="150000"/>
              </a:lnSpc>
              <a:buFont typeface="Arial" panose="020B0604020202020204" pitchFamily="34" charset="0"/>
              <a:buChar char="•"/>
            </a:pPr>
            <a:r>
              <a:rPr lang="en-US" sz="2800" dirty="0">
                <a:latin typeface="Calibir"/>
              </a:rPr>
              <a:t>VPNs </a:t>
            </a:r>
          </a:p>
          <a:p>
            <a:pPr marL="914400" lvl="1" indent="-457200">
              <a:lnSpc>
                <a:spcPct val="150000"/>
              </a:lnSpc>
              <a:buFont typeface="Arial" panose="020B0604020202020204" pitchFamily="34" charset="0"/>
              <a:buChar char="•"/>
            </a:pPr>
            <a:r>
              <a:rPr lang="en-US" sz="2800" dirty="0">
                <a:latin typeface="Calibir"/>
              </a:rPr>
              <a:t>overseas IP addresses </a:t>
            </a:r>
          </a:p>
          <a:p>
            <a:pPr>
              <a:lnSpc>
                <a:spcPct val="150000"/>
              </a:lnSpc>
            </a:pPr>
            <a:r>
              <a:rPr lang="en-US" sz="2800" dirty="0">
                <a:latin typeface="Calibir"/>
              </a:rPr>
              <a:t>Penalties apply.</a:t>
            </a:r>
          </a:p>
          <a:p>
            <a:pPr>
              <a:lnSpc>
                <a:spcPct val="150000"/>
              </a:lnSpc>
            </a:pPr>
            <a:r>
              <a:rPr lang="en-US" sz="2800" b="1" dirty="0">
                <a:latin typeface="Calibir"/>
              </a:rPr>
              <a:t>Use:</a:t>
            </a:r>
          </a:p>
          <a:p>
            <a:pPr marL="914400" lvl="1" indent="-457200">
              <a:lnSpc>
                <a:spcPct val="150000"/>
              </a:lnSpc>
              <a:buFont typeface="Arial" panose="020B0604020202020204" pitchFamily="34" charset="0"/>
              <a:buChar char="•"/>
            </a:pPr>
            <a:r>
              <a:rPr lang="en-US" sz="2800" dirty="0">
                <a:latin typeface="Calibir"/>
              </a:rPr>
              <a:t>mobile phones </a:t>
            </a:r>
          </a:p>
          <a:p>
            <a:pPr marL="914400" lvl="1" indent="-457200">
              <a:lnSpc>
                <a:spcPct val="150000"/>
              </a:lnSpc>
              <a:buFont typeface="Arial" panose="020B0604020202020204" pitchFamily="34" charset="0"/>
              <a:buChar char="•"/>
            </a:pPr>
            <a:r>
              <a:rPr lang="en-US" sz="2800" dirty="0">
                <a:latin typeface="Calibir"/>
              </a:rPr>
              <a:t>tablets </a:t>
            </a:r>
          </a:p>
        </p:txBody>
      </p:sp>
    </p:spTree>
    <p:extLst>
      <p:ext uri="{BB962C8B-B14F-4D97-AF65-F5344CB8AC3E}">
        <p14:creationId xmlns:p14="http://schemas.microsoft.com/office/powerpoint/2010/main" val="26529537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3D033-9C85-3A71-48E8-18E669AC94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4A1170-7A40-81A4-5DA7-735554B4172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What Is NOT Allowed</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A1208863-2752-DB34-2B49-5A9EBC6B8FDF}"/>
              </a:ext>
            </a:extLst>
          </p:cNvPr>
          <p:cNvSpPr txBox="1"/>
          <p:nvPr/>
        </p:nvSpPr>
        <p:spPr>
          <a:xfrm>
            <a:off x="0" y="810850"/>
            <a:ext cx="12192000" cy="4549835"/>
          </a:xfrm>
          <a:prstGeom prst="rect">
            <a:avLst/>
          </a:prstGeom>
          <a:noFill/>
        </p:spPr>
        <p:txBody>
          <a:bodyPr wrap="square">
            <a:spAutoFit/>
          </a:bodyPr>
          <a:lstStyle/>
          <a:p>
            <a:pPr>
              <a:lnSpc>
                <a:spcPct val="150000"/>
              </a:lnSpc>
            </a:pPr>
            <a:r>
              <a:rPr lang="en-US" sz="2800" b="1" dirty="0">
                <a:latin typeface="Calibir"/>
              </a:rPr>
              <a:t>Open:</a:t>
            </a:r>
          </a:p>
          <a:p>
            <a:pPr marL="914400" lvl="1" indent="-457200">
              <a:lnSpc>
                <a:spcPct val="150000"/>
              </a:lnSpc>
              <a:buFont typeface="Arial" panose="020B0604020202020204" pitchFamily="34" charset="0"/>
              <a:buChar char="•"/>
            </a:pPr>
            <a:r>
              <a:rPr lang="en-US" sz="2800" dirty="0">
                <a:latin typeface="Calibir"/>
              </a:rPr>
              <a:t>multiple browsers </a:t>
            </a:r>
          </a:p>
          <a:p>
            <a:pPr marL="914400" lvl="1" indent="-457200">
              <a:lnSpc>
                <a:spcPct val="150000"/>
              </a:lnSpc>
              <a:buFont typeface="Arial" panose="020B0604020202020204" pitchFamily="34" charset="0"/>
              <a:buChar char="•"/>
            </a:pPr>
            <a:r>
              <a:rPr lang="en-US" sz="2800" dirty="0">
                <a:latin typeface="Calibir"/>
              </a:rPr>
              <a:t>multiple tabs </a:t>
            </a:r>
          </a:p>
          <a:p>
            <a:pPr marL="914400" lvl="1" indent="-457200">
              <a:lnSpc>
                <a:spcPct val="150000"/>
              </a:lnSpc>
              <a:buFont typeface="Arial" panose="020B0604020202020204" pitchFamily="34" charset="0"/>
              <a:buChar char="•"/>
            </a:pPr>
            <a:r>
              <a:rPr lang="en-US" sz="2800" dirty="0">
                <a:latin typeface="Calibir"/>
              </a:rPr>
              <a:t>multiple devices </a:t>
            </a:r>
          </a:p>
          <a:p>
            <a:pPr>
              <a:lnSpc>
                <a:spcPct val="150000"/>
              </a:lnSpc>
            </a:pPr>
            <a:r>
              <a:rPr lang="en-US" sz="2800" b="1" dirty="0">
                <a:latin typeface="Calibir"/>
              </a:rPr>
              <a:t>Restart the Test</a:t>
            </a:r>
          </a:p>
          <a:p>
            <a:pPr>
              <a:lnSpc>
                <a:spcPct val="150000"/>
              </a:lnSpc>
            </a:pPr>
            <a:r>
              <a:rPr lang="en-US" sz="2800" dirty="0">
                <a:latin typeface="Calibir"/>
              </a:rPr>
              <a:t>Once submitted:</a:t>
            </a:r>
          </a:p>
          <a:p>
            <a:pPr marL="457200" indent="-457200">
              <a:lnSpc>
                <a:spcPct val="150000"/>
              </a:lnSpc>
              <a:buFont typeface="Arial" panose="020B0604020202020204" pitchFamily="34" charset="0"/>
              <a:buChar char="•"/>
            </a:pPr>
            <a:r>
              <a:rPr lang="en-US" sz="2800" dirty="0">
                <a:latin typeface="Calibir"/>
              </a:rPr>
              <a:t>	you cannot restart.</a:t>
            </a:r>
          </a:p>
        </p:txBody>
      </p:sp>
    </p:spTree>
    <p:extLst>
      <p:ext uri="{BB962C8B-B14F-4D97-AF65-F5344CB8AC3E}">
        <p14:creationId xmlns:p14="http://schemas.microsoft.com/office/powerpoint/2010/main" val="25082686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39FE-048E-CB71-9C90-EF782508E9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9E3042-123A-B0AD-82F6-CF05C732368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If Technical Errors Happen</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172B2968-3F39-B4B3-8B2E-F2EDBAF91770}"/>
              </a:ext>
            </a:extLst>
          </p:cNvPr>
          <p:cNvSpPr txBox="1"/>
          <p:nvPr/>
        </p:nvSpPr>
        <p:spPr>
          <a:xfrm>
            <a:off x="0" y="810850"/>
            <a:ext cx="12192000" cy="5842497"/>
          </a:xfrm>
          <a:prstGeom prst="rect">
            <a:avLst/>
          </a:prstGeom>
          <a:noFill/>
        </p:spPr>
        <p:txBody>
          <a:bodyPr wrap="square">
            <a:spAutoFit/>
          </a:bodyPr>
          <a:lstStyle/>
          <a:p>
            <a:pPr>
              <a:lnSpc>
                <a:spcPct val="150000"/>
              </a:lnSpc>
            </a:pPr>
            <a:r>
              <a:rPr lang="en-US" sz="2800" b="1" dirty="0">
                <a:latin typeface="Calibir"/>
              </a:rPr>
              <a:t>Do This Immediately</a:t>
            </a:r>
          </a:p>
          <a:p>
            <a:pPr>
              <a:lnSpc>
                <a:spcPct val="150000"/>
              </a:lnSpc>
            </a:pPr>
            <a:r>
              <a:rPr lang="en-US" sz="2800" b="1" dirty="0">
                <a:latin typeface="Calibir"/>
              </a:rPr>
              <a:t>Step 1</a:t>
            </a:r>
          </a:p>
          <a:p>
            <a:pPr>
              <a:lnSpc>
                <a:spcPct val="150000"/>
              </a:lnSpc>
            </a:pPr>
            <a:r>
              <a:rPr lang="en-US" sz="2800" dirty="0">
                <a:latin typeface="Calibir"/>
              </a:rPr>
              <a:t>Take a screenshot of the error.</a:t>
            </a:r>
          </a:p>
          <a:p>
            <a:pPr>
              <a:lnSpc>
                <a:spcPct val="150000"/>
              </a:lnSpc>
            </a:pPr>
            <a:r>
              <a:rPr lang="en-US" sz="2800" b="1" dirty="0">
                <a:latin typeface="Calibir"/>
              </a:rPr>
              <a:t>Step 2</a:t>
            </a:r>
          </a:p>
          <a:p>
            <a:pPr>
              <a:lnSpc>
                <a:spcPct val="150000"/>
              </a:lnSpc>
            </a:pPr>
            <a:r>
              <a:rPr lang="en-US" sz="2800" dirty="0">
                <a:latin typeface="Calibir"/>
              </a:rPr>
              <a:t>Email Blackboard Helpdesk DURING the test availability time.</a:t>
            </a:r>
          </a:p>
          <a:p>
            <a:pPr>
              <a:lnSpc>
                <a:spcPct val="150000"/>
              </a:lnSpc>
            </a:pPr>
            <a:r>
              <a:rPr lang="en-US" sz="2800" b="1" dirty="0">
                <a:latin typeface="Calibir"/>
              </a:rPr>
              <a:t>Email Must Include:</a:t>
            </a:r>
          </a:p>
          <a:p>
            <a:pPr marL="914400" lvl="1" indent="-457200">
              <a:lnSpc>
                <a:spcPct val="150000"/>
              </a:lnSpc>
              <a:buFont typeface="Arial" panose="020B0604020202020204" pitchFamily="34" charset="0"/>
              <a:buChar char="•"/>
            </a:pPr>
            <a:r>
              <a:rPr lang="en-US" sz="2800" dirty="0">
                <a:latin typeface="Calibir"/>
              </a:rPr>
              <a:t>student number </a:t>
            </a:r>
          </a:p>
          <a:p>
            <a:pPr marL="914400" lvl="1" indent="-457200">
              <a:lnSpc>
                <a:spcPct val="150000"/>
              </a:lnSpc>
              <a:buFont typeface="Arial" panose="020B0604020202020204" pitchFamily="34" charset="0"/>
              <a:buChar char="•"/>
            </a:pPr>
            <a:r>
              <a:rPr lang="en-US" sz="2800" dirty="0">
                <a:latin typeface="Calibir"/>
              </a:rPr>
              <a:t>unit code </a:t>
            </a:r>
          </a:p>
          <a:p>
            <a:pPr>
              <a:lnSpc>
                <a:spcPct val="150000"/>
              </a:lnSpc>
            </a:pPr>
            <a:r>
              <a:rPr lang="en-US" sz="2800" dirty="0">
                <a:latin typeface="Calibir"/>
              </a:rPr>
              <a:t>in the subject line.</a:t>
            </a:r>
          </a:p>
        </p:txBody>
      </p:sp>
    </p:spTree>
    <p:extLst>
      <p:ext uri="{BB962C8B-B14F-4D97-AF65-F5344CB8AC3E}">
        <p14:creationId xmlns:p14="http://schemas.microsoft.com/office/powerpoint/2010/main" val="13668977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0AB25-28B1-303E-BB03-AC6BD9F207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9A22E5-7ACA-EF3B-E170-AA206B001B4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If Technical Errors Happen</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214B67E6-7105-43E7-3E02-143261B2E207}"/>
              </a:ext>
            </a:extLst>
          </p:cNvPr>
          <p:cNvSpPr txBox="1"/>
          <p:nvPr/>
        </p:nvSpPr>
        <p:spPr>
          <a:xfrm>
            <a:off x="0" y="810850"/>
            <a:ext cx="12192000" cy="3903504"/>
          </a:xfrm>
          <a:prstGeom prst="rect">
            <a:avLst/>
          </a:prstGeom>
          <a:noFill/>
        </p:spPr>
        <p:txBody>
          <a:bodyPr wrap="square">
            <a:spAutoFit/>
          </a:bodyPr>
          <a:lstStyle/>
          <a:p>
            <a:pPr>
              <a:lnSpc>
                <a:spcPct val="150000"/>
              </a:lnSpc>
            </a:pPr>
            <a:r>
              <a:rPr lang="en-US" sz="2800" b="1" dirty="0">
                <a:latin typeface="Calibir"/>
              </a:rPr>
              <a:t>Important</a:t>
            </a:r>
          </a:p>
          <a:p>
            <a:pPr>
              <a:lnSpc>
                <a:spcPct val="150000"/>
              </a:lnSpc>
            </a:pPr>
            <a:r>
              <a:rPr lang="en-US" sz="2800" dirty="0">
                <a:latin typeface="Calibir"/>
              </a:rPr>
              <a:t>Do NOT contact:</a:t>
            </a:r>
          </a:p>
          <a:p>
            <a:pPr marL="914400" lvl="1" indent="-457200">
              <a:lnSpc>
                <a:spcPct val="150000"/>
              </a:lnSpc>
              <a:buFont typeface="Arial" panose="020B0604020202020204" pitchFamily="34" charset="0"/>
              <a:buChar char="•"/>
            </a:pPr>
            <a:r>
              <a:rPr lang="en-US" sz="2800" dirty="0">
                <a:latin typeface="Calibir"/>
              </a:rPr>
              <a:t>Student Services </a:t>
            </a:r>
          </a:p>
          <a:p>
            <a:pPr marL="914400" lvl="1" indent="-457200">
              <a:lnSpc>
                <a:spcPct val="150000"/>
              </a:lnSpc>
              <a:buFont typeface="Arial" panose="020B0604020202020204" pitchFamily="34" charset="0"/>
              <a:buChar char="•"/>
            </a:pPr>
            <a:r>
              <a:rPr lang="en-US" sz="2800" dirty="0">
                <a:latin typeface="Calibir"/>
              </a:rPr>
              <a:t>Lecturer </a:t>
            </a:r>
          </a:p>
          <a:p>
            <a:pPr>
              <a:lnSpc>
                <a:spcPct val="150000"/>
              </a:lnSpc>
            </a:pPr>
            <a:r>
              <a:rPr lang="en-US" sz="2800" dirty="0">
                <a:latin typeface="Calibir"/>
              </a:rPr>
              <a:t>for technical support.</a:t>
            </a:r>
          </a:p>
          <a:p>
            <a:pPr>
              <a:lnSpc>
                <a:spcPct val="150000"/>
              </a:lnSpc>
            </a:pPr>
            <a:r>
              <a:rPr lang="en-US" sz="2800" dirty="0">
                <a:latin typeface="Calibir"/>
              </a:rPr>
              <a:t>Only Blackboard Helpdesk handles technical issues.</a:t>
            </a:r>
          </a:p>
        </p:txBody>
      </p:sp>
    </p:spTree>
    <p:extLst>
      <p:ext uri="{BB962C8B-B14F-4D97-AF65-F5344CB8AC3E}">
        <p14:creationId xmlns:p14="http://schemas.microsoft.com/office/powerpoint/2010/main" val="13239531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1B793-774B-F26B-4DF8-01381B260A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D8ACE8-E93F-0210-2E25-76E939880E6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Important HTML Tags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aphicFrame>
        <p:nvGraphicFramePr>
          <p:cNvPr id="2" name="Table 1">
            <a:extLst>
              <a:ext uri="{FF2B5EF4-FFF2-40B4-BE49-F238E27FC236}">
                <a16:creationId xmlns:a16="http://schemas.microsoft.com/office/drawing/2014/main" id="{1F2093FD-95BC-BC47-2420-160886483A8F}"/>
              </a:ext>
            </a:extLst>
          </p:cNvPr>
          <p:cNvGraphicFramePr>
            <a:graphicFrameLocks noGrp="1"/>
          </p:cNvGraphicFramePr>
          <p:nvPr/>
        </p:nvGraphicFramePr>
        <p:xfrm>
          <a:off x="838200" y="697655"/>
          <a:ext cx="10515600" cy="603885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1623012488"/>
                    </a:ext>
                  </a:extLst>
                </a:gridCol>
                <a:gridCol w="5257800">
                  <a:extLst>
                    <a:ext uri="{9D8B030D-6E8A-4147-A177-3AD203B41FA5}">
                      <a16:colId xmlns:a16="http://schemas.microsoft.com/office/drawing/2014/main" val="110578084"/>
                    </a:ext>
                  </a:extLst>
                </a:gridCol>
              </a:tblGrid>
              <a:tr h="0">
                <a:tc>
                  <a:txBody>
                    <a:bodyPr/>
                    <a:lstStyle/>
                    <a:p>
                      <a:pPr>
                        <a:lnSpc>
                          <a:spcPct val="150000"/>
                        </a:lnSpc>
                        <a:buNone/>
                      </a:pPr>
                      <a:r>
                        <a:rPr lang="en-US" sz="2500">
                          <a:latin typeface="Calibir"/>
                        </a:rPr>
                        <a:t>Tag</a:t>
                      </a:r>
                    </a:p>
                  </a:txBody>
                  <a:tcPr anchor="ctr"/>
                </a:tc>
                <a:tc>
                  <a:txBody>
                    <a:bodyPr/>
                    <a:lstStyle/>
                    <a:p>
                      <a:pPr>
                        <a:lnSpc>
                          <a:spcPct val="150000"/>
                        </a:lnSpc>
                        <a:buNone/>
                      </a:pPr>
                      <a:r>
                        <a:rPr lang="en-US" sz="2500">
                          <a:latin typeface="Calibir"/>
                        </a:rPr>
                        <a:t>Purpose</a:t>
                      </a:r>
                    </a:p>
                  </a:txBody>
                  <a:tcPr anchor="ctr"/>
                </a:tc>
                <a:extLst>
                  <a:ext uri="{0D108BD9-81ED-4DB2-BD59-A6C34878D82A}">
                    <a16:rowId xmlns:a16="http://schemas.microsoft.com/office/drawing/2014/main" val="2415622710"/>
                  </a:ext>
                </a:extLst>
              </a:tr>
              <a:tr h="0">
                <a:tc>
                  <a:txBody>
                    <a:bodyPr/>
                    <a:lstStyle/>
                    <a:p>
                      <a:pPr>
                        <a:lnSpc>
                          <a:spcPct val="150000"/>
                        </a:lnSpc>
                        <a:buNone/>
                      </a:pPr>
                      <a:r>
                        <a:rPr lang="en-US" sz="2500">
                          <a:latin typeface="Calibir"/>
                        </a:rPr>
                        <a:t>&lt;html&gt;</a:t>
                      </a:r>
                    </a:p>
                  </a:txBody>
                  <a:tcPr anchor="ctr"/>
                </a:tc>
                <a:tc>
                  <a:txBody>
                    <a:bodyPr/>
                    <a:lstStyle/>
                    <a:p>
                      <a:pPr>
                        <a:lnSpc>
                          <a:spcPct val="150000"/>
                        </a:lnSpc>
                        <a:buNone/>
                      </a:pPr>
                      <a:r>
                        <a:rPr lang="en-US" sz="2500">
                          <a:latin typeface="Calibir"/>
                        </a:rPr>
                        <a:t>Root webpage</a:t>
                      </a:r>
                    </a:p>
                  </a:txBody>
                  <a:tcPr anchor="ctr"/>
                </a:tc>
                <a:extLst>
                  <a:ext uri="{0D108BD9-81ED-4DB2-BD59-A6C34878D82A}">
                    <a16:rowId xmlns:a16="http://schemas.microsoft.com/office/drawing/2014/main" val="1667649723"/>
                  </a:ext>
                </a:extLst>
              </a:tr>
              <a:tr h="0">
                <a:tc>
                  <a:txBody>
                    <a:bodyPr/>
                    <a:lstStyle/>
                    <a:p>
                      <a:pPr>
                        <a:lnSpc>
                          <a:spcPct val="150000"/>
                        </a:lnSpc>
                        <a:buNone/>
                      </a:pPr>
                      <a:r>
                        <a:rPr lang="en-US" sz="2500" dirty="0">
                          <a:latin typeface="Calibir"/>
                        </a:rPr>
                        <a:t>&lt;head&gt;</a:t>
                      </a:r>
                    </a:p>
                  </a:txBody>
                  <a:tcPr anchor="ctr"/>
                </a:tc>
                <a:tc>
                  <a:txBody>
                    <a:bodyPr/>
                    <a:lstStyle/>
                    <a:p>
                      <a:pPr>
                        <a:lnSpc>
                          <a:spcPct val="150000"/>
                        </a:lnSpc>
                        <a:buNone/>
                      </a:pPr>
                      <a:r>
                        <a:rPr lang="en-US" sz="2500">
                          <a:latin typeface="Calibir"/>
                        </a:rPr>
                        <a:t>Metadata</a:t>
                      </a:r>
                    </a:p>
                  </a:txBody>
                  <a:tcPr anchor="ctr"/>
                </a:tc>
                <a:extLst>
                  <a:ext uri="{0D108BD9-81ED-4DB2-BD59-A6C34878D82A}">
                    <a16:rowId xmlns:a16="http://schemas.microsoft.com/office/drawing/2014/main" val="2376939031"/>
                  </a:ext>
                </a:extLst>
              </a:tr>
              <a:tr h="0">
                <a:tc>
                  <a:txBody>
                    <a:bodyPr/>
                    <a:lstStyle/>
                    <a:p>
                      <a:pPr>
                        <a:lnSpc>
                          <a:spcPct val="150000"/>
                        </a:lnSpc>
                        <a:buNone/>
                      </a:pPr>
                      <a:r>
                        <a:rPr lang="en-US" sz="2500">
                          <a:latin typeface="Calibir"/>
                        </a:rPr>
                        <a:t>&lt;title&gt;</a:t>
                      </a:r>
                    </a:p>
                  </a:txBody>
                  <a:tcPr anchor="ctr"/>
                </a:tc>
                <a:tc>
                  <a:txBody>
                    <a:bodyPr/>
                    <a:lstStyle/>
                    <a:p>
                      <a:pPr>
                        <a:lnSpc>
                          <a:spcPct val="150000"/>
                        </a:lnSpc>
                        <a:buNone/>
                      </a:pPr>
                      <a:r>
                        <a:rPr lang="en-US" sz="2500">
                          <a:latin typeface="Calibir"/>
                        </a:rPr>
                        <a:t>Browser title</a:t>
                      </a:r>
                    </a:p>
                  </a:txBody>
                  <a:tcPr anchor="ctr"/>
                </a:tc>
                <a:extLst>
                  <a:ext uri="{0D108BD9-81ED-4DB2-BD59-A6C34878D82A}">
                    <a16:rowId xmlns:a16="http://schemas.microsoft.com/office/drawing/2014/main" val="3612375802"/>
                  </a:ext>
                </a:extLst>
              </a:tr>
              <a:tr h="0">
                <a:tc>
                  <a:txBody>
                    <a:bodyPr/>
                    <a:lstStyle/>
                    <a:p>
                      <a:pPr>
                        <a:lnSpc>
                          <a:spcPct val="150000"/>
                        </a:lnSpc>
                        <a:buNone/>
                      </a:pPr>
                      <a:r>
                        <a:rPr lang="en-US" sz="2500">
                          <a:latin typeface="Calibir"/>
                        </a:rPr>
                        <a:t>&lt;body&gt;</a:t>
                      </a:r>
                    </a:p>
                  </a:txBody>
                  <a:tcPr anchor="ctr"/>
                </a:tc>
                <a:tc>
                  <a:txBody>
                    <a:bodyPr/>
                    <a:lstStyle/>
                    <a:p>
                      <a:pPr>
                        <a:lnSpc>
                          <a:spcPct val="150000"/>
                        </a:lnSpc>
                        <a:buNone/>
                      </a:pPr>
                      <a:r>
                        <a:rPr lang="en-US" sz="2500">
                          <a:latin typeface="Calibir"/>
                        </a:rPr>
                        <a:t>Visible content</a:t>
                      </a:r>
                    </a:p>
                  </a:txBody>
                  <a:tcPr anchor="ctr"/>
                </a:tc>
                <a:extLst>
                  <a:ext uri="{0D108BD9-81ED-4DB2-BD59-A6C34878D82A}">
                    <a16:rowId xmlns:a16="http://schemas.microsoft.com/office/drawing/2014/main" val="1091087360"/>
                  </a:ext>
                </a:extLst>
              </a:tr>
              <a:tr h="0">
                <a:tc>
                  <a:txBody>
                    <a:bodyPr/>
                    <a:lstStyle/>
                    <a:p>
                      <a:pPr>
                        <a:lnSpc>
                          <a:spcPct val="150000"/>
                        </a:lnSpc>
                        <a:buNone/>
                      </a:pPr>
                      <a:r>
                        <a:rPr lang="en-US" sz="2500">
                          <a:latin typeface="Calibir"/>
                        </a:rPr>
                        <a:t>&lt;h1&gt;</a:t>
                      </a:r>
                    </a:p>
                  </a:txBody>
                  <a:tcPr anchor="ctr"/>
                </a:tc>
                <a:tc>
                  <a:txBody>
                    <a:bodyPr/>
                    <a:lstStyle/>
                    <a:p>
                      <a:pPr>
                        <a:lnSpc>
                          <a:spcPct val="150000"/>
                        </a:lnSpc>
                        <a:buNone/>
                      </a:pPr>
                      <a:r>
                        <a:rPr lang="en-US" sz="2500">
                          <a:latin typeface="Calibir"/>
                        </a:rPr>
                        <a:t>Heading</a:t>
                      </a:r>
                    </a:p>
                  </a:txBody>
                  <a:tcPr anchor="ctr"/>
                </a:tc>
                <a:extLst>
                  <a:ext uri="{0D108BD9-81ED-4DB2-BD59-A6C34878D82A}">
                    <a16:rowId xmlns:a16="http://schemas.microsoft.com/office/drawing/2014/main" val="3076152038"/>
                  </a:ext>
                </a:extLst>
              </a:tr>
              <a:tr h="0">
                <a:tc>
                  <a:txBody>
                    <a:bodyPr/>
                    <a:lstStyle/>
                    <a:p>
                      <a:pPr>
                        <a:lnSpc>
                          <a:spcPct val="150000"/>
                        </a:lnSpc>
                        <a:buNone/>
                      </a:pPr>
                      <a:r>
                        <a:rPr lang="en-US" sz="2500">
                          <a:latin typeface="Calibir"/>
                        </a:rPr>
                        <a:t>&lt;p&gt;</a:t>
                      </a:r>
                    </a:p>
                  </a:txBody>
                  <a:tcPr anchor="ctr"/>
                </a:tc>
                <a:tc>
                  <a:txBody>
                    <a:bodyPr/>
                    <a:lstStyle/>
                    <a:p>
                      <a:pPr>
                        <a:lnSpc>
                          <a:spcPct val="150000"/>
                        </a:lnSpc>
                        <a:buNone/>
                      </a:pPr>
                      <a:r>
                        <a:rPr lang="en-US" sz="2500">
                          <a:latin typeface="Calibir"/>
                        </a:rPr>
                        <a:t>Paragraph</a:t>
                      </a:r>
                    </a:p>
                  </a:txBody>
                  <a:tcPr anchor="ctr"/>
                </a:tc>
                <a:extLst>
                  <a:ext uri="{0D108BD9-81ED-4DB2-BD59-A6C34878D82A}">
                    <a16:rowId xmlns:a16="http://schemas.microsoft.com/office/drawing/2014/main" val="238432236"/>
                  </a:ext>
                </a:extLst>
              </a:tr>
              <a:tr h="0">
                <a:tc>
                  <a:txBody>
                    <a:bodyPr/>
                    <a:lstStyle/>
                    <a:p>
                      <a:pPr>
                        <a:lnSpc>
                          <a:spcPct val="150000"/>
                        </a:lnSpc>
                        <a:buNone/>
                      </a:pPr>
                      <a:r>
                        <a:rPr lang="en-US" sz="2500">
                          <a:latin typeface="Calibir"/>
                        </a:rPr>
                        <a:t>&lt;a&gt;</a:t>
                      </a:r>
                    </a:p>
                  </a:txBody>
                  <a:tcPr anchor="ctr"/>
                </a:tc>
                <a:tc>
                  <a:txBody>
                    <a:bodyPr/>
                    <a:lstStyle/>
                    <a:p>
                      <a:pPr>
                        <a:lnSpc>
                          <a:spcPct val="150000"/>
                        </a:lnSpc>
                        <a:buNone/>
                      </a:pPr>
                      <a:r>
                        <a:rPr lang="en-US" sz="2500">
                          <a:latin typeface="Calibir"/>
                        </a:rPr>
                        <a:t>Link</a:t>
                      </a:r>
                    </a:p>
                  </a:txBody>
                  <a:tcPr anchor="ctr"/>
                </a:tc>
                <a:extLst>
                  <a:ext uri="{0D108BD9-81ED-4DB2-BD59-A6C34878D82A}">
                    <a16:rowId xmlns:a16="http://schemas.microsoft.com/office/drawing/2014/main" val="1312750588"/>
                  </a:ext>
                </a:extLst>
              </a:tr>
              <a:tr h="0">
                <a:tc>
                  <a:txBody>
                    <a:bodyPr/>
                    <a:lstStyle/>
                    <a:p>
                      <a:pPr>
                        <a:lnSpc>
                          <a:spcPct val="150000"/>
                        </a:lnSpc>
                        <a:buNone/>
                      </a:pPr>
                      <a:r>
                        <a:rPr lang="en-US" sz="2500">
                          <a:latin typeface="Calibir"/>
                        </a:rPr>
                        <a:t>&lt;img&gt;</a:t>
                      </a:r>
                    </a:p>
                  </a:txBody>
                  <a:tcPr anchor="ctr"/>
                </a:tc>
                <a:tc>
                  <a:txBody>
                    <a:bodyPr/>
                    <a:lstStyle/>
                    <a:p>
                      <a:pPr>
                        <a:lnSpc>
                          <a:spcPct val="150000"/>
                        </a:lnSpc>
                        <a:buNone/>
                      </a:pPr>
                      <a:r>
                        <a:rPr lang="en-US" sz="2500">
                          <a:latin typeface="Calibir"/>
                        </a:rPr>
                        <a:t>Image</a:t>
                      </a:r>
                    </a:p>
                  </a:txBody>
                  <a:tcPr anchor="ctr"/>
                </a:tc>
                <a:extLst>
                  <a:ext uri="{0D108BD9-81ED-4DB2-BD59-A6C34878D82A}">
                    <a16:rowId xmlns:a16="http://schemas.microsoft.com/office/drawing/2014/main" val="3876897661"/>
                  </a:ext>
                </a:extLst>
              </a:tr>
              <a:tr h="0">
                <a:tc>
                  <a:txBody>
                    <a:bodyPr/>
                    <a:lstStyle/>
                    <a:p>
                      <a:pPr>
                        <a:lnSpc>
                          <a:spcPct val="150000"/>
                        </a:lnSpc>
                        <a:buNone/>
                      </a:pPr>
                      <a:r>
                        <a:rPr lang="en-US" sz="2500">
                          <a:latin typeface="Calibir"/>
                        </a:rPr>
                        <a:t>&lt;div&gt;</a:t>
                      </a:r>
                    </a:p>
                  </a:txBody>
                  <a:tcPr anchor="ctr"/>
                </a:tc>
                <a:tc>
                  <a:txBody>
                    <a:bodyPr/>
                    <a:lstStyle/>
                    <a:p>
                      <a:pPr>
                        <a:lnSpc>
                          <a:spcPct val="150000"/>
                        </a:lnSpc>
                        <a:buNone/>
                      </a:pPr>
                      <a:r>
                        <a:rPr lang="en-US" sz="2500" dirty="0">
                          <a:latin typeface="Calibir"/>
                        </a:rPr>
                        <a:t>Container</a:t>
                      </a:r>
                    </a:p>
                  </a:txBody>
                  <a:tcPr anchor="ctr"/>
                </a:tc>
                <a:extLst>
                  <a:ext uri="{0D108BD9-81ED-4DB2-BD59-A6C34878D82A}">
                    <a16:rowId xmlns:a16="http://schemas.microsoft.com/office/drawing/2014/main" val="2714674064"/>
                  </a:ext>
                </a:extLst>
              </a:tr>
            </a:tbl>
          </a:graphicData>
        </a:graphic>
      </p:graphicFrame>
    </p:spTree>
    <p:extLst>
      <p:ext uri="{BB962C8B-B14F-4D97-AF65-F5344CB8AC3E}">
        <p14:creationId xmlns:p14="http://schemas.microsoft.com/office/powerpoint/2010/main" val="6367097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AEA4-EA58-DE6D-0292-4BCEE8B1A5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69FF00-6282-447A-23EE-5355D9093FC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Important Topics from Lab Tests</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E7BC3899-934F-3551-3CD3-56C26D816509}"/>
              </a:ext>
            </a:extLst>
          </p:cNvPr>
          <p:cNvSpPr txBox="1"/>
          <p:nvPr/>
        </p:nvSpPr>
        <p:spPr>
          <a:xfrm>
            <a:off x="0" y="710331"/>
            <a:ext cx="12192000" cy="675441"/>
          </a:xfrm>
          <a:prstGeom prst="rect">
            <a:avLst/>
          </a:prstGeom>
          <a:noFill/>
        </p:spPr>
        <p:txBody>
          <a:bodyPr wrap="square">
            <a:spAutoFit/>
          </a:bodyPr>
          <a:lstStyle/>
          <a:p>
            <a:pPr>
              <a:lnSpc>
                <a:spcPct val="150000"/>
              </a:lnSpc>
            </a:pPr>
            <a:r>
              <a:rPr lang="en-US" sz="2800" dirty="0">
                <a:latin typeface="Calibir"/>
              </a:rPr>
              <a:t>Students should study:</a:t>
            </a:r>
            <a:endParaRPr lang="en-US" sz="2700" dirty="0">
              <a:latin typeface="Calibir"/>
            </a:endParaRPr>
          </a:p>
        </p:txBody>
      </p:sp>
      <p:graphicFrame>
        <p:nvGraphicFramePr>
          <p:cNvPr id="2" name="Table 1">
            <a:extLst>
              <a:ext uri="{FF2B5EF4-FFF2-40B4-BE49-F238E27FC236}">
                <a16:creationId xmlns:a16="http://schemas.microsoft.com/office/drawing/2014/main" id="{AA2A20BD-0CA7-325F-C1BE-AC148CDB19CF}"/>
              </a:ext>
            </a:extLst>
          </p:cNvPr>
          <p:cNvGraphicFramePr>
            <a:graphicFrameLocks noGrp="1"/>
          </p:cNvGraphicFramePr>
          <p:nvPr>
            <p:extLst>
              <p:ext uri="{D42A27DB-BD31-4B8C-83A1-F6EECF244321}">
                <p14:modId xmlns:p14="http://schemas.microsoft.com/office/powerpoint/2010/main" val="1147062173"/>
              </p:ext>
            </p:extLst>
          </p:nvPr>
        </p:nvGraphicFramePr>
        <p:xfrm>
          <a:off x="218768" y="2912862"/>
          <a:ext cx="10515600" cy="362712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3160032208"/>
                    </a:ext>
                  </a:extLst>
                </a:gridCol>
                <a:gridCol w="5257800">
                  <a:extLst>
                    <a:ext uri="{9D8B030D-6E8A-4147-A177-3AD203B41FA5}">
                      <a16:colId xmlns:a16="http://schemas.microsoft.com/office/drawing/2014/main" val="3209931632"/>
                    </a:ext>
                  </a:extLst>
                </a:gridCol>
              </a:tblGrid>
              <a:tr h="0">
                <a:tc>
                  <a:txBody>
                    <a:bodyPr/>
                    <a:lstStyle/>
                    <a:p>
                      <a:pPr>
                        <a:buNone/>
                      </a:pPr>
                      <a:r>
                        <a:rPr lang="en-US" sz="2800">
                          <a:latin typeface="Calibir"/>
                        </a:rPr>
                        <a:t>Topic</a:t>
                      </a:r>
                    </a:p>
                  </a:txBody>
                  <a:tcPr anchor="ctr"/>
                </a:tc>
                <a:tc>
                  <a:txBody>
                    <a:bodyPr/>
                    <a:lstStyle/>
                    <a:p>
                      <a:pPr>
                        <a:buNone/>
                      </a:pPr>
                      <a:r>
                        <a:rPr lang="en-US" sz="2800">
                          <a:latin typeface="Calibir"/>
                        </a:rPr>
                        <a:t>Meaning</a:t>
                      </a:r>
                    </a:p>
                  </a:txBody>
                  <a:tcPr anchor="ctr"/>
                </a:tc>
                <a:extLst>
                  <a:ext uri="{0D108BD9-81ED-4DB2-BD59-A6C34878D82A}">
                    <a16:rowId xmlns:a16="http://schemas.microsoft.com/office/drawing/2014/main" val="3614939222"/>
                  </a:ext>
                </a:extLst>
              </a:tr>
              <a:tr h="0">
                <a:tc>
                  <a:txBody>
                    <a:bodyPr/>
                    <a:lstStyle/>
                    <a:p>
                      <a:pPr>
                        <a:buNone/>
                      </a:pPr>
                      <a:r>
                        <a:rPr lang="en-US" sz="2800">
                          <a:latin typeface="Calibir"/>
                        </a:rPr>
                        <a:t>Server</a:t>
                      </a:r>
                    </a:p>
                  </a:txBody>
                  <a:tcPr anchor="ctr"/>
                </a:tc>
                <a:tc>
                  <a:txBody>
                    <a:bodyPr/>
                    <a:lstStyle/>
                    <a:p>
                      <a:pPr>
                        <a:buNone/>
                      </a:pPr>
                      <a:r>
                        <a:rPr lang="en-US" sz="2800">
                          <a:latin typeface="Calibir"/>
                        </a:rPr>
                        <a:t>Stores websites</a:t>
                      </a:r>
                    </a:p>
                  </a:txBody>
                  <a:tcPr anchor="ctr"/>
                </a:tc>
                <a:extLst>
                  <a:ext uri="{0D108BD9-81ED-4DB2-BD59-A6C34878D82A}">
                    <a16:rowId xmlns:a16="http://schemas.microsoft.com/office/drawing/2014/main" val="2217227344"/>
                  </a:ext>
                </a:extLst>
              </a:tr>
              <a:tr h="0">
                <a:tc>
                  <a:txBody>
                    <a:bodyPr/>
                    <a:lstStyle/>
                    <a:p>
                      <a:pPr>
                        <a:buNone/>
                      </a:pPr>
                      <a:r>
                        <a:rPr lang="en-US" sz="2800" dirty="0">
                          <a:latin typeface="Calibir"/>
                        </a:rPr>
                        <a:t>Client</a:t>
                      </a:r>
                    </a:p>
                  </a:txBody>
                  <a:tcPr anchor="ctr"/>
                </a:tc>
                <a:tc>
                  <a:txBody>
                    <a:bodyPr/>
                    <a:lstStyle/>
                    <a:p>
                      <a:pPr>
                        <a:buNone/>
                      </a:pPr>
                      <a:r>
                        <a:rPr lang="en-US" sz="2800">
                          <a:latin typeface="Calibir"/>
                        </a:rPr>
                        <a:t>User computer</a:t>
                      </a:r>
                    </a:p>
                  </a:txBody>
                  <a:tcPr anchor="ctr"/>
                </a:tc>
                <a:extLst>
                  <a:ext uri="{0D108BD9-81ED-4DB2-BD59-A6C34878D82A}">
                    <a16:rowId xmlns:a16="http://schemas.microsoft.com/office/drawing/2014/main" val="1063847675"/>
                  </a:ext>
                </a:extLst>
              </a:tr>
              <a:tr h="0">
                <a:tc>
                  <a:txBody>
                    <a:bodyPr/>
                    <a:lstStyle/>
                    <a:p>
                      <a:pPr>
                        <a:buNone/>
                      </a:pPr>
                      <a:r>
                        <a:rPr lang="en-US" sz="2800">
                          <a:latin typeface="Calibir"/>
                        </a:rPr>
                        <a:t>HTTP</a:t>
                      </a:r>
                    </a:p>
                  </a:txBody>
                  <a:tcPr anchor="ctr"/>
                </a:tc>
                <a:tc>
                  <a:txBody>
                    <a:bodyPr/>
                    <a:lstStyle/>
                    <a:p>
                      <a:pPr>
                        <a:buNone/>
                      </a:pPr>
                      <a:r>
                        <a:rPr lang="en-US" sz="2800">
                          <a:latin typeface="Calibir"/>
                        </a:rPr>
                        <a:t>Web communication</a:t>
                      </a:r>
                    </a:p>
                  </a:txBody>
                  <a:tcPr anchor="ctr"/>
                </a:tc>
                <a:extLst>
                  <a:ext uri="{0D108BD9-81ED-4DB2-BD59-A6C34878D82A}">
                    <a16:rowId xmlns:a16="http://schemas.microsoft.com/office/drawing/2014/main" val="1166399830"/>
                  </a:ext>
                </a:extLst>
              </a:tr>
              <a:tr h="0">
                <a:tc>
                  <a:txBody>
                    <a:bodyPr/>
                    <a:lstStyle/>
                    <a:p>
                      <a:pPr>
                        <a:buNone/>
                      </a:pPr>
                      <a:r>
                        <a:rPr lang="en-US" sz="2800">
                          <a:latin typeface="Calibir"/>
                        </a:rPr>
                        <a:t>TCP/IP</a:t>
                      </a:r>
                    </a:p>
                  </a:txBody>
                  <a:tcPr anchor="ctr"/>
                </a:tc>
                <a:tc>
                  <a:txBody>
                    <a:bodyPr/>
                    <a:lstStyle/>
                    <a:p>
                      <a:pPr>
                        <a:buNone/>
                      </a:pPr>
                      <a:r>
                        <a:rPr lang="en-US" sz="2800">
                          <a:latin typeface="Calibir"/>
                        </a:rPr>
                        <a:t>Internet communication</a:t>
                      </a:r>
                    </a:p>
                  </a:txBody>
                  <a:tcPr anchor="ctr"/>
                </a:tc>
                <a:extLst>
                  <a:ext uri="{0D108BD9-81ED-4DB2-BD59-A6C34878D82A}">
                    <a16:rowId xmlns:a16="http://schemas.microsoft.com/office/drawing/2014/main" val="409765402"/>
                  </a:ext>
                </a:extLst>
              </a:tr>
              <a:tr h="0">
                <a:tc>
                  <a:txBody>
                    <a:bodyPr/>
                    <a:lstStyle/>
                    <a:p>
                      <a:pPr>
                        <a:buNone/>
                      </a:pPr>
                      <a:r>
                        <a:rPr lang="en-US" sz="2800">
                          <a:latin typeface="Calibir"/>
                        </a:rPr>
                        <a:t>IP Address</a:t>
                      </a:r>
                    </a:p>
                  </a:txBody>
                  <a:tcPr anchor="ctr"/>
                </a:tc>
                <a:tc>
                  <a:txBody>
                    <a:bodyPr/>
                    <a:lstStyle/>
                    <a:p>
                      <a:pPr>
                        <a:buNone/>
                      </a:pPr>
                      <a:r>
                        <a:rPr lang="en-US" sz="2800">
                          <a:latin typeface="Calibir"/>
                        </a:rPr>
                        <a:t>Device network address</a:t>
                      </a:r>
                    </a:p>
                  </a:txBody>
                  <a:tcPr anchor="ctr"/>
                </a:tc>
                <a:extLst>
                  <a:ext uri="{0D108BD9-81ED-4DB2-BD59-A6C34878D82A}">
                    <a16:rowId xmlns:a16="http://schemas.microsoft.com/office/drawing/2014/main" val="10900563"/>
                  </a:ext>
                </a:extLst>
              </a:tr>
              <a:tr h="0">
                <a:tc>
                  <a:txBody>
                    <a:bodyPr/>
                    <a:lstStyle/>
                    <a:p>
                      <a:pPr>
                        <a:buNone/>
                      </a:pPr>
                      <a:r>
                        <a:rPr lang="en-US" sz="2800">
                          <a:latin typeface="Calibir"/>
                        </a:rPr>
                        <a:t>Protocol</a:t>
                      </a:r>
                    </a:p>
                  </a:txBody>
                  <a:tcPr anchor="ctr"/>
                </a:tc>
                <a:tc>
                  <a:txBody>
                    <a:bodyPr/>
                    <a:lstStyle/>
                    <a:p>
                      <a:pPr>
                        <a:buNone/>
                      </a:pPr>
                      <a:r>
                        <a:rPr lang="en-US" sz="2800" dirty="0">
                          <a:latin typeface="Calibir"/>
                        </a:rPr>
                        <a:t>Communication rules</a:t>
                      </a:r>
                    </a:p>
                  </a:txBody>
                  <a:tcPr anchor="ctr"/>
                </a:tc>
                <a:extLst>
                  <a:ext uri="{0D108BD9-81ED-4DB2-BD59-A6C34878D82A}">
                    <a16:rowId xmlns:a16="http://schemas.microsoft.com/office/drawing/2014/main" val="1229588256"/>
                  </a:ext>
                </a:extLst>
              </a:tr>
            </a:tbl>
          </a:graphicData>
        </a:graphic>
      </p:graphicFrame>
      <p:sp>
        <p:nvSpPr>
          <p:cNvPr id="5" name="TextBox 4">
            <a:extLst>
              <a:ext uri="{FF2B5EF4-FFF2-40B4-BE49-F238E27FC236}">
                <a16:creationId xmlns:a16="http://schemas.microsoft.com/office/drawing/2014/main" id="{234E34B7-96C3-B814-68CC-AB7C2D1268BF}"/>
              </a:ext>
            </a:extLst>
          </p:cNvPr>
          <p:cNvSpPr txBox="1"/>
          <p:nvPr/>
        </p:nvSpPr>
        <p:spPr>
          <a:xfrm>
            <a:off x="-83574" y="1730287"/>
            <a:ext cx="6179574" cy="954107"/>
          </a:xfrm>
          <a:prstGeom prst="rect">
            <a:avLst/>
          </a:prstGeom>
          <a:noFill/>
        </p:spPr>
        <p:txBody>
          <a:bodyPr wrap="square">
            <a:spAutoFit/>
          </a:bodyPr>
          <a:lstStyle/>
          <a:p>
            <a:pPr>
              <a:buNone/>
            </a:pPr>
            <a:r>
              <a:rPr lang="en-US" sz="2800" b="1" dirty="0">
                <a:latin typeface="Calibir"/>
              </a:rPr>
              <a:t>Internet Basics</a:t>
            </a:r>
          </a:p>
          <a:p>
            <a:pPr>
              <a:buNone/>
            </a:pPr>
            <a:r>
              <a:rPr lang="en-US" sz="2800" b="1" dirty="0">
                <a:latin typeface="Calibir"/>
              </a:rPr>
              <a:t>Important Concepts</a:t>
            </a:r>
          </a:p>
        </p:txBody>
      </p:sp>
    </p:spTree>
    <p:extLst>
      <p:ext uri="{BB962C8B-B14F-4D97-AF65-F5344CB8AC3E}">
        <p14:creationId xmlns:p14="http://schemas.microsoft.com/office/powerpoint/2010/main" val="2173987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6C62-61E2-87F1-6AD5-E18E09A17E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464FA3-ABAB-1201-6BDF-C713C630DEA7}"/>
              </a:ext>
            </a:extLst>
          </p:cNvPr>
          <p:cNvSpPr txBox="1"/>
          <p:nvPr/>
        </p:nvSpPr>
        <p:spPr>
          <a:xfrm>
            <a:off x="0" y="0"/>
            <a:ext cx="8976732" cy="754694"/>
          </a:xfrm>
          <a:prstGeom prst="rect">
            <a:avLst/>
          </a:prstGeom>
          <a:noFill/>
        </p:spPr>
        <p:txBody>
          <a:bodyPr wrap="square" rtlCol="0">
            <a:spAutoFit/>
          </a:bodyPr>
          <a:lstStyle/>
          <a:p>
            <a:pPr>
              <a:lnSpc>
                <a:spcPct val="150000"/>
              </a:lnSpc>
            </a:pPr>
            <a:r>
              <a:rPr lang="en-US" sz="3200" b="1" dirty="0">
                <a:latin typeface="Calibir"/>
              </a:rPr>
              <a:t>Website Planning</a:t>
            </a:r>
          </a:p>
        </p:txBody>
      </p:sp>
      <p:sp>
        <p:nvSpPr>
          <p:cNvPr id="5" name="TextBox 4">
            <a:extLst>
              <a:ext uri="{FF2B5EF4-FFF2-40B4-BE49-F238E27FC236}">
                <a16:creationId xmlns:a16="http://schemas.microsoft.com/office/drawing/2014/main" id="{9EA758AD-D8FD-4F1D-F99A-3217EEF07D92}"/>
              </a:ext>
            </a:extLst>
          </p:cNvPr>
          <p:cNvSpPr txBox="1"/>
          <p:nvPr/>
        </p:nvSpPr>
        <p:spPr>
          <a:xfrm>
            <a:off x="108155" y="1346829"/>
            <a:ext cx="6179574" cy="3903504"/>
          </a:xfrm>
          <a:prstGeom prst="rect">
            <a:avLst/>
          </a:prstGeom>
          <a:noFill/>
        </p:spPr>
        <p:txBody>
          <a:bodyPr wrap="square">
            <a:spAutoFit/>
          </a:bodyPr>
          <a:lstStyle/>
          <a:p>
            <a:pPr>
              <a:lnSpc>
                <a:spcPct val="150000"/>
              </a:lnSpc>
            </a:pPr>
            <a:r>
              <a:rPr lang="en-US" sz="2800" dirty="0">
                <a:latin typeface="Calibir"/>
              </a:rPr>
              <a:t>Students must understand:</a:t>
            </a:r>
          </a:p>
          <a:p>
            <a:pPr marL="914400" lvl="1" indent="-457200">
              <a:lnSpc>
                <a:spcPct val="150000"/>
              </a:lnSpc>
              <a:buFont typeface="Arial" panose="020B0604020202020204" pitchFamily="34" charset="0"/>
              <a:buChar char="•"/>
            </a:pPr>
            <a:r>
              <a:rPr lang="en-US" sz="2800" dirty="0">
                <a:latin typeface="Calibir"/>
              </a:rPr>
              <a:t>wireframes, </a:t>
            </a:r>
          </a:p>
          <a:p>
            <a:pPr marL="914400" lvl="1" indent="-457200">
              <a:lnSpc>
                <a:spcPct val="150000"/>
              </a:lnSpc>
              <a:buFont typeface="Arial" panose="020B0604020202020204" pitchFamily="34" charset="0"/>
              <a:buChar char="•"/>
            </a:pPr>
            <a:r>
              <a:rPr lang="en-US" sz="2800" dirty="0">
                <a:latin typeface="Calibir"/>
              </a:rPr>
              <a:t>white space, </a:t>
            </a:r>
          </a:p>
          <a:p>
            <a:pPr marL="914400" lvl="1" indent="-457200">
              <a:lnSpc>
                <a:spcPct val="150000"/>
              </a:lnSpc>
              <a:buFont typeface="Arial" panose="020B0604020202020204" pitchFamily="34" charset="0"/>
              <a:buChar char="•"/>
            </a:pPr>
            <a:r>
              <a:rPr lang="en-US" sz="2800" dirty="0">
                <a:latin typeface="Calibir"/>
              </a:rPr>
              <a:t>responsive design, </a:t>
            </a:r>
          </a:p>
          <a:p>
            <a:pPr marL="914400" lvl="1" indent="-457200">
              <a:lnSpc>
                <a:spcPct val="150000"/>
              </a:lnSpc>
              <a:buFont typeface="Arial" panose="020B0604020202020204" pitchFamily="34" charset="0"/>
              <a:buChar char="•"/>
            </a:pPr>
            <a:r>
              <a:rPr lang="en-US" sz="2800" dirty="0">
                <a:latin typeface="Calibir"/>
              </a:rPr>
              <a:t>accessibility, </a:t>
            </a:r>
          </a:p>
          <a:p>
            <a:pPr marL="914400" lvl="1" indent="-457200">
              <a:lnSpc>
                <a:spcPct val="150000"/>
              </a:lnSpc>
              <a:buFont typeface="Arial" panose="020B0604020202020204" pitchFamily="34" charset="0"/>
              <a:buChar char="•"/>
            </a:pPr>
            <a:r>
              <a:rPr lang="en-US" sz="2800" dirty="0">
                <a:latin typeface="Calibir"/>
              </a:rPr>
              <a:t>webpage structures. </a:t>
            </a:r>
          </a:p>
        </p:txBody>
      </p:sp>
    </p:spTree>
    <p:extLst>
      <p:ext uri="{BB962C8B-B14F-4D97-AF65-F5344CB8AC3E}">
        <p14:creationId xmlns:p14="http://schemas.microsoft.com/office/powerpoint/2010/main" val="569835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1257-D893-8C0E-E64A-BED472852E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563B29-1CBD-73E3-3577-CBA12FC1DD54}"/>
              </a:ext>
            </a:extLst>
          </p:cNvPr>
          <p:cNvSpPr txBox="1"/>
          <p:nvPr/>
        </p:nvSpPr>
        <p:spPr>
          <a:xfrm>
            <a:off x="0" y="0"/>
            <a:ext cx="8976732" cy="754694"/>
          </a:xfrm>
          <a:prstGeom prst="rect">
            <a:avLst/>
          </a:prstGeom>
          <a:noFill/>
        </p:spPr>
        <p:txBody>
          <a:bodyPr wrap="square" rtlCol="0">
            <a:spAutoFit/>
          </a:bodyPr>
          <a:lstStyle/>
          <a:p>
            <a:pPr>
              <a:lnSpc>
                <a:spcPct val="150000"/>
              </a:lnSpc>
            </a:pPr>
            <a:r>
              <a:rPr lang="en-US" sz="3200" b="1" dirty="0">
                <a:latin typeface="Calibir"/>
              </a:rPr>
              <a:t>Example Questions</a:t>
            </a:r>
          </a:p>
        </p:txBody>
      </p:sp>
      <p:sp>
        <p:nvSpPr>
          <p:cNvPr id="5" name="TextBox 4">
            <a:extLst>
              <a:ext uri="{FF2B5EF4-FFF2-40B4-BE49-F238E27FC236}">
                <a16:creationId xmlns:a16="http://schemas.microsoft.com/office/drawing/2014/main" id="{798C029B-48B6-55DE-0F55-22B37B669A34}"/>
              </a:ext>
            </a:extLst>
          </p:cNvPr>
          <p:cNvSpPr txBox="1"/>
          <p:nvPr/>
        </p:nvSpPr>
        <p:spPr>
          <a:xfrm>
            <a:off x="108154" y="1346829"/>
            <a:ext cx="12083845" cy="2610843"/>
          </a:xfrm>
          <a:prstGeom prst="rect">
            <a:avLst/>
          </a:prstGeom>
          <a:noFill/>
        </p:spPr>
        <p:txBody>
          <a:bodyPr wrap="square">
            <a:spAutoFit/>
          </a:bodyPr>
          <a:lstStyle/>
          <a:p>
            <a:pPr>
              <a:lnSpc>
                <a:spcPct val="150000"/>
              </a:lnSpc>
            </a:pPr>
            <a:r>
              <a:rPr lang="en-US" sz="2800" b="1" dirty="0">
                <a:latin typeface="Calibir"/>
              </a:rPr>
              <a:t>What is responsive design?</a:t>
            </a:r>
          </a:p>
          <a:p>
            <a:pPr>
              <a:lnSpc>
                <a:spcPct val="150000"/>
              </a:lnSpc>
            </a:pPr>
            <a:r>
              <a:rPr lang="en-US" sz="2800" dirty="0">
                <a:latin typeface="Calibir"/>
              </a:rPr>
              <a:t>A design that works properly across different devices.</a:t>
            </a:r>
          </a:p>
          <a:p>
            <a:pPr>
              <a:lnSpc>
                <a:spcPct val="150000"/>
              </a:lnSpc>
            </a:pPr>
            <a:r>
              <a:rPr lang="en-US" sz="2800" b="1" dirty="0">
                <a:latin typeface="Calibir"/>
              </a:rPr>
              <a:t>What is a wireframe?</a:t>
            </a:r>
          </a:p>
          <a:p>
            <a:pPr>
              <a:lnSpc>
                <a:spcPct val="150000"/>
              </a:lnSpc>
            </a:pPr>
            <a:r>
              <a:rPr lang="en-US" sz="2800" dirty="0">
                <a:latin typeface="Calibir"/>
              </a:rPr>
              <a:t>A planning layout showing webpage structure.</a:t>
            </a:r>
          </a:p>
        </p:txBody>
      </p:sp>
    </p:spTree>
    <p:extLst>
      <p:ext uri="{BB962C8B-B14F-4D97-AF65-F5344CB8AC3E}">
        <p14:creationId xmlns:p14="http://schemas.microsoft.com/office/powerpoint/2010/main" val="268109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0E32-4886-85A6-EBE1-3AD218FB77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1EC088-9BFE-59C7-B457-CD5DE5AB2360}"/>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HTML Questions</a:t>
            </a:r>
          </a:p>
        </p:txBody>
      </p:sp>
      <p:sp>
        <p:nvSpPr>
          <p:cNvPr id="5" name="TextBox 4">
            <a:extLst>
              <a:ext uri="{FF2B5EF4-FFF2-40B4-BE49-F238E27FC236}">
                <a16:creationId xmlns:a16="http://schemas.microsoft.com/office/drawing/2014/main" id="{A7557263-BCF5-3931-B6DF-39468336A41C}"/>
              </a:ext>
            </a:extLst>
          </p:cNvPr>
          <p:cNvSpPr txBox="1"/>
          <p:nvPr/>
        </p:nvSpPr>
        <p:spPr>
          <a:xfrm>
            <a:off x="0" y="624158"/>
            <a:ext cx="12083845" cy="6380593"/>
          </a:xfrm>
          <a:prstGeom prst="rect">
            <a:avLst/>
          </a:prstGeom>
          <a:noFill/>
        </p:spPr>
        <p:txBody>
          <a:bodyPr wrap="square">
            <a:spAutoFit/>
          </a:bodyPr>
          <a:lstStyle/>
          <a:p>
            <a:pPr>
              <a:lnSpc>
                <a:spcPct val="150000"/>
              </a:lnSpc>
            </a:pPr>
            <a:r>
              <a:rPr lang="en-US" sz="2500" dirty="0">
                <a:latin typeface="Calibir"/>
              </a:rPr>
              <a:t>Students must know:</a:t>
            </a:r>
          </a:p>
          <a:p>
            <a:pPr>
              <a:lnSpc>
                <a:spcPct val="150000"/>
              </a:lnSpc>
            </a:pPr>
            <a:r>
              <a:rPr lang="en-US" sz="2500" b="1" dirty="0">
                <a:latin typeface="Calibir"/>
              </a:rPr>
              <a:t>Correct HTML Structure</a:t>
            </a:r>
          </a:p>
          <a:p>
            <a:pPr>
              <a:lnSpc>
                <a:spcPct val="150000"/>
              </a:lnSpc>
            </a:pPr>
            <a:r>
              <a:rPr lang="en-US" sz="2500" dirty="0">
                <a:latin typeface="Calibir"/>
              </a:rPr>
              <a:t>&lt;!DOCTYPE html&gt;</a:t>
            </a:r>
            <a:br>
              <a:rPr lang="en-US" sz="2500" dirty="0">
                <a:latin typeface="Calibir"/>
              </a:rPr>
            </a:br>
            <a:r>
              <a:rPr lang="en-US" sz="2500" dirty="0">
                <a:latin typeface="Calibir"/>
              </a:rPr>
              <a:t>&lt;html&gt;</a:t>
            </a:r>
            <a:br>
              <a:rPr lang="en-US" sz="2500" dirty="0">
                <a:latin typeface="Calibir"/>
              </a:rPr>
            </a:br>
            <a:r>
              <a:rPr lang="en-US" sz="2500" dirty="0">
                <a:latin typeface="Calibir"/>
              </a:rPr>
              <a:t>&lt;head&gt;</a:t>
            </a:r>
            <a:br>
              <a:rPr lang="en-US" sz="2500" dirty="0">
                <a:latin typeface="Calibir"/>
              </a:rPr>
            </a:br>
            <a:r>
              <a:rPr lang="en-US" sz="2500" dirty="0">
                <a:latin typeface="Calibir"/>
              </a:rPr>
              <a:t>&lt;title&gt;Page&lt;/title&gt;</a:t>
            </a:r>
            <a:br>
              <a:rPr lang="en-US" sz="2500" dirty="0">
                <a:latin typeface="Calibir"/>
              </a:rPr>
            </a:br>
            <a:r>
              <a:rPr lang="en-US" sz="2500" dirty="0">
                <a:latin typeface="Calibir"/>
              </a:rPr>
              <a:t>&lt;/head&gt;</a:t>
            </a:r>
            <a:br>
              <a:rPr lang="en-US" sz="2500" dirty="0">
                <a:latin typeface="Calibir"/>
              </a:rPr>
            </a:br>
            <a:r>
              <a:rPr lang="en-US" sz="2500" dirty="0">
                <a:latin typeface="Calibir"/>
              </a:rPr>
              <a:t>&lt;body&gt;</a:t>
            </a:r>
            <a:br>
              <a:rPr lang="en-US" sz="2500" dirty="0">
                <a:latin typeface="Calibir"/>
              </a:rPr>
            </a:br>
            <a:r>
              <a:rPr lang="en-US" sz="2500" dirty="0">
                <a:latin typeface="Calibir"/>
              </a:rPr>
              <a:t>Content</a:t>
            </a:r>
            <a:br>
              <a:rPr lang="en-US" sz="2500" dirty="0">
                <a:latin typeface="Calibir"/>
              </a:rPr>
            </a:br>
            <a:r>
              <a:rPr lang="en-US" sz="2500" dirty="0">
                <a:latin typeface="Calibir"/>
              </a:rPr>
              <a:t>&lt;/body&gt;</a:t>
            </a:r>
            <a:br>
              <a:rPr lang="en-US" sz="2500" dirty="0">
                <a:latin typeface="Calibir"/>
              </a:rPr>
            </a:br>
            <a:r>
              <a:rPr lang="en-US" sz="2500" dirty="0">
                <a:latin typeface="Calibir"/>
              </a:rPr>
              <a:t>&lt;/html&gt;</a:t>
            </a:r>
          </a:p>
        </p:txBody>
      </p:sp>
    </p:spTree>
    <p:extLst>
      <p:ext uri="{BB962C8B-B14F-4D97-AF65-F5344CB8AC3E}">
        <p14:creationId xmlns:p14="http://schemas.microsoft.com/office/powerpoint/2010/main" val="38399512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E4FD-AF3D-7E9E-F572-79CC994A0D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5F6756-10AD-33D3-0645-5F84122048E7}"/>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Common Lab Test Questions</a:t>
            </a:r>
          </a:p>
        </p:txBody>
      </p:sp>
      <p:graphicFrame>
        <p:nvGraphicFramePr>
          <p:cNvPr id="2" name="Table 1">
            <a:extLst>
              <a:ext uri="{FF2B5EF4-FFF2-40B4-BE49-F238E27FC236}">
                <a16:creationId xmlns:a16="http://schemas.microsoft.com/office/drawing/2014/main" id="{5E3A0319-13BD-2BD6-D390-0F0979DE21C3}"/>
              </a:ext>
            </a:extLst>
          </p:cNvPr>
          <p:cNvGraphicFramePr>
            <a:graphicFrameLocks noGrp="1"/>
          </p:cNvGraphicFramePr>
          <p:nvPr>
            <p:extLst>
              <p:ext uri="{D42A27DB-BD31-4B8C-83A1-F6EECF244321}">
                <p14:modId xmlns:p14="http://schemas.microsoft.com/office/powerpoint/2010/main" val="3688437613"/>
              </p:ext>
            </p:extLst>
          </p:nvPr>
        </p:nvGraphicFramePr>
        <p:xfrm>
          <a:off x="720213" y="1821482"/>
          <a:ext cx="10515600" cy="362712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271014253"/>
                    </a:ext>
                  </a:extLst>
                </a:gridCol>
                <a:gridCol w="5257800">
                  <a:extLst>
                    <a:ext uri="{9D8B030D-6E8A-4147-A177-3AD203B41FA5}">
                      <a16:colId xmlns:a16="http://schemas.microsoft.com/office/drawing/2014/main" val="2277860348"/>
                    </a:ext>
                  </a:extLst>
                </a:gridCol>
              </a:tblGrid>
              <a:tr h="0">
                <a:tc>
                  <a:txBody>
                    <a:bodyPr/>
                    <a:lstStyle/>
                    <a:p>
                      <a:pPr>
                        <a:buNone/>
                      </a:pPr>
                      <a:r>
                        <a:rPr lang="en-US" sz="2800" dirty="0">
                          <a:latin typeface="Calibir"/>
                        </a:rPr>
                        <a:t>Question Topic</a:t>
                      </a:r>
                    </a:p>
                  </a:txBody>
                  <a:tcPr anchor="ctr">
                    <a:solidFill>
                      <a:schemeClr val="accent5">
                        <a:lumMod val="20000"/>
                        <a:lumOff val="80000"/>
                      </a:schemeClr>
                    </a:solidFill>
                  </a:tcPr>
                </a:tc>
                <a:tc>
                  <a:txBody>
                    <a:bodyPr/>
                    <a:lstStyle/>
                    <a:p>
                      <a:pPr>
                        <a:buNone/>
                      </a:pPr>
                      <a:r>
                        <a:rPr lang="en-US" sz="2800" dirty="0">
                          <a:latin typeface="Calibir"/>
                        </a:rPr>
                        <a:t>Correct Idea</a:t>
                      </a:r>
                    </a:p>
                  </a:txBody>
                  <a:tcPr anchor="ctr">
                    <a:solidFill>
                      <a:schemeClr val="accent5">
                        <a:lumMod val="20000"/>
                        <a:lumOff val="80000"/>
                      </a:schemeClr>
                    </a:solidFill>
                  </a:tcPr>
                </a:tc>
                <a:extLst>
                  <a:ext uri="{0D108BD9-81ED-4DB2-BD59-A6C34878D82A}">
                    <a16:rowId xmlns:a16="http://schemas.microsoft.com/office/drawing/2014/main" val="407852006"/>
                  </a:ext>
                </a:extLst>
              </a:tr>
              <a:tr h="0">
                <a:tc>
                  <a:txBody>
                    <a:bodyPr/>
                    <a:lstStyle/>
                    <a:p>
                      <a:pPr>
                        <a:buNone/>
                      </a:pPr>
                      <a:r>
                        <a:rPr lang="en-US" sz="2800">
                          <a:latin typeface="Calibir"/>
                        </a:rPr>
                        <a:t>Root element</a:t>
                      </a:r>
                    </a:p>
                  </a:txBody>
                  <a:tcPr anchor="ctr"/>
                </a:tc>
                <a:tc>
                  <a:txBody>
                    <a:bodyPr/>
                    <a:lstStyle/>
                    <a:p>
                      <a:pPr>
                        <a:buNone/>
                      </a:pPr>
                      <a:r>
                        <a:rPr lang="en-US" sz="2800">
                          <a:latin typeface="Calibir"/>
                        </a:rPr>
                        <a:t>&lt;html&gt;</a:t>
                      </a:r>
                    </a:p>
                  </a:txBody>
                  <a:tcPr anchor="ctr"/>
                </a:tc>
                <a:extLst>
                  <a:ext uri="{0D108BD9-81ED-4DB2-BD59-A6C34878D82A}">
                    <a16:rowId xmlns:a16="http://schemas.microsoft.com/office/drawing/2014/main" val="2462523122"/>
                  </a:ext>
                </a:extLst>
              </a:tr>
              <a:tr h="0">
                <a:tc>
                  <a:txBody>
                    <a:bodyPr/>
                    <a:lstStyle/>
                    <a:p>
                      <a:pPr>
                        <a:buNone/>
                      </a:pPr>
                      <a:r>
                        <a:rPr lang="en-US" sz="2800">
                          <a:latin typeface="Calibir"/>
                        </a:rPr>
                        <a:t>Paragraph tag</a:t>
                      </a:r>
                    </a:p>
                  </a:txBody>
                  <a:tcPr anchor="ctr"/>
                </a:tc>
                <a:tc>
                  <a:txBody>
                    <a:bodyPr/>
                    <a:lstStyle/>
                    <a:p>
                      <a:pPr>
                        <a:buNone/>
                      </a:pPr>
                      <a:r>
                        <a:rPr lang="en-US" sz="2800">
                          <a:latin typeface="Calibir"/>
                        </a:rPr>
                        <a:t>&lt;p&gt;</a:t>
                      </a:r>
                    </a:p>
                  </a:txBody>
                  <a:tcPr anchor="ctr"/>
                </a:tc>
                <a:extLst>
                  <a:ext uri="{0D108BD9-81ED-4DB2-BD59-A6C34878D82A}">
                    <a16:rowId xmlns:a16="http://schemas.microsoft.com/office/drawing/2014/main" val="3234466059"/>
                  </a:ext>
                </a:extLst>
              </a:tr>
              <a:tr h="0">
                <a:tc>
                  <a:txBody>
                    <a:bodyPr/>
                    <a:lstStyle/>
                    <a:p>
                      <a:pPr>
                        <a:buNone/>
                      </a:pPr>
                      <a:r>
                        <a:rPr lang="en-US" sz="2800">
                          <a:latin typeface="Calibir"/>
                        </a:rPr>
                        <a:t>Visible webpage section</a:t>
                      </a:r>
                    </a:p>
                  </a:txBody>
                  <a:tcPr anchor="ctr"/>
                </a:tc>
                <a:tc>
                  <a:txBody>
                    <a:bodyPr/>
                    <a:lstStyle/>
                    <a:p>
                      <a:pPr>
                        <a:buNone/>
                      </a:pPr>
                      <a:r>
                        <a:rPr lang="en-US" sz="2800">
                          <a:latin typeface="Calibir"/>
                        </a:rPr>
                        <a:t>&lt;body&gt;</a:t>
                      </a:r>
                    </a:p>
                  </a:txBody>
                  <a:tcPr anchor="ctr"/>
                </a:tc>
                <a:extLst>
                  <a:ext uri="{0D108BD9-81ED-4DB2-BD59-A6C34878D82A}">
                    <a16:rowId xmlns:a16="http://schemas.microsoft.com/office/drawing/2014/main" val="3194157100"/>
                  </a:ext>
                </a:extLst>
              </a:tr>
              <a:tr h="0">
                <a:tc>
                  <a:txBody>
                    <a:bodyPr/>
                    <a:lstStyle/>
                    <a:p>
                      <a:pPr>
                        <a:buNone/>
                      </a:pPr>
                      <a:r>
                        <a:rPr lang="en-US" sz="2800" dirty="0">
                          <a:latin typeface="Calibir"/>
                        </a:rPr>
                        <a:t>Metadata section</a:t>
                      </a:r>
                    </a:p>
                  </a:txBody>
                  <a:tcPr anchor="ctr"/>
                </a:tc>
                <a:tc>
                  <a:txBody>
                    <a:bodyPr/>
                    <a:lstStyle/>
                    <a:p>
                      <a:pPr>
                        <a:buNone/>
                      </a:pPr>
                      <a:r>
                        <a:rPr lang="en-US" sz="2800">
                          <a:latin typeface="Calibir"/>
                        </a:rPr>
                        <a:t>&lt;head&gt;</a:t>
                      </a:r>
                    </a:p>
                  </a:txBody>
                  <a:tcPr anchor="ctr"/>
                </a:tc>
                <a:extLst>
                  <a:ext uri="{0D108BD9-81ED-4DB2-BD59-A6C34878D82A}">
                    <a16:rowId xmlns:a16="http://schemas.microsoft.com/office/drawing/2014/main" val="2010018770"/>
                  </a:ext>
                </a:extLst>
              </a:tr>
              <a:tr h="0">
                <a:tc>
                  <a:txBody>
                    <a:bodyPr/>
                    <a:lstStyle/>
                    <a:p>
                      <a:pPr>
                        <a:buNone/>
                      </a:pPr>
                      <a:r>
                        <a:rPr lang="en-US" sz="2800">
                          <a:latin typeface="Calibir"/>
                        </a:rPr>
                        <a:t>HTML comments</a:t>
                      </a:r>
                    </a:p>
                  </a:txBody>
                  <a:tcPr anchor="ctr"/>
                </a:tc>
                <a:tc>
                  <a:txBody>
                    <a:bodyPr/>
                    <a:lstStyle/>
                    <a:p>
                      <a:pPr>
                        <a:buNone/>
                      </a:pPr>
                      <a:r>
                        <a:rPr lang="en-US" sz="2800">
                          <a:latin typeface="Calibir"/>
                        </a:rPr>
                        <a:t>&lt;!-- comment --&gt;</a:t>
                      </a:r>
                    </a:p>
                  </a:txBody>
                  <a:tcPr anchor="ctr"/>
                </a:tc>
                <a:extLst>
                  <a:ext uri="{0D108BD9-81ED-4DB2-BD59-A6C34878D82A}">
                    <a16:rowId xmlns:a16="http://schemas.microsoft.com/office/drawing/2014/main" val="3567967859"/>
                  </a:ext>
                </a:extLst>
              </a:tr>
              <a:tr h="0">
                <a:tc>
                  <a:txBody>
                    <a:bodyPr/>
                    <a:lstStyle/>
                    <a:p>
                      <a:pPr>
                        <a:buNone/>
                      </a:pPr>
                      <a:r>
                        <a:rPr lang="en-US" sz="2800">
                          <a:latin typeface="Calibir"/>
                        </a:rPr>
                        <a:t>First HTML declaration</a:t>
                      </a:r>
                    </a:p>
                  </a:txBody>
                  <a:tcPr anchor="ctr"/>
                </a:tc>
                <a:tc>
                  <a:txBody>
                    <a:bodyPr/>
                    <a:lstStyle/>
                    <a:p>
                      <a:pPr>
                        <a:buNone/>
                      </a:pPr>
                      <a:r>
                        <a:rPr lang="en-US" sz="2800" dirty="0">
                          <a:latin typeface="Calibir"/>
                        </a:rPr>
                        <a:t>&lt;!DOCTYPE html&gt;</a:t>
                      </a:r>
                    </a:p>
                  </a:txBody>
                  <a:tcPr anchor="ctr"/>
                </a:tc>
                <a:extLst>
                  <a:ext uri="{0D108BD9-81ED-4DB2-BD59-A6C34878D82A}">
                    <a16:rowId xmlns:a16="http://schemas.microsoft.com/office/drawing/2014/main" val="2280060356"/>
                  </a:ext>
                </a:extLst>
              </a:tr>
            </a:tbl>
          </a:graphicData>
        </a:graphic>
      </p:graphicFrame>
    </p:spTree>
    <p:extLst>
      <p:ext uri="{BB962C8B-B14F-4D97-AF65-F5344CB8AC3E}">
        <p14:creationId xmlns:p14="http://schemas.microsoft.com/office/powerpoint/2010/main" val="1605632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ED4A-9EF7-BE93-EDC2-7C7D425A59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9E6726-8D60-6F94-8DC8-650F5469430B}"/>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Publishing and Hosting Concepts</a:t>
            </a:r>
          </a:p>
        </p:txBody>
      </p:sp>
      <p:graphicFrame>
        <p:nvGraphicFramePr>
          <p:cNvPr id="3" name="Table 2">
            <a:extLst>
              <a:ext uri="{FF2B5EF4-FFF2-40B4-BE49-F238E27FC236}">
                <a16:creationId xmlns:a16="http://schemas.microsoft.com/office/drawing/2014/main" id="{58CC36A2-9F2A-4D8B-76CA-A455636B2570}"/>
              </a:ext>
            </a:extLst>
          </p:cNvPr>
          <p:cNvGraphicFramePr>
            <a:graphicFrameLocks noGrp="1"/>
          </p:cNvGraphicFramePr>
          <p:nvPr>
            <p:extLst>
              <p:ext uri="{D42A27DB-BD31-4B8C-83A1-F6EECF244321}">
                <p14:modId xmlns:p14="http://schemas.microsoft.com/office/powerpoint/2010/main" val="466341624"/>
              </p:ext>
            </p:extLst>
          </p:nvPr>
        </p:nvGraphicFramePr>
        <p:xfrm>
          <a:off x="646471" y="2555952"/>
          <a:ext cx="10515600" cy="259080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3232219046"/>
                    </a:ext>
                  </a:extLst>
                </a:gridCol>
                <a:gridCol w="5257800">
                  <a:extLst>
                    <a:ext uri="{9D8B030D-6E8A-4147-A177-3AD203B41FA5}">
                      <a16:colId xmlns:a16="http://schemas.microsoft.com/office/drawing/2014/main" val="3426539672"/>
                    </a:ext>
                  </a:extLst>
                </a:gridCol>
              </a:tblGrid>
              <a:tr h="0">
                <a:tc>
                  <a:txBody>
                    <a:bodyPr/>
                    <a:lstStyle/>
                    <a:p>
                      <a:pPr>
                        <a:buNone/>
                      </a:pPr>
                      <a:r>
                        <a:rPr lang="en-US" sz="2800" dirty="0">
                          <a:latin typeface="Calibir"/>
                        </a:rPr>
                        <a:t>Topic</a:t>
                      </a:r>
                    </a:p>
                  </a:txBody>
                  <a:tcPr anchor="ctr">
                    <a:solidFill>
                      <a:schemeClr val="accent5">
                        <a:lumMod val="20000"/>
                        <a:lumOff val="80000"/>
                      </a:schemeClr>
                    </a:solidFill>
                  </a:tcPr>
                </a:tc>
                <a:tc>
                  <a:txBody>
                    <a:bodyPr/>
                    <a:lstStyle/>
                    <a:p>
                      <a:pPr>
                        <a:buNone/>
                      </a:pPr>
                      <a:r>
                        <a:rPr lang="en-US" sz="2800" dirty="0">
                          <a:latin typeface="Calibir"/>
                        </a:rPr>
                        <a:t>Meaning</a:t>
                      </a:r>
                    </a:p>
                  </a:txBody>
                  <a:tcPr anchor="ctr">
                    <a:solidFill>
                      <a:schemeClr val="accent5">
                        <a:lumMod val="20000"/>
                        <a:lumOff val="80000"/>
                      </a:schemeClr>
                    </a:solidFill>
                  </a:tcPr>
                </a:tc>
                <a:extLst>
                  <a:ext uri="{0D108BD9-81ED-4DB2-BD59-A6C34878D82A}">
                    <a16:rowId xmlns:a16="http://schemas.microsoft.com/office/drawing/2014/main" val="103710707"/>
                  </a:ext>
                </a:extLst>
              </a:tr>
              <a:tr h="0">
                <a:tc>
                  <a:txBody>
                    <a:bodyPr/>
                    <a:lstStyle/>
                    <a:p>
                      <a:pPr>
                        <a:buNone/>
                      </a:pPr>
                      <a:r>
                        <a:rPr lang="en-US" sz="2800">
                          <a:latin typeface="Calibir"/>
                        </a:rPr>
                        <a:t>Publishing</a:t>
                      </a:r>
                    </a:p>
                  </a:txBody>
                  <a:tcPr anchor="ctr"/>
                </a:tc>
                <a:tc>
                  <a:txBody>
                    <a:bodyPr/>
                    <a:lstStyle/>
                    <a:p>
                      <a:pPr>
                        <a:buNone/>
                      </a:pPr>
                      <a:r>
                        <a:rPr lang="en-US" sz="2800">
                          <a:latin typeface="Calibir"/>
                        </a:rPr>
                        <a:t>Uploading webpages to server</a:t>
                      </a:r>
                    </a:p>
                  </a:txBody>
                  <a:tcPr anchor="ctr"/>
                </a:tc>
                <a:extLst>
                  <a:ext uri="{0D108BD9-81ED-4DB2-BD59-A6C34878D82A}">
                    <a16:rowId xmlns:a16="http://schemas.microsoft.com/office/drawing/2014/main" val="3039052120"/>
                  </a:ext>
                </a:extLst>
              </a:tr>
              <a:tr h="0">
                <a:tc>
                  <a:txBody>
                    <a:bodyPr/>
                    <a:lstStyle/>
                    <a:p>
                      <a:pPr>
                        <a:buNone/>
                      </a:pPr>
                      <a:r>
                        <a:rPr lang="en-US" sz="2800">
                          <a:latin typeface="Calibir"/>
                        </a:rPr>
                        <a:t>Hosting</a:t>
                      </a:r>
                    </a:p>
                  </a:txBody>
                  <a:tcPr anchor="ctr"/>
                </a:tc>
                <a:tc>
                  <a:txBody>
                    <a:bodyPr/>
                    <a:lstStyle/>
                    <a:p>
                      <a:pPr>
                        <a:buNone/>
                      </a:pPr>
                      <a:r>
                        <a:rPr lang="en-US" sz="2800">
                          <a:latin typeface="Calibir"/>
                        </a:rPr>
                        <a:t>Storing website online</a:t>
                      </a:r>
                    </a:p>
                  </a:txBody>
                  <a:tcPr anchor="ctr"/>
                </a:tc>
                <a:extLst>
                  <a:ext uri="{0D108BD9-81ED-4DB2-BD59-A6C34878D82A}">
                    <a16:rowId xmlns:a16="http://schemas.microsoft.com/office/drawing/2014/main" val="4241949404"/>
                  </a:ext>
                </a:extLst>
              </a:tr>
              <a:tr h="0">
                <a:tc>
                  <a:txBody>
                    <a:bodyPr/>
                    <a:lstStyle/>
                    <a:p>
                      <a:pPr>
                        <a:buNone/>
                      </a:pPr>
                      <a:r>
                        <a:rPr lang="en-US" sz="2800">
                          <a:latin typeface="Calibir"/>
                        </a:rPr>
                        <a:t>Domain Name</a:t>
                      </a:r>
                    </a:p>
                  </a:txBody>
                  <a:tcPr anchor="ctr"/>
                </a:tc>
                <a:tc>
                  <a:txBody>
                    <a:bodyPr/>
                    <a:lstStyle/>
                    <a:p>
                      <a:pPr>
                        <a:buNone/>
                      </a:pPr>
                      <a:r>
                        <a:rPr lang="en-US" sz="2800">
                          <a:latin typeface="Calibir"/>
                        </a:rPr>
                        <a:t>Website address</a:t>
                      </a:r>
                    </a:p>
                  </a:txBody>
                  <a:tcPr anchor="ctr"/>
                </a:tc>
                <a:extLst>
                  <a:ext uri="{0D108BD9-81ED-4DB2-BD59-A6C34878D82A}">
                    <a16:rowId xmlns:a16="http://schemas.microsoft.com/office/drawing/2014/main" val="812916391"/>
                  </a:ext>
                </a:extLst>
              </a:tr>
              <a:tr h="0">
                <a:tc>
                  <a:txBody>
                    <a:bodyPr/>
                    <a:lstStyle/>
                    <a:p>
                      <a:pPr>
                        <a:buNone/>
                      </a:pPr>
                      <a:r>
                        <a:rPr lang="en-US" sz="2800">
                          <a:latin typeface="Calibir"/>
                        </a:rPr>
                        <a:t>Web Server</a:t>
                      </a:r>
                    </a:p>
                  </a:txBody>
                  <a:tcPr anchor="ctr"/>
                </a:tc>
                <a:tc>
                  <a:txBody>
                    <a:bodyPr/>
                    <a:lstStyle/>
                    <a:p>
                      <a:pPr>
                        <a:buNone/>
                      </a:pPr>
                      <a:r>
                        <a:rPr lang="en-US" sz="2800" dirty="0">
                          <a:latin typeface="Calibir"/>
                        </a:rPr>
                        <a:t>Computer serving websites</a:t>
                      </a:r>
                    </a:p>
                  </a:txBody>
                  <a:tcPr anchor="ctr"/>
                </a:tc>
                <a:extLst>
                  <a:ext uri="{0D108BD9-81ED-4DB2-BD59-A6C34878D82A}">
                    <a16:rowId xmlns:a16="http://schemas.microsoft.com/office/drawing/2014/main" val="453055170"/>
                  </a:ext>
                </a:extLst>
              </a:tr>
            </a:tbl>
          </a:graphicData>
        </a:graphic>
      </p:graphicFrame>
      <p:sp>
        <p:nvSpPr>
          <p:cNvPr id="6" name="TextBox 5">
            <a:extLst>
              <a:ext uri="{FF2B5EF4-FFF2-40B4-BE49-F238E27FC236}">
                <a16:creationId xmlns:a16="http://schemas.microsoft.com/office/drawing/2014/main" id="{ABDF57F4-BCC6-938D-5589-9F5D4B28669F}"/>
              </a:ext>
            </a:extLst>
          </p:cNvPr>
          <p:cNvSpPr txBox="1"/>
          <p:nvPr/>
        </p:nvSpPr>
        <p:spPr>
          <a:xfrm>
            <a:off x="0" y="1135315"/>
            <a:ext cx="6179574" cy="523220"/>
          </a:xfrm>
          <a:prstGeom prst="rect">
            <a:avLst/>
          </a:prstGeom>
          <a:noFill/>
        </p:spPr>
        <p:txBody>
          <a:bodyPr wrap="square">
            <a:spAutoFit/>
          </a:bodyPr>
          <a:lstStyle/>
          <a:p>
            <a:pPr>
              <a:buNone/>
            </a:pPr>
            <a:r>
              <a:rPr lang="en-US" sz="2800" dirty="0">
                <a:latin typeface="Calibir"/>
              </a:rPr>
              <a:t>Students must understand:</a:t>
            </a:r>
          </a:p>
        </p:txBody>
      </p:sp>
    </p:spTree>
    <p:extLst>
      <p:ext uri="{BB962C8B-B14F-4D97-AF65-F5344CB8AC3E}">
        <p14:creationId xmlns:p14="http://schemas.microsoft.com/office/powerpoint/2010/main" val="2471103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59197-D524-28AE-1C28-34FA86D5A8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C01BA4-6512-F57F-EE32-28065F2730C0}"/>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Publishing and Hosting Concepts</a:t>
            </a:r>
          </a:p>
        </p:txBody>
      </p:sp>
      <p:sp>
        <p:nvSpPr>
          <p:cNvPr id="6" name="TextBox 5">
            <a:extLst>
              <a:ext uri="{FF2B5EF4-FFF2-40B4-BE49-F238E27FC236}">
                <a16:creationId xmlns:a16="http://schemas.microsoft.com/office/drawing/2014/main" id="{53C802BF-1928-18D9-5B7F-75A5D54B55B6}"/>
              </a:ext>
            </a:extLst>
          </p:cNvPr>
          <p:cNvSpPr txBox="1"/>
          <p:nvPr/>
        </p:nvSpPr>
        <p:spPr>
          <a:xfrm>
            <a:off x="0" y="1135315"/>
            <a:ext cx="12192000" cy="1964512"/>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b="1" dirty="0">
                <a:latin typeface="Calibir"/>
              </a:rPr>
              <a:t>Publishing means:</a:t>
            </a:r>
          </a:p>
          <a:p>
            <a:pPr>
              <a:lnSpc>
                <a:spcPct val="150000"/>
              </a:lnSpc>
            </a:pPr>
            <a:r>
              <a:rPr lang="en-US" sz="2800" dirty="0">
                <a:latin typeface="Calibir"/>
              </a:rPr>
              <a:t>Transferring webpages from your computer to a web server.</a:t>
            </a:r>
          </a:p>
        </p:txBody>
      </p:sp>
    </p:spTree>
    <p:extLst>
      <p:ext uri="{BB962C8B-B14F-4D97-AF65-F5344CB8AC3E}">
        <p14:creationId xmlns:p14="http://schemas.microsoft.com/office/powerpoint/2010/main" val="12847130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1844-02BF-D57A-6A21-FB086578CE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EAA4CD-DA6C-602E-F740-78F0FAC8F162}"/>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Study Strategy for Lab Tests</a:t>
            </a:r>
          </a:p>
        </p:txBody>
      </p:sp>
      <p:sp>
        <p:nvSpPr>
          <p:cNvPr id="6" name="TextBox 5">
            <a:extLst>
              <a:ext uri="{FF2B5EF4-FFF2-40B4-BE49-F238E27FC236}">
                <a16:creationId xmlns:a16="http://schemas.microsoft.com/office/drawing/2014/main" id="{119C56B5-312F-9E25-53F9-F995826F316E}"/>
              </a:ext>
            </a:extLst>
          </p:cNvPr>
          <p:cNvSpPr txBox="1"/>
          <p:nvPr/>
        </p:nvSpPr>
        <p:spPr>
          <a:xfrm>
            <a:off x="0" y="1135315"/>
            <a:ext cx="12192000" cy="4549835"/>
          </a:xfrm>
          <a:prstGeom prst="rect">
            <a:avLst/>
          </a:prstGeom>
          <a:noFill/>
        </p:spPr>
        <p:txBody>
          <a:bodyPr wrap="square">
            <a:spAutoFit/>
          </a:bodyPr>
          <a:lstStyle/>
          <a:p>
            <a:pPr>
              <a:lnSpc>
                <a:spcPct val="150000"/>
              </a:lnSpc>
            </a:pPr>
            <a:r>
              <a:rPr lang="en-US" sz="2800" b="1" dirty="0">
                <a:latin typeface="Calibir"/>
              </a:rPr>
              <a:t>Best Method</a:t>
            </a:r>
          </a:p>
          <a:p>
            <a:pPr>
              <a:lnSpc>
                <a:spcPct val="150000"/>
              </a:lnSpc>
            </a:pPr>
            <a:r>
              <a:rPr lang="en-US" sz="2800" b="1" dirty="0">
                <a:latin typeface="Calibir"/>
              </a:rPr>
              <a:t>Before Each Test:</a:t>
            </a:r>
          </a:p>
          <a:p>
            <a:pPr marL="971550" lvl="1" indent="-514350">
              <a:lnSpc>
                <a:spcPct val="150000"/>
              </a:lnSpc>
              <a:buFont typeface="+mj-lt"/>
              <a:buAutoNum type="arabicPeriod"/>
            </a:pPr>
            <a:r>
              <a:rPr lang="en-US" sz="2800" dirty="0">
                <a:latin typeface="Calibir"/>
              </a:rPr>
              <a:t>Review lecture slides </a:t>
            </a:r>
          </a:p>
          <a:p>
            <a:pPr marL="971550" lvl="1" indent="-514350">
              <a:lnSpc>
                <a:spcPct val="150000"/>
              </a:lnSpc>
              <a:buFont typeface="+mj-lt"/>
              <a:buAutoNum type="arabicPeriod"/>
            </a:pPr>
            <a:r>
              <a:rPr lang="en-US" sz="2800" dirty="0">
                <a:latin typeface="Calibir"/>
              </a:rPr>
              <a:t>Complete tutorial questions </a:t>
            </a:r>
          </a:p>
          <a:p>
            <a:pPr marL="971550" lvl="1" indent="-514350">
              <a:lnSpc>
                <a:spcPct val="150000"/>
              </a:lnSpc>
              <a:buFont typeface="+mj-lt"/>
              <a:buAutoNum type="arabicPeriod"/>
            </a:pPr>
            <a:r>
              <a:rPr lang="en-US" sz="2800" dirty="0" err="1">
                <a:latin typeface="Calibir"/>
              </a:rPr>
              <a:t>Practise</a:t>
            </a:r>
            <a:r>
              <a:rPr lang="en-US" sz="2800" dirty="0">
                <a:latin typeface="Calibir"/>
              </a:rPr>
              <a:t> HTML coding </a:t>
            </a:r>
          </a:p>
          <a:p>
            <a:pPr marL="971550" lvl="1" indent="-514350">
              <a:lnSpc>
                <a:spcPct val="150000"/>
              </a:lnSpc>
              <a:buFont typeface="+mj-lt"/>
              <a:buAutoNum type="arabicPeriod"/>
            </a:pPr>
            <a:r>
              <a:rPr lang="en-US" sz="2800" dirty="0">
                <a:latin typeface="Calibir"/>
              </a:rPr>
              <a:t>Review definitions </a:t>
            </a:r>
          </a:p>
          <a:p>
            <a:pPr marL="971550" lvl="1" indent="-514350">
              <a:lnSpc>
                <a:spcPct val="150000"/>
              </a:lnSpc>
              <a:buFont typeface="+mj-lt"/>
              <a:buAutoNum type="arabicPeriod"/>
            </a:pPr>
            <a:r>
              <a:rPr lang="en-US" sz="2800" dirty="0" err="1">
                <a:latin typeface="Calibir"/>
              </a:rPr>
              <a:t>Practise</a:t>
            </a:r>
            <a:r>
              <a:rPr lang="en-US" sz="2800" dirty="0">
                <a:latin typeface="Calibir"/>
              </a:rPr>
              <a:t> multiple-choice questions</a:t>
            </a:r>
          </a:p>
        </p:txBody>
      </p:sp>
    </p:spTree>
    <p:extLst>
      <p:ext uri="{BB962C8B-B14F-4D97-AF65-F5344CB8AC3E}">
        <p14:creationId xmlns:p14="http://schemas.microsoft.com/office/powerpoint/2010/main" val="8006864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DACF-9E97-A085-30F6-A6B3D260D8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C5CB7D-19DD-3A9D-E210-63227A50E6CB}"/>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Time Management During Tests</a:t>
            </a:r>
          </a:p>
        </p:txBody>
      </p:sp>
      <p:graphicFrame>
        <p:nvGraphicFramePr>
          <p:cNvPr id="2" name="Table 1">
            <a:extLst>
              <a:ext uri="{FF2B5EF4-FFF2-40B4-BE49-F238E27FC236}">
                <a16:creationId xmlns:a16="http://schemas.microsoft.com/office/drawing/2014/main" id="{F937628D-CD4A-8BD8-703D-6846F10114C3}"/>
              </a:ext>
            </a:extLst>
          </p:cNvPr>
          <p:cNvGraphicFramePr>
            <a:graphicFrameLocks noGrp="1"/>
          </p:cNvGraphicFramePr>
          <p:nvPr>
            <p:extLst>
              <p:ext uri="{D42A27DB-BD31-4B8C-83A1-F6EECF244321}">
                <p14:modId xmlns:p14="http://schemas.microsoft.com/office/powerpoint/2010/main" val="4118531674"/>
              </p:ext>
            </p:extLst>
          </p:nvPr>
        </p:nvGraphicFramePr>
        <p:xfrm>
          <a:off x="838200" y="2334726"/>
          <a:ext cx="10515600" cy="3326765"/>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2384878261"/>
                    </a:ext>
                  </a:extLst>
                </a:gridCol>
                <a:gridCol w="5257800">
                  <a:extLst>
                    <a:ext uri="{9D8B030D-6E8A-4147-A177-3AD203B41FA5}">
                      <a16:colId xmlns:a16="http://schemas.microsoft.com/office/drawing/2014/main" val="4050744765"/>
                    </a:ext>
                  </a:extLst>
                </a:gridCol>
              </a:tblGrid>
              <a:tr h="0">
                <a:tc>
                  <a:txBody>
                    <a:bodyPr/>
                    <a:lstStyle/>
                    <a:p>
                      <a:pPr>
                        <a:lnSpc>
                          <a:spcPct val="150000"/>
                        </a:lnSpc>
                        <a:buNone/>
                      </a:pPr>
                      <a:r>
                        <a:rPr lang="en-US" sz="2800" dirty="0">
                          <a:latin typeface="Calibir"/>
                        </a:rPr>
                        <a:t>Task</a:t>
                      </a:r>
                    </a:p>
                  </a:txBody>
                  <a:tcPr anchor="ctr">
                    <a:solidFill>
                      <a:schemeClr val="accent5">
                        <a:lumMod val="20000"/>
                        <a:lumOff val="80000"/>
                      </a:schemeClr>
                    </a:solidFill>
                  </a:tcPr>
                </a:tc>
                <a:tc>
                  <a:txBody>
                    <a:bodyPr/>
                    <a:lstStyle/>
                    <a:p>
                      <a:pPr>
                        <a:lnSpc>
                          <a:spcPct val="150000"/>
                        </a:lnSpc>
                        <a:buNone/>
                      </a:pPr>
                      <a:r>
                        <a:rPr lang="en-US" sz="2800" dirty="0">
                          <a:latin typeface="Calibir"/>
                        </a:rPr>
                        <a:t>Time</a:t>
                      </a:r>
                    </a:p>
                  </a:txBody>
                  <a:tcPr anchor="ctr">
                    <a:solidFill>
                      <a:schemeClr val="accent5">
                        <a:lumMod val="20000"/>
                        <a:lumOff val="80000"/>
                      </a:schemeClr>
                    </a:solidFill>
                  </a:tcPr>
                </a:tc>
                <a:extLst>
                  <a:ext uri="{0D108BD9-81ED-4DB2-BD59-A6C34878D82A}">
                    <a16:rowId xmlns:a16="http://schemas.microsoft.com/office/drawing/2014/main" val="1276261768"/>
                  </a:ext>
                </a:extLst>
              </a:tr>
              <a:tr h="0">
                <a:tc>
                  <a:txBody>
                    <a:bodyPr/>
                    <a:lstStyle/>
                    <a:p>
                      <a:pPr>
                        <a:lnSpc>
                          <a:spcPct val="150000"/>
                        </a:lnSpc>
                        <a:buNone/>
                      </a:pPr>
                      <a:r>
                        <a:rPr lang="en-US" sz="2800">
                          <a:latin typeface="Calibir"/>
                        </a:rPr>
                        <a:t>Easy MCQs</a:t>
                      </a:r>
                    </a:p>
                  </a:txBody>
                  <a:tcPr anchor="ctr"/>
                </a:tc>
                <a:tc>
                  <a:txBody>
                    <a:bodyPr/>
                    <a:lstStyle/>
                    <a:p>
                      <a:pPr>
                        <a:lnSpc>
                          <a:spcPct val="150000"/>
                        </a:lnSpc>
                        <a:buNone/>
                      </a:pPr>
                      <a:r>
                        <a:rPr lang="en-US" sz="2800">
                          <a:latin typeface="Calibir"/>
                        </a:rPr>
                        <a:t>10 mins</a:t>
                      </a:r>
                    </a:p>
                  </a:txBody>
                  <a:tcPr anchor="ctr"/>
                </a:tc>
                <a:extLst>
                  <a:ext uri="{0D108BD9-81ED-4DB2-BD59-A6C34878D82A}">
                    <a16:rowId xmlns:a16="http://schemas.microsoft.com/office/drawing/2014/main" val="172065626"/>
                  </a:ext>
                </a:extLst>
              </a:tr>
              <a:tr h="0">
                <a:tc>
                  <a:txBody>
                    <a:bodyPr/>
                    <a:lstStyle/>
                    <a:p>
                      <a:pPr>
                        <a:lnSpc>
                          <a:spcPct val="150000"/>
                        </a:lnSpc>
                        <a:buNone/>
                      </a:pPr>
                      <a:r>
                        <a:rPr lang="en-US" sz="2800" dirty="0">
                          <a:latin typeface="Calibir"/>
                        </a:rPr>
                        <a:t>Medium questions</a:t>
                      </a:r>
                    </a:p>
                  </a:txBody>
                  <a:tcPr anchor="ctr"/>
                </a:tc>
                <a:tc>
                  <a:txBody>
                    <a:bodyPr/>
                    <a:lstStyle/>
                    <a:p>
                      <a:pPr>
                        <a:lnSpc>
                          <a:spcPct val="150000"/>
                        </a:lnSpc>
                        <a:buNone/>
                      </a:pPr>
                      <a:r>
                        <a:rPr lang="en-US" sz="2800">
                          <a:latin typeface="Calibir"/>
                        </a:rPr>
                        <a:t>10 mins</a:t>
                      </a:r>
                    </a:p>
                  </a:txBody>
                  <a:tcPr anchor="ctr"/>
                </a:tc>
                <a:extLst>
                  <a:ext uri="{0D108BD9-81ED-4DB2-BD59-A6C34878D82A}">
                    <a16:rowId xmlns:a16="http://schemas.microsoft.com/office/drawing/2014/main" val="508983396"/>
                  </a:ext>
                </a:extLst>
              </a:tr>
              <a:tr h="0">
                <a:tc>
                  <a:txBody>
                    <a:bodyPr/>
                    <a:lstStyle/>
                    <a:p>
                      <a:pPr>
                        <a:lnSpc>
                          <a:spcPct val="150000"/>
                        </a:lnSpc>
                        <a:buNone/>
                      </a:pPr>
                      <a:r>
                        <a:rPr lang="en-US" sz="2800">
                          <a:latin typeface="Calibir"/>
                        </a:rPr>
                        <a:t>Difficult questions</a:t>
                      </a:r>
                    </a:p>
                  </a:txBody>
                  <a:tcPr anchor="ctr"/>
                </a:tc>
                <a:tc>
                  <a:txBody>
                    <a:bodyPr/>
                    <a:lstStyle/>
                    <a:p>
                      <a:pPr>
                        <a:lnSpc>
                          <a:spcPct val="150000"/>
                        </a:lnSpc>
                        <a:buNone/>
                      </a:pPr>
                      <a:r>
                        <a:rPr lang="en-US" sz="2800">
                          <a:latin typeface="Calibir"/>
                        </a:rPr>
                        <a:t>5 mins</a:t>
                      </a:r>
                    </a:p>
                  </a:txBody>
                  <a:tcPr anchor="ctr"/>
                </a:tc>
                <a:extLst>
                  <a:ext uri="{0D108BD9-81ED-4DB2-BD59-A6C34878D82A}">
                    <a16:rowId xmlns:a16="http://schemas.microsoft.com/office/drawing/2014/main" val="4128946840"/>
                  </a:ext>
                </a:extLst>
              </a:tr>
              <a:tr h="0">
                <a:tc>
                  <a:txBody>
                    <a:bodyPr/>
                    <a:lstStyle/>
                    <a:p>
                      <a:pPr>
                        <a:lnSpc>
                          <a:spcPct val="150000"/>
                        </a:lnSpc>
                        <a:buNone/>
                      </a:pPr>
                      <a:r>
                        <a:rPr lang="en-US" sz="2800">
                          <a:latin typeface="Calibir"/>
                        </a:rPr>
                        <a:t>Final review</a:t>
                      </a:r>
                    </a:p>
                  </a:txBody>
                  <a:tcPr anchor="ctr"/>
                </a:tc>
                <a:tc>
                  <a:txBody>
                    <a:bodyPr/>
                    <a:lstStyle/>
                    <a:p>
                      <a:pPr>
                        <a:lnSpc>
                          <a:spcPct val="150000"/>
                        </a:lnSpc>
                        <a:buNone/>
                      </a:pPr>
                      <a:r>
                        <a:rPr lang="en-US" sz="2800" dirty="0">
                          <a:latin typeface="Calibir"/>
                        </a:rPr>
                        <a:t>5 mins</a:t>
                      </a:r>
                    </a:p>
                  </a:txBody>
                  <a:tcPr anchor="ctr"/>
                </a:tc>
                <a:extLst>
                  <a:ext uri="{0D108BD9-81ED-4DB2-BD59-A6C34878D82A}">
                    <a16:rowId xmlns:a16="http://schemas.microsoft.com/office/drawing/2014/main" val="2381083725"/>
                  </a:ext>
                </a:extLst>
              </a:tr>
            </a:tbl>
          </a:graphicData>
        </a:graphic>
      </p:graphicFrame>
      <p:sp>
        <p:nvSpPr>
          <p:cNvPr id="5" name="TextBox 4">
            <a:extLst>
              <a:ext uri="{FF2B5EF4-FFF2-40B4-BE49-F238E27FC236}">
                <a16:creationId xmlns:a16="http://schemas.microsoft.com/office/drawing/2014/main" id="{A5C3C9F5-03A8-39DF-301B-009A896F41D9}"/>
              </a:ext>
            </a:extLst>
          </p:cNvPr>
          <p:cNvSpPr txBox="1"/>
          <p:nvPr/>
        </p:nvSpPr>
        <p:spPr>
          <a:xfrm>
            <a:off x="0" y="1061572"/>
            <a:ext cx="6179574" cy="523220"/>
          </a:xfrm>
          <a:prstGeom prst="rect">
            <a:avLst/>
          </a:prstGeom>
          <a:noFill/>
        </p:spPr>
        <p:txBody>
          <a:bodyPr wrap="square">
            <a:spAutoFit/>
          </a:bodyPr>
          <a:lstStyle/>
          <a:p>
            <a:pPr>
              <a:buNone/>
            </a:pPr>
            <a:r>
              <a:rPr lang="en-US" sz="2800" b="1" dirty="0">
                <a:latin typeface="Calibir"/>
              </a:rPr>
              <a:t>Recommended Strategy</a:t>
            </a:r>
          </a:p>
        </p:txBody>
      </p:sp>
    </p:spTree>
    <p:extLst>
      <p:ext uri="{BB962C8B-B14F-4D97-AF65-F5344CB8AC3E}">
        <p14:creationId xmlns:p14="http://schemas.microsoft.com/office/powerpoint/2010/main" val="1150954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6B49-EB7F-5419-0A20-8EB8FF5CC5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286D6F-0B1F-4BDE-1026-5DB9EB7EE05D}"/>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Common Mistakes to Avoid</a:t>
            </a:r>
          </a:p>
        </p:txBody>
      </p:sp>
      <p:sp>
        <p:nvSpPr>
          <p:cNvPr id="5" name="TextBox 4">
            <a:extLst>
              <a:ext uri="{FF2B5EF4-FFF2-40B4-BE49-F238E27FC236}">
                <a16:creationId xmlns:a16="http://schemas.microsoft.com/office/drawing/2014/main" id="{4ECFF693-E674-63F4-C69B-4AEBF74BD580}"/>
              </a:ext>
            </a:extLst>
          </p:cNvPr>
          <p:cNvSpPr txBox="1"/>
          <p:nvPr/>
        </p:nvSpPr>
        <p:spPr>
          <a:xfrm>
            <a:off x="0" y="1061572"/>
            <a:ext cx="6179574" cy="5842497"/>
          </a:xfrm>
          <a:prstGeom prst="rect">
            <a:avLst/>
          </a:prstGeom>
          <a:noFill/>
        </p:spPr>
        <p:txBody>
          <a:bodyPr wrap="square">
            <a:spAutoFit/>
          </a:bodyPr>
          <a:lstStyle/>
          <a:p>
            <a:pPr>
              <a:lnSpc>
                <a:spcPct val="150000"/>
              </a:lnSpc>
            </a:pPr>
            <a:r>
              <a:rPr lang="en-US" sz="2800" b="1" dirty="0">
                <a:latin typeface="Calibir"/>
              </a:rPr>
              <a:t>Avoid These Problems</a:t>
            </a:r>
          </a:p>
          <a:p>
            <a:pPr>
              <a:lnSpc>
                <a:spcPct val="150000"/>
              </a:lnSpc>
            </a:pPr>
            <a:r>
              <a:rPr lang="en-US" sz="2800" b="1" dirty="0">
                <a:latin typeface="Calibir"/>
              </a:rPr>
              <a:t>Do NOT:</a:t>
            </a:r>
          </a:p>
          <a:p>
            <a:pPr marL="914400" lvl="1" indent="-457200">
              <a:lnSpc>
                <a:spcPct val="150000"/>
              </a:lnSpc>
              <a:buFont typeface="Arial" panose="020B0604020202020204" pitchFamily="34" charset="0"/>
              <a:buChar char="•"/>
            </a:pPr>
            <a:r>
              <a:rPr lang="en-US" sz="2800" dirty="0">
                <a:latin typeface="Calibir"/>
              </a:rPr>
              <a:t>study only one day before, </a:t>
            </a:r>
          </a:p>
          <a:p>
            <a:pPr marL="914400" lvl="1" indent="-457200">
              <a:lnSpc>
                <a:spcPct val="150000"/>
              </a:lnSpc>
              <a:buFont typeface="Arial" panose="020B0604020202020204" pitchFamily="34" charset="0"/>
              <a:buChar char="•"/>
            </a:pPr>
            <a:r>
              <a:rPr lang="en-US" sz="2800" dirty="0">
                <a:latin typeface="Calibir"/>
              </a:rPr>
              <a:t>memorize without understanding, </a:t>
            </a:r>
          </a:p>
          <a:p>
            <a:pPr marL="914400" lvl="1" indent="-457200">
              <a:lnSpc>
                <a:spcPct val="150000"/>
              </a:lnSpc>
              <a:buFont typeface="Arial" panose="020B0604020202020204" pitchFamily="34" charset="0"/>
              <a:buChar char="•"/>
            </a:pPr>
            <a:r>
              <a:rPr lang="en-US" sz="2800" dirty="0">
                <a:latin typeface="Calibir"/>
              </a:rPr>
              <a:t>skip tutorials, </a:t>
            </a:r>
          </a:p>
          <a:p>
            <a:pPr marL="914400" lvl="1" indent="-457200">
              <a:lnSpc>
                <a:spcPct val="150000"/>
              </a:lnSpc>
              <a:buFont typeface="Arial" panose="020B0604020202020204" pitchFamily="34" charset="0"/>
              <a:buChar char="•"/>
            </a:pPr>
            <a:r>
              <a:rPr lang="en-US" sz="2800" dirty="0">
                <a:latin typeface="Calibir"/>
              </a:rPr>
              <a:t>leave assignments late, </a:t>
            </a:r>
          </a:p>
          <a:p>
            <a:pPr marL="914400" lvl="1" indent="-457200">
              <a:lnSpc>
                <a:spcPct val="150000"/>
              </a:lnSpc>
              <a:buFont typeface="Arial" panose="020B0604020202020204" pitchFamily="34" charset="0"/>
              <a:buChar char="•"/>
            </a:pPr>
            <a:r>
              <a:rPr lang="en-US" sz="2800" dirty="0">
                <a:latin typeface="Calibir"/>
              </a:rPr>
              <a:t>ignore HTML practice, </a:t>
            </a:r>
          </a:p>
          <a:p>
            <a:pPr marL="914400" lvl="1" indent="-457200">
              <a:lnSpc>
                <a:spcPct val="150000"/>
              </a:lnSpc>
              <a:buFont typeface="Arial" panose="020B0604020202020204" pitchFamily="34" charset="0"/>
              <a:buChar char="•"/>
            </a:pPr>
            <a:r>
              <a:rPr lang="en-US" sz="2800" dirty="0">
                <a:latin typeface="Calibir"/>
              </a:rPr>
              <a:t>use mobile devices for tests, </a:t>
            </a:r>
          </a:p>
          <a:p>
            <a:pPr marL="914400" lvl="1" indent="-457200">
              <a:lnSpc>
                <a:spcPct val="150000"/>
              </a:lnSpc>
              <a:buFont typeface="Arial" panose="020B0604020202020204" pitchFamily="34" charset="0"/>
              <a:buChar char="•"/>
            </a:pPr>
            <a:r>
              <a:rPr lang="en-US" sz="2800" dirty="0">
                <a:latin typeface="Calibir"/>
              </a:rPr>
              <a:t>use weak internet.</a:t>
            </a:r>
          </a:p>
        </p:txBody>
      </p:sp>
    </p:spTree>
    <p:extLst>
      <p:ext uri="{BB962C8B-B14F-4D97-AF65-F5344CB8AC3E}">
        <p14:creationId xmlns:p14="http://schemas.microsoft.com/office/powerpoint/2010/main" val="28070372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1090-293B-7CC2-F7F1-107E5857F9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5C2CAF-4E16-F7E5-147F-C75E3280114A}"/>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Group Assignment Advice</a:t>
            </a:r>
          </a:p>
        </p:txBody>
      </p:sp>
      <p:sp>
        <p:nvSpPr>
          <p:cNvPr id="5" name="TextBox 4">
            <a:extLst>
              <a:ext uri="{FF2B5EF4-FFF2-40B4-BE49-F238E27FC236}">
                <a16:creationId xmlns:a16="http://schemas.microsoft.com/office/drawing/2014/main" id="{E5CA5988-58E8-4BD2-3920-4910BA40A2F0}"/>
              </a:ext>
            </a:extLst>
          </p:cNvPr>
          <p:cNvSpPr txBox="1"/>
          <p:nvPr/>
        </p:nvSpPr>
        <p:spPr>
          <a:xfrm>
            <a:off x="0" y="1061572"/>
            <a:ext cx="6179574" cy="1964512"/>
          </a:xfrm>
          <a:prstGeom prst="rect">
            <a:avLst/>
          </a:prstGeom>
          <a:noFill/>
        </p:spPr>
        <p:txBody>
          <a:bodyPr wrap="square">
            <a:spAutoFit/>
          </a:bodyPr>
          <a:lstStyle/>
          <a:p>
            <a:pPr>
              <a:lnSpc>
                <a:spcPct val="150000"/>
              </a:lnSpc>
            </a:pPr>
            <a:r>
              <a:rPr lang="en-US" sz="2800" dirty="0">
                <a:latin typeface="Calibir"/>
              </a:rPr>
              <a:t>The group assignment is worth:</a:t>
            </a:r>
          </a:p>
          <a:p>
            <a:pPr>
              <a:lnSpc>
                <a:spcPct val="150000"/>
              </a:lnSpc>
            </a:pPr>
            <a:r>
              <a:rPr lang="en-US" sz="2800" b="1" dirty="0">
                <a:latin typeface="Calibir"/>
              </a:rPr>
              <a:t>60%</a:t>
            </a:r>
          </a:p>
          <a:p>
            <a:pPr>
              <a:lnSpc>
                <a:spcPct val="150000"/>
              </a:lnSpc>
            </a:pPr>
            <a:r>
              <a:rPr lang="en-US" sz="2800" dirty="0">
                <a:latin typeface="Calibir"/>
              </a:rPr>
              <a:t>Start early.</a:t>
            </a:r>
          </a:p>
        </p:txBody>
      </p:sp>
    </p:spTree>
    <p:extLst>
      <p:ext uri="{BB962C8B-B14F-4D97-AF65-F5344CB8AC3E}">
        <p14:creationId xmlns:p14="http://schemas.microsoft.com/office/powerpoint/2010/main" val="25965849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EE4C-D899-39C3-52F1-C8A532062C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E52295-6331-1574-F538-76627F31FB88}"/>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Good Team Practices</a:t>
            </a:r>
          </a:p>
        </p:txBody>
      </p:sp>
      <p:graphicFrame>
        <p:nvGraphicFramePr>
          <p:cNvPr id="2" name="Table 1">
            <a:extLst>
              <a:ext uri="{FF2B5EF4-FFF2-40B4-BE49-F238E27FC236}">
                <a16:creationId xmlns:a16="http://schemas.microsoft.com/office/drawing/2014/main" id="{6B1BD77C-FDB1-8356-2257-101BF6D815D4}"/>
              </a:ext>
            </a:extLst>
          </p:cNvPr>
          <p:cNvGraphicFramePr>
            <a:graphicFrameLocks noGrp="1"/>
          </p:cNvGraphicFramePr>
          <p:nvPr>
            <p:extLst>
              <p:ext uri="{D42A27DB-BD31-4B8C-83A1-F6EECF244321}">
                <p14:modId xmlns:p14="http://schemas.microsoft.com/office/powerpoint/2010/main" val="3245398937"/>
              </p:ext>
            </p:extLst>
          </p:nvPr>
        </p:nvGraphicFramePr>
        <p:xfrm>
          <a:off x="838200" y="2577886"/>
          <a:ext cx="10515600" cy="3326765"/>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1805604677"/>
                    </a:ext>
                  </a:extLst>
                </a:gridCol>
                <a:gridCol w="5257800">
                  <a:extLst>
                    <a:ext uri="{9D8B030D-6E8A-4147-A177-3AD203B41FA5}">
                      <a16:colId xmlns:a16="http://schemas.microsoft.com/office/drawing/2014/main" val="2867810112"/>
                    </a:ext>
                  </a:extLst>
                </a:gridCol>
              </a:tblGrid>
              <a:tr h="0">
                <a:tc>
                  <a:txBody>
                    <a:bodyPr/>
                    <a:lstStyle/>
                    <a:p>
                      <a:pPr>
                        <a:lnSpc>
                          <a:spcPct val="150000"/>
                        </a:lnSpc>
                        <a:buNone/>
                      </a:pPr>
                      <a:r>
                        <a:rPr lang="en-US" sz="2800" dirty="0">
                          <a:latin typeface="Calibir"/>
                        </a:rPr>
                        <a:t>Student</a:t>
                      </a:r>
                    </a:p>
                  </a:txBody>
                  <a:tcPr anchor="ctr">
                    <a:solidFill>
                      <a:schemeClr val="accent5">
                        <a:lumMod val="20000"/>
                        <a:lumOff val="80000"/>
                      </a:schemeClr>
                    </a:solidFill>
                  </a:tcPr>
                </a:tc>
                <a:tc>
                  <a:txBody>
                    <a:bodyPr/>
                    <a:lstStyle/>
                    <a:p>
                      <a:pPr>
                        <a:lnSpc>
                          <a:spcPct val="150000"/>
                        </a:lnSpc>
                        <a:buNone/>
                      </a:pPr>
                      <a:r>
                        <a:rPr lang="en-US" sz="2800" dirty="0">
                          <a:latin typeface="Calibir"/>
                        </a:rPr>
                        <a:t>Responsibility</a:t>
                      </a:r>
                    </a:p>
                  </a:txBody>
                  <a:tcPr anchor="ctr">
                    <a:solidFill>
                      <a:schemeClr val="accent5">
                        <a:lumMod val="20000"/>
                        <a:lumOff val="80000"/>
                      </a:schemeClr>
                    </a:solidFill>
                  </a:tcPr>
                </a:tc>
                <a:extLst>
                  <a:ext uri="{0D108BD9-81ED-4DB2-BD59-A6C34878D82A}">
                    <a16:rowId xmlns:a16="http://schemas.microsoft.com/office/drawing/2014/main" val="3348704675"/>
                  </a:ext>
                </a:extLst>
              </a:tr>
              <a:tr h="0">
                <a:tc>
                  <a:txBody>
                    <a:bodyPr/>
                    <a:lstStyle/>
                    <a:p>
                      <a:pPr>
                        <a:lnSpc>
                          <a:spcPct val="150000"/>
                        </a:lnSpc>
                        <a:buNone/>
                      </a:pPr>
                      <a:r>
                        <a:rPr lang="en-US" sz="2800">
                          <a:latin typeface="Calibir"/>
                        </a:rPr>
                        <a:t>Student 1</a:t>
                      </a:r>
                    </a:p>
                  </a:txBody>
                  <a:tcPr anchor="ctr"/>
                </a:tc>
                <a:tc>
                  <a:txBody>
                    <a:bodyPr/>
                    <a:lstStyle/>
                    <a:p>
                      <a:pPr>
                        <a:lnSpc>
                          <a:spcPct val="150000"/>
                        </a:lnSpc>
                        <a:buNone/>
                      </a:pPr>
                      <a:r>
                        <a:rPr lang="en-US" sz="2800">
                          <a:latin typeface="Calibir"/>
                        </a:rPr>
                        <a:t>HTML</a:t>
                      </a:r>
                    </a:p>
                  </a:txBody>
                  <a:tcPr anchor="ctr"/>
                </a:tc>
                <a:extLst>
                  <a:ext uri="{0D108BD9-81ED-4DB2-BD59-A6C34878D82A}">
                    <a16:rowId xmlns:a16="http://schemas.microsoft.com/office/drawing/2014/main" val="2883889170"/>
                  </a:ext>
                </a:extLst>
              </a:tr>
              <a:tr h="0">
                <a:tc>
                  <a:txBody>
                    <a:bodyPr/>
                    <a:lstStyle/>
                    <a:p>
                      <a:pPr>
                        <a:lnSpc>
                          <a:spcPct val="150000"/>
                        </a:lnSpc>
                        <a:buNone/>
                      </a:pPr>
                      <a:r>
                        <a:rPr lang="en-US" sz="2800">
                          <a:latin typeface="Calibir"/>
                        </a:rPr>
                        <a:t>Student 2</a:t>
                      </a:r>
                    </a:p>
                  </a:txBody>
                  <a:tcPr anchor="ctr"/>
                </a:tc>
                <a:tc>
                  <a:txBody>
                    <a:bodyPr/>
                    <a:lstStyle/>
                    <a:p>
                      <a:pPr>
                        <a:lnSpc>
                          <a:spcPct val="150000"/>
                        </a:lnSpc>
                        <a:buNone/>
                      </a:pPr>
                      <a:r>
                        <a:rPr lang="en-US" sz="2800">
                          <a:latin typeface="Calibir"/>
                        </a:rPr>
                        <a:t>CSS</a:t>
                      </a:r>
                    </a:p>
                  </a:txBody>
                  <a:tcPr anchor="ctr"/>
                </a:tc>
                <a:extLst>
                  <a:ext uri="{0D108BD9-81ED-4DB2-BD59-A6C34878D82A}">
                    <a16:rowId xmlns:a16="http://schemas.microsoft.com/office/drawing/2014/main" val="2483794161"/>
                  </a:ext>
                </a:extLst>
              </a:tr>
              <a:tr h="0">
                <a:tc>
                  <a:txBody>
                    <a:bodyPr/>
                    <a:lstStyle/>
                    <a:p>
                      <a:pPr>
                        <a:lnSpc>
                          <a:spcPct val="150000"/>
                        </a:lnSpc>
                        <a:buNone/>
                      </a:pPr>
                      <a:r>
                        <a:rPr lang="en-US" sz="2800">
                          <a:latin typeface="Calibir"/>
                        </a:rPr>
                        <a:t>Student 3</a:t>
                      </a:r>
                    </a:p>
                  </a:txBody>
                  <a:tcPr anchor="ctr"/>
                </a:tc>
                <a:tc>
                  <a:txBody>
                    <a:bodyPr/>
                    <a:lstStyle/>
                    <a:p>
                      <a:pPr>
                        <a:lnSpc>
                          <a:spcPct val="150000"/>
                        </a:lnSpc>
                        <a:buNone/>
                      </a:pPr>
                      <a:r>
                        <a:rPr lang="en-US" sz="2800">
                          <a:latin typeface="Calibir"/>
                        </a:rPr>
                        <a:t>Images</a:t>
                      </a:r>
                    </a:p>
                  </a:txBody>
                  <a:tcPr anchor="ctr"/>
                </a:tc>
                <a:extLst>
                  <a:ext uri="{0D108BD9-81ED-4DB2-BD59-A6C34878D82A}">
                    <a16:rowId xmlns:a16="http://schemas.microsoft.com/office/drawing/2014/main" val="2659924690"/>
                  </a:ext>
                </a:extLst>
              </a:tr>
              <a:tr h="0">
                <a:tc>
                  <a:txBody>
                    <a:bodyPr/>
                    <a:lstStyle/>
                    <a:p>
                      <a:pPr>
                        <a:lnSpc>
                          <a:spcPct val="150000"/>
                        </a:lnSpc>
                        <a:buNone/>
                      </a:pPr>
                      <a:r>
                        <a:rPr lang="en-US" sz="2800">
                          <a:latin typeface="Calibir"/>
                        </a:rPr>
                        <a:t>Student 4</a:t>
                      </a:r>
                    </a:p>
                  </a:txBody>
                  <a:tcPr anchor="ctr"/>
                </a:tc>
                <a:tc>
                  <a:txBody>
                    <a:bodyPr/>
                    <a:lstStyle/>
                    <a:p>
                      <a:pPr>
                        <a:lnSpc>
                          <a:spcPct val="150000"/>
                        </a:lnSpc>
                        <a:buNone/>
                      </a:pPr>
                      <a:r>
                        <a:rPr lang="en-US" sz="2800" dirty="0">
                          <a:latin typeface="Calibir"/>
                        </a:rPr>
                        <a:t>Testing</a:t>
                      </a:r>
                    </a:p>
                  </a:txBody>
                  <a:tcPr anchor="ctr"/>
                </a:tc>
                <a:extLst>
                  <a:ext uri="{0D108BD9-81ED-4DB2-BD59-A6C34878D82A}">
                    <a16:rowId xmlns:a16="http://schemas.microsoft.com/office/drawing/2014/main" val="747180432"/>
                  </a:ext>
                </a:extLst>
              </a:tr>
            </a:tbl>
          </a:graphicData>
        </a:graphic>
      </p:graphicFrame>
      <p:sp>
        <p:nvSpPr>
          <p:cNvPr id="6" name="TextBox 5">
            <a:extLst>
              <a:ext uri="{FF2B5EF4-FFF2-40B4-BE49-F238E27FC236}">
                <a16:creationId xmlns:a16="http://schemas.microsoft.com/office/drawing/2014/main" id="{9F2F5203-B4A9-5318-A70E-CAC0A28082C1}"/>
              </a:ext>
            </a:extLst>
          </p:cNvPr>
          <p:cNvSpPr txBox="1"/>
          <p:nvPr/>
        </p:nvSpPr>
        <p:spPr>
          <a:xfrm>
            <a:off x="0" y="953349"/>
            <a:ext cx="6179574" cy="1318181"/>
          </a:xfrm>
          <a:prstGeom prst="rect">
            <a:avLst/>
          </a:prstGeom>
          <a:noFill/>
        </p:spPr>
        <p:txBody>
          <a:bodyPr wrap="square">
            <a:spAutoFit/>
          </a:bodyPr>
          <a:lstStyle/>
          <a:p>
            <a:pPr>
              <a:lnSpc>
                <a:spcPct val="150000"/>
              </a:lnSpc>
              <a:buNone/>
            </a:pPr>
            <a:r>
              <a:rPr lang="en-US" sz="2800" b="1" dirty="0">
                <a:latin typeface="Calibir"/>
              </a:rPr>
              <a:t>Divide Tasks</a:t>
            </a:r>
          </a:p>
          <a:p>
            <a:pPr>
              <a:lnSpc>
                <a:spcPct val="150000"/>
              </a:lnSpc>
              <a:buNone/>
            </a:pPr>
            <a:r>
              <a:rPr lang="en-US" sz="2800" dirty="0">
                <a:latin typeface="Calibir"/>
              </a:rPr>
              <a:t>Example:</a:t>
            </a:r>
          </a:p>
        </p:txBody>
      </p:sp>
    </p:spTree>
    <p:extLst>
      <p:ext uri="{BB962C8B-B14F-4D97-AF65-F5344CB8AC3E}">
        <p14:creationId xmlns:p14="http://schemas.microsoft.com/office/powerpoint/2010/main" val="4443924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3618-F3F9-7AF6-CC14-63CF17B724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4B1DD5-F9CB-901F-1DFD-391D7FE265DF}"/>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Web Design Best Practices</a:t>
            </a:r>
          </a:p>
        </p:txBody>
      </p:sp>
      <p:sp>
        <p:nvSpPr>
          <p:cNvPr id="6" name="TextBox 5">
            <a:extLst>
              <a:ext uri="{FF2B5EF4-FFF2-40B4-BE49-F238E27FC236}">
                <a16:creationId xmlns:a16="http://schemas.microsoft.com/office/drawing/2014/main" id="{9BF69D40-6797-AFFA-F529-2E4D413E1617}"/>
              </a:ext>
            </a:extLst>
          </p:cNvPr>
          <p:cNvSpPr txBox="1"/>
          <p:nvPr/>
        </p:nvSpPr>
        <p:spPr>
          <a:xfrm>
            <a:off x="0" y="953349"/>
            <a:ext cx="6179574" cy="3903504"/>
          </a:xfrm>
          <a:prstGeom prst="rect">
            <a:avLst/>
          </a:prstGeom>
          <a:noFill/>
        </p:spPr>
        <p:txBody>
          <a:bodyPr wrap="square">
            <a:spAutoFit/>
          </a:bodyPr>
          <a:lstStyle/>
          <a:p>
            <a:pPr>
              <a:lnSpc>
                <a:spcPct val="150000"/>
              </a:lnSpc>
            </a:pPr>
            <a:r>
              <a:rPr lang="en-US" sz="2800" dirty="0">
                <a:latin typeface="Calibir"/>
              </a:rPr>
              <a:t>Students should:</a:t>
            </a:r>
          </a:p>
          <a:p>
            <a:pPr marL="914400" lvl="1" indent="-457200">
              <a:lnSpc>
                <a:spcPct val="150000"/>
              </a:lnSpc>
              <a:buFont typeface="Arial" panose="020B0604020202020204" pitchFamily="34" charset="0"/>
              <a:buChar char="•"/>
            </a:pPr>
            <a:r>
              <a:rPr lang="en-US" sz="2800" dirty="0">
                <a:latin typeface="Calibir"/>
              </a:rPr>
              <a:t>keep layouts simple, </a:t>
            </a:r>
          </a:p>
          <a:p>
            <a:pPr marL="914400" lvl="1" indent="-457200">
              <a:lnSpc>
                <a:spcPct val="150000"/>
              </a:lnSpc>
              <a:buFont typeface="Arial" panose="020B0604020202020204" pitchFamily="34" charset="0"/>
              <a:buChar char="•"/>
            </a:pPr>
            <a:r>
              <a:rPr lang="en-US" sz="2800" dirty="0">
                <a:latin typeface="Calibir"/>
              </a:rPr>
              <a:t>use readable fonts, </a:t>
            </a:r>
          </a:p>
          <a:p>
            <a:pPr marL="914400" lvl="1" indent="-457200">
              <a:lnSpc>
                <a:spcPct val="150000"/>
              </a:lnSpc>
              <a:buFont typeface="Arial" panose="020B0604020202020204" pitchFamily="34" charset="0"/>
              <a:buChar char="•"/>
            </a:pPr>
            <a:r>
              <a:rPr lang="en-US" sz="2800" dirty="0">
                <a:latin typeface="Calibir"/>
              </a:rPr>
              <a:t>maintain clean navigation, </a:t>
            </a:r>
          </a:p>
          <a:p>
            <a:pPr marL="914400" lvl="1" indent="-457200">
              <a:lnSpc>
                <a:spcPct val="150000"/>
              </a:lnSpc>
              <a:buFont typeface="Arial" panose="020B0604020202020204" pitchFamily="34" charset="0"/>
              <a:buChar char="•"/>
            </a:pPr>
            <a:r>
              <a:rPr lang="en-US" sz="2800" dirty="0">
                <a:latin typeface="Calibir"/>
              </a:rPr>
              <a:t>use proper spacing, </a:t>
            </a:r>
          </a:p>
          <a:p>
            <a:pPr marL="914400" lvl="1" indent="-457200">
              <a:lnSpc>
                <a:spcPct val="150000"/>
              </a:lnSpc>
              <a:buFont typeface="Arial" panose="020B0604020202020204" pitchFamily="34" charset="0"/>
              <a:buChar char="•"/>
            </a:pPr>
            <a:r>
              <a:rPr lang="en-US" sz="2800" dirty="0">
                <a:latin typeface="Calibir"/>
              </a:rPr>
              <a:t>test websites in multiple browsers.</a:t>
            </a:r>
          </a:p>
        </p:txBody>
      </p:sp>
    </p:spTree>
    <p:extLst>
      <p:ext uri="{BB962C8B-B14F-4D97-AF65-F5344CB8AC3E}">
        <p14:creationId xmlns:p14="http://schemas.microsoft.com/office/powerpoint/2010/main" val="10752578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4D15-9D26-6983-486A-FDCBC2A219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19DCBE-F85B-884E-25F3-58B385822491}"/>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Accessibility Tips</a:t>
            </a:r>
          </a:p>
        </p:txBody>
      </p:sp>
      <p:sp>
        <p:nvSpPr>
          <p:cNvPr id="6" name="TextBox 5">
            <a:extLst>
              <a:ext uri="{FF2B5EF4-FFF2-40B4-BE49-F238E27FC236}">
                <a16:creationId xmlns:a16="http://schemas.microsoft.com/office/drawing/2014/main" id="{5C4557D6-AB22-5520-247A-43B509FE385F}"/>
              </a:ext>
            </a:extLst>
          </p:cNvPr>
          <p:cNvSpPr txBox="1"/>
          <p:nvPr/>
        </p:nvSpPr>
        <p:spPr>
          <a:xfrm>
            <a:off x="0" y="953349"/>
            <a:ext cx="6179574" cy="3257174"/>
          </a:xfrm>
          <a:prstGeom prst="rect">
            <a:avLst/>
          </a:prstGeom>
          <a:noFill/>
        </p:spPr>
        <p:txBody>
          <a:bodyPr wrap="square">
            <a:spAutoFit/>
          </a:bodyPr>
          <a:lstStyle/>
          <a:p>
            <a:pPr>
              <a:lnSpc>
                <a:spcPct val="150000"/>
              </a:lnSpc>
            </a:pPr>
            <a:r>
              <a:rPr lang="en-US" sz="2800" dirty="0">
                <a:latin typeface="Calibir"/>
              </a:rPr>
              <a:t>Good websites should:</a:t>
            </a:r>
          </a:p>
          <a:p>
            <a:pPr marL="914400" lvl="1" indent="-457200">
              <a:lnSpc>
                <a:spcPct val="150000"/>
              </a:lnSpc>
              <a:buFont typeface="Arial" panose="020B0604020202020204" pitchFamily="34" charset="0"/>
              <a:buChar char="•"/>
            </a:pPr>
            <a:r>
              <a:rPr lang="en-US" sz="2800" dirty="0">
                <a:latin typeface="Calibir"/>
              </a:rPr>
              <a:t>work for all users, </a:t>
            </a:r>
          </a:p>
          <a:p>
            <a:pPr marL="914400" lvl="1" indent="-457200">
              <a:lnSpc>
                <a:spcPct val="150000"/>
              </a:lnSpc>
              <a:buFont typeface="Arial" panose="020B0604020202020204" pitchFamily="34" charset="0"/>
              <a:buChar char="•"/>
            </a:pPr>
            <a:r>
              <a:rPr lang="en-US" sz="2800" dirty="0">
                <a:latin typeface="Calibir"/>
              </a:rPr>
              <a:t>include readable text, </a:t>
            </a:r>
          </a:p>
          <a:p>
            <a:pPr marL="914400" lvl="1" indent="-457200">
              <a:lnSpc>
                <a:spcPct val="150000"/>
              </a:lnSpc>
              <a:buFont typeface="Arial" panose="020B0604020202020204" pitchFamily="34" charset="0"/>
              <a:buChar char="•"/>
            </a:pPr>
            <a:r>
              <a:rPr lang="en-US" sz="2800" dirty="0">
                <a:latin typeface="Calibir"/>
              </a:rPr>
              <a:t>use proper contrast, </a:t>
            </a:r>
          </a:p>
          <a:p>
            <a:pPr marL="914400" lvl="1" indent="-457200">
              <a:lnSpc>
                <a:spcPct val="150000"/>
              </a:lnSpc>
              <a:buFont typeface="Arial" panose="020B0604020202020204" pitchFamily="34" charset="0"/>
              <a:buChar char="•"/>
            </a:pPr>
            <a:r>
              <a:rPr lang="en-US" sz="2800" dirty="0">
                <a:latin typeface="Calibir"/>
              </a:rPr>
              <a:t>support different devices.</a:t>
            </a:r>
          </a:p>
        </p:txBody>
      </p:sp>
    </p:spTree>
    <p:extLst>
      <p:ext uri="{BB962C8B-B14F-4D97-AF65-F5344CB8AC3E}">
        <p14:creationId xmlns:p14="http://schemas.microsoft.com/office/powerpoint/2010/main" val="16912055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A5D4B-59A2-B506-10D5-AC3788EAAC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7758A7-1E2D-C197-B3AE-0D4FCDF758B7}"/>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Recommended Software</a:t>
            </a:r>
          </a:p>
        </p:txBody>
      </p:sp>
      <p:sp>
        <p:nvSpPr>
          <p:cNvPr id="6" name="TextBox 5">
            <a:extLst>
              <a:ext uri="{FF2B5EF4-FFF2-40B4-BE49-F238E27FC236}">
                <a16:creationId xmlns:a16="http://schemas.microsoft.com/office/drawing/2014/main" id="{0E81AAF8-8E55-7958-9D0B-F4B8A28C33F8}"/>
              </a:ext>
            </a:extLst>
          </p:cNvPr>
          <p:cNvSpPr txBox="1"/>
          <p:nvPr/>
        </p:nvSpPr>
        <p:spPr>
          <a:xfrm>
            <a:off x="0" y="953349"/>
            <a:ext cx="6179574" cy="4549835"/>
          </a:xfrm>
          <a:prstGeom prst="rect">
            <a:avLst/>
          </a:prstGeom>
          <a:noFill/>
        </p:spPr>
        <p:txBody>
          <a:bodyPr wrap="square">
            <a:spAutoFit/>
          </a:bodyPr>
          <a:lstStyle/>
          <a:p>
            <a:pPr>
              <a:lnSpc>
                <a:spcPct val="150000"/>
              </a:lnSpc>
            </a:pPr>
            <a:r>
              <a:rPr lang="en-US" sz="2800" b="1" dirty="0">
                <a:latin typeface="Calibir"/>
              </a:rPr>
              <a:t>Best Code Editors</a:t>
            </a:r>
          </a:p>
          <a:p>
            <a:pPr marL="914400" lvl="1" indent="-457200">
              <a:lnSpc>
                <a:spcPct val="150000"/>
              </a:lnSpc>
              <a:buFont typeface="Arial" panose="020B0604020202020204" pitchFamily="34" charset="0"/>
              <a:buChar char="•"/>
            </a:pPr>
            <a:r>
              <a:rPr lang="en-US" sz="2800" dirty="0">
                <a:latin typeface="Calibir"/>
              </a:rPr>
              <a:t>Visual Studio Code </a:t>
            </a:r>
          </a:p>
          <a:p>
            <a:pPr marL="914400" lvl="1" indent="-457200">
              <a:lnSpc>
                <a:spcPct val="150000"/>
              </a:lnSpc>
              <a:buFont typeface="Arial" panose="020B0604020202020204" pitchFamily="34" charset="0"/>
              <a:buChar char="•"/>
            </a:pPr>
            <a:r>
              <a:rPr lang="en-US" sz="2800" dirty="0">
                <a:latin typeface="Calibir"/>
              </a:rPr>
              <a:t>Notepad++</a:t>
            </a:r>
          </a:p>
          <a:p>
            <a:pPr>
              <a:lnSpc>
                <a:spcPct val="150000"/>
              </a:lnSpc>
            </a:pPr>
            <a:r>
              <a:rPr lang="en-US" sz="2800" b="1" dirty="0">
                <a:latin typeface="Calibir"/>
              </a:rPr>
              <a:t>Browsers</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Chrome </a:t>
            </a:r>
          </a:p>
          <a:p>
            <a:pPr marL="914400" lvl="1" indent="-457200">
              <a:lnSpc>
                <a:spcPct val="150000"/>
              </a:lnSpc>
              <a:buFont typeface="Arial" panose="020B0604020202020204" pitchFamily="34" charset="0"/>
              <a:buChar char="•"/>
            </a:pPr>
            <a:r>
              <a:rPr lang="en-US" sz="2800" dirty="0">
                <a:latin typeface="Calibir"/>
              </a:rPr>
              <a:t>Firefox</a:t>
            </a:r>
          </a:p>
        </p:txBody>
      </p:sp>
    </p:spTree>
    <p:extLst>
      <p:ext uri="{BB962C8B-B14F-4D97-AF65-F5344CB8AC3E}">
        <p14:creationId xmlns:p14="http://schemas.microsoft.com/office/powerpoint/2010/main" val="675677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A3B2-415C-F22C-5B52-F615A3C403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00C262-EB57-19DB-E6A7-5EDFC602733F}"/>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Recommended Software</a:t>
            </a:r>
          </a:p>
        </p:txBody>
      </p:sp>
      <p:sp>
        <p:nvSpPr>
          <p:cNvPr id="6" name="TextBox 5">
            <a:extLst>
              <a:ext uri="{FF2B5EF4-FFF2-40B4-BE49-F238E27FC236}">
                <a16:creationId xmlns:a16="http://schemas.microsoft.com/office/drawing/2014/main" id="{B46D102C-49E6-3015-1425-049C193ADF6B}"/>
              </a:ext>
            </a:extLst>
          </p:cNvPr>
          <p:cNvSpPr txBox="1"/>
          <p:nvPr/>
        </p:nvSpPr>
        <p:spPr>
          <a:xfrm>
            <a:off x="0" y="628884"/>
            <a:ext cx="12192000" cy="4549835"/>
          </a:xfrm>
          <a:prstGeom prst="rect">
            <a:avLst/>
          </a:prstGeom>
          <a:noFill/>
        </p:spPr>
        <p:txBody>
          <a:bodyPr wrap="square">
            <a:spAutoFit/>
          </a:bodyPr>
          <a:lstStyle/>
          <a:p>
            <a:pPr>
              <a:lnSpc>
                <a:spcPct val="150000"/>
              </a:lnSpc>
            </a:pPr>
            <a:r>
              <a:rPr lang="en-US" sz="2800" b="1" dirty="0">
                <a:latin typeface="Calibir"/>
              </a:rPr>
              <a:t>Helpful Websites</a:t>
            </a:r>
          </a:p>
          <a:p>
            <a:pPr marL="914400" lvl="1" indent="-457200">
              <a:lnSpc>
                <a:spcPct val="150000"/>
              </a:lnSpc>
              <a:buFont typeface="Arial" panose="020B0604020202020204" pitchFamily="34" charset="0"/>
              <a:buChar char="•"/>
            </a:pPr>
            <a:r>
              <a:rPr lang="en-US" sz="2800" dirty="0">
                <a:latin typeface="Calibir"/>
              </a:rPr>
              <a:t>GitHub Farshid Keivanian </a:t>
            </a:r>
            <a:r>
              <a:rPr lang="en-US" sz="2800" dirty="0" err="1">
                <a:hlinkClick r:id="rId2"/>
              </a:rPr>
              <a:t>FarshidKeivanian</a:t>
            </a:r>
            <a:r>
              <a:rPr lang="en-US" sz="2800" dirty="0">
                <a:hlinkClick r:id="rId2"/>
              </a:rPr>
              <a:t>/</a:t>
            </a:r>
            <a:r>
              <a:rPr lang="en-US" sz="2800" dirty="0" err="1">
                <a:hlinkClick r:id="rId2"/>
              </a:rPr>
              <a:t>Sessions_Web_Development_HTML_CSS_Javascript_PHP</a:t>
            </a:r>
            <a:r>
              <a:rPr lang="en-US" sz="2800" dirty="0">
                <a:hlinkClick r:id="rId2"/>
              </a:rPr>
              <a:t>: Web design and development: HTML, CSS, JAVA</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W3Schools </a:t>
            </a:r>
          </a:p>
          <a:p>
            <a:pPr marL="914400" lvl="1" indent="-457200">
              <a:lnSpc>
                <a:spcPct val="150000"/>
              </a:lnSpc>
              <a:buFont typeface="Arial" panose="020B0604020202020204" pitchFamily="34" charset="0"/>
              <a:buChar char="•"/>
            </a:pPr>
            <a:r>
              <a:rPr lang="en-US" sz="2800" dirty="0">
                <a:latin typeface="Calibir"/>
              </a:rPr>
              <a:t>MDN Web Docs </a:t>
            </a:r>
          </a:p>
          <a:p>
            <a:pPr marL="914400" lvl="1" indent="-457200">
              <a:lnSpc>
                <a:spcPct val="150000"/>
              </a:lnSpc>
              <a:buFont typeface="Arial" panose="020B0604020202020204" pitchFamily="34" charset="0"/>
              <a:buChar char="•"/>
            </a:pPr>
            <a:r>
              <a:rPr lang="en-US" sz="2800" dirty="0">
                <a:latin typeface="Calibir"/>
              </a:rPr>
              <a:t>W3C Validator</a:t>
            </a:r>
          </a:p>
        </p:txBody>
      </p:sp>
      <p:pic>
        <p:nvPicPr>
          <p:cNvPr id="7" name="Picture 6">
            <a:extLst>
              <a:ext uri="{FF2B5EF4-FFF2-40B4-BE49-F238E27FC236}">
                <a16:creationId xmlns:a16="http://schemas.microsoft.com/office/drawing/2014/main" id="{403F5783-D4F9-9F6C-BB5A-80C8C9D036B0}"/>
              </a:ext>
            </a:extLst>
          </p:cNvPr>
          <p:cNvPicPr>
            <a:picLocks noChangeAspect="1"/>
          </p:cNvPicPr>
          <p:nvPr/>
        </p:nvPicPr>
        <p:blipFill>
          <a:blip r:embed="rId3"/>
          <a:srcRect b="6341"/>
          <a:stretch>
            <a:fillRect/>
          </a:stretch>
        </p:blipFill>
        <p:spPr>
          <a:xfrm>
            <a:off x="5683250" y="3429000"/>
            <a:ext cx="6508750" cy="3429000"/>
          </a:xfrm>
          <a:prstGeom prst="rect">
            <a:avLst/>
          </a:prstGeom>
          <a:ln>
            <a:solidFill>
              <a:srgbClr val="FF0000"/>
            </a:solidFill>
          </a:ln>
        </p:spPr>
      </p:pic>
    </p:spTree>
    <p:extLst>
      <p:ext uri="{BB962C8B-B14F-4D97-AF65-F5344CB8AC3E}">
        <p14:creationId xmlns:p14="http://schemas.microsoft.com/office/powerpoint/2010/main" val="14082826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7045-E280-03D6-9F6D-A3610DDA05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D295F7-03FF-A3AD-2DA3-23E7ECF64AB8}"/>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Final Success Advice</a:t>
            </a:r>
          </a:p>
        </p:txBody>
      </p:sp>
      <p:sp>
        <p:nvSpPr>
          <p:cNvPr id="6" name="TextBox 5">
            <a:extLst>
              <a:ext uri="{FF2B5EF4-FFF2-40B4-BE49-F238E27FC236}">
                <a16:creationId xmlns:a16="http://schemas.microsoft.com/office/drawing/2014/main" id="{938878B5-6D82-52DE-D6C3-5BF3FAB8B54A}"/>
              </a:ext>
            </a:extLst>
          </p:cNvPr>
          <p:cNvSpPr txBox="1"/>
          <p:nvPr/>
        </p:nvSpPr>
        <p:spPr>
          <a:xfrm>
            <a:off x="0" y="953349"/>
            <a:ext cx="6179574" cy="4549835"/>
          </a:xfrm>
          <a:prstGeom prst="rect">
            <a:avLst/>
          </a:prstGeom>
          <a:noFill/>
        </p:spPr>
        <p:txBody>
          <a:bodyPr wrap="square">
            <a:spAutoFit/>
          </a:bodyPr>
          <a:lstStyle/>
          <a:p>
            <a:pPr>
              <a:lnSpc>
                <a:spcPct val="150000"/>
              </a:lnSpc>
            </a:pPr>
            <a:r>
              <a:rPr lang="en-US" sz="2800" dirty="0">
                <a:latin typeface="Calibir"/>
              </a:rPr>
              <a:t>Students who succeed usually:</a:t>
            </a:r>
          </a:p>
          <a:p>
            <a:pPr marL="914400" lvl="1" indent="-457200">
              <a:lnSpc>
                <a:spcPct val="150000"/>
              </a:lnSpc>
              <a:buFont typeface="Arial" panose="020B0604020202020204" pitchFamily="34" charset="0"/>
              <a:buChar char="•"/>
            </a:pPr>
            <a:r>
              <a:rPr lang="en-US" sz="2800" dirty="0">
                <a:latin typeface="Calibir"/>
              </a:rPr>
              <a:t>attend every class, </a:t>
            </a:r>
          </a:p>
          <a:p>
            <a:pPr marL="914400" lvl="1" indent="-457200">
              <a:lnSpc>
                <a:spcPct val="150000"/>
              </a:lnSpc>
              <a:buFont typeface="Arial" panose="020B0604020202020204" pitchFamily="34" charset="0"/>
              <a:buChar char="•"/>
            </a:pPr>
            <a:r>
              <a:rPr lang="en-US" sz="2800" dirty="0" err="1">
                <a:latin typeface="Calibir"/>
              </a:rPr>
              <a:t>practise</a:t>
            </a:r>
            <a:r>
              <a:rPr lang="en-US" sz="2800" dirty="0">
                <a:latin typeface="Calibir"/>
              </a:rPr>
              <a:t> weekly, </a:t>
            </a:r>
          </a:p>
          <a:p>
            <a:pPr marL="914400" lvl="1" indent="-457200">
              <a:lnSpc>
                <a:spcPct val="150000"/>
              </a:lnSpc>
              <a:buFont typeface="Arial" panose="020B0604020202020204" pitchFamily="34" charset="0"/>
              <a:buChar char="•"/>
            </a:pPr>
            <a:r>
              <a:rPr lang="en-US" sz="2800" dirty="0">
                <a:latin typeface="Calibir"/>
              </a:rPr>
              <a:t>complete tutorials, </a:t>
            </a:r>
          </a:p>
          <a:p>
            <a:pPr marL="914400" lvl="1" indent="-457200">
              <a:lnSpc>
                <a:spcPct val="150000"/>
              </a:lnSpc>
              <a:buFont typeface="Arial" panose="020B0604020202020204" pitchFamily="34" charset="0"/>
              <a:buChar char="•"/>
            </a:pPr>
            <a:r>
              <a:rPr lang="en-US" sz="2800" dirty="0">
                <a:latin typeface="Calibir"/>
              </a:rPr>
              <a:t>start assessments early, </a:t>
            </a:r>
          </a:p>
          <a:p>
            <a:pPr marL="914400" lvl="1" indent="-457200">
              <a:lnSpc>
                <a:spcPct val="150000"/>
              </a:lnSpc>
              <a:buFont typeface="Arial" panose="020B0604020202020204" pitchFamily="34" charset="0"/>
              <a:buChar char="•"/>
            </a:pPr>
            <a:r>
              <a:rPr lang="en-US" sz="2800" dirty="0">
                <a:latin typeface="Calibir"/>
              </a:rPr>
              <a:t>ask questions, </a:t>
            </a:r>
          </a:p>
          <a:p>
            <a:pPr marL="914400" lvl="1" indent="-457200">
              <a:lnSpc>
                <a:spcPct val="150000"/>
              </a:lnSpc>
              <a:buFont typeface="Arial" panose="020B0604020202020204" pitchFamily="34" charset="0"/>
              <a:buChar char="•"/>
            </a:pPr>
            <a:r>
              <a:rPr lang="en-US" sz="2800" dirty="0">
                <a:latin typeface="Calibir"/>
              </a:rPr>
              <a:t>and build webpages regularly.</a:t>
            </a:r>
          </a:p>
        </p:txBody>
      </p:sp>
    </p:spTree>
    <p:extLst>
      <p:ext uri="{BB962C8B-B14F-4D97-AF65-F5344CB8AC3E}">
        <p14:creationId xmlns:p14="http://schemas.microsoft.com/office/powerpoint/2010/main" val="8094822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43A33-7DA0-D592-3B24-AEBF8D3779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C3E566-EE97-5397-C217-9296CF4A6267}"/>
              </a:ext>
            </a:extLst>
          </p:cNvPr>
          <p:cNvSpPr txBox="1"/>
          <p:nvPr/>
        </p:nvSpPr>
        <p:spPr>
          <a:xfrm>
            <a:off x="0" y="0"/>
            <a:ext cx="8976732" cy="758797"/>
          </a:xfrm>
          <a:prstGeom prst="rect">
            <a:avLst/>
          </a:prstGeom>
          <a:noFill/>
        </p:spPr>
        <p:txBody>
          <a:bodyPr wrap="square" rtlCol="0">
            <a:spAutoFit/>
          </a:bodyPr>
          <a:lstStyle/>
          <a:p>
            <a:pPr>
              <a:lnSpc>
                <a:spcPct val="150000"/>
              </a:lnSpc>
            </a:pPr>
            <a:r>
              <a:rPr lang="en-US" sz="3200" b="1" dirty="0">
                <a:latin typeface="Calibir"/>
              </a:rPr>
              <a:t>Final Message</a:t>
            </a:r>
          </a:p>
        </p:txBody>
      </p:sp>
      <p:sp>
        <p:nvSpPr>
          <p:cNvPr id="6" name="TextBox 5">
            <a:extLst>
              <a:ext uri="{FF2B5EF4-FFF2-40B4-BE49-F238E27FC236}">
                <a16:creationId xmlns:a16="http://schemas.microsoft.com/office/drawing/2014/main" id="{93C87E4C-0D94-B89F-6D14-815315B65592}"/>
              </a:ext>
            </a:extLst>
          </p:cNvPr>
          <p:cNvSpPr txBox="1"/>
          <p:nvPr/>
        </p:nvSpPr>
        <p:spPr>
          <a:xfrm>
            <a:off x="0" y="953349"/>
            <a:ext cx="6179574" cy="3903504"/>
          </a:xfrm>
          <a:prstGeom prst="rect">
            <a:avLst/>
          </a:prstGeom>
          <a:noFill/>
        </p:spPr>
        <p:txBody>
          <a:bodyPr wrap="square">
            <a:spAutoFit/>
          </a:bodyPr>
          <a:lstStyle/>
          <a:p>
            <a:pPr>
              <a:lnSpc>
                <a:spcPct val="150000"/>
              </a:lnSpc>
            </a:pPr>
            <a:r>
              <a:rPr lang="en-US" sz="2800" dirty="0">
                <a:latin typeface="Calibir"/>
              </a:rPr>
              <a:t>HS1021 is not difficult if students:</a:t>
            </a:r>
          </a:p>
          <a:p>
            <a:pPr marL="914400" lvl="1" indent="-457200">
              <a:lnSpc>
                <a:spcPct val="150000"/>
              </a:lnSpc>
              <a:buFont typeface="Arial" panose="020B0604020202020204" pitchFamily="34" charset="0"/>
              <a:buChar char="•"/>
            </a:pPr>
            <a:r>
              <a:rPr lang="en-US" sz="2800" dirty="0">
                <a:latin typeface="Calibir"/>
              </a:rPr>
              <a:t>stay consistent, </a:t>
            </a:r>
          </a:p>
          <a:p>
            <a:pPr marL="914400" lvl="1" indent="-457200">
              <a:lnSpc>
                <a:spcPct val="150000"/>
              </a:lnSpc>
              <a:buFont typeface="Arial" panose="020B0604020202020204" pitchFamily="34" charset="0"/>
              <a:buChar char="•"/>
            </a:pPr>
            <a:r>
              <a:rPr lang="en-US" sz="2800" dirty="0" err="1">
                <a:latin typeface="Calibir"/>
              </a:rPr>
              <a:t>practise</a:t>
            </a:r>
            <a:r>
              <a:rPr lang="en-US" sz="2800" dirty="0">
                <a:latin typeface="Calibir"/>
              </a:rPr>
              <a:t> every week, </a:t>
            </a:r>
          </a:p>
          <a:p>
            <a:pPr marL="914400" lvl="1" indent="-457200">
              <a:lnSpc>
                <a:spcPct val="150000"/>
              </a:lnSpc>
              <a:buFont typeface="Arial" panose="020B0604020202020204" pitchFamily="34" charset="0"/>
              <a:buChar char="•"/>
            </a:pPr>
            <a:r>
              <a:rPr lang="en-US" sz="2800" dirty="0">
                <a:latin typeface="Calibir"/>
              </a:rPr>
              <a:t>and manage their time properly. </a:t>
            </a:r>
          </a:p>
          <a:p>
            <a:pPr>
              <a:lnSpc>
                <a:spcPct val="150000"/>
              </a:lnSpc>
            </a:pPr>
            <a:r>
              <a:rPr lang="en-US" sz="2800" dirty="0">
                <a:latin typeface="Calibir"/>
              </a:rPr>
              <a:t>The key to success is:</a:t>
            </a:r>
          </a:p>
          <a:p>
            <a:pPr>
              <a:lnSpc>
                <a:spcPct val="150000"/>
              </a:lnSpc>
            </a:pPr>
            <a:r>
              <a:rPr lang="en-US" sz="2800" dirty="0">
                <a:latin typeface="Calibir"/>
              </a:rPr>
              <a:t>Practice + Preparation + Consistency.</a:t>
            </a:r>
          </a:p>
        </p:txBody>
      </p:sp>
    </p:spTree>
    <p:extLst>
      <p:ext uri="{BB962C8B-B14F-4D97-AF65-F5344CB8AC3E}">
        <p14:creationId xmlns:p14="http://schemas.microsoft.com/office/powerpoint/2010/main" val="6263120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62FF5-DF8A-2CF3-4503-219BBBF67B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15CB9E-BD3F-3B20-ADE7-0A0F55BD0687}"/>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9488752-0F31-0D03-CAEA-4B0754FE4F78}"/>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dirty="0">
                <a:latin typeface="Calibir"/>
              </a:rPr>
              <a:t>Now let’s practice Weeks 2 – 3 Tutorials to support your learning. Please complete portfolio.docx – Personal Portfolio Website Planning Document</a:t>
            </a:r>
          </a:p>
        </p:txBody>
      </p:sp>
    </p:spTree>
    <p:extLst>
      <p:ext uri="{BB962C8B-B14F-4D97-AF65-F5344CB8AC3E}">
        <p14:creationId xmlns:p14="http://schemas.microsoft.com/office/powerpoint/2010/main" val="19818758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C4D4-F848-AD3D-CF54-5ECDD6689B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3566F6-84C7-D2BF-778C-B9BAFA88BE93}"/>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B2EFD5E1-7972-6CB3-056E-8D0DA1A4CAB5}"/>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5AE6585D-7217-E4D8-8D68-351B96EDF8EB}"/>
              </a:ext>
            </a:extLst>
          </p:cNvPr>
          <p:cNvGraphicFramePr>
            <a:graphicFrameLocks noGrp="1"/>
          </p:cNvGraphicFramePr>
          <p:nvPr>
            <p:extLst>
              <p:ext uri="{D42A27DB-BD31-4B8C-83A1-F6EECF244321}">
                <p14:modId xmlns:p14="http://schemas.microsoft.com/office/powerpoint/2010/main" val="3869767837"/>
              </p:ext>
            </p:extLst>
          </p:nvPr>
        </p:nvGraphicFramePr>
        <p:xfrm>
          <a:off x="1" y="1269313"/>
          <a:ext cx="12192000" cy="5165040"/>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Purpose of the Website</a:t>
                      </a:r>
                    </a:p>
                  </a:txBody>
                  <a:tcPr marL="22201" marR="22201" marT="11100" marB="11100" anchor="ctr"/>
                </a:tc>
                <a:tc>
                  <a:txBody>
                    <a:bodyPr/>
                    <a:lstStyle/>
                    <a:p>
                      <a:pPr>
                        <a:buNone/>
                      </a:pPr>
                      <a:r>
                        <a:rPr lang="en-US" sz="2800" dirty="0">
                          <a:latin typeface="Calibir"/>
                        </a:rPr>
                        <a:t>What is the purpose and goal of the website?</a:t>
                      </a:r>
                    </a:p>
                  </a:txBody>
                  <a:tcPr marL="22201" marR="22201" marT="11100" marB="11100" anchor="ctr"/>
                </a:tc>
                <a:tc>
                  <a:txBody>
                    <a:bodyPr/>
                    <a:lstStyle/>
                    <a:p>
                      <a:pPr>
                        <a:buNone/>
                      </a:pPr>
                      <a:r>
                        <a:rPr lang="en-US" sz="2800" dirty="0">
                          <a:latin typeface="Calibir"/>
                        </a:rPr>
                        <a:t>The purpose of the website is to create a professional online portfolio to showcase web design and development skills, projects, education, and achievements. The goal is to help future employers and clients learn more about the developer and view completed work.</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2691701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5F538-7D7F-8CF8-399B-179F550C11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DBE4A7-D86F-8CC1-0134-E50C26AA2AD5}"/>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26C8FA0-7EBD-85D7-38AA-FCCEBBAE0E33}"/>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2191A568-EC35-9D89-945C-CB609AE38157}"/>
              </a:ext>
            </a:extLst>
          </p:cNvPr>
          <p:cNvGraphicFramePr>
            <a:graphicFrameLocks noGrp="1"/>
          </p:cNvGraphicFramePr>
          <p:nvPr>
            <p:extLst>
              <p:ext uri="{D42A27DB-BD31-4B8C-83A1-F6EECF244321}">
                <p14:modId xmlns:p14="http://schemas.microsoft.com/office/powerpoint/2010/main" val="3462876157"/>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Purpose of the Website</a:t>
                      </a:r>
                    </a:p>
                  </a:txBody>
                  <a:tcPr marL="22201" marR="22201" marT="11100" marB="11100" anchor="ctr"/>
                </a:tc>
                <a:tc>
                  <a:txBody>
                    <a:bodyPr/>
                    <a:lstStyle/>
                    <a:p>
                      <a:pPr>
                        <a:buNone/>
                      </a:pPr>
                      <a:r>
                        <a:rPr lang="en-US" sz="2800" dirty="0">
                          <a:latin typeface="Calibir"/>
                        </a:rPr>
                        <a:t>What is the company’s mission statement?</a:t>
                      </a:r>
                    </a:p>
                  </a:txBody>
                  <a:tcPr marL="22201" marR="22201" marT="11100" marB="11100" anchor="ctr"/>
                </a:tc>
                <a:tc>
                  <a:txBody>
                    <a:bodyPr/>
                    <a:lstStyle/>
                    <a:p>
                      <a:pPr>
                        <a:buNone/>
                      </a:pPr>
                      <a:r>
                        <a:rPr lang="en-US" sz="2800" dirty="0">
                          <a:latin typeface="Calibir"/>
                        </a:rPr>
                        <a:t>To create modern, user-friendly, accessible, and responsive websites that solve business problems and provide excellent user experiences.</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40850219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4375F-D391-B6EC-A19A-A896B734BC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E6796A-28CF-975E-8397-C9DCF6C22432}"/>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B643BE7-B688-A59E-167D-59B7894CB3EE}"/>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1D891331-7553-0D36-1484-67601143B839}"/>
              </a:ext>
            </a:extLst>
          </p:cNvPr>
          <p:cNvGraphicFramePr>
            <a:graphicFrameLocks noGrp="1"/>
          </p:cNvGraphicFramePr>
          <p:nvPr>
            <p:extLst>
              <p:ext uri="{D42A27DB-BD31-4B8C-83A1-F6EECF244321}">
                <p14:modId xmlns:p14="http://schemas.microsoft.com/office/powerpoint/2010/main" val="3298846162"/>
              </p:ext>
            </p:extLst>
          </p:nvPr>
        </p:nvGraphicFramePr>
        <p:xfrm>
          <a:off x="1" y="1269313"/>
          <a:ext cx="12192000" cy="4311600"/>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Target Audience</a:t>
                      </a:r>
                    </a:p>
                  </a:txBody>
                  <a:tcPr marL="22201" marR="22201" marT="11100" marB="11100" anchor="ctr"/>
                </a:tc>
                <a:tc>
                  <a:txBody>
                    <a:bodyPr/>
                    <a:lstStyle/>
                    <a:p>
                      <a:pPr>
                        <a:buNone/>
                      </a:pPr>
                      <a:r>
                        <a:rPr lang="en-US" sz="2800" dirty="0">
                          <a:latin typeface="Calibir"/>
                        </a:rPr>
                        <a:t>Describe the target audience (age, gender, demographics)</a:t>
                      </a:r>
                    </a:p>
                  </a:txBody>
                  <a:tcPr marL="22201" marR="22201" marT="11100" marB="11100" anchor="ctr"/>
                </a:tc>
                <a:tc>
                  <a:txBody>
                    <a:bodyPr/>
                    <a:lstStyle/>
                    <a:p>
                      <a:pPr>
                        <a:buNone/>
                      </a:pPr>
                      <a:r>
                        <a:rPr lang="en-US" sz="2800" dirty="0">
                          <a:latin typeface="Calibir"/>
                        </a:rPr>
                        <a:t>The target audience includes employers, clients, businesses, university staff, and technology professionals between 18–50 years old who are interested in web development services and projects.</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12752001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E5E16-AA34-6C37-77A2-98B08CFA92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246E36-9643-4D78-5DEF-8DC5F5EF34FA}"/>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02E3C96E-F603-542D-AD62-9588403FE5E9}"/>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70367170-1C6B-B710-2686-510D40EB5ED8}"/>
              </a:ext>
            </a:extLst>
          </p:cNvPr>
          <p:cNvGraphicFramePr>
            <a:graphicFrameLocks noGrp="1"/>
          </p:cNvGraphicFramePr>
          <p:nvPr>
            <p:extLst>
              <p:ext uri="{D42A27DB-BD31-4B8C-83A1-F6EECF244321}">
                <p14:modId xmlns:p14="http://schemas.microsoft.com/office/powerpoint/2010/main" val="3726420483"/>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Target Audience</a:t>
                      </a:r>
                    </a:p>
                  </a:txBody>
                  <a:tcPr marL="22201" marR="22201" marT="11100" marB="11100" anchor="ctr"/>
                </a:tc>
                <a:tc>
                  <a:txBody>
                    <a:bodyPr/>
                    <a:lstStyle/>
                    <a:p>
                      <a:pPr>
                        <a:buNone/>
                      </a:pPr>
                      <a:r>
                        <a:rPr lang="en-US" sz="2800" dirty="0">
                          <a:latin typeface="Calibir"/>
                        </a:rPr>
                        <a:t>What information is most pertinent to the users?</a:t>
                      </a:r>
                    </a:p>
                  </a:txBody>
                  <a:tcPr marL="22201" marR="22201" marT="11100" marB="11100" anchor="ctr"/>
                </a:tc>
                <a:tc>
                  <a:txBody>
                    <a:bodyPr/>
                    <a:lstStyle/>
                    <a:p>
                      <a:pPr>
                        <a:buNone/>
                      </a:pPr>
                      <a:r>
                        <a:rPr lang="en-US" sz="2800" dirty="0">
                          <a:latin typeface="Calibir"/>
                        </a:rPr>
                        <a:t>Users want to see portfolio projects, technical skills, education, contact information, work experience, and examples of previous website designs.</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21667169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2956B-B1AA-EA1A-D1C1-D5E2390B80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83D3FF-382F-CD1D-720C-18181706C1E1}"/>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FEC51438-05F1-50A0-F4B4-7AFE99010457}"/>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2CF421BC-BA12-0F76-DCE7-392698942158}"/>
              </a:ext>
            </a:extLst>
          </p:cNvPr>
          <p:cNvGraphicFramePr>
            <a:graphicFrameLocks noGrp="1"/>
          </p:cNvGraphicFramePr>
          <p:nvPr>
            <p:extLst>
              <p:ext uri="{D42A27DB-BD31-4B8C-83A1-F6EECF244321}">
                <p14:modId xmlns:p14="http://schemas.microsoft.com/office/powerpoint/2010/main" val="1812031570"/>
              </p:ext>
            </p:extLst>
          </p:nvPr>
        </p:nvGraphicFramePr>
        <p:xfrm>
          <a:off x="1" y="1269313"/>
          <a:ext cx="12192000" cy="521169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Multiplatform Display</a:t>
                      </a:r>
                    </a:p>
                  </a:txBody>
                  <a:tcPr marL="22201" marR="22201" marT="11100" marB="11100" anchor="ctr"/>
                </a:tc>
                <a:tc>
                  <a:txBody>
                    <a:bodyPr/>
                    <a:lstStyle/>
                    <a:p>
                      <a:pPr>
                        <a:buNone/>
                      </a:pPr>
                      <a:r>
                        <a:rPr lang="en-US" sz="2800" dirty="0">
                          <a:latin typeface="Calibir"/>
                        </a:rPr>
                        <a:t>Will you design for multiple platform display or only focus on a desktop or mobile design?</a:t>
                      </a:r>
                    </a:p>
                  </a:txBody>
                  <a:tcPr marL="22201" marR="22201" marT="11100" marB="11100" anchor="ctr"/>
                </a:tc>
                <a:tc>
                  <a:txBody>
                    <a:bodyPr/>
                    <a:lstStyle/>
                    <a:p>
                      <a:pPr>
                        <a:buNone/>
                      </a:pPr>
                      <a:r>
                        <a:rPr lang="en-US" sz="2800" dirty="0">
                          <a:latin typeface="Calibir"/>
                        </a:rPr>
                        <a:t>The website will be designed for multiple platforms including desktop, tablet, and mobile devices using responsive web design techniques.</a:t>
                      </a:r>
                    </a:p>
                  </a:txBody>
                  <a:tcPr marL="22201" marR="22201" marT="11100" marB="11100" anchor="ctr"/>
                </a:tc>
                <a:extLst>
                  <a:ext uri="{0D108BD9-81ED-4DB2-BD59-A6C34878D82A}">
                    <a16:rowId xmlns:a16="http://schemas.microsoft.com/office/drawing/2014/main" val="2125589770"/>
                  </a:ext>
                </a:extLst>
              </a:tr>
              <a:tr h="0">
                <a:tc>
                  <a:txBody>
                    <a:bodyPr/>
                    <a:lstStyle/>
                    <a:p>
                      <a:pPr>
                        <a:buNone/>
                      </a:pPr>
                      <a:r>
                        <a:rPr lang="en-US" sz="2800">
                          <a:latin typeface="Calibir"/>
                        </a:rPr>
                        <a:t>Wireframe</a:t>
                      </a:r>
                    </a:p>
                  </a:txBody>
                  <a:tcPr marL="22201" marR="22201" marT="11100" marB="11100" anchor="ctr"/>
                </a:tc>
                <a:tc>
                  <a:txBody>
                    <a:bodyPr/>
                    <a:lstStyle/>
                    <a:p>
                      <a:pPr>
                        <a:buNone/>
                      </a:pPr>
                      <a:r>
                        <a:rPr lang="en-US" sz="2800">
                          <a:latin typeface="Calibir"/>
                        </a:rPr>
                        <a:t>How many pages will be included in the website?</a:t>
                      </a:r>
                    </a:p>
                  </a:txBody>
                  <a:tcPr marL="22201" marR="22201" marT="11100" marB="11100" anchor="ctr"/>
                </a:tc>
                <a:tc>
                  <a:txBody>
                    <a:bodyPr/>
                    <a:lstStyle/>
                    <a:p>
                      <a:pPr>
                        <a:buNone/>
                      </a:pPr>
                      <a:r>
                        <a:rPr lang="en-US" sz="2800" dirty="0">
                          <a:latin typeface="Calibir"/>
                        </a:rPr>
                        <a:t>The website will include 5 pages: Home, About Me, Portfolio, Skills, and Contact.</a:t>
                      </a:r>
                    </a:p>
                  </a:txBody>
                  <a:tcPr marL="22201" marR="22201" marT="11100" marB="11100" anchor="ctr"/>
                </a:tc>
                <a:extLst>
                  <a:ext uri="{0D108BD9-81ED-4DB2-BD59-A6C34878D82A}">
                    <a16:rowId xmlns:a16="http://schemas.microsoft.com/office/drawing/2014/main" val="1617223072"/>
                  </a:ext>
                </a:extLst>
              </a:tr>
            </a:tbl>
          </a:graphicData>
        </a:graphic>
      </p:graphicFrame>
    </p:spTree>
    <p:extLst>
      <p:ext uri="{BB962C8B-B14F-4D97-AF65-F5344CB8AC3E}">
        <p14:creationId xmlns:p14="http://schemas.microsoft.com/office/powerpoint/2010/main" val="14141299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E601C-67BD-E815-135B-F61826C38E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ABF908-B1D8-7E7C-6D39-8B7512E9938D}"/>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58444CB4-966D-3CC9-315B-1912BB0292F4}"/>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8F7BB40C-152F-8BA0-C583-91F2B5B92D36}"/>
              </a:ext>
            </a:extLst>
          </p:cNvPr>
          <p:cNvGraphicFramePr>
            <a:graphicFrameLocks noGrp="1"/>
          </p:cNvGraphicFramePr>
          <p:nvPr>
            <p:extLst>
              <p:ext uri="{D42A27DB-BD31-4B8C-83A1-F6EECF244321}">
                <p14:modId xmlns:p14="http://schemas.microsoft.com/office/powerpoint/2010/main" val="3100868362"/>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Wireframe</a:t>
                      </a:r>
                    </a:p>
                  </a:txBody>
                  <a:tcPr marL="22201" marR="22201" marT="11100" marB="11100" anchor="ctr"/>
                </a:tc>
                <a:tc>
                  <a:txBody>
                    <a:bodyPr/>
                    <a:lstStyle/>
                    <a:p>
                      <a:pPr>
                        <a:buNone/>
                      </a:pPr>
                      <a:r>
                        <a:rPr lang="en-US" sz="2800" dirty="0">
                          <a:latin typeface="Calibir"/>
                        </a:rPr>
                        <a:t>How will the pages be organized?</a:t>
                      </a:r>
                    </a:p>
                  </a:txBody>
                  <a:tcPr marL="22201" marR="22201" marT="11100" marB="11100" anchor="ctr"/>
                </a:tc>
                <a:tc>
                  <a:txBody>
                    <a:bodyPr/>
                    <a:lstStyle/>
                    <a:p>
                      <a:pPr>
                        <a:buNone/>
                      </a:pPr>
                      <a:r>
                        <a:rPr lang="en-US" sz="2800" dirty="0">
                          <a:latin typeface="Calibir"/>
                        </a:rPr>
                        <a:t>The pages will be organized using a navigation menu located at the top of every webpage.</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6450694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68F0-24C6-A845-690F-5024A42449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F0CE6-6EC9-0754-59EE-CE8384B9ADE9}"/>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780F2A5C-32F5-752B-7A30-DABAB3084A94}"/>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D72F5797-0048-8939-4B4F-BBC38D38E0D5}"/>
              </a:ext>
            </a:extLst>
          </p:cNvPr>
          <p:cNvGraphicFramePr>
            <a:graphicFrameLocks noGrp="1"/>
          </p:cNvGraphicFramePr>
          <p:nvPr>
            <p:extLst>
              <p:ext uri="{D42A27DB-BD31-4B8C-83A1-F6EECF244321}">
                <p14:modId xmlns:p14="http://schemas.microsoft.com/office/powerpoint/2010/main" val="3444165784"/>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Wireframe</a:t>
                      </a:r>
                    </a:p>
                  </a:txBody>
                  <a:tcPr marL="22201" marR="22201" marT="11100" marB="11100" anchor="ctr"/>
                </a:tc>
                <a:tc>
                  <a:txBody>
                    <a:bodyPr/>
                    <a:lstStyle/>
                    <a:p>
                      <a:pPr>
                        <a:buNone/>
                      </a:pPr>
                      <a:r>
                        <a:rPr lang="en-US" sz="2800" dirty="0">
                          <a:latin typeface="Calibir"/>
                        </a:rPr>
                        <a:t>What type of website structure is appropriate for the content?</a:t>
                      </a:r>
                    </a:p>
                  </a:txBody>
                  <a:tcPr marL="22201" marR="22201" marT="11100" marB="11100" anchor="ctr"/>
                </a:tc>
                <a:tc>
                  <a:txBody>
                    <a:bodyPr/>
                    <a:lstStyle/>
                    <a:p>
                      <a:pPr>
                        <a:buNone/>
                      </a:pPr>
                      <a:r>
                        <a:rPr lang="en-US" sz="2800" dirty="0">
                          <a:latin typeface="Calibir"/>
                        </a:rPr>
                        <a:t>A hierarchical website structure is most appropriate because users can easily navigate between sections and pages.</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24229715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C0F6-6A3A-9BAE-FE8E-22C3A40213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CDBB17-E486-BD20-8A33-CFEFA8B20D3B}"/>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8735279A-89DC-631F-7BA7-0F75097E728D}"/>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5535C531-523E-70F3-FD3C-71D87CFA7DAF}"/>
              </a:ext>
            </a:extLst>
          </p:cNvPr>
          <p:cNvGraphicFramePr>
            <a:graphicFrameLocks noGrp="1"/>
          </p:cNvGraphicFramePr>
          <p:nvPr>
            <p:extLst>
              <p:ext uri="{D42A27DB-BD31-4B8C-83A1-F6EECF244321}">
                <p14:modId xmlns:p14="http://schemas.microsoft.com/office/powerpoint/2010/main" val="1199644274"/>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Graphics</a:t>
                      </a:r>
                    </a:p>
                  </a:txBody>
                  <a:tcPr marL="22201" marR="22201" marT="11100" marB="11100" anchor="ctr"/>
                </a:tc>
                <a:tc>
                  <a:txBody>
                    <a:bodyPr/>
                    <a:lstStyle/>
                    <a:p>
                      <a:pPr>
                        <a:buNone/>
                      </a:pPr>
                      <a:r>
                        <a:rPr lang="en-US" sz="2800" dirty="0">
                          <a:latin typeface="Calibir"/>
                        </a:rPr>
                        <a:t>What graphics will you use on the website?</a:t>
                      </a:r>
                    </a:p>
                  </a:txBody>
                  <a:tcPr marL="22201" marR="22201" marT="11100" marB="11100" anchor="ctr"/>
                </a:tc>
                <a:tc>
                  <a:txBody>
                    <a:bodyPr/>
                    <a:lstStyle/>
                    <a:p>
                      <a:pPr>
                        <a:buNone/>
                      </a:pPr>
                      <a:r>
                        <a:rPr lang="en-US" sz="2800" dirty="0">
                          <a:latin typeface="Calibir"/>
                        </a:rPr>
                        <a:t>The website will use professional images, project screenshots, icons, logos, and simple banners related to web design and technology.</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19865942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AB8BC-3261-E4A1-BCF6-7E8FB8846C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D539B2-4BE6-DE3C-BB3E-5AD1F83E03E3}"/>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A30F3036-3787-55E8-5F3A-AE5F770DE871}"/>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1CD89590-22FE-F4BD-80A8-8490AB794ABB}"/>
              </a:ext>
            </a:extLst>
          </p:cNvPr>
          <p:cNvGraphicFramePr>
            <a:graphicFrameLocks noGrp="1"/>
          </p:cNvGraphicFramePr>
          <p:nvPr>
            <p:extLst>
              <p:ext uri="{D42A27DB-BD31-4B8C-83A1-F6EECF244321}">
                <p14:modId xmlns:p14="http://schemas.microsoft.com/office/powerpoint/2010/main" val="3010861514"/>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Color</a:t>
                      </a:r>
                    </a:p>
                  </a:txBody>
                  <a:tcPr marL="22201" marR="22201" marT="11100" marB="11100" anchor="ctr"/>
                </a:tc>
                <a:tc>
                  <a:txBody>
                    <a:bodyPr/>
                    <a:lstStyle/>
                    <a:p>
                      <a:pPr>
                        <a:buNone/>
                      </a:pPr>
                      <a:r>
                        <a:rPr lang="en-US" sz="2800" dirty="0">
                          <a:latin typeface="Calibir"/>
                        </a:rPr>
                        <a:t>What colors will you use within the site to enhance the purpose and brand?</a:t>
                      </a:r>
                    </a:p>
                  </a:txBody>
                  <a:tcPr marL="22201" marR="22201" marT="11100" marB="11100" anchor="ctr"/>
                </a:tc>
                <a:tc>
                  <a:txBody>
                    <a:bodyPr/>
                    <a:lstStyle/>
                    <a:p>
                      <a:pPr>
                        <a:buNone/>
                      </a:pPr>
                      <a:r>
                        <a:rPr lang="en-US" sz="2800" dirty="0">
                          <a:latin typeface="Calibir"/>
                        </a:rPr>
                        <a:t>Blue, white, dark gray, and light gray colors will be used to create a modern and professional appearance.</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18274061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B95FD-6217-BE4F-99EB-3DD3C802F5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7D937C-E88D-BD5F-9003-279B556ABEED}"/>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397DAD60-FD35-EC3B-4093-3223D53D85D1}"/>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6D438604-2CF9-1461-547D-C59D5CC99C05}"/>
              </a:ext>
            </a:extLst>
          </p:cNvPr>
          <p:cNvGraphicFramePr>
            <a:graphicFrameLocks noGrp="1"/>
          </p:cNvGraphicFramePr>
          <p:nvPr>
            <p:extLst>
              <p:ext uri="{D42A27DB-BD31-4B8C-83A1-F6EECF244321}">
                <p14:modId xmlns:p14="http://schemas.microsoft.com/office/powerpoint/2010/main" val="2750385564"/>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Typography</a:t>
                      </a:r>
                    </a:p>
                  </a:txBody>
                  <a:tcPr marL="22201" marR="22201" marT="11100" marB="11100" anchor="ctr"/>
                </a:tc>
                <a:tc>
                  <a:txBody>
                    <a:bodyPr/>
                    <a:lstStyle/>
                    <a:p>
                      <a:pPr>
                        <a:buNone/>
                      </a:pPr>
                      <a:r>
                        <a:rPr lang="en-US" sz="2800" dirty="0">
                          <a:latin typeface="Calibir"/>
                        </a:rPr>
                        <a:t>What font styles will you use within the website?</a:t>
                      </a:r>
                    </a:p>
                  </a:txBody>
                  <a:tcPr marL="22201" marR="22201" marT="11100" marB="11100" anchor="ctr"/>
                </a:tc>
                <a:tc>
                  <a:txBody>
                    <a:bodyPr/>
                    <a:lstStyle/>
                    <a:p>
                      <a:pPr>
                        <a:buNone/>
                      </a:pPr>
                      <a:r>
                        <a:rPr lang="en-US" sz="2800" dirty="0">
                          <a:latin typeface="Calibir"/>
                        </a:rPr>
                        <a:t>Modern and easy-to-read fonts such as Arial, Verdana, and Sans-serif will be used throughout the website.</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22419584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387F2-57BA-056F-AB5A-8CFB189BF1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AE53CA-B503-5F0E-4B93-245C0CB30DBD}"/>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E15DBD6F-7E66-5E9B-697F-008D449FBA55}"/>
              </a:ext>
            </a:extLst>
          </p:cNvPr>
          <p:cNvSpPr txBox="1"/>
          <p:nvPr/>
        </p:nvSpPr>
        <p:spPr>
          <a:xfrm>
            <a:off x="0" y="746093"/>
            <a:ext cx="12192000" cy="523220"/>
          </a:xfrm>
          <a:prstGeom prst="rect">
            <a:avLst/>
          </a:prstGeom>
          <a:noFill/>
        </p:spPr>
        <p:txBody>
          <a:bodyPr wrap="square">
            <a:spAutoFit/>
          </a:bodyPr>
          <a:lstStyle/>
          <a:p>
            <a:r>
              <a:rPr lang="en-US" sz="2800" dirty="0">
                <a:latin typeface="Calibir"/>
              </a:rPr>
              <a:t>Now complete portfolio.docx – Personal Portfolio Website Planning Document</a:t>
            </a:r>
          </a:p>
        </p:txBody>
      </p:sp>
      <p:graphicFrame>
        <p:nvGraphicFramePr>
          <p:cNvPr id="5" name="Table 4">
            <a:extLst>
              <a:ext uri="{FF2B5EF4-FFF2-40B4-BE49-F238E27FC236}">
                <a16:creationId xmlns:a16="http://schemas.microsoft.com/office/drawing/2014/main" id="{6B057AAD-10B6-AC95-D1E1-DBCD6DB471C6}"/>
              </a:ext>
            </a:extLst>
          </p:cNvPr>
          <p:cNvGraphicFramePr>
            <a:graphicFrameLocks noGrp="1"/>
          </p:cNvGraphicFramePr>
          <p:nvPr>
            <p:extLst>
              <p:ext uri="{D42A27DB-BD31-4B8C-83A1-F6EECF244321}">
                <p14:modId xmlns:p14="http://schemas.microsoft.com/office/powerpoint/2010/main" val="3198363078"/>
              </p:ext>
            </p:extLst>
          </p:nvPr>
        </p:nvGraphicFramePr>
        <p:xfrm>
          <a:off x="1" y="1269313"/>
          <a:ext cx="12192000" cy="3482617"/>
        </p:xfrm>
        <a:graphic>
          <a:graphicData uri="http://schemas.openxmlformats.org/drawingml/2006/table">
            <a:tbl>
              <a:tblPr>
                <a:tableStyleId>{BDBED569-4797-4DF1-A0F4-6AAB3CD982D8}</a:tableStyleId>
              </a:tblPr>
              <a:tblGrid>
                <a:gridCol w="4064000">
                  <a:extLst>
                    <a:ext uri="{9D8B030D-6E8A-4147-A177-3AD203B41FA5}">
                      <a16:colId xmlns:a16="http://schemas.microsoft.com/office/drawing/2014/main" val="1117945950"/>
                    </a:ext>
                  </a:extLst>
                </a:gridCol>
                <a:gridCol w="4064000">
                  <a:extLst>
                    <a:ext uri="{9D8B030D-6E8A-4147-A177-3AD203B41FA5}">
                      <a16:colId xmlns:a16="http://schemas.microsoft.com/office/drawing/2014/main" val="1894910114"/>
                    </a:ext>
                  </a:extLst>
                </a:gridCol>
                <a:gridCol w="4064000">
                  <a:extLst>
                    <a:ext uri="{9D8B030D-6E8A-4147-A177-3AD203B41FA5}">
                      <a16:colId xmlns:a16="http://schemas.microsoft.com/office/drawing/2014/main" val="1106428468"/>
                    </a:ext>
                  </a:extLst>
                </a:gridCol>
              </a:tblGrid>
              <a:tr h="0">
                <a:tc>
                  <a:txBody>
                    <a:bodyPr/>
                    <a:lstStyle/>
                    <a:p>
                      <a:pPr>
                        <a:buNone/>
                      </a:pPr>
                      <a:r>
                        <a:rPr lang="en-US" sz="2800" dirty="0">
                          <a:latin typeface="Calibir"/>
                        </a:rPr>
                        <a:t>Topic</a:t>
                      </a:r>
                    </a:p>
                  </a:txBody>
                  <a:tcPr marL="22201" marR="22201" marT="11100" marB="11100" anchor="ctr"/>
                </a:tc>
                <a:tc>
                  <a:txBody>
                    <a:bodyPr/>
                    <a:lstStyle/>
                    <a:p>
                      <a:pPr>
                        <a:buNone/>
                      </a:pPr>
                      <a:r>
                        <a:rPr lang="en-US" sz="2800">
                          <a:latin typeface="Calibir"/>
                        </a:rPr>
                        <a:t>Web Developer Questions</a:t>
                      </a:r>
                    </a:p>
                  </a:txBody>
                  <a:tcPr marL="22201" marR="22201" marT="11100" marB="11100" anchor="ctr"/>
                </a:tc>
                <a:tc>
                  <a:txBody>
                    <a:bodyPr/>
                    <a:lstStyle/>
                    <a:p>
                      <a:pPr>
                        <a:buNone/>
                      </a:pPr>
                      <a:r>
                        <a:rPr lang="en-US" sz="2800">
                          <a:latin typeface="Calibir"/>
                        </a:rPr>
                        <a:t>Answers</a:t>
                      </a:r>
                    </a:p>
                  </a:txBody>
                  <a:tcPr marL="22201" marR="22201" marT="11100" marB="11100" anchor="ctr"/>
                </a:tc>
                <a:extLst>
                  <a:ext uri="{0D108BD9-81ED-4DB2-BD59-A6C34878D82A}">
                    <a16:rowId xmlns:a16="http://schemas.microsoft.com/office/drawing/2014/main" val="974634533"/>
                  </a:ext>
                </a:extLst>
              </a:tr>
              <a:tr h="3033697">
                <a:tc>
                  <a:txBody>
                    <a:bodyPr/>
                    <a:lstStyle/>
                    <a:p>
                      <a:pPr>
                        <a:buNone/>
                      </a:pPr>
                      <a:r>
                        <a:rPr lang="en-US" sz="2800" dirty="0">
                          <a:latin typeface="Calibir"/>
                        </a:rPr>
                        <a:t>Accessibility</a:t>
                      </a:r>
                    </a:p>
                  </a:txBody>
                  <a:tcPr marL="22201" marR="22201" marT="11100" marB="11100" anchor="ctr"/>
                </a:tc>
                <a:tc>
                  <a:txBody>
                    <a:bodyPr/>
                    <a:lstStyle/>
                    <a:p>
                      <a:pPr>
                        <a:buNone/>
                      </a:pPr>
                      <a:r>
                        <a:rPr lang="en-US" sz="2800" dirty="0">
                          <a:latin typeface="Calibir"/>
                        </a:rPr>
                        <a:t>How will the website accommodate people with disabilities?</a:t>
                      </a:r>
                    </a:p>
                  </a:txBody>
                  <a:tcPr marL="22201" marR="22201" marT="11100" marB="11100" anchor="ctr"/>
                </a:tc>
                <a:tc>
                  <a:txBody>
                    <a:bodyPr/>
                    <a:lstStyle/>
                    <a:p>
                      <a:pPr>
                        <a:buNone/>
                      </a:pPr>
                      <a:r>
                        <a:rPr lang="en-US" sz="2800" dirty="0">
                          <a:latin typeface="Calibir"/>
                        </a:rPr>
                        <a:t>The website will include readable fonts, high color contrast, alternative text for images, keyboard-friendly navigation, and responsive layouts for accessibility.</a:t>
                      </a:r>
                    </a:p>
                  </a:txBody>
                  <a:tcPr marL="22201" marR="22201" marT="11100" marB="11100" anchor="ctr"/>
                </a:tc>
                <a:extLst>
                  <a:ext uri="{0D108BD9-81ED-4DB2-BD59-A6C34878D82A}">
                    <a16:rowId xmlns:a16="http://schemas.microsoft.com/office/drawing/2014/main" val="2125589770"/>
                  </a:ext>
                </a:extLst>
              </a:tr>
            </a:tbl>
          </a:graphicData>
        </a:graphic>
      </p:graphicFrame>
    </p:spTree>
    <p:extLst>
      <p:ext uri="{BB962C8B-B14F-4D97-AF65-F5344CB8AC3E}">
        <p14:creationId xmlns:p14="http://schemas.microsoft.com/office/powerpoint/2010/main" val="2357252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D2380-E25A-6E9C-BEE0-7AEC63A42F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438E18-B7FB-F1A2-A855-122D61C16999}"/>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88C4AC7F-AC71-26F5-428E-88399F5BC049}"/>
              </a:ext>
            </a:extLst>
          </p:cNvPr>
          <p:cNvSpPr txBox="1"/>
          <p:nvPr/>
        </p:nvSpPr>
        <p:spPr>
          <a:xfrm>
            <a:off x="0" y="746093"/>
            <a:ext cx="12192000" cy="3257174"/>
          </a:xfrm>
          <a:prstGeom prst="rect">
            <a:avLst/>
          </a:prstGeom>
          <a:noFill/>
        </p:spPr>
        <p:txBody>
          <a:bodyPr wrap="square">
            <a:spAutoFit/>
          </a:bodyPr>
          <a:lstStyle/>
          <a:p>
            <a:pPr>
              <a:lnSpc>
                <a:spcPct val="150000"/>
              </a:lnSpc>
            </a:pPr>
            <a:r>
              <a:rPr lang="en-US" sz="2800" b="1" dirty="0">
                <a:latin typeface="Calibir"/>
              </a:rPr>
              <a:t>Part 2 – What do you want this website to accomplish?</a:t>
            </a:r>
          </a:p>
          <a:p>
            <a:pPr>
              <a:lnSpc>
                <a:spcPct val="150000"/>
              </a:lnSpc>
            </a:pPr>
            <a:r>
              <a:rPr lang="en-US" sz="2800" dirty="0">
                <a:latin typeface="Calibir"/>
              </a:rPr>
              <a:t>This website should help showcase professional web development skills and create opportunities for employment, freelance work, networking, and career growth. It should present projects and technical abilities in a professional and easy-to-use format.</a:t>
            </a:r>
          </a:p>
        </p:txBody>
      </p:sp>
    </p:spTree>
    <p:extLst>
      <p:ext uri="{BB962C8B-B14F-4D97-AF65-F5344CB8AC3E}">
        <p14:creationId xmlns:p14="http://schemas.microsoft.com/office/powerpoint/2010/main" val="6760693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CBBCA-9BD1-1151-6FB1-AB5550DCD9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B05403-8767-8411-91C4-BD1C24A0F2E8}"/>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7E56440B-6F5F-E58C-3BE1-6934A30250A8}"/>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2. webpublishing.docx – Web Publishing Information</a:t>
            </a:r>
          </a:p>
          <a:p>
            <a:pPr>
              <a:lnSpc>
                <a:spcPct val="150000"/>
              </a:lnSpc>
            </a:pPr>
            <a:r>
              <a:rPr lang="en-US" sz="2800" b="1" dirty="0">
                <a:latin typeface="Calibir"/>
              </a:rPr>
              <a:t>Information Needed to Publish Files to a Free Web Server</a:t>
            </a:r>
          </a:p>
        </p:txBody>
      </p:sp>
      <p:graphicFrame>
        <p:nvGraphicFramePr>
          <p:cNvPr id="2" name="Table 1">
            <a:extLst>
              <a:ext uri="{FF2B5EF4-FFF2-40B4-BE49-F238E27FC236}">
                <a16:creationId xmlns:a16="http://schemas.microsoft.com/office/drawing/2014/main" id="{0C3B8ED7-5A13-3B6E-AAC7-4E98A17591A6}"/>
              </a:ext>
            </a:extLst>
          </p:cNvPr>
          <p:cNvGraphicFramePr>
            <a:graphicFrameLocks noGrp="1"/>
          </p:cNvGraphicFramePr>
          <p:nvPr>
            <p:extLst>
              <p:ext uri="{D42A27DB-BD31-4B8C-83A1-F6EECF244321}">
                <p14:modId xmlns:p14="http://schemas.microsoft.com/office/powerpoint/2010/main" val="3289245566"/>
              </p:ext>
            </p:extLst>
          </p:nvPr>
        </p:nvGraphicFramePr>
        <p:xfrm>
          <a:off x="104448" y="2064274"/>
          <a:ext cx="11983104" cy="4574352"/>
        </p:xfrm>
        <a:graphic>
          <a:graphicData uri="http://schemas.openxmlformats.org/drawingml/2006/table">
            <a:tbl>
              <a:tblPr>
                <a:tableStyleId>{BDBED569-4797-4DF1-A0F4-6AAB3CD982D8}</a:tableStyleId>
              </a:tblPr>
              <a:tblGrid>
                <a:gridCol w="5991552">
                  <a:extLst>
                    <a:ext uri="{9D8B030D-6E8A-4147-A177-3AD203B41FA5}">
                      <a16:colId xmlns:a16="http://schemas.microsoft.com/office/drawing/2014/main" val="4177012732"/>
                    </a:ext>
                  </a:extLst>
                </a:gridCol>
                <a:gridCol w="5991552">
                  <a:extLst>
                    <a:ext uri="{9D8B030D-6E8A-4147-A177-3AD203B41FA5}">
                      <a16:colId xmlns:a16="http://schemas.microsoft.com/office/drawing/2014/main" val="3360696124"/>
                    </a:ext>
                  </a:extLst>
                </a:gridCol>
              </a:tblGrid>
              <a:tr h="396528">
                <a:tc>
                  <a:txBody>
                    <a:bodyPr/>
                    <a:lstStyle/>
                    <a:p>
                      <a:pPr>
                        <a:buNone/>
                      </a:pPr>
                      <a:r>
                        <a:rPr lang="en-US" sz="2800">
                          <a:latin typeface="Calibir"/>
                        </a:rPr>
                        <a:t>Item</a:t>
                      </a:r>
                    </a:p>
                  </a:txBody>
                  <a:tcPr marL="51192" marR="51192" marT="25596" marB="25596" anchor="ctr"/>
                </a:tc>
                <a:tc>
                  <a:txBody>
                    <a:bodyPr/>
                    <a:lstStyle/>
                    <a:p>
                      <a:pPr>
                        <a:buNone/>
                      </a:pPr>
                      <a:r>
                        <a:rPr lang="en-US" sz="2800">
                          <a:latin typeface="Calibir"/>
                        </a:rPr>
                        <a:t>Information</a:t>
                      </a:r>
                    </a:p>
                  </a:txBody>
                  <a:tcPr marL="51192" marR="51192" marT="25596" marB="25596" anchor="ctr"/>
                </a:tc>
                <a:extLst>
                  <a:ext uri="{0D108BD9-81ED-4DB2-BD59-A6C34878D82A}">
                    <a16:rowId xmlns:a16="http://schemas.microsoft.com/office/drawing/2014/main" val="4237206260"/>
                  </a:ext>
                </a:extLst>
              </a:tr>
              <a:tr h="396528">
                <a:tc>
                  <a:txBody>
                    <a:bodyPr/>
                    <a:lstStyle/>
                    <a:p>
                      <a:pPr>
                        <a:buNone/>
                      </a:pPr>
                      <a:r>
                        <a:rPr lang="en-US" sz="2800">
                          <a:latin typeface="Calibir"/>
                        </a:rPr>
                        <a:t>Provider name</a:t>
                      </a:r>
                    </a:p>
                  </a:txBody>
                  <a:tcPr marL="51192" marR="51192" marT="25596" marB="25596" anchor="ctr"/>
                </a:tc>
                <a:tc>
                  <a:txBody>
                    <a:bodyPr/>
                    <a:lstStyle/>
                    <a:p>
                      <a:pPr>
                        <a:buNone/>
                      </a:pPr>
                      <a:r>
                        <a:rPr lang="en-US" sz="2800">
                          <a:latin typeface="Calibir"/>
                        </a:rPr>
                        <a:t>InfinityFree</a:t>
                      </a:r>
                    </a:p>
                  </a:txBody>
                  <a:tcPr marL="51192" marR="51192" marT="25596" marB="25596" anchor="ctr"/>
                </a:tc>
                <a:extLst>
                  <a:ext uri="{0D108BD9-81ED-4DB2-BD59-A6C34878D82A}">
                    <a16:rowId xmlns:a16="http://schemas.microsoft.com/office/drawing/2014/main" val="2563590609"/>
                  </a:ext>
                </a:extLst>
              </a:tr>
              <a:tr h="396528">
                <a:tc>
                  <a:txBody>
                    <a:bodyPr/>
                    <a:lstStyle/>
                    <a:p>
                      <a:pPr>
                        <a:buNone/>
                      </a:pPr>
                      <a:r>
                        <a:rPr lang="en-US" sz="2800">
                          <a:latin typeface="Calibir"/>
                        </a:rPr>
                        <a:t>Your name</a:t>
                      </a:r>
                    </a:p>
                  </a:txBody>
                  <a:tcPr marL="51192" marR="51192" marT="25596" marB="25596" anchor="ctr"/>
                </a:tc>
                <a:tc>
                  <a:txBody>
                    <a:bodyPr/>
                    <a:lstStyle/>
                    <a:p>
                      <a:pPr>
                        <a:buNone/>
                      </a:pPr>
                      <a:r>
                        <a:rPr lang="en-US" sz="2800">
                          <a:latin typeface="Calibir"/>
                        </a:rPr>
                        <a:t>[Student Name]</a:t>
                      </a:r>
                    </a:p>
                  </a:txBody>
                  <a:tcPr marL="51192" marR="51192" marT="25596" marB="25596" anchor="ctr"/>
                </a:tc>
                <a:extLst>
                  <a:ext uri="{0D108BD9-81ED-4DB2-BD59-A6C34878D82A}">
                    <a16:rowId xmlns:a16="http://schemas.microsoft.com/office/drawing/2014/main" val="3287668482"/>
                  </a:ext>
                </a:extLst>
              </a:tr>
              <a:tr h="396528">
                <a:tc>
                  <a:txBody>
                    <a:bodyPr/>
                    <a:lstStyle/>
                    <a:p>
                      <a:pPr>
                        <a:buNone/>
                      </a:pPr>
                      <a:r>
                        <a:rPr lang="en-US" sz="2800">
                          <a:latin typeface="Calibir"/>
                        </a:rPr>
                        <a:t>Username</a:t>
                      </a:r>
                    </a:p>
                  </a:txBody>
                  <a:tcPr marL="51192" marR="51192" marT="25596" marB="25596" anchor="ctr"/>
                </a:tc>
                <a:tc>
                  <a:txBody>
                    <a:bodyPr/>
                    <a:lstStyle/>
                    <a:p>
                      <a:pPr>
                        <a:buNone/>
                      </a:pPr>
                      <a:r>
                        <a:rPr lang="en-US" sz="2800">
                          <a:latin typeface="Calibir"/>
                        </a:rPr>
                        <a:t>studentweb1021</a:t>
                      </a:r>
                    </a:p>
                  </a:txBody>
                  <a:tcPr marL="51192" marR="51192" marT="25596" marB="25596" anchor="ctr"/>
                </a:tc>
                <a:extLst>
                  <a:ext uri="{0D108BD9-81ED-4DB2-BD59-A6C34878D82A}">
                    <a16:rowId xmlns:a16="http://schemas.microsoft.com/office/drawing/2014/main" val="961185084"/>
                  </a:ext>
                </a:extLst>
              </a:tr>
              <a:tr h="396528">
                <a:tc>
                  <a:txBody>
                    <a:bodyPr/>
                    <a:lstStyle/>
                    <a:p>
                      <a:pPr>
                        <a:buNone/>
                      </a:pPr>
                      <a:r>
                        <a:rPr lang="en-US" sz="2800">
                          <a:latin typeface="Calibir"/>
                        </a:rPr>
                        <a:t>Password</a:t>
                      </a:r>
                    </a:p>
                  </a:txBody>
                  <a:tcPr marL="51192" marR="51192" marT="25596" marB="25596" anchor="ctr"/>
                </a:tc>
                <a:tc>
                  <a:txBody>
                    <a:bodyPr/>
                    <a:lstStyle/>
                    <a:p>
                      <a:pPr>
                        <a:buNone/>
                      </a:pPr>
                      <a:r>
                        <a:rPr lang="en-US" sz="2800">
                          <a:latin typeface="Calibir"/>
                        </a:rPr>
                        <a:t>WebDesign2026!</a:t>
                      </a:r>
                    </a:p>
                  </a:txBody>
                  <a:tcPr marL="51192" marR="51192" marT="25596" marB="25596" anchor="ctr"/>
                </a:tc>
                <a:extLst>
                  <a:ext uri="{0D108BD9-81ED-4DB2-BD59-A6C34878D82A}">
                    <a16:rowId xmlns:a16="http://schemas.microsoft.com/office/drawing/2014/main" val="319075268"/>
                  </a:ext>
                </a:extLst>
              </a:tr>
              <a:tr h="2058918">
                <a:tc>
                  <a:txBody>
                    <a:bodyPr/>
                    <a:lstStyle/>
                    <a:p>
                      <a:pPr>
                        <a:buNone/>
                      </a:pPr>
                      <a:r>
                        <a:rPr lang="en-US" sz="2800" dirty="0">
                          <a:latin typeface="Calibir"/>
                        </a:rPr>
                        <a:t>What process is required to request a free web server space?</a:t>
                      </a:r>
                    </a:p>
                  </a:txBody>
                  <a:tcPr marL="51192" marR="51192" marT="25596" marB="25596" anchor="ctr"/>
                </a:tc>
                <a:tc>
                  <a:txBody>
                    <a:bodyPr/>
                    <a:lstStyle/>
                    <a:p>
                      <a:pPr>
                        <a:buNone/>
                      </a:pPr>
                      <a:r>
                        <a:rPr lang="en-US" sz="2800" dirty="0">
                          <a:latin typeface="Calibir"/>
                        </a:rPr>
                        <a:t>Go to </a:t>
                      </a:r>
                      <a:r>
                        <a:rPr lang="en-US" sz="2800" dirty="0">
                          <a:latin typeface="Calibir"/>
                          <a:hlinkClick r:id="rId2"/>
                        </a:rPr>
                        <a:t>https://infinityfree.net/</a:t>
                      </a:r>
                      <a:r>
                        <a:rPr lang="en-US" sz="2800" dirty="0">
                          <a:latin typeface="Calibir"/>
                        </a:rPr>
                        <a:t> and create a free account using an email address. Verify the email, create a hosting account, and activate the free web hosting service.</a:t>
                      </a:r>
                    </a:p>
                  </a:txBody>
                  <a:tcPr marL="51192" marR="51192" marT="25596" marB="25596" anchor="ctr"/>
                </a:tc>
                <a:extLst>
                  <a:ext uri="{0D108BD9-81ED-4DB2-BD59-A6C34878D82A}">
                    <a16:rowId xmlns:a16="http://schemas.microsoft.com/office/drawing/2014/main" val="1840070413"/>
                  </a:ext>
                </a:extLst>
              </a:tr>
            </a:tbl>
          </a:graphicData>
        </a:graphic>
      </p:graphicFrame>
    </p:spTree>
    <p:extLst>
      <p:ext uri="{BB962C8B-B14F-4D97-AF65-F5344CB8AC3E}">
        <p14:creationId xmlns:p14="http://schemas.microsoft.com/office/powerpoint/2010/main" val="30819563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8836-EFF0-6C46-C689-C89466FBB6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302136-04DD-4ABD-AC97-22F02466C010}"/>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0850344C-FE85-08C6-5BFA-E663C68F43CE}"/>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2. webpublishing.docx – Web Publishing Information</a:t>
            </a:r>
          </a:p>
          <a:p>
            <a:pPr>
              <a:lnSpc>
                <a:spcPct val="150000"/>
              </a:lnSpc>
            </a:pPr>
            <a:r>
              <a:rPr lang="en-US" sz="2800" b="1" dirty="0">
                <a:latin typeface="Calibir"/>
              </a:rPr>
              <a:t>Information Needed to Publish Files to a Free Web Server</a:t>
            </a:r>
          </a:p>
        </p:txBody>
      </p:sp>
      <p:graphicFrame>
        <p:nvGraphicFramePr>
          <p:cNvPr id="2" name="Table 1">
            <a:extLst>
              <a:ext uri="{FF2B5EF4-FFF2-40B4-BE49-F238E27FC236}">
                <a16:creationId xmlns:a16="http://schemas.microsoft.com/office/drawing/2014/main" id="{DED61207-E5E0-5385-F6D3-304C86F312BD}"/>
              </a:ext>
            </a:extLst>
          </p:cNvPr>
          <p:cNvGraphicFramePr>
            <a:graphicFrameLocks noGrp="1"/>
          </p:cNvGraphicFramePr>
          <p:nvPr>
            <p:extLst>
              <p:ext uri="{D42A27DB-BD31-4B8C-83A1-F6EECF244321}">
                <p14:modId xmlns:p14="http://schemas.microsoft.com/office/powerpoint/2010/main" val="2223092749"/>
              </p:ext>
            </p:extLst>
          </p:nvPr>
        </p:nvGraphicFramePr>
        <p:xfrm>
          <a:off x="66268" y="2379151"/>
          <a:ext cx="11983104" cy="4045248"/>
        </p:xfrm>
        <a:graphic>
          <a:graphicData uri="http://schemas.openxmlformats.org/drawingml/2006/table">
            <a:tbl>
              <a:tblPr>
                <a:tableStyleId>{BDBED569-4797-4DF1-A0F4-6AAB3CD982D8}</a:tableStyleId>
              </a:tblPr>
              <a:tblGrid>
                <a:gridCol w="5991552">
                  <a:extLst>
                    <a:ext uri="{9D8B030D-6E8A-4147-A177-3AD203B41FA5}">
                      <a16:colId xmlns:a16="http://schemas.microsoft.com/office/drawing/2014/main" val="4177012732"/>
                    </a:ext>
                  </a:extLst>
                </a:gridCol>
                <a:gridCol w="5991552">
                  <a:extLst>
                    <a:ext uri="{9D8B030D-6E8A-4147-A177-3AD203B41FA5}">
                      <a16:colId xmlns:a16="http://schemas.microsoft.com/office/drawing/2014/main" val="3360696124"/>
                    </a:ext>
                  </a:extLst>
                </a:gridCol>
              </a:tblGrid>
              <a:tr h="396528">
                <a:tc>
                  <a:txBody>
                    <a:bodyPr/>
                    <a:lstStyle/>
                    <a:p>
                      <a:pPr>
                        <a:buNone/>
                      </a:pPr>
                      <a:r>
                        <a:rPr lang="en-US" sz="2800" dirty="0">
                          <a:latin typeface="Calibir"/>
                        </a:rPr>
                        <a:t>What software is used to publish webpages to the web server?</a:t>
                      </a:r>
                    </a:p>
                  </a:txBody>
                  <a:tcPr marL="51192" marR="51192" marT="25596" marB="25596" anchor="ctr"/>
                </a:tc>
                <a:tc>
                  <a:txBody>
                    <a:bodyPr/>
                    <a:lstStyle/>
                    <a:p>
                      <a:pPr>
                        <a:buNone/>
                      </a:pPr>
                      <a:r>
                        <a:rPr lang="en-US" sz="2800">
                          <a:latin typeface="Calibir"/>
                        </a:rPr>
                        <a:t>FileZilla Client is commonly used to upload webpage files to the web server using FTP.</a:t>
                      </a:r>
                    </a:p>
                  </a:txBody>
                  <a:tcPr marL="51192" marR="51192" marT="25596" marB="25596" anchor="ctr"/>
                </a:tc>
                <a:extLst>
                  <a:ext uri="{0D108BD9-81ED-4DB2-BD59-A6C34878D82A}">
                    <a16:rowId xmlns:a16="http://schemas.microsoft.com/office/drawing/2014/main" val="4237206260"/>
                  </a:ext>
                </a:extLst>
              </a:tr>
              <a:tr h="396528">
                <a:tc>
                  <a:txBody>
                    <a:bodyPr/>
                    <a:lstStyle/>
                    <a:p>
                      <a:pPr>
                        <a:buNone/>
                      </a:pPr>
                      <a:r>
                        <a:rPr lang="en-US" sz="2800" dirty="0">
                          <a:latin typeface="Calibir"/>
                        </a:rPr>
                        <a:t>What special software settings are required?</a:t>
                      </a:r>
                    </a:p>
                  </a:txBody>
                  <a:tcPr marL="51192" marR="51192" marT="25596" marB="25596" anchor="ctr"/>
                </a:tc>
                <a:tc>
                  <a:txBody>
                    <a:bodyPr/>
                    <a:lstStyle/>
                    <a:p>
                      <a:pPr>
                        <a:buNone/>
                      </a:pPr>
                      <a:r>
                        <a:rPr lang="en-US" sz="2800" dirty="0">
                          <a:latin typeface="Calibir"/>
                        </a:rPr>
                        <a:t>Host: ftpupload.net Username: provided by hosting company Password: account password Port: 21</a:t>
                      </a:r>
                    </a:p>
                  </a:txBody>
                  <a:tcPr marL="51192" marR="51192" marT="25596" marB="25596" anchor="ctr"/>
                </a:tc>
                <a:extLst>
                  <a:ext uri="{0D108BD9-81ED-4DB2-BD59-A6C34878D82A}">
                    <a16:rowId xmlns:a16="http://schemas.microsoft.com/office/drawing/2014/main" val="2563590609"/>
                  </a:ext>
                </a:extLst>
              </a:tr>
              <a:tr h="396528">
                <a:tc>
                  <a:txBody>
                    <a:bodyPr/>
                    <a:lstStyle/>
                    <a:p>
                      <a:pPr>
                        <a:buNone/>
                      </a:pPr>
                      <a:r>
                        <a:rPr lang="en-US" sz="2800">
                          <a:latin typeface="Calibir"/>
                        </a:rPr>
                        <a:t>Root web folder</a:t>
                      </a:r>
                    </a:p>
                  </a:txBody>
                  <a:tcPr marL="51192" marR="51192" marT="25596" marB="25596" anchor="ctr"/>
                </a:tc>
                <a:tc>
                  <a:txBody>
                    <a:bodyPr/>
                    <a:lstStyle/>
                    <a:p>
                      <a:pPr>
                        <a:buNone/>
                      </a:pPr>
                      <a:r>
                        <a:rPr lang="en-US" sz="2800" dirty="0" err="1">
                          <a:latin typeface="Calibir"/>
                        </a:rPr>
                        <a:t>htdocs</a:t>
                      </a:r>
                      <a:r>
                        <a:rPr lang="en-US" sz="2800" dirty="0">
                          <a:latin typeface="Calibir"/>
                        </a:rPr>
                        <a:t>/</a:t>
                      </a:r>
                    </a:p>
                  </a:txBody>
                  <a:tcPr marL="51192" marR="51192" marT="25596" marB="25596" anchor="ctr"/>
                </a:tc>
                <a:extLst>
                  <a:ext uri="{0D108BD9-81ED-4DB2-BD59-A6C34878D82A}">
                    <a16:rowId xmlns:a16="http://schemas.microsoft.com/office/drawing/2014/main" val="3287668482"/>
                  </a:ext>
                </a:extLst>
              </a:tr>
              <a:tr h="396528">
                <a:tc>
                  <a:txBody>
                    <a:bodyPr/>
                    <a:lstStyle/>
                    <a:p>
                      <a:pPr>
                        <a:buNone/>
                      </a:pPr>
                      <a:r>
                        <a:rPr lang="en-US" sz="2800">
                          <a:latin typeface="Calibir"/>
                        </a:rPr>
                        <a:t>Root URL</a:t>
                      </a:r>
                    </a:p>
                  </a:txBody>
                  <a:tcPr marL="51192" marR="51192" marT="25596" marB="25596" anchor="ctr"/>
                </a:tc>
                <a:tc>
                  <a:txBody>
                    <a:bodyPr/>
                    <a:lstStyle/>
                    <a:p>
                      <a:pPr>
                        <a:buNone/>
                      </a:pPr>
                      <a:r>
                        <a:rPr lang="en-US" sz="2800" dirty="0">
                          <a:latin typeface="Calibir"/>
                        </a:rPr>
                        <a:t>http://studentweb1021.infinityfreeapp.com/</a:t>
                      </a:r>
                    </a:p>
                  </a:txBody>
                  <a:tcPr marL="51192" marR="51192" marT="25596" marB="25596" anchor="ctr"/>
                </a:tc>
                <a:extLst>
                  <a:ext uri="{0D108BD9-81ED-4DB2-BD59-A6C34878D82A}">
                    <a16:rowId xmlns:a16="http://schemas.microsoft.com/office/drawing/2014/main" val="961185084"/>
                  </a:ext>
                </a:extLst>
              </a:tr>
            </a:tbl>
          </a:graphicData>
        </a:graphic>
      </p:graphicFrame>
    </p:spTree>
    <p:extLst>
      <p:ext uri="{BB962C8B-B14F-4D97-AF65-F5344CB8AC3E}">
        <p14:creationId xmlns:p14="http://schemas.microsoft.com/office/powerpoint/2010/main" val="36380617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2DA4-8C54-2032-7EA3-D444143C37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F2478F-DD2F-DB5B-1101-51E233B71C03}"/>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98F87B1C-85FD-7323-2192-BF79F055C050}"/>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2. webpublishing.docx – Web Publishing Information</a:t>
            </a:r>
          </a:p>
          <a:p>
            <a:pPr>
              <a:lnSpc>
                <a:spcPct val="150000"/>
              </a:lnSpc>
            </a:pPr>
            <a:r>
              <a:rPr lang="en-US" sz="2800" b="1" dirty="0">
                <a:latin typeface="Calibir"/>
              </a:rPr>
              <a:t>Information Needed to Publish Files to a Free Web Server</a:t>
            </a:r>
          </a:p>
        </p:txBody>
      </p:sp>
      <p:graphicFrame>
        <p:nvGraphicFramePr>
          <p:cNvPr id="2" name="Table 1">
            <a:extLst>
              <a:ext uri="{FF2B5EF4-FFF2-40B4-BE49-F238E27FC236}">
                <a16:creationId xmlns:a16="http://schemas.microsoft.com/office/drawing/2014/main" id="{E0C98EC5-3698-6949-619D-B88051DED29C}"/>
              </a:ext>
            </a:extLst>
          </p:cNvPr>
          <p:cNvGraphicFramePr>
            <a:graphicFrameLocks noGrp="1"/>
          </p:cNvGraphicFramePr>
          <p:nvPr>
            <p:extLst>
              <p:ext uri="{D42A27DB-BD31-4B8C-83A1-F6EECF244321}">
                <p14:modId xmlns:p14="http://schemas.microsoft.com/office/powerpoint/2010/main" val="3779403933"/>
              </p:ext>
            </p:extLst>
          </p:nvPr>
        </p:nvGraphicFramePr>
        <p:xfrm>
          <a:off x="66268" y="2379151"/>
          <a:ext cx="11983104" cy="3171096"/>
        </p:xfrm>
        <a:graphic>
          <a:graphicData uri="http://schemas.openxmlformats.org/drawingml/2006/table">
            <a:tbl>
              <a:tblPr>
                <a:tableStyleId>{BDBED569-4797-4DF1-A0F4-6AAB3CD982D8}</a:tableStyleId>
              </a:tblPr>
              <a:tblGrid>
                <a:gridCol w="5991552">
                  <a:extLst>
                    <a:ext uri="{9D8B030D-6E8A-4147-A177-3AD203B41FA5}">
                      <a16:colId xmlns:a16="http://schemas.microsoft.com/office/drawing/2014/main" val="4177012732"/>
                    </a:ext>
                  </a:extLst>
                </a:gridCol>
                <a:gridCol w="5991552">
                  <a:extLst>
                    <a:ext uri="{9D8B030D-6E8A-4147-A177-3AD203B41FA5}">
                      <a16:colId xmlns:a16="http://schemas.microsoft.com/office/drawing/2014/main" val="3360696124"/>
                    </a:ext>
                  </a:extLst>
                </a:gridCol>
              </a:tblGrid>
              <a:tr h="396528">
                <a:tc>
                  <a:txBody>
                    <a:bodyPr/>
                    <a:lstStyle/>
                    <a:p>
                      <a:pPr>
                        <a:buNone/>
                      </a:pPr>
                      <a:r>
                        <a:rPr lang="en-US" sz="2200" dirty="0">
                          <a:latin typeface="Calibir"/>
                        </a:rPr>
                        <a:t>What URL is created by the server?</a:t>
                      </a:r>
                    </a:p>
                  </a:txBody>
                  <a:tcPr marL="51192" marR="51192" marT="25596" marB="25596" anchor="ctr"/>
                </a:tc>
                <a:tc>
                  <a:txBody>
                    <a:bodyPr/>
                    <a:lstStyle/>
                    <a:p>
                      <a:pPr>
                        <a:buNone/>
                      </a:pPr>
                      <a:r>
                        <a:rPr lang="en-US" sz="2200" dirty="0">
                          <a:latin typeface="Calibir"/>
                        </a:rPr>
                        <a:t>Files uploaded to </a:t>
                      </a:r>
                      <a:r>
                        <a:rPr lang="en-US" sz="2200" dirty="0" err="1">
                          <a:latin typeface="Calibir"/>
                        </a:rPr>
                        <a:t>htdocs</a:t>
                      </a:r>
                      <a:r>
                        <a:rPr lang="en-US" sz="2200" dirty="0">
                          <a:latin typeface="Calibir"/>
                        </a:rPr>
                        <a:t>/index.html become available at: http://studentweb1021.infinityfreeapp.com/index.html</a:t>
                      </a:r>
                    </a:p>
                  </a:txBody>
                  <a:tcPr marL="51192" marR="51192" marT="25596" marB="25596" anchor="ctr"/>
                </a:tc>
                <a:extLst>
                  <a:ext uri="{0D108BD9-81ED-4DB2-BD59-A6C34878D82A}">
                    <a16:rowId xmlns:a16="http://schemas.microsoft.com/office/drawing/2014/main" val="4237206260"/>
                  </a:ext>
                </a:extLst>
              </a:tr>
              <a:tr h="396528">
                <a:tc>
                  <a:txBody>
                    <a:bodyPr/>
                    <a:lstStyle/>
                    <a:p>
                      <a:pPr>
                        <a:buNone/>
                      </a:pPr>
                      <a:r>
                        <a:rPr lang="en-US" sz="2200">
                          <a:latin typeface="Calibir"/>
                        </a:rPr>
                        <a:t>How do I contact my free web server Help Desk if needed?</a:t>
                      </a:r>
                    </a:p>
                  </a:txBody>
                  <a:tcPr marL="51192" marR="51192" marT="25596" marB="25596" anchor="ctr"/>
                </a:tc>
                <a:tc>
                  <a:txBody>
                    <a:bodyPr/>
                    <a:lstStyle/>
                    <a:p>
                      <a:pPr>
                        <a:buNone/>
                      </a:pPr>
                      <a:r>
                        <a:rPr lang="en-US" sz="2200" dirty="0">
                          <a:latin typeface="Calibir"/>
                        </a:rPr>
                        <a:t>Support forums and help pages are available at </a:t>
                      </a:r>
                      <a:r>
                        <a:rPr lang="en-US" sz="2200" dirty="0">
                          <a:latin typeface="Calibir"/>
                          <a:hlinkClick r:id="rId2"/>
                        </a:rPr>
                        <a:t>https://forum.infinityfree.com/</a:t>
                      </a:r>
                      <a:endParaRPr lang="en-US" sz="2200" dirty="0">
                        <a:latin typeface="Calibir"/>
                      </a:endParaRPr>
                    </a:p>
                  </a:txBody>
                  <a:tcPr marL="51192" marR="51192" marT="25596" marB="25596" anchor="ctr"/>
                </a:tc>
                <a:extLst>
                  <a:ext uri="{0D108BD9-81ED-4DB2-BD59-A6C34878D82A}">
                    <a16:rowId xmlns:a16="http://schemas.microsoft.com/office/drawing/2014/main" val="2563590609"/>
                  </a:ext>
                </a:extLst>
              </a:tr>
              <a:tr h="396528">
                <a:tc>
                  <a:txBody>
                    <a:bodyPr/>
                    <a:lstStyle/>
                    <a:p>
                      <a:pPr>
                        <a:buNone/>
                      </a:pPr>
                      <a:r>
                        <a:rPr lang="en-US" sz="2200">
                          <a:latin typeface="Calibir"/>
                        </a:rPr>
                        <a:t>Where can I get additional help on how to publish my webpages?</a:t>
                      </a:r>
                    </a:p>
                  </a:txBody>
                  <a:tcPr marL="51192" marR="51192" marT="25596" marB="25596" anchor="ctr"/>
                </a:tc>
                <a:tc>
                  <a:txBody>
                    <a:bodyPr/>
                    <a:lstStyle/>
                    <a:p>
                      <a:pPr>
                        <a:buNone/>
                      </a:pPr>
                      <a:r>
                        <a:rPr lang="en-US" sz="2200" dirty="0">
                          <a:latin typeface="Calibir"/>
                        </a:rPr>
                        <a:t>YouTube tutorials, FileZilla tutorials, and hosting provider documentation can be used for additional support.</a:t>
                      </a:r>
                    </a:p>
                  </a:txBody>
                  <a:tcPr marL="51192" marR="51192" marT="25596" marB="25596" anchor="ctr"/>
                </a:tc>
                <a:extLst>
                  <a:ext uri="{0D108BD9-81ED-4DB2-BD59-A6C34878D82A}">
                    <a16:rowId xmlns:a16="http://schemas.microsoft.com/office/drawing/2014/main" val="3287668482"/>
                  </a:ext>
                </a:extLst>
              </a:tr>
            </a:tbl>
          </a:graphicData>
        </a:graphic>
      </p:graphicFrame>
    </p:spTree>
    <p:extLst>
      <p:ext uri="{BB962C8B-B14F-4D97-AF65-F5344CB8AC3E}">
        <p14:creationId xmlns:p14="http://schemas.microsoft.com/office/powerpoint/2010/main" val="6263156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EEB0-B4B6-CF12-C0E6-804B66AEDC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71BA4B-A507-C8F4-08D7-03147A8BF05C}"/>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D0F7F4BC-C36E-0657-28BF-B58C8BABB59E}"/>
              </a:ext>
            </a:extLst>
          </p:cNvPr>
          <p:cNvSpPr txBox="1"/>
          <p:nvPr/>
        </p:nvSpPr>
        <p:spPr>
          <a:xfrm>
            <a:off x="0" y="746093"/>
            <a:ext cx="12192000" cy="2610843"/>
          </a:xfrm>
          <a:prstGeom prst="rect">
            <a:avLst/>
          </a:prstGeom>
          <a:noFill/>
        </p:spPr>
        <p:txBody>
          <a:bodyPr wrap="square">
            <a:spAutoFit/>
          </a:bodyPr>
          <a:lstStyle/>
          <a:p>
            <a:pPr>
              <a:lnSpc>
                <a:spcPct val="150000"/>
              </a:lnSpc>
            </a:pPr>
            <a:r>
              <a:rPr lang="en-US" sz="2800" b="1" dirty="0">
                <a:latin typeface="Calibir"/>
              </a:rPr>
              <a:t>Three Ways Free Web Hosting Companies Generate Revenue</a:t>
            </a:r>
          </a:p>
          <a:p>
            <a:pPr marL="971550" lvl="1" indent="-514350">
              <a:lnSpc>
                <a:spcPct val="150000"/>
              </a:lnSpc>
              <a:buFont typeface="+mj-lt"/>
              <a:buAutoNum type="arabicPeriod"/>
            </a:pPr>
            <a:r>
              <a:rPr lang="en-US" sz="2800" dirty="0">
                <a:latin typeface="Calibir"/>
              </a:rPr>
              <a:t>Advertisements placed on free websites </a:t>
            </a:r>
          </a:p>
          <a:p>
            <a:pPr marL="971550" lvl="1" indent="-514350">
              <a:lnSpc>
                <a:spcPct val="150000"/>
              </a:lnSpc>
              <a:buFont typeface="+mj-lt"/>
              <a:buAutoNum type="arabicPeriod"/>
            </a:pPr>
            <a:r>
              <a:rPr lang="en-US" sz="2800" dirty="0">
                <a:latin typeface="Calibir"/>
              </a:rPr>
              <a:t>Selling premium hosting plans and upgrades </a:t>
            </a:r>
          </a:p>
          <a:p>
            <a:pPr marL="971550" lvl="1" indent="-514350">
              <a:lnSpc>
                <a:spcPct val="150000"/>
              </a:lnSpc>
              <a:buFont typeface="+mj-lt"/>
              <a:buAutoNum type="arabicPeriod"/>
            </a:pPr>
            <a:r>
              <a:rPr lang="en-US" sz="2800" dirty="0">
                <a:latin typeface="Calibir"/>
              </a:rPr>
              <a:t>Selling domain names and additional services</a:t>
            </a:r>
          </a:p>
        </p:txBody>
      </p:sp>
    </p:spTree>
    <p:extLst>
      <p:ext uri="{BB962C8B-B14F-4D97-AF65-F5344CB8AC3E}">
        <p14:creationId xmlns:p14="http://schemas.microsoft.com/office/powerpoint/2010/main" val="30476734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3615-673E-B147-4179-A6C94338CB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402D71-6F1A-FCB7-6062-EEDE7FA9B36E}"/>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6C8AC618-8E23-5D9A-1B2E-8BBC32CFF5AA}"/>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3. webserveralternatives.docx – Web Hosting Alternatives</a:t>
            </a:r>
          </a:p>
          <a:p>
            <a:pPr>
              <a:lnSpc>
                <a:spcPct val="150000"/>
              </a:lnSpc>
            </a:pPr>
            <a:r>
              <a:rPr lang="en-US" sz="2800" b="1" dirty="0">
                <a:latin typeface="Calibir"/>
              </a:rPr>
              <a:t>Web Hosting Alternatives Comparison</a:t>
            </a:r>
          </a:p>
        </p:txBody>
      </p:sp>
      <p:graphicFrame>
        <p:nvGraphicFramePr>
          <p:cNvPr id="2" name="Table 1">
            <a:extLst>
              <a:ext uri="{FF2B5EF4-FFF2-40B4-BE49-F238E27FC236}">
                <a16:creationId xmlns:a16="http://schemas.microsoft.com/office/drawing/2014/main" id="{401C58EB-3DD1-6F93-D486-985B437F4F8D}"/>
              </a:ext>
            </a:extLst>
          </p:cNvPr>
          <p:cNvGraphicFramePr>
            <a:graphicFrameLocks noGrp="1"/>
          </p:cNvGraphicFramePr>
          <p:nvPr>
            <p:extLst>
              <p:ext uri="{D42A27DB-BD31-4B8C-83A1-F6EECF244321}">
                <p14:modId xmlns:p14="http://schemas.microsoft.com/office/powerpoint/2010/main" val="386709867"/>
              </p:ext>
            </p:extLst>
          </p:nvPr>
        </p:nvGraphicFramePr>
        <p:xfrm>
          <a:off x="0" y="2238042"/>
          <a:ext cx="11821976" cy="3489120"/>
        </p:xfrm>
        <a:graphic>
          <a:graphicData uri="http://schemas.openxmlformats.org/drawingml/2006/table">
            <a:tbl>
              <a:tblPr>
                <a:tableStyleId>{BDBED569-4797-4DF1-A0F4-6AAB3CD982D8}</a:tableStyleId>
              </a:tblPr>
              <a:tblGrid>
                <a:gridCol w="2955494">
                  <a:extLst>
                    <a:ext uri="{9D8B030D-6E8A-4147-A177-3AD203B41FA5}">
                      <a16:colId xmlns:a16="http://schemas.microsoft.com/office/drawing/2014/main" val="1703334681"/>
                    </a:ext>
                  </a:extLst>
                </a:gridCol>
                <a:gridCol w="2955494">
                  <a:extLst>
                    <a:ext uri="{9D8B030D-6E8A-4147-A177-3AD203B41FA5}">
                      <a16:colId xmlns:a16="http://schemas.microsoft.com/office/drawing/2014/main" val="3261449132"/>
                    </a:ext>
                  </a:extLst>
                </a:gridCol>
                <a:gridCol w="2955494">
                  <a:extLst>
                    <a:ext uri="{9D8B030D-6E8A-4147-A177-3AD203B41FA5}">
                      <a16:colId xmlns:a16="http://schemas.microsoft.com/office/drawing/2014/main" val="2400014401"/>
                    </a:ext>
                  </a:extLst>
                </a:gridCol>
                <a:gridCol w="2955494">
                  <a:extLst>
                    <a:ext uri="{9D8B030D-6E8A-4147-A177-3AD203B41FA5}">
                      <a16:colId xmlns:a16="http://schemas.microsoft.com/office/drawing/2014/main" val="2347456108"/>
                    </a:ext>
                  </a:extLst>
                </a:gridCol>
              </a:tblGrid>
              <a:tr h="429859">
                <a:tc>
                  <a:txBody>
                    <a:bodyPr/>
                    <a:lstStyle/>
                    <a:p>
                      <a:pPr>
                        <a:buNone/>
                      </a:pPr>
                      <a:endParaRPr lang="en-US" sz="2800" dirty="0">
                        <a:latin typeface="Calibir"/>
                      </a:endParaRPr>
                    </a:p>
                  </a:txBody>
                  <a:tcPr marL="83680" marR="83680" marT="41840" marB="41840" anchor="ctr"/>
                </a:tc>
                <a:tc>
                  <a:txBody>
                    <a:bodyPr/>
                    <a:lstStyle/>
                    <a:p>
                      <a:pPr>
                        <a:buNone/>
                      </a:pPr>
                      <a:r>
                        <a:rPr lang="en-US" sz="2800">
                          <a:latin typeface="Calibir"/>
                        </a:rPr>
                        <a:t>Alternative 1</a:t>
                      </a:r>
                    </a:p>
                  </a:txBody>
                  <a:tcPr marL="83680" marR="83680" marT="41840" marB="41840" anchor="ctr"/>
                </a:tc>
                <a:tc>
                  <a:txBody>
                    <a:bodyPr/>
                    <a:lstStyle/>
                    <a:p>
                      <a:pPr>
                        <a:buNone/>
                      </a:pPr>
                      <a:r>
                        <a:rPr lang="en-US" sz="2800">
                          <a:latin typeface="Calibir"/>
                        </a:rPr>
                        <a:t>Alternative 2</a:t>
                      </a:r>
                    </a:p>
                  </a:txBody>
                  <a:tcPr marL="83680" marR="83680" marT="41840" marB="41840" anchor="ctr"/>
                </a:tc>
                <a:tc>
                  <a:txBody>
                    <a:bodyPr/>
                    <a:lstStyle/>
                    <a:p>
                      <a:pPr>
                        <a:buNone/>
                      </a:pPr>
                      <a:r>
                        <a:rPr lang="en-US" sz="2800">
                          <a:latin typeface="Calibir"/>
                        </a:rPr>
                        <a:t>Alternative 3</a:t>
                      </a:r>
                    </a:p>
                  </a:txBody>
                  <a:tcPr marL="83680" marR="83680" marT="41840" marB="41840" anchor="ctr"/>
                </a:tc>
                <a:extLst>
                  <a:ext uri="{0D108BD9-81ED-4DB2-BD59-A6C34878D82A}">
                    <a16:rowId xmlns:a16="http://schemas.microsoft.com/office/drawing/2014/main" val="1729446722"/>
                  </a:ext>
                </a:extLst>
              </a:tr>
              <a:tr h="429859">
                <a:tc>
                  <a:txBody>
                    <a:bodyPr/>
                    <a:lstStyle/>
                    <a:p>
                      <a:pPr>
                        <a:buNone/>
                      </a:pPr>
                      <a:r>
                        <a:rPr lang="en-US" sz="2800">
                          <a:latin typeface="Calibir"/>
                        </a:rPr>
                        <a:t>Websites</a:t>
                      </a:r>
                    </a:p>
                  </a:txBody>
                  <a:tcPr marL="83680" marR="83680" marT="41840" marB="41840" anchor="ctr"/>
                </a:tc>
                <a:tc>
                  <a:txBody>
                    <a:bodyPr/>
                    <a:lstStyle/>
                    <a:p>
                      <a:pPr>
                        <a:buNone/>
                      </a:pPr>
                      <a:r>
                        <a:rPr lang="en-US" sz="2800">
                          <a:latin typeface="Calibir"/>
                        </a:rPr>
                        <a:t>Hostinger.com</a:t>
                      </a:r>
                    </a:p>
                  </a:txBody>
                  <a:tcPr marL="83680" marR="83680" marT="41840" marB="41840" anchor="ctr"/>
                </a:tc>
                <a:tc>
                  <a:txBody>
                    <a:bodyPr/>
                    <a:lstStyle/>
                    <a:p>
                      <a:pPr>
                        <a:buNone/>
                      </a:pPr>
                      <a:r>
                        <a:rPr lang="en-US" sz="2800">
                          <a:latin typeface="Calibir"/>
                        </a:rPr>
                        <a:t>GoDaddy.com</a:t>
                      </a:r>
                    </a:p>
                  </a:txBody>
                  <a:tcPr marL="83680" marR="83680" marT="41840" marB="41840" anchor="ctr"/>
                </a:tc>
                <a:tc>
                  <a:txBody>
                    <a:bodyPr/>
                    <a:lstStyle/>
                    <a:p>
                      <a:pPr>
                        <a:buNone/>
                      </a:pPr>
                      <a:r>
                        <a:rPr lang="en-US" sz="2800">
                          <a:latin typeface="Calibir"/>
                        </a:rPr>
                        <a:t>HostGator.com</a:t>
                      </a:r>
                    </a:p>
                  </a:txBody>
                  <a:tcPr marL="83680" marR="83680" marT="41840" marB="41840" anchor="ctr"/>
                </a:tc>
                <a:extLst>
                  <a:ext uri="{0D108BD9-81ED-4DB2-BD59-A6C34878D82A}">
                    <a16:rowId xmlns:a16="http://schemas.microsoft.com/office/drawing/2014/main" val="4181158700"/>
                  </a:ext>
                </a:extLst>
              </a:tr>
              <a:tr h="773861">
                <a:tc>
                  <a:txBody>
                    <a:bodyPr/>
                    <a:lstStyle/>
                    <a:p>
                      <a:pPr>
                        <a:buNone/>
                      </a:pPr>
                      <a:r>
                        <a:rPr lang="en-US" sz="2800">
                          <a:latin typeface="Calibir"/>
                        </a:rPr>
                        <a:t>Cost for most basic plan</a:t>
                      </a:r>
                    </a:p>
                  </a:txBody>
                  <a:tcPr marL="83680" marR="83680" marT="41840" marB="41840" anchor="ctr"/>
                </a:tc>
                <a:tc>
                  <a:txBody>
                    <a:bodyPr/>
                    <a:lstStyle/>
                    <a:p>
                      <a:pPr>
                        <a:buNone/>
                      </a:pPr>
                      <a:r>
                        <a:rPr lang="en-US" sz="2800">
                          <a:latin typeface="Calibir"/>
                        </a:rPr>
                        <a:t>$2.99/month</a:t>
                      </a:r>
                    </a:p>
                  </a:txBody>
                  <a:tcPr marL="83680" marR="83680" marT="41840" marB="41840" anchor="ctr"/>
                </a:tc>
                <a:tc>
                  <a:txBody>
                    <a:bodyPr/>
                    <a:lstStyle/>
                    <a:p>
                      <a:pPr>
                        <a:buNone/>
                      </a:pPr>
                      <a:r>
                        <a:rPr lang="en-US" sz="2800">
                          <a:latin typeface="Calibir"/>
                        </a:rPr>
                        <a:t>$4.99/month</a:t>
                      </a:r>
                    </a:p>
                  </a:txBody>
                  <a:tcPr marL="83680" marR="83680" marT="41840" marB="41840" anchor="ctr"/>
                </a:tc>
                <a:tc>
                  <a:txBody>
                    <a:bodyPr/>
                    <a:lstStyle/>
                    <a:p>
                      <a:pPr>
                        <a:buNone/>
                      </a:pPr>
                      <a:r>
                        <a:rPr lang="en-US" sz="2800">
                          <a:latin typeface="Calibir"/>
                        </a:rPr>
                        <a:t>$3.75/month</a:t>
                      </a:r>
                    </a:p>
                  </a:txBody>
                  <a:tcPr marL="83680" marR="83680" marT="41840" marB="41840" anchor="ctr"/>
                </a:tc>
                <a:extLst>
                  <a:ext uri="{0D108BD9-81ED-4DB2-BD59-A6C34878D82A}">
                    <a16:rowId xmlns:a16="http://schemas.microsoft.com/office/drawing/2014/main" val="2101667588"/>
                  </a:ext>
                </a:extLst>
              </a:tr>
              <a:tr h="429859">
                <a:tc>
                  <a:txBody>
                    <a:bodyPr/>
                    <a:lstStyle/>
                    <a:p>
                      <a:pPr>
                        <a:buNone/>
                      </a:pPr>
                      <a:r>
                        <a:rPr lang="en-US" sz="2800">
                          <a:latin typeface="Calibir"/>
                        </a:rPr>
                        <a:t>Contract length</a:t>
                      </a:r>
                    </a:p>
                  </a:txBody>
                  <a:tcPr marL="83680" marR="83680" marT="41840" marB="41840" anchor="ctr"/>
                </a:tc>
                <a:tc>
                  <a:txBody>
                    <a:bodyPr/>
                    <a:lstStyle/>
                    <a:p>
                      <a:pPr>
                        <a:buNone/>
                      </a:pPr>
                      <a:r>
                        <a:rPr lang="en-US" sz="2800" dirty="0">
                          <a:latin typeface="Calibir"/>
                        </a:rPr>
                        <a:t>1 year</a:t>
                      </a:r>
                    </a:p>
                  </a:txBody>
                  <a:tcPr marL="83680" marR="83680" marT="41840" marB="41840" anchor="ctr"/>
                </a:tc>
                <a:tc>
                  <a:txBody>
                    <a:bodyPr/>
                    <a:lstStyle/>
                    <a:p>
                      <a:pPr>
                        <a:buNone/>
                      </a:pPr>
                      <a:r>
                        <a:rPr lang="en-US" sz="2800">
                          <a:latin typeface="Calibir"/>
                        </a:rPr>
                        <a:t>1 year</a:t>
                      </a:r>
                    </a:p>
                  </a:txBody>
                  <a:tcPr marL="83680" marR="83680" marT="41840" marB="41840" anchor="ctr"/>
                </a:tc>
                <a:tc>
                  <a:txBody>
                    <a:bodyPr/>
                    <a:lstStyle/>
                    <a:p>
                      <a:pPr>
                        <a:buNone/>
                      </a:pPr>
                      <a:r>
                        <a:rPr lang="en-US" sz="2800">
                          <a:latin typeface="Calibir"/>
                        </a:rPr>
                        <a:t>3 years</a:t>
                      </a:r>
                    </a:p>
                  </a:txBody>
                  <a:tcPr marL="83680" marR="83680" marT="41840" marB="41840" anchor="ctr"/>
                </a:tc>
                <a:extLst>
                  <a:ext uri="{0D108BD9-81ED-4DB2-BD59-A6C34878D82A}">
                    <a16:rowId xmlns:a16="http://schemas.microsoft.com/office/drawing/2014/main" val="2235578866"/>
                  </a:ext>
                </a:extLst>
              </a:tr>
              <a:tr h="429859">
                <a:tc>
                  <a:txBody>
                    <a:bodyPr/>
                    <a:lstStyle/>
                    <a:p>
                      <a:pPr>
                        <a:buNone/>
                      </a:pPr>
                      <a:r>
                        <a:rPr lang="en-US" sz="2800">
                          <a:latin typeface="Calibir"/>
                        </a:rPr>
                        <a:t>Disk space</a:t>
                      </a:r>
                    </a:p>
                  </a:txBody>
                  <a:tcPr marL="83680" marR="83680" marT="41840" marB="41840" anchor="ctr"/>
                </a:tc>
                <a:tc>
                  <a:txBody>
                    <a:bodyPr/>
                    <a:lstStyle/>
                    <a:p>
                      <a:pPr>
                        <a:buNone/>
                      </a:pPr>
                      <a:r>
                        <a:rPr lang="en-US" sz="2800">
                          <a:latin typeface="Calibir"/>
                        </a:rPr>
                        <a:t>50 GB</a:t>
                      </a:r>
                    </a:p>
                  </a:txBody>
                  <a:tcPr marL="83680" marR="83680" marT="41840" marB="41840" anchor="ctr"/>
                </a:tc>
                <a:tc>
                  <a:txBody>
                    <a:bodyPr/>
                    <a:lstStyle/>
                    <a:p>
                      <a:pPr>
                        <a:buNone/>
                      </a:pPr>
                      <a:r>
                        <a:rPr lang="en-US" sz="2800">
                          <a:latin typeface="Calibir"/>
                        </a:rPr>
                        <a:t>100 GB</a:t>
                      </a:r>
                    </a:p>
                  </a:txBody>
                  <a:tcPr marL="83680" marR="83680" marT="41840" marB="41840" anchor="ctr"/>
                </a:tc>
                <a:tc>
                  <a:txBody>
                    <a:bodyPr/>
                    <a:lstStyle/>
                    <a:p>
                      <a:pPr>
                        <a:buNone/>
                      </a:pPr>
                      <a:r>
                        <a:rPr lang="en-US" sz="2800">
                          <a:latin typeface="Calibir"/>
                        </a:rPr>
                        <a:t>Unlimited</a:t>
                      </a:r>
                    </a:p>
                  </a:txBody>
                  <a:tcPr marL="83680" marR="83680" marT="41840" marB="41840" anchor="ctr"/>
                </a:tc>
                <a:extLst>
                  <a:ext uri="{0D108BD9-81ED-4DB2-BD59-A6C34878D82A}">
                    <a16:rowId xmlns:a16="http://schemas.microsoft.com/office/drawing/2014/main" val="2021444835"/>
                  </a:ext>
                </a:extLst>
              </a:tr>
              <a:tr h="429859">
                <a:tc>
                  <a:txBody>
                    <a:bodyPr/>
                    <a:lstStyle/>
                    <a:p>
                      <a:pPr>
                        <a:buNone/>
                      </a:pPr>
                      <a:r>
                        <a:rPr lang="en-US" sz="2800">
                          <a:latin typeface="Calibir"/>
                        </a:rPr>
                        <a:t>Domain name</a:t>
                      </a:r>
                    </a:p>
                  </a:txBody>
                  <a:tcPr marL="83680" marR="83680" marT="41840" marB="41840" anchor="ctr"/>
                </a:tc>
                <a:tc>
                  <a:txBody>
                    <a:bodyPr/>
                    <a:lstStyle/>
                    <a:p>
                      <a:pPr>
                        <a:buNone/>
                      </a:pPr>
                      <a:r>
                        <a:rPr lang="en-US" sz="2800" dirty="0">
                          <a:latin typeface="Calibir"/>
                        </a:rPr>
                        <a:t>Included</a:t>
                      </a:r>
                    </a:p>
                  </a:txBody>
                  <a:tcPr marL="83680" marR="83680" marT="41840" marB="41840" anchor="ctr"/>
                </a:tc>
                <a:tc>
                  <a:txBody>
                    <a:bodyPr/>
                    <a:lstStyle/>
                    <a:p>
                      <a:pPr>
                        <a:buNone/>
                      </a:pPr>
                      <a:r>
                        <a:rPr lang="en-US" sz="2800" dirty="0">
                          <a:latin typeface="Calibir"/>
                        </a:rPr>
                        <a:t>Included</a:t>
                      </a:r>
                    </a:p>
                  </a:txBody>
                  <a:tcPr marL="83680" marR="83680" marT="41840" marB="41840" anchor="ctr"/>
                </a:tc>
                <a:tc>
                  <a:txBody>
                    <a:bodyPr/>
                    <a:lstStyle/>
                    <a:p>
                      <a:pPr>
                        <a:buNone/>
                      </a:pPr>
                      <a:r>
                        <a:rPr lang="en-US" sz="2800" dirty="0">
                          <a:latin typeface="Calibir"/>
                        </a:rPr>
                        <a:t>Included</a:t>
                      </a:r>
                    </a:p>
                  </a:txBody>
                  <a:tcPr marL="83680" marR="83680" marT="41840" marB="41840" anchor="ctr"/>
                </a:tc>
                <a:extLst>
                  <a:ext uri="{0D108BD9-81ED-4DB2-BD59-A6C34878D82A}">
                    <a16:rowId xmlns:a16="http://schemas.microsoft.com/office/drawing/2014/main" val="3658219307"/>
                  </a:ext>
                </a:extLst>
              </a:tr>
            </a:tbl>
          </a:graphicData>
        </a:graphic>
      </p:graphicFrame>
    </p:spTree>
    <p:extLst>
      <p:ext uri="{BB962C8B-B14F-4D97-AF65-F5344CB8AC3E}">
        <p14:creationId xmlns:p14="http://schemas.microsoft.com/office/powerpoint/2010/main" val="40084279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F8A5-A5F1-96DA-1A99-FB1E4A389E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A986CD-20BB-EE5E-2EA2-DFF79D14F590}"/>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F45A2E7B-7560-A2BD-F6B4-AC005F2DB16A}"/>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3. webserveralternatives.docx – Web Hosting Alternatives</a:t>
            </a:r>
          </a:p>
          <a:p>
            <a:pPr>
              <a:lnSpc>
                <a:spcPct val="150000"/>
              </a:lnSpc>
            </a:pPr>
            <a:r>
              <a:rPr lang="en-US" sz="2800" b="1" dirty="0">
                <a:latin typeface="Calibir"/>
              </a:rPr>
              <a:t>Web Hosting Alternatives Comparison</a:t>
            </a:r>
          </a:p>
        </p:txBody>
      </p:sp>
      <p:graphicFrame>
        <p:nvGraphicFramePr>
          <p:cNvPr id="2" name="Table 1">
            <a:extLst>
              <a:ext uri="{FF2B5EF4-FFF2-40B4-BE49-F238E27FC236}">
                <a16:creationId xmlns:a16="http://schemas.microsoft.com/office/drawing/2014/main" id="{87DD4646-11CF-D4F3-840C-A1BFE1BD674D}"/>
              </a:ext>
            </a:extLst>
          </p:cNvPr>
          <p:cNvGraphicFramePr>
            <a:graphicFrameLocks noGrp="1"/>
          </p:cNvGraphicFramePr>
          <p:nvPr>
            <p:extLst>
              <p:ext uri="{D42A27DB-BD31-4B8C-83A1-F6EECF244321}">
                <p14:modId xmlns:p14="http://schemas.microsoft.com/office/powerpoint/2010/main" val="3829833765"/>
              </p:ext>
            </p:extLst>
          </p:nvPr>
        </p:nvGraphicFramePr>
        <p:xfrm>
          <a:off x="0" y="2172400"/>
          <a:ext cx="11821976" cy="4685600"/>
        </p:xfrm>
        <a:graphic>
          <a:graphicData uri="http://schemas.openxmlformats.org/drawingml/2006/table">
            <a:tbl>
              <a:tblPr>
                <a:tableStyleId>{BDBED569-4797-4DF1-A0F4-6AAB3CD982D8}</a:tableStyleId>
              </a:tblPr>
              <a:tblGrid>
                <a:gridCol w="2955494">
                  <a:extLst>
                    <a:ext uri="{9D8B030D-6E8A-4147-A177-3AD203B41FA5}">
                      <a16:colId xmlns:a16="http://schemas.microsoft.com/office/drawing/2014/main" val="1703334681"/>
                    </a:ext>
                  </a:extLst>
                </a:gridCol>
                <a:gridCol w="2955494">
                  <a:extLst>
                    <a:ext uri="{9D8B030D-6E8A-4147-A177-3AD203B41FA5}">
                      <a16:colId xmlns:a16="http://schemas.microsoft.com/office/drawing/2014/main" val="3261449132"/>
                    </a:ext>
                  </a:extLst>
                </a:gridCol>
                <a:gridCol w="2955494">
                  <a:extLst>
                    <a:ext uri="{9D8B030D-6E8A-4147-A177-3AD203B41FA5}">
                      <a16:colId xmlns:a16="http://schemas.microsoft.com/office/drawing/2014/main" val="2400014401"/>
                    </a:ext>
                  </a:extLst>
                </a:gridCol>
                <a:gridCol w="2955494">
                  <a:extLst>
                    <a:ext uri="{9D8B030D-6E8A-4147-A177-3AD203B41FA5}">
                      <a16:colId xmlns:a16="http://schemas.microsoft.com/office/drawing/2014/main" val="2347456108"/>
                    </a:ext>
                  </a:extLst>
                </a:gridCol>
              </a:tblGrid>
              <a:tr h="429859">
                <a:tc>
                  <a:txBody>
                    <a:bodyPr/>
                    <a:lstStyle/>
                    <a:p>
                      <a:pPr>
                        <a:buNone/>
                      </a:pPr>
                      <a:endParaRPr lang="en-US" sz="2800" dirty="0">
                        <a:latin typeface="Calibir"/>
                      </a:endParaRPr>
                    </a:p>
                  </a:txBody>
                  <a:tcPr marL="83680" marR="83680" marT="41840" marB="41840" anchor="ctr"/>
                </a:tc>
                <a:tc>
                  <a:txBody>
                    <a:bodyPr/>
                    <a:lstStyle/>
                    <a:p>
                      <a:pPr>
                        <a:buNone/>
                      </a:pPr>
                      <a:r>
                        <a:rPr lang="en-US" sz="2800">
                          <a:latin typeface="Calibir"/>
                        </a:rPr>
                        <a:t>Alternative 1</a:t>
                      </a:r>
                    </a:p>
                  </a:txBody>
                  <a:tcPr marL="83680" marR="83680" marT="41840" marB="41840" anchor="ctr"/>
                </a:tc>
                <a:tc>
                  <a:txBody>
                    <a:bodyPr/>
                    <a:lstStyle/>
                    <a:p>
                      <a:pPr>
                        <a:buNone/>
                      </a:pPr>
                      <a:r>
                        <a:rPr lang="en-US" sz="2800">
                          <a:latin typeface="Calibir"/>
                        </a:rPr>
                        <a:t>Alternative 2</a:t>
                      </a:r>
                    </a:p>
                  </a:txBody>
                  <a:tcPr marL="83680" marR="83680" marT="41840" marB="41840" anchor="ctr"/>
                </a:tc>
                <a:tc>
                  <a:txBody>
                    <a:bodyPr/>
                    <a:lstStyle/>
                    <a:p>
                      <a:pPr>
                        <a:buNone/>
                      </a:pPr>
                      <a:r>
                        <a:rPr lang="en-US" sz="2800">
                          <a:latin typeface="Calibir"/>
                        </a:rPr>
                        <a:t>Alternative 3</a:t>
                      </a:r>
                    </a:p>
                  </a:txBody>
                  <a:tcPr marL="83680" marR="83680" marT="41840" marB="41840" anchor="ctr"/>
                </a:tc>
                <a:extLst>
                  <a:ext uri="{0D108BD9-81ED-4DB2-BD59-A6C34878D82A}">
                    <a16:rowId xmlns:a16="http://schemas.microsoft.com/office/drawing/2014/main" val="1729446722"/>
                  </a:ext>
                </a:extLst>
              </a:tr>
              <a:tr h="429859">
                <a:tc>
                  <a:txBody>
                    <a:bodyPr/>
                    <a:lstStyle/>
                    <a:p>
                      <a:pPr>
                        <a:buNone/>
                      </a:pPr>
                      <a:r>
                        <a:rPr lang="en-US" sz="2800" dirty="0">
                          <a:latin typeface="Calibir"/>
                        </a:rPr>
                        <a:t>Traffic</a:t>
                      </a:r>
                    </a:p>
                  </a:txBody>
                  <a:tcPr marL="83680" marR="83680" marT="41840" marB="41840" anchor="ctr"/>
                </a:tc>
                <a:tc>
                  <a:txBody>
                    <a:bodyPr/>
                    <a:lstStyle/>
                    <a:p>
                      <a:pPr>
                        <a:buNone/>
                      </a:pPr>
                      <a:r>
                        <a:rPr lang="en-US" sz="2800">
                          <a:latin typeface="Calibir"/>
                        </a:rPr>
                        <a:t>Unlimited</a:t>
                      </a:r>
                    </a:p>
                  </a:txBody>
                  <a:tcPr marL="83680" marR="83680" marT="41840" marB="41840" anchor="ctr"/>
                </a:tc>
                <a:tc>
                  <a:txBody>
                    <a:bodyPr/>
                    <a:lstStyle/>
                    <a:p>
                      <a:pPr>
                        <a:buNone/>
                      </a:pPr>
                      <a:r>
                        <a:rPr lang="en-US" sz="2800">
                          <a:latin typeface="Calibir"/>
                        </a:rPr>
                        <a:t>Unlimited</a:t>
                      </a:r>
                    </a:p>
                  </a:txBody>
                  <a:tcPr marL="83680" marR="83680" marT="41840" marB="41840" anchor="ctr"/>
                </a:tc>
                <a:tc>
                  <a:txBody>
                    <a:bodyPr/>
                    <a:lstStyle/>
                    <a:p>
                      <a:pPr>
                        <a:buNone/>
                      </a:pPr>
                      <a:r>
                        <a:rPr lang="en-US" sz="2800" dirty="0">
                          <a:latin typeface="Calibir"/>
                        </a:rPr>
                        <a:t>Unlimited</a:t>
                      </a:r>
                    </a:p>
                  </a:txBody>
                  <a:tcPr marL="83680" marR="83680" marT="41840" marB="41840" anchor="ctr"/>
                </a:tc>
                <a:extLst>
                  <a:ext uri="{0D108BD9-81ED-4DB2-BD59-A6C34878D82A}">
                    <a16:rowId xmlns:a16="http://schemas.microsoft.com/office/drawing/2014/main" val="4181158700"/>
                  </a:ext>
                </a:extLst>
              </a:tr>
              <a:tr h="773861">
                <a:tc>
                  <a:txBody>
                    <a:bodyPr/>
                    <a:lstStyle/>
                    <a:p>
                      <a:pPr>
                        <a:buNone/>
                      </a:pPr>
                      <a:r>
                        <a:rPr lang="en-US" sz="2800" dirty="0">
                          <a:latin typeface="Calibir"/>
                        </a:rPr>
                        <a:t>Pros</a:t>
                      </a:r>
                    </a:p>
                  </a:txBody>
                  <a:tcPr marL="83680" marR="83680" marT="41840" marB="41840" anchor="ctr"/>
                </a:tc>
                <a:tc>
                  <a:txBody>
                    <a:bodyPr/>
                    <a:lstStyle/>
                    <a:p>
                      <a:pPr>
                        <a:buNone/>
                      </a:pPr>
                      <a:r>
                        <a:rPr lang="en-US" sz="2800" dirty="0">
                          <a:latin typeface="Calibir"/>
                        </a:rPr>
                        <a:t>Affordable, beginner friendly, fast performance</a:t>
                      </a:r>
                    </a:p>
                  </a:txBody>
                  <a:tcPr marL="83680" marR="83680" marT="41840" marB="41840" anchor="ctr"/>
                </a:tc>
                <a:tc>
                  <a:txBody>
                    <a:bodyPr/>
                    <a:lstStyle/>
                    <a:p>
                      <a:pPr>
                        <a:buNone/>
                      </a:pPr>
                      <a:r>
                        <a:rPr lang="en-US" sz="2800" dirty="0">
                          <a:latin typeface="Calibir"/>
                        </a:rPr>
                        <a:t>Strong customer support, popular provider</a:t>
                      </a:r>
                    </a:p>
                  </a:txBody>
                  <a:tcPr marL="83680" marR="83680" marT="41840" marB="41840" anchor="ctr"/>
                </a:tc>
                <a:tc>
                  <a:txBody>
                    <a:bodyPr/>
                    <a:lstStyle/>
                    <a:p>
                      <a:pPr>
                        <a:buNone/>
                      </a:pPr>
                      <a:r>
                        <a:rPr lang="en-US" sz="2800" dirty="0">
                          <a:latin typeface="Calibir"/>
                        </a:rPr>
                        <a:t>Unlimited bandwidth and storage</a:t>
                      </a:r>
                    </a:p>
                  </a:txBody>
                  <a:tcPr marL="83680" marR="83680" marT="41840" marB="41840" anchor="ctr"/>
                </a:tc>
                <a:extLst>
                  <a:ext uri="{0D108BD9-81ED-4DB2-BD59-A6C34878D82A}">
                    <a16:rowId xmlns:a16="http://schemas.microsoft.com/office/drawing/2014/main" val="2101667588"/>
                  </a:ext>
                </a:extLst>
              </a:tr>
              <a:tr h="429859">
                <a:tc>
                  <a:txBody>
                    <a:bodyPr/>
                    <a:lstStyle/>
                    <a:p>
                      <a:pPr>
                        <a:buNone/>
                      </a:pPr>
                      <a:r>
                        <a:rPr lang="en-US" sz="2800" dirty="0">
                          <a:latin typeface="Calibir"/>
                        </a:rPr>
                        <a:t>Cons</a:t>
                      </a:r>
                    </a:p>
                  </a:txBody>
                  <a:tcPr marL="83680" marR="83680" marT="41840" marB="41840" anchor="ctr"/>
                </a:tc>
                <a:tc>
                  <a:txBody>
                    <a:bodyPr/>
                    <a:lstStyle/>
                    <a:p>
                      <a:pPr>
                        <a:buNone/>
                      </a:pPr>
                      <a:r>
                        <a:rPr lang="en-US" sz="2800" dirty="0">
                          <a:latin typeface="Calibir"/>
                        </a:rPr>
                        <a:t>Higher renewal prices</a:t>
                      </a:r>
                    </a:p>
                  </a:txBody>
                  <a:tcPr marL="83680" marR="83680" marT="41840" marB="41840" anchor="ctr"/>
                </a:tc>
                <a:tc>
                  <a:txBody>
                    <a:bodyPr/>
                    <a:lstStyle/>
                    <a:p>
                      <a:pPr>
                        <a:buNone/>
                      </a:pPr>
                      <a:r>
                        <a:rPr lang="en-US" sz="2800" dirty="0">
                          <a:latin typeface="Calibir"/>
                        </a:rPr>
                        <a:t>More expensive after first year</a:t>
                      </a:r>
                    </a:p>
                  </a:txBody>
                  <a:tcPr marL="83680" marR="83680" marT="41840" marB="41840" anchor="ctr"/>
                </a:tc>
                <a:tc>
                  <a:txBody>
                    <a:bodyPr/>
                    <a:lstStyle/>
                    <a:p>
                      <a:pPr>
                        <a:buNone/>
                      </a:pPr>
                      <a:r>
                        <a:rPr lang="en-US" sz="2800" dirty="0">
                          <a:latin typeface="Calibir"/>
                        </a:rPr>
                        <a:t>Some features require higher plans</a:t>
                      </a:r>
                    </a:p>
                  </a:txBody>
                  <a:tcPr marL="83680" marR="83680" marT="41840" marB="41840" anchor="ctr"/>
                </a:tc>
                <a:extLst>
                  <a:ext uri="{0D108BD9-81ED-4DB2-BD59-A6C34878D82A}">
                    <a16:rowId xmlns:a16="http://schemas.microsoft.com/office/drawing/2014/main" val="2235578866"/>
                  </a:ext>
                </a:extLst>
              </a:tr>
              <a:tr h="429859">
                <a:tc>
                  <a:txBody>
                    <a:bodyPr/>
                    <a:lstStyle/>
                    <a:p>
                      <a:pPr>
                        <a:buNone/>
                      </a:pPr>
                      <a:r>
                        <a:rPr lang="en-US" sz="2800" dirty="0">
                          <a:latin typeface="Calibir"/>
                        </a:rPr>
                        <a:t>Email</a:t>
                      </a:r>
                    </a:p>
                  </a:txBody>
                  <a:tcPr marL="83680" marR="83680" marT="41840" marB="41840" anchor="ctr"/>
                </a:tc>
                <a:tc>
                  <a:txBody>
                    <a:bodyPr/>
                    <a:lstStyle/>
                    <a:p>
                      <a:pPr>
                        <a:buNone/>
                      </a:pPr>
                      <a:r>
                        <a:rPr lang="en-US" sz="2800" dirty="0">
                          <a:latin typeface="Calibir"/>
                        </a:rPr>
                        <a:t>1 free email account</a:t>
                      </a:r>
                    </a:p>
                  </a:txBody>
                  <a:tcPr marL="83680" marR="83680" marT="41840" marB="41840" anchor="ctr"/>
                </a:tc>
                <a:tc>
                  <a:txBody>
                    <a:bodyPr/>
                    <a:lstStyle/>
                    <a:p>
                      <a:pPr>
                        <a:buNone/>
                      </a:pPr>
                      <a:r>
                        <a:rPr lang="en-US" sz="2800" dirty="0">
                          <a:latin typeface="Calibir"/>
                        </a:rPr>
                        <a:t>Professional email available</a:t>
                      </a:r>
                    </a:p>
                  </a:txBody>
                  <a:tcPr marL="83680" marR="83680" marT="41840" marB="41840" anchor="ctr"/>
                </a:tc>
                <a:tc>
                  <a:txBody>
                    <a:bodyPr/>
                    <a:lstStyle/>
                    <a:p>
                      <a:pPr>
                        <a:buNone/>
                      </a:pPr>
                      <a:r>
                        <a:rPr lang="en-US" sz="2800" dirty="0">
                          <a:latin typeface="Calibir"/>
                        </a:rPr>
                        <a:t>Unlimited email accounts</a:t>
                      </a:r>
                    </a:p>
                  </a:txBody>
                  <a:tcPr marL="83680" marR="83680" marT="41840" marB="41840" anchor="ctr"/>
                </a:tc>
                <a:extLst>
                  <a:ext uri="{0D108BD9-81ED-4DB2-BD59-A6C34878D82A}">
                    <a16:rowId xmlns:a16="http://schemas.microsoft.com/office/drawing/2014/main" val="2021444835"/>
                  </a:ext>
                </a:extLst>
              </a:tr>
            </a:tbl>
          </a:graphicData>
        </a:graphic>
      </p:graphicFrame>
    </p:spTree>
    <p:extLst>
      <p:ext uri="{BB962C8B-B14F-4D97-AF65-F5344CB8AC3E}">
        <p14:creationId xmlns:p14="http://schemas.microsoft.com/office/powerpoint/2010/main" val="34163945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ADC4-C462-8B2E-B32F-BC2E9B3FAC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47B7CB-863F-FDA0-BFAC-39BCCD30E4EC}"/>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2EAB6671-1B66-4032-2F87-5464AFBC7198}"/>
              </a:ext>
            </a:extLst>
          </p:cNvPr>
          <p:cNvSpPr txBox="1"/>
          <p:nvPr/>
        </p:nvSpPr>
        <p:spPr>
          <a:xfrm>
            <a:off x="0" y="746093"/>
            <a:ext cx="12192000" cy="1318181"/>
          </a:xfrm>
          <a:prstGeom prst="rect">
            <a:avLst/>
          </a:prstGeom>
          <a:noFill/>
        </p:spPr>
        <p:txBody>
          <a:bodyPr wrap="square">
            <a:spAutoFit/>
          </a:bodyPr>
          <a:lstStyle/>
          <a:p>
            <a:pPr>
              <a:lnSpc>
                <a:spcPct val="150000"/>
              </a:lnSpc>
            </a:pPr>
            <a:r>
              <a:rPr lang="en-US" sz="2800" b="1" dirty="0">
                <a:latin typeface="Calibir"/>
              </a:rPr>
              <a:t>3. webserveralternatives.docx – Web Hosting Alternatives</a:t>
            </a:r>
          </a:p>
          <a:p>
            <a:pPr>
              <a:lnSpc>
                <a:spcPct val="150000"/>
              </a:lnSpc>
            </a:pPr>
            <a:r>
              <a:rPr lang="en-US" sz="2800" b="1" dirty="0">
                <a:latin typeface="Calibir"/>
              </a:rPr>
              <a:t>Web Hosting Alternatives Comparison</a:t>
            </a:r>
          </a:p>
        </p:txBody>
      </p:sp>
      <p:graphicFrame>
        <p:nvGraphicFramePr>
          <p:cNvPr id="5" name="Table 4">
            <a:extLst>
              <a:ext uri="{FF2B5EF4-FFF2-40B4-BE49-F238E27FC236}">
                <a16:creationId xmlns:a16="http://schemas.microsoft.com/office/drawing/2014/main" id="{5BBC2793-363B-3499-FB19-3AD5F124C841}"/>
              </a:ext>
            </a:extLst>
          </p:cNvPr>
          <p:cNvGraphicFramePr>
            <a:graphicFrameLocks noGrp="1"/>
          </p:cNvGraphicFramePr>
          <p:nvPr>
            <p:extLst>
              <p:ext uri="{D42A27DB-BD31-4B8C-83A1-F6EECF244321}">
                <p14:modId xmlns:p14="http://schemas.microsoft.com/office/powerpoint/2010/main" val="3910097295"/>
              </p:ext>
            </p:extLst>
          </p:nvPr>
        </p:nvGraphicFramePr>
        <p:xfrm>
          <a:off x="838200" y="3132614"/>
          <a:ext cx="10515600" cy="335280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3127950400"/>
                    </a:ext>
                  </a:extLst>
                </a:gridCol>
                <a:gridCol w="5257800">
                  <a:extLst>
                    <a:ext uri="{9D8B030D-6E8A-4147-A177-3AD203B41FA5}">
                      <a16:colId xmlns:a16="http://schemas.microsoft.com/office/drawing/2014/main" val="535808610"/>
                    </a:ext>
                  </a:extLst>
                </a:gridCol>
              </a:tblGrid>
              <a:tr h="0">
                <a:tc>
                  <a:txBody>
                    <a:bodyPr/>
                    <a:lstStyle/>
                    <a:p>
                      <a:pPr>
                        <a:buNone/>
                      </a:pPr>
                      <a:r>
                        <a:rPr lang="en-US" sz="2800" dirty="0">
                          <a:latin typeface="Calibir"/>
                        </a:rPr>
                        <a:t>Method</a:t>
                      </a:r>
                    </a:p>
                  </a:txBody>
                  <a:tcPr anchor="ctr">
                    <a:solidFill>
                      <a:schemeClr val="accent5">
                        <a:lumMod val="20000"/>
                        <a:lumOff val="80000"/>
                      </a:schemeClr>
                    </a:solidFill>
                  </a:tcPr>
                </a:tc>
                <a:tc>
                  <a:txBody>
                    <a:bodyPr/>
                    <a:lstStyle/>
                    <a:p>
                      <a:pPr>
                        <a:buNone/>
                      </a:pPr>
                      <a:r>
                        <a:rPr lang="en-US" sz="2800" dirty="0">
                          <a:latin typeface="Calibir"/>
                        </a:rPr>
                        <a:t>Explanation</a:t>
                      </a:r>
                    </a:p>
                  </a:txBody>
                  <a:tcPr anchor="ctr">
                    <a:solidFill>
                      <a:schemeClr val="accent5">
                        <a:lumMod val="20000"/>
                        <a:lumOff val="80000"/>
                      </a:schemeClr>
                    </a:solidFill>
                  </a:tcPr>
                </a:tc>
                <a:extLst>
                  <a:ext uri="{0D108BD9-81ED-4DB2-BD59-A6C34878D82A}">
                    <a16:rowId xmlns:a16="http://schemas.microsoft.com/office/drawing/2014/main" val="1014150328"/>
                  </a:ext>
                </a:extLst>
              </a:tr>
              <a:tr h="0">
                <a:tc>
                  <a:txBody>
                    <a:bodyPr/>
                    <a:lstStyle/>
                    <a:p>
                      <a:pPr>
                        <a:buNone/>
                      </a:pPr>
                      <a:r>
                        <a:rPr lang="en-US" sz="2800">
                          <a:latin typeface="Calibir"/>
                        </a:rPr>
                        <a:t>Advertisements</a:t>
                      </a:r>
                    </a:p>
                  </a:txBody>
                  <a:tcPr anchor="ctr"/>
                </a:tc>
                <a:tc>
                  <a:txBody>
                    <a:bodyPr/>
                    <a:lstStyle/>
                    <a:p>
                      <a:pPr>
                        <a:buNone/>
                      </a:pPr>
                      <a:r>
                        <a:rPr lang="en-US" sz="2800">
                          <a:latin typeface="Calibir"/>
                        </a:rPr>
                        <a:t>Ads are displayed on users’ free websites</a:t>
                      </a:r>
                    </a:p>
                  </a:txBody>
                  <a:tcPr anchor="ctr"/>
                </a:tc>
                <a:extLst>
                  <a:ext uri="{0D108BD9-81ED-4DB2-BD59-A6C34878D82A}">
                    <a16:rowId xmlns:a16="http://schemas.microsoft.com/office/drawing/2014/main" val="3078525275"/>
                  </a:ext>
                </a:extLst>
              </a:tr>
              <a:tr h="0">
                <a:tc>
                  <a:txBody>
                    <a:bodyPr/>
                    <a:lstStyle/>
                    <a:p>
                      <a:pPr>
                        <a:buNone/>
                      </a:pPr>
                      <a:r>
                        <a:rPr lang="en-US" sz="2800">
                          <a:latin typeface="Calibir"/>
                        </a:rPr>
                        <a:t>Premium Upgrades</a:t>
                      </a:r>
                    </a:p>
                  </a:txBody>
                  <a:tcPr anchor="ctr"/>
                </a:tc>
                <a:tc>
                  <a:txBody>
                    <a:bodyPr/>
                    <a:lstStyle/>
                    <a:p>
                      <a:pPr>
                        <a:buNone/>
                      </a:pPr>
                      <a:r>
                        <a:rPr lang="en-US" sz="2800">
                          <a:latin typeface="Calibir"/>
                        </a:rPr>
                        <a:t>Users pay to upgrade storage, speed, and features</a:t>
                      </a:r>
                    </a:p>
                  </a:txBody>
                  <a:tcPr anchor="ctr"/>
                </a:tc>
                <a:extLst>
                  <a:ext uri="{0D108BD9-81ED-4DB2-BD59-A6C34878D82A}">
                    <a16:rowId xmlns:a16="http://schemas.microsoft.com/office/drawing/2014/main" val="1261861444"/>
                  </a:ext>
                </a:extLst>
              </a:tr>
              <a:tr h="0">
                <a:tc>
                  <a:txBody>
                    <a:bodyPr/>
                    <a:lstStyle/>
                    <a:p>
                      <a:pPr>
                        <a:buNone/>
                      </a:pPr>
                      <a:r>
                        <a:rPr lang="en-US" sz="2800">
                          <a:latin typeface="Calibir"/>
                        </a:rPr>
                        <a:t>Domain &amp; Extra Services</a:t>
                      </a:r>
                    </a:p>
                  </a:txBody>
                  <a:tcPr anchor="ctr"/>
                </a:tc>
                <a:tc>
                  <a:txBody>
                    <a:bodyPr/>
                    <a:lstStyle/>
                    <a:p>
                      <a:pPr>
                        <a:buNone/>
                      </a:pPr>
                      <a:r>
                        <a:rPr lang="en-US" sz="2800" dirty="0">
                          <a:latin typeface="Calibir"/>
                        </a:rPr>
                        <a:t>Companies sell domain names, SSL certificates, and business tools</a:t>
                      </a:r>
                    </a:p>
                  </a:txBody>
                  <a:tcPr anchor="ctr"/>
                </a:tc>
                <a:extLst>
                  <a:ext uri="{0D108BD9-81ED-4DB2-BD59-A6C34878D82A}">
                    <a16:rowId xmlns:a16="http://schemas.microsoft.com/office/drawing/2014/main" val="1262103390"/>
                  </a:ext>
                </a:extLst>
              </a:tr>
            </a:tbl>
          </a:graphicData>
        </a:graphic>
      </p:graphicFrame>
      <p:sp>
        <p:nvSpPr>
          <p:cNvPr id="7" name="TextBox 6">
            <a:extLst>
              <a:ext uri="{FF2B5EF4-FFF2-40B4-BE49-F238E27FC236}">
                <a16:creationId xmlns:a16="http://schemas.microsoft.com/office/drawing/2014/main" id="{C685F551-E681-F35F-583A-869A2B7AF05F}"/>
              </a:ext>
            </a:extLst>
          </p:cNvPr>
          <p:cNvSpPr txBox="1"/>
          <p:nvPr/>
        </p:nvSpPr>
        <p:spPr>
          <a:xfrm>
            <a:off x="0" y="2312538"/>
            <a:ext cx="12192000" cy="523220"/>
          </a:xfrm>
          <a:prstGeom prst="rect">
            <a:avLst/>
          </a:prstGeom>
          <a:noFill/>
        </p:spPr>
        <p:txBody>
          <a:bodyPr wrap="square">
            <a:spAutoFit/>
          </a:bodyPr>
          <a:lstStyle/>
          <a:p>
            <a:pPr>
              <a:buNone/>
            </a:pPr>
            <a:r>
              <a:rPr lang="en-US" sz="2800" b="1" dirty="0">
                <a:latin typeface="Calibir"/>
              </a:rPr>
              <a:t>Three Ways Free Hosting Companies Generate Revenue</a:t>
            </a:r>
          </a:p>
        </p:txBody>
      </p:sp>
    </p:spTree>
    <p:extLst>
      <p:ext uri="{BB962C8B-B14F-4D97-AF65-F5344CB8AC3E}">
        <p14:creationId xmlns:p14="http://schemas.microsoft.com/office/powerpoint/2010/main" val="36981174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927C8F-21EE-2C4A-D5A5-CE6E4426EF9F}"/>
              </a:ext>
            </a:extLst>
          </p:cNvPr>
          <p:cNvPicPr>
            <a:picLocks noChangeAspect="1"/>
          </p:cNvPicPr>
          <p:nvPr/>
        </p:nvPicPr>
        <p:blipFill>
          <a:blip r:embed="rId2"/>
          <a:stretch>
            <a:fillRect/>
          </a:stretch>
        </p:blipFill>
        <p:spPr>
          <a:xfrm>
            <a:off x="1820040" y="738506"/>
            <a:ext cx="8551920" cy="5793944"/>
          </a:xfrm>
          <a:prstGeom prst="rect">
            <a:avLst/>
          </a:prstGeom>
        </p:spPr>
      </p:pic>
      <p:sp>
        <p:nvSpPr>
          <p:cNvPr id="2" name="TextBox 1">
            <a:extLst>
              <a:ext uri="{FF2B5EF4-FFF2-40B4-BE49-F238E27FC236}">
                <a16:creationId xmlns:a16="http://schemas.microsoft.com/office/drawing/2014/main" id="{2E2F80AB-37B3-37E8-04DA-00F5CF121827}"/>
              </a:ext>
            </a:extLst>
          </p:cNvPr>
          <p:cNvSpPr txBox="1"/>
          <p:nvPr/>
        </p:nvSpPr>
        <p:spPr>
          <a:xfrm>
            <a:off x="0" y="0"/>
            <a:ext cx="897673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alibri" panose="020F0502020204030204" pitchFamily="34" charset="0"/>
                <a:cs typeface="Calibri" panose="020F0502020204030204" pitchFamily="34" charset="0"/>
              </a:rPr>
              <a:t>Weeks 2 – 3 Tutorial</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F640E8C9-E5B6-639D-30A4-157F6CC9E520}"/>
              </a:ext>
            </a:extLst>
          </p:cNvPr>
          <p:cNvSpPr/>
          <p:nvPr/>
        </p:nvSpPr>
        <p:spPr>
          <a:xfrm>
            <a:off x="3038168" y="1578077"/>
            <a:ext cx="5855109" cy="3539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43908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AE50AB-9AFB-5417-8ADC-FA185307FE2D}"/>
              </a:ext>
            </a:extLst>
          </p:cNvPr>
          <p:cNvPicPr>
            <a:picLocks noChangeAspect="1"/>
          </p:cNvPicPr>
          <p:nvPr/>
        </p:nvPicPr>
        <p:blipFill>
          <a:blip r:embed="rId2"/>
          <a:stretch>
            <a:fillRect/>
          </a:stretch>
        </p:blipFill>
        <p:spPr>
          <a:xfrm>
            <a:off x="1176268" y="348628"/>
            <a:ext cx="9839463" cy="6349929"/>
          </a:xfrm>
          <a:prstGeom prst="rect">
            <a:avLst/>
          </a:prstGeom>
        </p:spPr>
      </p:pic>
    </p:spTree>
    <p:extLst>
      <p:ext uri="{BB962C8B-B14F-4D97-AF65-F5344CB8AC3E}">
        <p14:creationId xmlns:p14="http://schemas.microsoft.com/office/powerpoint/2010/main" val="13265574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8FCCE7-CA36-7E71-FC6F-271303D9AAA5}"/>
              </a:ext>
            </a:extLst>
          </p:cNvPr>
          <p:cNvPicPr>
            <a:picLocks noChangeAspect="1"/>
          </p:cNvPicPr>
          <p:nvPr/>
        </p:nvPicPr>
        <p:blipFill>
          <a:blip r:embed="rId2"/>
          <a:stretch>
            <a:fillRect/>
          </a:stretch>
        </p:blipFill>
        <p:spPr>
          <a:xfrm>
            <a:off x="3701282" y="143312"/>
            <a:ext cx="4789435" cy="6571376"/>
          </a:xfrm>
          <a:prstGeom prst="rect">
            <a:avLst/>
          </a:prstGeom>
        </p:spPr>
      </p:pic>
    </p:spTree>
    <p:extLst>
      <p:ext uri="{BB962C8B-B14F-4D97-AF65-F5344CB8AC3E}">
        <p14:creationId xmlns:p14="http://schemas.microsoft.com/office/powerpoint/2010/main" val="36805881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15BFFA-B370-C769-F153-6AC581F76EE3}"/>
              </a:ext>
            </a:extLst>
          </p:cNvPr>
          <p:cNvPicPr>
            <a:picLocks noChangeAspect="1"/>
          </p:cNvPicPr>
          <p:nvPr/>
        </p:nvPicPr>
        <p:blipFill>
          <a:blip r:embed="rId2"/>
          <a:stretch>
            <a:fillRect/>
          </a:stretch>
        </p:blipFill>
        <p:spPr>
          <a:xfrm>
            <a:off x="2861201" y="1487213"/>
            <a:ext cx="6469598" cy="3883574"/>
          </a:xfrm>
          <a:prstGeom prst="rect">
            <a:avLst/>
          </a:prstGeom>
        </p:spPr>
      </p:pic>
    </p:spTree>
    <p:extLst>
      <p:ext uri="{BB962C8B-B14F-4D97-AF65-F5344CB8AC3E}">
        <p14:creationId xmlns:p14="http://schemas.microsoft.com/office/powerpoint/2010/main" val="15810896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978D2-C9E7-AE2A-EBB3-539B048C59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9FA9C7-1BC7-C10D-2368-6011ED7BD19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Weeks 2 – 3 Tutorial</a:t>
            </a:r>
          </a:p>
        </p:txBody>
      </p:sp>
      <p:pic>
        <p:nvPicPr>
          <p:cNvPr id="7" name="Picture 6">
            <a:extLst>
              <a:ext uri="{FF2B5EF4-FFF2-40B4-BE49-F238E27FC236}">
                <a16:creationId xmlns:a16="http://schemas.microsoft.com/office/drawing/2014/main" id="{078DE856-F0BC-DB75-672D-F92DB0E190C6}"/>
              </a:ext>
            </a:extLst>
          </p:cNvPr>
          <p:cNvPicPr>
            <a:picLocks noChangeAspect="1"/>
          </p:cNvPicPr>
          <p:nvPr/>
        </p:nvPicPr>
        <p:blipFill>
          <a:blip r:embed="rId2"/>
          <a:stretch>
            <a:fillRect/>
          </a:stretch>
        </p:blipFill>
        <p:spPr>
          <a:xfrm>
            <a:off x="1659097" y="584775"/>
            <a:ext cx="8873806" cy="6276773"/>
          </a:xfrm>
          <a:prstGeom prst="rect">
            <a:avLst/>
          </a:prstGeom>
        </p:spPr>
      </p:pic>
    </p:spTree>
    <p:extLst>
      <p:ext uri="{BB962C8B-B14F-4D97-AF65-F5344CB8AC3E}">
        <p14:creationId xmlns:p14="http://schemas.microsoft.com/office/powerpoint/2010/main" val="11430448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0" y="0"/>
            <a:ext cx="8976732"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Challenge 1 (HTML code in </a:t>
            </a:r>
            <a:r>
              <a:rPr kumimoji="0" lang="en-US" sz="22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n-ea"/>
                <a:cs typeface="Calibri" panose="020F0502020204030204" pitchFamily="34" charset="0"/>
              </a:rPr>
              <a:t>Notepad ++)</a:t>
            </a:r>
          </a:p>
        </p:txBody>
      </p:sp>
      <p:pic>
        <p:nvPicPr>
          <p:cNvPr id="7" name="Picture 6">
            <a:extLst>
              <a:ext uri="{FF2B5EF4-FFF2-40B4-BE49-F238E27FC236}">
                <a16:creationId xmlns:a16="http://schemas.microsoft.com/office/drawing/2014/main" id="{62E0C68B-CBD7-2BA1-1E2B-07A6EA53D37C}"/>
              </a:ext>
            </a:extLst>
          </p:cNvPr>
          <p:cNvPicPr>
            <a:picLocks noChangeAspect="1"/>
          </p:cNvPicPr>
          <p:nvPr/>
        </p:nvPicPr>
        <p:blipFill>
          <a:blip r:embed="rId2"/>
          <a:stretch>
            <a:fillRect/>
          </a:stretch>
        </p:blipFill>
        <p:spPr>
          <a:xfrm>
            <a:off x="94669" y="557049"/>
            <a:ext cx="12002662" cy="3641834"/>
          </a:xfrm>
          <a:prstGeom prst="rect">
            <a:avLst/>
          </a:prstGeom>
        </p:spPr>
      </p:pic>
      <p:sp>
        <p:nvSpPr>
          <p:cNvPr id="10" name="TextBox 9">
            <a:extLst>
              <a:ext uri="{FF2B5EF4-FFF2-40B4-BE49-F238E27FC236}">
                <a16:creationId xmlns:a16="http://schemas.microsoft.com/office/drawing/2014/main" id="{231E31BF-CFD4-7D58-0C28-F170AEFF2F1F}"/>
              </a:ext>
            </a:extLst>
          </p:cNvPr>
          <p:cNvSpPr txBox="1"/>
          <p:nvPr/>
        </p:nvSpPr>
        <p:spPr>
          <a:xfrm>
            <a:off x="94669" y="4325045"/>
            <a:ext cx="12002662"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Replace "</a:t>
            </a:r>
            <a:r>
              <a:rPr lang="en-US" sz="2200" b="1" dirty="0">
                <a:latin typeface="Calibri" panose="020F0502020204030204" pitchFamily="34" charset="0"/>
                <a:cs typeface="Calibri" panose="020F0502020204030204" pitchFamily="34" charset="0"/>
              </a:rPr>
              <a:t>Your First and Last Name</a:t>
            </a:r>
            <a:r>
              <a:rPr lang="en-US" sz="2200" dirty="0">
                <a:latin typeface="Calibri" panose="020F0502020204030204" pitchFamily="34" charset="0"/>
                <a:cs typeface="Calibri" panose="020F0502020204030204" pitchFamily="34" charset="0"/>
              </a:rPr>
              <a:t>" with your actual name and "</a:t>
            </a:r>
            <a:r>
              <a:rPr lang="en-US" sz="2200" b="1" dirty="0">
                <a:latin typeface="Calibri" panose="020F0502020204030204" pitchFamily="34" charset="0"/>
                <a:cs typeface="Calibri" panose="020F0502020204030204" pitchFamily="34" charset="0"/>
              </a:rPr>
              <a:t>Today’s Date</a:t>
            </a:r>
            <a:r>
              <a:rPr lang="en-US" sz="2200" dirty="0">
                <a:latin typeface="Calibri" panose="020F0502020204030204" pitchFamily="34" charset="0"/>
                <a:cs typeface="Calibri" panose="020F0502020204030204" pitchFamily="34" charset="0"/>
              </a:rPr>
              <a:t>" with the current date.</a:t>
            </a:r>
            <a:endParaRPr lang="en-AU" sz="22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4444DD1D-9442-6E69-3969-69C2C4F493A7}"/>
              </a:ext>
            </a:extLst>
          </p:cNvPr>
          <p:cNvSpPr txBox="1"/>
          <p:nvPr/>
        </p:nvSpPr>
        <p:spPr>
          <a:xfrm>
            <a:off x="94669" y="4755932"/>
            <a:ext cx="12002662" cy="430887"/>
          </a:xfrm>
          <a:prstGeom prst="rect">
            <a:avLst/>
          </a:prstGeom>
          <a:noFill/>
        </p:spPr>
        <p:txBody>
          <a:bodyPr wrap="square" rtlCol="0">
            <a:spAutoFit/>
          </a:bodyPr>
          <a:lstStyle/>
          <a:p>
            <a:pPr marL="342900" indent="-342900">
              <a:buFont typeface="Arial" panose="020B0604020202020204" pitchFamily="34" charset="0"/>
              <a:buChar char="•"/>
            </a:pPr>
            <a:r>
              <a:rPr lang="en-US" sz="2200" b="1" dirty="0">
                <a:latin typeface="Calibri" panose="020F0502020204030204" pitchFamily="34" charset="0"/>
                <a:cs typeface="Calibri" panose="020F0502020204030204" pitchFamily="34" charset="0"/>
              </a:rPr>
              <a:t>Save</a:t>
            </a:r>
            <a:r>
              <a:rPr lang="en-US" sz="2200" dirty="0">
                <a:latin typeface="Calibri" panose="020F0502020204030204" pitchFamily="34" charset="0"/>
                <a:cs typeface="Calibri" panose="020F0502020204030204" pitchFamily="34" charset="0"/>
              </a:rPr>
              <a:t> the file as ‘</a:t>
            </a:r>
            <a:r>
              <a:rPr lang="en-US" sz="2200" b="1" dirty="0">
                <a:latin typeface="Calibri" panose="020F0502020204030204" pitchFamily="34" charset="0"/>
                <a:cs typeface="Calibri" panose="020F0502020204030204" pitchFamily="34" charset="0"/>
              </a:rPr>
              <a:t>index.html’</a:t>
            </a:r>
            <a:r>
              <a:rPr lang="en-US" sz="2200" dirty="0">
                <a:latin typeface="Calibri" panose="020F0502020204030204" pitchFamily="34" charset="0"/>
                <a:cs typeface="Calibri" panose="020F0502020204030204" pitchFamily="34" charset="0"/>
              </a:rPr>
              <a:t> in your desired folder (e.g., a folder named </a:t>
            </a:r>
            <a:r>
              <a:rPr lang="en-US" sz="2200" b="1" dirty="0">
                <a:latin typeface="Calibri" panose="020F0502020204030204" pitchFamily="34" charset="0"/>
                <a:cs typeface="Calibri" panose="020F0502020204030204" pitchFamily="34" charset="0"/>
              </a:rPr>
              <a:t>lab 1 or Week2</a:t>
            </a:r>
            <a:r>
              <a:rPr lang="en-US" sz="2200" dirty="0">
                <a:latin typeface="Calibri" panose="020F0502020204030204" pitchFamily="34" charset="0"/>
                <a:cs typeface="Calibri" panose="020F0502020204030204" pitchFamily="34" charset="0"/>
              </a:rPr>
              <a:t>)</a:t>
            </a:r>
            <a:endParaRPr lang="en-AU" sz="220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417B966-78DE-4B91-F87A-9E56AB9172F8}"/>
              </a:ext>
            </a:extLst>
          </p:cNvPr>
          <p:cNvSpPr txBox="1"/>
          <p:nvPr/>
        </p:nvSpPr>
        <p:spPr>
          <a:xfrm>
            <a:off x="94669" y="5186819"/>
            <a:ext cx="12002662"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Calibri" panose="020F0502020204030204" pitchFamily="34" charset="0"/>
                <a:cs typeface="Calibri" panose="020F0502020204030204" pitchFamily="34" charset="0"/>
              </a:rPr>
              <a:t>Open ‘</a:t>
            </a:r>
            <a:r>
              <a:rPr lang="en-US" sz="2200" b="1" dirty="0">
                <a:latin typeface="Calibri" panose="020F0502020204030204" pitchFamily="34" charset="0"/>
                <a:cs typeface="Calibri" panose="020F0502020204030204" pitchFamily="34" charset="0"/>
              </a:rPr>
              <a:t>index.html’</a:t>
            </a:r>
            <a:r>
              <a:rPr lang="en-US" sz="2200" dirty="0">
                <a:latin typeface="Calibri" panose="020F0502020204030204" pitchFamily="34" charset="0"/>
                <a:cs typeface="Calibri" panose="020F0502020204030204" pitchFamily="34" charset="0"/>
              </a:rPr>
              <a:t> in various web browsers (Chrome, Firefox, Internet Explorer) to view the webpage. Ensure it matches the expected layout and content.</a:t>
            </a:r>
            <a:endParaRPr lang="en-AU" sz="22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77F69B6-7A05-C69F-F19C-E7ABBAF5354C}"/>
              </a:ext>
            </a:extLst>
          </p:cNvPr>
          <p:cNvSpPr txBox="1"/>
          <p:nvPr/>
        </p:nvSpPr>
        <p:spPr>
          <a:xfrm>
            <a:off x="94669" y="5942644"/>
            <a:ext cx="12002662" cy="769441"/>
          </a:xfrm>
          <a:prstGeom prst="rect">
            <a:avLst/>
          </a:prstGeom>
          <a:noFill/>
        </p:spPr>
        <p:txBody>
          <a:bodyPr wrap="square" rtlCol="0">
            <a:spAutoFit/>
          </a:bodyPr>
          <a:lstStyle/>
          <a:p>
            <a:pPr marL="342900" indent="-342900">
              <a:buFont typeface="Arial" panose="020B0604020202020204" pitchFamily="34" charset="0"/>
              <a:buChar char="•"/>
            </a:pPr>
            <a:r>
              <a:rPr lang="en-US" sz="2200" b="1" dirty="0">
                <a:latin typeface="Calibri" panose="020F0502020204030204" pitchFamily="34" charset="0"/>
                <a:cs typeface="Calibri" panose="020F0502020204030204" pitchFamily="34" charset="0"/>
              </a:rPr>
              <a:t>Test</a:t>
            </a:r>
            <a:r>
              <a:rPr lang="en-US" sz="2200" dirty="0">
                <a:latin typeface="Calibri" panose="020F0502020204030204" pitchFamily="34" charset="0"/>
                <a:cs typeface="Calibri" panose="020F0502020204030204" pitchFamily="34" charset="0"/>
              </a:rPr>
              <a:t> viewing the webpage on different devices (smartphone, tablet) as suggested, using a code editor with a built-in web server or by manually transferring the file to the device for local viewing.</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5411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0" y="0"/>
            <a:ext cx="8976732"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Challenge 1 (HTML code in </a:t>
            </a:r>
            <a:r>
              <a:rPr kumimoji="0" lang="en-US" sz="22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n-ea"/>
                <a:cs typeface="Calibri" panose="020F0502020204030204" pitchFamily="34" charset="0"/>
              </a:rPr>
              <a:t>Visual Studio</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p>
        </p:txBody>
      </p:sp>
      <p:sp>
        <p:nvSpPr>
          <p:cNvPr id="3" name="TextBox 2">
            <a:extLst>
              <a:ext uri="{FF2B5EF4-FFF2-40B4-BE49-F238E27FC236}">
                <a16:creationId xmlns:a16="http://schemas.microsoft.com/office/drawing/2014/main" id="{59DDBD33-1CBE-D9C1-0AC7-B528263ABD14}"/>
              </a:ext>
            </a:extLst>
          </p:cNvPr>
          <p:cNvSpPr txBox="1"/>
          <p:nvPr/>
        </p:nvSpPr>
        <p:spPr>
          <a:xfrm>
            <a:off x="562303" y="674400"/>
            <a:ext cx="11067393" cy="5509200"/>
          </a:xfrm>
          <a:prstGeom prst="rect">
            <a:avLst/>
          </a:prstGeom>
          <a:solidFill>
            <a:schemeClr val="tx1"/>
          </a:solidFill>
        </p:spPr>
        <p:txBody>
          <a:bodyPr wrap="square" rtlCol="0">
            <a:spAutoFit/>
          </a:bodyPr>
          <a:lstStyle/>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DOCTYPE</a:t>
            </a:r>
            <a:r>
              <a:rPr lang="en-US" sz="2200" b="0" dirty="0">
                <a:solidFill>
                  <a:srgbClr val="CCCCCC"/>
                </a:solidFill>
                <a:effectLst/>
                <a:latin typeface="Consolas" panose="020B0609020204030204" pitchFamily="49" charset="0"/>
              </a:rPr>
              <a:t> </a:t>
            </a:r>
            <a:r>
              <a:rPr lang="en-US" sz="2200" b="0" dirty="0">
                <a:solidFill>
                  <a:srgbClr val="9CDCFE"/>
                </a:solidFill>
                <a:effectLst/>
                <a:latin typeface="Consolas" panose="020B0609020204030204" pitchFamily="49" charset="0"/>
              </a:rPr>
              <a:t>html</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html</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head</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CCCCCC"/>
                </a:solidFill>
                <a:effectLst/>
                <a:latin typeface="Consolas" panose="020B0609020204030204" pitchFamily="49" charset="0"/>
              </a:rPr>
              <a:t>    </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title</a:t>
            </a:r>
            <a:r>
              <a:rPr lang="en-US" sz="2200" b="0" dirty="0">
                <a:solidFill>
                  <a:srgbClr val="808080"/>
                </a:solidFill>
                <a:effectLst/>
                <a:latin typeface="Consolas" panose="020B0609020204030204" pitchFamily="49" charset="0"/>
              </a:rPr>
              <a:t>&gt;</a:t>
            </a:r>
            <a:r>
              <a:rPr lang="en-US" sz="2200" b="0" dirty="0">
                <a:solidFill>
                  <a:srgbClr val="CCCCCC"/>
                </a:solidFill>
                <a:effectLst/>
                <a:latin typeface="Consolas" panose="020B0609020204030204" pitchFamily="49" charset="0"/>
              </a:rPr>
              <a:t>Spotted Wren Garden Center</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title</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CCCCCC"/>
                </a:solidFill>
                <a:effectLst/>
                <a:latin typeface="Consolas" panose="020B0609020204030204" pitchFamily="49" charset="0"/>
              </a:rPr>
              <a:t>    </a:t>
            </a:r>
            <a:r>
              <a:rPr lang="en-US" sz="2200" b="0" dirty="0">
                <a:solidFill>
                  <a:srgbClr val="6A9955"/>
                </a:solidFill>
                <a:effectLst/>
                <a:latin typeface="Consolas" panose="020B0609020204030204" pitchFamily="49" charset="0"/>
              </a:rPr>
              <a:t>&lt;!-- Spotted Wren Garden Center main web page</a:t>
            </a:r>
            <a:endParaRPr lang="en-US" sz="2200" b="0" dirty="0">
              <a:solidFill>
                <a:srgbClr val="CCCCCC"/>
              </a:solidFill>
              <a:effectLst/>
              <a:latin typeface="Consolas" panose="020B0609020204030204" pitchFamily="49" charset="0"/>
            </a:endParaRPr>
          </a:p>
          <a:p>
            <a:r>
              <a:rPr lang="en-US" sz="2200" b="0" dirty="0">
                <a:solidFill>
                  <a:srgbClr val="6A9955"/>
                </a:solidFill>
                <a:effectLst/>
                <a:latin typeface="Consolas" panose="020B0609020204030204" pitchFamily="49" charset="0"/>
              </a:rPr>
              <a:t>    Filename: index.html</a:t>
            </a:r>
            <a:endParaRPr lang="en-US" sz="2200" b="0" dirty="0">
              <a:solidFill>
                <a:srgbClr val="CCCCCC"/>
              </a:solidFill>
              <a:effectLst/>
              <a:latin typeface="Consolas" panose="020B0609020204030204" pitchFamily="49" charset="0"/>
            </a:endParaRPr>
          </a:p>
          <a:p>
            <a:r>
              <a:rPr lang="en-US" sz="2200" b="0" dirty="0">
                <a:solidFill>
                  <a:srgbClr val="6A9955"/>
                </a:solidFill>
                <a:effectLst/>
                <a:latin typeface="Consolas" panose="020B0609020204030204" pitchFamily="49" charset="0"/>
              </a:rPr>
              <a:t>    Author: Your First and Last Name</a:t>
            </a:r>
            <a:endParaRPr lang="en-US" sz="2200" b="0" dirty="0">
              <a:solidFill>
                <a:srgbClr val="CCCCCC"/>
              </a:solidFill>
              <a:effectLst/>
              <a:latin typeface="Consolas" panose="020B0609020204030204" pitchFamily="49" charset="0"/>
            </a:endParaRPr>
          </a:p>
          <a:p>
            <a:r>
              <a:rPr lang="en-US" sz="2200" b="0" dirty="0">
                <a:solidFill>
                  <a:srgbClr val="6A9955"/>
                </a:solidFill>
                <a:effectLst/>
                <a:latin typeface="Consolas" panose="020B0609020204030204" pitchFamily="49" charset="0"/>
              </a:rPr>
              <a:t>    Date: Today’s Date --&gt;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head</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body</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CCCCCC"/>
                </a:solidFill>
                <a:effectLst/>
                <a:latin typeface="Consolas" panose="020B0609020204030204" pitchFamily="49" charset="0"/>
              </a:rPr>
              <a:t>    </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h1</a:t>
            </a:r>
            <a:r>
              <a:rPr lang="en-US" sz="2200" b="0" dirty="0">
                <a:solidFill>
                  <a:srgbClr val="808080"/>
                </a:solidFill>
                <a:effectLst/>
                <a:latin typeface="Consolas" panose="020B0609020204030204" pitchFamily="49" charset="0"/>
              </a:rPr>
              <a:t>&gt;</a:t>
            </a:r>
            <a:r>
              <a:rPr lang="en-US" sz="2200" b="0" dirty="0">
                <a:solidFill>
                  <a:srgbClr val="CCCCCC"/>
                </a:solidFill>
                <a:effectLst/>
                <a:latin typeface="Consolas" panose="020B0609020204030204" pitchFamily="49" charset="0"/>
              </a:rPr>
              <a:t>Spotted Wren Garden Center</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h1</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CCCCCC"/>
                </a:solidFill>
                <a:effectLst/>
                <a:latin typeface="Consolas" panose="020B0609020204030204" pitchFamily="49" charset="0"/>
              </a:rPr>
              <a:t>    </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p</a:t>
            </a:r>
            <a:r>
              <a:rPr lang="en-US" sz="2200" b="0" dirty="0">
                <a:solidFill>
                  <a:srgbClr val="808080"/>
                </a:solidFill>
                <a:effectLst/>
                <a:latin typeface="Consolas" panose="020B0609020204030204" pitchFamily="49" charset="0"/>
              </a:rPr>
              <a:t>&gt;</a:t>
            </a:r>
            <a:r>
              <a:rPr lang="en-US" sz="2200" b="0" dirty="0">
                <a:solidFill>
                  <a:srgbClr val="CCCCCC"/>
                </a:solidFill>
                <a:effectLst/>
                <a:latin typeface="Consolas" panose="020B0609020204030204" pitchFamily="49" charset="0"/>
              </a:rPr>
              <a:t>For your year-round garden and yard needs with a focus on the unusual and hard to find.</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p</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CCCCCC"/>
                </a:solidFill>
                <a:effectLst/>
                <a:latin typeface="Consolas" panose="020B0609020204030204" pitchFamily="49" charset="0"/>
              </a:rPr>
              <a:t>    </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p</a:t>
            </a:r>
            <a:r>
              <a:rPr lang="en-US" sz="2200" b="0" dirty="0">
                <a:solidFill>
                  <a:srgbClr val="808080"/>
                </a:solidFill>
                <a:effectLst/>
                <a:latin typeface="Consolas" panose="020B0609020204030204" pitchFamily="49" charset="0"/>
              </a:rPr>
              <a:t>&gt;</a:t>
            </a:r>
            <a:r>
              <a:rPr lang="en-US" sz="2200" b="0" dirty="0">
                <a:solidFill>
                  <a:srgbClr val="CCCCCC"/>
                </a:solidFill>
                <a:effectLst/>
                <a:latin typeface="Consolas" panose="020B0609020204030204" pitchFamily="49" charset="0"/>
              </a:rPr>
              <a:t>(402) 555-9736</a:t>
            </a:r>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p</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body</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a:p>
            <a:r>
              <a:rPr lang="en-US" sz="2200" b="0" dirty="0">
                <a:solidFill>
                  <a:srgbClr val="808080"/>
                </a:solidFill>
                <a:effectLst/>
                <a:latin typeface="Consolas" panose="020B0609020204030204" pitchFamily="49" charset="0"/>
              </a:rPr>
              <a:t>&lt;/</a:t>
            </a:r>
            <a:r>
              <a:rPr lang="en-US" sz="2200" b="0" dirty="0">
                <a:solidFill>
                  <a:srgbClr val="569CD6"/>
                </a:solidFill>
                <a:effectLst/>
                <a:latin typeface="Consolas" panose="020B0609020204030204" pitchFamily="49" charset="0"/>
              </a:rPr>
              <a:t>html</a:t>
            </a:r>
            <a:r>
              <a:rPr lang="en-US" sz="2200" b="0" dirty="0">
                <a:solidFill>
                  <a:srgbClr val="808080"/>
                </a:solidFill>
                <a:effectLst/>
                <a:latin typeface="Consolas" panose="020B0609020204030204" pitchFamily="49" charset="0"/>
              </a:rPr>
              <a:t>&gt;</a:t>
            </a:r>
            <a:endParaRPr lang="en-US" sz="22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0490986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1" y="0"/>
            <a:ext cx="1166648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Additional Information: Find Hosting Service e.g.</a:t>
            </a:r>
            <a:r>
              <a:rPr lang="en-US" sz="2200" b="1" dirty="0">
                <a:solidFill>
                  <a:prstClr val="black"/>
                </a:solidFill>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hlinkClick r:id="rId2"/>
              </a:rPr>
              <a:t>https://www.turbify.com/</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p:txBody>
      </p:sp>
      <p:pic>
        <p:nvPicPr>
          <p:cNvPr id="3" name="Picture 2">
            <a:extLst>
              <a:ext uri="{FF2B5EF4-FFF2-40B4-BE49-F238E27FC236}">
                <a16:creationId xmlns:a16="http://schemas.microsoft.com/office/drawing/2014/main" id="{ABAFF9C8-1EFF-DD70-B45B-CC2F972608D6}"/>
              </a:ext>
            </a:extLst>
          </p:cNvPr>
          <p:cNvPicPr>
            <a:picLocks noChangeAspect="1"/>
          </p:cNvPicPr>
          <p:nvPr/>
        </p:nvPicPr>
        <p:blipFill>
          <a:blip r:embed="rId3"/>
          <a:stretch>
            <a:fillRect/>
          </a:stretch>
        </p:blipFill>
        <p:spPr>
          <a:xfrm>
            <a:off x="0" y="572339"/>
            <a:ext cx="12192000" cy="5713322"/>
          </a:xfrm>
          <a:prstGeom prst="rect">
            <a:avLst/>
          </a:prstGeom>
        </p:spPr>
      </p:pic>
    </p:spTree>
    <p:extLst>
      <p:ext uri="{BB962C8B-B14F-4D97-AF65-F5344CB8AC3E}">
        <p14:creationId xmlns:p14="http://schemas.microsoft.com/office/powerpoint/2010/main" val="15725558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1" y="0"/>
            <a:ext cx="1166648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Additional Information: Find Hosting Service e.g.</a:t>
            </a:r>
            <a:r>
              <a:rPr lang="en-US" sz="2200" b="1" dirty="0">
                <a:solidFill>
                  <a:prstClr val="black"/>
                </a:solidFill>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hlinkClick r:id="rId2"/>
              </a:rPr>
              <a:t>https://www.godaddy.com/en-au</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p:txBody>
      </p:sp>
      <p:pic>
        <p:nvPicPr>
          <p:cNvPr id="5" name="Picture 4">
            <a:extLst>
              <a:ext uri="{FF2B5EF4-FFF2-40B4-BE49-F238E27FC236}">
                <a16:creationId xmlns:a16="http://schemas.microsoft.com/office/drawing/2014/main" id="{8DEA2E42-8485-728E-B2C1-E5B35ED71DA9}"/>
              </a:ext>
            </a:extLst>
          </p:cNvPr>
          <p:cNvPicPr>
            <a:picLocks noChangeAspect="1"/>
          </p:cNvPicPr>
          <p:nvPr/>
        </p:nvPicPr>
        <p:blipFill>
          <a:blip r:embed="rId3"/>
          <a:stretch>
            <a:fillRect/>
          </a:stretch>
        </p:blipFill>
        <p:spPr>
          <a:xfrm>
            <a:off x="1732607" y="704194"/>
            <a:ext cx="8726786" cy="5449612"/>
          </a:xfrm>
          <a:prstGeom prst="rect">
            <a:avLst/>
          </a:prstGeom>
        </p:spPr>
      </p:pic>
    </p:spTree>
    <p:extLst>
      <p:ext uri="{BB962C8B-B14F-4D97-AF65-F5344CB8AC3E}">
        <p14:creationId xmlns:p14="http://schemas.microsoft.com/office/powerpoint/2010/main" val="4899317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1" y="0"/>
            <a:ext cx="1166648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Additional Information: Find Hosting Service e.g.</a:t>
            </a:r>
            <a:r>
              <a:rPr lang="en-US" sz="2200" b="1" dirty="0">
                <a:solidFill>
                  <a:prstClr val="black"/>
                </a:solidFill>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hlinkClick r:id="rId2"/>
              </a:rPr>
              <a:t>https://www.hostgator.com/</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p:txBody>
      </p:sp>
      <p:pic>
        <p:nvPicPr>
          <p:cNvPr id="3" name="Picture 2">
            <a:extLst>
              <a:ext uri="{FF2B5EF4-FFF2-40B4-BE49-F238E27FC236}">
                <a16:creationId xmlns:a16="http://schemas.microsoft.com/office/drawing/2014/main" id="{95AC1D35-D88B-2E4D-A70E-C9D6907B6FA3}"/>
              </a:ext>
            </a:extLst>
          </p:cNvPr>
          <p:cNvPicPr>
            <a:picLocks noChangeAspect="1"/>
          </p:cNvPicPr>
          <p:nvPr/>
        </p:nvPicPr>
        <p:blipFill>
          <a:blip r:embed="rId3"/>
          <a:stretch>
            <a:fillRect/>
          </a:stretch>
        </p:blipFill>
        <p:spPr>
          <a:xfrm>
            <a:off x="-1" y="551785"/>
            <a:ext cx="12192000" cy="6216884"/>
          </a:xfrm>
          <a:prstGeom prst="rect">
            <a:avLst/>
          </a:prstGeom>
        </p:spPr>
      </p:pic>
    </p:spTree>
    <p:extLst>
      <p:ext uri="{BB962C8B-B14F-4D97-AF65-F5344CB8AC3E}">
        <p14:creationId xmlns:p14="http://schemas.microsoft.com/office/powerpoint/2010/main" val="38379361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AE96B1-34CD-B44C-FC88-E15AFA30DB54}"/>
              </a:ext>
            </a:extLst>
          </p:cNvPr>
          <p:cNvSpPr txBox="1"/>
          <p:nvPr/>
        </p:nvSpPr>
        <p:spPr>
          <a:xfrm>
            <a:off x="-1" y="0"/>
            <a:ext cx="11666483"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Additional Information: Ranking Hosts, e.g.</a:t>
            </a:r>
            <a:r>
              <a:rPr lang="en-US" sz="2200" b="1" dirty="0">
                <a:solidFill>
                  <a:prstClr val="black"/>
                </a:solidFill>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hlinkClick r:id="rId2"/>
              </a:rPr>
              <a:t>https://www.consumer-rankings.com/hosting/?a=148&amp;c=2968&amp;s1=76537702.78231060&amp;vn=nrd3-nbf&amp;ls=g&amp;gclid=CM-8u8fezcECFZeFaQodw3YANA</a:t>
            </a: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p:txBody>
      </p:sp>
      <p:pic>
        <p:nvPicPr>
          <p:cNvPr id="5" name="Picture 4">
            <a:extLst>
              <a:ext uri="{FF2B5EF4-FFF2-40B4-BE49-F238E27FC236}">
                <a16:creationId xmlns:a16="http://schemas.microsoft.com/office/drawing/2014/main" id="{E5FD0866-D74E-3358-B539-070EF1713F3C}"/>
              </a:ext>
            </a:extLst>
          </p:cNvPr>
          <p:cNvPicPr>
            <a:picLocks noChangeAspect="1"/>
          </p:cNvPicPr>
          <p:nvPr/>
        </p:nvPicPr>
        <p:blipFill>
          <a:blip r:embed="rId3"/>
          <a:stretch>
            <a:fillRect/>
          </a:stretch>
        </p:blipFill>
        <p:spPr>
          <a:xfrm>
            <a:off x="2626214" y="1107996"/>
            <a:ext cx="6414052" cy="5401308"/>
          </a:xfrm>
          <a:prstGeom prst="rect">
            <a:avLst/>
          </a:prstGeom>
        </p:spPr>
      </p:pic>
    </p:spTree>
    <p:extLst>
      <p:ext uri="{BB962C8B-B14F-4D97-AF65-F5344CB8AC3E}">
        <p14:creationId xmlns:p14="http://schemas.microsoft.com/office/powerpoint/2010/main" val="247297478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D3A558-B1D9-FEF2-CCDE-0EF67FBC6887}"/>
              </a:ext>
            </a:extLst>
          </p:cNvPr>
          <p:cNvSpPr txBox="1"/>
          <p:nvPr/>
        </p:nvSpPr>
        <p:spPr>
          <a:xfrm>
            <a:off x="0" y="0"/>
            <a:ext cx="12191998" cy="430887"/>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Challenge 2 (Homepage Portfolio Development)</a:t>
            </a:r>
          </a:p>
        </p:txBody>
      </p:sp>
      <p:pic>
        <p:nvPicPr>
          <p:cNvPr id="6" name="Picture 5">
            <a:extLst>
              <a:ext uri="{FF2B5EF4-FFF2-40B4-BE49-F238E27FC236}">
                <a16:creationId xmlns:a16="http://schemas.microsoft.com/office/drawing/2014/main" id="{97F10BA4-40B8-D10D-2BC3-8BC4D637935B}"/>
              </a:ext>
            </a:extLst>
          </p:cNvPr>
          <p:cNvPicPr>
            <a:picLocks noChangeAspect="1"/>
          </p:cNvPicPr>
          <p:nvPr/>
        </p:nvPicPr>
        <p:blipFill>
          <a:blip r:embed="rId2"/>
          <a:stretch>
            <a:fillRect/>
          </a:stretch>
        </p:blipFill>
        <p:spPr>
          <a:xfrm>
            <a:off x="280816" y="1429407"/>
            <a:ext cx="11911182" cy="3999186"/>
          </a:xfrm>
          <a:prstGeom prst="rect">
            <a:avLst/>
          </a:prstGeom>
        </p:spPr>
      </p:pic>
    </p:spTree>
    <p:extLst>
      <p:ext uri="{BB962C8B-B14F-4D97-AF65-F5344CB8AC3E}">
        <p14:creationId xmlns:p14="http://schemas.microsoft.com/office/powerpoint/2010/main" val="29173428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885B52-C44A-A8B9-C7C0-55E166CF0754}"/>
              </a:ext>
            </a:extLst>
          </p:cNvPr>
          <p:cNvGraphicFramePr>
            <a:graphicFrameLocks noGrp="1"/>
          </p:cNvGraphicFramePr>
          <p:nvPr>
            <p:extLst>
              <p:ext uri="{D42A27DB-BD31-4B8C-83A1-F6EECF244321}">
                <p14:modId xmlns:p14="http://schemas.microsoft.com/office/powerpoint/2010/main" val="2038500597"/>
              </p:ext>
            </p:extLst>
          </p:nvPr>
        </p:nvGraphicFramePr>
        <p:xfrm>
          <a:off x="57806" y="1026380"/>
          <a:ext cx="12076386" cy="5831620"/>
        </p:xfrm>
        <a:graphic>
          <a:graphicData uri="http://schemas.openxmlformats.org/drawingml/2006/table">
            <a:tbl>
              <a:tblPr/>
              <a:tblGrid>
                <a:gridCol w="4025462">
                  <a:extLst>
                    <a:ext uri="{9D8B030D-6E8A-4147-A177-3AD203B41FA5}">
                      <a16:colId xmlns:a16="http://schemas.microsoft.com/office/drawing/2014/main" val="3150186767"/>
                    </a:ext>
                  </a:extLst>
                </a:gridCol>
                <a:gridCol w="4025462">
                  <a:extLst>
                    <a:ext uri="{9D8B030D-6E8A-4147-A177-3AD203B41FA5}">
                      <a16:colId xmlns:a16="http://schemas.microsoft.com/office/drawing/2014/main" val="2593760403"/>
                    </a:ext>
                  </a:extLst>
                </a:gridCol>
                <a:gridCol w="4025462">
                  <a:extLst>
                    <a:ext uri="{9D8B030D-6E8A-4147-A177-3AD203B41FA5}">
                      <a16:colId xmlns:a16="http://schemas.microsoft.com/office/drawing/2014/main" val="1634184553"/>
                    </a:ext>
                  </a:extLst>
                </a:gridCol>
              </a:tblGrid>
              <a:tr h="443027">
                <a:tc>
                  <a:txBody>
                    <a:bodyPr/>
                    <a:lstStyle/>
                    <a:p>
                      <a:pPr fontAlgn="b"/>
                      <a:br>
                        <a:rPr lang="en-US" sz="2200" b="1" dirty="0">
                          <a:effectLst/>
                          <a:latin typeface="Calibri" panose="020F0502020204030204" pitchFamily="34" charset="0"/>
                          <a:cs typeface="Calibri" panose="020F0502020204030204" pitchFamily="34" charset="0"/>
                        </a:rPr>
                      </a:br>
                      <a:r>
                        <a:rPr lang="en-US" sz="2200" b="1" dirty="0">
                          <a:effectLst/>
                          <a:latin typeface="Calibri" panose="020F0502020204030204" pitchFamily="34" charset="0"/>
                          <a:cs typeface="Calibri" panose="020F0502020204030204" pitchFamily="34" charset="0"/>
                        </a:rPr>
                        <a:t>Web Developer Questions</a:t>
                      </a:r>
                    </a:p>
                  </a:txBody>
                  <a:tcPr marL="26372" marR="26372" marT="13186" marB="13186" anchor="b">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US" sz="2200" b="1" dirty="0">
                          <a:effectLst/>
                          <a:latin typeface="Calibri" panose="020F0502020204030204" pitchFamily="34" charset="0"/>
                          <a:cs typeface="Calibri" panose="020F0502020204030204" pitchFamily="34" charset="0"/>
                        </a:rPr>
                        <a:t>Practical Example Answers</a:t>
                      </a:r>
                    </a:p>
                  </a:txBody>
                  <a:tcPr marL="26372" marR="26372" marT="13186" marB="13186" anchor="b">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endParaRPr lang="en-AU" sz="2200">
                        <a:latin typeface="Calibri" panose="020F0502020204030204" pitchFamily="34" charset="0"/>
                        <a:cs typeface="Calibri" panose="020F0502020204030204" pitchFamily="34" charset="0"/>
                      </a:endParaRPr>
                    </a:p>
                  </a:txBody>
                  <a:tcPr marL="26372" marR="26372" marT="13186" marB="13186">
                    <a:lnL w="7315" cap="flat" cmpd="sng" algn="ctr">
                      <a:solidFill>
                        <a:srgbClr val="E3E3E3"/>
                      </a:solidFill>
                      <a:prstDash val="solid"/>
                      <a:round/>
                      <a:headEnd type="none" w="med" len="med"/>
                      <a:tailEnd type="none" w="med" len="med"/>
                    </a:lnL>
                    <a:lnB w="1270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2427971201"/>
                  </a:ext>
                </a:extLst>
              </a:tr>
              <a:tr h="1056449">
                <a:tc>
                  <a:txBody>
                    <a:bodyPr/>
                    <a:lstStyle/>
                    <a:p>
                      <a:pPr fontAlgn="base"/>
                      <a:r>
                        <a:rPr lang="en-US" sz="2200" dirty="0">
                          <a:effectLst/>
                          <a:latin typeface="Calibri" panose="020F0502020204030204" pitchFamily="34" charset="0"/>
                          <a:cs typeface="Calibri" panose="020F0502020204030204" pitchFamily="34" charset="0"/>
                        </a:rPr>
                        <a:t>Purpose of the Website</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What is the purpose and goal of the website?</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To showcase my web development projects, skills, and professional experience to potential employers and clients.</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679189450"/>
                  </a:ext>
                </a:extLst>
              </a:tr>
              <a:tr h="1158686">
                <a:tc>
                  <a:txBody>
                    <a:bodyPr/>
                    <a:lstStyle/>
                    <a:p>
                      <a:pPr fontAlgn="base"/>
                      <a:endParaRPr lang="en-US" sz="2200">
                        <a:effectLst/>
                        <a:latin typeface="Calibri" panose="020F0502020204030204" pitchFamily="34" charset="0"/>
                        <a:cs typeface="Calibri" panose="020F0502020204030204" pitchFamily="34" charset="0"/>
                      </a:endParaRP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What is the company’s mission statement?</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To demonstrate innovative web solutions and technical expertise that drive success for clients and businesses.</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453160615"/>
                  </a:ext>
                </a:extLst>
              </a:tr>
              <a:tr h="954212">
                <a:tc>
                  <a:txBody>
                    <a:bodyPr/>
                    <a:lstStyle/>
                    <a:p>
                      <a:pPr fontAlgn="base"/>
                      <a:r>
                        <a:rPr lang="en-US" sz="2200">
                          <a:effectLst/>
                          <a:latin typeface="Calibri" panose="020F0502020204030204" pitchFamily="34" charset="0"/>
                          <a:cs typeface="Calibri" panose="020F0502020204030204" pitchFamily="34" charset="0"/>
                        </a:rPr>
                        <a:t>Target Audience</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Describe the target audience (age, gender, demographics)</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Tech industry professionals, hiring managers, and peers in web development, aged 20-50, regardless of gender.</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70135888"/>
                  </a:ext>
                </a:extLst>
              </a:tr>
              <a:tr h="954212">
                <a:tc>
                  <a:txBody>
                    <a:bodyPr/>
                    <a:lstStyle/>
                    <a:p>
                      <a:pPr fontAlgn="base"/>
                      <a:endParaRPr lang="en-US" sz="2200" dirty="0">
                        <a:effectLst/>
                        <a:latin typeface="Calibri" panose="020F0502020204030204" pitchFamily="34" charset="0"/>
                        <a:cs typeface="Calibri" panose="020F0502020204030204" pitchFamily="34" charset="0"/>
                      </a:endParaRP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What information is most pertinent to the users?</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Portfolio of projects, list of skills, professional bio, and contact information.</a:t>
                      </a: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74746228"/>
                  </a:ext>
                </a:extLst>
              </a:tr>
            </a:tbl>
          </a:graphicData>
        </a:graphic>
      </p:graphicFrame>
      <p:sp>
        <p:nvSpPr>
          <p:cNvPr id="3" name="TextBox 2">
            <a:extLst>
              <a:ext uri="{FF2B5EF4-FFF2-40B4-BE49-F238E27FC236}">
                <a16:creationId xmlns:a16="http://schemas.microsoft.com/office/drawing/2014/main" id="{2BD3A558-B1D9-FEF2-CCDE-0EF67FBC6887}"/>
              </a:ext>
            </a:extLst>
          </p:cNvPr>
          <p:cNvSpPr txBox="1"/>
          <p:nvPr/>
        </p:nvSpPr>
        <p:spPr>
          <a:xfrm>
            <a:off x="0" y="0"/>
            <a:ext cx="12191998" cy="1107996"/>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Challenge 2 (Homepage Portfolio Development)</a:t>
            </a:r>
          </a:p>
          <a:p>
            <a:r>
              <a:rPr lang="en-US" sz="2200" b="1" dirty="0">
                <a:latin typeface="Calibri" panose="020F0502020204030204" pitchFamily="34" charset="0"/>
                <a:cs typeface="Calibri" panose="020F0502020204030204" pitchFamily="34" charset="0"/>
              </a:rPr>
              <a:t>A cohesive practical example for the planning document of a personal portfolio website. This example is for a hypothetical website aimed at showcasing a web developer's professional portfolio.</a:t>
            </a:r>
            <a:endParaRPr lang="en-AU"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3730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885B52-C44A-A8B9-C7C0-55E166CF0754}"/>
              </a:ext>
            </a:extLst>
          </p:cNvPr>
          <p:cNvGraphicFramePr>
            <a:graphicFrameLocks noGrp="1"/>
          </p:cNvGraphicFramePr>
          <p:nvPr>
            <p:extLst>
              <p:ext uri="{D42A27DB-BD31-4B8C-83A1-F6EECF244321}">
                <p14:modId xmlns:p14="http://schemas.microsoft.com/office/powerpoint/2010/main" val="2647907035"/>
              </p:ext>
            </p:extLst>
          </p:nvPr>
        </p:nvGraphicFramePr>
        <p:xfrm>
          <a:off x="57806" y="1309893"/>
          <a:ext cx="12076386" cy="5354129"/>
        </p:xfrm>
        <a:graphic>
          <a:graphicData uri="http://schemas.openxmlformats.org/drawingml/2006/table">
            <a:tbl>
              <a:tblPr/>
              <a:tblGrid>
                <a:gridCol w="4025462">
                  <a:extLst>
                    <a:ext uri="{9D8B030D-6E8A-4147-A177-3AD203B41FA5}">
                      <a16:colId xmlns:a16="http://schemas.microsoft.com/office/drawing/2014/main" val="3150186767"/>
                    </a:ext>
                  </a:extLst>
                </a:gridCol>
                <a:gridCol w="4025462">
                  <a:extLst>
                    <a:ext uri="{9D8B030D-6E8A-4147-A177-3AD203B41FA5}">
                      <a16:colId xmlns:a16="http://schemas.microsoft.com/office/drawing/2014/main" val="2593760403"/>
                    </a:ext>
                  </a:extLst>
                </a:gridCol>
                <a:gridCol w="4025462">
                  <a:extLst>
                    <a:ext uri="{9D8B030D-6E8A-4147-A177-3AD203B41FA5}">
                      <a16:colId xmlns:a16="http://schemas.microsoft.com/office/drawing/2014/main" val="1634184553"/>
                    </a:ext>
                  </a:extLst>
                </a:gridCol>
              </a:tblGrid>
              <a:tr h="443027">
                <a:tc>
                  <a:txBody>
                    <a:bodyPr/>
                    <a:lstStyle/>
                    <a:p>
                      <a:pPr fontAlgn="base"/>
                      <a:r>
                        <a:rPr lang="en-US" sz="2200" dirty="0">
                          <a:effectLst/>
                          <a:latin typeface="Calibri" panose="020F0502020204030204" pitchFamily="34" charset="0"/>
                          <a:cs typeface="Calibri" panose="020F0502020204030204" pitchFamily="34" charset="0"/>
                        </a:rPr>
                        <a:t>Multiplatform Display</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Will you design for multiple platform display or only focus on a desktop or mobile design?</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The site will be responsive, designed for optimal viewing across desktop, mobile, and tablet devices.</a:t>
                      </a:r>
                    </a:p>
                  </a:txBody>
                  <a:tcPr anchor="ctr">
                    <a:lnL w="7315" cap="flat" cmpd="sng" algn="ctr">
                      <a:solidFill>
                        <a:srgbClr val="E3E3E3"/>
                      </a:solidFill>
                      <a:prstDash val="solid"/>
                      <a:round/>
                      <a:headEnd type="none" w="med" len="med"/>
                      <a:tailEnd type="none" w="med" len="med"/>
                    </a:lnL>
                    <a:lnB w="1270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2427971201"/>
                  </a:ext>
                </a:extLst>
              </a:tr>
              <a:tr h="1056449">
                <a:tc>
                  <a:txBody>
                    <a:bodyPr/>
                    <a:lstStyle/>
                    <a:p>
                      <a:pPr fontAlgn="base"/>
                      <a:r>
                        <a:rPr lang="en-US" sz="2200">
                          <a:effectLst/>
                          <a:latin typeface="Calibri" panose="020F0502020204030204" pitchFamily="34" charset="0"/>
                          <a:cs typeface="Calibri" panose="020F0502020204030204" pitchFamily="34" charset="0"/>
                        </a:rPr>
                        <a:t>Wireframe</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How many pages will be included in the website?</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5 main pages: Home, About, Portfolio, Skills, Contact.</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679189450"/>
                  </a:ext>
                </a:extLst>
              </a:tr>
              <a:tr h="1158686">
                <a:tc>
                  <a:txBody>
                    <a:bodyPr/>
                    <a:lstStyle/>
                    <a:p>
                      <a:pPr fontAlgn="base"/>
                      <a:endParaRPr lang="en-US" sz="2200">
                        <a:effectLst/>
                        <a:latin typeface="Calibri" panose="020F0502020204030204" pitchFamily="34" charset="0"/>
                        <a:cs typeface="Calibri" panose="020F0502020204030204" pitchFamily="34" charset="0"/>
                      </a:endParaRP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How will the pages be organized?</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A navigation bar at the top for easy access to all sections, with smooth scroll functionality for single-page navigation.</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453160615"/>
                  </a:ext>
                </a:extLst>
              </a:tr>
              <a:tr h="954212">
                <a:tc>
                  <a:txBody>
                    <a:bodyPr/>
                    <a:lstStyle/>
                    <a:p>
                      <a:pPr fontAlgn="base"/>
                      <a:endParaRPr lang="en-US" sz="2200" dirty="0">
                        <a:effectLst/>
                        <a:latin typeface="Calibri" panose="020F0502020204030204" pitchFamily="34" charset="0"/>
                        <a:cs typeface="Calibri" panose="020F0502020204030204" pitchFamily="34" charset="0"/>
                      </a:endParaRPr>
                    </a:p>
                  </a:txBody>
                  <a:tcPr marL="26372" marR="26372" marT="13186" marB="13186"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200" dirty="0">
                          <a:effectLst/>
                          <a:latin typeface="Calibri" panose="020F0502020204030204" pitchFamily="34" charset="0"/>
                          <a:cs typeface="Calibri" panose="020F0502020204030204" pitchFamily="34" charset="0"/>
                        </a:rPr>
                        <a:t>What type of website structure is appropriate for the content?</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b="0" i="0" kern="1200" dirty="0">
                          <a:solidFill>
                            <a:schemeClr val="tx1"/>
                          </a:solidFill>
                          <a:effectLst/>
                          <a:latin typeface="Calibri" panose="020F0502020204030204" pitchFamily="34" charset="0"/>
                          <a:ea typeface="+mn-ea"/>
                          <a:cs typeface="Calibri" panose="020F0502020204030204" pitchFamily="34" charset="0"/>
                        </a:rPr>
                        <a:t>A single-page application (SPA) structure for the main content with additional pages for detailed project views.</a:t>
                      </a:r>
                      <a:endParaRPr lang="en-US" sz="2200" dirty="0">
                        <a:effectLst/>
                        <a:latin typeface="Calibri" panose="020F0502020204030204" pitchFamily="34" charset="0"/>
                        <a:cs typeface="Calibri" panose="020F0502020204030204" pitchFamily="34" charset="0"/>
                      </a:endParaRP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70135888"/>
                  </a:ext>
                </a:extLst>
              </a:tr>
            </a:tbl>
          </a:graphicData>
        </a:graphic>
      </p:graphicFrame>
      <p:sp>
        <p:nvSpPr>
          <p:cNvPr id="3" name="TextBox 2">
            <a:extLst>
              <a:ext uri="{FF2B5EF4-FFF2-40B4-BE49-F238E27FC236}">
                <a16:creationId xmlns:a16="http://schemas.microsoft.com/office/drawing/2014/main" id="{2BD3A558-B1D9-FEF2-CCDE-0EF67FBC6887}"/>
              </a:ext>
            </a:extLst>
          </p:cNvPr>
          <p:cNvSpPr txBox="1"/>
          <p:nvPr/>
        </p:nvSpPr>
        <p:spPr>
          <a:xfrm>
            <a:off x="0" y="0"/>
            <a:ext cx="12191998" cy="430887"/>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Challenge 2 (Homepage Portfolio Development)</a:t>
            </a:r>
          </a:p>
        </p:txBody>
      </p:sp>
    </p:spTree>
    <p:extLst>
      <p:ext uri="{BB962C8B-B14F-4D97-AF65-F5344CB8AC3E}">
        <p14:creationId xmlns:p14="http://schemas.microsoft.com/office/powerpoint/2010/main" val="9636683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885B52-C44A-A8B9-C7C0-55E166CF0754}"/>
              </a:ext>
            </a:extLst>
          </p:cNvPr>
          <p:cNvGraphicFramePr>
            <a:graphicFrameLocks noGrp="1"/>
          </p:cNvGraphicFramePr>
          <p:nvPr>
            <p:extLst>
              <p:ext uri="{D42A27DB-BD31-4B8C-83A1-F6EECF244321}">
                <p14:modId xmlns:p14="http://schemas.microsoft.com/office/powerpoint/2010/main" val="1281490072"/>
              </p:ext>
            </p:extLst>
          </p:nvPr>
        </p:nvGraphicFramePr>
        <p:xfrm>
          <a:off x="57806" y="1309893"/>
          <a:ext cx="12076386" cy="5121086"/>
        </p:xfrm>
        <a:graphic>
          <a:graphicData uri="http://schemas.openxmlformats.org/drawingml/2006/table">
            <a:tbl>
              <a:tblPr/>
              <a:tblGrid>
                <a:gridCol w="4025462">
                  <a:extLst>
                    <a:ext uri="{9D8B030D-6E8A-4147-A177-3AD203B41FA5}">
                      <a16:colId xmlns:a16="http://schemas.microsoft.com/office/drawing/2014/main" val="3150186767"/>
                    </a:ext>
                  </a:extLst>
                </a:gridCol>
                <a:gridCol w="4025462">
                  <a:extLst>
                    <a:ext uri="{9D8B030D-6E8A-4147-A177-3AD203B41FA5}">
                      <a16:colId xmlns:a16="http://schemas.microsoft.com/office/drawing/2014/main" val="2593760403"/>
                    </a:ext>
                  </a:extLst>
                </a:gridCol>
                <a:gridCol w="4025462">
                  <a:extLst>
                    <a:ext uri="{9D8B030D-6E8A-4147-A177-3AD203B41FA5}">
                      <a16:colId xmlns:a16="http://schemas.microsoft.com/office/drawing/2014/main" val="1634184553"/>
                    </a:ext>
                  </a:extLst>
                </a:gridCol>
              </a:tblGrid>
              <a:tr h="443027">
                <a:tc>
                  <a:txBody>
                    <a:bodyPr/>
                    <a:lstStyle/>
                    <a:p>
                      <a:pPr fontAlgn="base"/>
                      <a:r>
                        <a:rPr lang="en-US" sz="2200">
                          <a:effectLst/>
                          <a:latin typeface="Calibri" panose="020F0502020204030204" pitchFamily="34" charset="0"/>
                          <a:cs typeface="Calibri" panose="020F0502020204030204" pitchFamily="34" charset="0"/>
                        </a:rPr>
                        <a:t>Graphics</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What graphics will you use on the website?</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7315"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High-quality images of my projects, personal branding logo, and icons for technical skills.</a:t>
                      </a:r>
                    </a:p>
                  </a:txBody>
                  <a:tcPr anchor="ctr">
                    <a:lnL w="7315" cap="flat" cmpd="sng" algn="ctr">
                      <a:solidFill>
                        <a:srgbClr val="E3E3E3"/>
                      </a:solidFill>
                      <a:prstDash val="solid"/>
                      <a:round/>
                      <a:headEnd type="none" w="med" len="med"/>
                      <a:tailEnd type="none" w="med" len="med"/>
                    </a:lnL>
                    <a:lnB w="1270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2427971201"/>
                  </a:ext>
                </a:extLst>
              </a:tr>
              <a:tr h="1056449">
                <a:tc>
                  <a:txBody>
                    <a:bodyPr/>
                    <a:lstStyle/>
                    <a:p>
                      <a:pPr fontAlgn="base"/>
                      <a:r>
                        <a:rPr lang="en-US" sz="2200">
                          <a:effectLst/>
                          <a:latin typeface="Calibri" panose="020F0502020204030204" pitchFamily="34" charset="0"/>
                          <a:cs typeface="Calibri" panose="020F0502020204030204" pitchFamily="34" charset="0"/>
                        </a:rPr>
                        <a:t>Color</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What colors will you use within the site to enhance the purpose and brand?</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A color scheme of navy blue (professionalism), light gray (modern), and white (clean).</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679189450"/>
                  </a:ext>
                </a:extLst>
              </a:tr>
              <a:tr h="1158686">
                <a:tc>
                  <a:txBody>
                    <a:bodyPr/>
                    <a:lstStyle/>
                    <a:p>
                      <a:pPr fontAlgn="base"/>
                      <a:r>
                        <a:rPr lang="en-US" sz="2200">
                          <a:effectLst/>
                          <a:latin typeface="Calibri" panose="020F0502020204030204" pitchFamily="34" charset="0"/>
                          <a:cs typeface="Calibri" panose="020F0502020204030204" pitchFamily="34" charset="0"/>
                        </a:rPr>
                        <a:t>Typography</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What font styles will you use within the website?</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"Roboto" for headings for its modern look and "Open Sans" for body text for readability.</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453160615"/>
                  </a:ext>
                </a:extLst>
              </a:tr>
              <a:tr h="954212">
                <a:tc>
                  <a:txBody>
                    <a:bodyPr/>
                    <a:lstStyle/>
                    <a:p>
                      <a:pPr fontAlgn="base"/>
                      <a:r>
                        <a:rPr lang="en-US" sz="2200">
                          <a:effectLst/>
                          <a:latin typeface="Calibri" panose="020F0502020204030204" pitchFamily="34" charset="0"/>
                          <a:cs typeface="Calibri" panose="020F0502020204030204" pitchFamily="34" charset="0"/>
                        </a:rPr>
                        <a:t>Accessibility</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a:effectLst/>
                          <a:latin typeface="Calibri" panose="020F0502020204030204" pitchFamily="34" charset="0"/>
                          <a:cs typeface="Calibri" panose="020F0502020204030204" pitchFamily="34" charset="0"/>
                        </a:rPr>
                        <a:t>How will the website accommodate people with disabilities?</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sz="2200" dirty="0">
                          <a:effectLst/>
                          <a:latin typeface="Calibri" panose="020F0502020204030204" pitchFamily="34" charset="0"/>
                          <a:cs typeface="Calibri" panose="020F0502020204030204" pitchFamily="34" charset="0"/>
                        </a:rPr>
                        <a:t>Use of ARIA roles, ensuring keyboard navigability, high-contrast color scheme for the visually impaired, and alt text for all images.</a:t>
                      </a:r>
                    </a:p>
                  </a:txBody>
                  <a:tcPr anchor="ctr">
                    <a:lnL w="7315" cap="flat" cmpd="sng" algn="ctr">
                      <a:solidFill>
                        <a:srgbClr val="E3E3E3"/>
                      </a:solidFill>
                      <a:prstDash val="solid"/>
                      <a:round/>
                      <a:headEnd type="none" w="med" len="med"/>
                      <a:tailEnd type="none" w="med" len="med"/>
                    </a:lnL>
                    <a:lnR w="7315"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70135888"/>
                  </a:ext>
                </a:extLst>
              </a:tr>
            </a:tbl>
          </a:graphicData>
        </a:graphic>
      </p:graphicFrame>
      <p:sp>
        <p:nvSpPr>
          <p:cNvPr id="3" name="TextBox 2">
            <a:extLst>
              <a:ext uri="{FF2B5EF4-FFF2-40B4-BE49-F238E27FC236}">
                <a16:creationId xmlns:a16="http://schemas.microsoft.com/office/drawing/2014/main" id="{2BD3A558-B1D9-FEF2-CCDE-0EF67FBC6887}"/>
              </a:ext>
            </a:extLst>
          </p:cNvPr>
          <p:cNvSpPr txBox="1"/>
          <p:nvPr/>
        </p:nvSpPr>
        <p:spPr>
          <a:xfrm>
            <a:off x="0" y="0"/>
            <a:ext cx="12191998" cy="430887"/>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Challenge 2 (Homepage Portfolio Development)</a:t>
            </a:r>
          </a:p>
        </p:txBody>
      </p:sp>
    </p:spTree>
    <p:extLst>
      <p:ext uri="{BB962C8B-B14F-4D97-AF65-F5344CB8AC3E}">
        <p14:creationId xmlns:p14="http://schemas.microsoft.com/office/powerpoint/2010/main" val="24993138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D3A558-B1D9-FEF2-CCDE-0EF67FBC6887}"/>
              </a:ext>
            </a:extLst>
          </p:cNvPr>
          <p:cNvSpPr txBox="1"/>
          <p:nvPr/>
        </p:nvSpPr>
        <p:spPr>
          <a:xfrm>
            <a:off x="0" y="0"/>
            <a:ext cx="12191998" cy="430887"/>
          </a:xfrm>
          <a:prstGeom prst="rect">
            <a:avLst/>
          </a:prstGeom>
          <a:noFill/>
        </p:spPr>
        <p:txBody>
          <a:bodyPr wrap="square" rtlCol="0">
            <a:spAutoFit/>
          </a:bodyPr>
          <a:lstStyle/>
          <a:p>
            <a:r>
              <a:rPr lang="en-US" sz="2200" b="1" dirty="0">
                <a:latin typeface="Calibri" panose="020F0502020204030204" pitchFamily="34" charset="0"/>
                <a:cs typeface="Calibri" panose="020F0502020204030204" pitchFamily="34" charset="0"/>
              </a:rPr>
              <a:t>Challenge 2 (homepage Portfolio Development)</a:t>
            </a:r>
          </a:p>
        </p:txBody>
      </p:sp>
      <p:sp>
        <p:nvSpPr>
          <p:cNvPr id="4" name="TextBox 3">
            <a:extLst>
              <a:ext uri="{FF2B5EF4-FFF2-40B4-BE49-F238E27FC236}">
                <a16:creationId xmlns:a16="http://schemas.microsoft.com/office/drawing/2014/main" id="{EEEB45F4-F1AD-AD0E-4CC4-7871464F0130}"/>
              </a:ext>
            </a:extLst>
          </p:cNvPr>
          <p:cNvSpPr txBox="1"/>
          <p:nvPr/>
        </p:nvSpPr>
        <p:spPr>
          <a:xfrm>
            <a:off x="136634" y="756745"/>
            <a:ext cx="11561380" cy="2579039"/>
          </a:xfrm>
          <a:prstGeom prst="rect">
            <a:avLst/>
          </a:prstGeom>
          <a:noFill/>
        </p:spPr>
        <p:txBody>
          <a:bodyPr wrap="square" rtlCol="0">
            <a:spAutoFit/>
          </a:bodyPr>
          <a:lstStyle/>
          <a:p>
            <a:pPr>
              <a:lnSpc>
                <a:spcPct val="150000"/>
              </a:lnSpc>
            </a:pPr>
            <a:r>
              <a:rPr lang="en-US" sz="2200" dirty="0">
                <a:latin typeface="Calibri" panose="020F0502020204030204" pitchFamily="34" charset="0"/>
                <a:cs typeface="Calibri" panose="020F0502020204030204" pitchFamily="34" charset="0"/>
              </a:rPr>
              <a:t>The primary goal of this website is to effectively present my professional profile, including work portfolio, skills, and experience, to potential employers and clients in the web development field. This online presence will not only showcase my technical capabilities but also my design sensibility and attention to detail. Additionally, the website aims to facilitate easy communication through a contact form, encouraging professional connections and opportunities.</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05829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581C15-003E-3AEF-B2FA-34A95E1678EB}"/>
              </a:ext>
            </a:extLst>
          </p:cNvPr>
          <p:cNvPicPr>
            <a:picLocks noChangeAspect="1"/>
          </p:cNvPicPr>
          <p:nvPr/>
        </p:nvPicPr>
        <p:blipFill>
          <a:blip r:embed="rId2"/>
          <a:stretch>
            <a:fillRect/>
          </a:stretch>
        </p:blipFill>
        <p:spPr>
          <a:xfrm>
            <a:off x="0" y="0"/>
            <a:ext cx="12192000" cy="5746768"/>
          </a:xfrm>
          <a:prstGeom prst="rect">
            <a:avLst/>
          </a:prstGeom>
        </p:spPr>
      </p:pic>
      <p:pic>
        <p:nvPicPr>
          <p:cNvPr id="4" name="Picture 3">
            <a:extLst>
              <a:ext uri="{FF2B5EF4-FFF2-40B4-BE49-F238E27FC236}">
                <a16:creationId xmlns:a16="http://schemas.microsoft.com/office/drawing/2014/main" id="{372F8830-0C65-0CC5-BA52-2F82300F1606}"/>
              </a:ext>
            </a:extLst>
          </p:cNvPr>
          <p:cNvPicPr>
            <a:picLocks noChangeAspect="1"/>
          </p:cNvPicPr>
          <p:nvPr/>
        </p:nvPicPr>
        <p:blipFill rotWithShape="1">
          <a:blip r:embed="rId3"/>
          <a:srcRect b="74081"/>
          <a:stretch/>
        </p:blipFill>
        <p:spPr>
          <a:xfrm>
            <a:off x="52550" y="5746768"/>
            <a:ext cx="12034346" cy="922931"/>
          </a:xfrm>
          <a:prstGeom prst="rect">
            <a:avLst/>
          </a:prstGeom>
        </p:spPr>
      </p:pic>
    </p:spTree>
    <p:extLst>
      <p:ext uri="{BB962C8B-B14F-4D97-AF65-F5344CB8AC3E}">
        <p14:creationId xmlns:p14="http://schemas.microsoft.com/office/powerpoint/2010/main" val="38394012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0F224B-C6FE-4506-26FE-13F866CCFC99}"/>
              </a:ext>
            </a:extLst>
          </p:cNvPr>
          <p:cNvPicPr>
            <a:picLocks noChangeAspect="1"/>
          </p:cNvPicPr>
          <p:nvPr/>
        </p:nvPicPr>
        <p:blipFill rotWithShape="1">
          <a:blip r:embed="rId2"/>
          <a:srcRect t="24542"/>
          <a:stretch/>
        </p:blipFill>
        <p:spPr>
          <a:xfrm>
            <a:off x="0" y="105103"/>
            <a:ext cx="12192000" cy="2686947"/>
          </a:xfrm>
          <a:prstGeom prst="rect">
            <a:avLst/>
          </a:prstGeom>
        </p:spPr>
      </p:pic>
    </p:spTree>
    <p:extLst>
      <p:ext uri="{BB962C8B-B14F-4D97-AF65-F5344CB8AC3E}">
        <p14:creationId xmlns:p14="http://schemas.microsoft.com/office/powerpoint/2010/main" val="10751973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6BE61A1-AD8A-9E70-9618-4F94E4ABB32B}"/>
              </a:ext>
            </a:extLst>
          </p:cNvPr>
          <p:cNvSpPr txBox="1"/>
          <p:nvPr/>
        </p:nvSpPr>
        <p:spPr>
          <a:xfrm>
            <a:off x="1" y="-20806"/>
            <a:ext cx="12300155" cy="6878806"/>
          </a:xfrm>
          <a:prstGeom prst="rect">
            <a:avLst/>
          </a:prstGeom>
          <a:solidFill>
            <a:schemeClr val="tx1"/>
          </a:solidFill>
        </p:spPr>
        <p:txBody>
          <a:bodyPr wrap="square" rtlCol="0">
            <a:spAutoFit/>
          </a:bodyPr>
          <a:lstStyle/>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DOCTYPE</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html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html</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lang</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a:t>
            </a:r>
            <a:r>
              <a:rPr lang="en-US" sz="900" b="0" dirty="0" err="1">
                <a:solidFill>
                  <a:srgbClr val="CE9178"/>
                </a:solidFill>
                <a:effectLst/>
                <a:latin typeface="Consolas" panose="020B0609020204030204" pitchFamily="49" charset="0"/>
              </a:rPr>
              <a:t>en</a:t>
            </a:r>
            <a:r>
              <a:rPr lang="en-US" sz="900" b="0" dirty="0">
                <a:solidFill>
                  <a:srgbClr val="CE9178"/>
                </a:solidFill>
                <a:effectLst/>
                <a:latin typeface="Consolas" panose="020B0609020204030204" pitchFamily="49" charset="0"/>
              </a:rPr>
              <a:t>"</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head</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meta</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charset</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"UTF-8"</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meta</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name</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"viewport"</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content</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"width=device-width, initial-scale=1.0"</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title</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Alex Johnson - Web Developer</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title</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6A9955"/>
                </a:solidFill>
                <a:effectLst/>
                <a:latin typeface="Consolas" panose="020B0609020204030204" pitchFamily="49" charset="0"/>
              </a:rPr>
              <a:t>&lt;!-- Link to CSS file --&gt;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link</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rel</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"stylesheet"</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"style.css"</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head</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body</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header</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nav</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err="1">
                <a:solidFill>
                  <a:srgbClr val="569CD6"/>
                </a:solidFill>
                <a:effectLst/>
                <a:latin typeface="Consolas" panose="020B0609020204030204" pitchFamily="49" charset="0"/>
              </a:rPr>
              <a:t>ul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a</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"#about"</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About Me</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a</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"#portfolio"</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Portfolio</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a</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"#skills"</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Skills</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a</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"#contact"</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Contact</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808080"/>
                </a:solidFill>
                <a:effectLst/>
                <a:latin typeface="Consolas" panose="020B0609020204030204" pitchFamily="49" charset="0"/>
              </a:rPr>
              <a:t>&gt;&lt;/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err="1">
                <a:solidFill>
                  <a:srgbClr val="569CD6"/>
                </a:solidFill>
                <a:effectLst/>
                <a:latin typeface="Consolas" panose="020B0609020204030204" pitchFamily="49" charset="0"/>
              </a:rPr>
              <a:t>ul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nav</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header</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main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id</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"about"</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h1</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About Farshid Keivanian</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h1</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With a PhD in Information Technology and an expansive career marked by roles as a Sessional Lecturer, Learning Facilitator, Researcher, and Global Advisor, I bring a wealth of experience that aligns with the responsibilities and aspirations of this role.</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id</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"portfolio"</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Portfolio Highlights</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err="1">
                <a:solidFill>
                  <a:srgbClr val="569CD6"/>
                </a:solidFill>
                <a:effectLst/>
                <a:latin typeface="Consolas" panose="020B0609020204030204" pitchFamily="49" charset="0"/>
              </a:rPr>
              <a:t>ul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Course 1: Data Science, Big Data Analytics, and AI development using Python.</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Course 2: Web Development using HTML and CSS.</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Course 3: Database design and development using MySQL.</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Course 4: IT Project Management using Microsoft Project.</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li</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err="1">
                <a:solidFill>
                  <a:srgbClr val="569CD6"/>
                </a:solidFill>
                <a:effectLst/>
                <a:latin typeface="Consolas" panose="020B0609020204030204" pitchFamily="49" charset="0"/>
              </a:rPr>
              <a:t>ul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id</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"skills"</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Professional Skills</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Proficient in: Python, HTML, CSS, MATLAB, JavaScript, SQL, MongoDB, and more.</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CCCCCC"/>
                </a:solidFill>
                <a:effectLst/>
                <a:latin typeface="Consolas" panose="020B0609020204030204" pitchFamily="49" charset="0"/>
              </a:rPr>
              <a:t> </a:t>
            </a:r>
            <a:r>
              <a:rPr lang="en-US" sz="900" b="0" dirty="0">
                <a:solidFill>
                  <a:srgbClr val="9CDCFE"/>
                </a:solidFill>
                <a:effectLst/>
                <a:latin typeface="Consolas" panose="020B0609020204030204" pitchFamily="49" charset="0"/>
              </a:rPr>
              <a:t>id</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"contact"</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Contact Me</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h2</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Interested in working together? Reach out to me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CCCCCC"/>
                </a:solidFill>
                <a:effectLst/>
                <a:latin typeface="Consolas" panose="020B0609020204030204" pitchFamily="49" charset="0"/>
              </a:rPr>
              <a:t> </a:t>
            </a:r>
            <a:r>
              <a:rPr lang="en-US" sz="900" b="0" dirty="0" err="1">
                <a:solidFill>
                  <a:srgbClr val="9CDCFE"/>
                </a:solidFill>
                <a:effectLst/>
                <a:latin typeface="Consolas" panose="020B0609020204030204" pitchFamily="49" charset="0"/>
              </a:rPr>
              <a:t>href</a:t>
            </a:r>
            <a:r>
              <a:rPr lang="en-US" sz="900" b="0" dirty="0">
                <a:solidFill>
                  <a:srgbClr val="CCCCCC"/>
                </a:solidFill>
                <a:effectLst/>
                <a:latin typeface="Consolas" panose="020B0609020204030204" pitchFamily="49" charset="0"/>
              </a:rPr>
              <a:t>=</a:t>
            </a:r>
            <a:r>
              <a:rPr lang="en-US" sz="900" b="0" dirty="0">
                <a:solidFill>
                  <a:srgbClr val="CE9178"/>
                </a:solidFill>
                <a:effectLst/>
                <a:latin typeface="Consolas" panose="020B0609020204030204" pitchFamily="49" charset="0"/>
              </a:rPr>
              <a:t>"mailto:FKeivanian@my.holmes.edu.au"</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FKeivanian@my.holmes.edu.au</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a</a:t>
            </a:r>
            <a:r>
              <a:rPr lang="en-US" sz="900" b="0" dirty="0">
                <a:solidFill>
                  <a:srgbClr val="808080"/>
                </a:solidFill>
                <a:effectLst/>
                <a:latin typeface="Consolas" panose="020B0609020204030204" pitchFamily="49" charset="0"/>
              </a:rPr>
              <a:t>&gt;</a:t>
            </a:r>
            <a:r>
              <a:rPr lang="en-US" sz="900" b="0" dirty="0">
                <a:solidFill>
                  <a:srgbClr val="CCCCCC"/>
                </a:solidFill>
                <a:effectLst/>
                <a:latin typeface="Consolas" panose="020B0609020204030204" pitchFamily="49" charset="0"/>
              </a:rPr>
              <a:t>.</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section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main</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footer</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r>
              <a:rPr lang="en-US" sz="900" b="0" dirty="0">
                <a:solidFill>
                  <a:srgbClr val="569CD6"/>
                </a:solidFill>
                <a:effectLst/>
                <a:latin typeface="Consolas" panose="020B0609020204030204" pitchFamily="49" charset="0"/>
              </a:rPr>
              <a:t>&amp;copy;</a:t>
            </a:r>
            <a:r>
              <a:rPr lang="en-US" sz="900" b="0" dirty="0">
                <a:solidFill>
                  <a:srgbClr val="CCCCCC"/>
                </a:solidFill>
                <a:effectLst/>
                <a:latin typeface="Consolas" panose="020B0609020204030204" pitchFamily="49" charset="0"/>
              </a:rPr>
              <a:t> 2024 Farshid Keivanian</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p</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CCCCCC"/>
                </a:solidFill>
                <a:effectLst/>
                <a:latin typeface="Consolas" panose="020B0609020204030204" pitchFamily="49" charset="0"/>
              </a:rPr>
              <a:t>    </a:t>
            </a:r>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footer</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body</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a:p>
            <a:r>
              <a:rPr lang="en-US" sz="900" b="0" dirty="0">
                <a:solidFill>
                  <a:srgbClr val="808080"/>
                </a:solidFill>
                <a:effectLst/>
                <a:latin typeface="Consolas" panose="020B0609020204030204" pitchFamily="49" charset="0"/>
              </a:rPr>
              <a:t>&lt;/</a:t>
            </a:r>
            <a:r>
              <a:rPr lang="en-US" sz="900" b="0" dirty="0">
                <a:solidFill>
                  <a:srgbClr val="569CD6"/>
                </a:solidFill>
                <a:effectLst/>
                <a:latin typeface="Consolas" panose="020B0609020204030204" pitchFamily="49" charset="0"/>
              </a:rPr>
              <a:t>html</a:t>
            </a:r>
            <a:r>
              <a:rPr lang="en-US" sz="900" b="0" dirty="0">
                <a:solidFill>
                  <a:srgbClr val="808080"/>
                </a:solidFill>
                <a:effectLst/>
                <a:latin typeface="Consolas" panose="020B0609020204030204" pitchFamily="49" charset="0"/>
              </a:rPr>
              <a:t>&gt;</a:t>
            </a:r>
            <a:endParaRPr lang="en-US" sz="900" b="0" dirty="0">
              <a:solidFill>
                <a:srgbClr val="CCCCCC"/>
              </a:solidFill>
              <a:effectLst/>
              <a:latin typeface="Consolas" panose="020B0609020204030204" pitchFamily="49" charset="0"/>
            </a:endParaRPr>
          </a:p>
        </p:txBody>
      </p:sp>
      <p:sp>
        <p:nvSpPr>
          <p:cNvPr id="7" name="TextBox 6">
            <a:extLst>
              <a:ext uri="{FF2B5EF4-FFF2-40B4-BE49-F238E27FC236}">
                <a16:creationId xmlns:a16="http://schemas.microsoft.com/office/drawing/2014/main" id="{0A95668B-DF25-52A4-2F64-A45B0870C27B}"/>
              </a:ext>
            </a:extLst>
          </p:cNvPr>
          <p:cNvSpPr txBox="1"/>
          <p:nvPr/>
        </p:nvSpPr>
        <p:spPr>
          <a:xfrm>
            <a:off x="1725560" y="0"/>
            <a:ext cx="8849034" cy="769441"/>
          </a:xfrm>
          <a:prstGeom prst="rect">
            <a:avLst/>
          </a:prstGeom>
          <a:noFill/>
        </p:spPr>
        <p:txBody>
          <a:bodyPr wrap="square" rtlCol="0">
            <a:spAutoFit/>
          </a:bodyPr>
          <a:lstStyle/>
          <a:p>
            <a:pPr algn="ctr"/>
            <a:r>
              <a:rPr lang="en-US" sz="2200" dirty="0">
                <a:solidFill>
                  <a:schemeClr val="bg1"/>
                </a:solidFill>
                <a:latin typeface="Calibri" panose="020F0502020204030204" pitchFamily="34" charset="0"/>
                <a:cs typeface="Calibri" panose="020F0502020204030204" pitchFamily="34" charset="0"/>
              </a:rPr>
              <a:t>Modify the code based on your information or preferences and save as ‘Portfolio.html’</a:t>
            </a:r>
            <a:endParaRPr lang="en-AU" sz="2200" dirty="0">
              <a:solidFill>
                <a:schemeClr val="bg1"/>
              </a:solidFill>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EDDB9FE9-E0F7-6187-22E9-576FD265B633}"/>
              </a:ext>
            </a:extLst>
          </p:cNvPr>
          <p:cNvPicPr>
            <a:picLocks noChangeAspect="1"/>
          </p:cNvPicPr>
          <p:nvPr/>
        </p:nvPicPr>
        <p:blipFill>
          <a:blip r:embed="rId2"/>
          <a:stretch>
            <a:fillRect/>
          </a:stretch>
        </p:blipFill>
        <p:spPr>
          <a:xfrm>
            <a:off x="4125951" y="787260"/>
            <a:ext cx="8174205" cy="2363707"/>
          </a:xfrm>
          <a:prstGeom prst="rect">
            <a:avLst/>
          </a:prstGeom>
        </p:spPr>
      </p:pic>
    </p:spTree>
    <p:extLst>
      <p:ext uri="{BB962C8B-B14F-4D97-AF65-F5344CB8AC3E}">
        <p14:creationId xmlns:p14="http://schemas.microsoft.com/office/powerpoint/2010/main" val="15267141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DE8537B-B833-EDE0-14B2-E153592EFDCF}"/>
              </a:ext>
            </a:extLst>
          </p:cNvPr>
          <p:cNvPicPr>
            <a:picLocks noChangeAspect="1"/>
          </p:cNvPicPr>
          <p:nvPr/>
        </p:nvPicPr>
        <p:blipFill>
          <a:blip r:embed="rId2"/>
          <a:srcRect b="7742"/>
          <a:stretch>
            <a:fillRect/>
          </a:stretch>
        </p:blipFill>
        <p:spPr>
          <a:xfrm>
            <a:off x="0" y="265471"/>
            <a:ext cx="12192000" cy="6327058"/>
          </a:xfrm>
          <a:prstGeom prst="rect">
            <a:avLst/>
          </a:prstGeom>
        </p:spPr>
      </p:pic>
    </p:spTree>
    <p:extLst>
      <p:ext uri="{BB962C8B-B14F-4D97-AF65-F5344CB8AC3E}">
        <p14:creationId xmlns:p14="http://schemas.microsoft.com/office/powerpoint/2010/main" val="17279768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8257F0-26A7-176D-AA56-E22B645D7E4B}"/>
              </a:ext>
            </a:extLst>
          </p:cNvPr>
          <p:cNvPicPr>
            <a:picLocks noChangeAspect="1"/>
          </p:cNvPicPr>
          <p:nvPr/>
        </p:nvPicPr>
        <p:blipFill>
          <a:blip r:embed="rId2"/>
          <a:stretch>
            <a:fillRect/>
          </a:stretch>
        </p:blipFill>
        <p:spPr>
          <a:xfrm>
            <a:off x="408131" y="650601"/>
            <a:ext cx="11375737" cy="5940256"/>
          </a:xfrm>
          <a:prstGeom prst="rect">
            <a:avLst/>
          </a:prstGeom>
        </p:spPr>
      </p:pic>
      <p:sp>
        <p:nvSpPr>
          <p:cNvPr id="6" name="TextBox 5">
            <a:extLst>
              <a:ext uri="{FF2B5EF4-FFF2-40B4-BE49-F238E27FC236}">
                <a16:creationId xmlns:a16="http://schemas.microsoft.com/office/drawing/2014/main" id="{ECFB7565-0E10-2FAA-6C32-C423C04D3E14}"/>
              </a:ext>
            </a:extLst>
          </p:cNvPr>
          <p:cNvSpPr txBox="1"/>
          <p:nvPr/>
        </p:nvSpPr>
        <p:spPr>
          <a:xfrm>
            <a:off x="457200" y="0"/>
            <a:ext cx="3421626" cy="430887"/>
          </a:xfrm>
          <a:prstGeom prst="rect">
            <a:avLst/>
          </a:prstGeom>
          <a:noFill/>
        </p:spPr>
        <p:txBody>
          <a:bodyPr wrap="square" rtlCol="0">
            <a:spAutoFit/>
          </a:bodyPr>
          <a:lstStyle/>
          <a:p>
            <a:r>
              <a:rPr lang="en-US" sz="2200" dirty="0">
                <a:latin typeface="Calibri" panose="020F0502020204030204" pitchFamily="34" charset="0"/>
                <a:cs typeface="Calibri" panose="020F0502020204030204" pitchFamily="34" charset="0"/>
              </a:rPr>
              <a:t>Using </a:t>
            </a:r>
            <a:r>
              <a:rPr lang="en-US" sz="2200" b="1" dirty="0" err="1">
                <a:latin typeface="Calibri" panose="020F0502020204030204" pitchFamily="34" charset="0"/>
                <a:cs typeface="Calibri" panose="020F0502020204030204" pitchFamily="34" charset="0"/>
              </a:rPr>
              <a:t>Xampp</a:t>
            </a:r>
            <a:r>
              <a:rPr lang="en-US" sz="2200" dirty="0">
                <a:latin typeface="Calibri" panose="020F0502020204030204" pitchFamily="34" charset="0"/>
                <a:cs typeface="Calibri" panose="020F0502020204030204" pitchFamily="34" charset="0"/>
              </a:rPr>
              <a:t> local host:</a:t>
            </a: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88218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EDFB-E30F-B067-D08E-3D3792C51D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ECC9AD-0B08-943A-F894-48AECB8D72E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DB78EBE-0BC8-EBE0-44DB-4E76F07380A4}"/>
              </a:ext>
            </a:extLst>
          </p:cNvPr>
          <p:cNvSpPr txBox="1"/>
          <p:nvPr/>
        </p:nvSpPr>
        <p:spPr>
          <a:xfrm>
            <a:off x="0" y="584775"/>
            <a:ext cx="9104585" cy="3903504"/>
          </a:xfrm>
          <a:prstGeom prst="rect">
            <a:avLst/>
          </a:prstGeom>
          <a:noFill/>
        </p:spPr>
        <p:txBody>
          <a:bodyPr wrap="square">
            <a:spAutoFit/>
          </a:bodyPr>
          <a:lstStyle/>
          <a:p>
            <a:pPr>
              <a:lnSpc>
                <a:spcPct val="150000"/>
              </a:lnSpc>
              <a:buNone/>
            </a:pPr>
            <a:r>
              <a:rPr lang="en-US" sz="2800" b="1" dirty="0">
                <a:latin typeface="Calibir"/>
              </a:rPr>
              <a:t>Topics Covered</a:t>
            </a:r>
          </a:p>
          <a:p>
            <a:pPr marL="914400" lvl="1" indent="-457200">
              <a:lnSpc>
                <a:spcPct val="150000"/>
              </a:lnSpc>
              <a:buFont typeface="Arial" panose="020B0604020202020204" pitchFamily="34" charset="0"/>
              <a:buChar char="•"/>
            </a:pPr>
            <a:r>
              <a:rPr lang="en-US" sz="2800" dirty="0">
                <a:latin typeface="Calibir"/>
              </a:rPr>
              <a:t>Introduction to HTML </a:t>
            </a:r>
          </a:p>
          <a:p>
            <a:pPr marL="914400" lvl="1" indent="-457200">
              <a:lnSpc>
                <a:spcPct val="150000"/>
              </a:lnSpc>
              <a:buFont typeface="Arial" panose="020B0604020202020204" pitchFamily="34" charset="0"/>
              <a:buChar char="•"/>
            </a:pPr>
            <a:r>
              <a:rPr lang="en-US" sz="2800" dirty="0">
                <a:latin typeface="Calibir"/>
              </a:rPr>
              <a:t>Website Planning and Design </a:t>
            </a:r>
          </a:p>
          <a:p>
            <a:pPr marL="914400" lvl="1" indent="-457200">
              <a:lnSpc>
                <a:spcPct val="150000"/>
              </a:lnSpc>
              <a:buFont typeface="Arial" panose="020B0604020202020204" pitchFamily="34" charset="0"/>
              <a:buChar char="•"/>
            </a:pPr>
            <a:r>
              <a:rPr lang="en-US" sz="2800" dirty="0">
                <a:latin typeface="Calibir"/>
              </a:rPr>
              <a:t>Project Plans and Timelines </a:t>
            </a:r>
          </a:p>
          <a:p>
            <a:pPr marL="914400" lvl="1" indent="-457200">
              <a:lnSpc>
                <a:spcPct val="150000"/>
              </a:lnSpc>
              <a:buFont typeface="Arial" panose="020B0604020202020204" pitchFamily="34" charset="0"/>
              <a:buChar char="•"/>
            </a:pPr>
            <a:r>
              <a:rPr lang="en-US" sz="2800" dirty="0">
                <a:latin typeface="Calibir"/>
              </a:rPr>
              <a:t>Target Audience Analysis </a:t>
            </a:r>
          </a:p>
          <a:p>
            <a:pPr marL="914400" lvl="1" indent="-457200">
              <a:lnSpc>
                <a:spcPct val="150000"/>
              </a:lnSpc>
              <a:buFont typeface="Arial" panose="020B0604020202020204" pitchFamily="34" charset="0"/>
              <a:buChar char="•"/>
            </a:pPr>
            <a:r>
              <a:rPr lang="en-US" sz="2800" dirty="0">
                <a:latin typeface="Calibir"/>
              </a:rPr>
              <a:t>Webpage Structure</a:t>
            </a:r>
          </a:p>
        </p:txBody>
      </p:sp>
    </p:spTree>
    <p:extLst>
      <p:ext uri="{BB962C8B-B14F-4D97-AF65-F5344CB8AC3E}">
        <p14:creationId xmlns:p14="http://schemas.microsoft.com/office/powerpoint/2010/main" val="31730559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1D57-2DB6-131E-FF52-01F2CF68F7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B57700-EC53-9CE7-273E-A5EF0D1123F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1449D205-6A5C-4E4D-4038-56C471FED15A}"/>
              </a:ext>
            </a:extLst>
          </p:cNvPr>
          <p:cNvSpPr txBox="1"/>
          <p:nvPr/>
        </p:nvSpPr>
        <p:spPr>
          <a:xfrm>
            <a:off x="0" y="584775"/>
            <a:ext cx="9104585" cy="3257174"/>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HTML Elements and Relationships </a:t>
            </a:r>
          </a:p>
          <a:p>
            <a:pPr marL="914400" lvl="1" indent="-457200">
              <a:lnSpc>
                <a:spcPct val="150000"/>
              </a:lnSpc>
              <a:buFont typeface="Arial" panose="020B0604020202020204" pitchFamily="34" charset="0"/>
              <a:buChar char="•"/>
            </a:pPr>
            <a:r>
              <a:rPr lang="en-US" sz="2800" dirty="0">
                <a:latin typeface="Calibir"/>
              </a:rPr>
              <a:t>Web Servers and Publishing </a:t>
            </a:r>
          </a:p>
          <a:p>
            <a:pPr marL="914400" lvl="1" indent="-457200">
              <a:lnSpc>
                <a:spcPct val="150000"/>
              </a:lnSpc>
              <a:buFont typeface="Arial" panose="020B0604020202020204" pitchFamily="34" charset="0"/>
              <a:buChar char="•"/>
            </a:pPr>
            <a:r>
              <a:rPr lang="en-US" sz="2800" dirty="0">
                <a:latin typeface="Calibir"/>
              </a:rPr>
              <a:t>Website Testing </a:t>
            </a:r>
          </a:p>
          <a:p>
            <a:pPr marL="914400" lvl="1" indent="-457200">
              <a:lnSpc>
                <a:spcPct val="150000"/>
              </a:lnSpc>
              <a:buFont typeface="Arial" panose="020B0604020202020204" pitchFamily="34" charset="0"/>
              <a:buChar char="•"/>
            </a:pPr>
            <a:r>
              <a:rPr lang="en-US" sz="2800" dirty="0">
                <a:latin typeface="Calibir"/>
              </a:rPr>
              <a:t>White Space and Layout Design </a:t>
            </a:r>
          </a:p>
          <a:p>
            <a:pPr marL="914400" lvl="1" indent="-457200">
              <a:lnSpc>
                <a:spcPct val="150000"/>
              </a:lnSpc>
              <a:buFont typeface="Arial" panose="020B0604020202020204" pitchFamily="34" charset="0"/>
              <a:buChar char="•"/>
            </a:pPr>
            <a:r>
              <a:rPr lang="en-US" sz="2800" dirty="0">
                <a:latin typeface="Calibir"/>
              </a:rPr>
              <a:t>Basic Web Development Concepts</a:t>
            </a:r>
          </a:p>
        </p:txBody>
      </p:sp>
    </p:spTree>
    <p:extLst>
      <p:ext uri="{BB962C8B-B14F-4D97-AF65-F5344CB8AC3E}">
        <p14:creationId xmlns:p14="http://schemas.microsoft.com/office/powerpoint/2010/main" val="234379144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10029-BD47-1A84-BF2B-9DB92E8203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64B247-0718-AD56-22DE-0CEA218A7B1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BCFD763E-E695-8C57-5564-81B33A7C1B6E}"/>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Practice Includes</a:t>
            </a:r>
          </a:p>
          <a:p>
            <a:pPr marL="803275" indent="-457200">
              <a:lnSpc>
                <a:spcPct val="150000"/>
              </a:lnSpc>
              <a:buFont typeface="Wingdings" panose="05000000000000000000" pitchFamily="2" charset="2"/>
              <a:buChar char="ü"/>
            </a:pPr>
            <a:r>
              <a:rPr lang="en-US" sz="2800" dirty="0">
                <a:latin typeface="Calibir"/>
              </a:rPr>
              <a:t>Multiple Choice Questions</a:t>
            </a:r>
          </a:p>
          <a:p>
            <a:pPr marL="803275" indent="-457200">
              <a:lnSpc>
                <a:spcPct val="150000"/>
              </a:lnSpc>
              <a:buFont typeface="Wingdings" panose="05000000000000000000" pitchFamily="2" charset="2"/>
              <a:buChar char="ü"/>
            </a:pPr>
            <a:r>
              <a:rPr lang="en-US" sz="2800" dirty="0">
                <a:latin typeface="Calibir"/>
              </a:rPr>
              <a:t>Critical Thinking Questions</a:t>
            </a:r>
          </a:p>
          <a:p>
            <a:pPr marL="803275" indent="-457200">
              <a:lnSpc>
                <a:spcPct val="150000"/>
              </a:lnSpc>
              <a:buFont typeface="Wingdings" panose="05000000000000000000" pitchFamily="2" charset="2"/>
              <a:buChar char="ü"/>
            </a:pPr>
            <a:r>
              <a:rPr lang="en-US" sz="2800" dirty="0">
                <a:latin typeface="Calibir"/>
              </a:rPr>
              <a:t>Case Studies</a:t>
            </a:r>
          </a:p>
          <a:p>
            <a:pPr marL="803275" indent="-457200">
              <a:lnSpc>
                <a:spcPct val="150000"/>
              </a:lnSpc>
              <a:buFont typeface="Wingdings" panose="05000000000000000000" pitchFamily="2" charset="2"/>
              <a:buChar char="ü"/>
            </a:pPr>
            <a:r>
              <a:rPr lang="en-US" sz="2800" dirty="0">
                <a:latin typeface="Calibir"/>
              </a:rPr>
              <a:t>HTML Structure Concepts</a:t>
            </a:r>
          </a:p>
          <a:p>
            <a:pPr marL="803275" indent="-457200">
              <a:lnSpc>
                <a:spcPct val="150000"/>
              </a:lnSpc>
              <a:buFont typeface="Wingdings" panose="05000000000000000000" pitchFamily="2" charset="2"/>
              <a:buChar char="ü"/>
            </a:pPr>
            <a:r>
              <a:rPr lang="en-US" sz="2800" dirty="0">
                <a:latin typeface="Calibir"/>
              </a:rPr>
              <a:t>Website Design Fundamentals</a:t>
            </a:r>
          </a:p>
        </p:txBody>
      </p:sp>
    </p:spTree>
    <p:extLst>
      <p:ext uri="{BB962C8B-B14F-4D97-AF65-F5344CB8AC3E}">
        <p14:creationId xmlns:p14="http://schemas.microsoft.com/office/powerpoint/2010/main" val="153289682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108E-B2D2-8807-3C4D-65D461EFE4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F9E895-302F-5809-0EE2-E58DBA7F1D8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99C2B53A-6751-1BC8-1699-1163B617CB35}"/>
              </a:ext>
            </a:extLst>
          </p:cNvPr>
          <p:cNvSpPr txBox="1"/>
          <p:nvPr/>
        </p:nvSpPr>
        <p:spPr>
          <a:xfrm>
            <a:off x="0" y="584775"/>
            <a:ext cx="9104585" cy="2610843"/>
          </a:xfrm>
          <a:prstGeom prst="rect">
            <a:avLst/>
          </a:prstGeom>
          <a:noFill/>
        </p:spPr>
        <p:txBody>
          <a:bodyPr wrap="square">
            <a:spAutoFit/>
          </a:bodyPr>
          <a:lstStyle/>
          <a:p>
            <a:pPr>
              <a:lnSpc>
                <a:spcPct val="150000"/>
              </a:lnSpc>
            </a:pPr>
            <a:r>
              <a:rPr lang="en-US" sz="2800" b="1" dirty="0">
                <a:latin typeface="Calibir"/>
              </a:rPr>
              <a:t>Goal</a:t>
            </a:r>
          </a:p>
          <a:p>
            <a:pPr>
              <a:lnSpc>
                <a:spcPct val="150000"/>
              </a:lnSpc>
            </a:pPr>
            <a:r>
              <a:rPr lang="en-US" sz="2800" dirty="0">
                <a:latin typeface="Calibir"/>
              </a:rPr>
              <a:t>To prepare for:</a:t>
            </a:r>
          </a:p>
          <a:p>
            <a:pPr marL="914400" lvl="1" indent="-457200">
              <a:lnSpc>
                <a:spcPct val="150000"/>
              </a:lnSpc>
              <a:buFont typeface="Arial" panose="020B0604020202020204" pitchFamily="34" charset="0"/>
              <a:buChar char="•"/>
            </a:pPr>
            <a:r>
              <a:rPr lang="en-US" sz="2800" dirty="0">
                <a:latin typeface="Calibir"/>
              </a:rPr>
              <a:t>Lab 1 Test (Week 2 &amp; 3) </a:t>
            </a:r>
          </a:p>
          <a:p>
            <a:pPr marL="914400" lvl="1" indent="-457200">
              <a:lnSpc>
                <a:spcPct val="150000"/>
              </a:lnSpc>
              <a:buFont typeface="Arial" panose="020B0604020202020204" pitchFamily="34" charset="0"/>
              <a:buChar char="•"/>
            </a:pPr>
            <a:r>
              <a:rPr lang="en-US" sz="2800" dirty="0">
                <a:latin typeface="Calibir"/>
              </a:rPr>
              <a:t>Online Test 1 </a:t>
            </a:r>
          </a:p>
        </p:txBody>
      </p:sp>
    </p:spTree>
    <p:extLst>
      <p:ext uri="{BB962C8B-B14F-4D97-AF65-F5344CB8AC3E}">
        <p14:creationId xmlns:p14="http://schemas.microsoft.com/office/powerpoint/2010/main" val="23109505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AE6FC-AD5C-76FF-564B-3169F78CAF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35F3BA-FFEA-7619-9A0B-DEC8F199FC0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C48D68AC-3438-0BE0-F851-19DECD9D5410}"/>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1</a:t>
            </a:r>
          </a:p>
          <a:p>
            <a:pPr>
              <a:lnSpc>
                <a:spcPct val="150000"/>
              </a:lnSpc>
            </a:pPr>
            <a:r>
              <a:rPr lang="en-US" sz="2800" b="1" dirty="0">
                <a:latin typeface="Calibir"/>
              </a:rPr>
              <a:t>What is the process of transferring webpages from your computer to a web server called?</a:t>
            </a:r>
            <a:endParaRPr lang="en-US" sz="2800" dirty="0">
              <a:latin typeface="Calibir"/>
            </a:endParaRPr>
          </a:p>
          <a:p>
            <a:pPr>
              <a:lnSpc>
                <a:spcPct val="150000"/>
              </a:lnSpc>
            </a:pPr>
            <a:r>
              <a:rPr lang="en-US" sz="2800" dirty="0">
                <a:latin typeface="Calibir"/>
              </a:rPr>
              <a:t>A. Publishing</a:t>
            </a:r>
            <a:br>
              <a:rPr lang="en-US" sz="2800" dirty="0">
                <a:latin typeface="Calibir"/>
              </a:rPr>
            </a:br>
            <a:r>
              <a:rPr lang="en-US" sz="2800" dirty="0">
                <a:latin typeface="Calibir"/>
              </a:rPr>
              <a:t>B. Deploying</a:t>
            </a:r>
            <a:br>
              <a:rPr lang="en-US" sz="2800" dirty="0">
                <a:latin typeface="Calibir"/>
              </a:rPr>
            </a:br>
            <a:r>
              <a:rPr lang="en-US" sz="2800" dirty="0">
                <a:latin typeface="Calibir"/>
              </a:rPr>
              <a:t>C. Hosting</a:t>
            </a:r>
            <a:br>
              <a:rPr lang="en-US" sz="2800" dirty="0">
                <a:latin typeface="Calibir"/>
              </a:rPr>
            </a:br>
            <a:r>
              <a:rPr lang="en-US" sz="2800" dirty="0">
                <a:latin typeface="Calibir"/>
              </a:rPr>
              <a:t>D. Streaming</a:t>
            </a:r>
          </a:p>
        </p:txBody>
      </p:sp>
      <p:sp>
        <p:nvSpPr>
          <p:cNvPr id="2" name="Rectangle: Rounded Corners 1">
            <a:extLst>
              <a:ext uri="{FF2B5EF4-FFF2-40B4-BE49-F238E27FC236}">
                <a16:creationId xmlns:a16="http://schemas.microsoft.com/office/drawing/2014/main" id="{CD65EFED-D36F-4ADC-041F-E8D0D9E555B0}"/>
              </a:ext>
            </a:extLst>
          </p:cNvPr>
          <p:cNvSpPr/>
          <p:nvPr/>
        </p:nvSpPr>
        <p:spPr>
          <a:xfrm>
            <a:off x="0" y="2660230"/>
            <a:ext cx="3088888"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E1E75B5-43A2-2DC8-7C44-7AA75F6D2118}"/>
              </a:ext>
            </a:extLst>
          </p:cNvPr>
          <p:cNvSpPr txBox="1"/>
          <p:nvPr/>
        </p:nvSpPr>
        <p:spPr>
          <a:xfrm>
            <a:off x="5135137" y="2928305"/>
            <a:ext cx="6300438" cy="2610843"/>
          </a:xfrm>
          <a:prstGeom prst="rect">
            <a:avLst/>
          </a:prstGeom>
          <a:noFill/>
          <a:ln>
            <a:solidFill>
              <a:srgbClr val="FF0000"/>
            </a:solidFill>
          </a:ln>
        </p:spPr>
        <p:txBody>
          <a:bodyPr wrap="square">
            <a:spAutoFit/>
          </a:bodyPr>
          <a:lstStyle/>
          <a:p>
            <a:pPr>
              <a:lnSpc>
                <a:spcPct val="150000"/>
              </a:lnSpc>
            </a:pPr>
            <a:r>
              <a:rPr lang="en-US" sz="2800" dirty="0">
                <a:latin typeface="Calibir"/>
              </a:rPr>
              <a:t>Publishing means uploading or transferring your website files from your computer to a web server so people can access the website online.</a:t>
            </a:r>
          </a:p>
        </p:txBody>
      </p:sp>
    </p:spTree>
    <p:extLst>
      <p:ext uri="{BB962C8B-B14F-4D97-AF65-F5344CB8AC3E}">
        <p14:creationId xmlns:p14="http://schemas.microsoft.com/office/powerpoint/2010/main" val="109776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DCF38-4672-4BCA-5C6E-F2FA9FE95D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5A1248-8502-A039-3C05-941A77EDC01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FE705AC-6D4E-FEB3-BDD8-00C91C91C168}"/>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3</a:t>
            </a:r>
          </a:p>
          <a:p>
            <a:pPr>
              <a:lnSpc>
                <a:spcPct val="150000"/>
              </a:lnSpc>
            </a:pPr>
            <a:r>
              <a:rPr lang="en-US" sz="2800" b="1" dirty="0">
                <a:latin typeface="Calibir"/>
              </a:rPr>
              <a:t>What must be filled in using information from the instructor’s web server documentation?</a:t>
            </a:r>
            <a:endParaRPr lang="en-US" sz="2800" dirty="0">
              <a:latin typeface="Calibir"/>
            </a:endParaRPr>
          </a:p>
          <a:p>
            <a:pPr>
              <a:lnSpc>
                <a:spcPct val="150000"/>
              </a:lnSpc>
            </a:pPr>
            <a:r>
              <a:rPr lang="en-US" sz="2800" dirty="0">
                <a:latin typeface="Calibir"/>
              </a:rPr>
              <a:t>A. The HTML head section</a:t>
            </a:r>
            <a:br>
              <a:rPr lang="en-US" sz="2800" dirty="0">
                <a:latin typeface="Calibir"/>
              </a:rPr>
            </a:br>
            <a:r>
              <a:rPr lang="en-US" sz="2800" dirty="0">
                <a:latin typeface="Calibir"/>
              </a:rPr>
              <a:t>B. The browser compatibility list</a:t>
            </a:r>
            <a:br>
              <a:rPr lang="en-US" sz="2800" dirty="0">
                <a:latin typeface="Calibir"/>
              </a:rPr>
            </a:br>
            <a:r>
              <a:rPr lang="en-US" sz="2800" dirty="0">
                <a:latin typeface="Calibir"/>
              </a:rPr>
              <a:t>C. The domain purchase form</a:t>
            </a:r>
          </a:p>
          <a:p>
            <a:pPr>
              <a:lnSpc>
                <a:spcPct val="150000"/>
              </a:lnSpc>
            </a:pPr>
            <a:r>
              <a:rPr lang="en-US" sz="2800" dirty="0">
                <a:latin typeface="Calibir"/>
              </a:rPr>
              <a:t>D. The right column of the publishing table</a:t>
            </a:r>
          </a:p>
        </p:txBody>
      </p:sp>
      <p:sp>
        <p:nvSpPr>
          <p:cNvPr id="2" name="Rectangle: Rounded Corners 1">
            <a:extLst>
              <a:ext uri="{FF2B5EF4-FFF2-40B4-BE49-F238E27FC236}">
                <a16:creationId xmlns:a16="http://schemas.microsoft.com/office/drawing/2014/main" id="{6FDEB62D-1A8A-8A3A-D27F-E1C126C4A3A6}"/>
              </a:ext>
            </a:extLst>
          </p:cNvPr>
          <p:cNvSpPr/>
          <p:nvPr/>
        </p:nvSpPr>
        <p:spPr>
          <a:xfrm>
            <a:off x="0" y="4549835"/>
            <a:ext cx="6512312"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1E1A20-273A-5969-D990-7A3D0586D823}"/>
              </a:ext>
            </a:extLst>
          </p:cNvPr>
          <p:cNvSpPr txBox="1"/>
          <p:nvPr/>
        </p:nvSpPr>
        <p:spPr>
          <a:xfrm>
            <a:off x="6590370" y="2598234"/>
            <a:ext cx="5601629" cy="2610843"/>
          </a:xfrm>
          <a:prstGeom prst="rect">
            <a:avLst/>
          </a:prstGeom>
          <a:noFill/>
          <a:ln>
            <a:solidFill>
              <a:srgbClr val="FF0000"/>
            </a:solidFill>
          </a:ln>
        </p:spPr>
        <p:txBody>
          <a:bodyPr wrap="square">
            <a:spAutoFit/>
          </a:bodyPr>
          <a:lstStyle/>
          <a:p>
            <a:pPr>
              <a:lnSpc>
                <a:spcPct val="150000"/>
              </a:lnSpc>
            </a:pPr>
            <a:r>
              <a:rPr lang="en-US" sz="2800" dirty="0">
                <a:latin typeface="Calibir"/>
              </a:rPr>
              <a:t>Students use the instructor’s web server details to complete the right column of the publishing table with the correct information.</a:t>
            </a:r>
          </a:p>
        </p:txBody>
      </p:sp>
    </p:spTree>
    <p:extLst>
      <p:ext uri="{BB962C8B-B14F-4D97-AF65-F5344CB8AC3E}">
        <p14:creationId xmlns:p14="http://schemas.microsoft.com/office/powerpoint/2010/main" val="32983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13BA3-3554-393C-6A18-73A2470A56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52B834-60B5-8D01-A3AD-F2187EA0359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838661B6-5829-2BF8-F0EF-683DED2C11AF}"/>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4</a:t>
            </a:r>
          </a:p>
          <a:p>
            <a:pPr>
              <a:lnSpc>
                <a:spcPct val="150000"/>
              </a:lnSpc>
            </a:pPr>
            <a:r>
              <a:rPr lang="en-US" sz="2800" b="1" dirty="0">
                <a:latin typeface="Calibir"/>
              </a:rPr>
              <a:t>How many inexpensive web server alternatives must students research?</a:t>
            </a:r>
            <a:endParaRPr lang="en-US" sz="2800" dirty="0">
              <a:latin typeface="Calibir"/>
            </a:endParaRPr>
          </a:p>
          <a:p>
            <a:pPr>
              <a:lnSpc>
                <a:spcPct val="150000"/>
              </a:lnSpc>
            </a:pPr>
            <a:r>
              <a:rPr lang="en-US" sz="2800" dirty="0">
                <a:latin typeface="Calibir"/>
              </a:rPr>
              <a:t>A. One</a:t>
            </a:r>
            <a:br>
              <a:rPr lang="en-US" sz="2800" dirty="0">
                <a:latin typeface="Calibir"/>
              </a:rPr>
            </a:br>
            <a:r>
              <a:rPr lang="en-US" sz="2800" dirty="0">
                <a:latin typeface="Calibir"/>
              </a:rPr>
              <a:t>B. Three </a:t>
            </a:r>
            <a:br>
              <a:rPr lang="en-US" sz="2800" dirty="0">
                <a:latin typeface="Calibir"/>
              </a:rPr>
            </a:br>
            <a:r>
              <a:rPr lang="en-US" sz="2800" dirty="0">
                <a:latin typeface="Calibir"/>
              </a:rPr>
              <a:t>C. Two</a:t>
            </a:r>
            <a:br>
              <a:rPr lang="en-US" sz="2800" dirty="0">
                <a:latin typeface="Calibir"/>
              </a:rPr>
            </a:br>
            <a:r>
              <a:rPr lang="en-US" sz="2800" dirty="0">
                <a:latin typeface="Calibir"/>
              </a:rPr>
              <a:t>D. Five</a:t>
            </a:r>
          </a:p>
        </p:txBody>
      </p:sp>
      <p:sp>
        <p:nvSpPr>
          <p:cNvPr id="2" name="Rectangle: Rounded Corners 1">
            <a:extLst>
              <a:ext uri="{FF2B5EF4-FFF2-40B4-BE49-F238E27FC236}">
                <a16:creationId xmlns:a16="http://schemas.microsoft.com/office/drawing/2014/main" id="{965A0821-2923-C0DD-91F6-D66D84C42AFC}"/>
              </a:ext>
            </a:extLst>
          </p:cNvPr>
          <p:cNvSpPr/>
          <p:nvPr/>
        </p:nvSpPr>
        <p:spPr>
          <a:xfrm>
            <a:off x="0" y="3318880"/>
            <a:ext cx="6512312"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781A45-6A67-ED3B-B218-65A17A993071}"/>
              </a:ext>
            </a:extLst>
          </p:cNvPr>
          <p:cNvSpPr txBox="1"/>
          <p:nvPr/>
        </p:nvSpPr>
        <p:spPr>
          <a:xfrm>
            <a:off x="6590370" y="2598234"/>
            <a:ext cx="5601629" cy="2614434"/>
          </a:xfrm>
          <a:prstGeom prst="rect">
            <a:avLst/>
          </a:prstGeom>
          <a:noFill/>
          <a:ln>
            <a:solidFill>
              <a:srgbClr val="FF0000"/>
            </a:solidFill>
          </a:ln>
        </p:spPr>
        <p:txBody>
          <a:bodyPr wrap="square">
            <a:spAutoFit/>
          </a:bodyPr>
          <a:lstStyle/>
          <a:p>
            <a:pPr>
              <a:lnSpc>
                <a:spcPct val="150000"/>
              </a:lnSpc>
            </a:pPr>
            <a:r>
              <a:rPr lang="en-US" sz="2800" dirty="0">
                <a:latin typeface="Calibir"/>
              </a:rPr>
              <a:t>Students are required to research three different inexpensive web server alternatives to compare options.</a:t>
            </a:r>
          </a:p>
        </p:txBody>
      </p:sp>
    </p:spTree>
    <p:extLst>
      <p:ext uri="{BB962C8B-B14F-4D97-AF65-F5344CB8AC3E}">
        <p14:creationId xmlns:p14="http://schemas.microsoft.com/office/powerpoint/2010/main" val="220258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AACB-CFFE-23B1-77BD-9CEF7A3A50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552B54A-BA37-4622-1650-026B5AC94EE7}"/>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6671C23-CD8C-2613-5873-1D2D8E2808A7}"/>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5</a:t>
            </a:r>
          </a:p>
          <a:p>
            <a:pPr>
              <a:lnSpc>
                <a:spcPct val="150000"/>
              </a:lnSpc>
            </a:pPr>
            <a:r>
              <a:rPr lang="en-US" sz="2800" b="1" dirty="0">
                <a:latin typeface="Calibir"/>
              </a:rPr>
              <a:t>Which document must be used to record the three web hosting alternatives?</a:t>
            </a:r>
            <a:endParaRPr lang="en-US" sz="2800" dirty="0">
              <a:latin typeface="Calibir"/>
            </a:endParaRPr>
          </a:p>
          <a:p>
            <a:pPr>
              <a:lnSpc>
                <a:spcPct val="150000"/>
              </a:lnSpc>
            </a:pPr>
            <a:r>
              <a:rPr lang="en-US" sz="2800" dirty="0">
                <a:latin typeface="Calibir"/>
              </a:rPr>
              <a:t>A. webpublishing.docx</a:t>
            </a:r>
            <a:br>
              <a:rPr lang="en-US" sz="2800" dirty="0">
                <a:latin typeface="Calibir"/>
              </a:rPr>
            </a:br>
            <a:r>
              <a:rPr lang="en-US" sz="2800" dirty="0">
                <a:latin typeface="Calibir"/>
              </a:rPr>
              <a:t>B. hostinginfo.docx</a:t>
            </a:r>
          </a:p>
          <a:p>
            <a:pPr>
              <a:lnSpc>
                <a:spcPct val="150000"/>
              </a:lnSpc>
            </a:pPr>
            <a:r>
              <a:rPr lang="en-US" sz="2800" dirty="0">
                <a:latin typeface="Calibir"/>
              </a:rPr>
              <a:t>C. webserveralternatives.docx</a:t>
            </a:r>
            <a:br>
              <a:rPr lang="en-US" sz="2800" dirty="0">
                <a:latin typeface="Calibir"/>
              </a:rPr>
            </a:br>
            <a:r>
              <a:rPr lang="en-US" sz="2800" dirty="0">
                <a:latin typeface="Calibir"/>
              </a:rPr>
              <a:t>D. alternatives.html</a:t>
            </a:r>
          </a:p>
        </p:txBody>
      </p:sp>
      <p:sp>
        <p:nvSpPr>
          <p:cNvPr id="2" name="Rectangle: Rounded Corners 1">
            <a:extLst>
              <a:ext uri="{FF2B5EF4-FFF2-40B4-BE49-F238E27FC236}">
                <a16:creationId xmlns:a16="http://schemas.microsoft.com/office/drawing/2014/main" id="{C851D90A-1360-A5AA-F129-45CCA45DC942}"/>
              </a:ext>
            </a:extLst>
          </p:cNvPr>
          <p:cNvSpPr/>
          <p:nvPr/>
        </p:nvSpPr>
        <p:spPr>
          <a:xfrm>
            <a:off x="0" y="3905451"/>
            <a:ext cx="6512312"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A4027C-86B4-BBC2-7777-AE7457E00773}"/>
              </a:ext>
            </a:extLst>
          </p:cNvPr>
          <p:cNvSpPr txBox="1"/>
          <p:nvPr/>
        </p:nvSpPr>
        <p:spPr>
          <a:xfrm>
            <a:off x="6590370" y="2598234"/>
            <a:ext cx="5601629" cy="1964512"/>
          </a:xfrm>
          <a:prstGeom prst="rect">
            <a:avLst/>
          </a:prstGeom>
          <a:noFill/>
          <a:ln>
            <a:solidFill>
              <a:srgbClr val="FF0000"/>
            </a:solidFill>
          </a:ln>
        </p:spPr>
        <p:txBody>
          <a:bodyPr wrap="square">
            <a:spAutoFit/>
          </a:bodyPr>
          <a:lstStyle/>
          <a:p>
            <a:pPr>
              <a:lnSpc>
                <a:spcPct val="150000"/>
              </a:lnSpc>
            </a:pPr>
            <a:r>
              <a:rPr lang="en-US" sz="2800" dirty="0">
                <a:latin typeface="Calibir"/>
              </a:rPr>
              <a:t>The file webserveralternatives.docx is specifically created to record and compare the hosting alternatives.</a:t>
            </a:r>
          </a:p>
        </p:txBody>
      </p:sp>
    </p:spTree>
    <p:extLst>
      <p:ext uri="{BB962C8B-B14F-4D97-AF65-F5344CB8AC3E}">
        <p14:creationId xmlns:p14="http://schemas.microsoft.com/office/powerpoint/2010/main" val="165788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F3E9-3595-F65E-0FAF-0CE0592E5C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0E0E43-A4CD-07A8-77E8-9F74DC7C24C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92B7E887-C14D-E1B4-5F4C-73F83ED5C611}"/>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6</a:t>
            </a:r>
          </a:p>
          <a:p>
            <a:pPr>
              <a:lnSpc>
                <a:spcPct val="150000"/>
              </a:lnSpc>
            </a:pPr>
            <a:r>
              <a:rPr lang="en-US" sz="2800" b="1" dirty="0">
                <a:latin typeface="Calibir"/>
              </a:rPr>
              <a:t>Why do free web hosting companies offer free services?</a:t>
            </a:r>
            <a:endParaRPr lang="en-US" sz="2800" dirty="0">
              <a:latin typeface="Calibir"/>
            </a:endParaRPr>
          </a:p>
          <a:p>
            <a:pPr>
              <a:lnSpc>
                <a:spcPct val="150000"/>
              </a:lnSpc>
            </a:pPr>
            <a:r>
              <a:rPr lang="en-US" sz="2800" dirty="0">
                <a:latin typeface="Calibir"/>
              </a:rPr>
              <a:t>A. To generate revenue through alternative methods</a:t>
            </a:r>
            <a:br>
              <a:rPr lang="en-US" sz="2800" dirty="0">
                <a:latin typeface="Calibir"/>
              </a:rPr>
            </a:br>
            <a:r>
              <a:rPr lang="en-US" sz="2800" dirty="0">
                <a:latin typeface="Calibir"/>
              </a:rPr>
              <a:t>B. They have excess bandwidth</a:t>
            </a:r>
            <a:br>
              <a:rPr lang="en-US" sz="2800" dirty="0">
                <a:latin typeface="Calibir"/>
              </a:rPr>
            </a:br>
            <a:r>
              <a:rPr lang="en-US" sz="2800" dirty="0">
                <a:latin typeface="Calibir"/>
              </a:rPr>
              <a:t>C. They are government funded</a:t>
            </a:r>
            <a:br>
              <a:rPr lang="en-US" sz="2800" dirty="0">
                <a:latin typeface="Calibir"/>
              </a:rPr>
            </a:br>
            <a:r>
              <a:rPr lang="en-US" sz="2800" dirty="0">
                <a:latin typeface="Calibir"/>
              </a:rPr>
              <a:t>D. They run at zero cost</a:t>
            </a:r>
          </a:p>
        </p:txBody>
      </p:sp>
      <p:sp>
        <p:nvSpPr>
          <p:cNvPr id="2" name="Rectangle: Rounded Corners 1">
            <a:extLst>
              <a:ext uri="{FF2B5EF4-FFF2-40B4-BE49-F238E27FC236}">
                <a16:creationId xmlns:a16="http://schemas.microsoft.com/office/drawing/2014/main" id="{5C5BDAA6-8AD1-F146-8598-E13F86C3BAE2}"/>
              </a:ext>
            </a:extLst>
          </p:cNvPr>
          <p:cNvSpPr/>
          <p:nvPr/>
        </p:nvSpPr>
        <p:spPr>
          <a:xfrm>
            <a:off x="0" y="2013459"/>
            <a:ext cx="7750098"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1F6D00-E9AA-B877-ABEA-A7639C391A59}"/>
              </a:ext>
            </a:extLst>
          </p:cNvPr>
          <p:cNvSpPr txBox="1"/>
          <p:nvPr/>
        </p:nvSpPr>
        <p:spPr>
          <a:xfrm>
            <a:off x="6590371" y="2952550"/>
            <a:ext cx="5601629" cy="2614434"/>
          </a:xfrm>
          <a:prstGeom prst="rect">
            <a:avLst/>
          </a:prstGeom>
          <a:noFill/>
          <a:ln>
            <a:solidFill>
              <a:srgbClr val="FF0000"/>
            </a:solidFill>
          </a:ln>
        </p:spPr>
        <p:txBody>
          <a:bodyPr wrap="square">
            <a:spAutoFit/>
          </a:bodyPr>
          <a:lstStyle/>
          <a:p>
            <a:pPr>
              <a:lnSpc>
                <a:spcPct val="150000"/>
              </a:lnSpc>
            </a:pPr>
            <a:r>
              <a:rPr lang="en-US" sz="2800" dirty="0">
                <a:latin typeface="Calibir"/>
              </a:rPr>
              <a:t>Free hosting companies usually make money through ads, upgrades, or paid services instead of charging users directly.</a:t>
            </a:r>
          </a:p>
        </p:txBody>
      </p:sp>
    </p:spTree>
    <p:extLst>
      <p:ext uri="{BB962C8B-B14F-4D97-AF65-F5344CB8AC3E}">
        <p14:creationId xmlns:p14="http://schemas.microsoft.com/office/powerpoint/2010/main" val="348933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A763B-F16A-32D1-DC66-414445CDAA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4568B5-D62A-74D7-846E-0C03241DE72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1FD8D63-4F83-1A1C-F652-CD234DA612E4}"/>
              </a:ext>
            </a:extLst>
          </p:cNvPr>
          <p:cNvSpPr txBox="1"/>
          <p:nvPr/>
        </p:nvSpPr>
        <p:spPr>
          <a:xfrm>
            <a:off x="0" y="584775"/>
            <a:ext cx="9104585" cy="4546950"/>
          </a:xfrm>
          <a:prstGeom prst="rect">
            <a:avLst/>
          </a:prstGeom>
          <a:noFill/>
        </p:spPr>
        <p:txBody>
          <a:bodyPr wrap="square">
            <a:spAutoFit/>
          </a:bodyPr>
          <a:lstStyle/>
          <a:p>
            <a:pPr>
              <a:lnSpc>
                <a:spcPct val="150000"/>
              </a:lnSpc>
            </a:pPr>
            <a:r>
              <a:rPr lang="en-US" sz="2800" b="1" dirty="0">
                <a:latin typeface="Calibir"/>
              </a:rPr>
              <a:t>Question 7</a:t>
            </a:r>
          </a:p>
          <a:p>
            <a:pPr>
              <a:lnSpc>
                <a:spcPct val="150000"/>
              </a:lnSpc>
            </a:pPr>
            <a:r>
              <a:rPr lang="en-US" sz="2800" b="1" dirty="0">
                <a:latin typeface="Calibir"/>
              </a:rPr>
              <a:t>Which element must be typed first in the new HTML document?</a:t>
            </a:r>
            <a:endParaRPr lang="en-US" sz="2800" dirty="0">
              <a:latin typeface="Calibir"/>
            </a:endParaRPr>
          </a:p>
          <a:p>
            <a:pPr>
              <a:lnSpc>
                <a:spcPct val="150000"/>
              </a:lnSpc>
            </a:pPr>
            <a:r>
              <a:rPr lang="en-US" sz="2800" dirty="0">
                <a:latin typeface="Calibir"/>
              </a:rPr>
              <a:t>A. &lt;title&gt;</a:t>
            </a:r>
            <a:br>
              <a:rPr lang="en-US" sz="2800" dirty="0">
                <a:latin typeface="Calibir"/>
              </a:rPr>
            </a:br>
            <a:r>
              <a:rPr lang="en-US" sz="2800" dirty="0">
                <a:latin typeface="Calibir"/>
              </a:rPr>
              <a:t>B. &lt;head&gt;</a:t>
            </a:r>
            <a:br>
              <a:rPr lang="en-US" sz="2800" dirty="0">
                <a:latin typeface="Calibir"/>
              </a:rPr>
            </a:br>
            <a:r>
              <a:rPr lang="en-US" sz="2800" dirty="0">
                <a:latin typeface="Calibir"/>
              </a:rPr>
              <a:t>C. &lt;html&gt;</a:t>
            </a:r>
            <a:br>
              <a:rPr lang="en-US" sz="2800" dirty="0">
                <a:latin typeface="Calibir"/>
              </a:rPr>
            </a:br>
            <a:r>
              <a:rPr lang="en-US" sz="2800" dirty="0">
                <a:latin typeface="Calibir"/>
              </a:rPr>
              <a:t>D. &lt;!DOCTYPE html&gt;</a:t>
            </a:r>
          </a:p>
        </p:txBody>
      </p:sp>
      <p:sp>
        <p:nvSpPr>
          <p:cNvPr id="2" name="Rectangle: Rounded Corners 1">
            <a:extLst>
              <a:ext uri="{FF2B5EF4-FFF2-40B4-BE49-F238E27FC236}">
                <a16:creationId xmlns:a16="http://schemas.microsoft.com/office/drawing/2014/main" id="{A74C5F83-3AD3-4A1E-1188-BCDFAFDE8289}"/>
              </a:ext>
            </a:extLst>
          </p:cNvPr>
          <p:cNvSpPr/>
          <p:nvPr/>
        </p:nvSpPr>
        <p:spPr>
          <a:xfrm>
            <a:off x="0" y="4494494"/>
            <a:ext cx="5519854"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C9096E-D328-0504-67C1-BBC85E3756BA}"/>
              </a:ext>
            </a:extLst>
          </p:cNvPr>
          <p:cNvSpPr txBox="1"/>
          <p:nvPr/>
        </p:nvSpPr>
        <p:spPr>
          <a:xfrm>
            <a:off x="6590371" y="2952550"/>
            <a:ext cx="5601629" cy="2610843"/>
          </a:xfrm>
          <a:prstGeom prst="rect">
            <a:avLst/>
          </a:prstGeom>
          <a:noFill/>
          <a:ln>
            <a:solidFill>
              <a:srgbClr val="FF0000"/>
            </a:solidFill>
          </a:ln>
        </p:spPr>
        <p:txBody>
          <a:bodyPr wrap="square">
            <a:spAutoFit/>
          </a:bodyPr>
          <a:lstStyle/>
          <a:p>
            <a:pPr>
              <a:lnSpc>
                <a:spcPct val="150000"/>
              </a:lnSpc>
            </a:pPr>
            <a:r>
              <a:rPr lang="en-US" sz="2800" dirty="0">
                <a:latin typeface="Calibir"/>
              </a:rPr>
              <a:t>&lt;!DOCTYPE html&gt; tells the browser that the document uses HTML5 and should be written at the top of the page.</a:t>
            </a:r>
          </a:p>
        </p:txBody>
      </p:sp>
    </p:spTree>
    <p:extLst>
      <p:ext uri="{BB962C8B-B14F-4D97-AF65-F5344CB8AC3E}">
        <p14:creationId xmlns:p14="http://schemas.microsoft.com/office/powerpoint/2010/main" val="330717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2364-F70C-92CD-6E92-F380BC1C46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CCDD2F-03A1-E820-D660-4491B5826FF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19879A1-832B-3D35-D642-B5E21C003CCF}"/>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8</a:t>
            </a:r>
          </a:p>
          <a:p>
            <a:pPr>
              <a:lnSpc>
                <a:spcPct val="150000"/>
              </a:lnSpc>
            </a:pPr>
            <a:r>
              <a:rPr lang="en-US" sz="2800" b="1" dirty="0">
                <a:latin typeface="Calibir"/>
              </a:rPr>
              <a:t>Which tag pair creates the root element of the page?</a:t>
            </a:r>
            <a:endParaRPr lang="en-US" sz="2800" dirty="0">
              <a:latin typeface="Calibir"/>
            </a:endParaRPr>
          </a:p>
          <a:p>
            <a:pPr>
              <a:lnSpc>
                <a:spcPct val="150000"/>
              </a:lnSpc>
            </a:pPr>
            <a:r>
              <a:rPr lang="en-US" sz="2800" dirty="0">
                <a:latin typeface="Calibir"/>
              </a:rPr>
              <a:t>A. &lt;body&gt;&lt;/body&gt;</a:t>
            </a:r>
            <a:br>
              <a:rPr lang="en-US" sz="2800" dirty="0">
                <a:latin typeface="Calibir"/>
              </a:rPr>
            </a:br>
            <a:r>
              <a:rPr lang="en-US" sz="2800" dirty="0">
                <a:latin typeface="Calibir"/>
              </a:rPr>
              <a:t>B. &lt;head&gt;&lt;/head&gt;</a:t>
            </a:r>
            <a:br>
              <a:rPr lang="en-US" sz="2800" dirty="0">
                <a:latin typeface="Calibir"/>
              </a:rPr>
            </a:br>
            <a:r>
              <a:rPr lang="en-US" sz="2800" dirty="0">
                <a:latin typeface="Calibir"/>
              </a:rPr>
              <a:t>C. &lt;html&gt;&lt;/html&gt;</a:t>
            </a:r>
            <a:br>
              <a:rPr lang="en-US" sz="2800" dirty="0">
                <a:latin typeface="Calibir"/>
              </a:rPr>
            </a:br>
            <a:r>
              <a:rPr lang="en-US" sz="2800" dirty="0">
                <a:latin typeface="Calibir"/>
              </a:rPr>
              <a:t>D. &lt;title&gt;&lt;/title&gt;</a:t>
            </a:r>
          </a:p>
        </p:txBody>
      </p:sp>
      <p:sp>
        <p:nvSpPr>
          <p:cNvPr id="2" name="Rectangle: Rounded Corners 1">
            <a:extLst>
              <a:ext uri="{FF2B5EF4-FFF2-40B4-BE49-F238E27FC236}">
                <a16:creationId xmlns:a16="http://schemas.microsoft.com/office/drawing/2014/main" id="{24F8076B-C635-AD9E-9A01-6D6100D46483}"/>
              </a:ext>
            </a:extLst>
          </p:cNvPr>
          <p:cNvSpPr/>
          <p:nvPr/>
        </p:nvSpPr>
        <p:spPr>
          <a:xfrm>
            <a:off x="0" y="3312464"/>
            <a:ext cx="5519854"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EF228F-A33E-1E27-BB35-52D27184A349}"/>
              </a:ext>
            </a:extLst>
          </p:cNvPr>
          <p:cNvSpPr txBox="1"/>
          <p:nvPr/>
        </p:nvSpPr>
        <p:spPr>
          <a:xfrm>
            <a:off x="6590371" y="2952550"/>
            <a:ext cx="5601629" cy="1968103"/>
          </a:xfrm>
          <a:prstGeom prst="rect">
            <a:avLst/>
          </a:prstGeom>
          <a:noFill/>
          <a:ln>
            <a:solidFill>
              <a:srgbClr val="FF0000"/>
            </a:solidFill>
          </a:ln>
        </p:spPr>
        <p:txBody>
          <a:bodyPr wrap="square">
            <a:spAutoFit/>
          </a:bodyPr>
          <a:lstStyle/>
          <a:p>
            <a:pPr>
              <a:lnSpc>
                <a:spcPct val="150000"/>
              </a:lnSpc>
            </a:pPr>
            <a:r>
              <a:rPr lang="en-US" sz="2800" dirty="0">
                <a:latin typeface="Calibir"/>
              </a:rPr>
              <a:t>The &lt;html&gt; tag is the main root element that contains all other HTML elements on the webpage.</a:t>
            </a:r>
          </a:p>
        </p:txBody>
      </p:sp>
    </p:spTree>
    <p:extLst>
      <p:ext uri="{BB962C8B-B14F-4D97-AF65-F5344CB8AC3E}">
        <p14:creationId xmlns:p14="http://schemas.microsoft.com/office/powerpoint/2010/main" val="359664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2BC88-8A40-906A-7C09-958F39BDED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38B95E-C86B-66A4-0F72-B47F13D5DB6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6BA2F467-9374-5F67-6D65-66DF792A7AC8}"/>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9</a:t>
            </a:r>
          </a:p>
          <a:p>
            <a:pPr>
              <a:lnSpc>
                <a:spcPct val="150000"/>
              </a:lnSpc>
            </a:pPr>
            <a:r>
              <a:rPr lang="en-US" sz="2800" b="1" dirty="0">
                <a:latin typeface="Calibir"/>
              </a:rPr>
              <a:t>Where does the title element belong?</a:t>
            </a:r>
            <a:endParaRPr lang="en-US" sz="2800" dirty="0">
              <a:latin typeface="Calibir"/>
            </a:endParaRPr>
          </a:p>
          <a:p>
            <a:pPr>
              <a:lnSpc>
                <a:spcPct val="150000"/>
              </a:lnSpc>
            </a:pPr>
            <a:r>
              <a:rPr lang="en-US" sz="2800" dirty="0">
                <a:latin typeface="Calibir"/>
              </a:rPr>
              <a:t>A. Inside the head section</a:t>
            </a:r>
            <a:br>
              <a:rPr lang="en-US" sz="2800" dirty="0">
                <a:latin typeface="Calibir"/>
              </a:rPr>
            </a:br>
            <a:r>
              <a:rPr lang="en-US" sz="2800" dirty="0">
                <a:latin typeface="Calibir"/>
              </a:rPr>
              <a:t>B. Inside the body section</a:t>
            </a:r>
            <a:br>
              <a:rPr lang="en-US" sz="2800" dirty="0">
                <a:latin typeface="Calibir"/>
              </a:rPr>
            </a:br>
            <a:r>
              <a:rPr lang="en-US" sz="2800" dirty="0">
                <a:latin typeface="Calibir"/>
              </a:rPr>
              <a:t>C. Above the DOCTYPE</a:t>
            </a:r>
            <a:br>
              <a:rPr lang="en-US" sz="2800" dirty="0">
                <a:latin typeface="Calibir"/>
              </a:rPr>
            </a:br>
            <a:r>
              <a:rPr lang="en-US" sz="2800" dirty="0">
                <a:latin typeface="Calibir"/>
              </a:rPr>
              <a:t>D. Outside the html tag</a:t>
            </a:r>
          </a:p>
        </p:txBody>
      </p:sp>
      <p:sp>
        <p:nvSpPr>
          <p:cNvPr id="2" name="Rectangle: Rounded Corners 1">
            <a:extLst>
              <a:ext uri="{FF2B5EF4-FFF2-40B4-BE49-F238E27FC236}">
                <a16:creationId xmlns:a16="http://schemas.microsoft.com/office/drawing/2014/main" id="{6816E498-8ADF-9A49-3EAB-29B664DCFA41}"/>
              </a:ext>
            </a:extLst>
          </p:cNvPr>
          <p:cNvSpPr/>
          <p:nvPr/>
        </p:nvSpPr>
        <p:spPr>
          <a:xfrm>
            <a:off x="0" y="2041225"/>
            <a:ext cx="5519854"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0BEB32-BE53-5F43-37E1-113C5A9E94EA}"/>
              </a:ext>
            </a:extLst>
          </p:cNvPr>
          <p:cNvSpPr txBox="1"/>
          <p:nvPr/>
        </p:nvSpPr>
        <p:spPr>
          <a:xfrm>
            <a:off x="6590371" y="2952550"/>
            <a:ext cx="5601629" cy="2614434"/>
          </a:xfrm>
          <a:prstGeom prst="rect">
            <a:avLst/>
          </a:prstGeom>
          <a:noFill/>
          <a:ln>
            <a:solidFill>
              <a:srgbClr val="FF0000"/>
            </a:solidFill>
          </a:ln>
        </p:spPr>
        <p:txBody>
          <a:bodyPr wrap="square">
            <a:spAutoFit/>
          </a:bodyPr>
          <a:lstStyle/>
          <a:p>
            <a:pPr>
              <a:lnSpc>
                <a:spcPct val="150000"/>
              </a:lnSpc>
            </a:pPr>
            <a:r>
              <a:rPr lang="en-US" sz="2800" dirty="0">
                <a:latin typeface="Calibir"/>
              </a:rPr>
              <a:t>The &lt;title&gt; tag is placed inside the &lt;head&gt; section because it defines the webpage title shown in the browser tab.</a:t>
            </a:r>
          </a:p>
        </p:txBody>
      </p:sp>
    </p:spTree>
    <p:extLst>
      <p:ext uri="{BB962C8B-B14F-4D97-AF65-F5344CB8AC3E}">
        <p14:creationId xmlns:p14="http://schemas.microsoft.com/office/powerpoint/2010/main" val="135859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E8BAC-B33C-81CB-6944-B1E5B1330A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A994F0-ACC3-0675-820E-BC3D6F48846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001CC9D-629B-9EF0-4491-33C591EE535D}"/>
              </a:ext>
            </a:extLst>
          </p:cNvPr>
          <p:cNvSpPr txBox="1"/>
          <p:nvPr/>
        </p:nvSpPr>
        <p:spPr>
          <a:xfrm>
            <a:off x="0" y="584775"/>
            <a:ext cx="9104585" cy="1318181"/>
          </a:xfrm>
          <a:prstGeom prst="rect">
            <a:avLst/>
          </a:prstGeom>
          <a:noFill/>
        </p:spPr>
        <p:txBody>
          <a:bodyPr wrap="square">
            <a:spAutoFit/>
          </a:bodyPr>
          <a:lstStyle/>
          <a:p>
            <a:pPr>
              <a:lnSpc>
                <a:spcPct val="150000"/>
              </a:lnSpc>
            </a:pPr>
            <a:r>
              <a:rPr lang="en-US" sz="2800" b="1" dirty="0">
                <a:latin typeface="Calibir"/>
              </a:rPr>
              <a:t>Question 10</a:t>
            </a:r>
          </a:p>
          <a:p>
            <a:pPr>
              <a:lnSpc>
                <a:spcPct val="150000"/>
              </a:lnSpc>
            </a:pPr>
            <a:r>
              <a:rPr lang="en-US" sz="2800" b="1" dirty="0">
                <a:latin typeface="Calibir"/>
              </a:rPr>
              <a:t>What text must appear inside the h1 element?</a:t>
            </a:r>
            <a:endParaRPr lang="en-US" sz="2800" dirty="0">
              <a:latin typeface="Calibir"/>
            </a:endParaRPr>
          </a:p>
        </p:txBody>
      </p:sp>
      <p:sp>
        <p:nvSpPr>
          <p:cNvPr id="6" name="TextBox 5">
            <a:extLst>
              <a:ext uri="{FF2B5EF4-FFF2-40B4-BE49-F238E27FC236}">
                <a16:creationId xmlns:a16="http://schemas.microsoft.com/office/drawing/2014/main" id="{F179BFF8-4A18-5BBD-63CD-5B31C25914A6}"/>
              </a:ext>
            </a:extLst>
          </p:cNvPr>
          <p:cNvSpPr txBox="1"/>
          <p:nvPr/>
        </p:nvSpPr>
        <p:spPr>
          <a:xfrm>
            <a:off x="1" y="2698596"/>
            <a:ext cx="12192000" cy="2610843"/>
          </a:xfrm>
          <a:prstGeom prst="rect">
            <a:avLst/>
          </a:prstGeom>
          <a:noFill/>
          <a:ln>
            <a:solidFill>
              <a:srgbClr val="FF0000"/>
            </a:solidFill>
          </a:ln>
        </p:spPr>
        <p:txBody>
          <a:bodyPr wrap="square">
            <a:spAutoFit/>
          </a:bodyPr>
          <a:lstStyle/>
          <a:p>
            <a:pPr>
              <a:lnSpc>
                <a:spcPct val="150000"/>
              </a:lnSpc>
            </a:pPr>
            <a:r>
              <a:rPr lang="en-US" sz="2800" b="1" dirty="0">
                <a:latin typeface="Calibir"/>
              </a:rPr>
              <a:t>Best Answer:</a:t>
            </a:r>
            <a:r>
              <a:rPr lang="en-US" sz="2800" dirty="0">
                <a:latin typeface="Calibir"/>
              </a:rPr>
              <a:t> A. Spotted Wren Garden Center</a:t>
            </a:r>
          </a:p>
          <a:p>
            <a:pPr>
              <a:lnSpc>
                <a:spcPct val="150000"/>
              </a:lnSpc>
            </a:pPr>
            <a:r>
              <a:rPr lang="en-US" sz="2800" b="1" dirty="0">
                <a:latin typeface="Calibir"/>
              </a:rPr>
              <a:t>Why:</a:t>
            </a:r>
            <a:br>
              <a:rPr lang="en-US" sz="2800" dirty="0">
                <a:latin typeface="Calibir"/>
              </a:rPr>
            </a:br>
            <a:r>
              <a:rPr lang="en-US" sz="2800" dirty="0">
                <a:latin typeface="Calibir"/>
              </a:rPr>
              <a:t>The h1 element is used for the main heading of the webpage, and the required heading text is “Spotted Wren Garden Center.”</a:t>
            </a:r>
          </a:p>
        </p:txBody>
      </p:sp>
    </p:spTree>
    <p:extLst>
      <p:ext uri="{BB962C8B-B14F-4D97-AF65-F5344CB8AC3E}">
        <p14:creationId xmlns:p14="http://schemas.microsoft.com/office/powerpoint/2010/main" val="312582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6C890-E675-27D5-C712-7268DBD3FC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045E1B-2C17-0E3F-7840-E55C6B2C2B6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08DB053-28B0-994C-C8C4-BA8FCB82F976}"/>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11</a:t>
            </a:r>
          </a:p>
          <a:p>
            <a:pPr>
              <a:lnSpc>
                <a:spcPct val="150000"/>
              </a:lnSpc>
            </a:pPr>
            <a:r>
              <a:rPr lang="en-US" sz="2800" b="1" dirty="0">
                <a:latin typeface="Calibir"/>
              </a:rPr>
              <a:t>Which tag is used to create a paragraph?</a:t>
            </a:r>
            <a:endParaRPr lang="en-US" sz="2800" dirty="0">
              <a:latin typeface="Calibir"/>
            </a:endParaRPr>
          </a:p>
          <a:p>
            <a:pPr>
              <a:lnSpc>
                <a:spcPct val="150000"/>
              </a:lnSpc>
            </a:pPr>
            <a:r>
              <a:rPr lang="en-US" sz="2800" dirty="0">
                <a:latin typeface="Calibir"/>
              </a:rPr>
              <a:t>A. &lt;</a:t>
            </a:r>
            <a:r>
              <a:rPr lang="en-US" sz="2800" dirty="0" err="1">
                <a:latin typeface="Calibir"/>
              </a:rPr>
              <a:t>br</a:t>
            </a:r>
            <a:r>
              <a:rPr lang="en-US" sz="2800" dirty="0">
                <a:latin typeface="Calibir"/>
              </a:rPr>
              <a:t>&gt;</a:t>
            </a:r>
            <a:br>
              <a:rPr lang="en-US" sz="2800" dirty="0">
                <a:latin typeface="Calibir"/>
              </a:rPr>
            </a:br>
            <a:r>
              <a:rPr lang="en-US" sz="2800" dirty="0">
                <a:latin typeface="Calibir"/>
              </a:rPr>
              <a:t>B. &lt;p&gt;</a:t>
            </a:r>
            <a:br>
              <a:rPr lang="en-US" sz="2800" dirty="0">
                <a:latin typeface="Calibir"/>
              </a:rPr>
            </a:br>
            <a:r>
              <a:rPr lang="en-US" sz="2800" dirty="0">
                <a:latin typeface="Calibir"/>
              </a:rPr>
              <a:t>C. &lt;h1&gt;</a:t>
            </a:r>
            <a:br>
              <a:rPr lang="en-US" sz="2800" dirty="0">
                <a:latin typeface="Calibir"/>
              </a:rPr>
            </a:br>
            <a:r>
              <a:rPr lang="en-US" sz="2800" dirty="0">
                <a:latin typeface="Calibir"/>
              </a:rPr>
              <a:t>D. &lt;div&gt;</a:t>
            </a:r>
          </a:p>
        </p:txBody>
      </p:sp>
      <p:sp>
        <p:nvSpPr>
          <p:cNvPr id="6" name="TextBox 5">
            <a:extLst>
              <a:ext uri="{FF2B5EF4-FFF2-40B4-BE49-F238E27FC236}">
                <a16:creationId xmlns:a16="http://schemas.microsoft.com/office/drawing/2014/main" id="{B86DCDEE-E11B-E8EA-B621-E6BE967B1B17}"/>
              </a:ext>
            </a:extLst>
          </p:cNvPr>
          <p:cNvSpPr txBox="1"/>
          <p:nvPr/>
        </p:nvSpPr>
        <p:spPr>
          <a:xfrm>
            <a:off x="22303" y="4812835"/>
            <a:ext cx="9894848" cy="1321772"/>
          </a:xfrm>
          <a:prstGeom prst="rect">
            <a:avLst/>
          </a:prstGeom>
          <a:noFill/>
          <a:ln>
            <a:solidFill>
              <a:srgbClr val="FF0000"/>
            </a:solidFill>
          </a:ln>
        </p:spPr>
        <p:txBody>
          <a:bodyPr wrap="square">
            <a:spAutoFit/>
          </a:bodyPr>
          <a:lstStyle/>
          <a:p>
            <a:pPr>
              <a:lnSpc>
                <a:spcPct val="150000"/>
              </a:lnSpc>
            </a:pPr>
            <a:r>
              <a:rPr lang="en-US" sz="2800" dirty="0">
                <a:latin typeface="Calibir"/>
              </a:rPr>
              <a:t>The &lt;p&gt; tag is used in HTML to create a paragraph of text on a webpage.</a:t>
            </a:r>
          </a:p>
        </p:txBody>
      </p:sp>
      <p:sp>
        <p:nvSpPr>
          <p:cNvPr id="2" name="Rectangle: Rounded Corners 1">
            <a:extLst>
              <a:ext uri="{FF2B5EF4-FFF2-40B4-BE49-F238E27FC236}">
                <a16:creationId xmlns:a16="http://schemas.microsoft.com/office/drawing/2014/main" id="{0F1B4C4A-8527-1EE5-E553-33F7C4D2D228}"/>
              </a:ext>
            </a:extLst>
          </p:cNvPr>
          <p:cNvSpPr/>
          <p:nvPr/>
        </p:nvSpPr>
        <p:spPr>
          <a:xfrm>
            <a:off x="22303" y="2643391"/>
            <a:ext cx="5519854"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784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56C7-F6CE-9922-5347-9354401097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012207-483B-9299-B820-21D8F7BF998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C20C2824-79BA-F59A-9A6C-1165CE24604D}"/>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12</a:t>
            </a:r>
          </a:p>
          <a:p>
            <a:pPr>
              <a:lnSpc>
                <a:spcPct val="150000"/>
              </a:lnSpc>
            </a:pPr>
            <a:r>
              <a:rPr lang="en-US" sz="2800" b="1" dirty="0">
                <a:latin typeface="Calibir"/>
              </a:rPr>
              <a:t>Which phone number must be included in the second paragraph?</a:t>
            </a:r>
            <a:endParaRPr lang="en-US" sz="2800" dirty="0">
              <a:latin typeface="Calibir"/>
            </a:endParaRPr>
          </a:p>
          <a:p>
            <a:pPr>
              <a:lnSpc>
                <a:spcPct val="150000"/>
              </a:lnSpc>
            </a:pPr>
            <a:r>
              <a:rPr lang="en-US" sz="2800" dirty="0">
                <a:latin typeface="Calibir"/>
              </a:rPr>
              <a:t>A. (402) 555-9736</a:t>
            </a:r>
            <a:br>
              <a:rPr lang="en-US" sz="2800" dirty="0">
                <a:latin typeface="Calibir"/>
              </a:rPr>
            </a:br>
            <a:r>
              <a:rPr lang="en-US" sz="2800" dirty="0">
                <a:latin typeface="Calibir"/>
              </a:rPr>
              <a:t>B. (402) 555-9000</a:t>
            </a:r>
            <a:br>
              <a:rPr lang="en-US" sz="2800" dirty="0">
                <a:latin typeface="Calibir"/>
              </a:rPr>
            </a:br>
            <a:r>
              <a:rPr lang="en-US" sz="2800" dirty="0">
                <a:latin typeface="Calibir"/>
              </a:rPr>
              <a:t>C. (555) 402-9736</a:t>
            </a:r>
            <a:br>
              <a:rPr lang="en-US" sz="2800" dirty="0">
                <a:latin typeface="Calibir"/>
              </a:rPr>
            </a:br>
            <a:r>
              <a:rPr lang="en-US" sz="2800" dirty="0">
                <a:latin typeface="Calibir"/>
              </a:rPr>
              <a:t>D. (555) 555-4020</a:t>
            </a:r>
          </a:p>
        </p:txBody>
      </p:sp>
      <p:sp>
        <p:nvSpPr>
          <p:cNvPr id="6" name="TextBox 5">
            <a:extLst>
              <a:ext uri="{FF2B5EF4-FFF2-40B4-BE49-F238E27FC236}">
                <a16:creationId xmlns:a16="http://schemas.microsoft.com/office/drawing/2014/main" id="{48896BE1-46A2-AC4B-5FB3-F2FDDB14D851}"/>
              </a:ext>
            </a:extLst>
          </p:cNvPr>
          <p:cNvSpPr txBox="1"/>
          <p:nvPr/>
        </p:nvSpPr>
        <p:spPr>
          <a:xfrm>
            <a:off x="22303" y="5286782"/>
            <a:ext cx="9894848" cy="1321772"/>
          </a:xfrm>
          <a:prstGeom prst="rect">
            <a:avLst/>
          </a:prstGeom>
          <a:noFill/>
          <a:ln>
            <a:solidFill>
              <a:srgbClr val="FF0000"/>
            </a:solidFill>
          </a:ln>
        </p:spPr>
        <p:txBody>
          <a:bodyPr wrap="square">
            <a:spAutoFit/>
          </a:bodyPr>
          <a:lstStyle/>
          <a:p>
            <a:pPr>
              <a:lnSpc>
                <a:spcPct val="150000"/>
              </a:lnSpc>
            </a:pPr>
            <a:r>
              <a:rPr lang="en-US" sz="2800" dirty="0">
                <a:latin typeface="Calibir"/>
              </a:rPr>
              <a:t>The instructions for the webpage specifically require the phone number (402) 555-9736 in the second paragraph.</a:t>
            </a:r>
          </a:p>
        </p:txBody>
      </p:sp>
      <p:sp>
        <p:nvSpPr>
          <p:cNvPr id="2" name="Rectangle: Rounded Corners 1">
            <a:extLst>
              <a:ext uri="{FF2B5EF4-FFF2-40B4-BE49-F238E27FC236}">
                <a16:creationId xmlns:a16="http://schemas.microsoft.com/office/drawing/2014/main" id="{61280DDC-4FAD-1BA1-DE2C-DB8FFBDC4EE1}"/>
              </a:ext>
            </a:extLst>
          </p:cNvPr>
          <p:cNvSpPr/>
          <p:nvPr/>
        </p:nvSpPr>
        <p:spPr>
          <a:xfrm>
            <a:off x="22303" y="2643391"/>
            <a:ext cx="5519854"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427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79E53-522C-DFFE-9731-5A99C04E2B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D8A734-9B8F-BC44-1792-C7EA8641C2B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18626104-ABFD-4282-0900-D3EB087D8155}"/>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13</a:t>
            </a:r>
          </a:p>
          <a:p>
            <a:pPr>
              <a:lnSpc>
                <a:spcPct val="150000"/>
              </a:lnSpc>
            </a:pPr>
            <a:r>
              <a:rPr lang="en-US" sz="2800" b="1" dirty="0">
                <a:latin typeface="Calibir"/>
              </a:rPr>
              <a:t>What must be added inside the head section as comments?</a:t>
            </a:r>
            <a:endParaRPr lang="en-US" sz="2800" dirty="0">
              <a:latin typeface="Calibir"/>
            </a:endParaRPr>
          </a:p>
          <a:p>
            <a:pPr>
              <a:lnSpc>
                <a:spcPct val="150000"/>
              </a:lnSpc>
            </a:pPr>
            <a:r>
              <a:rPr lang="en-US" sz="2800" dirty="0">
                <a:latin typeface="Calibir"/>
              </a:rPr>
              <a:t>A. Page metadata including filename, author, and date</a:t>
            </a:r>
            <a:br>
              <a:rPr lang="en-US" sz="2800" dirty="0">
                <a:latin typeface="Calibir"/>
              </a:rPr>
            </a:br>
            <a:r>
              <a:rPr lang="en-US" sz="2800" dirty="0">
                <a:latin typeface="Calibir"/>
              </a:rPr>
              <a:t>B. Browser support notes</a:t>
            </a:r>
            <a:br>
              <a:rPr lang="en-US" sz="2800" dirty="0">
                <a:latin typeface="Calibir"/>
              </a:rPr>
            </a:br>
            <a:r>
              <a:rPr lang="en-US" sz="2800" dirty="0">
                <a:latin typeface="Calibir"/>
              </a:rPr>
              <a:t>C. SEO keywords</a:t>
            </a:r>
            <a:br>
              <a:rPr lang="en-US" sz="2800" dirty="0">
                <a:latin typeface="Calibir"/>
              </a:rPr>
            </a:br>
            <a:r>
              <a:rPr lang="en-US" sz="2800" dirty="0">
                <a:latin typeface="Calibir"/>
              </a:rPr>
              <a:t>D. Color theme descriptions</a:t>
            </a:r>
          </a:p>
        </p:txBody>
      </p:sp>
      <p:sp>
        <p:nvSpPr>
          <p:cNvPr id="6" name="TextBox 5">
            <a:extLst>
              <a:ext uri="{FF2B5EF4-FFF2-40B4-BE49-F238E27FC236}">
                <a16:creationId xmlns:a16="http://schemas.microsoft.com/office/drawing/2014/main" id="{BBB9200A-16F5-FAFC-814F-85F1AE3EFA75}"/>
              </a:ext>
            </a:extLst>
          </p:cNvPr>
          <p:cNvSpPr txBox="1"/>
          <p:nvPr/>
        </p:nvSpPr>
        <p:spPr>
          <a:xfrm>
            <a:off x="22303" y="5286782"/>
            <a:ext cx="9894848" cy="1318181"/>
          </a:xfrm>
          <a:prstGeom prst="rect">
            <a:avLst/>
          </a:prstGeom>
          <a:noFill/>
          <a:ln>
            <a:solidFill>
              <a:srgbClr val="FF0000"/>
            </a:solidFill>
          </a:ln>
        </p:spPr>
        <p:txBody>
          <a:bodyPr wrap="square">
            <a:spAutoFit/>
          </a:bodyPr>
          <a:lstStyle/>
          <a:p>
            <a:pPr>
              <a:lnSpc>
                <a:spcPct val="150000"/>
              </a:lnSpc>
            </a:pPr>
            <a:r>
              <a:rPr lang="en-US" sz="2800" dirty="0">
                <a:latin typeface="Calibir"/>
              </a:rPr>
              <a:t>Comments in the head section are used to provide information about the page, such as filename, author name, and date created.</a:t>
            </a:r>
          </a:p>
        </p:txBody>
      </p:sp>
      <p:sp>
        <p:nvSpPr>
          <p:cNvPr id="2" name="Rectangle: Rounded Corners 1">
            <a:extLst>
              <a:ext uri="{FF2B5EF4-FFF2-40B4-BE49-F238E27FC236}">
                <a16:creationId xmlns:a16="http://schemas.microsoft.com/office/drawing/2014/main" id="{DB6F213A-D024-E102-4B4A-2E0742000AE1}"/>
              </a:ext>
            </a:extLst>
          </p:cNvPr>
          <p:cNvSpPr/>
          <p:nvPr/>
        </p:nvSpPr>
        <p:spPr>
          <a:xfrm>
            <a:off x="-11151" y="2041225"/>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151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3965E-3E43-A488-3072-CC7975B355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5E708F-BA6F-DCBE-36CA-B63F8FE670D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009E1FE-6727-C8EE-54D8-823862F638E3}"/>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14</a:t>
            </a:r>
          </a:p>
          <a:p>
            <a:pPr>
              <a:lnSpc>
                <a:spcPct val="150000"/>
              </a:lnSpc>
            </a:pPr>
            <a:r>
              <a:rPr lang="en-US" sz="2800" b="1" dirty="0">
                <a:latin typeface="Calibir"/>
              </a:rPr>
              <a:t>How is a comment written in HTML?</a:t>
            </a:r>
            <a:endParaRPr lang="en-US" sz="2800" dirty="0">
              <a:latin typeface="Calibir"/>
            </a:endParaRPr>
          </a:p>
          <a:p>
            <a:pPr>
              <a:lnSpc>
                <a:spcPct val="150000"/>
              </a:lnSpc>
            </a:pPr>
            <a:r>
              <a:rPr lang="en-US" sz="2800" dirty="0">
                <a:latin typeface="Calibir"/>
              </a:rPr>
              <a:t>A. // comment</a:t>
            </a:r>
            <a:br>
              <a:rPr lang="en-US" sz="2800" dirty="0">
                <a:latin typeface="Calibir"/>
              </a:rPr>
            </a:br>
            <a:r>
              <a:rPr lang="en-US" sz="2800" dirty="0">
                <a:latin typeface="Calibir"/>
              </a:rPr>
              <a:t>B. &lt;!-- comment --&gt;</a:t>
            </a:r>
            <a:br>
              <a:rPr lang="en-US" sz="2800" dirty="0">
                <a:latin typeface="Calibir"/>
              </a:rPr>
            </a:br>
            <a:r>
              <a:rPr lang="en-US" sz="2800" dirty="0">
                <a:latin typeface="Calibir"/>
              </a:rPr>
              <a:t>C. # comment</a:t>
            </a:r>
            <a:br>
              <a:rPr lang="en-US" sz="2800" dirty="0">
                <a:latin typeface="Calibir"/>
              </a:rPr>
            </a:br>
            <a:r>
              <a:rPr lang="en-US" sz="2800" dirty="0">
                <a:latin typeface="Calibir"/>
              </a:rPr>
              <a:t>D. /* comment */</a:t>
            </a:r>
          </a:p>
        </p:txBody>
      </p:sp>
      <p:sp>
        <p:nvSpPr>
          <p:cNvPr id="6" name="TextBox 5">
            <a:extLst>
              <a:ext uri="{FF2B5EF4-FFF2-40B4-BE49-F238E27FC236}">
                <a16:creationId xmlns:a16="http://schemas.microsoft.com/office/drawing/2014/main" id="{36DE99A1-BBDA-BD97-5651-6A17A095D980}"/>
              </a:ext>
            </a:extLst>
          </p:cNvPr>
          <p:cNvSpPr txBox="1"/>
          <p:nvPr/>
        </p:nvSpPr>
        <p:spPr>
          <a:xfrm>
            <a:off x="22303" y="5286782"/>
            <a:ext cx="9894848" cy="1318181"/>
          </a:xfrm>
          <a:prstGeom prst="rect">
            <a:avLst/>
          </a:prstGeom>
          <a:noFill/>
          <a:ln>
            <a:solidFill>
              <a:srgbClr val="FF0000"/>
            </a:solidFill>
          </a:ln>
        </p:spPr>
        <p:txBody>
          <a:bodyPr wrap="square">
            <a:spAutoFit/>
          </a:bodyPr>
          <a:lstStyle/>
          <a:p>
            <a:pPr>
              <a:lnSpc>
                <a:spcPct val="150000"/>
              </a:lnSpc>
            </a:pPr>
            <a:r>
              <a:rPr lang="en-US" sz="2800" dirty="0">
                <a:latin typeface="Calibir"/>
              </a:rPr>
              <a:t>HTML comments are written between &lt;!-- and --&gt; so the browser ignores the text.</a:t>
            </a:r>
          </a:p>
        </p:txBody>
      </p:sp>
      <p:sp>
        <p:nvSpPr>
          <p:cNvPr id="2" name="Rectangle: Rounded Corners 1">
            <a:extLst>
              <a:ext uri="{FF2B5EF4-FFF2-40B4-BE49-F238E27FC236}">
                <a16:creationId xmlns:a16="http://schemas.microsoft.com/office/drawing/2014/main" id="{27482E72-D0B8-AE5B-DCA4-0544005FE070}"/>
              </a:ext>
            </a:extLst>
          </p:cNvPr>
          <p:cNvSpPr/>
          <p:nvPr/>
        </p:nvSpPr>
        <p:spPr>
          <a:xfrm>
            <a:off x="0" y="2676844"/>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3576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E76D-D52F-4922-3A43-7A6726C769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753F9C-1856-23BF-90CB-C2B42A7874E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C110D64-A3DF-03EC-30F4-ABA73E5A9580}"/>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15</a:t>
            </a:r>
          </a:p>
          <a:p>
            <a:pPr>
              <a:lnSpc>
                <a:spcPct val="150000"/>
              </a:lnSpc>
            </a:pPr>
            <a:r>
              <a:rPr lang="en-US" sz="2800" b="1" dirty="0">
                <a:latin typeface="Calibir"/>
              </a:rPr>
              <a:t>Which browsers must be used to view index.html?</a:t>
            </a:r>
            <a:endParaRPr lang="en-US" sz="2800" dirty="0">
              <a:latin typeface="Calibir"/>
            </a:endParaRPr>
          </a:p>
          <a:p>
            <a:pPr>
              <a:lnSpc>
                <a:spcPct val="150000"/>
              </a:lnSpc>
            </a:pPr>
            <a:r>
              <a:rPr lang="en-US" sz="2800" dirty="0">
                <a:latin typeface="Calibir"/>
              </a:rPr>
              <a:t>A. Safari, Chrome, Opera</a:t>
            </a:r>
          </a:p>
          <a:p>
            <a:pPr>
              <a:lnSpc>
                <a:spcPct val="150000"/>
              </a:lnSpc>
            </a:pPr>
            <a:r>
              <a:rPr lang="en-US" sz="2800" dirty="0">
                <a:latin typeface="Calibir"/>
              </a:rPr>
              <a:t>B. Chrome, Firefox, and Internet Explorer</a:t>
            </a:r>
            <a:br>
              <a:rPr lang="en-US" sz="2800" dirty="0">
                <a:latin typeface="Calibir"/>
              </a:rPr>
            </a:br>
            <a:r>
              <a:rPr lang="en-US" sz="2800" dirty="0">
                <a:latin typeface="Calibir"/>
              </a:rPr>
              <a:t>C. Firefox only</a:t>
            </a:r>
            <a:br>
              <a:rPr lang="en-US" sz="2800" dirty="0">
                <a:latin typeface="Calibir"/>
              </a:rPr>
            </a:br>
            <a:r>
              <a:rPr lang="en-US" sz="2800" dirty="0">
                <a:latin typeface="Calibir"/>
              </a:rPr>
              <a:t>D. Microsoft Edge only</a:t>
            </a:r>
          </a:p>
        </p:txBody>
      </p:sp>
      <p:sp>
        <p:nvSpPr>
          <p:cNvPr id="6" name="TextBox 5">
            <a:extLst>
              <a:ext uri="{FF2B5EF4-FFF2-40B4-BE49-F238E27FC236}">
                <a16:creationId xmlns:a16="http://schemas.microsoft.com/office/drawing/2014/main" id="{92ACC46C-F1D2-F7C3-CE5E-92B4EC863B72}"/>
              </a:ext>
            </a:extLst>
          </p:cNvPr>
          <p:cNvSpPr txBox="1"/>
          <p:nvPr/>
        </p:nvSpPr>
        <p:spPr>
          <a:xfrm>
            <a:off x="22303" y="5286782"/>
            <a:ext cx="9894848" cy="1321772"/>
          </a:xfrm>
          <a:prstGeom prst="rect">
            <a:avLst/>
          </a:prstGeom>
          <a:noFill/>
          <a:ln>
            <a:solidFill>
              <a:srgbClr val="FF0000"/>
            </a:solidFill>
          </a:ln>
        </p:spPr>
        <p:txBody>
          <a:bodyPr wrap="square">
            <a:spAutoFit/>
          </a:bodyPr>
          <a:lstStyle/>
          <a:p>
            <a:pPr>
              <a:lnSpc>
                <a:spcPct val="150000"/>
              </a:lnSpc>
            </a:pPr>
            <a:r>
              <a:rPr lang="en-US" sz="2800" dirty="0">
                <a:latin typeface="Calibir"/>
              </a:rPr>
              <a:t>The activity requires testing the webpage in multiple browsers: Chrome, Firefox, and Internet Explorer.</a:t>
            </a:r>
          </a:p>
        </p:txBody>
      </p:sp>
      <p:sp>
        <p:nvSpPr>
          <p:cNvPr id="2" name="Rectangle: Rounded Corners 1">
            <a:extLst>
              <a:ext uri="{FF2B5EF4-FFF2-40B4-BE49-F238E27FC236}">
                <a16:creationId xmlns:a16="http://schemas.microsoft.com/office/drawing/2014/main" id="{CF4507A6-F2FF-85A6-FB98-C2AAFA3A58E4}"/>
              </a:ext>
            </a:extLst>
          </p:cNvPr>
          <p:cNvSpPr/>
          <p:nvPr/>
        </p:nvSpPr>
        <p:spPr>
          <a:xfrm>
            <a:off x="0" y="2676844"/>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220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C53C-89C8-9F5A-0DEA-29CBC53BE3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32AAED-0DE9-325D-BD13-8E63D7B0935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34E0ED27-51E7-4507-A213-4095BE7A43A6}"/>
              </a:ext>
            </a:extLst>
          </p:cNvPr>
          <p:cNvSpPr txBox="1"/>
          <p:nvPr/>
        </p:nvSpPr>
        <p:spPr>
          <a:xfrm>
            <a:off x="0" y="584775"/>
            <a:ext cx="9104585" cy="4549835"/>
          </a:xfrm>
          <a:prstGeom prst="rect">
            <a:avLst/>
          </a:prstGeom>
          <a:noFill/>
        </p:spPr>
        <p:txBody>
          <a:bodyPr wrap="square">
            <a:spAutoFit/>
          </a:bodyPr>
          <a:lstStyle/>
          <a:p>
            <a:pPr>
              <a:lnSpc>
                <a:spcPct val="150000"/>
              </a:lnSpc>
            </a:pPr>
            <a:r>
              <a:rPr lang="en-US" sz="2800" b="1" dirty="0">
                <a:latin typeface="Calibir"/>
              </a:rPr>
              <a:t>Question 16</a:t>
            </a:r>
          </a:p>
          <a:p>
            <a:pPr>
              <a:lnSpc>
                <a:spcPct val="150000"/>
              </a:lnSpc>
            </a:pPr>
            <a:r>
              <a:rPr lang="en-US" sz="2800" b="1" dirty="0">
                <a:latin typeface="Calibir"/>
              </a:rPr>
              <a:t>What tool can be used to preview index.html on a smartphone or tablet?</a:t>
            </a:r>
            <a:endParaRPr lang="en-US" sz="2800" dirty="0">
              <a:latin typeface="Calibir"/>
            </a:endParaRPr>
          </a:p>
          <a:p>
            <a:pPr>
              <a:lnSpc>
                <a:spcPct val="150000"/>
              </a:lnSpc>
            </a:pPr>
            <a:r>
              <a:rPr lang="en-US" sz="2800" dirty="0">
                <a:latin typeface="Calibir"/>
              </a:rPr>
              <a:t>A. A code editor with a built-in web server</a:t>
            </a:r>
            <a:br>
              <a:rPr lang="en-US" sz="2800" dirty="0">
                <a:latin typeface="Calibir"/>
              </a:rPr>
            </a:br>
            <a:r>
              <a:rPr lang="en-US" sz="2800" dirty="0">
                <a:latin typeface="Calibir"/>
              </a:rPr>
              <a:t>B. A text editor only</a:t>
            </a:r>
            <a:br>
              <a:rPr lang="en-US" sz="2800" dirty="0">
                <a:latin typeface="Calibir"/>
              </a:rPr>
            </a:br>
            <a:r>
              <a:rPr lang="en-US" sz="2800" dirty="0">
                <a:latin typeface="Calibir"/>
              </a:rPr>
              <a:t>C. A PDF viewer</a:t>
            </a:r>
            <a:br>
              <a:rPr lang="en-US" sz="2800" dirty="0">
                <a:latin typeface="Calibir"/>
              </a:rPr>
            </a:br>
            <a:r>
              <a:rPr lang="en-US" sz="2800" dirty="0">
                <a:latin typeface="Calibir"/>
              </a:rPr>
              <a:t>D. Bash terminal</a:t>
            </a:r>
          </a:p>
        </p:txBody>
      </p:sp>
      <p:sp>
        <p:nvSpPr>
          <p:cNvPr id="6" name="TextBox 5">
            <a:extLst>
              <a:ext uri="{FF2B5EF4-FFF2-40B4-BE49-F238E27FC236}">
                <a16:creationId xmlns:a16="http://schemas.microsoft.com/office/drawing/2014/main" id="{02E75C20-416B-0CA8-692B-FD4E879C16DC}"/>
              </a:ext>
            </a:extLst>
          </p:cNvPr>
          <p:cNvSpPr txBox="1"/>
          <p:nvPr/>
        </p:nvSpPr>
        <p:spPr>
          <a:xfrm>
            <a:off x="22303" y="5286782"/>
            <a:ext cx="9894848" cy="1321772"/>
          </a:xfrm>
          <a:prstGeom prst="rect">
            <a:avLst/>
          </a:prstGeom>
          <a:noFill/>
          <a:ln>
            <a:solidFill>
              <a:srgbClr val="FF0000"/>
            </a:solidFill>
          </a:ln>
        </p:spPr>
        <p:txBody>
          <a:bodyPr wrap="square">
            <a:spAutoFit/>
          </a:bodyPr>
          <a:lstStyle/>
          <a:p>
            <a:pPr>
              <a:lnSpc>
                <a:spcPct val="150000"/>
              </a:lnSpc>
            </a:pPr>
            <a:r>
              <a:rPr lang="en-US" sz="2800" dirty="0">
                <a:latin typeface="Calibir"/>
              </a:rPr>
              <a:t>A code editor with a built-in web server allows the webpage to be previewed on mobile devices through a browser.</a:t>
            </a:r>
          </a:p>
        </p:txBody>
      </p:sp>
      <p:sp>
        <p:nvSpPr>
          <p:cNvPr id="2" name="Rectangle: Rounded Corners 1">
            <a:extLst>
              <a:ext uri="{FF2B5EF4-FFF2-40B4-BE49-F238E27FC236}">
                <a16:creationId xmlns:a16="http://schemas.microsoft.com/office/drawing/2014/main" id="{34817939-27D7-9A0A-FE11-E1BC43CE533D}"/>
              </a:ext>
            </a:extLst>
          </p:cNvPr>
          <p:cNvSpPr/>
          <p:nvPr/>
        </p:nvSpPr>
        <p:spPr>
          <a:xfrm>
            <a:off x="0" y="2676844"/>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528D-6977-62F6-0F9E-85DA39951E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F05F57-24C8-4985-4FD9-BF0897F274A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80BBB52-BF6A-B172-32AB-6FF20023FD6F}"/>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17</a:t>
            </a:r>
          </a:p>
          <a:p>
            <a:pPr>
              <a:lnSpc>
                <a:spcPct val="150000"/>
              </a:lnSpc>
            </a:pPr>
            <a:r>
              <a:rPr lang="en-US" sz="2800" b="1" dirty="0">
                <a:latin typeface="Calibir"/>
              </a:rPr>
              <a:t>What are students asked to design in Challenge 2?</a:t>
            </a:r>
            <a:endParaRPr lang="en-US" sz="2800" dirty="0">
              <a:latin typeface="Calibir"/>
            </a:endParaRPr>
          </a:p>
          <a:p>
            <a:pPr>
              <a:lnSpc>
                <a:spcPct val="150000"/>
              </a:lnSpc>
            </a:pPr>
            <a:r>
              <a:rPr lang="en-US" sz="2800" dirty="0">
                <a:latin typeface="Calibir"/>
              </a:rPr>
              <a:t>A. A full e-commerce site</a:t>
            </a:r>
            <a:br>
              <a:rPr lang="en-US" sz="2800" dirty="0">
                <a:latin typeface="Calibir"/>
              </a:rPr>
            </a:br>
            <a:r>
              <a:rPr lang="en-US" sz="2800" dirty="0">
                <a:latin typeface="Calibir"/>
              </a:rPr>
              <a:t>B. A gaming application</a:t>
            </a:r>
            <a:br>
              <a:rPr lang="en-US" sz="2800" dirty="0">
                <a:latin typeface="Calibir"/>
              </a:rPr>
            </a:br>
            <a:r>
              <a:rPr lang="en-US" sz="2800" dirty="0">
                <a:latin typeface="Calibir"/>
              </a:rPr>
              <a:t>C. A social media platform</a:t>
            </a:r>
          </a:p>
          <a:p>
            <a:pPr>
              <a:lnSpc>
                <a:spcPct val="150000"/>
              </a:lnSpc>
            </a:pPr>
            <a:r>
              <a:rPr lang="en-US" sz="2800" dirty="0">
                <a:latin typeface="Calibir"/>
              </a:rPr>
              <a:t>D. A personal portfolio website</a:t>
            </a:r>
          </a:p>
        </p:txBody>
      </p:sp>
      <p:sp>
        <p:nvSpPr>
          <p:cNvPr id="6" name="TextBox 5">
            <a:extLst>
              <a:ext uri="{FF2B5EF4-FFF2-40B4-BE49-F238E27FC236}">
                <a16:creationId xmlns:a16="http://schemas.microsoft.com/office/drawing/2014/main" id="{29A971B2-B6CC-CB46-7807-0817D8A6AB82}"/>
              </a:ext>
            </a:extLst>
          </p:cNvPr>
          <p:cNvSpPr txBox="1"/>
          <p:nvPr/>
        </p:nvSpPr>
        <p:spPr>
          <a:xfrm>
            <a:off x="22303" y="5286782"/>
            <a:ext cx="9894848" cy="1321772"/>
          </a:xfrm>
          <a:prstGeom prst="rect">
            <a:avLst/>
          </a:prstGeom>
          <a:noFill/>
          <a:ln>
            <a:solidFill>
              <a:srgbClr val="FF0000"/>
            </a:solidFill>
          </a:ln>
        </p:spPr>
        <p:txBody>
          <a:bodyPr wrap="square">
            <a:spAutoFit/>
          </a:bodyPr>
          <a:lstStyle/>
          <a:p>
            <a:pPr>
              <a:lnSpc>
                <a:spcPct val="150000"/>
              </a:lnSpc>
            </a:pPr>
            <a:r>
              <a:rPr lang="en-US" sz="2800" dirty="0">
                <a:latin typeface="Calibir"/>
              </a:rPr>
              <a:t>Challenge 2 asks students to create a simple personal portfolio website to practice web design skills.</a:t>
            </a:r>
          </a:p>
        </p:txBody>
      </p:sp>
      <p:sp>
        <p:nvSpPr>
          <p:cNvPr id="2" name="Rectangle: Rounded Corners 1">
            <a:extLst>
              <a:ext uri="{FF2B5EF4-FFF2-40B4-BE49-F238E27FC236}">
                <a16:creationId xmlns:a16="http://schemas.microsoft.com/office/drawing/2014/main" id="{2108159F-FA6E-8B5A-B019-BCDDF812170A}"/>
              </a:ext>
            </a:extLst>
          </p:cNvPr>
          <p:cNvSpPr/>
          <p:nvPr/>
        </p:nvSpPr>
        <p:spPr>
          <a:xfrm>
            <a:off x="0" y="3903504"/>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141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822A-5427-4153-67A2-281E6766BE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EC7B79-9F3F-22CD-4AD7-C9CA8E9EA5F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16C4EBD-A41C-81D8-DAE3-32A759323567}"/>
              </a:ext>
            </a:extLst>
          </p:cNvPr>
          <p:cNvSpPr txBox="1"/>
          <p:nvPr/>
        </p:nvSpPr>
        <p:spPr>
          <a:xfrm>
            <a:off x="0" y="584775"/>
            <a:ext cx="9104585" cy="1964512"/>
          </a:xfrm>
          <a:prstGeom prst="rect">
            <a:avLst/>
          </a:prstGeom>
          <a:noFill/>
        </p:spPr>
        <p:txBody>
          <a:bodyPr wrap="square">
            <a:spAutoFit/>
          </a:bodyPr>
          <a:lstStyle/>
          <a:p>
            <a:pPr>
              <a:lnSpc>
                <a:spcPct val="150000"/>
              </a:lnSpc>
            </a:pPr>
            <a:r>
              <a:rPr lang="en-US" sz="2800" b="1" dirty="0">
                <a:latin typeface="Calibir"/>
              </a:rPr>
              <a:t>Question 18</a:t>
            </a:r>
          </a:p>
          <a:p>
            <a:pPr>
              <a:lnSpc>
                <a:spcPct val="150000"/>
              </a:lnSpc>
            </a:pPr>
            <a:r>
              <a:rPr lang="en-US" sz="2800" b="1" dirty="0">
                <a:latin typeface="Calibir"/>
              </a:rPr>
              <a:t>What is the filename students must use for the main webpage?</a:t>
            </a:r>
            <a:endParaRPr lang="en-US" sz="2800" dirty="0">
              <a:latin typeface="Calibir"/>
            </a:endParaRPr>
          </a:p>
        </p:txBody>
      </p:sp>
      <p:sp>
        <p:nvSpPr>
          <p:cNvPr id="6" name="TextBox 5">
            <a:extLst>
              <a:ext uri="{FF2B5EF4-FFF2-40B4-BE49-F238E27FC236}">
                <a16:creationId xmlns:a16="http://schemas.microsoft.com/office/drawing/2014/main" id="{8EFC7790-BC6C-D360-45E6-7DD40B313BA7}"/>
              </a:ext>
            </a:extLst>
          </p:cNvPr>
          <p:cNvSpPr txBox="1"/>
          <p:nvPr/>
        </p:nvSpPr>
        <p:spPr>
          <a:xfrm>
            <a:off x="0" y="3429000"/>
            <a:ext cx="12192000" cy="1964512"/>
          </a:xfrm>
          <a:prstGeom prst="rect">
            <a:avLst/>
          </a:prstGeom>
          <a:noFill/>
          <a:ln>
            <a:solidFill>
              <a:srgbClr val="FF0000"/>
            </a:solidFill>
          </a:ln>
        </p:spPr>
        <p:txBody>
          <a:bodyPr wrap="square">
            <a:spAutoFit/>
          </a:bodyPr>
          <a:lstStyle/>
          <a:p>
            <a:pPr>
              <a:lnSpc>
                <a:spcPct val="150000"/>
              </a:lnSpc>
            </a:pPr>
            <a:r>
              <a:rPr lang="en-US" sz="2800" dirty="0">
                <a:latin typeface="Calibir"/>
              </a:rPr>
              <a:t>index.html</a:t>
            </a:r>
          </a:p>
          <a:p>
            <a:pPr>
              <a:lnSpc>
                <a:spcPct val="150000"/>
              </a:lnSpc>
            </a:pPr>
            <a:r>
              <a:rPr lang="en-US" sz="2800" dirty="0">
                <a:latin typeface="Calibir"/>
              </a:rPr>
              <a:t>The main webpage should be saved as index.html because web browsers automatically recognize it as the homepage of a website.</a:t>
            </a:r>
          </a:p>
        </p:txBody>
      </p:sp>
    </p:spTree>
    <p:extLst>
      <p:ext uri="{BB962C8B-B14F-4D97-AF65-F5344CB8AC3E}">
        <p14:creationId xmlns:p14="http://schemas.microsoft.com/office/powerpoint/2010/main" val="138178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06C6-79D1-7C20-3A1D-CB9D5E526A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7A06C5-1741-98DD-DBDD-EF5C428E8CC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828615B-01BC-C8CB-16EB-13B702E2BC4A}"/>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19</a:t>
            </a:r>
          </a:p>
          <a:p>
            <a:pPr>
              <a:lnSpc>
                <a:spcPct val="150000"/>
              </a:lnSpc>
            </a:pPr>
            <a:r>
              <a:rPr lang="en-US" sz="2800" b="1" dirty="0">
                <a:latin typeface="Calibir"/>
              </a:rPr>
              <a:t>Which section contains visible content for the webpage?</a:t>
            </a:r>
            <a:endParaRPr lang="en-US" sz="2800" dirty="0">
              <a:latin typeface="Calibir"/>
            </a:endParaRPr>
          </a:p>
          <a:p>
            <a:pPr>
              <a:lnSpc>
                <a:spcPct val="150000"/>
              </a:lnSpc>
            </a:pPr>
            <a:r>
              <a:rPr lang="en-US" sz="2800" dirty="0">
                <a:latin typeface="Calibir"/>
              </a:rPr>
              <a:t>A. body </a:t>
            </a:r>
            <a:br>
              <a:rPr lang="en-US" sz="2800" dirty="0">
                <a:latin typeface="Calibir"/>
              </a:rPr>
            </a:br>
            <a:r>
              <a:rPr lang="en-US" sz="2800" dirty="0">
                <a:latin typeface="Calibir"/>
              </a:rPr>
              <a:t>B. head</a:t>
            </a:r>
            <a:br>
              <a:rPr lang="en-US" sz="2800" dirty="0">
                <a:latin typeface="Calibir"/>
              </a:rPr>
            </a:br>
            <a:r>
              <a:rPr lang="en-US" sz="2800" dirty="0">
                <a:latin typeface="Calibir"/>
              </a:rPr>
              <a:t>C. comment</a:t>
            </a:r>
            <a:br>
              <a:rPr lang="en-US" sz="2800" dirty="0">
                <a:latin typeface="Calibir"/>
              </a:rPr>
            </a:br>
            <a:r>
              <a:rPr lang="en-US" sz="2800" dirty="0">
                <a:latin typeface="Calibir"/>
              </a:rPr>
              <a:t>D. doctype</a:t>
            </a:r>
          </a:p>
        </p:txBody>
      </p:sp>
      <p:sp>
        <p:nvSpPr>
          <p:cNvPr id="3" name="TextBox 2">
            <a:extLst>
              <a:ext uri="{FF2B5EF4-FFF2-40B4-BE49-F238E27FC236}">
                <a16:creationId xmlns:a16="http://schemas.microsoft.com/office/drawing/2014/main" id="{6B9914AB-2C3F-90EE-9116-E41A8640634A}"/>
              </a:ext>
            </a:extLst>
          </p:cNvPr>
          <p:cNvSpPr txBox="1"/>
          <p:nvPr/>
        </p:nvSpPr>
        <p:spPr>
          <a:xfrm>
            <a:off x="0" y="4672581"/>
            <a:ext cx="12032166" cy="1318181"/>
          </a:xfrm>
          <a:prstGeom prst="rect">
            <a:avLst/>
          </a:prstGeom>
          <a:noFill/>
          <a:ln w="38100">
            <a:solidFill>
              <a:srgbClr val="FF0000"/>
            </a:solidFill>
          </a:ln>
        </p:spPr>
        <p:txBody>
          <a:bodyPr wrap="square">
            <a:spAutoFit/>
          </a:bodyPr>
          <a:lstStyle/>
          <a:p>
            <a:pPr>
              <a:lnSpc>
                <a:spcPct val="150000"/>
              </a:lnSpc>
            </a:pPr>
            <a:r>
              <a:rPr lang="en-US" sz="2800" dirty="0">
                <a:latin typeface="Calibir"/>
              </a:rPr>
              <a:t>The &lt;body&gt; section contains all the visible content shown on the webpage, such as text, images, and headings.</a:t>
            </a:r>
          </a:p>
        </p:txBody>
      </p:sp>
      <p:sp>
        <p:nvSpPr>
          <p:cNvPr id="7" name="Rectangle: Rounded Corners 6">
            <a:extLst>
              <a:ext uri="{FF2B5EF4-FFF2-40B4-BE49-F238E27FC236}">
                <a16:creationId xmlns:a16="http://schemas.microsoft.com/office/drawing/2014/main" id="{3F5010A4-59BF-22CF-0448-29AB0B8FC411}"/>
              </a:ext>
            </a:extLst>
          </p:cNvPr>
          <p:cNvSpPr/>
          <p:nvPr/>
        </p:nvSpPr>
        <p:spPr>
          <a:xfrm>
            <a:off x="0" y="2074704"/>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671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965E1-2787-1F33-D4E6-ADF9BB11A8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A2FEF9-108A-EF24-9CEF-8101E40786C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10018ED5-8736-74BD-30A0-8FB2794AEC5C}"/>
              </a:ext>
            </a:extLst>
          </p:cNvPr>
          <p:cNvSpPr txBox="1"/>
          <p:nvPr/>
        </p:nvSpPr>
        <p:spPr>
          <a:xfrm>
            <a:off x="0" y="584775"/>
            <a:ext cx="9104585" cy="3903504"/>
          </a:xfrm>
          <a:prstGeom prst="rect">
            <a:avLst/>
          </a:prstGeom>
          <a:noFill/>
        </p:spPr>
        <p:txBody>
          <a:bodyPr wrap="square">
            <a:spAutoFit/>
          </a:bodyPr>
          <a:lstStyle/>
          <a:p>
            <a:pPr>
              <a:lnSpc>
                <a:spcPct val="150000"/>
              </a:lnSpc>
            </a:pPr>
            <a:r>
              <a:rPr lang="en-US" sz="2800" b="1" dirty="0">
                <a:latin typeface="Calibir"/>
              </a:rPr>
              <a:t>Question 20</a:t>
            </a:r>
          </a:p>
          <a:p>
            <a:pPr>
              <a:lnSpc>
                <a:spcPct val="150000"/>
              </a:lnSpc>
            </a:pPr>
            <a:r>
              <a:rPr lang="en-US" sz="2800" b="1" dirty="0">
                <a:latin typeface="Calibir"/>
              </a:rPr>
              <a:t>Which section contains metadata and the title?</a:t>
            </a:r>
            <a:endParaRPr lang="en-US" sz="2800" dirty="0">
              <a:latin typeface="Calibir"/>
            </a:endParaRPr>
          </a:p>
          <a:p>
            <a:pPr>
              <a:lnSpc>
                <a:spcPct val="150000"/>
              </a:lnSpc>
            </a:pPr>
            <a:r>
              <a:rPr lang="en-US" sz="2800" dirty="0">
                <a:latin typeface="Calibir"/>
              </a:rPr>
              <a:t>A. body</a:t>
            </a:r>
            <a:br>
              <a:rPr lang="en-US" sz="2800" dirty="0">
                <a:latin typeface="Calibir"/>
              </a:rPr>
            </a:br>
            <a:r>
              <a:rPr lang="en-US" sz="2800" dirty="0">
                <a:latin typeface="Calibir"/>
              </a:rPr>
              <a:t>B. footer</a:t>
            </a:r>
            <a:br>
              <a:rPr lang="en-US" sz="2800" dirty="0">
                <a:latin typeface="Calibir"/>
              </a:rPr>
            </a:br>
            <a:r>
              <a:rPr lang="en-US" sz="2800" dirty="0">
                <a:latin typeface="Calibir"/>
              </a:rPr>
              <a:t>C. html</a:t>
            </a:r>
            <a:br>
              <a:rPr lang="en-US" sz="2800" dirty="0">
                <a:latin typeface="Calibir"/>
              </a:rPr>
            </a:br>
            <a:r>
              <a:rPr lang="en-US" sz="2800" dirty="0">
                <a:latin typeface="Calibir"/>
              </a:rPr>
              <a:t>D. head</a:t>
            </a:r>
          </a:p>
        </p:txBody>
      </p:sp>
      <p:sp>
        <p:nvSpPr>
          <p:cNvPr id="3" name="TextBox 2">
            <a:extLst>
              <a:ext uri="{FF2B5EF4-FFF2-40B4-BE49-F238E27FC236}">
                <a16:creationId xmlns:a16="http://schemas.microsoft.com/office/drawing/2014/main" id="{F8E8BEA4-546E-7967-4679-EF24E5E2B7F1}"/>
              </a:ext>
            </a:extLst>
          </p:cNvPr>
          <p:cNvSpPr txBox="1"/>
          <p:nvPr/>
        </p:nvSpPr>
        <p:spPr>
          <a:xfrm>
            <a:off x="0" y="4672581"/>
            <a:ext cx="12032166" cy="1321772"/>
          </a:xfrm>
          <a:prstGeom prst="rect">
            <a:avLst/>
          </a:prstGeom>
          <a:noFill/>
          <a:ln w="38100">
            <a:solidFill>
              <a:srgbClr val="FF0000"/>
            </a:solidFill>
          </a:ln>
        </p:spPr>
        <p:txBody>
          <a:bodyPr wrap="square">
            <a:spAutoFit/>
          </a:bodyPr>
          <a:lstStyle/>
          <a:p>
            <a:pPr>
              <a:lnSpc>
                <a:spcPct val="150000"/>
              </a:lnSpc>
            </a:pPr>
            <a:r>
              <a:rPr lang="en-US" sz="2800" dirty="0">
                <a:latin typeface="Calibir"/>
              </a:rPr>
              <a:t>The &lt;head&gt; section stores metadata, the webpage title, and other information used by the browser.</a:t>
            </a:r>
          </a:p>
        </p:txBody>
      </p:sp>
      <p:sp>
        <p:nvSpPr>
          <p:cNvPr id="7" name="Rectangle: Rounded Corners 6">
            <a:extLst>
              <a:ext uri="{FF2B5EF4-FFF2-40B4-BE49-F238E27FC236}">
                <a16:creationId xmlns:a16="http://schemas.microsoft.com/office/drawing/2014/main" id="{B9B078AF-D48D-FFF5-8E87-A85BD044E10A}"/>
              </a:ext>
            </a:extLst>
          </p:cNvPr>
          <p:cNvSpPr/>
          <p:nvPr/>
        </p:nvSpPr>
        <p:spPr>
          <a:xfrm>
            <a:off x="0" y="3931295"/>
            <a:ext cx="822960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721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1AB43-6E75-0512-EBE3-9308202893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A80261-785D-01F6-4A36-C06E144B1555}"/>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DBF239D2-D719-9AC8-3C83-E07BCF93C6CB}"/>
              </a:ext>
            </a:extLst>
          </p:cNvPr>
          <p:cNvSpPr txBox="1"/>
          <p:nvPr/>
        </p:nvSpPr>
        <p:spPr>
          <a:xfrm>
            <a:off x="0" y="584775"/>
            <a:ext cx="12192000" cy="3903504"/>
          </a:xfrm>
          <a:prstGeom prst="rect">
            <a:avLst/>
          </a:prstGeom>
          <a:noFill/>
        </p:spPr>
        <p:txBody>
          <a:bodyPr wrap="square">
            <a:spAutoFit/>
          </a:bodyPr>
          <a:lstStyle/>
          <a:p>
            <a:pPr>
              <a:lnSpc>
                <a:spcPct val="150000"/>
              </a:lnSpc>
            </a:pPr>
            <a:r>
              <a:rPr lang="en-US" sz="2800" b="1" dirty="0">
                <a:latin typeface="Calibir"/>
              </a:rPr>
              <a:t>Question 21</a:t>
            </a:r>
          </a:p>
          <a:p>
            <a:pPr>
              <a:lnSpc>
                <a:spcPct val="150000"/>
              </a:lnSpc>
            </a:pPr>
            <a:r>
              <a:rPr lang="en-US" sz="2800" b="1" dirty="0">
                <a:latin typeface="Calibir"/>
              </a:rPr>
              <a:t>What must students enter in portfolio.docx for Challenge 2 Part 1?</a:t>
            </a:r>
            <a:endParaRPr lang="en-US" sz="2800" dirty="0">
              <a:latin typeface="Calibir"/>
            </a:endParaRPr>
          </a:p>
          <a:p>
            <a:pPr>
              <a:lnSpc>
                <a:spcPct val="150000"/>
              </a:lnSpc>
            </a:pPr>
            <a:r>
              <a:rPr lang="en-US" sz="2800" dirty="0">
                <a:latin typeface="Calibir"/>
              </a:rPr>
              <a:t>A. Thoughtful, realistic responses about website purpose and design</a:t>
            </a:r>
            <a:br>
              <a:rPr lang="en-US" sz="2800" dirty="0">
                <a:latin typeface="Calibir"/>
              </a:rPr>
            </a:br>
            <a:r>
              <a:rPr lang="en-US" sz="2800" dirty="0">
                <a:latin typeface="Calibir"/>
              </a:rPr>
              <a:t>B. HTML code snippets</a:t>
            </a:r>
            <a:br>
              <a:rPr lang="en-US" sz="2800" dirty="0">
                <a:latin typeface="Calibir"/>
              </a:rPr>
            </a:br>
            <a:r>
              <a:rPr lang="en-US" sz="2800" dirty="0">
                <a:latin typeface="Calibir"/>
              </a:rPr>
              <a:t>C. Hosting provider prices only</a:t>
            </a:r>
            <a:br>
              <a:rPr lang="en-US" sz="2800" dirty="0">
                <a:latin typeface="Calibir"/>
              </a:rPr>
            </a:br>
            <a:r>
              <a:rPr lang="en-US" sz="2800" dirty="0">
                <a:latin typeface="Calibir"/>
              </a:rPr>
              <a:t>D. Color palette samples</a:t>
            </a:r>
          </a:p>
        </p:txBody>
      </p:sp>
      <p:sp>
        <p:nvSpPr>
          <p:cNvPr id="7" name="Rectangle: Rounded Corners 6">
            <a:extLst>
              <a:ext uri="{FF2B5EF4-FFF2-40B4-BE49-F238E27FC236}">
                <a16:creationId xmlns:a16="http://schemas.microsoft.com/office/drawing/2014/main" id="{DEAB6EC0-AC94-CE74-FF05-788167960FC6}"/>
              </a:ext>
            </a:extLst>
          </p:cNvPr>
          <p:cNvSpPr/>
          <p:nvPr/>
        </p:nvSpPr>
        <p:spPr>
          <a:xfrm>
            <a:off x="0" y="1917408"/>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FEC9D04-E619-90FD-C3AA-6D18BE7BCCB1}"/>
              </a:ext>
            </a:extLst>
          </p:cNvPr>
          <p:cNvSpPr txBox="1"/>
          <p:nvPr/>
        </p:nvSpPr>
        <p:spPr>
          <a:xfrm>
            <a:off x="0" y="5079739"/>
            <a:ext cx="11775688" cy="1318181"/>
          </a:xfrm>
          <a:prstGeom prst="rect">
            <a:avLst/>
          </a:prstGeom>
          <a:noFill/>
          <a:ln>
            <a:solidFill>
              <a:srgbClr val="FF0000"/>
            </a:solidFill>
          </a:ln>
        </p:spPr>
        <p:txBody>
          <a:bodyPr wrap="square">
            <a:spAutoFit/>
          </a:bodyPr>
          <a:lstStyle/>
          <a:p>
            <a:pPr>
              <a:lnSpc>
                <a:spcPct val="150000"/>
              </a:lnSpc>
            </a:pPr>
            <a:r>
              <a:rPr lang="en-US" sz="2800" dirty="0">
                <a:latin typeface="Calibir"/>
              </a:rPr>
              <a:t>Students are expected to provide realistic ideas and planning details about the website’s purpose and design in the portfolio document.</a:t>
            </a:r>
          </a:p>
        </p:txBody>
      </p:sp>
    </p:spTree>
    <p:extLst>
      <p:ext uri="{BB962C8B-B14F-4D97-AF65-F5344CB8AC3E}">
        <p14:creationId xmlns:p14="http://schemas.microsoft.com/office/powerpoint/2010/main" val="349047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F3C89-052F-A77E-497B-4EE4F379B0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8E3209-F99B-F86C-E51C-D064AA54515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6AF28B3E-72FB-7050-E1D1-07573374B8DC}"/>
              </a:ext>
            </a:extLst>
          </p:cNvPr>
          <p:cNvSpPr txBox="1"/>
          <p:nvPr/>
        </p:nvSpPr>
        <p:spPr>
          <a:xfrm>
            <a:off x="0" y="584775"/>
            <a:ext cx="12192000" cy="4549835"/>
          </a:xfrm>
          <a:prstGeom prst="rect">
            <a:avLst/>
          </a:prstGeom>
          <a:noFill/>
        </p:spPr>
        <p:txBody>
          <a:bodyPr wrap="square">
            <a:spAutoFit/>
          </a:bodyPr>
          <a:lstStyle/>
          <a:p>
            <a:pPr>
              <a:lnSpc>
                <a:spcPct val="150000"/>
              </a:lnSpc>
            </a:pPr>
            <a:r>
              <a:rPr lang="en-US" sz="2800" b="1" dirty="0">
                <a:latin typeface="Calibir"/>
              </a:rPr>
              <a:t>Question 22</a:t>
            </a:r>
          </a:p>
          <a:p>
            <a:pPr>
              <a:lnSpc>
                <a:spcPct val="150000"/>
              </a:lnSpc>
            </a:pPr>
            <a:r>
              <a:rPr lang="en-US" sz="2800" b="1" dirty="0">
                <a:latin typeface="Calibir"/>
              </a:rPr>
              <a:t>Many options are available for creating web pages, but no matter which method you use, the first step involves the thoughtful ____ process.</a:t>
            </a:r>
            <a:endParaRPr lang="en-US" sz="2800" dirty="0">
              <a:latin typeface="Calibir"/>
            </a:endParaRPr>
          </a:p>
          <a:p>
            <a:pPr>
              <a:lnSpc>
                <a:spcPct val="150000"/>
              </a:lnSpc>
            </a:pPr>
            <a:r>
              <a:rPr lang="en-US" sz="2800" dirty="0">
                <a:latin typeface="Calibir"/>
              </a:rPr>
              <a:t>A. building</a:t>
            </a:r>
            <a:br>
              <a:rPr lang="en-US" sz="2800" dirty="0">
                <a:latin typeface="Calibir"/>
              </a:rPr>
            </a:br>
            <a:r>
              <a:rPr lang="en-US" sz="2800" dirty="0">
                <a:latin typeface="Calibir"/>
              </a:rPr>
              <a:t>B. planning</a:t>
            </a:r>
            <a:br>
              <a:rPr lang="en-US" sz="2800" dirty="0">
                <a:latin typeface="Calibir"/>
              </a:rPr>
            </a:br>
            <a:r>
              <a:rPr lang="en-US" sz="2800" dirty="0">
                <a:latin typeface="Calibir"/>
              </a:rPr>
              <a:t>C. publishing</a:t>
            </a:r>
            <a:br>
              <a:rPr lang="en-US" sz="2800" dirty="0">
                <a:latin typeface="Calibir"/>
              </a:rPr>
            </a:br>
            <a:r>
              <a:rPr lang="en-US" sz="2800" dirty="0">
                <a:latin typeface="Calibir"/>
              </a:rPr>
              <a:t>D. developing</a:t>
            </a:r>
          </a:p>
        </p:txBody>
      </p:sp>
      <p:sp>
        <p:nvSpPr>
          <p:cNvPr id="7" name="Rectangle: Rounded Corners 6">
            <a:extLst>
              <a:ext uri="{FF2B5EF4-FFF2-40B4-BE49-F238E27FC236}">
                <a16:creationId xmlns:a16="http://schemas.microsoft.com/office/drawing/2014/main" id="{0ED43F85-55CE-B263-B1A6-3AF282BE8528}"/>
              </a:ext>
            </a:extLst>
          </p:cNvPr>
          <p:cNvSpPr/>
          <p:nvPr/>
        </p:nvSpPr>
        <p:spPr>
          <a:xfrm>
            <a:off x="33454" y="3222101"/>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875D662-BE18-7EB0-1D86-4356D0D96680}"/>
              </a:ext>
            </a:extLst>
          </p:cNvPr>
          <p:cNvSpPr txBox="1"/>
          <p:nvPr/>
        </p:nvSpPr>
        <p:spPr>
          <a:xfrm>
            <a:off x="0" y="5079739"/>
            <a:ext cx="11775688" cy="1321772"/>
          </a:xfrm>
          <a:prstGeom prst="rect">
            <a:avLst/>
          </a:prstGeom>
          <a:noFill/>
          <a:ln>
            <a:solidFill>
              <a:srgbClr val="FF0000"/>
            </a:solidFill>
          </a:ln>
        </p:spPr>
        <p:txBody>
          <a:bodyPr wrap="square">
            <a:spAutoFit/>
          </a:bodyPr>
          <a:lstStyle/>
          <a:p>
            <a:pPr>
              <a:lnSpc>
                <a:spcPct val="150000"/>
              </a:lnSpc>
            </a:pPr>
            <a:r>
              <a:rPr lang="en-US" sz="2800" dirty="0">
                <a:latin typeface="Calibir"/>
              </a:rPr>
              <a:t>Planning is the first and most important step because it helps organize ideas, goals, and website structure before creating the webpage.</a:t>
            </a:r>
          </a:p>
        </p:txBody>
      </p:sp>
    </p:spTree>
    <p:extLst>
      <p:ext uri="{BB962C8B-B14F-4D97-AF65-F5344CB8AC3E}">
        <p14:creationId xmlns:p14="http://schemas.microsoft.com/office/powerpoint/2010/main" val="260465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E9C2-FFF2-582A-D65C-64396B8E1A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447EA7-B81C-96BB-9851-DCD10D716EE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2F57F536-D609-C2BE-B7F0-DE4D2C86397F}"/>
              </a:ext>
            </a:extLst>
          </p:cNvPr>
          <p:cNvSpPr txBox="1"/>
          <p:nvPr/>
        </p:nvSpPr>
        <p:spPr>
          <a:xfrm>
            <a:off x="0" y="584775"/>
            <a:ext cx="12192000" cy="5196166"/>
          </a:xfrm>
          <a:prstGeom prst="rect">
            <a:avLst/>
          </a:prstGeom>
          <a:noFill/>
        </p:spPr>
        <p:txBody>
          <a:bodyPr wrap="square">
            <a:spAutoFit/>
          </a:bodyPr>
          <a:lstStyle/>
          <a:p>
            <a:pPr>
              <a:lnSpc>
                <a:spcPct val="150000"/>
              </a:lnSpc>
            </a:pPr>
            <a:r>
              <a:rPr lang="en-US" sz="2800" b="1" dirty="0">
                <a:latin typeface="Calibir"/>
              </a:rPr>
              <a:t>Question 23</a:t>
            </a:r>
          </a:p>
          <a:p>
            <a:pPr>
              <a:lnSpc>
                <a:spcPct val="150000"/>
              </a:lnSpc>
            </a:pPr>
            <a:r>
              <a:rPr lang="en-US" sz="2800" b="1" dirty="0">
                <a:latin typeface="Calibir"/>
              </a:rPr>
              <a:t>Whether you're brainstorming for a personal site or meeting with a client regarding a site you've been hired to create, you sum up your work with a project plan, which is also known as a ____ document.</a:t>
            </a:r>
            <a:endParaRPr lang="en-US" sz="2800" dirty="0">
              <a:latin typeface="Calibir"/>
            </a:endParaRPr>
          </a:p>
          <a:p>
            <a:pPr>
              <a:lnSpc>
                <a:spcPct val="150000"/>
              </a:lnSpc>
            </a:pPr>
            <a:r>
              <a:rPr lang="en-US" sz="2800" dirty="0">
                <a:latin typeface="Calibir"/>
              </a:rPr>
              <a:t>A. detail</a:t>
            </a:r>
            <a:br>
              <a:rPr lang="en-US" sz="2800" dirty="0">
                <a:latin typeface="Calibir"/>
              </a:rPr>
            </a:br>
            <a:r>
              <a:rPr lang="en-US" sz="2800" dirty="0">
                <a:latin typeface="Calibir"/>
              </a:rPr>
              <a:t>B. design</a:t>
            </a:r>
            <a:br>
              <a:rPr lang="en-US" sz="2800" dirty="0">
                <a:latin typeface="Calibir"/>
              </a:rPr>
            </a:br>
            <a:r>
              <a:rPr lang="en-US" sz="2800" dirty="0">
                <a:latin typeface="Calibir"/>
              </a:rPr>
              <a:t>C. systems</a:t>
            </a:r>
            <a:br>
              <a:rPr lang="en-US" sz="2800" dirty="0">
                <a:latin typeface="Calibir"/>
              </a:rPr>
            </a:br>
            <a:r>
              <a:rPr lang="en-US" sz="2800" dirty="0">
                <a:latin typeface="Calibir"/>
              </a:rPr>
              <a:t>D. Web</a:t>
            </a:r>
          </a:p>
        </p:txBody>
      </p:sp>
      <p:sp>
        <p:nvSpPr>
          <p:cNvPr id="7" name="Rectangle: Rounded Corners 6">
            <a:extLst>
              <a:ext uri="{FF2B5EF4-FFF2-40B4-BE49-F238E27FC236}">
                <a16:creationId xmlns:a16="http://schemas.microsoft.com/office/drawing/2014/main" id="{20EB4C00-37B3-E11E-E52C-92546A047424}"/>
              </a:ext>
            </a:extLst>
          </p:cNvPr>
          <p:cNvSpPr/>
          <p:nvPr/>
        </p:nvSpPr>
        <p:spPr>
          <a:xfrm>
            <a:off x="0" y="3789494"/>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7EBA4B-B885-EC93-D573-7E2324673719}"/>
              </a:ext>
            </a:extLst>
          </p:cNvPr>
          <p:cNvSpPr txBox="1"/>
          <p:nvPr/>
        </p:nvSpPr>
        <p:spPr>
          <a:xfrm>
            <a:off x="2430966" y="4739268"/>
            <a:ext cx="9344722" cy="1321772"/>
          </a:xfrm>
          <a:prstGeom prst="rect">
            <a:avLst/>
          </a:prstGeom>
          <a:noFill/>
          <a:ln>
            <a:solidFill>
              <a:srgbClr val="FF0000"/>
            </a:solidFill>
          </a:ln>
        </p:spPr>
        <p:txBody>
          <a:bodyPr wrap="square">
            <a:spAutoFit/>
          </a:bodyPr>
          <a:lstStyle/>
          <a:p>
            <a:pPr>
              <a:lnSpc>
                <a:spcPct val="150000"/>
              </a:lnSpc>
            </a:pPr>
            <a:r>
              <a:rPr lang="en-US" sz="2800" dirty="0">
                <a:latin typeface="Calibir"/>
              </a:rPr>
              <a:t>A project plan is also called a design document because it explains how the website will look and work.</a:t>
            </a:r>
          </a:p>
        </p:txBody>
      </p:sp>
    </p:spTree>
    <p:extLst>
      <p:ext uri="{BB962C8B-B14F-4D97-AF65-F5344CB8AC3E}">
        <p14:creationId xmlns:p14="http://schemas.microsoft.com/office/powerpoint/2010/main" val="31615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666DE-62A7-2BC8-F5FA-7FF50C6915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CA0525-D4B8-4282-59D2-D0323DCDB17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AFAF064-2316-0C3B-CD4B-4E8B98534FDC}"/>
              </a:ext>
            </a:extLst>
          </p:cNvPr>
          <p:cNvSpPr txBox="1"/>
          <p:nvPr/>
        </p:nvSpPr>
        <p:spPr>
          <a:xfrm>
            <a:off x="0" y="584775"/>
            <a:ext cx="12192000" cy="5193281"/>
          </a:xfrm>
          <a:prstGeom prst="rect">
            <a:avLst/>
          </a:prstGeom>
          <a:noFill/>
        </p:spPr>
        <p:txBody>
          <a:bodyPr wrap="square">
            <a:spAutoFit/>
          </a:bodyPr>
          <a:lstStyle/>
          <a:p>
            <a:pPr>
              <a:lnSpc>
                <a:spcPct val="150000"/>
              </a:lnSpc>
            </a:pPr>
            <a:r>
              <a:rPr lang="en-US" sz="2800" b="1" dirty="0">
                <a:latin typeface="Calibir"/>
              </a:rPr>
              <a:t>Question 24</a:t>
            </a:r>
          </a:p>
          <a:p>
            <a:pPr>
              <a:lnSpc>
                <a:spcPct val="150000"/>
              </a:lnSpc>
            </a:pPr>
            <a:r>
              <a:rPr lang="en-US" sz="2800" b="1" dirty="0">
                <a:latin typeface="Calibir"/>
              </a:rPr>
              <a:t>Listing exclusions in the project plan will help reduce the potential for scope ____, which is the expansion of a project beyond the original goals and objectives.</a:t>
            </a:r>
            <a:endParaRPr lang="en-US" sz="2800" dirty="0">
              <a:latin typeface="Calibir"/>
            </a:endParaRPr>
          </a:p>
          <a:p>
            <a:pPr>
              <a:lnSpc>
                <a:spcPct val="150000"/>
              </a:lnSpc>
            </a:pPr>
            <a:r>
              <a:rPr lang="en-US" sz="2800" dirty="0">
                <a:latin typeface="Calibir"/>
              </a:rPr>
              <a:t>A. crawl</a:t>
            </a:r>
            <a:br>
              <a:rPr lang="en-US" sz="2800" dirty="0">
                <a:latin typeface="Calibir"/>
              </a:rPr>
            </a:br>
            <a:r>
              <a:rPr lang="en-US" sz="2800" dirty="0">
                <a:latin typeface="Calibir"/>
              </a:rPr>
              <a:t>B. sneak</a:t>
            </a:r>
            <a:br>
              <a:rPr lang="en-US" sz="2800" dirty="0">
                <a:latin typeface="Calibir"/>
              </a:rPr>
            </a:br>
            <a:r>
              <a:rPr lang="en-US" sz="2800" dirty="0">
                <a:latin typeface="Calibir"/>
              </a:rPr>
              <a:t>C. slither</a:t>
            </a:r>
            <a:br>
              <a:rPr lang="en-US" sz="2800" dirty="0">
                <a:latin typeface="Calibir"/>
              </a:rPr>
            </a:br>
            <a:r>
              <a:rPr lang="en-US" sz="2800" dirty="0">
                <a:latin typeface="Calibir"/>
              </a:rPr>
              <a:t>D. creep </a:t>
            </a:r>
          </a:p>
        </p:txBody>
      </p:sp>
      <p:sp>
        <p:nvSpPr>
          <p:cNvPr id="7" name="Rectangle: Rounded Corners 6">
            <a:extLst>
              <a:ext uri="{FF2B5EF4-FFF2-40B4-BE49-F238E27FC236}">
                <a16:creationId xmlns:a16="http://schemas.microsoft.com/office/drawing/2014/main" id="{62A3E8B2-B4A2-59B2-3F1C-E7C47C74EEB0}"/>
              </a:ext>
            </a:extLst>
          </p:cNvPr>
          <p:cNvSpPr/>
          <p:nvPr/>
        </p:nvSpPr>
        <p:spPr>
          <a:xfrm>
            <a:off x="0" y="5095310"/>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8A4BD6-892B-B684-B94E-F90D23F0702D}"/>
              </a:ext>
            </a:extLst>
          </p:cNvPr>
          <p:cNvSpPr txBox="1"/>
          <p:nvPr/>
        </p:nvSpPr>
        <p:spPr>
          <a:xfrm>
            <a:off x="2486722" y="2955073"/>
            <a:ext cx="8920976" cy="1964512"/>
          </a:xfrm>
          <a:prstGeom prst="rect">
            <a:avLst/>
          </a:prstGeom>
          <a:noFill/>
          <a:ln>
            <a:solidFill>
              <a:srgbClr val="FF0000"/>
            </a:solidFill>
          </a:ln>
        </p:spPr>
        <p:txBody>
          <a:bodyPr wrap="square">
            <a:spAutoFit/>
          </a:bodyPr>
          <a:lstStyle/>
          <a:p>
            <a:pPr>
              <a:lnSpc>
                <a:spcPct val="150000"/>
              </a:lnSpc>
            </a:pPr>
            <a:r>
              <a:rPr lang="en-US" sz="2800" dirty="0">
                <a:latin typeface="Calibir"/>
              </a:rPr>
              <a:t>Scope creep happens when extra tasks or features are added beyond the original project plan, making the project bigger and harder to manage.</a:t>
            </a:r>
          </a:p>
        </p:txBody>
      </p:sp>
    </p:spTree>
    <p:extLst>
      <p:ext uri="{BB962C8B-B14F-4D97-AF65-F5344CB8AC3E}">
        <p14:creationId xmlns:p14="http://schemas.microsoft.com/office/powerpoint/2010/main" val="409540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2B773-07AB-4474-0B04-7FDDD126DF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1ED899-E43C-4698-398C-4ACE1839240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5F9207BD-B1F7-9FAB-38BE-E7C8F2CB74EA}"/>
              </a:ext>
            </a:extLst>
          </p:cNvPr>
          <p:cNvSpPr txBox="1"/>
          <p:nvPr/>
        </p:nvSpPr>
        <p:spPr>
          <a:xfrm>
            <a:off x="0" y="584775"/>
            <a:ext cx="12192000" cy="4549835"/>
          </a:xfrm>
          <a:prstGeom prst="rect">
            <a:avLst/>
          </a:prstGeom>
          <a:noFill/>
        </p:spPr>
        <p:txBody>
          <a:bodyPr wrap="square">
            <a:spAutoFit/>
          </a:bodyPr>
          <a:lstStyle/>
          <a:p>
            <a:pPr>
              <a:lnSpc>
                <a:spcPct val="150000"/>
              </a:lnSpc>
            </a:pPr>
            <a:r>
              <a:rPr lang="en-US" sz="2800" b="1" dirty="0">
                <a:latin typeface="Calibir"/>
              </a:rPr>
              <a:t>Question 25</a:t>
            </a:r>
          </a:p>
          <a:p>
            <a:pPr>
              <a:lnSpc>
                <a:spcPct val="150000"/>
              </a:lnSpc>
            </a:pPr>
            <a:r>
              <a:rPr lang="en-US" sz="2800" b="1" dirty="0">
                <a:latin typeface="Calibir"/>
              </a:rPr>
              <a:t>Which of the following is NOT a potential question to ask about the target audience?</a:t>
            </a:r>
            <a:endParaRPr lang="en-US" sz="2800" dirty="0">
              <a:latin typeface="Calibir"/>
            </a:endParaRPr>
          </a:p>
          <a:p>
            <a:pPr>
              <a:lnSpc>
                <a:spcPct val="150000"/>
              </a:lnSpc>
            </a:pPr>
            <a:r>
              <a:rPr lang="en-US" sz="2800" dirty="0">
                <a:latin typeface="Calibir"/>
              </a:rPr>
              <a:t>A. What is the average education level?</a:t>
            </a:r>
            <a:br>
              <a:rPr lang="en-US" sz="2800" dirty="0">
                <a:latin typeface="Calibir"/>
              </a:rPr>
            </a:br>
            <a:r>
              <a:rPr lang="en-US" sz="2800" dirty="0">
                <a:latin typeface="Calibir"/>
              </a:rPr>
              <a:t>B. What is the mix of genders?</a:t>
            </a:r>
            <a:br>
              <a:rPr lang="en-US" sz="2800" dirty="0">
                <a:latin typeface="Calibir"/>
              </a:rPr>
            </a:br>
            <a:r>
              <a:rPr lang="en-US" sz="2800" dirty="0">
                <a:latin typeface="Calibir"/>
              </a:rPr>
              <a:t>C. Why will people visit the website?</a:t>
            </a:r>
            <a:br>
              <a:rPr lang="en-US" sz="2800" dirty="0">
                <a:latin typeface="Calibir"/>
              </a:rPr>
            </a:br>
            <a:r>
              <a:rPr lang="en-US" sz="2800" dirty="0">
                <a:latin typeface="Calibir"/>
              </a:rPr>
              <a:t>D. What are the short-term goals of the website?</a:t>
            </a:r>
          </a:p>
        </p:txBody>
      </p:sp>
      <p:sp>
        <p:nvSpPr>
          <p:cNvPr id="7" name="Rectangle: Rounded Corners 6">
            <a:extLst>
              <a:ext uri="{FF2B5EF4-FFF2-40B4-BE49-F238E27FC236}">
                <a16:creationId xmlns:a16="http://schemas.microsoft.com/office/drawing/2014/main" id="{E351C490-97D2-12B4-9C04-CB94D1134A05}"/>
              </a:ext>
            </a:extLst>
          </p:cNvPr>
          <p:cNvSpPr/>
          <p:nvPr/>
        </p:nvSpPr>
        <p:spPr>
          <a:xfrm>
            <a:off x="-11151" y="4515447"/>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1A7DB4F-1A2D-FDCC-E7EA-69ADDF8B48A4}"/>
              </a:ext>
            </a:extLst>
          </p:cNvPr>
          <p:cNvSpPr txBox="1"/>
          <p:nvPr/>
        </p:nvSpPr>
        <p:spPr>
          <a:xfrm>
            <a:off x="27878" y="5374888"/>
            <a:ext cx="8920976" cy="1321772"/>
          </a:xfrm>
          <a:prstGeom prst="rect">
            <a:avLst/>
          </a:prstGeom>
          <a:noFill/>
          <a:ln>
            <a:solidFill>
              <a:srgbClr val="FF0000"/>
            </a:solidFill>
          </a:ln>
        </p:spPr>
        <p:txBody>
          <a:bodyPr wrap="square">
            <a:spAutoFit/>
          </a:bodyPr>
          <a:lstStyle/>
          <a:p>
            <a:pPr>
              <a:lnSpc>
                <a:spcPct val="150000"/>
              </a:lnSpc>
            </a:pPr>
            <a:r>
              <a:rPr lang="en-US" sz="2800" dirty="0">
                <a:latin typeface="Calibir"/>
              </a:rPr>
              <a:t>This question is about the website project itself, not about the target audience using the website.</a:t>
            </a:r>
          </a:p>
        </p:txBody>
      </p:sp>
    </p:spTree>
    <p:extLst>
      <p:ext uri="{BB962C8B-B14F-4D97-AF65-F5344CB8AC3E}">
        <p14:creationId xmlns:p14="http://schemas.microsoft.com/office/powerpoint/2010/main" val="138565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95E95-05E4-61CC-2E93-5068F430B2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F671AF-5F47-9DF0-6F60-37359E81DEA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7B3F02CB-56F6-351A-6CFD-C3E3D6A5A632}"/>
              </a:ext>
            </a:extLst>
          </p:cNvPr>
          <p:cNvSpPr txBox="1"/>
          <p:nvPr/>
        </p:nvSpPr>
        <p:spPr>
          <a:xfrm>
            <a:off x="0" y="584775"/>
            <a:ext cx="12192000" cy="5193281"/>
          </a:xfrm>
          <a:prstGeom prst="rect">
            <a:avLst/>
          </a:prstGeom>
          <a:noFill/>
        </p:spPr>
        <p:txBody>
          <a:bodyPr wrap="square">
            <a:spAutoFit/>
          </a:bodyPr>
          <a:lstStyle/>
          <a:p>
            <a:pPr>
              <a:lnSpc>
                <a:spcPct val="150000"/>
              </a:lnSpc>
            </a:pPr>
            <a:r>
              <a:rPr lang="en-US" sz="2800" b="1" dirty="0">
                <a:latin typeface="Calibir"/>
              </a:rPr>
              <a:t>Question 26</a:t>
            </a:r>
          </a:p>
          <a:p>
            <a:pPr>
              <a:lnSpc>
                <a:spcPct val="150000"/>
              </a:lnSpc>
            </a:pPr>
            <a:r>
              <a:rPr lang="en-US" sz="2800" b="1" dirty="0">
                <a:latin typeface="Calibir"/>
              </a:rPr>
              <a:t>You should always provide the website owner with a ____ that includes the delivery date of the final website, implementation milestones along the way, and who is responsible for which tasks.</a:t>
            </a:r>
            <a:endParaRPr lang="en-US" sz="2800" dirty="0">
              <a:latin typeface="Calibir"/>
            </a:endParaRPr>
          </a:p>
          <a:p>
            <a:pPr>
              <a:lnSpc>
                <a:spcPct val="150000"/>
              </a:lnSpc>
            </a:pPr>
            <a:r>
              <a:rPr lang="en-US" sz="2800" dirty="0">
                <a:latin typeface="Calibir"/>
              </a:rPr>
              <a:t>A. budget</a:t>
            </a:r>
            <a:br>
              <a:rPr lang="en-US" sz="2800" dirty="0">
                <a:latin typeface="Calibir"/>
              </a:rPr>
            </a:br>
            <a:r>
              <a:rPr lang="en-US" sz="2800" dirty="0">
                <a:latin typeface="Calibir"/>
              </a:rPr>
              <a:t>B. storyboard</a:t>
            </a:r>
            <a:br>
              <a:rPr lang="en-US" sz="2800" dirty="0">
                <a:latin typeface="Calibir"/>
              </a:rPr>
            </a:br>
            <a:r>
              <a:rPr lang="en-US" sz="2800" dirty="0">
                <a:latin typeface="Calibir"/>
              </a:rPr>
              <a:t>C. accessibility document</a:t>
            </a:r>
            <a:br>
              <a:rPr lang="en-US" sz="2800" dirty="0">
                <a:latin typeface="Calibir"/>
              </a:rPr>
            </a:br>
            <a:r>
              <a:rPr lang="en-US" sz="2800" dirty="0">
                <a:latin typeface="Calibir"/>
              </a:rPr>
              <a:t>D. timeline</a:t>
            </a:r>
          </a:p>
        </p:txBody>
      </p:sp>
      <p:sp>
        <p:nvSpPr>
          <p:cNvPr id="7" name="Rectangle: Rounded Corners 6">
            <a:extLst>
              <a:ext uri="{FF2B5EF4-FFF2-40B4-BE49-F238E27FC236}">
                <a16:creationId xmlns:a16="http://schemas.microsoft.com/office/drawing/2014/main" id="{D3F55273-DAD9-97D5-B9EF-3AA3A2DC5877}"/>
              </a:ext>
            </a:extLst>
          </p:cNvPr>
          <p:cNvSpPr/>
          <p:nvPr/>
        </p:nvSpPr>
        <p:spPr>
          <a:xfrm>
            <a:off x="0" y="5086079"/>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D6FFD73-C77F-A591-09D9-CDC88C46B6CB}"/>
              </a:ext>
            </a:extLst>
          </p:cNvPr>
          <p:cNvSpPr txBox="1"/>
          <p:nvPr/>
        </p:nvSpPr>
        <p:spPr>
          <a:xfrm>
            <a:off x="4153829" y="3181415"/>
            <a:ext cx="8038171" cy="1321772"/>
          </a:xfrm>
          <a:prstGeom prst="rect">
            <a:avLst/>
          </a:prstGeom>
          <a:noFill/>
          <a:ln>
            <a:solidFill>
              <a:srgbClr val="FF0000"/>
            </a:solidFill>
          </a:ln>
        </p:spPr>
        <p:txBody>
          <a:bodyPr wrap="square">
            <a:spAutoFit/>
          </a:bodyPr>
          <a:lstStyle/>
          <a:p>
            <a:pPr>
              <a:lnSpc>
                <a:spcPct val="150000"/>
              </a:lnSpc>
            </a:pPr>
            <a:r>
              <a:rPr lang="en-US" sz="2800" dirty="0">
                <a:latin typeface="Calibir"/>
              </a:rPr>
              <a:t>A timeline helps organize the project schedule, deadlines, milestones, and responsibilities.</a:t>
            </a:r>
          </a:p>
        </p:txBody>
      </p:sp>
    </p:spTree>
    <p:extLst>
      <p:ext uri="{BB962C8B-B14F-4D97-AF65-F5344CB8AC3E}">
        <p14:creationId xmlns:p14="http://schemas.microsoft.com/office/powerpoint/2010/main" val="3417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A4307-488A-70CC-B011-4D35D62DD6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963408-E9A2-E515-5470-F93E9E1E23FD}"/>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41CD4D56-80F3-DCB5-8B41-EE6B6BDD229C}"/>
              </a:ext>
            </a:extLst>
          </p:cNvPr>
          <p:cNvSpPr txBox="1"/>
          <p:nvPr/>
        </p:nvSpPr>
        <p:spPr>
          <a:xfrm>
            <a:off x="0" y="584775"/>
            <a:ext cx="12192000" cy="4549835"/>
          </a:xfrm>
          <a:prstGeom prst="rect">
            <a:avLst/>
          </a:prstGeom>
          <a:noFill/>
        </p:spPr>
        <p:txBody>
          <a:bodyPr wrap="square">
            <a:spAutoFit/>
          </a:bodyPr>
          <a:lstStyle/>
          <a:p>
            <a:pPr>
              <a:lnSpc>
                <a:spcPct val="150000"/>
              </a:lnSpc>
            </a:pPr>
            <a:r>
              <a:rPr lang="en-US" sz="2800" b="1" dirty="0">
                <a:latin typeface="Calibir"/>
              </a:rPr>
              <a:t>Question 27</a:t>
            </a:r>
          </a:p>
          <a:p>
            <a:pPr>
              <a:lnSpc>
                <a:spcPct val="150000"/>
              </a:lnSpc>
            </a:pPr>
            <a:r>
              <a:rPr lang="en-US" sz="2800" b="1" dirty="0">
                <a:latin typeface="Calibir"/>
              </a:rPr>
              <a:t>Most multipage websites need a standardized ____ section that provides links to each of the pages.</a:t>
            </a:r>
            <a:endParaRPr lang="en-US" sz="2800" dirty="0">
              <a:latin typeface="Calibir"/>
            </a:endParaRPr>
          </a:p>
          <a:p>
            <a:pPr>
              <a:lnSpc>
                <a:spcPct val="150000"/>
              </a:lnSpc>
            </a:pPr>
            <a:r>
              <a:rPr lang="en-US" sz="2800" dirty="0">
                <a:latin typeface="Calibir"/>
              </a:rPr>
              <a:t>A. header</a:t>
            </a:r>
            <a:br>
              <a:rPr lang="en-US" sz="2800" dirty="0">
                <a:latin typeface="Calibir"/>
              </a:rPr>
            </a:br>
            <a:r>
              <a:rPr lang="en-US" sz="2800" dirty="0">
                <a:latin typeface="Calibir"/>
              </a:rPr>
              <a:t>B. navigation</a:t>
            </a:r>
            <a:br>
              <a:rPr lang="en-US" sz="2800" dirty="0">
                <a:latin typeface="Calibir"/>
              </a:rPr>
            </a:br>
            <a:r>
              <a:rPr lang="en-US" sz="2800" dirty="0">
                <a:latin typeface="Calibir"/>
              </a:rPr>
              <a:t>C. sidebar</a:t>
            </a:r>
            <a:br>
              <a:rPr lang="en-US" sz="2800" dirty="0">
                <a:latin typeface="Calibir"/>
              </a:rPr>
            </a:br>
            <a:r>
              <a:rPr lang="en-US" sz="2800" dirty="0">
                <a:latin typeface="Calibir"/>
              </a:rPr>
              <a:t>D. footer</a:t>
            </a:r>
          </a:p>
        </p:txBody>
      </p:sp>
      <p:sp>
        <p:nvSpPr>
          <p:cNvPr id="7" name="Rectangle: Rounded Corners 6">
            <a:extLst>
              <a:ext uri="{FF2B5EF4-FFF2-40B4-BE49-F238E27FC236}">
                <a16:creationId xmlns:a16="http://schemas.microsoft.com/office/drawing/2014/main" id="{F75AD16C-83FF-A895-17EB-8A027B8852EE}"/>
              </a:ext>
            </a:extLst>
          </p:cNvPr>
          <p:cNvSpPr/>
          <p:nvPr/>
        </p:nvSpPr>
        <p:spPr>
          <a:xfrm>
            <a:off x="0" y="3194291"/>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8FFF02A-04CF-4373-4C8B-800513DAB916}"/>
              </a:ext>
            </a:extLst>
          </p:cNvPr>
          <p:cNvSpPr txBox="1"/>
          <p:nvPr/>
        </p:nvSpPr>
        <p:spPr>
          <a:xfrm>
            <a:off x="0" y="5177603"/>
            <a:ext cx="12192000" cy="1318181"/>
          </a:xfrm>
          <a:prstGeom prst="rect">
            <a:avLst/>
          </a:prstGeom>
          <a:noFill/>
          <a:ln>
            <a:solidFill>
              <a:srgbClr val="FF0000"/>
            </a:solidFill>
          </a:ln>
        </p:spPr>
        <p:txBody>
          <a:bodyPr wrap="square">
            <a:spAutoFit/>
          </a:bodyPr>
          <a:lstStyle/>
          <a:p>
            <a:pPr>
              <a:lnSpc>
                <a:spcPct val="150000"/>
              </a:lnSpc>
            </a:pPr>
            <a:r>
              <a:rPr lang="en-US" sz="2800" dirty="0">
                <a:latin typeface="Calibir"/>
              </a:rPr>
              <a:t>The navigation section contains links that help users move between different pages of the website easily.</a:t>
            </a:r>
          </a:p>
        </p:txBody>
      </p:sp>
    </p:spTree>
    <p:extLst>
      <p:ext uri="{BB962C8B-B14F-4D97-AF65-F5344CB8AC3E}">
        <p14:creationId xmlns:p14="http://schemas.microsoft.com/office/powerpoint/2010/main" val="334827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EF719-C161-4110-085C-28364FF86C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BB1634-9969-864C-B4B7-0FD63A115278}"/>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3F1B4621-CD12-CFDD-C2A2-F13EF486637C}"/>
              </a:ext>
            </a:extLst>
          </p:cNvPr>
          <p:cNvSpPr txBox="1"/>
          <p:nvPr/>
        </p:nvSpPr>
        <p:spPr>
          <a:xfrm>
            <a:off x="0" y="584775"/>
            <a:ext cx="12192000" cy="4549835"/>
          </a:xfrm>
          <a:prstGeom prst="rect">
            <a:avLst/>
          </a:prstGeom>
          <a:noFill/>
        </p:spPr>
        <p:txBody>
          <a:bodyPr wrap="square">
            <a:spAutoFit/>
          </a:bodyPr>
          <a:lstStyle/>
          <a:p>
            <a:pPr>
              <a:lnSpc>
                <a:spcPct val="150000"/>
              </a:lnSpc>
            </a:pPr>
            <a:r>
              <a:rPr lang="en-US" sz="2800" b="1" dirty="0">
                <a:latin typeface="Calibir"/>
              </a:rPr>
              <a:t>Question 28</a:t>
            </a:r>
          </a:p>
          <a:p>
            <a:pPr>
              <a:lnSpc>
                <a:spcPct val="150000"/>
              </a:lnSpc>
            </a:pPr>
            <a:r>
              <a:rPr lang="en-US" sz="2800" b="1" dirty="0">
                <a:latin typeface="Calibir"/>
              </a:rPr>
              <a:t>Placing the elements in a website layout that’s functional, usable, and, ideally, aesthetically pleasing is often the job of a _____.</a:t>
            </a:r>
            <a:endParaRPr lang="en-US" sz="2800" dirty="0">
              <a:latin typeface="Calibir"/>
            </a:endParaRPr>
          </a:p>
          <a:p>
            <a:pPr>
              <a:lnSpc>
                <a:spcPct val="150000"/>
              </a:lnSpc>
            </a:pPr>
            <a:r>
              <a:rPr lang="en-US" sz="2800" dirty="0">
                <a:latin typeface="Calibir"/>
              </a:rPr>
              <a:t>A. software engineer</a:t>
            </a:r>
            <a:br>
              <a:rPr lang="en-US" sz="2800" dirty="0">
                <a:latin typeface="Calibir"/>
              </a:rPr>
            </a:br>
            <a:r>
              <a:rPr lang="en-US" sz="2800" dirty="0">
                <a:latin typeface="Calibir"/>
              </a:rPr>
              <a:t>B. graphic engineer</a:t>
            </a:r>
            <a:br>
              <a:rPr lang="en-US" sz="2800" dirty="0">
                <a:latin typeface="Calibir"/>
              </a:rPr>
            </a:br>
            <a:r>
              <a:rPr lang="en-US" sz="2800" dirty="0">
                <a:latin typeface="Calibir"/>
              </a:rPr>
              <a:t>C. software designer</a:t>
            </a:r>
            <a:br>
              <a:rPr lang="en-US" sz="2800" dirty="0">
                <a:latin typeface="Calibir"/>
              </a:rPr>
            </a:br>
            <a:r>
              <a:rPr lang="en-US" sz="2800" dirty="0">
                <a:latin typeface="Calibir"/>
              </a:rPr>
              <a:t>D. graphic designer </a:t>
            </a:r>
          </a:p>
        </p:txBody>
      </p:sp>
      <p:sp>
        <p:nvSpPr>
          <p:cNvPr id="7" name="Rectangle: Rounded Corners 6">
            <a:extLst>
              <a:ext uri="{FF2B5EF4-FFF2-40B4-BE49-F238E27FC236}">
                <a16:creationId xmlns:a16="http://schemas.microsoft.com/office/drawing/2014/main" id="{89333F40-1D6C-4B0A-0FE4-933A14EA9734}"/>
              </a:ext>
            </a:extLst>
          </p:cNvPr>
          <p:cNvSpPr/>
          <p:nvPr/>
        </p:nvSpPr>
        <p:spPr>
          <a:xfrm>
            <a:off x="0" y="4485626"/>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815E3D-8434-AAB8-A092-DFFC35AF4E7F}"/>
              </a:ext>
            </a:extLst>
          </p:cNvPr>
          <p:cNvSpPr txBox="1"/>
          <p:nvPr/>
        </p:nvSpPr>
        <p:spPr>
          <a:xfrm>
            <a:off x="0" y="5378325"/>
            <a:ext cx="12192000" cy="1321772"/>
          </a:xfrm>
          <a:prstGeom prst="rect">
            <a:avLst/>
          </a:prstGeom>
          <a:noFill/>
          <a:ln>
            <a:solidFill>
              <a:srgbClr val="FF0000"/>
            </a:solidFill>
          </a:ln>
        </p:spPr>
        <p:txBody>
          <a:bodyPr wrap="square">
            <a:spAutoFit/>
          </a:bodyPr>
          <a:lstStyle/>
          <a:p>
            <a:pPr>
              <a:lnSpc>
                <a:spcPct val="150000"/>
              </a:lnSpc>
            </a:pPr>
            <a:r>
              <a:rPr lang="en-US" sz="2800" dirty="0">
                <a:latin typeface="Calibir"/>
              </a:rPr>
              <a:t>A graphic designer focuses on creating website layouts that look attractive and are easy for users to understand and use.</a:t>
            </a:r>
          </a:p>
        </p:txBody>
      </p:sp>
    </p:spTree>
    <p:extLst>
      <p:ext uri="{BB962C8B-B14F-4D97-AF65-F5344CB8AC3E}">
        <p14:creationId xmlns:p14="http://schemas.microsoft.com/office/powerpoint/2010/main" val="292263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8BA99-B09C-37C6-8087-56AAF2925D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2FC8EE-9A6B-18B0-EAA6-4C3C2ECB86B1}"/>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E250CFA7-3177-CF15-4CBE-401BDE4D9FD2}"/>
              </a:ext>
            </a:extLst>
          </p:cNvPr>
          <p:cNvSpPr txBox="1"/>
          <p:nvPr/>
        </p:nvSpPr>
        <p:spPr>
          <a:xfrm>
            <a:off x="0" y="584775"/>
            <a:ext cx="12192000" cy="5196166"/>
          </a:xfrm>
          <a:prstGeom prst="rect">
            <a:avLst/>
          </a:prstGeom>
          <a:noFill/>
        </p:spPr>
        <p:txBody>
          <a:bodyPr wrap="square">
            <a:spAutoFit/>
          </a:bodyPr>
          <a:lstStyle/>
          <a:p>
            <a:pPr>
              <a:lnSpc>
                <a:spcPct val="150000"/>
              </a:lnSpc>
            </a:pPr>
            <a:r>
              <a:rPr lang="en-US" sz="2800" b="1" dirty="0">
                <a:latin typeface="Calibir"/>
              </a:rPr>
              <a:t>Question 29</a:t>
            </a:r>
          </a:p>
          <a:p>
            <a:pPr>
              <a:lnSpc>
                <a:spcPct val="150000"/>
              </a:lnSpc>
            </a:pPr>
            <a:r>
              <a:rPr lang="en-US" sz="2800" b="1" dirty="0">
                <a:latin typeface="Calibir"/>
              </a:rPr>
              <a:t>Any time you're creating a website or a single web page with links to other websites, it's helpful to map out the ____ between pages.</a:t>
            </a:r>
            <a:endParaRPr lang="en-US" sz="2800" dirty="0">
              <a:latin typeface="Calibir"/>
            </a:endParaRPr>
          </a:p>
          <a:p>
            <a:pPr>
              <a:lnSpc>
                <a:spcPct val="150000"/>
              </a:lnSpc>
            </a:pPr>
            <a:r>
              <a:rPr lang="en-US" sz="2800" dirty="0">
                <a:latin typeface="Calibir"/>
              </a:rPr>
              <a:t>A. security links</a:t>
            </a:r>
            <a:br>
              <a:rPr lang="en-US" sz="2800" dirty="0">
                <a:latin typeface="Calibir"/>
              </a:rPr>
            </a:br>
            <a:r>
              <a:rPr lang="en-US" sz="2800" dirty="0">
                <a:latin typeface="Calibir"/>
              </a:rPr>
              <a:t>B. title tags</a:t>
            </a:r>
            <a:br>
              <a:rPr lang="en-US" sz="2800" dirty="0">
                <a:latin typeface="Calibir"/>
              </a:rPr>
            </a:br>
            <a:r>
              <a:rPr lang="en-US" sz="2800" dirty="0">
                <a:latin typeface="Calibir"/>
              </a:rPr>
              <a:t>C. relationships </a:t>
            </a:r>
            <a:br>
              <a:rPr lang="en-US" sz="2800" dirty="0">
                <a:latin typeface="Calibir"/>
              </a:rPr>
            </a:br>
            <a:r>
              <a:rPr lang="en-US" sz="2800" dirty="0">
                <a:latin typeface="Calibir"/>
              </a:rPr>
              <a:t>D. keyboard shortcuts</a:t>
            </a:r>
            <a:br>
              <a:rPr lang="en-US" sz="2800" dirty="0">
                <a:latin typeface="Calibir"/>
              </a:rPr>
            </a:br>
            <a:endParaRPr lang="en-US" sz="2800" dirty="0">
              <a:latin typeface="Calibir"/>
            </a:endParaRPr>
          </a:p>
        </p:txBody>
      </p:sp>
      <p:sp>
        <p:nvSpPr>
          <p:cNvPr id="7" name="Rectangle: Rounded Corners 6">
            <a:extLst>
              <a:ext uri="{FF2B5EF4-FFF2-40B4-BE49-F238E27FC236}">
                <a16:creationId xmlns:a16="http://schemas.microsoft.com/office/drawing/2014/main" id="{6DB1E2E5-3EEB-DC0E-0A0A-1BFAFF780476}"/>
              </a:ext>
            </a:extLst>
          </p:cNvPr>
          <p:cNvSpPr/>
          <p:nvPr/>
        </p:nvSpPr>
        <p:spPr>
          <a:xfrm>
            <a:off x="0" y="3894612"/>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72C5562-01CB-1594-77FD-4F3E25546751}"/>
              </a:ext>
            </a:extLst>
          </p:cNvPr>
          <p:cNvSpPr txBox="1"/>
          <p:nvPr/>
        </p:nvSpPr>
        <p:spPr>
          <a:xfrm>
            <a:off x="0" y="5378325"/>
            <a:ext cx="12192000" cy="1321772"/>
          </a:xfrm>
          <a:prstGeom prst="rect">
            <a:avLst/>
          </a:prstGeom>
          <a:noFill/>
          <a:ln>
            <a:solidFill>
              <a:srgbClr val="FF0000"/>
            </a:solidFill>
          </a:ln>
        </p:spPr>
        <p:txBody>
          <a:bodyPr wrap="square">
            <a:spAutoFit/>
          </a:bodyPr>
          <a:lstStyle/>
          <a:p>
            <a:pPr>
              <a:lnSpc>
                <a:spcPct val="150000"/>
              </a:lnSpc>
            </a:pPr>
            <a:r>
              <a:rPr lang="en-US" sz="2800" dirty="0">
                <a:latin typeface="Calibir"/>
              </a:rPr>
              <a:t>Mapping relationships between pages helps organize navigation and shows how pages connect to each other.</a:t>
            </a:r>
          </a:p>
        </p:txBody>
      </p:sp>
    </p:spTree>
    <p:extLst>
      <p:ext uri="{BB962C8B-B14F-4D97-AF65-F5344CB8AC3E}">
        <p14:creationId xmlns:p14="http://schemas.microsoft.com/office/powerpoint/2010/main" val="328805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00489-3B47-3DF3-5CCC-B03E60A6A1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47A13C-D26C-035F-4AD4-9CFA1299F25E}"/>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02F84360-C554-716E-5223-8E2AFB9A30F3}"/>
              </a:ext>
            </a:extLst>
          </p:cNvPr>
          <p:cNvSpPr txBox="1"/>
          <p:nvPr/>
        </p:nvSpPr>
        <p:spPr>
          <a:xfrm>
            <a:off x="0" y="584775"/>
            <a:ext cx="12192000" cy="5199757"/>
          </a:xfrm>
          <a:prstGeom prst="rect">
            <a:avLst/>
          </a:prstGeom>
          <a:noFill/>
        </p:spPr>
        <p:txBody>
          <a:bodyPr wrap="square">
            <a:spAutoFit/>
          </a:bodyPr>
          <a:lstStyle/>
          <a:p>
            <a:pPr>
              <a:lnSpc>
                <a:spcPct val="150000"/>
              </a:lnSpc>
            </a:pPr>
            <a:r>
              <a:rPr lang="en-US" sz="2800" b="1" dirty="0">
                <a:latin typeface="Calibir"/>
              </a:rPr>
              <a:t>Question 30</a:t>
            </a:r>
          </a:p>
          <a:p>
            <a:pPr>
              <a:lnSpc>
                <a:spcPct val="150000"/>
              </a:lnSpc>
            </a:pPr>
            <a:r>
              <a:rPr lang="en-US" sz="2800" b="1" dirty="0">
                <a:latin typeface="Calibir"/>
              </a:rPr>
              <a:t>To make your site available to anyone with access to the web, you need to copy the files to a web ____, which is a computer optimized to store and share web documents and that has an extremely high-speed Internet connection.</a:t>
            </a:r>
          </a:p>
          <a:p>
            <a:pPr>
              <a:lnSpc>
                <a:spcPct val="150000"/>
              </a:lnSpc>
            </a:pPr>
            <a:r>
              <a:rPr lang="en-US" sz="2800" dirty="0">
                <a:latin typeface="Calibir"/>
              </a:rPr>
              <a:t>A. browser</a:t>
            </a:r>
            <a:br>
              <a:rPr lang="en-US" sz="2800" dirty="0">
                <a:latin typeface="Calibir"/>
              </a:rPr>
            </a:br>
            <a:r>
              <a:rPr lang="en-US" sz="2800" dirty="0">
                <a:latin typeface="Calibir"/>
              </a:rPr>
              <a:t>B. server</a:t>
            </a:r>
            <a:br>
              <a:rPr lang="en-US" sz="2800" dirty="0">
                <a:latin typeface="Calibir"/>
              </a:rPr>
            </a:br>
            <a:r>
              <a:rPr lang="en-US" sz="2800" dirty="0">
                <a:latin typeface="Calibir"/>
              </a:rPr>
              <a:t>C. editor</a:t>
            </a:r>
            <a:br>
              <a:rPr lang="en-US" sz="2800" dirty="0">
                <a:latin typeface="Calibir"/>
              </a:rPr>
            </a:br>
            <a:r>
              <a:rPr lang="en-US" sz="2800" dirty="0">
                <a:latin typeface="Calibir"/>
              </a:rPr>
              <a:t>D. network</a:t>
            </a:r>
          </a:p>
        </p:txBody>
      </p:sp>
      <p:sp>
        <p:nvSpPr>
          <p:cNvPr id="7" name="Rectangle: Rounded Corners 6">
            <a:extLst>
              <a:ext uri="{FF2B5EF4-FFF2-40B4-BE49-F238E27FC236}">
                <a16:creationId xmlns:a16="http://schemas.microsoft.com/office/drawing/2014/main" id="{B76AF0EF-A8F2-EADC-778F-5F8D1A971F39}"/>
              </a:ext>
            </a:extLst>
          </p:cNvPr>
          <p:cNvSpPr/>
          <p:nvPr/>
        </p:nvSpPr>
        <p:spPr>
          <a:xfrm>
            <a:off x="0" y="3894612"/>
            <a:ext cx="10805532"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ECC12C-2B7F-D05B-CC3A-EBBC568B1AFA}"/>
              </a:ext>
            </a:extLst>
          </p:cNvPr>
          <p:cNvSpPr txBox="1"/>
          <p:nvPr/>
        </p:nvSpPr>
        <p:spPr>
          <a:xfrm>
            <a:off x="3334214" y="4906537"/>
            <a:ext cx="8857785" cy="1318181"/>
          </a:xfrm>
          <a:prstGeom prst="rect">
            <a:avLst/>
          </a:prstGeom>
          <a:noFill/>
          <a:ln>
            <a:solidFill>
              <a:srgbClr val="FF0000"/>
            </a:solidFill>
          </a:ln>
        </p:spPr>
        <p:txBody>
          <a:bodyPr wrap="square">
            <a:spAutoFit/>
          </a:bodyPr>
          <a:lstStyle/>
          <a:p>
            <a:pPr>
              <a:lnSpc>
                <a:spcPct val="150000"/>
              </a:lnSpc>
            </a:pPr>
            <a:r>
              <a:rPr lang="en-US" sz="2800" dirty="0">
                <a:latin typeface="Calibir"/>
              </a:rPr>
              <a:t>A web server stores website files and makes them available online for people to access through the internet.</a:t>
            </a:r>
          </a:p>
        </p:txBody>
      </p:sp>
    </p:spTree>
    <p:extLst>
      <p:ext uri="{BB962C8B-B14F-4D97-AF65-F5344CB8AC3E}">
        <p14:creationId xmlns:p14="http://schemas.microsoft.com/office/powerpoint/2010/main" val="21499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E1745-9AD2-3948-6FD3-37EE80324E21}"/>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5ACCC89-C571-54E7-0C9D-725ED4490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9862"/>
            <a:ext cx="4761571" cy="6248868"/>
          </a:xfrm>
          <a:prstGeom prst="rect">
            <a:avLst/>
          </a:prstGeom>
        </p:spPr>
      </p:pic>
      <p:sp>
        <p:nvSpPr>
          <p:cNvPr id="4" name="TextBox 3">
            <a:extLst>
              <a:ext uri="{FF2B5EF4-FFF2-40B4-BE49-F238E27FC236}">
                <a16:creationId xmlns:a16="http://schemas.microsoft.com/office/drawing/2014/main" id="{0291C791-E526-3821-5F9F-EEB189F715D3}"/>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85ADE36F-62DF-3756-A73E-04442C81BCF3}"/>
              </a:ext>
            </a:extLst>
          </p:cNvPr>
          <p:cNvSpPr txBox="1"/>
          <p:nvPr/>
        </p:nvSpPr>
        <p:spPr>
          <a:xfrm>
            <a:off x="4909324" y="579862"/>
            <a:ext cx="7282675" cy="5196166"/>
          </a:xfrm>
          <a:prstGeom prst="rect">
            <a:avLst/>
          </a:prstGeom>
          <a:noFill/>
        </p:spPr>
        <p:txBody>
          <a:bodyPr wrap="square">
            <a:spAutoFit/>
          </a:bodyPr>
          <a:lstStyle/>
          <a:p>
            <a:pPr>
              <a:lnSpc>
                <a:spcPct val="150000"/>
              </a:lnSpc>
              <a:buNone/>
            </a:pPr>
            <a:r>
              <a:rPr lang="en-US" sz="2800" b="1" dirty="0">
                <a:latin typeface="Calibir"/>
              </a:rPr>
              <a:t>Question 31) The figure above shows a project plan that includes a section for the budget. In general, it is recommended that a budget be included ____.</a:t>
            </a:r>
            <a:endParaRPr lang="en-US" sz="2800" dirty="0">
              <a:latin typeface="Calibir"/>
            </a:endParaRPr>
          </a:p>
          <a:p>
            <a:pPr>
              <a:lnSpc>
                <a:spcPct val="150000"/>
              </a:lnSpc>
              <a:buNone/>
            </a:pPr>
            <a:r>
              <a:rPr lang="en-US" sz="2800" dirty="0">
                <a:latin typeface="Calibir"/>
              </a:rPr>
              <a:t>A. if the project is coming in over budget</a:t>
            </a:r>
            <a:br>
              <a:rPr lang="en-US" sz="2800" dirty="0">
                <a:latin typeface="Calibir"/>
              </a:rPr>
            </a:br>
            <a:r>
              <a:rPr lang="en-US" sz="2800" dirty="0">
                <a:latin typeface="Calibir"/>
              </a:rPr>
              <a:t>B. if the project is more than $10,000</a:t>
            </a:r>
            <a:br>
              <a:rPr lang="en-US" sz="2800" dirty="0">
                <a:latin typeface="Calibir"/>
              </a:rPr>
            </a:br>
            <a:r>
              <a:rPr lang="en-US" sz="2800" dirty="0">
                <a:latin typeface="Calibir"/>
              </a:rPr>
              <a:t>C. in every website design project </a:t>
            </a:r>
            <a:br>
              <a:rPr lang="en-US" sz="2800" dirty="0">
                <a:latin typeface="Calibir"/>
              </a:rPr>
            </a:br>
            <a:r>
              <a:rPr lang="en-US" sz="2800" dirty="0">
                <a:latin typeface="Calibir"/>
              </a:rPr>
              <a:t>D. if the client asks for one</a:t>
            </a:r>
          </a:p>
        </p:txBody>
      </p:sp>
      <p:sp>
        <p:nvSpPr>
          <p:cNvPr id="12" name="Rectangle: Rounded Corners 11">
            <a:extLst>
              <a:ext uri="{FF2B5EF4-FFF2-40B4-BE49-F238E27FC236}">
                <a16:creationId xmlns:a16="http://schemas.microsoft.com/office/drawing/2014/main" id="{38CB8D03-7CD3-5EBA-500F-C813DDBD3B0F}"/>
              </a:ext>
            </a:extLst>
          </p:cNvPr>
          <p:cNvSpPr/>
          <p:nvPr/>
        </p:nvSpPr>
        <p:spPr>
          <a:xfrm>
            <a:off x="4909324" y="4507929"/>
            <a:ext cx="5896208"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8209B54-11CC-FBED-8C22-63F15E910202}"/>
              </a:ext>
            </a:extLst>
          </p:cNvPr>
          <p:cNvSpPr txBox="1"/>
          <p:nvPr/>
        </p:nvSpPr>
        <p:spPr>
          <a:xfrm>
            <a:off x="4449337" y="5631366"/>
            <a:ext cx="7742662" cy="1055545"/>
          </a:xfrm>
          <a:prstGeom prst="rect">
            <a:avLst/>
          </a:prstGeom>
          <a:noFill/>
        </p:spPr>
        <p:txBody>
          <a:bodyPr wrap="square">
            <a:spAutoFit/>
          </a:bodyPr>
          <a:lstStyle/>
          <a:p>
            <a:pPr>
              <a:lnSpc>
                <a:spcPct val="150000"/>
              </a:lnSpc>
            </a:pPr>
            <a:r>
              <a:rPr lang="en-US" sz="2200" dirty="0">
                <a:latin typeface="Calibir"/>
              </a:rPr>
              <a:t>Every website project should include a budget so costs, resources, and expenses can be planned and managed properly.</a:t>
            </a:r>
          </a:p>
        </p:txBody>
      </p:sp>
    </p:spTree>
    <p:extLst>
      <p:ext uri="{BB962C8B-B14F-4D97-AF65-F5344CB8AC3E}">
        <p14:creationId xmlns:p14="http://schemas.microsoft.com/office/powerpoint/2010/main" val="212353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9D60-B9FB-8BC2-B9B7-82A2AD9590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991F36-18B4-79C2-74A2-B5B577E5790B}"/>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D156A3D0-AF3E-ABF0-55A1-CCA3FCC307DA}"/>
              </a:ext>
            </a:extLst>
          </p:cNvPr>
          <p:cNvSpPr txBox="1"/>
          <p:nvPr/>
        </p:nvSpPr>
        <p:spPr>
          <a:xfrm>
            <a:off x="4909324" y="579862"/>
            <a:ext cx="7282675" cy="5431743"/>
          </a:xfrm>
          <a:prstGeom prst="rect">
            <a:avLst/>
          </a:prstGeom>
          <a:noFill/>
        </p:spPr>
        <p:txBody>
          <a:bodyPr wrap="square">
            <a:spAutoFit/>
          </a:bodyPr>
          <a:lstStyle/>
          <a:p>
            <a:pPr>
              <a:lnSpc>
                <a:spcPct val="150000"/>
              </a:lnSpc>
            </a:pPr>
            <a:r>
              <a:rPr lang="en-US" sz="2600" b="1" dirty="0">
                <a:latin typeface="Calibir"/>
              </a:rPr>
              <a:t>Question 32) Identifying the type of website is an important part of a project plan; and the figure above lists this site type as “Billboard.” Usually websites have one of a small number of main functions that do NOT include: _____.</a:t>
            </a:r>
            <a:endParaRPr lang="en-US" sz="2600" dirty="0">
              <a:latin typeface="Calibir"/>
            </a:endParaRPr>
          </a:p>
          <a:p>
            <a:pPr>
              <a:lnSpc>
                <a:spcPct val="150000"/>
              </a:lnSpc>
            </a:pPr>
            <a:r>
              <a:rPr lang="en-US" sz="2600" dirty="0">
                <a:latin typeface="Calibir"/>
              </a:rPr>
              <a:t>A. online informational brochure</a:t>
            </a:r>
            <a:br>
              <a:rPr lang="en-US" sz="2600" dirty="0">
                <a:latin typeface="Calibir"/>
              </a:rPr>
            </a:br>
            <a:r>
              <a:rPr lang="en-US" sz="2600" dirty="0">
                <a:latin typeface="Calibir"/>
              </a:rPr>
              <a:t>B. site that converts HTML into XML</a:t>
            </a:r>
            <a:br>
              <a:rPr lang="en-US" sz="2600" dirty="0">
                <a:latin typeface="Calibir"/>
              </a:rPr>
            </a:br>
            <a:r>
              <a:rPr lang="en-US" sz="2600" dirty="0">
                <a:latin typeface="Calibir"/>
              </a:rPr>
              <a:t>C. site that sells products and services</a:t>
            </a:r>
            <a:br>
              <a:rPr lang="en-US" sz="2600" dirty="0">
                <a:latin typeface="Calibir"/>
              </a:rPr>
            </a:br>
            <a:r>
              <a:rPr lang="en-US" sz="2600" dirty="0">
                <a:latin typeface="Calibir"/>
              </a:rPr>
              <a:t>D. site that extracts information from databases</a:t>
            </a:r>
          </a:p>
        </p:txBody>
      </p:sp>
      <p:sp>
        <p:nvSpPr>
          <p:cNvPr id="12" name="Rectangle: Rounded Corners 11">
            <a:extLst>
              <a:ext uri="{FF2B5EF4-FFF2-40B4-BE49-F238E27FC236}">
                <a16:creationId xmlns:a16="http://schemas.microsoft.com/office/drawing/2014/main" id="{CF0C132C-E887-BBFB-1E4C-0C4D6D395C5C}"/>
              </a:ext>
            </a:extLst>
          </p:cNvPr>
          <p:cNvSpPr/>
          <p:nvPr/>
        </p:nvSpPr>
        <p:spPr>
          <a:xfrm>
            <a:off x="4831265" y="4253019"/>
            <a:ext cx="5896208"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7B89757-1F51-2CEC-98BC-6D2AEC2967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47338"/>
            <a:ext cx="4638907" cy="6087889"/>
          </a:xfrm>
          <a:prstGeom prst="rect">
            <a:avLst/>
          </a:prstGeom>
        </p:spPr>
      </p:pic>
      <p:sp>
        <p:nvSpPr>
          <p:cNvPr id="6" name="TextBox 5">
            <a:extLst>
              <a:ext uri="{FF2B5EF4-FFF2-40B4-BE49-F238E27FC236}">
                <a16:creationId xmlns:a16="http://schemas.microsoft.com/office/drawing/2014/main" id="{5D2850D9-2C1B-2414-000D-3ED6EABBEC60}"/>
              </a:ext>
            </a:extLst>
          </p:cNvPr>
          <p:cNvSpPr txBox="1"/>
          <p:nvPr/>
        </p:nvSpPr>
        <p:spPr>
          <a:xfrm>
            <a:off x="2665141" y="5977631"/>
            <a:ext cx="9526858" cy="880369"/>
          </a:xfrm>
          <a:prstGeom prst="rect">
            <a:avLst/>
          </a:prstGeom>
          <a:noFill/>
          <a:ln>
            <a:solidFill>
              <a:srgbClr val="FF0000"/>
            </a:solidFill>
          </a:ln>
        </p:spPr>
        <p:txBody>
          <a:bodyPr wrap="square">
            <a:spAutoFit/>
          </a:bodyPr>
          <a:lstStyle/>
          <a:p>
            <a:pPr>
              <a:lnSpc>
                <a:spcPct val="150000"/>
              </a:lnSpc>
            </a:pPr>
            <a:r>
              <a:rPr lang="en-US" dirty="0">
                <a:latin typeface="Calibir"/>
              </a:rPr>
              <a:t>Websites are usually designed to share information, sell products, or display data. Converting HTML into XML is not a common main function of a website.</a:t>
            </a:r>
          </a:p>
        </p:txBody>
      </p:sp>
    </p:spTree>
    <p:extLst>
      <p:ext uri="{BB962C8B-B14F-4D97-AF65-F5344CB8AC3E}">
        <p14:creationId xmlns:p14="http://schemas.microsoft.com/office/powerpoint/2010/main" val="261540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CD83A-DEFD-D66F-7A28-6C352B69CE7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BA98A4-64F6-92D3-67D0-F23C7BD74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4308"/>
            <a:ext cx="4757626" cy="6243692"/>
          </a:xfrm>
          <a:prstGeom prst="rect">
            <a:avLst/>
          </a:prstGeom>
        </p:spPr>
      </p:pic>
      <p:sp>
        <p:nvSpPr>
          <p:cNvPr id="4" name="TextBox 3">
            <a:extLst>
              <a:ext uri="{FF2B5EF4-FFF2-40B4-BE49-F238E27FC236}">
                <a16:creationId xmlns:a16="http://schemas.microsoft.com/office/drawing/2014/main" id="{1A86614F-058C-C5F1-91F8-69CC577D0B0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D6E6CAE9-2974-521F-8521-3D52D0D47844}"/>
              </a:ext>
            </a:extLst>
          </p:cNvPr>
          <p:cNvSpPr txBox="1"/>
          <p:nvPr/>
        </p:nvSpPr>
        <p:spPr>
          <a:xfrm>
            <a:off x="4909324" y="579862"/>
            <a:ext cx="7282675" cy="5196166"/>
          </a:xfrm>
          <a:prstGeom prst="rect">
            <a:avLst/>
          </a:prstGeom>
          <a:noFill/>
        </p:spPr>
        <p:txBody>
          <a:bodyPr wrap="square">
            <a:spAutoFit/>
          </a:bodyPr>
          <a:lstStyle/>
          <a:p>
            <a:pPr>
              <a:lnSpc>
                <a:spcPct val="150000"/>
              </a:lnSpc>
            </a:pPr>
            <a:r>
              <a:rPr lang="en-US" sz="2800" b="1" dirty="0">
                <a:latin typeface="Calibir"/>
              </a:rPr>
              <a:t>Question 33) You plan to do some research on the types of web browsers your users will use. Referring to the figure above, this information fits in the ____ section of the project plan.</a:t>
            </a:r>
            <a:endParaRPr lang="en-US" sz="2800" dirty="0">
              <a:latin typeface="Calibir"/>
            </a:endParaRPr>
          </a:p>
          <a:p>
            <a:pPr>
              <a:lnSpc>
                <a:spcPct val="150000"/>
              </a:lnSpc>
            </a:pPr>
            <a:r>
              <a:rPr lang="en-US" sz="2800" dirty="0">
                <a:latin typeface="Calibir"/>
              </a:rPr>
              <a:t>A. Site type</a:t>
            </a:r>
            <a:br>
              <a:rPr lang="en-US" sz="2800" dirty="0">
                <a:latin typeface="Calibir"/>
              </a:rPr>
            </a:br>
            <a:r>
              <a:rPr lang="en-US" sz="2800" dirty="0">
                <a:latin typeface="Calibir"/>
              </a:rPr>
              <a:t>B. Timeline</a:t>
            </a:r>
            <a:br>
              <a:rPr lang="en-US" sz="2800" dirty="0">
                <a:latin typeface="Calibir"/>
              </a:rPr>
            </a:br>
            <a:r>
              <a:rPr lang="en-US" sz="2800" dirty="0">
                <a:latin typeface="Calibir"/>
              </a:rPr>
              <a:t>C. Client contact info</a:t>
            </a:r>
            <a:br>
              <a:rPr lang="en-US" sz="2800" dirty="0">
                <a:latin typeface="Calibir"/>
              </a:rPr>
            </a:br>
            <a:r>
              <a:rPr lang="en-US" sz="2800" dirty="0">
                <a:latin typeface="Calibir"/>
              </a:rPr>
              <a:t>D. Target Audience</a:t>
            </a:r>
          </a:p>
        </p:txBody>
      </p:sp>
      <p:sp>
        <p:nvSpPr>
          <p:cNvPr id="12" name="Rectangle: Rounded Corners 11">
            <a:extLst>
              <a:ext uri="{FF2B5EF4-FFF2-40B4-BE49-F238E27FC236}">
                <a16:creationId xmlns:a16="http://schemas.microsoft.com/office/drawing/2014/main" id="{4EA6D1B4-F542-E40A-E6AA-6AD959A5EE2B}"/>
              </a:ext>
            </a:extLst>
          </p:cNvPr>
          <p:cNvSpPr/>
          <p:nvPr/>
        </p:nvSpPr>
        <p:spPr>
          <a:xfrm>
            <a:off x="4898173" y="5084051"/>
            <a:ext cx="5896208" cy="69197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BE174F2-DD60-E1BA-28F8-6F1FC9F8F88E}"/>
              </a:ext>
            </a:extLst>
          </p:cNvPr>
          <p:cNvSpPr txBox="1"/>
          <p:nvPr/>
        </p:nvSpPr>
        <p:spPr>
          <a:xfrm>
            <a:off x="2665141" y="5977631"/>
            <a:ext cx="9526858" cy="880369"/>
          </a:xfrm>
          <a:prstGeom prst="rect">
            <a:avLst/>
          </a:prstGeom>
          <a:noFill/>
          <a:ln>
            <a:solidFill>
              <a:srgbClr val="FF0000"/>
            </a:solidFill>
          </a:ln>
        </p:spPr>
        <p:txBody>
          <a:bodyPr wrap="square">
            <a:spAutoFit/>
          </a:bodyPr>
          <a:lstStyle/>
          <a:p>
            <a:pPr>
              <a:lnSpc>
                <a:spcPct val="150000"/>
              </a:lnSpc>
            </a:pPr>
            <a:r>
              <a:rPr lang="en-US" dirty="0">
                <a:latin typeface="Calibir"/>
              </a:rPr>
              <a:t>Researching which web browsers users use helps understand the target audience and their technology preferences.</a:t>
            </a:r>
          </a:p>
        </p:txBody>
      </p:sp>
    </p:spTree>
    <p:extLst>
      <p:ext uri="{BB962C8B-B14F-4D97-AF65-F5344CB8AC3E}">
        <p14:creationId xmlns:p14="http://schemas.microsoft.com/office/powerpoint/2010/main" val="335698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29AF2-3393-DC91-AE27-F1671E151E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F75A41-8B85-F605-4E3B-E9E61D71E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4308"/>
            <a:ext cx="4757626" cy="6243692"/>
          </a:xfrm>
          <a:prstGeom prst="rect">
            <a:avLst/>
          </a:prstGeom>
        </p:spPr>
      </p:pic>
      <p:sp>
        <p:nvSpPr>
          <p:cNvPr id="4" name="TextBox 3">
            <a:extLst>
              <a:ext uri="{FF2B5EF4-FFF2-40B4-BE49-F238E27FC236}">
                <a16:creationId xmlns:a16="http://schemas.microsoft.com/office/drawing/2014/main" id="{39E70F96-B626-AB86-ED5F-B09D081100A0}"/>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3DF14D48-7186-AC5D-0557-334A1E528584}"/>
              </a:ext>
            </a:extLst>
          </p:cNvPr>
          <p:cNvSpPr txBox="1"/>
          <p:nvPr/>
        </p:nvSpPr>
        <p:spPr>
          <a:xfrm>
            <a:off x="4909324" y="535258"/>
            <a:ext cx="7282675" cy="6485943"/>
          </a:xfrm>
          <a:prstGeom prst="rect">
            <a:avLst/>
          </a:prstGeom>
          <a:noFill/>
        </p:spPr>
        <p:txBody>
          <a:bodyPr wrap="square">
            <a:spAutoFit/>
          </a:bodyPr>
          <a:lstStyle/>
          <a:p>
            <a:pPr>
              <a:lnSpc>
                <a:spcPct val="150000"/>
              </a:lnSpc>
            </a:pPr>
            <a:r>
              <a:rPr lang="en-US" sz="2800" b="1" dirty="0">
                <a:latin typeface="Calibir"/>
              </a:rPr>
              <a:t>Question 34) The figure above shows a timeline that includes milestones, the date the project will be completed, and who is responsible for each task. Normally, you do NOT need to include ____ in the timeline.</a:t>
            </a:r>
            <a:endParaRPr lang="en-US" sz="2800" dirty="0">
              <a:latin typeface="Calibir"/>
            </a:endParaRPr>
          </a:p>
          <a:p>
            <a:pPr>
              <a:lnSpc>
                <a:spcPct val="150000"/>
              </a:lnSpc>
            </a:pPr>
            <a:r>
              <a:rPr lang="en-US" sz="2800" dirty="0">
                <a:latin typeface="Calibir"/>
              </a:rPr>
              <a:t>A. milestones</a:t>
            </a:r>
            <a:br>
              <a:rPr lang="en-US" sz="2800" dirty="0">
                <a:latin typeface="Calibir"/>
              </a:rPr>
            </a:br>
            <a:r>
              <a:rPr lang="en-US" sz="2800" dirty="0">
                <a:latin typeface="Calibir"/>
              </a:rPr>
              <a:t>B. completion date</a:t>
            </a:r>
            <a:br>
              <a:rPr lang="en-US" sz="2800" dirty="0">
                <a:latin typeface="Calibir"/>
              </a:rPr>
            </a:br>
            <a:r>
              <a:rPr lang="en-US" sz="2800" dirty="0">
                <a:latin typeface="Calibir"/>
              </a:rPr>
              <a:t>C. person responsible for each task</a:t>
            </a:r>
            <a:br>
              <a:rPr lang="en-US" sz="2800" dirty="0">
                <a:latin typeface="Calibir"/>
              </a:rPr>
            </a:br>
            <a:r>
              <a:rPr lang="en-US" sz="2800" dirty="0">
                <a:latin typeface="Calibir"/>
              </a:rPr>
              <a:t>D. None of the above, all of these items should be included</a:t>
            </a:r>
          </a:p>
        </p:txBody>
      </p:sp>
      <p:sp>
        <p:nvSpPr>
          <p:cNvPr id="12" name="Rectangle: Rounded Corners 11">
            <a:extLst>
              <a:ext uri="{FF2B5EF4-FFF2-40B4-BE49-F238E27FC236}">
                <a16:creationId xmlns:a16="http://schemas.microsoft.com/office/drawing/2014/main" id="{ACD05472-056D-A3E3-50EA-14C87CF3C119}"/>
              </a:ext>
            </a:extLst>
          </p:cNvPr>
          <p:cNvSpPr/>
          <p:nvPr/>
        </p:nvSpPr>
        <p:spPr>
          <a:xfrm>
            <a:off x="4909323" y="5843239"/>
            <a:ext cx="7282675" cy="101476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F56F2C5-E107-72C7-A77B-8DA1A1DDCA7C}"/>
              </a:ext>
            </a:extLst>
          </p:cNvPr>
          <p:cNvSpPr txBox="1"/>
          <p:nvPr/>
        </p:nvSpPr>
        <p:spPr>
          <a:xfrm>
            <a:off x="9879980" y="3135087"/>
            <a:ext cx="2312020" cy="2308324"/>
          </a:xfrm>
          <a:prstGeom prst="rect">
            <a:avLst/>
          </a:prstGeom>
          <a:noFill/>
        </p:spPr>
        <p:txBody>
          <a:bodyPr wrap="square">
            <a:spAutoFit/>
          </a:bodyPr>
          <a:lstStyle/>
          <a:p>
            <a:r>
              <a:rPr lang="en-US" dirty="0">
                <a:latin typeface="Calibir"/>
              </a:rPr>
              <a:t>A proper project timeline should include milestones, deadlines, and who is responsible for each task to keep the project organized and on schedule.</a:t>
            </a:r>
          </a:p>
        </p:txBody>
      </p:sp>
    </p:spTree>
    <p:extLst>
      <p:ext uri="{BB962C8B-B14F-4D97-AF65-F5344CB8AC3E}">
        <p14:creationId xmlns:p14="http://schemas.microsoft.com/office/powerpoint/2010/main" val="319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ADA0A-1BCF-F20A-57BF-7F10F4FC76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88AEC4B-2621-E9E7-3621-308A4F0E8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4308"/>
            <a:ext cx="4757626" cy="6243692"/>
          </a:xfrm>
          <a:prstGeom prst="rect">
            <a:avLst/>
          </a:prstGeom>
        </p:spPr>
      </p:pic>
      <p:sp>
        <p:nvSpPr>
          <p:cNvPr id="4" name="TextBox 3">
            <a:extLst>
              <a:ext uri="{FF2B5EF4-FFF2-40B4-BE49-F238E27FC236}">
                <a16:creationId xmlns:a16="http://schemas.microsoft.com/office/drawing/2014/main" id="{3A22E671-928F-8CFD-1FCB-3ECAF3404312}"/>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813855DC-193F-8EE2-4CEF-0ED89CB099D0}"/>
              </a:ext>
            </a:extLst>
          </p:cNvPr>
          <p:cNvSpPr txBox="1"/>
          <p:nvPr/>
        </p:nvSpPr>
        <p:spPr>
          <a:xfrm>
            <a:off x="4909324" y="535258"/>
            <a:ext cx="7282675" cy="5842497"/>
          </a:xfrm>
          <a:prstGeom prst="rect">
            <a:avLst/>
          </a:prstGeom>
          <a:noFill/>
        </p:spPr>
        <p:txBody>
          <a:bodyPr wrap="square">
            <a:spAutoFit/>
          </a:bodyPr>
          <a:lstStyle/>
          <a:p>
            <a:pPr>
              <a:lnSpc>
                <a:spcPct val="150000"/>
              </a:lnSpc>
            </a:pPr>
            <a:r>
              <a:rPr lang="en-US" sz="2800" b="1" dirty="0">
                <a:latin typeface="Calibir"/>
              </a:rPr>
              <a:t>Question 35) The owner of your company said he primarily wants to know one thing: “Why do you want a website?” Referring to the figure above, the answer to this question is in the ____ section of the project plan.</a:t>
            </a:r>
            <a:endParaRPr lang="en-US" sz="2800" dirty="0">
              <a:latin typeface="Calibir"/>
            </a:endParaRPr>
          </a:p>
          <a:p>
            <a:pPr>
              <a:lnSpc>
                <a:spcPct val="150000"/>
              </a:lnSpc>
            </a:pPr>
            <a:r>
              <a:rPr lang="en-US" sz="2800" dirty="0">
                <a:latin typeface="Calibir"/>
              </a:rPr>
              <a:t>A. Objectives</a:t>
            </a:r>
            <a:br>
              <a:rPr lang="en-US" sz="2800" dirty="0">
                <a:latin typeface="Calibir"/>
              </a:rPr>
            </a:br>
            <a:r>
              <a:rPr lang="en-US" sz="2800" dirty="0">
                <a:latin typeface="Calibir"/>
              </a:rPr>
              <a:t>B. Target Audience</a:t>
            </a:r>
            <a:br>
              <a:rPr lang="en-US" sz="2800" dirty="0">
                <a:latin typeface="Calibir"/>
              </a:rPr>
            </a:br>
            <a:r>
              <a:rPr lang="en-US" sz="2800" dirty="0">
                <a:latin typeface="Calibir"/>
              </a:rPr>
              <a:t>C. Site type</a:t>
            </a:r>
            <a:br>
              <a:rPr lang="en-US" sz="2800" dirty="0">
                <a:latin typeface="Calibir"/>
              </a:rPr>
            </a:br>
            <a:r>
              <a:rPr lang="en-US" sz="2800" dirty="0">
                <a:latin typeface="Calibir"/>
              </a:rPr>
              <a:t>D. Budget</a:t>
            </a:r>
          </a:p>
        </p:txBody>
      </p:sp>
      <p:sp>
        <p:nvSpPr>
          <p:cNvPr id="12" name="Rectangle: Rounded Corners 11">
            <a:extLst>
              <a:ext uri="{FF2B5EF4-FFF2-40B4-BE49-F238E27FC236}">
                <a16:creationId xmlns:a16="http://schemas.microsoft.com/office/drawing/2014/main" id="{717920FA-3E31-BED5-D458-AA17699B2115}"/>
              </a:ext>
            </a:extLst>
          </p:cNvPr>
          <p:cNvSpPr/>
          <p:nvPr/>
        </p:nvSpPr>
        <p:spPr>
          <a:xfrm>
            <a:off x="4909324" y="3781868"/>
            <a:ext cx="2312020"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6C3FD9-A251-5BE2-8C5C-4540D26368D0}"/>
              </a:ext>
            </a:extLst>
          </p:cNvPr>
          <p:cNvSpPr txBox="1"/>
          <p:nvPr/>
        </p:nvSpPr>
        <p:spPr>
          <a:xfrm>
            <a:off x="9879980" y="3135087"/>
            <a:ext cx="2312020" cy="2957861"/>
          </a:xfrm>
          <a:prstGeom prst="rect">
            <a:avLst/>
          </a:prstGeom>
          <a:noFill/>
        </p:spPr>
        <p:txBody>
          <a:bodyPr wrap="square">
            <a:spAutoFit/>
          </a:bodyPr>
          <a:lstStyle/>
          <a:p>
            <a:pPr>
              <a:lnSpc>
                <a:spcPct val="150000"/>
              </a:lnSpc>
            </a:pPr>
            <a:r>
              <a:rPr lang="en-US" dirty="0">
                <a:latin typeface="Calibir"/>
              </a:rPr>
              <a:t>The objectives section explains the main goals and reasons for creating the website, such as sharing information or attracting customers.</a:t>
            </a:r>
          </a:p>
        </p:txBody>
      </p:sp>
    </p:spTree>
    <p:extLst>
      <p:ext uri="{BB962C8B-B14F-4D97-AF65-F5344CB8AC3E}">
        <p14:creationId xmlns:p14="http://schemas.microsoft.com/office/powerpoint/2010/main" val="290511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5A8F-6913-334B-F088-FB8D8B7FF5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7C6007-213D-DDE7-FA57-8B2AE675177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572285B5-5B54-166A-0CF0-6AE6E92CFD44}"/>
              </a:ext>
            </a:extLst>
          </p:cNvPr>
          <p:cNvSpPr txBox="1"/>
          <p:nvPr/>
        </p:nvSpPr>
        <p:spPr>
          <a:xfrm>
            <a:off x="1" y="584775"/>
            <a:ext cx="12191999" cy="5637121"/>
          </a:xfrm>
          <a:prstGeom prst="rect">
            <a:avLst/>
          </a:prstGeom>
          <a:noFill/>
        </p:spPr>
        <p:txBody>
          <a:bodyPr wrap="square">
            <a:spAutoFit/>
          </a:bodyPr>
          <a:lstStyle/>
          <a:p>
            <a:pPr>
              <a:lnSpc>
                <a:spcPct val="150000"/>
              </a:lnSpc>
            </a:pPr>
            <a:r>
              <a:rPr lang="en-US" sz="2700" b="1" dirty="0">
                <a:latin typeface="Calibir"/>
              </a:rPr>
              <a:t>Question 36) Scott hires an intern to help with the project, and realizes that the new intern has uploaded all of the testing pages to the final upload location on the web server. Scott tells the intern the following: _____.</a:t>
            </a:r>
            <a:endParaRPr lang="en-US" sz="2700" dirty="0">
              <a:latin typeface="Calibir"/>
            </a:endParaRPr>
          </a:p>
          <a:p>
            <a:pPr>
              <a:lnSpc>
                <a:spcPct val="150000"/>
              </a:lnSpc>
            </a:pPr>
            <a:r>
              <a:rPr lang="en-US" sz="2700" dirty="0">
                <a:latin typeface="Calibir"/>
              </a:rPr>
              <a:t>A. “Good job. That is exactly where they go.”</a:t>
            </a:r>
            <a:br>
              <a:rPr lang="en-US" sz="2700" dirty="0">
                <a:latin typeface="Calibir"/>
              </a:rPr>
            </a:br>
            <a:r>
              <a:rPr lang="en-US" sz="2700" dirty="0">
                <a:latin typeface="Calibir"/>
              </a:rPr>
              <a:t>B. “That is not a good location because all the pages are now available to the public.”</a:t>
            </a:r>
            <a:br>
              <a:rPr lang="en-US" sz="2700" dirty="0">
                <a:latin typeface="Calibir"/>
              </a:rPr>
            </a:br>
            <a:r>
              <a:rPr lang="en-US" sz="2700" dirty="0">
                <a:latin typeface="Calibir"/>
              </a:rPr>
              <a:t>C. “That is not a good location because ‘testing’ pages should never be put on a server.”</a:t>
            </a:r>
            <a:br>
              <a:rPr lang="en-US" sz="2700" dirty="0">
                <a:latin typeface="Calibir"/>
              </a:rPr>
            </a:br>
            <a:r>
              <a:rPr lang="en-US" sz="2700" dirty="0">
                <a:latin typeface="Calibir"/>
              </a:rPr>
              <a:t>D. “The pages will not appear on the server because the pages should have been downloaded, not uploaded.”</a:t>
            </a:r>
          </a:p>
        </p:txBody>
      </p:sp>
      <p:sp>
        <p:nvSpPr>
          <p:cNvPr id="12" name="Rectangle: Rounded Corners 11">
            <a:extLst>
              <a:ext uri="{FF2B5EF4-FFF2-40B4-BE49-F238E27FC236}">
                <a16:creationId xmlns:a16="http://schemas.microsoft.com/office/drawing/2014/main" id="{7CB73DDE-30CD-3AA4-EF30-4B48AB660E2E}"/>
              </a:ext>
            </a:extLst>
          </p:cNvPr>
          <p:cNvSpPr/>
          <p:nvPr/>
        </p:nvSpPr>
        <p:spPr>
          <a:xfrm>
            <a:off x="-1" y="3194897"/>
            <a:ext cx="11987562"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19F9F59-53A5-A494-27D1-3D56FCD11ED7}"/>
              </a:ext>
            </a:extLst>
          </p:cNvPr>
          <p:cNvSpPr txBox="1"/>
          <p:nvPr/>
        </p:nvSpPr>
        <p:spPr>
          <a:xfrm>
            <a:off x="0" y="6273225"/>
            <a:ext cx="12089780" cy="467179"/>
          </a:xfrm>
          <a:prstGeom prst="rect">
            <a:avLst/>
          </a:prstGeom>
          <a:noFill/>
        </p:spPr>
        <p:txBody>
          <a:bodyPr wrap="square">
            <a:spAutoFit/>
          </a:bodyPr>
          <a:lstStyle/>
          <a:p>
            <a:pPr>
              <a:lnSpc>
                <a:spcPct val="150000"/>
              </a:lnSpc>
            </a:pPr>
            <a:r>
              <a:rPr lang="en-US" dirty="0">
                <a:latin typeface="Calibir"/>
              </a:rPr>
              <a:t>Testing pages should not be uploaded to the public website because visitors may see unfinished or incorrect content.</a:t>
            </a:r>
          </a:p>
        </p:txBody>
      </p:sp>
    </p:spTree>
    <p:extLst>
      <p:ext uri="{BB962C8B-B14F-4D97-AF65-F5344CB8AC3E}">
        <p14:creationId xmlns:p14="http://schemas.microsoft.com/office/powerpoint/2010/main" val="194935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51116-5805-EF2D-F6F5-47464127D6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CE15ED-B4DD-AA48-4E6D-62AC550E2044}"/>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C97FAC74-EB91-7812-5276-C906C69158CE}"/>
              </a:ext>
            </a:extLst>
          </p:cNvPr>
          <p:cNvPicPr>
            <a:picLocks noChangeAspect="1"/>
          </p:cNvPicPr>
          <p:nvPr/>
        </p:nvPicPr>
        <p:blipFill>
          <a:blip r:embed="rId2"/>
          <a:srcRect l="44818" t="44879" r="42286" b="48780"/>
          <a:stretch>
            <a:fillRect/>
          </a:stretch>
        </p:blipFill>
        <p:spPr>
          <a:xfrm>
            <a:off x="1" y="646107"/>
            <a:ext cx="6824546" cy="1887637"/>
          </a:xfrm>
          <a:prstGeom prst="rect">
            <a:avLst/>
          </a:prstGeom>
        </p:spPr>
      </p:pic>
      <p:sp>
        <p:nvSpPr>
          <p:cNvPr id="13" name="TextBox 12">
            <a:extLst>
              <a:ext uri="{FF2B5EF4-FFF2-40B4-BE49-F238E27FC236}">
                <a16:creationId xmlns:a16="http://schemas.microsoft.com/office/drawing/2014/main" id="{60035BD4-101F-C0FB-987F-25014C684FCA}"/>
              </a:ext>
            </a:extLst>
          </p:cNvPr>
          <p:cNvSpPr txBox="1"/>
          <p:nvPr/>
        </p:nvSpPr>
        <p:spPr>
          <a:xfrm>
            <a:off x="0" y="2129883"/>
            <a:ext cx="12191999" cy="3257174"/>
          </a:xfrm>
          <a:prstGeom prst="rect">
            <a:avLst/>
          </a:prstGeom>
          <a:noFill/>
        </p:spPr>
        <p:txBody>
          <a:bodyPr wrap="square">
            <a:spAutoFit/>
          </a:bodyPr>
          <a:lstStyle/>
          <a:p>
            <a:pPr>
              <a:lnSpc>
                <a:spcPct val="150000"/>
              </a:lnSpc>
              <a:buNone/>
            </a:pPr>
            <a:r>
              <a:rPr lang="en-US" sz="2800" b="1" dirty="0">
                <a:latin typeface="Calibir"/>
              </a:rPr>
              <a:t>Question 37) In the figure above, the head element is _____.</a:t>
            </a:r>
            <a:endParaRPr lang="en-US" sz="2800" dirty="0">
              <a:latin typeface="Calibir"/>
            </a:endParaRPr>
          </a:p>
          <a:p>
            <a:pPr>
              <a:lnSpc>
                <a:spcPct val="150000"/>
              </a:lnSpc>
              <a:buNone/>
            </a:pPr>
            <a:r>
              <a:rPr lang="en-US" sz="2800" dirty="0">
                <a:latin typeface="Calibir"/>
              </a:rPr>
              <a:t>A. a child of the html element</a:t>
            </a:r>
            <a:br>
              <a:rPr lang="en-US" sz="2800" dirty="0">
                <a:latin typeface="Calibir"/>
              </a:rPr>
            </a:br>
            <a:r>
              <a:rPr lang="en-US" sz="2800" dirty="0">
                <a:latin typeface="Calibir"/>
              </a:rPr>
              <a:t>B. the parent of the meta element</a:t>
            </a:r>
            <a:br>
              <a:rPr lang="en-US" sz="2800" dirty="0">
                <a:latin typeface="Calibir"/>
              </a:rPr>
            </a:br>
            <a:r>
              <a:rPr lang="en-US" sz="2800" dirty="0">
                <a:latin typeface="Calibir"/>
              </a:rPr>
              <a:t>C. Both A and B.</a:t>
            </a:r>
            <a:br>
              <a:rPr lang="en-US" sz="2800" dirty="0">
                <a:latin typeface="Calibir"/>
              </a:rPr>
            </a:br>
            <a:r>
              <a:rPr lang="en-US" sz="2800" dirty="0">
                <a:latin typeface="Calibir"/>
              </a:rPr>
              <a:t>D. Neither A nor B.</a:t>
            </a:r>
          </a:p>
        </p:txBody>
      </p:sp>
      <p:sp>
        <p:nvSpPr>
          <p:cNvPr id="14" name="Rectangle: Rounded Corners 13">
            <a:extLst>
              <a:ext uri="{FF2B5EF4-FFF2-40B4-BE49-F238E27FC236}">
                <a16:creationId xmlns:a16="http://schemas.microsoft.com/office/drawing/2014/main" id="{9CA4C840-4C9D-1E26-D9B5-23A159CF91CD}"/>
              </a:ext>
            </a:extLst>
          </p:cNvPr>
          <p:cNvSpPr/>
          <p:nvPr/>
        </p:nvSpPr>
        <p:spPr>
          <a:xfrm>
            <a:off x="-1" y="4078852"/>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F89956A-9377-982B-130F-1E99B5B6C264}"/>
              </a:ext>
            </a:extLst>
          </p:cNvPr>
          <p:cNvSpPr txBox="1"/>
          <p:nvPr/>
        </p:nvSpPr>
        <p:spPr>
          <a:xfrm>
            <a:off x="5890632" y="3106318"/>
            <a:ext cx="6172200" cy="2610843"/>
          </a:xfrm>
          <a:prstGeom prst="rect">
            <a:avLst/>
          </a:prstGeom>
          <a:noFill/>
          <a:ln>
            <a:solidFill>
              <a:srgbClr val="FF0000"/>
            </a:solidFill>
          </a:ln>
        </p:spPr>
        <p:txBody>
          <a:bodyPr wrap="square">
            <a:spAutoFit/>
          </a:bodyPr>
          <a:lstStyle/>
          <a:p>
            <a:pPr>
              <a:lnSpc>
                <a:spcPct val="150000"/>
              </a:lnSpc>
            </a:pPr>
            <a:r>
              <a:rPr lang="en-US" sz="2800" dirty="0">
                <a:latin typeface="Calibir"/>
              </a:rPr>
              <a:t>The &lt;head&gt; element is inside the &lt;html&gt; element, making it a child of &lt;html&gt;. It also contains the &lt;meta&gt; element, making it the parent of &lt;meta&gt;.</a:t>
            </a:r>
          </a:p>
        </p:txBody>
      </p:sp>
    </p:spTree>
    <p:extLst>
      <p:ext uri="{BB962C8B-B14F-4D97-AF65-F5344CB8AC3E}">
        <p14:creationId xmlns:p14="http://schemas.microsoft.com/office/powerpoint/2010/main" val="306362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CEADF-4A51-B94F-8AD8-77A5AE9D5B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3B9DBB-BA5E-BB88-DFF3-DDB5E5B0458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TextBox 12">
            <a:extLst>
              <a:ext uri="{FF2B5EF4-FFF2-40B4-BE49-F238E27FC236}">
                <a16:creationId xmlns:a16="http://schemas.microsoft.com/office/drawing/2014/main" id="{E7B55669-DC7F-3198-0D2F-896605AC1926}"/>
              </a:ext>
            </a:extLst>
          </p:cNvPr>
          <p:cNvSpPr txBox="1"/>
          <p:nvPr/>
        </p:nvSpPr>
        <p:spPr>
          <a:xfrm>
            <a:off x="1" y="2647996"/>
            <a:ext cx="12191999" cy="3900620"/>
          </a:xfrm>
          <a:prstGeom prst="rect">
            <a:avLst/>
          </a:prstGeom>
          <a:noFill/>
        </p:spPr>
        <p:txBody>
          <a:bodyPr wrap="square">
            <a:spAutoFit/>
          </a:bodyPr>
          <a:lstStyle/>
          <a:p>
            <a:pPr>
              <a:lnSpc>
                <a:spcPct val="150000"/>
              </a:lnSpc>
            </a:pPr>
            <a:r>
              <a:rPr lang="en-US" sz="2800" b="1" dirty="0">
                <a:latin typeface="Calibir"/>
              </a:rPr>
              <a:t>Question 38) In the figure above, the html element is the ____ element of the meta element.</a:t>
            </a:r>
            <a:endParaRPr lang="en-US" sz="2800" dirty="0">
              <a:latin typeface="Calibir"/>
            </a:endParaRPr>
          </a:p>
          <a:p>
            <a:pPr>
              <a:lnSpc>
                <a:spcPct val="150000"/>
              </a:lnSpc>
            </a:pPr>
            <a:r>
              <a:rPr lang="en-US" sz="2800" dirty="0">
                <a:latin typeface="Calibir"/>
              </a:rPr>
              <a:t>A. child</a:t>
            </a:r>
            <a:br>
              <a:rPr lang="en-US" sz="2800" dirty="0">
                <a:latin typeface="Calibir"/>
              </a:rPr>
            </a:br>
            <a:r>
              <a:rPr lang="en-US" sz="2800" dirty="0">
                <a:latin typeface="Calibir"/>
              </a:rPr>
              <a:t>B. sibling</a:t>
            </a:r>
            <a:br>
              <a:rPr lang="en-US" sz="2800" dirty="0">
                <a:latin typeface="Calibir"/>
              </a:rPr>
            </a:br>
            <a:r>
              <a:rPr lang="en-US" sz="2800" dirty="0">
                <a:latin typeface="Calibir"/>
              </a:rPr>
              <a:t>C. cousin</a:t>
            </a:r>
            <a:br>
              <a:rPr lang="en-US" sz="2800" dirty="0">
                <a:latin typeface="Calibir"/>
              </a:rPr>
            </a:br>
            <a:r>
              <a:rPr lang="en-US" sz="2800" dirty="0">
                <a:latin typeface="Calibir"/>
              </a:rPr>
              <a:t>D. grandparent</a:t>
            </a:r>
          </a:p>
        </p:txBody>
      </p:sp>
      <p:sp>
        <p:nvSpPr>
          <p:cNvPr id="14" name="Rectangle: Rounded Corners 13">
            <a:extLst>
              <a:ext uri="{FF2B5EF4-FFF2-40B4-BE49-F238E27FC236}">
                <a16:creationId xmlns:a16="http://schemas.microsoft.com/office/drawing/2014/main" id="{5B1ED571-47EA-5E49-7540-BE6D4DCC43C8}"/>
              </a:ext>
            </a:extLst>
          </p:cNvPr>
          <p:cNvSpPr/>
          <p:nvPr/>
        </p:nvSpPr>
        <p:spPr>
          <a:xfrm>
            <a:off x="0" y="5963841"/>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00B8521-27CA-1873-4AC7-DAD14F9F4A2A}"/>
              </a:ext>
            </a:extLst>
          </p:cNvPr>
          <p:cNvSpPr txBox="1"/>
          <p:nvPr/>
        </p:nvSpPr>
        <p:spPr>
          <a:xfrm>
            <a:off x="6019799" y="3563518"/>
            <a:ext cx="6172200" cy="2614434"/>
          </a:xfrm>
          <a:prstGeom prst="rect">
            <a:avLst/>
          </a:prstGeom>
          <a:noFill/>
          <a:ln>
            <a:solidFill>
              <a:srgbClr val="FF0000"/>
            </a:solidFill>
          </a:ln>
        </p:spPr>
        <p:txBody>
          <a:bodyPr wrap="square">
            <a:spAutoFit/>
          </a:bodyPr>
          <a:lstStyle/>
          <a:p>
            <a:pPr>
              <a:lnSpc>
                <a:spcPct val="150000"/>
              </a:lnSpc>
            </a:pPr>
            <a:r>
              <a:rPr lang="en-US" sz="2800" dirty="0">
                <a:latin typeface="Calibir"/>
              </a:rPr>
              <a:t>The &lt;html&gt; element contains the &lt;head&gt; element, and the &lt;head&gt; element contains the &lt;meta&gt; element. Therefore, &lt;html&gt; is the grandparent of &lt;meta&gt;.</a:t>
            </a:r>
          </a:p>
        </p:txBody>
      </p:sp>
      <p:pic>
        <p:nvPicPr>
          <p:cNvPr id="3" name="Picture 2">
            <a:extLst>
              <a:ext uri="{FF2B5EF4-FFF2-40B4-BE49-F238E27FC236}">
                <a16:creationId xmlns:a16="http://schemas.microsoft.com/office/drawing/2014/main" id="{4465A059-8761-08FF-EE48-A18D16807DCC}"/>
              </a:ext>
            </a:extLst>
          </p:cNvPr>
          <p:cNvPicPr>
            <a:picLocks noChangeAspect="1"/>
          </p:cNvPicPr>
          <p:nvPr/>
        </p:nvPicPr>
        <p:blipFill>
          <a:blip r:embed="rId2"/>
          <a:srcRect l="45914" t="50000" r="42928" b="42927"/>
          <a:stretch>
            <a:fillRect/>
          </a:stretch>
        </p:blipFill>
        <p:spPr>
          <a:xfrm>
            <a:off x="-1" y="474423"/>
            <a:ext cx="6096000" cy="2173573"/>
          </a:xfrm>
          <a:prstGeom prst="rect">
            <a:avLst/>
          </a:prstGeom>
        </p:spPr>
      </p:pic>
    </p:spTree>
    <p:extLst>
      <p:ext uri="{BB962C8B-B14F-4D97-AF65-F5344CB8AC3E}">
        <p14:creationId xmlns:p14="http://schemas.microsoft.com/office/powerpoint/2010/main" val="409108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0F62-F6A8-5F73-19B8-6AF5A554D1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30AD6B-B7A5-365F-3917-184ED67CC08C}"/>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TextBox 12">
            <a:extLst>
              <a:ext uri="{FF2B5EF4-FFF2-40B4-BE49-F238E27FC236}">
                <a16:creationId xmlns:a16="http://schemas.microsoft.com/office/drawing/2014/main" id="{7C582965-E128-FF59-8E60-6B5387635292}"/>
              </a:ext>
            </a:extLst>
          </p:cNvPr>
          <p:cNvSpPr txBox="1"/>
          <p:nvPr/>
        </p:nvSpPr>
        <p:spPr>
          <a:xfrm>
            <a:off x="1" y="2647996"/>
            <a:ext cx="12191999" cy="3903504"/>
          </a:xfrm>
          <a:prstGeom prst="rect">
            <a:avLst/>
          </a:prstGeom>
          <a:noFill/>
        </p:spPr>
        <p:txBody>
          <a:bodyPr wrap="square">
            <a:spAutoFit/>
          </a:bodyPr>
          <a:lstStyle/>
          <a:p>
            <a:pPr>
              <a:lnSpc>
                <a:spcPct val="150000"/>
              </a:lnSpc>
            </a:pPr>
            <a:r>
              <a:rPr lang="en-US" sz="2800" b="1" dirty="0">
                <a:latin typeface="Calibir"/>
              </a:rPr>
              <a:t>Question 39) In the figure above, the meta element can be referred to as a ____ element of the html element.</a:t>
            </a:r>
            <a:endParaRPr lang="en-US" sz="2800" dirty="0">
              <a:latin typeface="Calibir"/>
            </a:endParaRPr>
          </a:p>
          <a:p>
            <a:pPr>
              <a:lnSpc>
                <a:spcPct val="150000"/>
              </a:lnSpc>
            </a:pPr>
            <a:r>
              <a:rPr lang="en-US" sz="2800" dirty="0">
                <a:latin typeface="Calibir"/>
              </a:rPr>
              <a:t>A. grandparent</a:t>
            </a:r>
            <a:br>
              <a:rPr lang="en-US" sz="2800" dirty="0">
                <a:latin typeface="Calibir"/>
              </a:rPr>
            </a:br>
            <a:r>
              <a:rPr lang="en-US" sz="2800" dirty="0">
                <a:latin typeface="Calibir"/>
              </a:rPr>
              <a:t>B. grandchild</a:t>
            </a:r>
            <a:br>
              <a:rPr lang="en-US" sz="2800" dirty="0">
                <a:latin typeface="Calibir"/>
              </a:rPr>
            </a:br>
            <a:r>
              <a:rPr lang="en-US" sz="2800" dirty="0">
                <a:latin typeface="Calibir"/>
              </a:rPr>
              <a:t>C. sibling</a:t>
            </a:r>
            <a:br>
              <a:rPr lang="en-US" sz="2800" dirty="0">
                <a:latin typeface="Calibir"/>
              </a:rPr>
            </a:br>
            <a:r>
              <a:rPr lang="en-US" sz="2800" dirty="0">
                <a:latin typeface="Calibir"/>
              </a:rPr>
              <a:t>D. cousin</a:t>
            </a:r>
          </a:p>
        </p:txBody>
      </p:sp>
      <p:sp>
        <p:nvSpPr>
          <p:cNvPr id="14" name="Rectangle: Rounded Corners 13">
            <a:extLst>
              <a:ext uri="{FF2B5EF4-FFF2-40B4-BE49-F238E27FC236}">
                <a16:creationId xmlns:a16="http://schemas.microsoft.com/office/drawing/2014/main" id="{9D5F7541-2E44-CD28-936A-D70CB8C21E2E}"/>
              </a:ext>
            </a:extLst>
          </p:cNvPr>
          <p:cNvSpPr/>
          <p:nvPr/>
        </p:nvSpPr>
        <p:spPr>
          <a:xfrm>
            <a:off x="0" y="4709156"/>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2470A08-180B-A3D2-686D-F1E280080994}"/>
              </a:ext>
            </a:extLst>
          </p:cNvPr>
          <p:cNvSpPr txBox="1"/>
          <p:nvPr/>
        </p:nvSpPr>
        <p:spPr>
          <a:xfrm>
            <a:off x="6019799" y="3563518"/>
            <a:ext cx="6172200" cy="2614434"/>
          </a:xfrm>
          <a:prstGeom prst="rect">
            <a:avLst/>
          </a:prstGeom>
          <a:noFill/>
          <a:ln>
            <a:solidFill>
              <a:srgbClr val="FF0000"/>
            </a:solidFill>
          </a:ln>
        </p:spPr>
        <p:txBody>
          <a:bodyPr wrap="square">
            <a:spAutoFit/>
          </a:bodyPr>
          <a:lstStyle/>
          <a:p>
            <a:pPr>
              <a:lnSpc>
                <a:spcPct val="150000"/>
              </a:lnSpc>
            </a:pPr>
            <a:r>
              <a:rPr lang="en-US" sz="2800" dirty="0">
                <a:latin typeface="Calibir"/>
              </a:rPr>
              <a:t>The &lt;meta&gt; element is inside the &lt;head&gt; element, and the &lt;head&gt; element is inside the &lt;html&gt; element. This makes &lt;meta&gt; the grandchild of &lt;html&gt;.</a:t>
            </a:r>
          </a:p>
        </p:txBody>
      </p:sp>
      <p:pic>
        <p:nvPicPr>
          <p:cNvPr id="3" name="Picture 2">
            <a:extLst>
              <a:ext uri="{FF2B5EF4-FFF2-40B4-BE49-F238E27FC236}">
                <a16:creationId xmlns:a16="http://schemas.microsoft.com/office/drawing/2014/main" id="{3B1244CB-C8F4-F8D3-6FE8-9FCEF31D7AAF}"/>
              </a:ext>
            </a:extLst>
          </p:cNvPr>
          <p:cNvPicPr>
            <a:picLocks noChangeAspect="1"/>
          </p:cNvPicPr>
          <p:nvPr/>
        </p:nvPicPr>
        <p:blipFill>
          <a:blip r:embed="rId2"/>
          <a:srcRect l="45914" t="50000" r="42928" b="42927"/>
          <a:stretch>
            <a:fillRect/>
          </a:stretch>
        </p:blipFill>
        <p:spPr>
          <a:xfrm>
            <a:off x="-1" y="474423"/>
            <a:ext cx="6096000" cy="2173573"/>
          </a:xfrm>
          <a:prstGeom prst="rect">
            <a:avLst/>
          </a:prstGeom>
        </p:spPr>
      </p:pic>
    </p:spTree>
    <p:extLst>
      <p:ext uri="{BB962C8B-B14F-4D97-AF65-F5344CB8AC3E}">
        <p14:creationId xmlns:p14="http://schemas.microsoft.com/office/powerpoint/2010/main" val="217466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A783-2218-BB37-EC62-296F62161B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DF3841-EA2E-A1F3-DC67-65A833ED22FF}"/>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TextBox 12">
            <a:extLst>
              <a:ext uri="{FF2B5EF4-FFF2-40B4-BE49-F238E27FC236}">
                <a16:creationId xmlns:a16="http://schemas.microsoft.com/office/drawing/2014/main" id="{BE5DEE6F-4B9C-F82D-B262-D3413BA733A0}"/>
              </a:ext>
            </a:extLst>
          </p:cNvPr>
          <p:cNvSpPr txBox="1"/>
          <p:nvPr/>
        </p:nvSpPr>
        <p:spPr>
          <a:xfrm>
            <a:off x="5185316" y="680048"/>
            <a:ext cx="7006683" cy="3903504"/>
          </a:xfrm>
          <a:prstGeom prst="rect">
            <a:avLst/>
          </a:prstGeom>
          <a:noFill/>
        </p:spPr>
        <p:txBody>
          <a:bodyPr wrap="square">
            <a:spAutoFit/>
          </a:bodyPr>
          <a:lstStyle/>
          <a:p>
            <a:pPr>
              <a:lnSpc>
                <a:spcPct val="150000"/>
              </a:lnSpc>
            </a:pPr>
            <a:r>
              <a:rPr lang="en-US" sz="2800" b="1" dirty="0">
                <a:latin typeface="Calibir"/>
              </a:rPr>
              <a:t>Question 40) In the figure above, the application “Notepad++” is a(n) _____.</a:t>
            </a:r>
            <a:endParaRPr lang="en-US" sz="2800" dirty="0">
              <a:latin typeface="Calibir"/>
            </a:endParaRPr>
          </a:p>
          <a:p>
            <a:pPr>
              <a:lnSpc>
                <a:spcPct val="150000"/>
              </a:lnSpc>
            </a:pPr>
            <a:r>
              <a:rPr lang="en-US" sz="2800" dirty="0">
                <a:latin typeface="Calibir"/>
              </a:rPr>
              <a:t>A. HTML program</a:t>
            </a:r>
            <a:br>
              <a:rPr lang="en-US" sz="2800" dirty="0">
                <a:latin typeface="Calibir"/>
              </a:rPr>
            </a:br>
            <a:r>
              <a:rPr lang="en-US" sz="2800" dirty="0">
                <a:latin typeface="Calibir"/>
              </a:rPr>
              <a:t>B. word processor</a:t>
            </a:r>
            <a:br>
              <a:rPr lang="en-US" sz="2800" dirty="0">
                <a:latin typeface="Calibir"/>
              </a:rPr>
            </a:br>
            <a:r>
              <a:rPr lang="en-US" sz="2800" dirty="0">
                <a:latin typeface="Calibir"/>
              </a:rPr>
              <a:t>C. text editor</a:t>
            </a:r>
            <a:br>
              <a:rPr lang="en-US" sz="2800" dirty="0">
                <a:latin typeface="Calibir"/>
              </a:rPr>
            </a:br>
            <a:r>
              <a:rPr lang="en-US" sz="2800" dirty="0">
                <a:latin typeface="Calibir"/>
              </a:rPr>
              <a:t>D. web editor</a:t>
            </a:r>
          </a:p>
        </p:txBody>
      </p:sp>
      <p:sp>
        <p:nvSpPr>
          <p:cNvPr id="14" name="Rectangle: Rounded Corners 13">
            <a:extLst>
              <a:ext uri="{FF2B5EF4-FFF2-40B4-BE49-F238E27FC236}">
                <a16:creationId xmlns:a16="http://schemas.microsoft.com/office/drawing/2014/main" id="{9290FA42-8EC7-E761-90C8-AE0849C375D2}"/>
              </a:ext>
            </a:extLst>
          </p:cNvPr>
          <p:cNvSpPr/>
          <p:nvPr/>
        </p:nvSpPr>
        <p:spPr>
          <a:xfrm>
            <a:off x="5185316" y="3417809"/>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9269C93-8EA4-9121-9862-420E6830F948}"/>
              </a:ext>
            </a:extLst>
          </p:cNvPr>
          <p:cNvSpPr txBox="1"/>
          <p:nvPr/>
        </p:nvSpPr>
        <p:spPr>
          <a:xfrm>
            <a:off x="1" y="4779001"/>
            <a:ext cx="12191999" cy="1318181"/>
          </a:xfrm>
          <a:prstGeom prst="rect">
            <a:avLst/>
          </a:prstGeom>
          <a:noFill/>
          <a:ln>
            <a:solidFill>
              <a:srgbClr val="FF0000"/>
            </a:solidFill>
          </a:ln>
        </p:spPr>
        <p:txBody>
          <a:bodyPr wrap="square">
            <a:spAutoFit/>
          </a:bodyPr>
          <a:lstStyle/>
          <a:p>
            <a:pPr>
              <a:lnSpc>
                <a:spcPct val="150000"/>
              </a:lnSpc>
            </a:pPr>
            <a:r>
              <a:rPr lang="en-US" sz="2800" dirty="0">
                <a:latin typeface="Calibir"/>
              </a:rPr>
              <a:t>Notepad++ is a text editor used to write and edit code such as HTML, CSS, and JavaScript files.</a:t>
            </a:r>
          </a:p>
        </p:txBody>
      </p:sp>
      <p:pic>
        <p:nvPicPr>
          <p:cNvPr id="5" name="Picture 4">
            <a:extLst>
              <a:ext uri="{FF2B5EF4-FFF2-40B4-BE49-F238E27FC236}">
                <a16:creationId xmlns:a16="http://schemas.microsoft.com/office/drawing/2014/main" id="{815B11C5-D262-F882-2C2B-07C4600D4E2E}"/>
              </a:ext>
            </a:extLst>
          </p:cNvPr>
          <p:cNvPicPr>
            <a:picLocks noChangeAspect="1"/>
          </p:cNvPicPr>
          <p:nvPr/>
        </p:nvPicPr>
        <p:blipFill>
          <a:blip r:embed="rId2"/>
          <a:srcRect l="39238" t="35122" r="35335" b="33170"/>
          <a:stretch>
            <a:fillRect/>
          </a:stretch>
        </p:blipFill>
        <p:spPr>
          <a:xfrm>
            <a:off x="0" y="584775"/>
            <a:ext cx="4973444" cy="3488568"/>
          </a:xfrm>
          <a:prstGeom prst="rect">
            <a:avLst/>
          </a:prstGeom>
        </p:spPr>
      </p:pic>
    </p:spTree>
    <p:extLst>
      <p:ext uri="{BB962C8B-B14F-4D97-AF65-F5344CB8AC3E}">
        <p14:creationId xmlns:p14="http://schemas.microsoft.com/office/powerpoint/2010/main" val="187920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AC793-390F-A28D-1C8F-3255B00999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AC002E-35C9-7647-636A-8F2AE8471BC6}"/>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TextBox 12">
            <a:extLst>
              <a:ext uri="{FF2B5EF4-FFF2-40B4-BE49-F238E27FC236}">
                <a16:creationId xmlns:a16="http://schemas.microsoft.com/office/drawing/2014/main" id="{60F8FFA3-DE56-EB7D-DC48-5103C5C39A34}"/>
              </a:ext>
            </a:extLst>
          </p:cNvPr>
          <p:cNvSpPr txBox="1"/>
          <p:nvPr/>
        </p:nvSpPr>
        <p:spPr>
          <a:xfrm>
            <a:off x="5709424" y="747342"/>
            <a:ext cx="6482575" cy="4549835"/>
          </a:xfrm>
          <a:prstGeom prst="rect">
            <a:avLst/>
          </a:prstGeom>
          <a:noFill/>
        </p:spPr>
        <p:txBody>
          <a:bodyPr wrap="square">
            <a:spAutoFit/>
          </a:bodyPr>
          <a:lstStyle/>
          <a:p>
            <a:pPr>
              <a:lnSpc>
                <a:spcPct val="150000"/>
              </a:lnSpc>
            </a:pPr>
            <a:r>
              <a:rPr lang="en-US" sz="2800" b="1" dirty="0">
                <a:latin typeface="Calibir"/>
              </a:rPr>
              <a:t>Question 41) In the figure above, item #1 tells the user agent that the code is written in ____.</a:t>
            </a:r>
            <a:endParaRPr lang="en-US" sz="2800" dirty="0">
              <a:latin typeface="Calibir"/>
            </a:endParaRPr>
          </a:p>
          <a:p>
            <a:pPr>
              <a:lnSpc>
                <a:spcPct val="150000"/>
              </a:lnSpc>
            </a:pPr>
            <a:r>
              <a:rPr lang="en-US" sz="2800" dirty="0">
                <a:latin typeface="Calibir"/>
              </a:rPr>
              <a:t>A. XHTML</a:t>
            </a:r>
            <a:br>
              <a:rPr lang="en-US" sz="2800" dirty="0">
                <a:latin typeface="Calibir"/>
              </a:rPr>
            </a:br>
            <a:r>
              <a:rPr lang="en-US" sz="2800" dirty="0">
                <a:latin typeface="Calibir"/>
              </a:rPr>
              <a:t>B. XML</a:t>
            </a:r>
            <a:br>
              <a:rPr lang="en-US" sz="2800" dirty="0">
                <a:latin typeface="Calibir"/>
              </a:rPr>
            </a:br>
            <a:r>
              <a:rPr lang="en-US" sz="2800" dirty="0">
                <a:latin typeface="Calibir"/>
              </a:rPr>
              <a:t>C. CSS</a:t>
            </a:r>
          </a:p>
          <a:p>
            <a:pPr>
              <a:lnSpc>
                <a:spcPct val="150000"/>
              </a:lnSpc>
            </a:pPr>
            <a:r>
              <a:rPr lang="en-US" sz="2800" dirty="0">
                <a:latin typeface="Calibir"/>
              </a:rPr>
              <a:t>D. HTML</a:t>
            </a:r>
          </a:p>
        </p:txBody>
      </p:sp>
      <p:sp>
        <p:nvSpPr>
          <p:cNvPr id="14" name="Rectangle: Rounded Corners 13">
            <a:extLst>
              <a:ext uri="{FF2B5EF4-FFF2-40B4-BE49-F238E27FC236}">
                <a16:creationId xmlns:a16="http://schemas.microsoft.com/office/drawing/2014/main" id="{11EED916-8161-7543-1E91-D468A79BC138}"/>
              </a:ext>
            </a:extLst>
          </p:cNvPr>
          <p:cNvSpPr/>
          <p:nvPr/>
        </p:nvSpPr>
        <p:spPr>
          <a:xfrm>
            <a:off x="5709423" y="4633121"/>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E109620-017B-3E09-F423-590EABC3FE28}"/>
              </a:ext>
            </a:extLst>
          </p:cNvPr>
          <p:cNvSpPr txBox="1"/>
          <p:nvPr/>
        </p:nvSpPr>
        <p:spPr>
          <a:xfrm>
            <a:off x="1" y="5459744"/>
            <a:ext cx="12191999" cy="1321772"/>
          </a:xfrm>
          <a:prstGeom prst="rect">
            <a:avLst/>
          </a:prstGeom>
          <a:noFill/>
          <a:ln>
            <a:solidFill>
              <a:srgbClr val="FF0000"/>
            </a:solidFill>
          </a:ln>
        </p:spPr>
        <p:txBody>
          <a:bodyPr wrap="square">
            <a:spAutoFit/>
          </a:bodyPr>
          <a:lstStyle/>
          <a:p>
            <a:pPr>
              <a:lnSpc>
                <a:spcPct val="150000"/>
              </a:lnSpc>
            </a:pPr>
            <a:r>
              <a:rPr lang="en-US" sz="2800" dirty="0">
                <a:latin typeface="Calibir"/>
              </a:rPr>
              <a:t>Item #1 is the &lt;!DOCTYPE html&gt; declaration, which tells the browser that the document is written in HTML5.</a:t>
            </a:r>
          </a:p>
        </p:txBody>
      </p:sp>
      <p:pic>
        <p:nvPicPr>
          <p:cNvPr id="3" name="Picture 2">
            <a:extLst>
              <a:ext uri="{FF2B5EF4-FFF2-40B4-BE49-F238E27FC236}">
                <a16:creationId xmlns:a16="http://schemas.microsoft.com/office/drawing/2014/main" id="{D5638654-DEED-3A3A-3E3D-8AA0165D0EF0}"/>
              </a:ext>
            </a:extLst>
          </p:cNvPr>
          <p:cNvPicPr>
            <a:picLocks noChangeAspect="1"/>
          </p:cNvPicPr>
          <p:nvPr/>
        </p:nvPicPr>
        <p:blipFill>
          <a:blip r:embed="rId2"/>
          <a:srcRect l="39329" t="34472" r="35518" b="33165"/>
          <a:stretch>
            <a:fillRect/>
          </a:stretch>
        </p:blipFill>
        <p:spPr>
          <a:xfrm>
            <a:off x="-1" y="572920"/>
            <a:ext cx="5586761" cy="4043514"/>
          </a:xfrm>
          <a:prstGeom prst="rect">
            <a:avLst/>
          </a:prstGeom>
        </p:spPr>
      </p:pic>
    </p:spTree>
    <p:extLst>
      <p:ext uri="{BB962C8B-B14F-4D97-AF65-F5344CB8AC3E}">
        <p14:creationId xmlns:p14="http://schemas.microsoft.com/office/powerpoint/2010/main" val="428252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1000"/>
                                        <p:tgtEl>
                                          <p:spTgt spid="16"/>
                                        </p:tgtEl>
                                      </p:cBhvr>
                                    </p:animEffect>
                                    <p:anim calcmode="lin" valueType="num">
                                      <p:cBhvr>
                                        <p:cTn id="12" dur="1000" fill="hold"/>
                                        <p:tgtEl>
                                          <p:spTgt spid="16"/>
                                        </p:tgtEl>
                                        <p:attrNameLst>
                                          <p:attrName>ppt_x</p:attrName>
                                        </p:attrNameLst>
                                      </p:cBhvr>
                                      <p:tavLst>
                                        <p:tav tm="0">
                                          <p:val>
                                            <p:strVal val="#ppt_x"/>
                                          </p:val>
                                        </p:tav>
                                        <p:tav tm="100000">
                                          <p:val>
                                            <p:strVal val="#ppt_x"/>
                                          </p:val>
                                        </p:tav>
                                      </p:tavLst>
                                    </p:anim>
                                    <p:anim calcmode="lin" valueType="num">
                                      <p:cBhvr>
                                        <p:cTn id="1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E433D-9362-44FF-6C42-A8A98B36AF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E5C731-162D-2005-8BD6-58893BDAC79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Lab 1 Test (Week 2 &amp; 3) &amp; Online Test 1 Practice</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 name="TextBox 4">
            <a:extLst>
              <a:ext uri="{FF2B5EF4-FFF2-40B4-BE49-F238E27FC236}">
                <a16:creationId xmlns:a16="http://schemas.microsoft.com/office/drawing/2014/main" id="{96608B5A-E47D-80F4-33B9-D9968BADAF31}"/>
              </a:ext>
            </a:extLst>
          </p:cNvPr>
          <p:cNvSpPr txBox="1"/>
          <p:nvPr/>
        </p:nvSpPr>
        <p:spPr>
          <a:xfrm>
            <a:off x="0" y="584775"/>
            <a:ext cx="12032166" cy="5196166"/>
          </a:xfrm>
          <a:prstGeom prst="rect">
            <a:avLst/>
          </a:prstGeom>
          <a:noFill/>
        </p:spPr>
        <p:txBody>
          <a:bodyPr wrap="square">
            <a:spAutoFit/>
          </a:bodyPr>
          <a:lstStyle/>
          <a:p>
            <a:pPr>
              <a:lnSpc>
                <a:spcPct val="150000"/>
              </a:lnSpc>
              <a:buNone/>
            </a:pPr>
            <a:r>
              <a:rPr lang="en-US" sz="2800" b="1" dirty="0">
                <a:latin typeface="Calibir"/>
              </a:rPr>
              <a:t>Question 42) Before creating their website, Mark and Sebastian identify the location of main webpage elements using a wireframe. They leave a few areas of the website intentionally blank to help balance the design of an asymmetrical page. What are these intentionally left blank spaces called?</a:t>
            </a:r>
            <a:endParaRPr lang="en-US" sz="2800" dirty="0">
              <a:latin typeface="Calibir"/>
            </a:endParaRPr>
          </a:p>
          <a:p>
            <a:pPr>
              <a:lnSpc>
                <a:spcPct val="150000"/>
              </a:lnSpc>
              <a:buNone/>
            </a:pPr>
            <a:r>
              <a:rPr lang="en-US" sz="2800" dirty="0">
                <a:latin typeface="Calibir"/>
              </a:rPr>
              <a:t>A. Passive white space</a:t>
            </a:r>
            <a:br>
              <a:rPr lang="en-US" sz="2800" dirty="0">
                <a:latin typeface="Calibir"/>
              </a:rPr>
            </a:br>
            <a:r>
              <a:rPr lang="en-US" sz="2800" dirty="0">
                <a:latin typeface="Calibir"/>
              </a:rPr>
              <a:t>B. Active white space</a:t>
            </a:r>
            <a:br>
              <a:rPr lang="en-US" sz="2800" dirty="0">
                <a:latin typeface="Calibir"/>
              </a:rPr>
            </a:br>
            <a:r>
              <a:rPr lang="en-US" sz="2800" dirty="0">
                <a:latin typeface="Calibir"/>
              </a:rPr>
              <a:t>C. Active dark space</a:t>
            </a:r>
            <a:br>
              <a:rPr lang="en-US" sz="2800" dirty="0">
                <a:latin typeface="Calibir"/>
              </a:rPr>
            </a:br>
            <a:r>
              <a:rPr lang="en-US" sz="2800" dirty="0">
                <a:latin typeface="Calibir"/>
              </a:rPr>
              <a:t>D. Passive dark space</a:t>
            </a:r>
          </a:p>
        </p:txBody>
      </p:sp>
      <p:sp>
        <p:nvSpPr>
          <p:cNvPr id="6" name="Rectangle: Rounded Corners 5">
            <a:extLst>
              <a:ext uri="{FF2B5EF4-FFF2-40B4-BE49-F238E27FC236}">
                <a16:creationId xmlns:a16="http://schemas.microsoft.com/office/drawing/2014/main" id="{B273F812-ECC5-F855-B7D7-6BC72DAC026E}"/>
              </a:ext>
            </a:extLst>
          </p:cNvPr>
          <p:cNvSpPr/>
          <p:nvPr/>
        </p:nvSpPr>
        <p:spPr>
          <a:xfrm>
            <a:off x="0" y="3952896"/>
            <a:ext cx="5430645" cy="5847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583FE08-C74D-EBF0-DB21-50CB52E532D5}"/>
              </a:ext>
            </a:extLst>
          </p:cNvPr>
          <p:cNvSpPr txBox="1"/>
          <p:nvPr/>
        </p:nvSpPr>
        <p:spPr>
          <a:xfrm>
            <a:off x="6003074" y="3754873"/>
            <a:ext cx="6188926" cy="2610843"/>
          </a:xfrm>
          <a:prstGeom prst="rect">
            <a:avLst/>
          </a:prstGeom>
          <a:noFill/>
          <a:ln>
            <a:solidFill>
              <a:srgbClr val="FF0000"/>
            </a:solidFill>
          </a:ln>
        </p:spPr>
        <p:txBody>
          <a:bodyPr wrap="square">
            <a:spAutoFit/>
          </a:bodyPr>
          <a:lstStyle/>
          <a:p>
            <a:pPr>
              <a:lnSpc>
                <a:spcPct val="150000"/>
              </a:lnSpc>
            </a:pPr>
            <a:r>
              <a:rPr lang="en-US" sz="2800" dirty="0">
                <a:latin typeface="Calibir"/>
              </a:rPr>
              <a:t>Active white space is empty space intentionally added to improve balance, readability, and the overall visual design of a webpage.</a:t>
            </a:r>
          </a:p>
        </p:txBody>
      </p:sp>
    </p:spTree>
    <p:extLst>
      <p:ext uri="{BB962C8B-B14F-4D97-AF65-F5344CB8AC3E}">
        <p14:creationId xmlns:p14="http://schemas.microsoft.com/office/powerpoint/2010/main" val="309047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1" presetClass="entr" presetSubtype="1"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E433D-9362-44FF-6C42-A8A98B36AF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E5C731-162D-2005-8BD6-58893BDAC79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First Web Design Example - </a:t>
            </a:r>
            <a:r>
              <a:rPr lang="en-US" sz="3200" b="1" dirty="0" err="1">
                <a:solidFill>
                  <a:prstClr val="black"/>
                </a:solidFill>
                <a:latin typeface="Calibri" panose="020F0502020204030204" pitchFamily="34" charset="0"/>
                <a:cs typeface="Calibri" panose="020F0502020204030204" pitchFamily="34" charset="0"/>
              </a:rPr>
              <a:t>Selfi</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 name="Picture 2">
            <a:extLst>
              <a:ext uri="{FF2B5EF4-FFF2-40B4-BE49-F238E27FC236}">
                <a16:creationId xmlns:a16="http://schemas.microsoft.com/office/drawing/2014/main" id="{98FF1D1E-25A2-43DD-8A18-DC428993FA8B}"/>
              </a:ext>
            </a:extLst>
          </p:cNvPr>
          <p:cNvPicPr>
            <a:picLocks noChangeAspect="1"/>
          </p:cNvPicPr>
          <p:nvPr/>
        </p:nvPicPr>
        <p:blipFill>
          <a:blip r:embed="rId2"/>
          <a:stretch>
            <a:fillRect/>
          </a:stretch>
        </p:blipFill>
        <p:spPr>
          <a:xfrm>
            <a:off x="0" y="867685"/>
            <a:ext cx="12192000" cy="5122630"/>
          </a:xfrm>
          <a:prstGeom prst="rect">
            <a:avLst/>
          </a:prstGeom>
        </p:spPr>
      </p:pic>
    </p:spTree>
    <p:extLst>
      <p:ext uri="{BB962C8B-B14F-4D97-AF65-F5344CB8AC3E}">
        <p14:creationId xmlns:p14="http://schemas.microsoft.com/office/powerpoint/2010/main" val="139394515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E433D-9362-44FF-6C42-A8A98B36AF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E5C731-162D-2005-8BD6-58893BDAC79A}"/>
              </a:ext>
            </a:extLst>
          </p:cNvPr>
          <p:cNvSpPr txBox="1"/>
          <p:nvPr/>
        </p:nvSpPr>
        <p:spPr>
          <a:xfrm>
            <a:off x="0" y="0"/>
            <a:ext cx="8976732" cy="584775"/>
          </a:xfrm>
          <a:prstGeom prst="rect">
            <a:avLst/>
          </a:prstGeom>
          <a:noFill/>
        </p:spPr>
        <p:txBody>
          <a:bodyPr wrap="square" rtlCol="0">
            <a:spAutoFit/>
          </a:bodyPr>
          <a:lstStyle/>
          <a:p>
            <a:pPr lvl="0">
              <a:defRPr/>
            </a:pPr>
            <a:r>
              <a:rPr lang="en-US" sz="3200" b="1" dirty="0">
                <a:solidFill>
                  <a:prstClr val="black"/>
                </a:solidFill>
                <a:latin typeface="Calibri" panose="020F0502020204030204" pitchFamily="34" charset="0"/>
                <a:cs typeface="Calibri" panose="020F0502020204030204" pitchFamily="34" charset="0"/>
              </a:rPr>
              <a:t>First Web Design Example - </a:t>
            </a:r>
            <a:r>
              <a:rPr lang="en-US" sz="3200" b="1" dirty="0" err="1">
                <a:solidFill>
                  <a:prstClr val="black"/>
                </a:solidFill>
                <a:latin typeface="Calibri" panose="020F0502020204030204" pitchFamily="34" charset="0"/>
                <a:cs typeface="Calibri" panose="020F0502020204030204" pitchFamily="34" charset="0"/>
              </a:rPr>
              <a:t>Selfi</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a:extLst>
              <a:ext uri="{FF2B5EF4-FFF2-40B4-BE49-F238E27FC236}">
                <a16:creationId xmlns:a16="http://schemas.microsoft.com/office/drawing/2014/main" id="{4054F1A9-8E02-472F-93CD-A79853D04F52}"/>
              </a:ext>
            </a:extLst>
          </p:cNvPr>
          <p:cNvPicPr>
            <a:picLocks noChangeAspect="1"/>
          </p:cNvPicPr>
          <p:nvPr/>
        </p:nvPicPr>
        <p:blipFill>
          <a:blip r:embed="rId2"/>
          <a:stretch>
            <a:fillRect/>
          </a:stretch>
        </p:blipFill>
        <p:spPr>
          <a:xfrm>
            <a:off x="6523874" y="0"/>
            <a:ext cx="5668126" cy="6858000"/>
          </a:xfrm>
          <a:prstGeom prst="rect">
            <a:avLst/>
          </a:prstGeom>
        </p:spPr>
      </p:pic>
    </p:spTree>
    <p:extLst>
      <p:ext uri="{BB962C8B-B14F-4D97-AF65-F5344CB8AC3E}">
        <p14:creationId xmlns:p14="http://schemas.microsoft.com/office/powerpoint/2010/main" val="13139457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540727" y="3429000"/>
            <a:ext cx="9144000" cy="3257174"/>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Blackboard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730930" y="142034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154430" y="1594466"/>
            <a:ext cx="4513571" cy="4543576"/>
          </a:xfrm>
          <a:prstGeom prst="rect">
            <a:avLst/>
          </a:prstGeom>
        </p:spPr>
        <p:txBody>
          <a:bodyPr vert="horz" lIns="68580" tIns="34290" rIns="68580" bIns="34290" rtlCol="0" anchor="t">
            <a:noAutofit/>
          </a:bodyPr>
          <a:lstStyle/>
          <a:p>
            <a:pPr marL="0" marR="0" lvl="0" indent="0" defTabSz="685800" eaLnBrk="1" fontAlgn="auto" latinLnBrk="0" hangingPunct="1">
              <a:lnSpc>
                <a:spcPct val="150000"/>
              </a:lnSpc>
              <a:spcBef>
                <a:spcPts val="0"/>
              </a:spcBef>
              <a:spcAft>
                <a:spcPts val="450"/>
              </a:spcAft>
              <a:buClrTx/>
              <a:buSzTx/>
              <a:buFontTx/>
              <a:buNone/>
              <a:tabLst/>
              <a:defRPr/>
            </a:pPr>
            <a:r>
              <a:rPr kumimoji="0" lang="en-US" sz="24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Happy Learning and Bright Futures Ahead!</a:t>
            </a:r>
          </a:p>
          <a:p>
            <a:pPr marL="0" marR="0" lvl="0" indent="0" defTabSz="685800" eaLnBrk="1" fontAlgn="auto" latinLnBrk="0" hangingPunct="1">
              <a:lnSpc>
                <a:spcPct val="150000"/>
              </a:lnSpc>
              <a:spcBef>
                <a:spcPts val="0"/>
              </a:spcBef>
              <a:spcAft>
                <a:spcPts val="450"/>
              </a:spcAft>
              <a:buClrTx/>
              <a:buSzTx/>
              <a:buFontTx/>
              <a:buNone/>
              <a:tabLst/>
              <a:defRPr/>
            </a:pPr>
            <a:r>
              <a:rPr kumimoji="0" lang="en-US" sz="2400" b="1"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t>Stay Connected:</a:t>
            </a:r>
            <a:b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b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hlinkClick r:id="rId3"/>
              </a:rPr>
              <a:t>linkedin.com/in/farshid-keivanian</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t> </a:t>
            </a:r>
            <a:b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b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hlinkClick r:id="rId4"/>
              </a:rPr>
              <a:t>github.com/FarshidKeivanian</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400" b="0" i="1"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t>Education is the most powerful weapon you can use to change the world. </a:t>
            </a:r>
            <a:r>
              <a:rPr kumimoji="0" lang="en-US" sz="2400" b="0" i="0" u="none" strike="noStrike" kern="1200" cap="none" spc="0" normalizeH="0" baseline="0" noProof="0" dirty="0">
                <a:ln>
                  <a:noFill/>
                </a:ln>
                <a:solidFill>
                  <a:prstClr val="black">
                    <a:alpha val="80000"/>
                  </a:prstClr>
                </a:solidFill>
                <a:effectLst/>
                <a:uLnTx/>
                <a:uFillTx/>
                <a:latin typeface="Calibri" panose="020F0502020204030204" pitchFamily="34" charset="0"/>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798</TotalTime>
  <Words>8975</Words>
  <Application>Microsoft Office PowerPoint</Application>
  <PresentationFormat>Widescreen</PresentationFormat>
  <Paragraphs>1192</Paragraphs>
  <Slides>164</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164</vt:i4>
      </vt:variant>
    </vt:vector>
  </HeadingPairs>
  <TitlesOfParts>
    <vt:vector size="174" baseType="lpstr">
      <vt:lpstr>Aptos</vt:lpstr>
      <vt:lpstr>Aptos Display</vt:lpstr>
      <vt:lpstr>Arial</vt:lpstr>
      <vt:lpstr>Calibir</vt:lpstr>
      <vt:lpstr>Calibri</vt:lpstr>
      <vt:lpstr>Consolas</vt:lpstr>
      <vt:lpstr>Tahoma</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Farshid Keivanian</dc:creator>
  <cp:lastModifiedBy>Sydney Classroom</cp:lastModifiedBy>
  <cp:revision>283</cp:revision>
  <dcterms:created xsi:type="dcterms:W3CDTF">2024-04-02T03:16:29Z</dcterms:created>
  <dcterms:modified xsi:type="dcterms:W3CDTF">2026-05-15T06:34:17Z</dcterms:modified>
</cp:coreProperties>
</file>
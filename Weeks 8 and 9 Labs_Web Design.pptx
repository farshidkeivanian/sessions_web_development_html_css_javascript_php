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94"/>
  </p:notesMasterIdLst>
  <p:sldIdLst>
    <p:sldId id="287" r:id="rId3"/>
    <p:sldId id="566" r:id="rId4"/>
    <p:sldId id="1880" r:id="rId5"/>
    <p:sldId id="550" r:id="rId6"/>
    <p:sldId id="551" r:id="rId7"/>
    <p:sldId id="538" r:id="rId8"/>
    <p:sldId id="545" r:id="rId9"/>
    <p:sldId id="548" r:id="rId10"/>
    <p:sldId id="547" r:id="rId11"/>
    <p:sldId id="546" r:id="rId12"/>
    <p:sldId id="1876" r:id="rId13"/>
    <p:sldId id="1877" r:id="rId14"/>
    <p:sldId id="1878" r:id="rId15"/>
    <p:sldId id="515" r:id="rId16"/>
    <p:sldId id="1879" r:id="rId17"/>
    <p:sldId id="553" r:id="rId18"/>
    <p:sldId id="554" r:id="rId19"/>
    <p:sldId id="555" r:id="rId20"/>
    <p:sldId id="556" r:id="rId21"/>
    <p:sldId id="557" r:id="rId22"/>
    <p:sldId id="560" r:id="rId23"/>
    <p:sldId id="558" r:id="rId24"/>
    <p:sldId id="559" r:id="rId25"/>
    <p:sldId id="561" r:id="rId26"/>
    <p:sldId id="562" r:id="rId27"/>
    <p:sldId id="563" r:id="rId28"/>
    <p:sldId id="564" r:id="rId29"/>
    <p:sldId id="530" r:id="rId30"/>
    <p:sldId id="568" r:id="rId31"/>
    <p:sldId id="1881" r:id="rId32"/>
    <p:sldId id="1882" r:id="rId33"/>
    <p:sldId id="1883" r:id="rId34"/>
    <p:sldId id="569" r:id="rId35"/>
    <p:sldId id="571" r:id="rId36"/>
    <p:sldId id="572" r:id="rId37"/>
    <p:sldId id="573" r:id="rId38"/>
    <p:sldId id="574" r:id="rId39"/>
    <p:sldId id="570" r:id="rId40"/>
    <p:sldId id="575" r:id="rId41"/>
    <p:sldId id="576" r:id="rId42"/>
    <p:sldId id="577" r:id="rId43"/>
    <p:sldId id="578" r:id="rId44"/>
    <p:sldId id="579" r:id="rId45"/>
    <p:sldId id="580" r:id="rId46"/>
    <p:sldId id="581" r:id="rId47"/>
    <p:sldId id="582" r:id="rId48"/>
    <p:sldId id="1884" r:id="rId49"/>
    <p:sldId id="1885" r:id="rId50"/>
    <p:sldId id="583" r:id="rId51"/>
    <p:sldId id="584" r:id="rId52"/>
    <p:sldId id="585" r:id="rId53"/>
    <p:sldId id="586" r:id="rId54"/>
    <p:sldId id="587" r:id="rId55"/>
    <p:sldId id="588" r:id="rId56"/>
    <p:sldId id="596" r:id="rId57"/>
    <p:sldId id="597" r:id="rId58"/>
    <p:sldId id="589" r:id="rId59"/>
    <p:sldId id="591" r:id="rId60"/>
    <p:sldId id="592" r:id="rId61"/>
    <p:sldId id="593" r:id="rId62"/>
    <p:sldId id="594" r:id="rId63"/>
    <p:sldId id="598" r:id="rId64"/>
    <p:sldId id="599" r:id="rId65"/>
    <p:sldId id="595" r:id="rId66"/>
    <p:sldId id="1851" r:id="rId67"/>
    <p:sldId id="1852" r:id="rId68"/>
    <p:sldId id="1853" r:id="rId69"/>
    <p:sldId id="1854" r:id="rId70"/>
    <p:sldId id="1855" r:id="rId71"/>
    <p:sldId id="1856" r:id="rId72"/>
    <p:sldId id="1857" r:id="rId73"/>
    <p:sldId id="1858" r:id="rId74"/>
    <p:sldId id="1859" r:id="rId75"/>
    <p:sldId id="1860" r:id="rId76"/>
    <p:sldId id="1861" r:id="rId77"/>
    <p:sldId id="1862" r:id="rId78"/>
    <p:sldId id="1863" r:id="rId79"/>
    <p:sldId id="1864" r:id="rId80"/>
    <p:sldId id="1865" r:id="rId81"/>
    <p:sldId id="1866" r:id="rId82"/>
    <p:sldId id="1867" r:id="rId83"/>
    <p:sldId id="1868" r:id="rId84"/>
    <p:sldId id="1870" r:id="rId85"/>
    <p:sldId id="1871" r:id="rId86"/>
    <p:sldId id="1869" r:id="rId87"/>
    <p:sldId id="1872" r:id="rId88"/>
    <p:sldId id="1873" r:id="rId89"/>
    <p:sldId id="1874" r:id="rId90"/>
    <p:sldId id="1875" r:id="rId91"/>
    <p:sldId id="1817" r:id="rId92"/>
    <p:sldId id="1850" r:id="rId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660"/>
  </p:normalViewPr>
  <p:slideViewPr>
    <p:cSldViewPr snapToGrid="0">
      <p:cViewPr varScale="1">
        <p:scale>
          <a:sx n="107" d="100"/>
          <a:sy n="107" d="100"/>
        </p:scale>
        <p:origin x="91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1EC19-7E08-40F0-ACF2-22F660FC7C40}" type="datetimeFigureOut">
              <a:rPr lang="en-AU" smtClean="0"/>
              <a:t>5/06/2026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DBD98D-E85B-4601-A77C-B7964013730D}" type="slidenum">
              <a:rPr lang="en-AU" smtClean="0"/>
              <a:t>‹#›</a:t>
            </a:fld>
            <a:endParaRPr lang="en-AU"/>
          </a:p>
        </p:txBody>
      </p:sp>
    </p:spTree>
    <p:extLst>
      <p:ext uri="{BB962C8B-B14F-4D97-AF65-F5344CB8AC3E}">
        <p14:creationId xmlns:p14="http://schemas.microsoft.com/office/powerpoint/2010/main" val="36971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6C70-B768-65B1-6556-96BF184E4A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95F93E1-16D1-D364-FDE1-F5C43AA28E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CB9E7BB-4707-201F-EE06-A48A12D48944}"/>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5" name="Footer Placeholder 4">
            <a:extLst>
              <a:ext uri="{FF2B5EF4-FFF2-40B4-BE49-F238E27FC236}">
                <a16:creationId xmlns:a16="http://schemas.microsoft.com/office/drawing/2014/main" id="{64A58FB7-C93E-81F6-2E41-0C2CEE839C5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5B1B3D-3648-BA5A-F1E8-F3576B98545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95993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AB4AE-322D-B6C3-A1DE-738FD7ED340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99D54C3-19F9-02AD-025C-69DD9166D1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DA2C77A-6A88-8738-8A39-76BAC476ADD6}"/>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5" name="Footer Placeholder 4">
            <a:extLst>
              <a:ext uri="{FF2B5EF4-FFF2-40B4-BE49-F238E27FC236}">
                <a16:creationId xmlns:a16="http://schemas.microsoft.com/office/drawing/2014/main" id="{57019BD3-F1D6-5FE6-72A9-07F9F9DB2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632BB2-ED4D-4A8C-20BA-C64F1C360C7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6908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EACA-7AAE-C32F-ACC2-3D8D45E234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41DE1E7-6228-8F00-4C8C-49BCF562ED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7B1251-888D-5407-DE40-24E0B5666EAD}"/>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5" name="Footer Placeholder 4">
            <a:extLst>
              <a:ext uri="{FF2B5EF4-FFF2-40B4-BE49-F238E27FC236}">
                <a16:creationId xmlns:a16="http://schemas.microsoft.com/office/drawing/2014/main" id="{1CDD5024-26A5-9A9C-921F-4553B2F00B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3B14B6-C9EC-FC5A-AFAB-8BAA369AC61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64319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5A3B-F871-EAB2-E4CA-F479C9EFA4D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592C35-B8A5-0F3E-E963-C2D19DB882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D3940B5-8BCA-4EF3-185B-F0CF288E55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4717141-9800-0D1B-F4A8-EC0024210BC9}"/>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6" name="Footer Placeholder 5">
            <a:extLst>
              <a:ext uri="{FF2B5EF4-FFF2-40B4-BE49-F238E27FC236}">
                <a16:creationId xmlns:a16="http://schemas.microsoft.com/office/drawing/2014/main" id="{F4C73B31-82FC-930B-CBCE-64029049191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6455AE7-9072-1FF9-7749-898A9ED13F41}"/>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33984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A3EF-EF8F-F539-964B-C4820289D46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8393D2D-46D0-C65F-3CD4-8CA1DC1568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504EA2-A069-2AB5-BE4D-5A9531F19F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1DD3DA3-5E8A-468F-D96D-DEF4FCA9D7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0753A7-BCB6-8494-67C4-A2DE23125A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96EAE1E-45A7-184F-1859-0151A0F6F174}"/>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8" name="Footer Placeholder 7">
            <a:extLst>
              <a:ext uri="{FF2B5EF4-FFF2-40B4-BE49-F238E27FC236}">
                <a16:creationId xmlns:a16="http://schemas.microsoft.com/office/drawing/2014/main" id="{CBE74A07-DECC-AF4C-A1B9-945896FF614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2B7527C-A026-733A-81F8-612A3672D2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807290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D8692-6A66-A81A-F64D-252A01D72B5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5205C8B-6899-F7CD-218F-53B25A8C28A2}"/>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4" name="Footer Placeholder 3">
            <a:extLst>
              <a:ext uri="{FF2B5EF4-FFF2-40B4-BE49-F238E27FC236}">
                <a16:creationId xmlns:a16="http://schemas.microsoft.com/office/drawing/2014/main" id="{BC578AB9-14B5-81D7-6DB2-7A92246ECED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BE25876-36CF-424C-ABB5-B54C23E4EACF}"/>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2454585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D8F218-7BAB-6440-4B90-DD84170B86C6}"/>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3" name="Footer Placeholder 2">
            <a:extLst>
              <a:ext uri="{FF2B5EF4-FFF2-40B4-BE49-F238E27FC236}">
                <a16:creationId xmlns:a16="http://schemas.microsoft.com/office/drawing/2014/main" id="{98B0DA65-2C36-C5F9-E815-493215A422A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75990D7-0136-D22F-360A-B252C724BCF6}"/>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192072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82E2-A10E-6ABD-55B7-3CF2BB17A3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8AFB820-3B67-54EE-9204-21E91A5B64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C38F663-644F-F023-2E42-582EF5E9CC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3E879A-8E01-B66D-0599-3AC685A7BBDA}"/>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6" name="Footer Placeholder 5">
            <a:extLst>
              <a:ext uri="{FF2B5EF4-FFF2-40B4-BE49-F238E27FC236}">
                <a16:creationId xmlns:a16="http://schemas.microsoft.com/office/drawing/2014/main" id="{675E3D63-660A-D02B-96B2-4D753F7C062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9EB7DC-A1C1-DBE0-4D1D-DC8818D620F3}"/>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418686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C59C-D9F3-8D06-AD72-B0ACFEC8A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451E33A-D236-7697-03E8-F0AB97BD5F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47BB688-BC97-FCC2-C6B6-4BF70D294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DF0714-9BF9-CEE3-2D93-A2D3000B4FBE}"/>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6" name="Footer Placeholder 5">
            <a:extLst>
              <a:ext uri="{FF2B5EF4-FFF2-40B4-BE49-F238E27FC236}">
                <a16:creationId xmlns:a16="http://schemas.microsoft.com/office/drawing/2014/main" id="{22D2D7F7-5B88-507C-DE4C-730E04E87A4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EE44157-7A04-856B-4C28-125F1006953A}"/>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483198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45458-5F73-9470-8CAE-2E81515E089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69212-ADB1-50EC-5CEA-45FC695536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3DE07B7-9900-254A-5FCC-8FA7A36E9CDC}"/>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5" name="Footer Placeholder 4">
            <a:extLst>
              <a:ext uri="{FF2B5EF4-FFF2-40B4-BE49-F238E27FC236}">
                <a16:creationId xmlns:a16="http://schemas.microsoft.com/office/drawing/2014/main" id="{1462B5A4-5993-85D1-5468-04356E67084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176EC13-E83E-ED79-64A4-4003E3E1652B}"/>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3031711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B3886C-B88F-C1C9-1FB1-F136ADFDBA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8D7E0EB-AE17-BE86-7C82-F2CA8993E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EDDFC22-96DC-6854-A720-1925CC85A54A}"/>
              </a:ext>
            </a:extLst>
          </p:cNvPr>
          <p:cNvSpPr>
            <a:spLocks noGrp="1"/>
          </p:cNvSpPr>
          <p:nvPr>
            <p:ph type="dt" sz="half" idx="10"/>
          </p:nvPr>
        </p:nvSpPr>
        <p:spPr/>
        <p:txBody>
          <a:bodyPr/>
          <a:lstStyle/>
          <a:p>
            <a:fld id="{7036F693-4807-4ACB-9866-42E633ECA663}" type="datetimeFigureOut">
              <a:rPr lang="en-AU" smtClean="0"/>
              <a:t>5/06/2026</a:t>
            </a:fld>
            <a:endParaRPr lang="en-AU"/>
          </a:p>
        </p:txBody>
      </p:sp>
      <p:sp>
        <p:nvSpPr>
          <p:cNvPr id="5" name="Footer Placeholder 4">
            <a:extLst>
              <a:ext uri="{FF2B5EF4-FFF2-40B4-BE49-F238E27FC236}">
                <a16:creationId xmlns:a16="http://schemas.microsoft.com/office/drawing/2014/main" id="{FC091287-7765-7759-35E1-6830A960FA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AECDA5-B452-46B1-123F-041BF41F130E}"/>
              </a:ext>
            </a:extLst>
          </p:cNvPr>
          <p:cNvSpPr>
            <a:spLocks noGrp="1"/>
          </p:cNvSpPr>
          <p:nvPr>
            <p:ph type="sldNum" sz="quarter" idx="12"/>
          </p:nvPr>
        </p:nvSpPr>
        <p:spPr/>
        <p:txBody>
          <a:bodyPr/>
          <a:lstStyle/>
          <a:p>
            <a:fld id="{7BF9DD6F-E86F-40A2-88B8-DD3E2998C092}" type="slidenum">
              <a:rPr lang="en-AU" smtClean="0"/>
              <a:t>‹#›</a:t>
            </a:fld>
            <a:endParaRPr lang="en-AU"/>
          </a:p>
        </p:txBody>
      </p:sp>
    </p:spTree>
    <p:extLst>
      <p:ext uri="{BB962C8B-B14F-4D97-AF65-F5344CB8AC3E}">
        <p14:creationId xmlns:p14="http://schemas.microsoft.com/office/powerpoint/2010/main" val="9021625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ctrTitle"/>
          </p:nvPr>
        </p:nvSpPr>
        <p:spPr>
          <a:xfrm>
            <a:off x="3055111" y="1967229"/>
            <a:ext cx="4791075" cy="452119"/>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932354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66693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37305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title"/>
          </p:nvPr>
        </p:nvSpPr>
        <p:spPr/>
        <p:txBody>
          <a:bodyPr lIns="0" tIns="0" rIns="0" bIns="0"/>
          <a:lstStyle>
            <a:lvl1pPr>
              <a:defRPr sz="3600" b="1" i="0">
                <a:solidFill>
                  <a:srgbClr val="AE230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54124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44024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53BBB-F907-4623-65DB-FC3156B63C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D4CD2-2F0E-4232-0771-6C58ADBC1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E16003-E5BD-FEBA-3F09-15903EFE492B}"/>
              </a:ext>
            </a:extLst>
          </p:cNvPr>
          <p:cNvSpPr>
            <a:spLocks noGrp="1"/>
          </p:cNvSpPr>
          <p:nvPr>
            <p:ph type="dt" sz="half" idx="10"/>
          </p:nvPr>
        </p:nvSpPr>
        <p:spPr/>
        <p:txBody>
          <a:bodyPr/>
          <a:lstStyle/>
          <a:p>
            <a:fld id="{6C5FC939-4E48-422B-85CF-AE5DFF0E5B8E}" type="datetimeFigureOut">
              <a:rPr lang="en-US" smtClean="0"/>
              <a:t>6/5/2026</a:t>
            </a:fld>
            <a:endParaRPr lang="en-US"/>
          </a:p>
        </p:txBody>
      </p:sp>
      <p:sp>
        <p:nvSpPr>
          <p:cNvPr id="5" name="Footer Placeholder 4">
            <a:extLst>
              <a:ext uri="{FF2B5EF4-FFF2-40B4-BE49-F238E27FC236}">
                <a16:creationId xmlns:a16="http://schemas.microsoft.com/office/drawing/2014/main" id="{330DAAF6-9D4F-1019-FF4B-B11315968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F9AF1-5889-CBF6-6AEB-C2F585F1C35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192389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6B418-3ADB-3D52-362F-EF8EB606CE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DF0B803-0FBE-9FD0-EA3C-E4F9B70AE8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B6BA73C-3BBF-5A39-4403-330159E2A5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36F693-4807-4ACB-9866-42E633ECA663}" type="datetimeFigureOut">
              <a:rPr lang="en-AU" smtClean="0"/>
              <a:t>5/06/2026</a:t>
            </a:fld>
            <a:endParaRPr lang="en-AU"/>
          </a:p>
        </p:txBody>
      </p:sp>
      <p:sp>
        <p:nvSpPr>
          <p:cNvPr id="5" name="Footer Placeholder 4">
            <a:extLst>
              <a:ext uri="{FF2B5EF4-FFF2-40B4-BE49-F238E27FC236}">
                <a16:creationId xmlns:a16="http://schemas.microsoft.com/office/drawing/2014/main" id="{A569C9B0-90EA-F790-C481-782B3C03BC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82F78BE7-9EF2-8115-D3BF-53CF0589B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F9DD6F-E86F-40A2-88B8-DD3E2998C092}" type="slidenum">
              <a:rPr lang="en-AU" smtClean="0"/>
              <a:t>‹#›</a:t>
            </a:fld>
            <a:endParaRPr lang="en-AU"/>
          </a:p>
        </p:txBody>
      </p:sp>
    </p:spTree>
    <p:extLst>
      <p:ext uri="{BB962C8B-B14F-4D97-AF65-F5344CB8AC3E}">
        <p14:creationId xmlns:p14="http://schemas.microsoft.com/office/powerpoint/2010/main" val="2806536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12192000" cy="649224"/>
          </a:xfrm>
          <a:prstGeom prst="rect">
            <a:avLst/>
          </a:prstGeom>
        </p:spPr>
      </p:pic>
      <p:pic>
        <p:nvPicPr>
          <p:cNvPr id="17" name="bg object 17"/>
          <p:cNvPicPr/>
          <p:nvPr/>
        </p:nvPicPr>
        <p:blipFill>
          <a:blip r:embed="rId9" cstate="print"/>
          <a:stretch>
            <a:fillRect/>
          </a:stretch>
        </p:blipFill>
        <p:spPr>
          <a:xfrm>
            <a:off x="192023" y="42671"/>
            <a:ext cx="1531620" cy="562355"/>
          </a:xfrm>
          <a:prstGeom prst="rect">
            <a:avLst/>
          </a:prstGeom>
        </p:spPr>
      </p:pic>
      <p:sp>
        <p:nvSpPr>
          <p:cNvPr id="2" name="Holder 2"/>
          <p:cNvSpPr>
            <a:spLocks noGrp="1"/>
          </p:cNvSpPr>
          <p:nvPr>
            <p:ph type="title"/>
          </p:nvPr>
        </p:nvSpPr>
        <p:spPr>
          <a:xfrm>
            <a:off x="1422019" y="2747213"/>
            <a:ext cx="8163559" cy="574675"/>
          </a:xfrm>
          <a:prstGeom prst="rect">
            <a:avLst/>
          </a:prstGeom>
        </p:spPr>
        <p:txBody>
          <a:bodyPr wrap="square" lIns="0" tIns="0" rIns="0" bIns="0">
            <a:spAutoFit/>
          </a:bodyPr>
          <a:lstStyle>
            <a:lvl1pPr>
              <a:defRPr sz="3600" b="1" i="0">
                <a:solidFill>
                  <a:srgbClr val="AE230D"/>
                </a:solidFill>
                <a:latin typeface="Arial"/>
                <a:cs typeface="Arial"/>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640059" y="6487707"/>
            <a:ext cx="944879" cy="178434"/>
          </a:xfrm>
          <a:prstGeom prst="rect">
            <a:avLst/>
          </a:prstGeom>
        </p:spPr>
        <p:txBody>
          <a:bodyPr wrap="square" lIns="0" tIns="0" rIns="0" bIns="0">
            <a:spAutoFit/>
          </a:bodyPr>
          <a:lstStyle>
            <a:lvl1pPr>
              <a:defRPr sz="1000" b="0" i="0">
                <a:solidFill>
                  <a:schemeClr val="tx1"/>
                </a:solidFill>
                <a:latin typeface="Tahoma"/>
                <a:cs typeface="Tahoma"/>
              </a:defRPr>
            </a:lvl1pPr>
          </a:lstStyle>
          <a:p>
            <a:pPr marL="12700">
              <a:lnSpc>
                <a:spcPct val="100000"/>
              </a:lnSpc>
              <a:spcBef>
                <a:spcPts val="95"/>
              </a:spcBef>
            </a:pPr>
            <a:r>
              <a:rPr dirty="0"/>
              <a:t>Holmes</a:t>
            </a:r>
            <a:r>
              <a:rPr spc="-35" dirty="0"/>
              <a:t> </a:t>
            </a:r>
            <a:r>
              <a:rPr spc="-10" dirty="0"/>
              <a:t>Institute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59523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hyperlink" Target="http://validator.w3.org/" TargetMode="External"/><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hyperlink" Target="http://jigsaw.w3.org/css-validator/" TargetMode="Externa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37.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58C80A-61B1-E3FD-99E2-625B7EEC66F6}"/>
              </a:ext>
            </a:extLst>
          </p:cNvPr>
          <p:cNvSpPr txBox="1"/>
          <p:nvPr/>
        </p:nvSpPr>
        <p:spPr>
          <a:xfrm>
            <a:off x="532880" y="838200"/>
            <a:ext cx="4889226" cy="4876800"/>
          </a:xfrm>
          <a:prstGeom prst="rect">
            <a:avLst/>
          </a:prstGeom>
        </p:spPr>
        <p:txBody>
          <a:bodyPr vert="horz" lIns="51434" tIns="25718" rIns="51434" bIns="25718" rtlCol="0" anchor="b">
            <a:noAutofit/>
          </a:bodyPr>
          <a:lstStyle/>
          <a:p>
            <a:pPr marL="0" marR="0" lvl="0" indent="0" algn="ctr" defTabSz="914400" rtl="0" eaLnBrk="1" fontAlgn="auto" latinLnBrk="0" hangingPunct="1">
              <a:lnSpc>
                <a:spcPct val="90000"/>
              </a:lnSpc>
              <a:spcBef>
                <a:spcPct val="0"/>
              </a:spcBef>
              <a:spcAft>
                <a:spcPts val="338"/>
              </a:spcAft>
              <a:buClrTx/>
              <a:buSzTx/>
              <a:buFontTx/>
              <a:buNone/>
              <a:tabLst/>
              <a:defRPr/>
            </a:pPr>
            <a:r>
              <a:rPr kumimoji="0" lang="en-US" sz="3800" b="1" i="0" u="none" strike="noStrike" kern="1200" cap="none" spc="0" normalizeH="0" baseline="0" noProof="0" dirty="0">
                <a:ln>
                  <a:noFill/>
                </a:ln>
                <a:solidFill>
                  <a:prstClr val="black"/>
                </a:solidFill>
                <a:effectLst/>
                <a:uLnTx/>
                <a:uFillTx/>
                <a:latin typeface="Calibir"/>
                <a:ea typeface="+mn-ea"/>
                <a:cs typeface="+mn-cs"/>
              </a:rPr>
              <a:t>HS1021: Web Design</a:t>
            </a:r>
            <a:br>
              <a:rPr kumimoji="0" lang="en-US" sz="3800" b="1" i="0" u="none" strike="noStrike" kern="1200" cap="none" spc="0" normalizeH="0" baseline="0" noProof="0" dirty="0">
                <a:ln>
                  <a:noFill/>
                </a:ln>
                <a:solidFill>
                  <a:prstClr val="black"/>
                </a:solidFill>
                <a:effectLst/>
                <a:uLnTx/>
                <a:uFillTx/>
                <a:latin typeface="Calibir"/>
                <a:ea typeface="+mn-ea"/>
                <a:cs typeface="+mn-cs"/>
              </a:rPr>
            </a:br>
            <a:endParaRPr kumimoji="0" lang="en-US" sz="3800" b="1" i="0" u="none" strike="noStrike" kern="1200" cap="none" spc="0" normalizeH="0" baseline="0" noProof="0" dirty="0">
              <a:ln>
                <a:noFill/>
              </a:ln>
              <a:solidFill>
                <a:prstClr val="black"/>
              </a:solidFill>
              <a:effectLst/>
              <a:uLnTx/>
              <a:uFillTx/>
              <a:latin typeface="Calibir"/>
              <a:ea typeface="+mn-ea"/>
              <a:cs typeface="+mn-cs"/>
            </a:endParaRPr>
          </a:p>
          <a:p>
            <a:pPr marL="0" marR="0" lvl="0" indent="0" algn="ctr" defTabSz="914400" rtl="0" eaLnBrk="1" fontAlgn="auto" latinLnBrk="0" hangingPunct="1">
              <a:lnSpc>
                <a:spcPct val="90000"/>
              </a:lnSpc>
              <a:spcBef>
                <a:spcPct val="0"/>
              </a:spcBef>
              <a:spcAft>
                <a:spcPts val="338"/>
              </a:spcAft>
              <a:buClrTx/>
              <a:buSzTx/>
              <a:buFontTx/>
              <a:buNone/>
              <a:tabLst/>
              <a:defRPr/>
            </a:pPr>
            <a:r>
              <a:rPr kumimoji="0" lang="en-US" sz="3800" b="1" i="0" u="none" strike="noStrike" kern="1200" cap="none" spc="0" normalizeH="0" baseline="0" noProof="0" dirty="0">
                <a:ln>
                  <a:noFill/>
                </a:ln>
                <a:solidFill>
                  <a:prstClr val="black"/>
                </a:solidFill>
                <a:effectLst/>
                <a:uLnTx/>
                <a:uFillTx/>
                <a:latin typeface="Calibir"/>
                <a:ea typeface="+mn-ea"/>
                <a:cs typeface="+mn-cs"/>
              </a:rPr>
              <a:t>Weeks 8 – 9 Tutorial and Lab 4 Test Practice</a:t>
            </a:r>
          </a:p>
          <a:p>
            <a:pPr marL="0" marR="0" lvl="0" indent="0" algn="ctr" defTabSz="914400" rtl="0" eaLnBrk="1" fontAlgn="auto" latinLnBrk="0" hangingPunct="1">
              <a:lnSpc>
                <a:spcPct val="90000"/>
              </a:lnSpc>
              <a:spcBef>
                <a:spcPct val="0"/>
              </a:spcBef>
              <a:spcAft>
                <a:spcPts val="338"/>
              </a:spcAft>
              <a:buClrTx/>
              <a:buSzTx/>
              <a:buFontTx/>
              <a:buNone/>
              <a:tabLst/>
              <a:defRPr/>
            </a:pPr>
            <a:endParaRPr kumimoji="0" lang="en-US" sz="3800" b="1" i="0" u="none" strike="noStrike" kern="1200" cap="none" spc="0" normalizeH="0" baseline="0" noProof="0" dirty="0">
              <a:ln>
                <a:noFill/>
              </a:ln>
              <a:solidFill>
                <a:prstClr val="black"/>
              </a:solidFill>
              <a:effectLst/>
              <a:uLnTx/>
              <a:uFillTx/>
              <a:latin typeface="Calibir"/>
              <a:ea typeface="+mn-ea"/>
              <a:cs typeface="+mn-cs"/>
            </a:endParaRPr>
          </a:p>
          <a:p>
            <a:pPr marL="0" marR="0" lvl="0" indent="0" algn="ctr" defTabSz="914400" rtl="0" eaLnBrk="1" fontAlgn="auto" latinLnBrk="0" hangingPunct="1">
              <a:lnSpc>
                <a:spcPct val="90000"/>
              </a:lnSpc>
              <a:spcBef>
                <a:spcPct val="0"/>
              </a:spcBef>
              <a:spcAft>
                <a:spcPts val="338"/>
              </a:spcAft>
              <a:buClrTx/>
              <a:buSzTx/>
              <a:buFontTx/>
              <a:buNone/>
              <a:tabLst/>
              <a:defRPr/>
            </a:pPr>
            <a:r>
              <a:rPr kumimoji="0" lang="en-US" sz="3800" b="1" i="0" u="none" strike="noStrike" kern="1200" cap="none" spc="0" normalizeH="0" baseline="0" noProof="0" dirty="0">
                <a:ln>
                  <a:noFill/>
                </a:ln>
                <a:solidFill>
                  <a:prstClr val="black"/>
                </a:solidFill>
                <a:effectLst/>
                <a:uLnTx/>
                <a:uFillTx/>
                <a:latin typeface="Calibir"/>
                <a:ea typeface="+mn-ea"/>
                <a:cs typeface="+mn-cs"/>
              </a:rPr>
              <a:t>Dr. Farshid Keivanian</a:t>
            </a:r>
          </a:p>
        </p:txBody>
      </p:sp>
      <p:pic>
        <p:nvPicPr>
          <p:cNvPr id="5" name="Picture 4">
            <a:extLst>
              <a:ext uri="{FF2B5EF4-FFF2-40B4-BE49-F238E27FC236}">
                <a16:creationId xmlns:a16="http://schemas.microsoft.com/office/drawing/2014/main" id="{14B0392A-D22F-C20C-A44D-F9E3D906B6F8}"/>
              </a:ext>
            </a:extLst>
          </p:cNvPr>
          <p:cNvPicPr>
            <a:picLocks noChangeAspect="1"/>
          </p:cNvPicPr>
          <p:nvPr/>
        </p:nvPicPr>
        <p:blipFill>
          <a:blip r:embed="rId2" cstate="print">
            <a:extLst>
              <a:ext uri="{28A0092B-C50C-407E-A947-70E740481C1C}">
                <a14:useLocalDpi xmlns:a14="http://schemas.microsoft.com/office/drawing/2010/main" val="0"/>
              </a:ext>
            </a:extLst>
          </a:blip>
          <a:srcRect l="4968" r="24813" b="1"/>
          <a:stretch>
            <a:fillRect/>
          </a:stretch>
        </p:blipFill>
        <p:spPr>
          <a:xfrm>
            <a:off x="5954987" y="73691"/>
            <a:ext cx="4607570" cy="6852948"/>
          </a:xfrm>
          <a:prstGeom prst="rect">
            <a:avLst/>
          </a:prstGeom>
        </p:spPr>
      </p:pic>
      <p:pic>
        <p:nvPicPr>
          <p:cNvPr id="6" name="object 3">
            <a:extLst>
              <a:ext uri="{FF2B5EF4-FFF2-40B4-BE49-F238E27FC236}">
                <a16:creationId xmlns:a16="http://schemas.microsoft.com/office/drawing/2014/main" id="{5AA71B59-8A46-5F90-66ED-C66E07C8DB19}"/>
              </a:ext>
            </a:extLst>
          </p:cNvPr>
          <p:cNvPicPr/>
          <p:nvPr/>
        </p:nvPicPr>
        <p:blipFill>
          <a:blip r:embed="rId3" cstate="print"/>
          <a:srcRect l="24413" r="9390"/>
          <a:stretch>
            <a:fillRect/>
          </a:stretch>
        </p:blipFill>
        <p:spPr>
          <a:xfrm>
            <a:off x="10710041" y="73691"/>
            <a:ext cx="1481959" cy="1944414"/>
          </a:xfrm>
          <a:prstGeom prst="rect">
            <a:avLst/>
          </a:prstGeom>
        </p:spPr>
      </p:pic>
    </p:spTree>
    <p:extLst>
      <p:ext uri="{BB962C8B-B14F-4D97-AF65-F5344CB8AC3E}">
        <p14:creationId xmlns:p14="http://schemas.microsoft.com/office/powerpoint/2010/main" val="375236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Explicit example 1 covering lecture 7</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CF65FF16-D454-51DB-1989-FB5DE0D66718}"/>
              </a:ext>
            </a:extLst>
          </p:cNvPr>
          <p:cNvSpPr txBox="1"/>
          <p:nvPr/>
        </p:nvSpPr>
        <p:spPr>
          <a:xfrm>
            <a:off x="0" y="1855978"/>
            <a:ext cx="6190592" cy="461665"/>
          </a:xfrm>
          <a:prstGeom prst="rect">
            <a:avLst/>
          </a:prstGeom>
          <a:noFill/>
        </p:spPr>
        <p:txBody>
          <a:bodyPr wrap="square">
            <a:spAutoFit/>
          </a:bodyPr>
          <a:lstStyle/>
          <a:p>
            <a:pPr algn="l"/>
            <a:r>
              <a:rPr lang="en-US" sz="2400" b="1" i="0" dirty="0">
                <a:solidFill>
                  <a:srgbClr val="0D0D0D"/>
                </a:solidFill>
                <a:effectLst/>
                <a:highlight>
                  <a:srgbClr val="FFFFFF"/>
                </a:highlight>
                <a:latin typeface="Calibri" panose="020F0502020204030204" pitchFamily="34" charset="0"/>
                <a:cs typeface="Calibri" panose="020F0502020204030204" pitchFamily="34" charset="0"/>
              </a:rPr>
              <a:t>HTML and CSS Code:</a:t>
            </a:r>
          </a:p>
        </p:txBody>
      </p:sp>
      <p:pic>
        <p:nvPicPr>
          <p:cNvPr id="7" name="Picture 6">
            <a:extLst>
              <a:ext uri="{FF2B5EF4-FFF2-40B4-BE49-F238E27FC236}">
                <a16:creationId xmlns:a16="http://schemas.microsoft.com/office/drawing/2014/main" id="{A950FE75-124B-A349-9A07-E6C6AD5D0CEA}"/>
              </a:ext>
            </a:extLst>
          </p:cNvPr>
          <p:cNvPicPr>
            <a:picLocks noChangeAspect="1"/>
          </p:cNvPicPr>
          <p:nvPr/>
        </p:nvPicPr>
        <p:blipFill rotWithShape="1">
          <a:blip r:embed="rId3"/>
          <a:srcRect l="11724" t="26206" r="46465" b="51418"/>
          <a:stretch/>
        </p:blipFill>
        <p:spPr>
          <a:xfrm>
            <a:off x="0" y="2396358"/>
            <a:ext cx="7472855" cy="2249561"/>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94593" y="625758"/>
            <a:ext cx="10406259"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These HTML and CSS codes work together to create a simple, responsive webpage with a main article and an aside for additional tips, while ensuring that images are fluid and adapt to the container's width.</a:t>
            </a:r>
          </a:p>
        </p:txBody>
      </p:sp>
      <p:sp>
        <p:nvSpPr>
          <p:cNvPr id="3" name="Rectangle: Rounded Corners 2">
            <a:extLst>
              <a:ext uri="{FF2B5EF4-FFF2-40B4-BE49-F238E27FC236}">
                <a16:creationId xmlns:a16="http://schemas.microsoft.com/office/drawing/2014/main" id="{6E13640A-83F8-9BD9-450F-CC7E2FCE5D27}"/>
              </a:ext>
            </a:extLst>
          </p:cNvPr>
          <p:cNvSpPr/>
          <p:nvPr/>
        </p:nvSpPr>
        <p:spPr>
          <a:xfrm>
            <a:off x="893379" y="3615559"/>
            <a:ext cx="6148552" cy="420413"/>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a:extLst>
              <a:ext uri="{FF2B5EF4-FFF2-40B4-BE49-F238E27FC236}">
                <a16:creationId xmlns:a16="http://schemas.microsoft.com/office/drawing/2014/main" id="{AC2F0C79-3839-4D4F-B44E-654CFDB5BAC9}"/>
              </a:ext>
            </a:extLst>
          </p:cNvPr>
          <p:cNvPicPr>
            <a:picLocks noChangeAspect="1"/>
          </p:cNvPicPr>
          <p:nvPr/>
        </p:nvPicPr>
        <p:blipFill rotWithShape="1">
          <a:blip r:embed="rId4"/>
          <a:srcRect t="14048"/>
          <a:stretch/>
        </p:blipFill>
        <p:spPr>
          <a:xfrm>
            <a:off x="4105835" y="4710164"/>
            <a:ext cx="8086165" cy="2147835"/>
          </a:xfrm>
          <a:prstGeom prst="rect">
            <a:avLst/>
          </a:prstGeom>
          <a:ln>
            <a:solidFill>
              <a:srgbClr val="FF0000"/>
            </a:solidFill>
          </a:ln>
        </p:spPr>
      </p:pic>
    </p:spTree>
    <p:extLst>
      <p:ext uri="{BB962C8B-B14F-4D97-AF65-F5344CB8AC3E}">
        <p14:creationId xmlns:p14="http://schemas.microsoft.com/office/powerpoint/2010/main" val="2524416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Explicit example 1 covering lecture 7</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pic>
        <p:nvPicPr>
          <p:cNvPr id="10" name="Picture 9">
            <a:extLst>
              <a:ext uri="{FF2B5EF4-FFF2-40B4-BE49-F238E27FC236}">
                <a16:creationId xmlns:a16="http://schemas.microsoft.com/office/drawing/2014/main" id="{F59A25FD-24E4-2875-E105-8CAD10E033DB}"/>
              </a:ext>
            </a:extLst>
          </p:cNvPr>
          <p:cNvPicPr>
            <a:picLocks noChangeAspect="1"/>
          </p:cNvPicPr>
          <p:nvPr/>
        </p:nvPicPr>
        <p:blipFill rotWithShape="1">
          <a:blip r:embed="rId3"/>
          <a:srcRect l="9655" t="24215" r="46035" b="55258"/>
          <a:stretch/>
        </p:blipFill>
        <p:spPr>
          <a:xfrm>
            <a:off x="94593" y="1902052"/>
            <a:ext cx="6897149" cy="1797271"/>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94593" y="979701"/>
            <a:ext cx="10406259"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aside element in the </a:t>
            </a:r>
            <a:r>
              <a:rPr kumimoji="0" lang="en-US" altLang="en-US" sz="23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css</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file</a:t>
            </a:r>
          </a:p>
        </p:txBody>
      </p:sp>
      <p:sp>
        <p:nvSpPr>
          <p:cNvPr id="4" name="Rectangle: Rounded Corners 3">
            <a:extLst>
              <a:ext uri="{FF2B5EF4-FFF2-40B4-BE49-F238E27FC236}">
                <a16:creationId xmlns:a16="http://schemas.microsoft.com/office/drawing/2014/main" id="{78FA677F-0479-B1C1-DC9E-6BC17411D3EC}"/>
              </a:ext>
            </a:extLst>
          </p:cNvPr>
          <p:cNvSpPr/>
          <p:nvPr/>
        </p:nvSpPr>
        <p:spPr>
          <a:xfrm>
            <a:off x="1077311" y="3126510"/>
            <a:ext cx="5665076" cy="40464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6FD8ED64-005C-4C5F-A513-0BBF68494AC8}"/>
              </a:ext>
            </a:extLst>
          </p:cNvPr>
          <p:cNvSpPr/>
          <p:nvPr/>
        </p:nvSpPr>
        <p:spPr>
          <a:xfrm>
            <a:off x="7153835" y="1913235"/>
            <a:ext cx="5038165" cy="2246769"/>
          </a:xfrm>
          <a:prstGeom prst="rect">
            <a:avLst/>
          </a:prstGeom>
          <a:solidFill>
            <a:schemeClr val="accent2"/>
          </a:solidFill>
          <a:ln>
            <a:solidFill>
              <a:schemeClr val="accent1"/>
            </a:solidFill>
          </a:ln>
        </p:spPr>
        <p:txBody>
          <a:bodyPr wrap="square">
            <a:spAutoFit/>
          </a:bodyPr>
          <a:lstStyle/>
          <a:p>
            <a:r>
              <a:rPr lang="en-AU" sz="2800" dirty="0">
                <a:latin typeface="Calibir"/>
              </a:rPr>
              <a:t>aside {</a:t>
            </a:r>
          </a:p>
          <a:p>
            <a:r>
              <a:rPr lang="en-AU" sz="2800" dirty="0">
                <a:latin typeface="Calibir"/>
              </a:rPr>
              <a:t>    background-</a:t>
            </a:r>
            <a:r>
              <a:rPr lang="en-AU" sz="2800" dirty="0" err="1">
                <a:latin typeface="Calibir"/>
              </a:rPr>
              <a:t>color</a:t>
            </a:r>
            <a:r>
              <a:rPr lang="en-AU" sz="2800" dirty="0">
                <a:latin typeface="Calibir"/>
              </a:rPr>
              <a:t>: yellow;</a:t>
            </a:r>
          </a:p>
          <a:p>
            <a:r>
              <a:rPr lang="en-AU" sz="2800" dirty="0">
                <a:latin typeface="Calibir"/>
              </a:rPr>
              <a:t>    padding: 1em;</a:t>
            </a:r>
          </a:p>
          <a:p>
            <a:r>
              <a:rPr lang="en-AU" sz="2800" dirty="0">
                <a:latin typeface="Calibir"/>
              </a:rPr>
              <a:t>    border-left: 4px solid #4CAF50;</a:t>
            </a:r>
          </a:p>
          <a:p>
            <a:r>
              <a:rPr lang="en-AU" sz="2800" dirty="0">
                <a:latin typeface="Calibir"/>
              </a:rPr>
              <a:t>}</a:t>
            </a:r>
          </a:p>
        </p:txBody>
      </p:sp>
      <p:pic>
        <p:nvPicPr>
          <p:cNvPr id="9" name="Picture 8">
            <a:extLst>
              <a:ext uri="{FF2B5EF4-FFF2-40B4-BE49-F238E27FC236}">
                <a16:creationId xmlns:a16="http://schemas.microsoft.com/office/drawing/2014/main" id="{D7025927-606B-443A-9E8C-3CE7A8482CCB}"/>
              </a:ext>
            </a:extLst>
          </p:cNvPr>
          <p:cNvPicPr>
            <a:picLocks noChangeAspect="1"/>
          </p:cNvPicPr>
          <p:nvPr/>
        </p:nvPicPr>
        <p:blipFill rotWithShape="1">
          <a:blip r:embed="rId4"/>
          <a:srcRect b="35662"/>
          <a:stretch/>
        </p:blipFill>
        <p:spPr>
          <a:xfrm>
            <a:off x="0" y="4647262"/>
            <a:ext cx="12192000" cy="1910788"/>
          </a:xfrm>
          <a:prstGeom prst="rect">
            <a:avLst/>
          </a:prstGeom>
          <a:ln>
            <a:solidFill>
              <a:srgbClr val="FF0000"/>
            </a:solidFill>
          </a:ln>
        </p:spPr>
      </p:pic>
    </p:spTree>
    <p:extLst>
      <p:ext uri="{BB962C8B-B14F-4D97-AF65-F5344CB8AC3E}">
        <p14:creationId xmlns:p14="http://schemas.microsoft.com/office/powerpoint/2010/main" val="2811004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89909552-B05B-1F86-6CA3-2E0BEF1C5A25}"/>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Explicit example 1 covering lecture 7</a:t>
            </a:r>
            <a:endParaRPr lang="en-AU" sz="2600" b="1" dirty="0">
              <a:latin typeface="Calibri" panose="020F0502020204030204" pitchFamily="34" charset="0"/>
              <a:cs typeface="Calibri" panose="020F0502020204030204" pitchFamily="34" charset="0"/>
            </a:endParaRPr>
          </a:p>
        </p:txBody>
      </p:sp>
      <p:sp>
        <p:nvSpPr>
          <p:cNvPr id="9" name="Rectangle 2">
            <a:extLst>
              <a:ext uri="{FF2B5EF4-FFF2-40B4-BE49-F238E27FC236}">
                <a16:creationId xmlns:a16="http://schemas.microsoft.com/office/drawing/2014/main" id="{B2001277-99AB-A997-1B63-9E023AC70C35}"/>
              </a:ext>
            </a:extLst>
          </p:cNvPr>
          <p:cNvSpPr>
            <a:spLocks noChangeArrowheads="1"/>
          </p:cNvSpPr>
          <p:nvPr/>
        </p:nvSpPr>
        <p:spPr bwMode="auto">
          <a:xfrm>
            <a:off x="0" y="4573834"/>
            <a:ext cx="12097407"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&lt;aside&gt;:</a:t>
            </a:r>
            <a:endPar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 this HTML example, the &lt;aside&gt; element is used to provide supplementary information related to the main content of the &lt;article&gt;. The primary purpose of the &lt;aside&gt; is to house content that is indirectly related to the main topic but still relevant and useful. Here, the &lt;aside&gt; contains tips for healthy eating, which complement the main article about healthy eating habits. </a:t>
            </a:r>
          </a:p>
        </p:txBody>
      </p:sp>
      <p:pic>
        <p:nvPicPr>
          <p:cNvPr id="5" name="Picture 4">
            <a:extLst>
              <a:ext uri="{FF2B5EF4-FFF2-40B4-BE49-F238E27FC236}">
                <a16:creationId xmlns:a16="http://schemas.microsoft.com/office/drawing/2014/main" id="{E259ADA1-D613-61B6-58FB-1675B5D1D735}"/>
              </a:ext>
            </a:extLst>
          </p:cNvPr>
          <p:cNvPicPr>
            <a:picLocks noChangeAspect="1"/>
          </p:cNvPicPr>
          <p:nvPr/>
        </p:nvPicPr>
        <p:blipFill rotWithShape="1">
          <a:blip r:embed="rId3"/>
          <a:srcRect l="4743" t="8430" r="8620" b="35631"/>
          <a:stretch/>
        </p:blipFill>
        <p:spPr>
          <a:xfrm>
            <a:off x="94593" y="578069"/>
            <a:ext cx="10562898" cy="3836277"/>
          </a:xfrm>
          <a:prstGeom prst="rect">
            <a:avLst/>
          </a:prstGeom>
        </p:spPr>
      </p:pic>
    </p:spTree>
    <p:extLst>
      <p:ext uri="{BB962C8B-B14F-4D97-AF65-F5344CB8AC3E}">
        <p14:creationId xmlns:p14="http://schemas.microsoft.com/office/powerpoint/2010/main" val="2377822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89909552-B05B-1F86-6CA3-2E0BEF1C5A25}"/>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Explicit example 1 covering lecture 7</a:t>
            </a:r>
            <a:endParaRPr lang="en-AU" sz="2600" b="1" dirty="0">
              <a:latin typeface="Calibri" panose="020F0502020204030204" pitchFamily="34" charset="0"/>
              <a:cs typeface="Calibri" panose="020F0502020204030204" pitchFamily="34" charset="0"/>
            </a:endParaRPr>
          </a:p>
        </p:txBody>
      </p:sp>
      <p:sp>
        <p:nvSpPr>
          <p:cNvPr id="9" name="Rectangle 2">
            <a:extLst>
              <a:ext uri="{FF2B5EF4-FFF2-40B4-BE49-F238E27FC236}">
                <a16:creationId xmlns:a16="http://schemas.microsoft.com/office/drawing/2014/main" id="{B2001277-99AB-A997-1B63-9E023AC70C35}"/>
              </a:ext>
            </a:extLst>
          </p:cNvPr>
          <p:cNvSpPr>
            <a:spLocks noChangeArrowheads="1"/>
          </p:cNvSpPr>
          <p:nvPr/>
        </p:nvSpPr>
        <p:spPr bwMode="auto">
          <a:xfrm>
            <a:off x="0" y="4750806"/>
            <a:ext cx="12097407"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&lt;aside&gt;:</a:t>
            </a:r>
            <a:endPar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Contextual Information</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It offers additional advice (tips) that enhances the reader's understanding and practice of healthy eating.</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Separation of Content</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It separates supplementary content from the main content. </a:t>
            </a:r>
          </a:p>
        </p:txBody>
      </p:sp>
      <p:pic>
        <p:nvPicPr>
          <p:cNvPr id="5" name="Picture 4">
            <a:extLst>
              <a:ext uri="{FF2B5EF4-FFF2-40B4-BE49-F238E27FC236}">
                <a16:creationId xmlns:a16="http://schemas.microsoft.com/office/drawing/2014/main" id="{3FB2DBA6-D1EA-0DD4-21F5-F5582CC3C1DF}"/>
              </a:ext>
            </a:extLst>
          </p:cNvPr>
          <p:cNvPicPr>
            <a:picLocks noChangeAspect="1"/>
          </p:cNvPicPr>
          <p:nvPr/>
        </p:nvPicPr>
        <p:blipFill rotWithShape="1">
          <a:blip r:embed="rId3"/>
          <a:srcRect l="4743" t="8430" r="8620" b="35631"/>
          <a:stretch/>
        </p:blipFill>
        <p:spPr>
          <a:xfrm>
            <a:off x="94593" y="578069"/>
            <a:ext cx="10562898" cy="3836277"/>
          </a:xfrm>
          <a:prstGeom prst="rect">
            <a:avLst/>
          </a:prstGeom>
        </p:spPr>
      </p:pic>
    </p:spTree>
    <p:extLst>
      <p:ext uri="{BB962C8B-B14F-4D97-AF65-F5344CB8AC3E}">
        <p14:creationId xmlns:p14="http://schemas.microsoft.com/office/powerpoint/2010/main" val="1583586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94593" y="5122233"/>
            <a:ext cx="11881097"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&lt;aside&gt;:</a:t>
            </a:r>
            <a:endPar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Represents content that is tangentially related to the content around it. Here, it is used to provide additional tips related to the main article content.</a:t>
            </a:r>
          </a:p>
        </p:txBody>
      </p:sp>
      <p:sp>
        <p:nvSpPr>
          <p:cNvPr id="3" name="TextBox 2">
            <a:extLst>
              <a:ext uri="{FF2B5EF4-FFF2-40B4-BE49-F238E27FC236}">
                <a16:creationId xmlns:a16="http://schemas.microsoft.com/office/drawing/2014/main" id="{89909552-B05B-1F86-6CA3-2E0BEF1C5A25}"/>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Explicit example 1 covering lecture 7</a:t>
            </a:r>
            <a:endParaRPr lang="en-AU" sz="2600" b="1"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3352A87-6B8B-0B87-F96A-BE85CB5979F0}"/>
              </a:ext>
            </a:extLst>
          </p:cNvPr>
          <p:cNvPicPr>
            <a:picLocks noChangeAspect="1"/>
          </p:cNvPicPr>
          <p:nvPr/>
        </p:nvPicPr>
        <p:blipFill rotWithShape="1">
          <a:blip r:embed="rId3"/>
          <a:srcRect l="4743" t="8430" r="8620" b="35631"/>
          <a:stretch/>
        </p:blipFill>
        <p:spPr>
          <a:xfrm>
            <a:off x="94593" y="578069"/>
            <a:ext cx="10562898" cy="3836277"/>
          </a:xfrm>
          <a:prstGeom prst="rect">
            <a:avLst/>
          </a:prstGeom>
        </p:spPr>
      </p:pic>
    </p:spTree>
    <p:extLst>
      <p:ext uri="{BB962C8B-B14F-4D97-AF65-F5344CB8AC3E}">
        <p14:creationId xmlns:p14="http://schemas.microsoft.com/office/powerpoint/2010/main" val="1300276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
            <a:extLst>
              <a:ext uri="{FF2B5EF4-FFF2-40B4-BE49-F238E27FC236}">
                <a16:creationId xmlns:a16="http://schemas.microsoft.com/office/drawing/2014/main" id="{FA3C81BF-6699-3FC1-9CE2-0B0BDD8804A2}"/>
              </a:ext>
            </a:extLst>
          </p:cNvPr>
          <p:cNvSpPr>
            <a:spLocks noChangeArrowheads="1"/>
          </p:cNvSpPr>
          <p:nvPr/>
        </p:nvSpPr>
        <p:spPr bwMode="auto">
          <a:xfrm>
            <a:off x="267629" y="1086296"/>
            <a:ext cx="11723651" cy="109927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300" dirty="0">
                <a:latin typeface="Calibri" panose="020F0502020204030204" pitchFamily="34" charset="0"/>
                <a:cs typeface="Calibri" panose="020F0502020204030204" pitchFamily="34" charset="0"/>
              </a:rPr>
              <a:t>This example illustrates the use of semantic HTML5 elements, CSS properties for styling and layout, and responsive design techniques.</a:t>
            </a:r>
            <a:endParaRPr lang="en-AU" sz="23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C9DE44EC-C7B4-2F5A-A4BF-1B7F7643221A}"/>
              </a:ext>
            </a:extLst>
          </p:cNvPr>
          <p:cNvPicPr>
            <a:picLocks noChangeAspect="1"/>
          </p:cNvPicPr>
          <p:nvPr/>
        </p:nvPicPr>
        <p:blipFill rotWithShape="1">
          <a:blip r:embed="rId2"/>
          <a:srcRect l="12164" t="59675" r="18780" b="19675"/>
          <a:stretch/>
        </p:blipFill>
        <p:spPr>
          <a:xfrm>
            <a:off x="313582" y="2456329"/>
            <a:ext cx="11564836" cy="1945342"/>
          </a:xfrm>
          <a:prstGeom prst="rect">
            <a:avLst/>
          </a:prstGeom>
          <a:ln>
            <a:solidFill>
              <a:srgbClr val="FF0000"/>
            </a:solidFill>
          </a:ln>
        </p:spPr>
      </p:pic>
      <p:sp>
        <p:nvSpPr>
          <p:cNvPr id="2" name="TextBox 1">
            <a:extLst>
              <a:ext uri="{FF2B5EF4-FFF2-40B4-BE49-F238E27FC236}">
                <a16:creationId xmlns:a16="http://schemas.microsoft.com/office/drawing/2014/main" id="{538AC3B9-595B-1591-CC87-F7F77B1A204D}"/>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Explicit example 2 covering lecture 7</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66198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25E2334-98C6-02A2-64EE-9B62B8C79A4F}"/>
              </a:ext>
            </a:extLst>
          </p:cNvPr>
          <p:cNvPicPr>
            <a:picLocks noChangeAspect="1"/>
          </p:cNvPicPr>
          <p:nvPr/>
        </p:nvPicPr>
        <p:blipFill rotWithShape="1">
          <a:blip r:embed="rId2"/>
          <a:srcRect b="7155"/>
          <a:stretch/>
        </p:blipFill>
        <p:spPr>
          <a:xfrm>
            <a:off x="0" y="539186"/>
            <a:ext cx="12099073" cy="6318814"/>
          </a:xfrm>
          <a:prstGeom prst="rect">
            <a:avLst/>
          </a:prstGeom>
        </p:spPr>
      </p:pic>
      <p:sp>
        <p:nvSpPr>
          <p:cNvPr id="3" name="TextBox 2">
            <a:extLst>
              <a:ext uri="{FF2B5EF4-FFF2-40B4-BE49-F238E27FC236}">
                <a16:creationId xmlns:a16="http://schemas.microsoft.com/office/drawing/2014/main" id="{7768CAAF-0587-B5E5-353C-5D2B2AA617D4}"/>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Explicit example 2 covering lecture 7</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87289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9C54E2-EB3A-18E3-4CB3-8B34D7A4AC81}"/>
              </a:ext>
            </a:extLst>
          </p:cNvPr>
          <p:cNvPicPr>
            <a:picLocks noChangeAspect="1"/>
          </p:cNvPicPr>
          <p:nvPr/>
        </p:nvPicPr>
        <p:blipFill rotWithShape="1">
          <a:blip r:embed="rId2"/>
          <a:srcRect l="3621" t="8276" r="30604" b="13716"/>
          <a:stretch/>
        </p:blipFill>
        <p:spPr>
          <a:xfrm>
            <a:off x="94592" y="567558"/>
            <a:ext cx="9469821" cy="6317350"/>
          </a:xfrm>
          <a:prstGeom prst="rect">
            <a:avLst/>
          </a:prstGeom>
        </p:spPr>
      </p:pic>
      <p:sp>
        <p:nvSpPr>
          <p:cNvPr id="7" name="Rectangle 1">
            <a:extLst>
              <a:ext uri="{FF2B5EF4-FFF2-40B4-BE49-F238E27FC236}">
                <a16:creationId xmlns:a16="http://schemas.microsoft.com/office/drawing/2014/main" id="{FA3C81BF-6699-3FC1-9CE2-0B0BDD8804A2}"/>
              </a:ext>
            </a:extLst>
          </p:cNvPr>
          <p:cNvSpPr>
            <a:spLocks noChangeArrowheads="1"/>
          </p:cNvSpPr>
          <p:nvPr/>
        </p:nvSpPr>
        <p:spPr bwMode="auto">
          <a:xfrm>
            <a:off x="6096000" y="905142"/>
            <a:ext cx="6096001" cy="584775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AU" sz="2200" b="1" dirty="0">
                <a:latin typeface="Calibri" panose="020F0502020204030204" pitchFamily="34" charset="0"/>
                <a:cs typeface="Calibri" panose="020F0502020204030204" pitchFamily="34" charset="0"/>
              </a:rPr>
              <a:t>1. Banner:</a:t>
            </a:r>
            <a:r>
              <a:rPr lang="en-AU" sz="2200" dirty="0">
                <a:latin typeface="Calibri" panose="020F0502020204030204" pitchFamily="34" charset="0"/>
                <a:cs typeface="Calibri" panose="020F0502020204030204" pitchFamily="34" charset="0"/>
              </a:rPr>
              <a:t> The `&lt;header&gt;` element with the class `banner` represents the banner of the website, displaying the site name.</a:t>
            </a:r>
          </a:p>
          <a:p>
            <a:r>
              <a:rPr lang="en-AU" sz="2200" b="1" dirty="0">
                <a:latin typeface="Calibri" panose="020F0502020204030204" pitchFamily="34" charset="0"/>
                <a:cs typeface="Calibri" panose="020F0502020204030204" pitchFamily="34" charset="0"/>
              </a:rPr>
              <a:t>2. Main Content:</a:t>
            </a:r>
            <a:r>
              <a:rPr lang="en-AU" sz="2200" dirty="0">
                <a:latin typeface="Calibri" panose="020F0502020204030204" pitchFamily="34" charset="0"/>
                <a:cs typeface="Calibri" panose="020F0502020204030204" pitchFamily="34" charset="0"/>
              </a:rPr>
              <a:t> The `&lt;main&gt;` element contains:</a:t>
            </a:r>
          </a:p>
          <a:p>
            <a:pPr marL="800100" lvl="1" indent="-342900">
              <a:buFont typeface="Arial" panose="020B0604020202020204" pitchFamily="34" charset="0"/>
              <a:buChar char="•"/>
            </a:pPr>
            <a:r>
              <a:rPr lang="en-AU" sz="2200" b="1" dirty="0">
                <a:latin typeface="Calibri" panose="020F0502020204030204" pitchFamily="34" charset="0"/>
                <a:cs typeface="Calibri" panose="020F0502020204030204" pitchFamily="34" charset="0"/>
              </a:rPr>
              <a:t>Article: </a:t>
            </a:r>
            <a:r>
              <a:rPr lang="en-AU" sz="2200" dirty="0">
                <a:latin typeface="Calibri" panose="020F0502020204030204" pitchFamily="34" charset="0"/>
                <a:cs typeface="Calibri" panose="020F0502020204030204" pitchFamily="34" charset="0"/>
              </a:rPr>
              <a:t>The `&lt;article&gt;` element represents a self-contained composition.</a:t>
            </a:r>
          </a:p>
          <a:p>
            <a:pPr marL="800100" lvl="1" indent="-342900">
              <a:buFont typeface="Arial" panose="020B0604020202020204" pitchFamily="34" charset="0"/>
              <a:buChar char="•"/>
            </a:pPr>
            <a:r>
              <a:rPr lang="en-AU" sz="2200" b="1" dirty="0">
                <a:latin typeface="Calibri" panose="020F0502020204030204" pitchFamily="34" charset="0"/>
                <a:cs typeface="Calibri" panose="020F0502020204030204" pitchFamily="34" charset="0"/>
              </a:rPr>
              <a:t>Aside: </a:t>
            </a:r>
            <a:r>
              <a:rPr lang="en-AU" sz="2200" dirty="0">
                <a:latin typeface="Calibri" panose="020F0502020204030204" pitchFamily="34" charset="0"/>
                <a:cs typeface="Calibri" panose="020F0502020204030204" pitchFamily="34" charset="0"/>
              </a:rPr>
              <a:t>The `&lt;aside&gt;` element provides additional information related to the main content.</a:t>
            </a:r>
          </a:p>
          <a:p>
            <a:pPr marL="800100" lvl="1" indent="-342900">
              <a:buFont typeface="Arial" panose="020B0604020202020204" pitchFamily="34" charset="0"/>
              <a:buChar char="•"/>
            </a:pPr>
            <a:r>
              <a:rPr lang="en-AU" sz="2200" b="1" dirty="0">
                <a:latin typeface="Calibri" panose="020F0502020204030204" pitchFamily="34" charset="0"/>
                <a:cs typeface="Calibri" panose="020F0502020204030204" pitchFamily="34" charset="0"/>
              </a:rPr>
              <a:t>Section: </a:t>
            </a:r>
            <a:r>
              <a:rPr lang="en-AU" sz="2200" dirty="0">
                <a:latin typeface="Calibri" panose="020F0502020204030204" pitchFamily="34" charset="0"/>
                <a:cs typeface="Calibri" panose="020F0502020204030204" pitchFamily="34" charset="0"/>
              </a:rPr>
              <a:t>The `&lt;section&gt;` element represents a thematic grouping of content.</a:t>
            </a:r>
          </a:p>
          <a:p>
            <a:pPr marL="800100" lvl="1" indent="-342900">
              <a:buFont typeface="Arial" panose="020B0604020202020204" pitchFamily="34" charset="0"/>
              <a:buChar char="•"/>
            </a:pPr>
            <a:r>
              <a:rPr lang="en-AU" sz="2200" b="1" dirty="0">
                <a:latin typeface="Calibri" panose="020F0502020204030204" pitchFamily="34" charset="0"/>
                <a:cs typeface="Calibri" panose="020F0502020204030204" pitchFamily="34" charset="0"/>
              </a:rPr>
              <a:t>Figure and </a:t>
            </a:r>
            <a:r>
              <a:rPr lang="en-AU" sz="2200" b="1" dirty="0" err="1">
                <a:latin typeface="Calibri" panose="020F0502020204030204" pitchFamily="34" charset="0"/>
                <a:cs typeface="Calibri" panose="020F0502020204030204" pitchFamily="34" charset="0"/>
              </a:rPr>
              <a:t>Figcaption</a:t>
            </a:r>
            <a:r>
              <a:rPr lang="en-AU" sz="2200" b="1" dirty="0">
                <a:latin typeface="Calibri" panose="020F0502020204030204" pitchFamily="34" charset="0"/>
                <a:cs typeface="Calibri" panose="020F0502020204030204" pitchFamily="34" charset="0"/>
              </a:rPr>
              <a:t>: </a:t>
            </a:r>
            <a:r>
              <a:rPr lang="en-AU" sz="2200" dirty="0">
                <a:latin typeface="Calibri" panose="020F0502020204030204" pitchFamily="34" charset="0"/>
                <a:cs typeface="Calibri" panose="020F0502020204030204" pitchFamily="34" charset="0"/>
              </a:rPr>
              <a:t>The `&lt;figure&gt;` element groups an image (`&lt;</a:t>
            </a:r>
            <a:r>
              <a:rPr lang="en-AU" sz="2200" dirty="0" err="1">
                <a:latin typeface="Calibri" panose="020F0502020204030204" pitchFamily="34" charset="0"/>
                <a:cs typeface="Calibri" panose="020F0502020204030204" pitchFamily="34" charset="0"/>
              </a:rPr>
              <a:t>img</a:t>
            </a:r>
            <a:r>
              <a:rPr lang="en-AU" sz="2200" dirty="0">
                <a:latin typeface="Calibri" panose="020F0502020204030204" pitchFamily="34" charset="0"/>
                <a:cs typeface="Calibri" panose="020F0502020204030204" pitchFamily="34" charset="0"/>
              </a:rPr>
              <a:t>&gt;`) and its caption (`&lt;</a:t>
            </a:r>
            <a:r>
              <a:rPr lang="en-AU" sz="2200" dirty="0" err="1">
                <a:latin typeface="Calibri" panose="020F0502020204030204" pitchFamily="34" charset="0"/>
                <a:cs typeface="Calibri" panose="020F0502020204030204" pitchFamily="34" charset="0"/>
              </a:rPr>
              <a:t>figcaption</a:t>
            </a:r>
            <a:r>
              <a:rPr lang="en-AU" sz="2200" dirty="0">
                <a:latin typeface="Calibri" panose="020F0502020204030204" pitchFamily="34" charset="0"/>
                <a:cs typeface="Calibri" panose="020F0502020204030204" pitchFamily="34" charset="0"/>
              </a:rPr>
              <a:t>&gt;`).</a:t>
            </a:r>
          </a:p>
          <a:p>
            <a:r>
              <a:rPr lang="en-AU" sz="2200" b="1" dirty="0">
                <a:latin typeface="Calibri" panose="020F0502020204030204" pitchFamily="34" charset="0"/>
                <a:cs typeface="Calibri" panose="020F0502020204030204" pitchFamily="34" charset="0"/>
              </a:rPr>
              <a:t>3. Three-Column Layout: </a:t>
            </a:r>
            <a:r>
              <a:rPr lang="en-AU" sz="2200" dirty="0">
                <a:latin typeface="Calibri" panose="020F0502020204030204" pitchFamily="34" charset="0"/>
                <a:cs typeface="Calibri" panose="020F0502020204030204" pitchFamily="34" charset="0"/>
              </a:rPr>
              <a:t>A `&lt;div&gt;` with the class `three-column-layout` creates a container for a three-column layout using flexbox.</a:t>
            </a:r>
          </a:p>
        </p:txBody>
      </p:sp>
      <p:sp>
        <p:nvSpPr>
          <p:cNvPr id="2" name="TextBox 1">
            <a:extLst>
              <a:ext uri="{FF2B5EF4-FFF2-40B4-BE49-F238E27FC236}">
                <a16:creationId xmlns:a16="http://schemas.microsoft.com/office/drawing/2014/main" id="{3F4D28EC-B159-4D8A-CE3A-37C7D1F29437}"/>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Explicit example 2 covering lecture 7</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67464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FA3C81BF-6699-3FC1-9CE2-0B0BDD8804A2}"/>
              </a:ext>
            </a:extLst>
          </p:cNvPr>
          <p:cNvSpPr>
            <a:spLocks noChangeArrowheads="1"/>
          </p:cNvSpPr>
          <p:nvPr/>
        </p:nvSpPr>
        <p:spPr bwMode="auto">
          <a:xfrm>
            <a:off x="2609385" y="1264646"/>
            <a:ext cx="9582617" cy="517064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dirty="0">
                <a:latin typeface="Calibri" panose="020F0502020204030204" pitchFamily="34" charset="0"/>
                <a:cs typeface="Calibri" panose="020F0502020204030204" pitchFamily="34" charset="0"/>
              </a:rPr>
              <a:t>1. Basic styles: </a:t>
            </a:r>
            <a:r>
              <a:rPr lang="en-US" sz="2200" dirty="0">
                <a:latin typeface="Calibri" panose="020F0502020204030204" pitchFamily="34" charset="0"/>
                <a:cs typeface="Calibri" panose="020F0502020204030204" pitchFamily="34" charset="0"/>
              </a:rPr>
              <a:t>General styling for the `body` and resetting margins and padding.</a:t>
            </a:r>
          </a:p>
          <a:p>
            <a:r>
              <a:rPr lang="en-US" sz="2200" b="1" dirty="0">
                <a:latin typeface="Calibri" panose="020F0502020204030204" pitchFamily="34" charset="0"/>
                <a:cs typeface="Calibri" panose="020F0502020204030204" pitchFamily="34" charset="0"/>
              </a:rPr>
              <a:t>2. Banner styles: </a:t>
            </a:r>
            <a:r>
              <a:rPr lang="en-US" sz="2200" dirty="0">
                <a:latin typeface="Calibri" panose="020F0502020204030204" pitchFamily="34" charset="0"/>
                <a:cs typeface="Calibri" panose="020F0502020204030204" pitchFamily="34" charset="0"/>
              </a:rPr>
              <a:t>Styling the banner with a background color, text color, and padding. The `opacity` property is used to set transparency.</a:t>
            </a:r>
          </a:p>
          <a:p>
            <a:r>
              <a:rPr lang="en-US" sz="2200" b="1" dirty="0">
                <a:latin typeface="Calibri" panose="020F0502020204030204" pitchFamily="34" charset="0"/>
                <a:cs typeface="Calibri" panose="020F0502020204030204" pitchFamily="34" charset="0"/>
              </a:rPr>
              <a:t>3. Article, Aside, Section styles: </a:t>
            </a:r>
            <a:r>
              <a:rPr lang="en-US" sz="2200" dirty="0">
                <a:latin typeface="Calibri" panose="020F0502020204030204" pitchFamily="34" charset="0"/>
                <a:cs typeface="Calibri" panose="020F0502020204030204" pitchFamily="34" charset="0"/>
              </a:rPr>
              <a:t>Adding margins and padding to the `&lt;main&gt;` and its child elements. The `aside` element has additional styling for a distinct background and border.</a:t>
            </a:r>
          </a:p>
          <a:p>
            <a:r>
              <a:rPr lang="en-US" sz="2200" b="1" dirty="0">
                <a:latin typeface="Calibri" panose="020F0502020204030204" pitchFamily="34" charset="0"/>
                <a:cs typeface="Calibri" panose="020F0502020204030204" pitchFamily="34" charset="0"/>
              </a:rPr>
              <a:t>4. Figure and </a:t>
            </a:r>
            <a:r>
              <a:rPr lang="en-US" sz="2200" b="1" dirty="0" err="1">
                <a:latin typeface="Calibri" panose="020F0502020204030204" pitchFamily="34" charset="0"/>
                <a:cs typeface="Calibri" panose="020F0502020204030204" pitchFamily="34" charset="0"/>
              </a:rPr>
              <a:t>Figcaption</a:t>
            </a:r>
            <a:r>
              <a:rPr lang="en-US" sz="2200" b="1" dirty="0">
                <a:latin typeface="Calibri" panose="020F0502020204030204" pitchFamily="34" charset="0"/>
                <a:cs typeface="Calibri" panose="020F0502020204030204" pitchFamily="34" charset="0"/>
              </a:rPr>
              <a:t> styles: </a:t>
            </a:r>
            <a:r>
              <a:rPr lang="en-US" sz="2200" dirty="0">
                <a:latin typeface="Calibri" panose="020F0502020204030204" pitchFamily="34" charset="0"/>
                <a:cs typeface="Calibri" panose="020F0502020204030204" pitchFamily="34" charset="0"/>
              </a:rPr>
              <a:t>Centering the figure and ensuring the image scales responsively. The `</a:t>
            </a:r>
            <a:r>
              <a:rPr lang="en-US" sz="2200" dirty="0" err="1">
                <a:latin typeface="Calibri" panose="020F0502020204030204" pitchFamily="34" charset="0"/>
                <a:cs typeface="Calibri" panose="020F0502020204030204" pitchFamily="34" charset="0"/>
              </a:rPr>
              <a:t>figcaption</a:t>
            </a:r>
            <a:r>
              <a:rPr lang="en-US" sz="2200" dirty="0">
                <a:latin typeface="Calibri" panose="020F0502020204030204" pitchFamily="34" charset="0"/>
                <a:cs typeface="Calibri" panose="020F0502020204030204" pitchFamily="34" charset="0"/>
              </a:rPr>
              <a:t>` is styled with a smaller font and color.</a:t>
            </a:r>
          </a:p>
          <a:p>
            <a:r>
              <a:rPr lang="en-US" sz="2200" b="1" dirty="0">
                <a:latin typeface="Calibri" panose="020F0502020204030204" pitchFamily="34" charset="0"/>
                <a:cs typeface="Calibri" panose="020F0502020204030204" pitchFamily="34" charset="0"/>
              </a:rPr>
              <a:t>5. Three-Column Layout: </a:t>
            </a:r>
            <a:r>
              <a:rPr lang="en-US" sz="2200" dirty="0">
                <a:latin typeface="Calibri" panose="020F0502020204030204" pitchFamily="34" charset="0"/>
                <a:cs typeface="Calibri" panose="020F0502020204030204" pitchFamily="34" charset="0"/>
              </a:rPr>
              <a:t>Using flexbox to create a three-column layout. Each column is styled with a background color, padding, and width.</a:t>
            </a:r>
          </a:p>
          <a:p>
            <a:r>
              <a:rPr lang="en-US" sz="2200" b="1" dirty="0">
                <a:latin typeface="Calibri" panose="020F0502020204030204" pitchFamily="34" charset="0"/>
                <a:cs typeface="Calibri" panose="020F0502020204030204" pitchFamily="34" charset="0"/>
              </a:rPr>
              <a:t>6. Opacity and Text-Shadow properties: </a:t>
            </a:r>
            <a:r>
              <a:rPr lang="en-US" sz="2200" dirty="0">
                <a:latin typeface="Calibri" panose="020F0502020204030204" pitchFamily="34" charset="0"/>
                <a:cs typeface="Calibri" panose="020F0502020204030204" pitchFamily="34" charset="0"/>
              </a:rPr>
              <a:t>Applying `opacity` to the banner and `text-shadow` to the `&lt;h1&gt;` for visual effects.</a:t>
            </a:r>
          </a:p>
          <a:p>
            <a:r>
              <a:rPr lang="en-US" sz="2200" b="1" dirty="0">
                <a:latin typeface="Calibri" panose="020F0502020204030204" pitchFamily="34" charset="0"/>
                <a:cs typeface="Calibri" panose="020F0502020204030204" pitchFamily="34" charset="0"/>
              </a:rPr>
              <a:t>7. Overflow property: </a:t>
            </a:r>
            <a:r>
              <a:rPr lang="en-US" sz="2200" dirty="0">
                <a:latin typeface="Calibri" panose="020F0502020204030204" pitchFamily="34" charset="0"/>
                <a:cs typeface="Calibri" panose="020F0502020204030204" pitchFamily="34" charset="0"/>
              </a:rPr>
              <a:t>Ensuring the main content area scrolls if content overflows.</a:t>
            </a:r>
          </a:p>
          <a:p>
            <a:r>
              <a:rPr lang="en-US" sz="2200" b="1" dirty="0">
                <a:latin typeface="Calibri" panose="020F0502020204030204" pitchFamily="34" charset="0"/>
                <a:cs typeface="Calibri" panose="020F0502020204030204" pitchFamily="34" charset="0"/>
              </a:rPr>
              <a:t>8. Responsive Design: </a:t>
            </a:r>
            <a:r>
              <a:rPr lang="en-US" sz="2200" dirty="0">
                <a:latin typeface="Calibri" panose="020F0502020204030204" pitchFamily="34" charset="0"/>
                <a:cs typeface="Calibri" panose="020F0502020204030204" pitchFamily="34" charset="0"/>
              </a:rPr>
              <a:t>Adjusting the three-column layout for smaller screens using a media query.</a:t>
            </a:r>
            <a:endParaRPr lang="en-AU" sz="22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6F43C02F-A31C-FCA1-BDA1-E7D6F272CA80}"/>
              </a:ext>
            </a:extLst>
          </p:cNvPr>
          <p:cNvPicPr>
            <a:picLocks noChangeAspect="1"/>
          </p:cNvPicPr>
          <p:nvPr/>
        </p:nvPicPr>
        <p:blipFill rotWithShape="1">
          <a:blip r:embed="rId2"/>
          <a:srcRect l="3190" t="10728" r="79483" b="9425"/>
          <a:stretch/>
        </p:blipFill>
        <p:spPr>
          <a:xfrm>
            <a:off x="0" y="777766"/>
            <a:ext cx="2333297" cy="6048000"/>
          </a:xfrm>
          <a:prstGeom prst="rect">
            <a:avLst/>
          </a:prstGeom>
        </p:spPr>
      </p:pic>
      <p:sp>
        <p:nvSpPr>
          <p:cNvPr id="2" name="TextBox 1">
            <a:extLst>
              <a:ext uri="{FF2B5EF4-FFF2-40B4-BE49-F238E27FC236}">
                <a16:creationId xmlns:a16="http://schemas.microsoft.com/office/drawing/2014/main" id="{0DC2B9FD-11A2-170E-113A-613A02FA9914}"/>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Explicit example 2 covering lecture 7</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25817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C2B9FD-11A2-170E-113A-613A02FA9914}"/>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Explicit example 2 covering lecture 7</a:t>
            </a:r>
            <a:endParaRPr lang="en-AU" sz="2600" b="1"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0AE49725-75B4-4491-80E7-E72B73154CF6}"/>
              </a:ext>
            </a:extLst>
          </p:cNvPr>
          <p:cNvPicPr>
            <a:picLocks noChangeAspect="1"/>
          </p:cNvPicPr>
          <p:nvPr/>
        </p:nvPicPr>
        <p:blipFill>
          <a:blip r:embed="rId2"/>
          <a:stretch>
            <a:fillRect/>
          </a:stretch>
        </p:blipFill>
        <p:spPr>
          <a:xfrm>
            <a:off x="0" y="1302876"/>
            <a:ext cx="12192000" cy="5555124"/>
          </a:xfrm>
          <a:prstGeom prst="rect">
            <a:avLst/>
          </a:prstGeom>
        </p:spPr>
      </p:pic>
      <p:sp>
        <p:nvSpPr>
          <p:cNvPr id="6" name="Rectangle 1">
            <a:extLst>
              <a:ext uri="{FF2B5EF4-FFF2-40B4-BE49-F238E27FC236}">
                <a16:creationId xmlns:a16="http://schemas.microsoft.com/office/drawing/2014/main" id="{9AD78D33-003B-43E0-89D3-2B1FE261E1B1}"/>
              </a:ext>
            </a:extLst>
          </p:cNvPr>
          <p:cNvSpPr>
            <a:spLocks noChangeArrowheads="1"/>
          </p:cNvSpPr>
          <p:nvPr/>
        </p:nvSpPr>
        <p:spPr bwMode="auto">
          <a:xfrm>
            <a:off x="-2" y="871989"/>
            <a:ext cx="12192002" cy="43088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dirty="0">
                <a:latin typeface="Calibri" panose="020F0502020204030204" pitchFamily="34" charset="0"/>
                <a:cs typeface="Calibri" panose="020F0502020204030204" pitchFamily="34" charset="0"/>
              </a:rPr>
              <a:t>Add an image and change the background color in three-column-layout section:</a:t>
            </a:r>
            <a:endParaRPr lang="en-AU" sz="2200" dirty="0">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82D3EA34-BE0C-4EB0-BDA7-B86BB7794ED0}"/>
              </a:ext>
            </a:extLst>
          </p:cNvPr>
          <p:cNvSpPr/>
          <p:nvPr/>
        </p:nvSpPr>
        <p:spPr>
          <a:xfrm>
            <a:off x="8776447" y="1302876"/>
            <a:ext cx="3415553" cy="1754326"/>
          </a:xfrm>
          <a:prstGeom prst="rect">
            <a:avLst/>
          </a:prstGeom>
          <a:solidFill>
            <a:schemeClr val="accent2"/>
          </a:solidFill>
          <a:ln>
            <a:solidFill>
              <a:schemeClr val="accent1"/>
            </a:solidFill>
          </a:ln>
        </p:spPr>
        <p:txBody>
          <a:bodyPr wrap="square">
            <a:spAutoFit/>
          </a:bodyPr>
          <a:lstStyle/>
          <a:p>
            <a:r>
              <a:rPr lang="en-AU" dirty="0"/>
              <a:t>.three-column-layout {</a:t>
            </a:r>
          </a:p>
          <a:p>
            <a:r>
              <a:rPr lang="en-AU" dirty="0"/>
              <a:t>    display: flex;</a:t>
            </a:r>
          </a:p>
          <a:p>
            <a:r>
              <a:rPr lang="en-AU" dirty="0"/>
              <a:t>    justify-content: space-between;</a:t>
            </a:r>
          </a:p>
          <a:p>
            <a:r>
              <a:rPr lang="en-AU" dirty="0"/>
              <a:t>    padding: 1em;</a:t>
            </a:r>
          </a:p>
          <a:p>
            <a:r>
              <a:rPr lang="en-AU" dirty="0"/>
              <a:t>    background-</a:t>
            </a:r>
            <a:r>
              <a:rPr lang="en-AU" dirty="0" err="1"/>
              <a:t>color</a:t>
            </a:r>
            <a:r>
              <a:rPr lang="en-AU" dirty="0"/>
              <a:t>: #4CAF50;</a:t>
            </a:r>
          </a:p>
          <a:p>
            <a:r>
              <a:rPr lang="en-AU" dirty="0"/>
              <a:t>}</a:t>
            </a:r>
          </a:p>
        </p:txBody>
      </p:sp>
    </p:spTree>
    <p:extLst>
      <p:ext uri="{BB962C8B-B14F-4D97-AF65-F5344CB8AC3E}">
        <p14:creationId xmlns:p14="http://schemas.microsoft.com/office/powerpoint/2010/main" val="706769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C2B9FD-11A2-170E-113A-613A02FA9914}"/>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Explicit example 2 covering lecture 7</a:t>
            </a:r>
            <a:endParaRPr lang="en-AU" sz="2600" b="1" dirty="0">
              <a:latin typeface="Calibri" panose="020F0502020204030204" pitchFamily="34" charset="0"/>
              <a:cs typeface="Calibri" panose="020F0502020204030204" pitchFamily="34" charset="0"/>
            </a:endParaRPr>
          </a:p>
        </p:txBody>
      </p:sp>
      <p:sp>
        <p:nvSpPr>
          <p:cNvPr id="6" name="Rectangle 1">
            <a:extLst>
              <a:ext uri="{FF2B5EF4-FFF2-40B4-BE49-F238E27FC236}">
                <a16:creationId xmlns:a16="http://schemas.microsoft.com/office/drawing/2014/main" id="{9AD78D33-003B-43E0-89D3-2B1FE261E1B1}"/>
              </a:ext>
            </a:extLst>
          </p:cNvPr>
          <p:cNvSpPr>
            <a:spLocks noChangeArrowheads="1"/>
          </p:cNvSpPr>
          <p:nvPr/>
        </p:nvSpPr>
        <p:spPr bwMode="auto">
          <a:xfrm>
            <a:off x="-2" y="871989"/>
            <a:ext cx="4814049" cy="43088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dirty="0">
                <a:latin typeface="Calibri" panose="020F0502020204030204" pitchFamily="34" charset="0"/>
                <a:cs typeface="Calibri" panose="020F0502020204030204" pitchFamily="34" charset="0"/>
              </a:rPr>
              <a:t>Change Opacity of Banner</a:t>
            </a:r>
            <a:endParaRPr lang="en-AU" sz="22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143B5FDD-1543-4862-BC79-22C3BB7B98DB}"/>
              </a:ext>
            </a:extLst>
          </p:cNvPr>
          <p:cNvPicPr>
            <a:picLocks noChangeAspect="1"/>
          </p:cNvPicPr>
          <p:nvPr/>
        </p:nvPicPr>
        <p:blipFill>
          <a:blip r:embed="rId2"/>
          <a:stretch>
            <a:fillRect/>
          </a:stretch>
        </p:blipFill>
        <p:spPr>
          <a:xfrm>
            <a:off x="0" y="1495305"/>
            <a:ext cx="12192000" cy="5212096"/>
          </a:xfrm>
          <a:prstGeom prst="rect">
            <a:avLst/>
          </a:prstGeom>
        </p:spPr>
      </p:pic>
      <p:sp>
        <p:nvSpPr>
          <p:cNvPr id="5" name="Rectangle 4">
            <a:extLst>
              <a:ext uri="{FF2B5EF4-FFF2-40B4-BE49-F238E27FC236}">
                <a16:creationId xmlns:a16="http://schemas.microsoft.com/office/drawing/2014/main" id="{31594F56-7949-4509-B590-E06B5AD118DD}"/>
              </a:ext>
            </a:extLst>
          </p:cNvPr>
          <p:cNvSpPr/>
          <p:nvPr/>
        </p:nvSpPr>
        <p:spPr>
          <a:xfrm>
            <a:off x="10596282" y="532209"/>
            <a:ext cx="1595718" cy="923330"/>
          </a:xfrm>
          <a:prstGeom prst="rect">
            <a:avLst/>
          </a:prstGeom>
          <a:solidFill>
            <a:schemeClr val="accent2"/>
          </a:solidFill>
          <a:ln>
            <a:solidFill>
              <a:schemeClr val="accent1"/>
            </a:solidFill>
          </a:ln>
        </p:spPr>
        <p:txBody>
          <a:bodyPr wrap="square">
            <a:spAutoFit/>
          </a:bodyPr>
          <a:lstStyle/>
          <a:p>
            <a:r>
              <a:rPr lang="en-AU" dirty="0"/>
              <a:t>.banner {</a:t>
            </a:r>
          </a:p>
          <a:p>
            <a:r>
              <a:rPr lang="en-AU" dirty="0"/>
              <a:t>    opacity: 1.9;</a:t>
            </a:r>
          </a:p>
          <a:p>
            <a:r>
              <a:rPr lang="en-AU" dirty="0"/>
              <a:t>}</a:t>
            </a:r>
          </a:p>
        </p:txBody>
      </p:sp>
    </p:spTree>
    <p:extLst>
      <p:ext uri="{BB962C8B-B14F-4D97-AF65-F5344CB8AC3E}">
        <p14:creationId xmlns:p14="http://schemas.microsoft.com/office/powerpoint/2010/main" val="2137733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C2B9FD-11A2-170E-113A-613A02FA9914}"/>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Explicit example 2 covering lecture 7</a:t>
            </a:r>
            <a:endParaRPr lang="en-AU" sz="2600" b="1" dirty="0">
              <a:latin typeface="Calibri" panose="020F0502020204030204" pitchFamily="34" charset="0"/>
              <a:cs typeface="Calibri" panose="020F0502020204030204" pitchFamily="34" charset="0"/>
            </a:endParaRPr>
          </a:p>
        </p:txBody>
      </p:sp>
      <p:sp>
        <p:nvSpPr>
          <p:cNvPr id="6" name="Rectangle 1">
            <a:extLst>
              <a:ext uri="{FF2B5EF4-FFF2-40B4-BE49-F238E27FC236}">
                <a16:creationId xmlns:a16="http://schemas.microsoft.com/office/drawing/2014/main" id="{9AD78D33-003B-43E0-89D3-2B1FE261E1B1}"/>
              </a:ext>
            </a:extLst>
          </p:cNvPr>
          <p:cNvSpPr>
            <a:spLocks noChangeArrowheads="1"/>
          </p:cNvSpPr>
          <p:nvPr/>
        </p:nvSpPr>
        <p:spPr bwMode="auto">
          <a:xfrm>
            <a:off x="-2" y="871989"/>
            <a:ext cx="7153837" cy="43088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dirty="0">
                <a:latin typeface="Calibri" panose="020F0502020204030204" pitchFamily="34" charset="0"/>
                <a:cs typeface="Calibri" panose="020F0502020204030204" pitchFamily="34" charset="0"/>
              </a:rPr>
              <a:t>Change Background color in aside element</a:t>
            </a:r>
            <a:endParaRPr lang="en-AU" sz="22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D3F71A57-D50D-40F5-9AFA-D237475E6E09}"/>
              </a:ext>
            </a:extLst>
          </p:cNvPr>
          <p:cNvPicPr>
            <a:picLocks noChangeAspect="1"/>
          </p:cNvPicPr>
          <p:nvPr/>
        </p:nvPicPr>
        <p:blipFill>
          <a:blip r:embed="rId2"/>
          <a:stretch>
            <a:fillRect/>
          </a:stretch>
        </p:blipFill>
        <p:spPr>
          <a:xfrm>
            <a:off x="0" y="1455538"/>
            <a:ext cx="11760888" cy="5402461"/>
          </a:xfrm>
          <a:prstGeom prst="rect">
            <a:avLst/>
          </a:prstGeom>
        </p:spPr>
      </p:pic>
      <p:sp>
        <p:nvSpPr>
          <p:cNvPr id="5" name="Rectangle 4">
            <a:extLst>
              <a:ext uri="{FF2B5EF4-FFF2-40B4-BE49-F238E27FC236}">
                <a16:creationId xmlns:a16="http://schemas.microsoft.com/office/drawing/2014/main" id="{31594F56-7949-4509-B590-E06B5AD118DD}"/>
              </a:ext>
            </a:extLst>
          </p:cNvPr>
          <p:cNvSpPr/>
          <p:nvPr/>
        </p:nvSpPr>
        <p:spPr>
          <a:xfrm>
            <a:off x="8892988" y="0"/>
            <a:ext cx="3299012" cy="1477328"/>
          </a:xfrm>
          <a:prstGeom prst="rect">
            <a:avLst/>
          </a:prstGeom>
          <a:solidFill>
            <a:schemeClr val="accent2"/>
          </a:solidFill>
          <a:ln>
            <a:solidFill>
              <a:schemeClr val="accent1"/>
            </a:solidFill>
          </a:ln>
        </p:spPr>
        <p:txBody>
          <a:bodyPr wrap="square">
            <a:spAutoFit/>
          </a:bodyPr>
          <a:lstStyle/>
          <a:p>
            <a:r>
              <a:rPr lang="en-US" dirty="0"/>
              <a:t>aside {</a:t>
            </a:r>
          </a:p>
          <a:p>
            <a:r>
              <a:rPr lang="en-US" dirty="0"/>
              <a:t>    background-color: yellow;</a:t>
            </a:r>
          </a:p>
          <a:p>
            <a:r>
              <a:rPr lang="en-US" dirty="0"/>
              <a:t>    padding: 1em;</a:t>
            </a:r>
          </a:p>
          <a:p>
            <a:r>
              <a:rPr lang="en-US" dirty="0"/>
              <a:t>    border-left: 4px solid #4CAF50;</a:t>
            </a:r>
          </a:p>
          <a:p>
            <a:r>
              <a:rPr lang="en-US" dirty="0"/>
              <a:t>}</a:t>
            </a:r>
            <a:endParaRPr lang="en-AU" dirty="0"/>
          </a:p>
        </p:txBody>
      </p:sp>
    </p:spTree>
    <p:extLst>
      <p:ext uri="{BB962C8B-B14F-4D97-AF65-F5344CB8AC3E}">
        <p14:creationId xmlns:p14="http://schemas.microsoft.com/office/powerpoint/2010/main" val="1183637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Project 1 Beach Day</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pic>
        <p:nvPicPr>
          <p:cNvPr id="6" name="Picture 5">
            <a:extLst>
              <a:ext uri="{FF2B5EF4-FFF2-40B4-BE49-F238E27FC236}">
                <a16:creationId xmlns:a16="http://schemas.microsoft.com/office/drawing/2014/main" id="{7D0A4707-491A-3908-2D4F-C6DC26F81F27}"/>
              </a:ext>
            </a:extLst>
          </p:cNvPr>
          <p:cNvPicPr>
            <a:picLocks noChangeAspect="1"/>
          </p:cNvPicPr>
          <p:nvPr/>
        </p:nvPicPr>
        <p:blipFill rotWithShape="1">
          <a:blip r:embed="rId3"/>
          <a:srcRect b="5441"/>
          <a:stretch/>
        </p:blipFill>
        <p:spPr>
          <a:xfrm>
            <a:off x="5528928" y="3412428"/>
            <a:ext cx="6663072" cy="3544064"/>
          </a:xfrm>
          <a:prstGeom prst="rect">
            <a:avLst/>
          </a:prstGeom>
        </p:spPr>
      </p:pic>
      <p:sp>
        <p:nvSpPr>
          <p:cNvPr id="8" name="TextBox 7">
            <a:extLst>
              <a:ext uri="{FF2B5EF4-FFF2-40B4-BE49-F238E27FC236}">
                <a16:creationId xmlns:a16="http://schemas.microsoft.com/office/drawing/2014/main" id="{60C195F6-45E5-B3BE-AF36-999D627262A0}"/>
              </a:ext>
            </a:extLst>
          </p:cNvPr>
          <p:cNvSpPr txBox="1"/>
          <p:nvPr/>
        </p:nvSpPr>
        <p:spPr>
          <a:xfrm>
            <a:off x="194440" y="720409"/>
            <a:ext cx="11020097" cy="2692019"/>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Project 1: Styling for Responsive Design</a:t>
            </a:r>
          </a:p>
          <a:p>
            <a:pPr>
              <a:lnSpc>
                <a:spcPct val="150000"/>
              </a:lnSpc>
            </a:pPr>
            <a:r>
              <a:rPr lang="en-US" sz="2300" b="1" dirty="0">
                <a:latin typeface="Calibri" panose="020F0502020204030204" pitchFamily="34" charset="0"/>
                <a:cs typeface="Calibri" panose="020F0502020204030204" pitchFamily="34" charset="0"/>
              </a:rPr>
              <a:t>Instructions:</a:t>
            </a:r>
          </a:p>
          <a:p>
            <a:pPr>
              <a:lnSpc>
                <a:spcPct val="150000"/>
              </a:lnSpc>
              <a:buFont typeface="+mj-lt"/>
              <a:buAutoNum type="arabicPeriod"/>
            </a:pPr>
            <a:r>
              <a:rPr lang="en-US" sz="2300" b="1" dirty="0">
                <a:latin typeface="Calibri" panose="020F0502020204030204" pitchFamily="34" charset="0"/>
                <a:cs typeface="Calibri" panose="020F0502020204030204" pitchFamily="34" charset="0"/>
              </a:rPr>
              <a:t> Open apply08.html in your browser:</a:t>
            </a:r>
          </a:p>
          <a:p>
            <a:pPr marL="742950" lvl="1" indent="-285750">
              <a:lnSpc>
                <a:spcPct val="150000"/>
              </a:lnSpc>
              <a:buFont typeface="+mj-lt"/>
              <a:buAutoNum type="arabicPeriod"/>
            </a:pPr>
            <a:r>
              <a:rPr lang="en-US" sz="2300" dirty="0">
                <a:latin typeface="Calibri" panose="020F0502020204030204" pitchFamily="34" charset="0"/>
                <a:cs typeface="Calibri" panose="020F0502020204030204" pitchFamily="34" charset="0"/>
              </a:rPr>
              <a:t>Done.</a:t>
            </a:r>
          </a:p>
          <a:p>
            <a:pPr>
              <a:lnSpc>
                <a:spcPct val="150000"/>
              </a:lnSpc>
              <a:buFont typeface="+mj-lt"/>
              <a:buAutoNum type="arabicPeriod"/>
            </a:pPr>
            <a:r>
              <a:rPr lang="en-US" sz="2300" b="1" dirty="0">
                <a:latin typeface="Calibri" panose="020F0502020204030204" pitchFamily="34" charset="0"/>
                <a:cs typeface="Calibri" panose="020F0502020204030204" pitchFamily="34" charset="0"/>
              </a:rPr>
              <a:t> Open apply08.html in your text editor and modify the comment at the top:</a:t>
            </a:r>
          </a:p>
        </p:txBody>
      </p:sp>
      <p:pic>
        <p:nvPicPr>
          <p:cNvPr id="10" name="Picture 9">
            <a:extLst>
              <a:ext uri="{FF2B5EF4-FFF2-40B4-BE49-F238E27FC236}">
                <a16:creationId xmlns:a16="http://schemas.microsoft.com/office/drawing/2014/main" id="{F0677EBA-85D9-5A93-CE1F-3ED2CC0A0B5E}"/>
              </a:ext>
            </a:extLst>
          </p:cNvPr>
          <p:cNvPicPr>
            <a:picLocks noChangeAspect="1"/>
          </p:cNvPicPr>
          <p:nvPr/>
        </p:nvPicPr>
        <p:blipFill rotWithShape="1">
          <a:blip r:embed="rId4"/>
          <a:srcRect l="10689" t="21038" r="44741" b="50935"/>
          <a:stretch/>
        </p:blipFill>
        <p:spPr>
          <a:xfrm>
            <a:off x="194440" y="3640395"/>
            <a:ext cx="5155326" cy="1823580"/>
          </a:xfrm>
          <a:prstGeom prst="rect">
            <a:avLst/>
          </a:prstGeom>
        </p:spPr>
      </p:pic>
      <p:sp>
        <p:nvSpPr>
          <p:cNvPr id="11" name="Rectangle: Rounded Corners 10">
            <a:extLst>
              <a:ext uri="{FF2B5EF4-FFF2-40B4-BE49-F238E27FC236}">
                <a16:creationId xmlns:a16="http://schemas.microsoft.com/office/drawing/2014/main" id="{08FB0422-6ACD-4139-EE38-54F041371A57}"/>
              </a:ext>
            </a:extLst>
          </p:cNvPr>
          <p:cNvSpPr/>
          <p:nvPr/>
        </p:nvSpPr>
        <p:spPr>
          <a:xfrm>
            <a:off x="840826" y="5023946"/>
            <a:ext cx="4004441" cy="44003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044673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Project 1 Beach Day</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8" name="TextBox 7">
            <a:extLst>
              <a:ext uri="{FF2B5EF4-FFF2-40B4-BE49-F238E27FC236}">
                <a16:creationId xmlns:a16="http://schemas.microsoft.com/office/drawing/2014/main" id="{60C195F6-45E5-B3BE-AF36-999D627262A0}"/>
              </a:ext>
            </a:extLst>
          </p:cNvPr>
          <p:cNvSpPr txBox="1"/>
          <p:nvPr/>
        </p:nvSpPr>
        <p:spPr>
          <a:xfrm>
            <a:off x="0" y="666845"/>
            <a:ext cx="11020097" cy="568361"/>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Show the figure in a lower width (show images vertically) – with any beach images</a:t>
            </a:r>
          </a:p>
        </p:txBody>
      </p:sp>
      <p:sp>
        <p:nvSpPr>
          <p:cNvPr id="3" name="Rectangle 2">
            <a:extLst>
              <a:ext uri="{FF2B5EF4-FFF2-40B4-BE49-F238E27FC236}">
                <a16:creationId xmlns:a16="http://schemas.microsoft.com/office/drawing/2014/main" id="{8FC66FAD-92E1-4252-AB37-22C210302C3C}"/>
              </a:ext>
            </a:extLst>
          </p:cNvPr>
          <p:cNvSpPr/>
          <p:nvPr/>
        </p:nvSpPr>
        <p:spPr>
          <a:xfrm>
            <a:off x="6096001" y="1785809"/>
            <a:ext cx="6096000" cy="2031325"/>
          </a:xfrm>
          <a:prstGeom prst="rect">
            <a:avLst/>
          </a:prstGeom>
          <a:solidFill>
            <a:schemeClr val="accent2"/>
          </a:solidFill>
        </p:spPr>
        <p:txBody>
          <a:bodyPr wrap="square">
            <a:spAutoFit/>
          </a:bodyPr>
          <a:lstStyle/>
          <a:p>
            <a:r>
              <a:rPr lang="en-AU" dirty="0"/>
              <a:t>/* Styles for Beach Day - Mayer Alvarez </a:t>
            </a:r>
            <a:r>
              <a:rPr lang="en-AU" dirty="0" err="1"/>
              <a:t>Vivanco</a:t>
            </a:r>
            <a:r>
              <a:rPr lang="en-AU" dirty="0"/>
              <a:t>, 2024-05-17 */</a:t>
            </a:r>
          </a:p>
          <a:p>
            <a:r>
              <a:rPr lang="en-AU" dirty="0" err="1"/>
              <a:t>img</a:t>
            </a:r>
            <a:r>
              <a:rPr lang="en-AU" dirty="0"/>
              <a:t> {</a:t>
            </a:r>
          </a:p>
          <a:p>
            <a:r>
              <a:rPr lang="en-AU" dirty="0"/>
              <a:t>    max-width: 100%;</a:t>
            </a:r>
          </a:p>
          <a:p>
            <a:r>
              <a:rPr lang="en-AU" dirty="0"/>
              <a:t>}</a:t>
            </a:r>
          </a:p>
          <a:p>
            <a:r>
              <a:rPr lang="en-AU" dirty="0"/>
              <a:t>#container {</a:t>
            </a:r>
          </a:p>
          <a:p>
            <a:r>
              <a:rPr lang="en-AU" dirty="0"/>
              <a:t>    width: 20%;</a:t>
            </a:r>
          </a:p>
          <a:p>
            <a:r>
              <a:rPr lang="en-AU" dirty="0"/>
              <a:t>}</a:t>
            </a:r>
          </a:p>
        </p:txBody>
      </p:sp>
      <p:pic>
        <p:nvPicPr>
          <p:cNvPr id="4" name="Picture 3">
            <a:extLst>
              <a:ext uri="{FF2B5EF4-FFF2-40B4-BE49-F238E27FC236}">
                <a16:creationId xmlns:a16="http://schemas.microsoft.com/office/drawing/2014/main" id="{A31C042E-F264-4297-A69B-460679116E30}"/>
              </a:ext>
            </a:extLst>
          </p:cNvPr>
          <p:cNvPicPr>
            <a:picLocks noChangeAspect="1"/>
          </p:cNvPicPr>
          <p:nvPr/>
        </p:nvPicPr>
        <p:blipFill>
          <a:blip r:embed="rId3"/>
          <a:stretch>
            <a:fillRect/>
          </a:stretch>
        </p:blipFill>
        <p:spPr>
          <a:xfrm>
            <a:off x="0" y="1235206"/>
            <a:ext cx="5473921" cy="5622794"/>
          </a:xfrm>
          <a:prstGeom prst="rect">
            <a:avLst/>
          </a:prstGeom>
        </p:spPr>
      </p:pic>
    </p:spTree>
    <p:extLst>
      <p:ext uri="{BB962C8B-B14F-4D97-AF65-F5344CB8AC3E}">
        <p14:creationId xmlns:p14="http://schemas.microsoft.com/office/powerpoint/2010/main" val="608103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Project 1 Beach Day</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8" name="TextBox 7">
            <a:extLst>
              <a:ext uri="{FF2B5EF4-FFF2-40B4-BE49-F238E27FC236}">
                <a16:creationId xmlns:a16="http://schemas.microsoft.com/office/drawing/2014/main" id="{60C195F6-45E5-B3BE-AF36-999D627262A0}"/>
              </a:ext>
            </a:extLst>
          </p:cNvPr>
          <p:cNvSpPr txBox="1"/>
          <p:nvPr/>
        </p:nvSpPr>
        <p:spPr>
          <a:xfrm>
            <a:off x="194440" y="720409"/>
            <a:ext cx="11020097" cy="2692019"/>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Project 1: Styling for Responsive Design</a:t>
            </a:r>
          </a:p>
          <a:p>
            <a:pPr marL="0" marR="0" lvl="0" indent="0" algn="l" defTabSz="914400" rtl="0" eaLnBrk="0" fontAlgn="base" latinLnBrk="0" hangingPunct="0">
              <a:lnSpc>
                <a:spcPct val="150000"/>
              </a:lnSpc>
              <a:spcBef>
                <a:spcPct val="0"/>
              </a:spcBef>
              <a:spcAft>
                <a:spcPct val="0"/>
              </a:spcAft>
              <a:buClrTx/>
              <a:buSzTx/>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 Remove the width and height attributes from the image elements and save your changes</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Done above.</a:t>
            </a:r>
          </a:p>
          <a:p>
            <a:pPr marL="0" marR="0" lvl="0" indent="0" algn="l" defTabSz="914400" rtl="0" eaLnBrk="0" fontAlgn="base" latinLnBrk="0" hangingPunct="0">
              <a:lnSpc>
                <a:spcPct val="150000"/>
              </a:lnSpc>
              <a:spcBef>
                <a:spcPct val="0"/>
              </a:spcBef>
              <a:spcAft>
                <a:spcPct val="0"/>
              </a:spcAft>
              <a:buClrTx/>
              <a:buSzTx/>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 Open styles08.css and modify the comment at the top</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024969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Project 1 Beach Day</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8" name="TextBox 7">
            <a:extLst>
              <a:ext uri="{FF2B5EF4-FFF2-40B4-BE49-F238E27FC236}">
                <a16:creationId xmlns:a16="http://schemas.microsoft.com/office/drawing/2014/main" id="{60C195F6-45E5-B3BE-AF36-999D627262A0}"/>
              </a:ext>
            </a:extLst>
          </p:cNvPr>
          <p:cNvSpPr txBox="1"/>
          <p:nvPr/>
        </p:nvSpPr>
        <p:spPr>
          <a:xfrm>
            <a:off x="194440" y="720409"/>
            <a:ext cx="11020097" cy="5346592"/>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tabLst/>
            </a:pPr>
            <a:r>
              <a:rPr lang="en-US" altLang="en-US" sz="2300" b="1" dirty="0">
                <a:latin typeface="Calibri" panose="020F0502020204030204" pitchFamily="34" charset="0"/>
                <a:cs typeface="Calibri" panose="020F0502020204030204" pitchFamily="34" charset="0"/>
              </a:rPr>
              <a:t>5. </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 a max-width property with a value of 100% to the </a:t>
            </a:r>
            <a:r>
              <a:rPr kumimoji="0" lang="en-US" altLang="en-US" sz="23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img</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selector</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Done above.</a:t>
            </a:r>
          </a:p>
          <a:p>
            <a:pPr marL="0" marR="0" lvl="0" indent="0" algn="l" defTabSz="914400" rtl="0" eaLnBrk="0" fontAlgn="base" latinLnBrk="0" hangingPunct="0">
              <a:lnSpc>
                <a:spcPct val="150000"/>
              </a:lnSpc>
              <a:spcBef>
                <a:spcPct val="0"/>
              </a:spcBef>
              <a:spcAft>
                <a:spcPct val="0"/>
              </a:spcAft>
              <a:buClrTx/>
              <a:buSzTx/>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 Change the width value of the #container selector to use a relative measurement</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Done above.</a:t>
            </a:r>
          </a:p>
          <a:p>
            <a:pPr marL="0" marR="0" lvl="0" indent="0" algn="l" defTabSz="914400" rtl="0" eaLnBrk="0" fontAlgn="base" latinLnBrk="0" hangingPunct="0">
              <a:lnSpc>
                <a:spcPct val="150000"/>
              </a:lnSpc>
              <a:spcBef>
                <a:spcPct val="0"/>
              </a:spcBef>
              <a:spcAft>
                <a:spcPct val="0"/>
              </a:spcAft>
              <a:buClrTx/>
              <a:buSzTx/>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7. Save the styles08.css file and refresh the apply08.html file in your browser. Resize the browser to ensure the layout is fluid and images are flexible</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Done.</a:t>
            </a:r>
          </a:p>
          <a:p>
            <a:pPr marL="0" marR="0" lvl="0" indent="0" algn="l" defTabSz="914400" rtl="0" eaLnBrk="0" fontAlgn="base" latinLnBrk="0" hangingPunct="0">
              <a:lnSpc>
                <a:spcPct val="150000"/>
              </a:lnSpc>
              <a:spcBef>
                <a:spcPct val="0"/>
              </a:spcBef>
              <a:spcAft>
                <a:spcPct val="0"/>
              </a:spcAft>
              <a:buClrTx/>
              <a:buSzTx/>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8. Add the following meta tag within the head section of the document</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Done above.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90506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Project 1 Beach Day</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8" name="TextBox 7">
            <a:extLst>
              <a:ext uri="{FF2B5EF4-FFF2-40B4-BE49-F238E27FC236}">
                <a16:creationId xmlns:a16="http://schemas.microsoft.com/office/drawing/2014/main" id="{60C195F6-45E5-B3BE-AF36-999D627262A0}"/>
              </a:ext>
            </a:extLst>
          </p:cNvPr>
          <p:cNvSpPr txBox="1"/>
          <p:nvPr/>
        </p:nvSpPr>
        <p:spPr>
          <a:xfrm>
            <a:off x="194440" y="720409"/>
            <a:ext cx="11020097" cy="3222934"/>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9. Save your changes to apply08.html and open the file in Google Chrome</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Done.</a:t>
            </a:r>
          </a:p>
          <a:p>
            <a:pPr>
              <a:lnSpc>
                <a:spcPct val="150000"/>
              </a:lnSpc>
            </a:pPr>
            <a:r>
              <a:rPr lang="en-US" sz="2300" b="1" dirty="0">
                <a:latin typeface="Calibri" panose="020F0502020204030204" pitchFamily="34" charset="0"/>
                <a:cs typeface="Calibri" panose="020F0502020204030204" pitchFamily="34" charset="0"/>
              </a:rPr>
              <a:t>10. Use the developer tools in Google Chrome to view the page in an emulator</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Done.</a:t>
            </a:r>
          </a:p>
          <a:p>
            <a:pPr>
              <a:lnSpc>
                <a:spcPct val="150000"/>
              </a:lnSpc>
            </a:pPr>
            <a:r>
              <a:rPr lang="en-US" sz="2300" b="1" dirty="0">
                <a:latin typeface="Calibri" panose="020F0502020204030204" pitchFamily="34" charset="0"/>
                <a:cs typeface="Calibri" panose="020F0502020204030204" pitchFamily="34" charset="0"/>
              </a:rPr>
              <a:t>11. Select a device and refresh the page. The page should look similar to Figure 1</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Verified.</a:t>
            </a: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0528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264890"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Project 1 Beach Day</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8" name="TextBox 7">
            <a:extLst>
              <a:ext uri="{FF2B5EF4-FFF2-40B4-BE49-F238E27FC236}">
                <a16:creationId xmlns:a16="http://schemas.microsoft.com/office/drawing/2014/main" id="{60C195F6-45E5-B3BE-AF36-999D627262A0}"/>
              </a:ext>
            </a:extLst>
          </p:cNvPr>
          <p:cNvSpPr txBox="1"/>
          <p:nvPr/>
        </p:nvSpPr>
        <p:spPr>
          <a:xfrm>
            <a:off x="206245" y="492443"/>
            <a:ext cx="11985755" cy="5877506"/>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12. Validate your HTML document using the W3C validator</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W3C Validator</a:t>
            </a:r>
          </a:p>
          <a:p>
            <a:pPr>
              <a:lnSpc>
                <a:spcPct val="150000"/>
              </a:lnSpc>
            </a:pPr>
            <a:r>
              <a:rPr lang="en-US" sz="2300" b="1" dirty="0">
                <a:latin typeface="Calibri" panose="020F0502020204030204" pitchFamily="34" charset="0"/>
                <a:cs typeface="Calibri" panose="020F0502020204030204" pitchFamily="34" charset="0"/>
              </a:rPr>
              <a:t>13. Validate your CSS file using the W3C validator</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W3C CSS Validator</a:t>
            </a:r>
          </a:p>
          <a:p>
            <a:pPr>
              <a:lnSpc>
                <a:spcPct val="150000"/>
              </a:lnSpc>
            </a:pPr>
            <a:r>
              <a:rPr lang="en-US" sz="2300" b="1" dirty="0">
                <a:latin typeface="Calibri" panose="020F0502020204030204" pitchFamily="34" charset="0"/>
                <a:cs typeface="Calibri" panose="020F0502020204030204" pitchFamily="34" charset="0"/>
              </a:rPr>
              <a:t>14. Submit the apply08.html and styles08.css files in a format specified by your instructor</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Done.</a:t>
            </a:r>
          </a:p>
          <a:p>
            <a:pPr>
              <a:lnSpc>
                <a:spcPct val="150000"/>
              </a:lnSpc>
            </a:pPr>
            <a:r>
              <a:rPr lang="en-US" sz="2300" b="1" dirty="0">
                <a:latin typeface="Calibri" panose="020F0502020204030204" pitchFamily="34" charset="0"/>
                <a:cs typeface="Calibri" panose="020F0502020204030204" pitchFamily="34" charset="0"/>
              </a:rPr>
              <a:t>15. Explain how the percentage unit of measurement makes a fluid layout more flexible as compared to </a:t>
            </a:r>
            <a:r>
              <a:rPr lang="en-US" sz="2300" b="1" dirty="0" err="1">
                <a:latin typeface="Calibri" panose="020F0502020204030204" pitchFamily="34" charset="0"/>
                <a:cs typeface="Calibri" panose="020F0502020204030204" pitchFamily="34" charset="0"/>
              </a:rPr>
              <a:t>px</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Using percentages for width allows the layout to adapt to different screen sizes, making it more flexible and responsive. Unlike fixed pixel values, percentage values enable elements to scale relative to their container, providing a better user experience across various devices.</a:t>
            </a: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3398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5" name="TextBox 4">
            <a:extLst>
              <a:ext uri="{FF2B5EF4-FFF2-40B4-BE49-F238E27FC236}">
                <a16:creationId xmlns:a16="http://schemas.microsoft.com/office/drawing/2014/main" id="{0EDA831C-3F59-8361-5C78-944EC8508F9C}"/>
              </a:ext>
            </a:extLst>
          </p:cNvPr>
          <p:cNvSpPr txBox="1"/>
          <p:nvPr/>
        </p:nvSpPr>
        <p:spPr>
          <a:xfrm>
            <a:off x="94592" y="0"/>
            <a:ext cx="10951779"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Challenge 1</a:t>
            </a:r>
            <a:endParaRPr lang="en-AU" sz="2600" b="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1578B93-6854-137C-6297-3E55A50B2BFF}"/>
              </a:ext>
            </a:extLst>
          </p:cNvPr>
          <p:cNvSpPr txBox="1"/>
          <p:nvPr/>
        </p:nvSpPr>
        <p:spPr>
          <a:xfrm>
            <a:off x="220717" y="767255"/>
            <a:ext cx="10394731" cy="2692019"/>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Challenge 1: Creating a Responsive Website for Steve’s Screen Services</a:t>
            </a:r>
          </a:p>
          <a:p>
            <a:pPr>
              <a:lnSpc>
                <a:spcPct val="150000"/>
              </a:lnSpc>
            </a:pPr>
            <a:r>
              <a:rPr lang="en-US" sz="2300" b="1" dirty="0">
                <a:latin typeface="Calibri" panose="020F0502020204030204" pitchFamily="34" charset="0"/>
                <a:cs typeface="Calibri" panose="020F0502020204030204" pitchFamily="34" charset="0"/>
              </a:rPr>
              <a:t>Instructions:</a:t>
            </a:r>
          </a:p>
          <a:p>
            <a:pPr>
              <a:lnSpc>
                <a:spcPct val="150000"/>
              </a:lnSpc>
              <a:buFont typeface="+mj-lt"/>
              <a:buAutoNum type="arabicPeriod"/>
            </a:pPr>
            <a:r>
              <a:rPr lang="en-US" sz="2300" b="1" dirty="0">
                <a:latin typeface="Calibri" panose="020F0502020204030204" pitchFamily="34" charset="0"/>
                <a:cs typeface="Calibri" panose="020F0502020204030204" pitchFamily="34" charset="0"/>
              </a:rPr>
              <a:t> Open index.html and screenstyles.css in your text editor</a:t>
            </a:r>
            <a:r>
              <a:rPr lang="en-US" sz="2300" dirty="0">
                <a:latin typeface="Calibri" panose="020F0502020204030204" pitchFamily="34" charset="0"/>
                <a:cs typeface="Calibri" panose="020F0502020204030204" pitchFamily="34" charset="0"/>
              </a:rPr>
              <a:t>:</a:t>
            </a:r>
          </a:p>
          <a:p>
            <a:pPr marL="742950" lvl="1" indent="-285750">
              <a:lnSpc>
                <a:spcPct val="150000"/>
              </a:lnSpc>
              <a:buFont typeface="+mj-lt"/>
              <a:buAutoNum type="arabicPeriod"/>
            </a:pPr>
            <a:r>
              <a:rPr lang="en-US" sz="2300" dirty="0">
                <a:latin typeface="Calibri" panose="020F0502020204030204" pitchFamily="34" charset="0"/>
                <a:cs typeface="Calibri" panose="020F0502020204030204" pitchFamily="34" charset="0"/>
              </a:rPr>
              <a:t>Done.</a:t>
            </a:r>
          </a:p>
          <a:p>
            <a:pPr>
              <a:lnSpc>
                <a:spcPct val="150000"/>
              </a:lnSpc>
              <a:buFont typeface="+mj-lt"/>
              <a:buAutoNum type="arabicPeriod"/>
            </a:pPr>
            <a:r>
              <a:rPr lang="en-US" sz="2300" b="1" dirty="0">
                <a:latin typeface="Calibri" panose="020F0502020204030204" pitchFamily="34" charset="0"/>
                <a:cs typeface="Calibri" panose="020F0502020204030204" pitchFamily="34" charset="0"/>
              </a:rPr>
              <a:t> Modify the comment at the top of index.html</a:t>
            </a:r>
            <a:r>
              <a:rPr lang="en-US" sz="2300" dirty="0">
                <a:latin typeface="Calibri" panose="020F0502020204030204" pitchFamily="34" charset="0"/>
                <a:cs typeface="Calibri" panose="020F0502020204030204" pitchFamily="34" charset="0"/>
              </a:rPr>
              <a:t>:</a:t>
            </a:r>
          </a:p>
        </p:txBody>
      </p:sp>
      <p:pic>
        <p:nvPicPr>
          <p:cNvPr id="9" name="Picture 8">
            <a:extLst>
              <a:ext uri="{FF2B5EF4-FFF2-40B4-BE49-F238E27FC236}">
                <a16:creationId xmlns:a16="http://schemas.microsoft.com/office/drawing/2014/main" id="{7CCA8CDF-A71C-7C7D-BE59-12CF46CC3679}"/>
              </a:ext>
            </a:extLst>
          </p:cNvPr>
          <p:cNvPicPr>
            <a:picLocks noChangeAspect="1"/>
          </p:cNvPicPr>
          <p:nvPr/>
        </p:nvPicPr>
        <p:blipFill rotWithShape="1">
          <a:blip r:embed="rId3"/>
          <a:srcRect r="43879" b="47433"/>
          <a:stretch/>
        </p:blipFill>
        <p:spPr>
          <a:xfrm>
            <a:off x="5812220" y="3397083"/>
            <a:ext cx="6379779" cy="3361389"/>
          </a:xfrm>
          <a:prstGeom prst="rect">
            <a:avLst/>
          </a:prstGeom>
        </p:spPr>
      </p:pic>
      <p:sp>
        <p:nvSpPr>
          <p:cNvPr id="10" name="Rectangle: Rounded Corners 9">
            <a:extLst>
              <a:ext uri="{FF2B5EF4-FFF2-40B4-BE49-F238E27FC236}">
                <a16:creationId xmlns:a16="http://schemas.microsoft.com/office/drawing/2014/main" id="{9BA80B6C-C9BE-E53B-D17F-705852563700}"/>
              </a:ext>
            </a:extLst>
          </p:cNvPr>
          <p:cNvSpPr/>
          <p:nvPr/>
        </p:nvSpPr>
        <p:spPr>
          <a:xfrm>
            <a:off x="7483366" y="5801711"/>
            <a:ext cx="4267200" cy="504494"/>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43173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667E9C6-1D75-A028-8845-0A73FE0CDAE3}"/>
              </a:ext>
            </a:extLst>
          </p:cNvPr>
          <p:cNvPicPr>
            <a:picLocks noChangeAspect="1"/>
          </p:cNvPicPr>
          <p:nvPr/>
        </p:nvPicPr>
        <p:blipFill rotWithShape="1">
          <a:blip r:embed="rId2"/>
          <a:srcRect l="3621" t="8276" r="15841" b="15556"/>
          <a:stretch/>
        </p:blipFill>
        <p:spPr>
          <a:xfrm>
            <a:off x="0" y="840829"/>
            <a:ext cx="11310908" cy="6017172"/>
          </a:xfrm>
          <a:prstGeom prst="rect">
            <a:avLst/>
          </a:prstGeom>
        </p:spPr>
      </p:pic>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3"/>
          <a:stretch>
            <a:fillRect/>
          </a:stretch>
        </p:blipFill>
        <p:spPr>
          <a:xfrm>
            <a:off x="10260685" y="0"/>
            <a:ext cx="1931315" cy="1902052"/>
          </a:xfrm>
          <a:prstGeom prst="rect">
            <a:avLst/>
          </a:prstGeom>
        </p:spPr>
      </p:pic>
      <p:sp>
        <p:nvSpPr>
          <p:cNvPr id="5" name="TextBox 4">
            <a:extLst>
              <a:ext uri="{FF2B5EF4-FFF2-40B4-BE49-F238E27FC236}">
                <a16:creationId xmlns:a16="http://schemas.microsoft.com/office/drawing/2014/main" id="{0EDA831C-3F59-8361-5C78-944EC8508F9C}"/>
              </a:ext>
            </a:extLst>
          </p:cNvPr>
          <p:cNvSpPr txBox="1"/>
          <p:nvPr/>
        </p:nvSpPr>
        <p:spPr>
          <a:xfrm>
            <a:off x="94592" y="0"/>
            <a:ext cx="10951779"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Challenge 1</a:t>
            </a:r>
            <a:endParaRPr lang="en-AU" sz="2600" b="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515792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B5B5A7-F598-F53F-D939-E51437593B6F}"/>
              </a:ext>
            </a:extLst>
          </p:cNvPr>
          <p:cNvPicPr>
            <a:picLocks noChangeAspect="1"/>
          </p:cNvPicPr>
          <p:nvPr/>
        </p:nvPicPr>
        <p:blipFill rotWithShape="1">
          <a:blip r:embed="rId2"/>
          <a:srcRect b="16935"/>
          <a:stretch/>
        </p:blipFill>
        <p:spPr>
          <a:xfrm>
            <a:off x="0" y="1161393"/>
            <a:ext cx="12192000" cy="5696607"/>
          </a:xfrm>
          <a:prstGeom prst="rect">
            <a:avLst/>
          </a:prstGeom>
        </p:spPr>
      </p:pic>
      <p:sp>
        <p:nvSpPr>
          <p:cNvPr id="5" name="TextBox 4">
            <a:extLst>
              <a:ext uri="{FF2B5EF4-FFF2-40B4-BE49-F238E27FC236}">
                <a16:creationId xmlns:a16="http://schemas.microsoft.com/office/drawing/2014/main" id="{0EDA831C-3F59-8361-5C78-944EC8508F9C}"/>
              </a:ext>
            </a:extLst>
          </p:cNvPr>
          <p:cNvSpPr txBox="1"/>
          <p:nvPr/>
        </p:nvSpPr>
        <p:spPr>
          <a:xfrm>
            <a:off x="94592" y="0"/>
            <a:ext cx="10951779"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Challenge 1</a:t>
            </a:r>
            <a:endParaRPr lang="en-AU" sz="2600" b="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8215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5" name="TextBox 4">
            <a:extLst>
              <a:ext uri="{FF2B5EF4-FFF2-40B4-BE49-F238E27FC236}">
                <a16:creationId xmlns:a16="http://schemas.microsoft.com/office/drawing/2014/main" id="{0EDA831C-3F59-8361-5C78-944EC8508F9C}"/>
              </a:ext>
            </a:extLst>
          </p:cNvPr>
          <p:cNvSpPr txBox="1"/>
          <p:nvPr/>
        </p:nvSpPr>
        <p:spPr>
          <a:xfrm>
            <a:off x="94592" y="0"/>
            <a:ext cx="10951779"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Challenge 1</a:t>
            </a:r>
            <a:endParaRPr lang="en-AU" sz="2600" b="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1578B93-6854-137C-6297-3E55A50B2BFF}"/>
              </a:ext>
            </a:extLst>
          </p:cNvPr>
          <p:cNvSpPr txBox="1"/>
          <p:nvPr/>
        </p:nvSpPr>
        <p:spPr>
          <a:xfrm>
            <a:off x="220717" y="767255"/>
            <a:ext cx="10394731" cy="568361"/>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3. Modify the comment at the top of screenstyles.css</a:t>
            </a:r>
            <a:r>
              <a:rPr lang="en-US" sz="2300" dirty="0">
                <a:latin typeface="Calibri" panose="020F0502020204030204" pitchFamily="34" charset="0"/>
                <a:cs typeface="Calibri" panose="020F0502020204030204" pitchFamily="34" charset="0"/>
              </a:rPr>
              <a:t>:</a:t>
            </a:r>
            <a:endParaRPr lang="en-AU" sz="2300" dirty="0">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EF1CFAFF-060C-34BA-6A9F-F684AC2F4CC5}"/>
              </a:ext>
            </a:extLst>
          </p:cNvPr>
          <p:cNvPicPr>
            <a:picLocks noChangeAspect="1"/>
          </p:cNvPicPr>
          <p:nvPr/>
        </p:nvPicPr>
        <p:blipFill rotWithShape="1">
          <a:blip r:embed="rId3"/>
          <a:srcRect l="4397" t="8583" r="3879" b="16322"/>
          <a:stretch/>
        </p:blipFill>
        <p:spPr>
          <a:xfrm>
            <a:off x="43336" y="1707931"/>
            <a:ext cx="11183006" cy="5150069"/>
          </a:xfrm>
          <a:prstGeom prst="rect">
            <a:avLst/>
          </a:prstGeom>
        </p:spPr>
      </p:pic>
    </p:spTree>
    <p:extLst>
      <p:ext uri="{BB962C8B-B14F-4D97-AF65-F5344CB8AC3E}">
        <p14:creationId xmlns:p14="http://schemas.microsoft.com/office/powerpoint/2010/main" val="3075633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5" name="TextBox 4">
            <a:extLst>
              <a:ext uri="{FF2B5EF4-FFF2-40B4-BE49-F238E27FC236}">
                <a16:creationId xmlns:a16="http://schemas.microsoft.com/office/drawing/2014/main" id="{0EDA831C-3F59-8361-5C78-944EC8508F9C}"/>
              </a:ext>
            </a:extLst>
          </p:cNvPr>
          <p:cNvSpPr txBox="1"/>
          <p:nvPr/>
        </p:nvSpPr>
        <p:spPr>
          <a:xfrm>
            <a:off x="94592" y="0"/>
            <a:ext cx="10951779"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Challenge 1</a:t>
            </a:r>
            <a:endParaRPr lang="en-AU" sz="2600" b="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1FD45215-FF6A-9B45-18F1-5F588F4D883F}"/>
              </a:ext>
            </a:extLst>
          </p:cNvPr>
          <p:cNvSpPr>
            <a:spLocks noChangeArrowheads="1"/>
          </p:cNvSpPr>
          <p:nvPr/>
        </p:nvSpPr>
        <p:spPr bwMode="auto">
          <a:xfrm>
            <a:off x="220717" y="1335616"/>
            <a:ext cx="8228150" cy="3753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lang="en-US" altLang="en-US" sz="2300" b="1" dirty="0">
                <a:latin typeface="Calibri" panose="020F0502020204030204" pitchFamily="34" charset="0"/>
                <a:cs typeface="Calibri" panose="020F0502020204030204" pitchFamily="34" charset="0"/>
              </a:rPr>
              <a:t>4. </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Create a link to the external style sheet in index.html</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Done above.</a:t>
            </a:r>
          </a:p>
          <a:p>
            <a:pPr marL="0" marR="0" lvl="0" indent="0" algn="l" defTabSz="914400" rtl="0" eaLnBrk="0" fontAlgn="base" latinLnBrk="0" hangingPunct="0">
              <a:lnSpc>
                <a:spcPct val="150000"/>
              </a:lnSpc>
              <a:spcBef>
                <a:spcPct val="0"/>
              </a:spcBef>
              <a:spcAft>
                <a:spcPct val="0"/>
              </a:spcAft>
              <a:buClrTx/>
              <a:buSzTx/>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 Add the viewport meta tag to the head section</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Done above.</a:t>
            </a:r>
          </a:p>
          <a:p>
            <a:pPr marL="0" marR="0" lvl="0" indent="0" algn="l" defTabSz="914400" rtl="0" eaLnBrk="0" fontAlgn="base" latinLnBrk="0" hangingPunct="0">
              <a:lnSpc>
                <a:spcPct val="150000"/>
              </a:lnSpc>
              <a:spcBef>
                <a:spcPct val="0"/>
              </a:spcBef>
              <a:spcAft>
                <a:spcPct val="0"/>
              </a:spcAft>
              <a:buClrTx/>
              <a:buSzTx/>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 Delete the width and height attributes from all image elements</a:t>
            </a: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Done above.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3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9801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5" name="TextBox 4">
            <a:extLst>
              <a:ext uri="{FF2B5EF4-FFF2-40B4-BE49-F238E27FC236}">
                <a16:creationId xmlns:a16="http://schemas.microsoft.com/office/drawing/2014/main" id="{0EDA831C-3F59-8361-5C78-944EC8508F9C}"/>
              </a:ext>
            </a:extLst>
          </p:cNvPr>
          <p:cNvSpPr txBox="1"/>
          <p:nvPr/>
        </p:nvSpPr>
        <p:spPr>
          <a:xfrm>
            <a:off x="94592" y="0"/>
            <a:ext cx="10951779"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Challenge 1</a:t>
            </a:r>
            <a:endParaRPr lang="en-AU" sz="2600" b="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93D6F3C-B8AC-B8AB-94F1-712237443571}"/>
              </a:ext>
            </a:extLst>
          </p:cNvPr>
          <p:cNvSpPr txBox="1"/>
          <p:nvPr/>
        </p:nvSpPr>
        <p:spPr>
          <a:xfrm>
            <a:off x="0" y="1629103"/>
            <a:ext cx="12192000" cy="4284763"/>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7. Code each set of navigation links as an unordered list</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Done above.</a:t>
            </a:r>
          </a:p>
          <a:p>
            <a:pPr>
              <a:lnSpc>
                <a:spcPct val="150000"/>
              </a:lnSpc>
            </a:pPr>
            <a:r>
              <a:rPr lang="en-US" sz="2300" b="1" dirty="0">
                <a:latin typeface="Calibri" panose="020F0502020204030204" pitchFamily="34" charset="0"/>
                <a:cs typeface="Calibri" panose="020F0502020204030204" pitchFamily="34" charset="0"/>
              </a:rPr>
              <a:t>8. Create a new div element with a class="mobile" and add the content</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Done above.</a:t>
            </a:r>
          </a:p>
          <a:p>
            <a:pPr>
              <a:lnSpc>
                <a:spcPct val="150000"/>
              </a:lnSpc>
            </a:pPr>
            <a:r>
              <a:rPr lang="en-US" sz="2300" b="1" dirty="0">
                <a:latin typeface="Calibri" panose="020F0502020204030204" pitchFamily="34" charset="0"/>
                <a:cs typeface="Calibri" panose="020F0502020204030204" pitchFamily="34" charset="0"/>
              </a:rPr>
              <a:t>9. Add the style to make images flexible</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Done above.</a:t>
            </a:r>
          </a:p>
          <a:p>
            <a:pPr>
              <a:lnSpc>
                <a:spcPct val="150000"/>
              </a:lnSpc>
            </a:pPr>
            <a:r>
              <a:rPr lang="en-US" sz="2300" b="1" dirty="0">
                <a:latin typeface="Calibri" panose="020F0502020204030204" pitchFamily="34" charset="0"/>
                <a:cs typeface="Calibri" panose="020F0502020204030204" pitchFamily="34" charset="0"/>
              </a:rPr>
              <a:t>10. Style the unordered list in the nav</a:t>
            </a:r>
            <a:r>
              <a:rPr lang="en-US" sz="23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Done above.</a:t>
            </a:r>
          </a:p>
        </p:txBody>
      </p:sp>
    </p:spTree>
    <p:extLst>
      <p:ext uri="{BB962C8B-B14F-4D97-AF65-F5344CB8AC3E}">
        <p14:creationId xmlns:p14="http://schemas.microsoft.com/office/powerpoint/2010/main" val="1279057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5" name="TextBox 4">
            <a:extLst>
              <a:ext uri="{FF2B5EF4-FFF2-40B4-BE49-F238E27FC236}">
                <a16:creationId xmlns:a16="http://schemas.microsoft.com/office/drawing/2014/main" id="{0EDA831C-3F59-8361-5C78-944EC8508F9C}"/>
              </a:ext>
            </a:extLst>
          </p:cNvPr>
          <p:cNvSpPr txBox="1"/>
          <p:nvPr/>
        </p:nvSpPr>
        <p:spPr>
          <a:xfrm>
            <a:off x="94592" y="0"/>
            <a:ext cx="10951779"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Challenge 1</a:t>
            </a:r>
            <a:endParaRPr lang="en-AU" sz="2600" b="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79A2C74-3A3A-6927-D919-3AEAEB4F9B2C}"/>
              </a:ext>
            </a:extLst>
          </p:cNvPr>
          <p:cNvSpPr txBox="1"/>
          <p:nvPr/>
        </p:nvSpPr>
        <p:spPr>
          <a:xfrm>
            <a:off x="-1" y="1986455"/>
            <a:ext cx="12034345" cy="4284763"/>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11. Style the list items within the nav</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Done above.</a:t>
            </a:r>
          </a:p>
          <a:p>
            <a:pPr>
              <a:lnSpc>
                <a:spcPct val="150000"/>
              </a:lnSpc>
            </a:pPr>
            <a:r>
              <a:rPr lang="en-US" sz="2300" b="1" dirty="0">
                <a:latin typeface="Calibri" panose="020F0502020204030204" pitchFamily="34" charset="0"/>
                <a:cs typeface="Calibri" panose="020F0502020204030204" pitchFamily="34" charset="0"/>
              </a:rPr>
              <a:t>12. Style the nav links</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Done above.</a:t>
            </a:r>
          </a:p>
          <a:p>
            <a:pPr>
              <a:lnSpc>
                <a:spcPct val="150000"/>
              </a:lnSpc>
            </a:pPr>
            <a:r>
              <a:rPr lang="en-US" sz="2300" b="1" dirty="0">
                <a:latin typeface="Calibri" panose="020F0502020204030204" pitchFamily="34" charset="0"/>
                <a:cs typeface="Calibri" panose="020F0502020204030204" pitchFamily="34" charset="0"/>
              </a:rPr>
              <a:t>13. Style the mobile class</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Done above.</a:t>
            </a:r>
          </a:p>
          <a:p>
            <a:pPr>
              <a:lnSpc>
                <a:spcPct val="150000"/>
              </a:lnSpc>
            </a:pPr>
            <a:r>
              <a:rPr lang="en-US" sz="2300" b="1" dirty="0">
                <a:latin typeface="Calibri" panose="020F0502020204030204" pitchFamily="34" charset="0"/>
                <a:cs typeface="Calibri" panose="020F0502020204030204" pitchFamily="34" charset="0"/>
              </a:rPr>
              <a:t>14. Validate your HTML code</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W3C Validator</a:t>
            </a:r>
          </a:p>
        </p:txBody>
      </p:sp>
    </p:spTree>
    <p:extLst>
      <p:ext uri="{BB962C8B-B14F-4D97-AF65-F5344CB8AC3E}">
        <p14:creationId xmlns:p14="http://schemas.microsoft.com/office/powerpoint/2010/main" val="1825529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5" name="TextBox 4">
            <a:extLst>
              <a:ext uri="{FF2B5EF4-FFF2-40B4-BE49-F238E27FC236}">
                <a16:creationId xmlns:a16="http://schemas.microsoft.com/office/drawing/2014/main" id="{0EDA831C-3F59-8361-5C78-944EC8508F9C}"/>
              </a:ext>
            </a:extLst>
          </p:cNvPr>
          <p:cNvSpPr txBox="1"/>
          <p:nvPr/>
        </p:nvSpPr>
        <p:spPr>
          <a:xfrm>
            <a:off x="94592" y="0"/>
            <a:ext cx="10951779"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2. Challenge 1</a:t>
            </a:r>
            <a:endParaRPr lang="en-AU" sz="2600" b="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DFA497F-16DD-3534-29F2-FAFCD6906D2E}"/>
              </a:ext>
            </a:extLst>
          </p:cNvPr>
          <p:cNvSpPr txBox="1"/>
          <p:nvPr/>
        </p:nvSpPr>
        <p:spPr>
          <a:xfrm>
            <a:off x="3032234" y="2107435"/>
            <a:ext cx="6106510" cy="568361"/>
          </a:xfrm>
          <a:prstGeom prst="rect">
            <a:avLst/>
          </a:prstGeom>
          <a:noFill/>
        </p:spPr>
        <p:txBody>
          <a:bodyPr wrap="square">
            <a:spAutoFit/>
          </a:bodyPr>
          <a:lstStyle/>
          <a:p>
            <a:pPr>
              <a:lnSpc>
                <a:spcPct val="150000"/>
              </a:lnSpc>
              <a:buFont typeface="+mj-lt"/>
              <a:buAutoNum type="arabicPeriod"/>
            </a:pPr>
            <a:endParaRPr lang="en-US" sz="23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E30045A-3854-DD01-C446-85D044D6E9BA}"/>
              </a:ext>
            </a:extLst>
          </p:cNvPr>
          <p:cNvSpPr txBox="1"/>
          <p:nvPr/>
        </p:nvSpPr>
        <p:spPr>
          <a:xfrm>
            <a:off x="0" y="1177159"/>
            <a:ext cx="12192000" cy="4815677"/>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15. Validate your CSS code</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W3C CSS Validator</a:t>
            </a:r>
          </a:p>
          <a:p>
            <a:pPr>
              <a:lnSpc>
                <a:spcPct val="150000"/>
              </a:lnSpc>
            </a:pPr>
            <a:r>
              <a:rPr lang="en-US" sz="2300" b="1" dirty="0">
                <a:latin typeface="Calibri" panose="020F0502020204030204" pitchFamily="34" charset="0"/>
                <a:cs typeface="Calibri" panose="020F0502020204030204" pitchFamily="34" charset="0"/>
              </a:rPr>
              <a:t>16. Save all files and open the index.html page within a browser as shown in Figure 2</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Done.</a:t>
            </a:r>
          </a:p>
          <a:p>
            <a:pPr>
              <a:lnSpc>
                <a:spcPct val="150000"/>
              </a:lnSpc>
            </a:pPr>
            <a:r>
              <a:rPr lang="en-US" sz="2300" b="1" dirty="0">
                <a:latin typeface="Calibri" panose="020F0502020204030204" pitchFamily="34" charset="0"/>
                <a:cs typeface="Calibri" panose="020F0502020204030204" pitchFamily="34" charset="0"/>
              </a:rPr>
              <a:t>17. Submit your assignment in the format specified by your instructor</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Done.</a:t>
            </a:r>
          </a:p>
          <a:p>
            <a:pPr>
              <a:lnSpc>
                <a:spcPct val="150000"/>
              </a:lnSpc>
            </a:pPr>
            <a:r>
              <a:rPr lang="en-US" sz="2300" b="1" dirty="0">
                <a:latin typeface="Calibri" panose="020F0502020204030204" pitchFamily="34" charset="0"/>
                <a:cs typeface="Calibri" panose="020F0502020204030204" pitchFamily="34" charset="0"/>
              </a:rPr>
              <a:t>18. Research trends in navigation design for responsive web design</a:t>
            </a:r>
            <a:r>
              <a:rPr lang="en-US" sz="2300" dirty="0">
                <a:latin typeface="Calibri" panose="020F0502020204030204" pitchFamily="34" charset="0"/>
                <a:cs typeface="Calibri" panose="020F0502020204030204" pitchFamily="34" charset="0"/>
              </a:rPr>
              <a:t>:</a:t>
            </a:r>
          </a:p>
          <a:p>
            <a:pPr>
              <a:lnSpc>
                <a:spcPct val="150000"/>
              </a:lnSpc>
              <a:buFont typeface="Arial" panose="020B0604020202020204" pitchFamily="34" charset="0"/>
              <a:buChar char="•"/>
            </a:pPr>
            <a:r>
              <a:rPr lang="en-US" sz="2300" dirty="0">
                <a:latin typeface="Calibri" panose="020F0502020204030204" pitchFamily="34" charset="0"/>
                <a:cs typeface="Calibri" panose="020F0502020204030204" pitchFamily="34" charset="0"/>
              </a:rPr>
              <a:t> Current trends include using mobile-first design, hamburger menus for compact navigation, sticky navigation bars for easy access, and responsive grids and flexbox layouts for better adaptability.</a:t>
            </a:r>
          </a:p>
        </p:txBody>
      </p:sp>
      <p:sp>
        <p:nvSpPr>
          <p:cNvPr id="9" name="TextBox 8">
            <a:extLst>
              <a:ext uri="{FF2B5EF4-FFF2-40B4-BE49-F238E27FC236}">
                <a16:creationId xmlns:a16="http://schemas.microsoft.com/office/drawing/2014/main" id="{6E718654-C109-56AF-1982-905E5653F80C}"/>
              </a:ext>
            </a:extLst>
          </p:cNvPr>
          <p:cNvSpPr txBox="1"/>
          <p:nvPr/>
        </p:nvSpPr>
        <p:spPr>
          <a:xfrm>
            <a:off x="-26276" y="6231276"/>
            <a:ext cx="12244551" cy="446276"/>
          </a:xfrm>
          <a:prstGeom prst="rect">
            <a:avLst/>
          </a:prstGeom>
          <a:noFill/>
        </p:spPr>
        <p:txBody>
          <a:bodyPr wrap="square">
            <a:spAutoFit/>
          </a:bodyPr>
          <a:lstStyle/>
          <a:p>
            <a:r>
              <a:rPr lang="en-US" sz="2300" dirty="0">
                <a:latin typeface="Calibri" panose="020F0502020204030204" pitchFamily="34" charset="0"/>
                <a:cs typeface="Calibri" panose="020F0502020204030204" pitchFamily="34" charset="0"/>
              </a:rPr>
              <a:t>By following these steps, you will create a responsive design for both Project 1 and Challenge 1.</a:t>
            </a:r>
            <a:endParaRPr lang="en-AU" sz="23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48294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213942-22DA-A23D-71F1-F7F6867FEFB4}"/>
              </a:ext>
            </a:extLst>
          </p:cNvPr>
          <p:cNvSpPr txBox="1"/>
          <p:nvPr/>
        </p:nvSpPr>
        <p:spPr>
          <a:xfrm>
            <a:off x="94593" y="623937"/>
            <a:ext cx="11636490" cy="2805063"/>
          </a:xfrm>
          <a:prstGeom prst="rect">
            <a:avLst/>
          </a:prstGeom>
          <a:noFill/>
        </p:spPr>
        <p:txBody>
          <a:bodyPr wrap="square">
            <a:spAutoFit/>
          </a:bodyPr>
          <a:lstStyle/>
          <a:p>
            <a:pPr>
              <a:lnSpc>
                <a:spcPct val="150000"/>
              </a:lnSpc>
            </a:pPr>
            <a:r>
              <a:rPr lang="en-US" sz="2400" b="1" dirty="0">
                <a:latin typeface="Calibri" panose="020F0502020204030204" pitchFamily="34" charset="0"/>
                <a:cs typeface="Calibri" panose="020F0502020204030204" pitchFamily="34" charset="0"/>
              </a:rPr>
              <a:t>Q1) What is the purpose of the aside element?</a:t>
            </a:r>
            <a:endParaRPr lang="en-US" sz="2400" dirty="0">
              <a:latin typeface="Calibri" panose="020F0502020204030204" pitchFamily="34" charset="0"/>
              <a:cs typeface="Calibri" panose="020F0502020204030204" pitchFamily="34" charset="0"/>
            </a:endParaRPr>
          </a:p>
          <a:p>
            <a:pPr>
              <a:lnSpc>
                <a:spcPct val="150000"/>
              </a:lnSpc>
            </a:pPr>
            <a:r>
              <a:rPr lang="en-US" sz="2400" dirty="0">
                <a:latin typeface="Calibri" panose="020F0502020204030204" pitchFamily="34" charset="0"/>
                <a:cs typeface="Calibri" panose="020F0502020204030204" pitchFamily="34" charset="0"/>
              </a:rPr>
              <a:t>A) To group main content together</a:t>
            </a:r>
          </a:p>
          <a:p>
            <a:pPr>
              <a:lnSpc>
                <a:spcPct val="150000"/>
              </a:lnSpc>
            </a:pPr>
            <a:r>
              <a:rPr lang="en-US" sz="2400" dirty="0">
                <a:latin typeface="Calibri" panose="020F0502020204030204" pitchFamily="34" charset="0"/>
                <a:cs typeface="Calibri" panose="020F0502020204030204" pitchFamily="34" charset="0"/>
              </a:rPr>
              <a:t>B) To create a sidebar with additional information</a:t>
            </a:r>
          </a:p>
          <a:p>
            <a:pPr>
              <a:lnSpc>
                <a:spcPct val="150000"/>
              </a:lnSpc>
            </a:pPr>
            <a:r>
              <a:rPr lang="en-US" sz="2400" dirty="0">
                <a:latin typeface="Calibri" panose="020F0502020204030204" pitchFamily="34" charset="0"/>
                <a:cs typeface="Calibri" panose="020F0502020204030204" pitchFamily="34" charset="0"/>
              </a:rPr>
              <a:t>C) To define a section within a document</a:t>
            </a:r>
          </a:p>
          <a:p>
            <a:pPr>
              <a:lnSpc>
                <a:spcPct val="150000"/>
              </a:lnSpc>
            </a:pPr>
            <a:r>
              <a:rPr lang="en-US" sz="2400" dirty="0">
                <a:latin typeface="Calibri" panose="020F0502020204030204" pitchFamily="34" charset="0"/>
                <a:cs typeface="Calibri" panose="020F0502020204030204" pitchFamily="34" charset="0"/>
              </a:rPr>
              <a:t>D) To apply styles to an image</a:t>
            </a:r>
          </a:p>
        </p:txBody>
      </p:sp>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B80208A4-7493-2D48-FCC1-DB77FF1FFF4D}"/>
              </a:ext>
            </a:extLst>
          </p:cNvPr>
          <p:cNvSpPr txBox="1"/>
          <p:nvPr/>
        </p:nvSpPr>
        <p:spPr>
          <a:xfrm>
            <a:off x="94593" y="0"/>
            <a:ext cx="10264890" cy="492443"/>
          </a:xfrm>
          <a:prstGeom prst="rect">
            <a:avLst/>
          </a:prstGeom>
          <a:noFill/>
        </p:spPr>
        <p:txBody>
          <a:bodyPr wrap="square" rtlCol="0">
            <a:spAutoFit/>
          </a:bodyPr>
          <a:lstStyle/>
          <a:p>
            <a:r>
              <a:rPr lang="en-AU" sz="2600" b="1" dirty="0">
                <a:latin typeface="Calibri" panose="020F0502020204030204" pitchFamily="34" charset="0"/>
                <a:cs typeface="Calibri" panose="020F0502020204030204" pitchFamily="34" charset="0"/>
              </a:rPr>
              <a:t>Multiple Choice Questions</a:t>
            </a:r>
          </a:p>
        </p:txBody>
      </p:sp>
      <p:sp>
        <p:nvSpPr>
          <p:cNvPr id="6" name="TextBox 5">
            <a:extLst>
              <a:ext uri="{FF2B5EF4-FFF2-40B4-BE49-F238E27FC236}">
                <a16:creationId xmlns:a16="http://schemas.microsoft.com/office/drawing/2014/main" id="{EA28795F-10A9-4C8C-5450-0EEA9D913B92}"/>
              </a:ext>
            </a:extLst>
          </p:cNvPr>
          <p:cNvSpPr txBox="1"/>
          <p:nvPr/>
        </p:nvSpPr>
        <p:spPr>
          <a:xfrm>
            <a:off x="94593" y="3429000"/>
            <a:ext cx="11636490" cy="2805063"/>
          </a:xfrm>
          <a:prstGeom prst="rect">
            <a:avLst/>
          </a:prstGeom>
          <a:noFill/>
        </p:spPr>
        <p:txBody>
          <a:bodyPr wrap="square">
            <a:spAutoFit/>
          </a:bodyPr>
          <a:lstStyle/>
          <a:p>
            <a:pPr>
              <a:lnSpc>
                <a:spcPct val="150000"/>
              </a:lnSpc>
            </a:pPr>
            <a:r>
              <a:rPr lang="en-US" sz="2400" b="1" dirty="0">
                <a:latin typeface="Calibri" panose="020F0502020204030204" pitchFamily="34" charset="0"/>
                <a:cs typeface="Calibri" panose="020F0502020204030204" pitchFamily="34" charset="0"/>
              </a:rPr>
              <a:t>Q2) Which property is used to manage content overflow in CSS?</a:t>
            </a:r>
            <a:endParaRPr lang="en-US" sz="2400" dirty="0">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 float</a:t>
            </a:r>
          </a:p>
          <a:p>
            <a:pPr marL="0" marR="0" lvl="0" indent="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B) overflow</a:t>
            </a:r>
          </a:p>
          <a:p>
            <a:pPr marL="0" marR="0" lvl="0" indent="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 opacity</a:t>
            </a:r>
          </a:p>
          <a:p>
            <a:pPr marL="0" marR="0" lvl="0" indent="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 text-shadow </a:t>
            </a:r>
            <a:endParaRPr lang="en-US" sz="2400" dirty="0">
              <a:latin typeface="Calibri" panose="020F0502020204030204" pitchFamily="34" charset="0"/>
              <a:cs typeface="Calibri" panose="020F0502020204030204" pitchFamily="34" charset="0"/>
            </a:endParaRPr>
          </a:p>
        </p:txBody>
      </p:sp>
      <p:sp>
        <p:nvSpPr>
          <p:cNvPr id="8" name="Rectangle: Rounded Corners 7">
            <a:extLst>
              <a:ext uri="{FF2B5EF4-FFF2-40B4-BE49-F238E27FC236}">
                <a16:creationId xmlns:a16="http://schemas.microsoft.com/office/drawing/2014/main" id="{4F3A5152-8666-D8AC-0D87-1B22DED9CB14}"/>
              </a:ext>
            </a:extLst>
          </p:cNvPr>
          <p:cNvSpPr/>
          <p:nvPr/>
        </p:nvSpPr>
        <p:spPr>
          <a:xfrm>
            <a:off x="94593" y="1870522"/>
            <a:ext cx="7189076" cy="51532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Rounded Corners 8">
            <a:extLst>
              <a:ext uri="{FF2B5EF4-FFF2-40B4-BE49-F238E27FC236}">
                <a16:creationId xmlns:a16="http://schemas.microsoft.com/office/drawing/2014/main" id="{E99D37C6-4311-43D9-2057-BE40FBC0888F}"/>
              </a:ext>
            </a:extLst>
          </p:cNvPr>
          <p:cNvSpPr/>
          <p:nvPr/>
        </p:nvSpPr>
        <p:spPr>
          <a:xfrm>
            <a:off x="94593" y="4675585"/>
            <a:ext cx="7189076" cy="51532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75572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2F85ED7-5C4E-5F48-940A-B4E4C7F66A67}"/>
              </a:ext>
            </a:extLst>
          </p:cNvPr>
          <p:cNvPicPr>
            <a:picLocks noChangeAspect="1"/>
          </p:cNvPicPr>
          <p:nvPr/>
        </p:nvPicPr>
        <p:blipFill>
          <a:blip r:embed="rId2"/>
          <a:stretch>
            <a:fillRect/>
          </a:stretch>
        </p:blipFill>
        <p:spPr>
          <a:xfrm>
            <a:off x="0" y="3557074"/>
            <a:ext cx="8611960" cy="2073817"/>
          </a:xfrm>
          <a:prstGeom prst="rect">
            <a:avLst/>
          </a:prstGeom>
        </p:spPr>
      </p:pic>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3"/>
          <a:stretch>
            <a:fillRect/>
          </a:stretch>
        </p:blipFill>
        <p:spPr>
          <a:xfrm>
            <a:off x="10260685" y="0"/>
            <a:ext cx="1931315" cy="1902052"/>
          </a:xfrm>
          <a:prstGeom prst="rect">
            <a:avLst/>
          </a:prstGeom>
        </p:spPr>
      </p:pic>
      <p:sp>
        <p:nvSpPr>
          <p:cNvPr id="6" name="TextBox 5">
            <a:extLst>
              <a:ext uri="{FF2B5EF4-FFF2-40B4-BE49-F238E27FC236}">
                <a16:creationId xmlns:a16="http://schemas.microsoft.com/office/drawing/2014/main" id="{CF65FF16-D454-51DB-1989-FB5DE0D66718}"/>
              </a:ext>
            </a:extLst>
          </p:cNvPr>
          <p:cNvSpPr txBox="1"/>
          <p:nvPr/>
        </p:nvSpPr>
        <p:spPr>
          <a:xfrm>
            <a:off x="94593" y="2967335"/>
            <a:ext cx="6190592" cy="461665"/>
          </a:xfrm>
          <a:prstGeom prst="rect">
            <a:avLst/>
          </a:prstGeom>
          <a:noFill/>
        </p:spPr>
        <p:txBody>
          <a:bodyPr wrap="square">
            <a:spAutoFit/>
          </a:bodyPr>
          <a:lstStyle/>
          <a:p>
            <a:pPr algn="l"/>
            <a:r>
              <a:rPr lang="en-US" sz="2400" b="1" i="0" dirty="0">
                <a:solidFill>
                  <a:srgbClr val="0D0D0D"/>
                </a:solidFill>
                <a:effectLst/>
                <a:highlight>
                  <a:srgbClr val="FFFFFF"/>
                </a:highlight>
                <a:latin typeface="Calibri" panose="020F0502020204030204" pitchFamily="34" charset="0"/>
                <a:cs typeface="Calibri" panose="020F0502020204030204" pitchFamily="34" charset="0"/>
              </a:rPr>
              <a:t>Example: Responsive Web Page</a:t>
            </a:r>
          </a:p>
        </p:txBody>
      </p:sp>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94593" y="620517"/>
            <a:ext cx="10406259" cy="216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Objective: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To create a responsive web page that covers all the key concepts from Lecture 8, including fluid layouts, flexible images, media queries, and the mobile-first strategy. </a:t>
            </a:r>
            <a:r>
              <a:rPr kumimoji="0" lang="en-US" altLang="en-US" sz="2300" b="1"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rPr>
              <a:t>‘Responsive Web Design Example.html’ </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and </a:t>
            </a:r>
            <a:r>
              <a:rPr kumimoji="0" lang="en-US" altLang="en-US" sz="2300" b="1"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rPr>
              <a:t>‘Responsive Web Design Stylesheet.css’</a:t>
            </a:r>
          </a:p>
        </p:txBody>
      </p:sp>
      <p:sp>
        <p:nvSpPr>
          <p:cNvPr id="3" name="Rectangle: Rounded Corners 2">
            <a:extLst>
              <a:ext uri="{FF2B5EF4-FFF2-40B4-BE49-F238E27FC236}">
                <a16:creationId xmlns:a16="http://schemas.microsoft.com/office/drawing/2014/main" id="{6E13640A-83F8-9BD9-450F-CC7E2FCE5D27}"/>
              </a:ext>
            </a:extLst>
          </p:cNvPr>
          <p:cNvSpPr/>
          <p:nvPr/>
        </p:nvSpPr>
        <p:spPr>
          <a:xfrm>
            <a:off x="798785" y="4886521"/>
            <a:ext cx="6779173" cy="74437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2751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0" y="582478"/>
            <a:ext cx="10406259" cy="56836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Use an image within the banner:</a:t>
            </a:r>
            <a:endParaRPr kumimoji="0" lang="en-US" altLang="en-US" sz="2300" b="1"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BA838D01-D43B-4DF2-8B97-679C26C20582}"/>
              </a:ext>
            </a:extLst>
          </p:cNvPr>
          <p:cNvSpPr/>
          <p:nvPr/>
        </p:nvSpPr>
        <p:spPr>
          <a:xfrm>
            <a:off x="0" y="1281856"/>
            <a:ext cx="10406258" cy="923330"/>
          </a:xfrm>
          <a:prstGeom prst="rect">
            <a:avLst/>
          </a:prstGeom>
          <a:solidFill>
            <a:schemeClr val="accent2"/>
          </a:solidFill>
          <a:ln>
            <a:solidFill>
              <a:srgbClr val="0070C0"/>
            </a:solidFill>
          </a:ln>
        </p:spPr>
        <p:txBody>
          <a:bodyPr wrap="square">
            <a:spAutoFit/>
          </a:bodyPr>
          <a:lstStyle/>
          <a:p>
            <a:r>
              <a:rPr lang="en-AU" dirty="0"/>
              <a:t> &lt;div id="banner"&gt;</a:t>
            </a:r>
          </a:p>
          <a:p>
            <a:r>
              <a:rPr lang="en-AU" dirty="0"/>
              <a:t>            &lt;</a:t>
            </a:r>
            <a:r>
              <a:rPr lang="en-AU" dirty="0" err="1"/>
              <a:t>img</a:t>
            </a:r>
            <a:r>
              <a:rPr lang="en-AU" dirty="0"/>
              <a:t> </a:t>
            </a:r>
            <a:r>
              <a:rPr lang="en-AU" dirty="0" err="1"/>
              <a:t>src</a:t>
            </a:r>
            <a:r>
              <a:rPr lang="en-AU" dirty="0"/>
              <a:t>="screen1.jpg" alt="New Screen Services picture"&gt;</a:t>
            </a:r>
          </a:p>
          <a:p>
            <a:r>
              <a:rPr lang="en-AU" dirty="0"/>
              <a:t>        &lt;/div&gt;</a:t>
            </a:r>
          </a:p>
        </p:txBody>
      </p:sp>
      <p:pic>
        <p:nvPicPr>
          <p:cNvPr id="7" name="Picture 6">
            <a:extLst>
              <a:ext uri="{FF2B5EF4-FFF2-40B4-BE49-F238E27FC236}">
                <a16:creationId xmlns:a16="http://schemas.microsoft.com/office/drawing/2014/main" id="{6ADB0FC9-A674-4BFF-A183-AED6EEF06009}"/>
              </a:ext>
            </a:extLst>
          </p:cNvPr>
          <p:cNvPicPr>
            <a:picLocks noChangeAspect="1"/>
          </p:cNvPicPr>
          <p:nvPr/>
        </p:nvPicPr>
        <p:blipFill>
          <a:blip r:embed="rId3"/>
          <a:stretch>
            <a:fillRect/>
          </a:stretch>
        </p:blipFill>
        <p:spPr>
          <a:xfrm>
            <a:off x="-1" y="2336936"/>
            <a:ext cx="7682753" cy="4521064"/>
          </a:xfrm>
          <a:prstGeom prst="rect">
            <a:avLst/>
          </a:prstGeom>
          <a:ln>
            <a:solidFill>
              <a:srgbClr val="FF0000"/>
            </a:solidFill>
          </a:ln>
        </p:spPr>
      </p:pic>
    </p:spTree>
    <p:extLst>
      <p:ext uri="{BB962C8B-B14F-4D97-AF65-F5344CB8AC3E}">
        <p14:creationId xmlns:p14="http://schemas.microsoft.com/office/powerpoint/2010/main" val="42406126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0" y="582478"/>
            <a:ext cx="10406259" cy="56836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Reduce the max-width fo</a:t>
            </a:r>
            <a:r>
              <a:rPr lang="en-US" altLang="en-US" sz="2300" b="1" dirty="0">
                <a:latin typeface="Calibri" panose="020F0502020204030204" pitchFamily="34" charset="0"/>
                <a:cs typeface="Calibri" panose="020F0502020204030204" pitchFamily="34" charset="0"/>
              </a:rPr>
              <a:t>r the image</a:t>
            </a:r>
            <a:endParaRPr kumimoji="0" lang="en-US" altLang="en-US" sz="2300" b="1"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BA838D01-D43B-4DF2-8B97-679C26C20582}"/>
              </a:ext>
            </a:extLst>
          </p:cNvPr>
          <p:cNvSpPr/>
          <p:nvPr/>
        </p:nvSpPr>
        <p:spPr>
          <a:xfrm>
            <a:off x="0" y="1281856"/>
            <a:ext cx="10406258" cy="1477328"/>
          </a:xfrm>
          <a:prstGeom prst="rect">
            <a:avLst/>
          </a:prstGeom>
          <a:solidFill>
            <a:schemeClr val="accent2"/>
          </a:solidFill>
          <a:ln>
            <a:solidFill>
              <a:srgbClr val="0070C0"/>
            </a:solidFill>
          </a:ln>
        </p:spPr>
        <p:txBody>
          <a:bodyPr wrap="square">
            <a:spAutoFit/>
          </a:bodyPr>
          <a:lstStyle/>
          <a:p>
            <a:r>
              <a:rPr lang="en-US" dirty="0"/>
              <a:t>#banner </a:t>
            </a:r>
            <a:r>
              <a:rPr lang="en-US" dirty="0" err="1"/>
              <a:t>img</a:t>
            </a:r>
            <a:r>
              <a:rPr lang="en-US" dirty="0"/>
              <a:t> {</a:t>
            </a:r>
          </a:p>
          <a:p>
            <a:r>
              <a:rPr lang="en-US" dirty="0"/>
              <a:t>    max-width: 10%;</a:t>
            </a:r>
          </a:p>
          <a:p>
            <a:r>
              <a:rPr lang="en-US" dirty="0"/>
              <a:t>    height: auto;</a:t>
            </a:r>
          </a:p>
          <a:p>
            <a:r>
              <a:rPr lang="en-US" dirty="0"/>
              <a:t>    max-height: 400px; /* Set a maximum height if desired */</a:t>
            </a:r>
          </a:p>
          <a:p>
            <a:r>
              <a:rPr lang="en-US" dirty="0"/>
              <a:t>}</a:t>
            </a:r>
            <a:endParaRPr lang="en-AU" dirty="0"/>
          </a:p>
        </p:txBody>
      </p:sp>
      <p:pic>
        <p:nvPicPr>
          <p:cNvPr id="3" name="Picture 2">
            <a:extLst>
              <a:ext uri="{FF2B5EF4-FFF2-40B4-BE49-F238E27FC236}">
                <a16:creationId xmlns:a16="http://schemas.microsoft.com/office/drawing/2014/main" id="{2B9602E7-64D0-48CD-BA91-E6298428C874}"/>
              </a:ext>
            </a:extLst>
          </p:cNvPr>
          <p:cNvPicPr>
            <a:picLocks noChangeAspect="1"/>
          </p:cNvPicPr>
          <p:nvPr/>
        </p:nvPicPr>
        <p:blipFill>
          <a:blip r:embed="rId3"/>
          <a:stretch>
            <a:fillRect/>
          </a:stretch>
        </p:blipFill>
        <p:spPr>
          <a:xfrm>
            <a:off x="0" y="2864198"/>
            <a:ext cx="12012706" cy="3993802"/>
          </a:xfrm>
          <a:prstGeom prst="rect">
            <a:avLst/>
          </a:prstGeom>
        </p:spPr>
      </p:pic>
    </p:spTree>
    <p:extLst>
      <p:ext uri="{BB962C8B-B14F-4D97-AF65-F5344CB8AC3E}">
        <p14:creationId xmlns:p14="http://schemas.microsoft.com/office/powerpoint/2010/main" val="3149140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DA831C-3F59-8361-5C78-944EC8508F9C}"/>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11" name="Rectangle 1">
            <a:extLst>
              <a:ext uri="{FF2B5EF4-FFF2-40B4-BE49-F238E27FC236}">
                <a16:creationId xmlns:a16="http://schemas.microsoft.com/office/drawing/2014/main" id="{25B8151C-E31B-6DBE-2DB0-58233006E746}"/>
              </a:ext>
            </a:extLst>
          </p:cNvPr>
          <p:cNvSpPr>
            <a:spLocks noChangeArrowheads="1"/>
          </p:cNvSpPr>
          <p:nvPr/>
        </p:nvSpPr>
        <p:spPr bwMode="auto">
          <a:xfrm>
            <a:off x="0" y="582478"/>
            <a:ext cx="10406259" cy="56836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Increase the Padding</a:t>
            </a:r>
            <a:endParaRPr kumimoji="0" lang="en-US" altLang="en-US" sz="2300" b="1"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BA838D01-D43B-4DF2-8B97-679C26C20582}"/>
              </a:ext>
            </a:extLst>
          </p:cNvPr>
          <p:cNvSpPr/>
          <p:nvPr/>
        </p:nvSpPr>
        <p:spPr>
          <a:xfrm>
            <a:off x="0" y="1281856"/>
            <a:ext cx="10406258" cy="1477328"/>
          </a:xfrm>
          <a:prstGeom prst="rect">
            <a:avLst/>
          </a:prstGeom>
          <a:solidFill>
            <a:schemeClr val="accent2"/>
          </a:solidFill>
          <a:ln>
            <a:solidFill>
              <a:srgbClr val="0070C0"/>
            </a:solidFill>
          </a:ln>
        </p:spPr>
        <p:txBody>
          <a:bodyPr wrap="square">
            <a:spAutoFit/>
          </a:bodyPr>
          <a:lstStyle/>
          <a:p>
            <a:r>
              <a:rPr lang="en-US" dirty="0"/>
              <a:t>nav ul {</a:t>
            </a:r>
          </a:p>
          <a:p>
            <a:r>
              <a:rPr lang="en-US" dirty="0"/>
              <a:t>    padding: 20;</a:t>
            </a:r>
          </a:p>
          <a:p>
            <a:r>
              <a:rPr lang="en-US" dirty="0"/>
              <a:t>    margin-top: 0.5em;</a:t>
            </a:r>
          </a:p>
          <a:p>
            <a:r>
              <a:rPr lang="en-US" dirty="0"/>
              <a:t>    margin-bottom: 0.5em;</a:t>
            </a:r>
          </a:p>
          <a:p>
            <a:r>
              <a:rPr lang="en-US" dirty="0"/>
              <a:t>}</a:t>
            </a:r>
            <a:endParaRPr lang="en-AU" dirty="0"/>
          </a:p>
        </p:txBody>
      </p:sp>
      <p:pic>
        <p:nvPicPr>
          <p:cNvPr id="6" name="Picture 5">
            <a:extLst>
              <a:ext uri="{FF2B5EF4-FFF2-40B4-BE49-F238E27FC236}">
                <a16:creationId xmlns:a16="http://schemas.microsoft.com/office/drawing/2014/main" id="{E865BBB1-C9B5-4590-84E3-F998FE4FF007}"/>
              </a:ext>
            </a:extLst>
          </p:cNvPr>
          <p:cNvPicPr>
            <a:picLocks noChangeAspect="1"/>
          </p:cNvPicPr>
          <p:nvPr/>
        </p:nvPicPr>
        <p:blipFill>
          <a:blip r:embed="rId3"/>
          <a:stretch>
            <a:fillRect/>
          </a:stretch>
        </p:blipFill>
        <p:spPr>
          <a:xfrm>
            <a:off x="0" y="3005200"/>
            <a:ext cx="12192000" cy="3852800"/>
          </a:xfrm>
          <a:prstGeom prst="rect">
            <a:avLst/>
          </a:prstGeom>
        </p:spPr>
      </p:pic>
    </p:spTree>
    <p:extLst>
      <p:ext uri="{BB962C8B-B14F-4D97-AF65-F5344CB8AC3E}">
        <p14:creationId xmlns:p14="http://schemas.microsoft.com/office/powerpoint/2010/main" val="3665957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94593" y="2674305"/>
            <a:ext cx="12097407" cy="109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line declares the document type as HTML5 and sets the language of the document to English.</a:t>
            </a:r>
          </a:p>
        </p:txBody>
      </p:sp>
      <p:sp>
        <p:nvSpPr>
          <p:cNvPr id="11" name="TextBox 10">
            <a:extLst>
              <a:ext uri="{FF2B5EF4-FFF2-40B4-BE49-F238E27FC236}">
                <a16:creationId xmlns:a16="http://schemas.microsoft.com/office/drawing/2014/main" id="{02715D6B-EE61-3A0B-0B8E-93B8502A1CB8}"/>
              </a:ext>
            </a:extLst>
          </p:cNvPr>
          <p:cNvSpPr txBox="1"/>
          <p:nvPr/>
        </p:nvSpPr>
        <p:spPr>
          <a:xfrm>
            <a:off x="97219" y="1904864"/>
            <a:ext cx="11997560" cy="769441"/>
          </a:xfrm>
          <a:prstGeom prst="rect">
            <a:avLst/>
          </a:prstGeom>
          <a:solidFill>
            <a:schemeClr val="tx1"/>
          </a:solidFill>
          <a:ln>
            <a:solidFill>
              <a:schemeClr val="tx1"/>
            </a:solidFill>
          </a:ln>
        </p:spPr>
        <p:txBody>
          <a:bodyPr wrap="square">
            <a:spAutoFit/>
          </a:bodyPr>
          <a:lstStyle/>
          <a:p>
            <a:r>
              <a:rPr lang="en-US" sz="2200" b="0" dirty="0">
                <a:solidFill>
                  <a:srgbClr val="808080"/>
                </a:solidFill>
                <a:effectLst/>
                <a:highlight>
                  <a:srgbClr val="000000"/>
                </a:highlight>
                <a:latin typeface="Consolas" panose="020B0609020204030204" pitchFamily="49" charset="0"/>
              </a:rPr>
              <a:t>&lt;!</a:t>
            </a:r>
            <a:r>
              <a:rPr lang="en-US" sz="2200" b="0" dirty="0">
                <a:solidFill>
                  <a:srgbClr val="569CD6"/>
                </a:solidFill>
                <a:effectLst/>
                <a:highlight>
                  <a:srgbClr val="000000"/>
                </a:highlight>
                <a:latin typeface="Consolas" panose="020B0609020204030204" pitchFamily="49" charset="0"/>
              </a:rPr>
              <a:t>DOCTYPE</a:t>
            </a:r>
            <a:r>
              <a:rPr lang="en-US" sz="2200" b="0" dirty="0">
                <a:solidFill>
                  <a:srgbClr val="CCCCCC"/>
                </a:solidFill>
                <a:effectLst/>
                <a:highlight>
                  <a:srgbClr val="000000"/>
                </a:highlight>
                <a:latin typeface="Consolas" panose="020B0609020204030204" pitchFamily="49" charset="0"/>
              </a:rPr>
              <a:t> </a:t>
            </a:r>
            <a:r>
              <a:rPr lang="en-US" sz="2200" b="0" dirty="0">
                <a:solidFill>
                  <a:srgbClr val="9CDCFE"/>
                </a:solidFill>
                <a:effectLst/>
                <a:highlight>
                  <a:srgbClr val="000000"/>
                </a:highlight>
                <a:latin typeface="Consolas" panose="020B0609020204030204" pitchFamily="49" charset="0"/>
              </a:rPr>
              <a:t>html</a:t>
            </a:r>
            <a:r>
              <a:rPr lang="en-US" sz="2200" b="0" dirty="0">
                <a:solidFill>
                  <a:srgbClr val="808080"/>
                </a:solidFill>
                <a:effectLst/>
                <a:highlight>
                  <a:srgbClr val="000000"/>
                </a:highlight>
                <a:latin typeface="Consolas" panose="020B0609020204030204" pitchFamily="49" charset="0"/>
              </a:rPr>
              <a:t>&gt;</a:t>
            </a:r>
            <a:endParaRPr lang="en-US" sz="2200" b="0" dirty="0">
              <a:solidFill>
                <a:srgbClr val="CCCCCC"/>
              </a:solidFill>
              <a:effectLst/>
              <a:highlight>
                <a:srgbClr val="000000"/>
              </a:highlight>
              <a:latin typeface="Consolas" panose="020B0609020204030204" pitchFamily="49" charset="0"/>
            </a:endParaRPr>
          </a:p>
          <a:p>
            <a:r>
              <a:rPr lang="en-US" sz="2200" b="0" dirty="0">
                <a:solidFill>
                  <a:srgbClr val="808080"/>
                </a:solidFill>
                <a:effectLst/>
                <a:highlight>
                  <a:srgbClr val="000000"/>
                </a:highlight>
                <a:latin typeface="Consolas" panose="020B0609020204030204" pitchFamily="49" charset="0"/>
              </a:rPr>
              <a:t>&lt;</a:t>
            </a:r>
            <a:r>
              <a:rPr lang="en-US" sz="2200" b="0" dirty="0">
                <a:solidFill>
                  <a:srgbClr val="569CD6"/>
                </a:solidFill>
                <a:effectLst/>
                <a:highlight>
                  <a:srgbClr val="000000"/>
                </a:highlight>
                <a:latin typeface="Consolas" panose="020B0609020204030204" pitchFamily="49" charset="0"/>
              </a:rPr>
              <a:t>html</a:t>
            </a:r>
            <a:r>
              <a:rPr lang="en-US" sz="2200" b="0" dirty="0">
                <a:solidFill>
                  <a:srgbClr val="CCCCCC"/>
                </a:solidFill>
                <a:effectLst/>
                <a:highlight>
                  <a:srgbClr val="000000"/>
                </a:highlight>
                <a:latin typeface="Consolas" panose="020B0609020204030204" pitchFamily="49" charset="0"/>
              </a:rPr>
              <a:t> </a:t>
            </a:r>
            <a:r>
              <a:rPr lang="en-US" sz="2200" b="0" dirty="0">
                <a:solidFill>
                  <a:srgbClr val="9CDCFE"/>
                </a:solidFill>
                <a:effectLst/>
                <a:highlight>
                  <a:srgbClr val="000000"/>
                </a:highlight>
                <a:latin typeface="Consolas" panose="020B0609020204030204" pitchFamily="49" charset="0"/>
              </a:rPr>
              <a:t>lang</a:t>
            </a:r>
            <a:r>
              <a:rPr lang="en-US" sz="2200" b="0" dirty="0">
                <a:solidFill>
                  <a:srgbClr val="CCCCCC"/>
                </a:solidFill>
                <a:effectLst/>
                <a:highlight>
                  <a:srgbClr val="000000"/>
                </a:highlight>
                <a:latin typeface="Consolas" panose="020B0609020204030204" pitchFamily="49" charset="0"/>
              </a:rPr>
              <a:t>=</a:t>
            </a:r>
            <a:r>
              <a:rPr lang="en-US" sz="2200" b="0" dirty="0">
                <a:solidFill>
                  <a:srgbClr val="CE9178"/>
                </a:solidFill>
                <a:effectLst/>
                <a:highlight>
                  <a:srgbClr val="000000"/>
                </a:highlight>
                <a:latin typeface="Consolas" panose="020B0609020204030204" pitchFamily="49" charset="0"/>
              </a:rPr>
              <a:t>"</a:t>
            </a:r>
            <a:r>
              <a:rPr lang="en-US" sz="2200" b="0" dirty="0" err="1">
                <a:solidFill>
                  <a:srgbClr val="CE9178"/>
                </a:solidFill>
                <a:effectLst/>
                <a:highlight>
                  <a:srgbClr val="000000"/>
                </a:highlight>
                <a:latin typeface="Consolas" panose="020B0609020204030204" pitchFamily="49" charset="0"/>
              </a:rPr>
              <a:t>en</a:t>
            </a:r>
            <a:r>
              <a:rPr lang="en-US" sz="2200" b="0" dirty="0">
                <a:solidFill>
                  <a:srgbClr val="CE9178"/>
                </a:solidFill>
                <a:effectLst/>
                <a:highlight>
                  <a:srgbClr val="000000"/>
                </a:highlight>
                <a:latin typeface="Consolas" panose="020B0609020204030204" pitchFamily="49" charset="0"/>
              </a:rPr>
              <a:t>"</a:t>
            </a:r>
            <a:r>
              <a:rPr lang="en-US" sz="2200" b="0" dirty="0">
                <a:solidFill>
                  <a:srgbClr val="808080"/>
                </a:solidFill>
                <a:effectLst/>
                <a:highlight>
                  <a:srgbClr val="000000"/>
                </a:highlight>
                <a:latin typeface="Consolas" panose="020B0609020204030204" pitchFamily="49" charset="0"/>
              </a:rPr>
              <a:t>&gt;</a:t>
            </a:r>
            <a:endParaRPr lang="en-US" sz="2200" b="0" dirty="0">
              <a:solidFill>
                <a:srgbClr val="CCCCCC"/>
              </a:solidFill>
              <a:effectLst/>
              <a:highlight>
                <a:srgbClr val="000000"/>
              </a:highlight>
              <a:latin typeface="Consolas" panose="020B0609020204030204" pitchFamily="49"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12" name="TextBox 11">
            <a:extLst>
              <a:ext uri="{FF2B5EF4-FFF2-40B4-BE49-F238E27FC236}">
                <a16:creationId xmlns:a16="http://schemas.microsoft.com/office/drawing/2014/main" id="{4C7FA3F1-A7EE-A0F3-FF5F-DEC5BA031C97}"/>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13907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94592" y="3141325"/>
            <a:ext cx="12097407" cy="3753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&lt;head&gt;: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Contains metadata and links to resources.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&lt;meta charset="UTF-8"&gt;: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Sets the character encoding to UTF-8.</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&lt;meta name="viewport" content="width=device-width, initial-scale=1"&gt;: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Ensures proper scaling on mobile devices.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&lt;title&gt;Responsive Web Design Example&lt;/title&gt;: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Sets the title of the web page, which appears in the browser tab.</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&lt;link </a:t>
            </a:r>
            <a:r>
              <a:rPr kumimoji="0" lang="en-US" altLang="en-US" sz="23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rel</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="stylesheet" </a:t>
            </a:r>
            <a:r>
              <a:rPr kumimoji="0" lang="en-US" altLang="en-US" sz="23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href</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="styles.css"&gt;: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Links to an external CSS file for styling the page.</a:t>
            </a:r>
          </a:p>
        </p:txBody>
      </p:sp>
      <p:sp>
        <p:nvSpPr>
          <p:cNvPr id="11" name="TextBox 10">
            <a:extLst>
              <a:ext uri="{FF2B5EF4-FFF2-40B4-BE49-F238E27FC236}">
                <a16:creationId xmlns:a16="http://schemas.microsoft.com/office/drawing/2014/main" id="{02715D6B-EE61-3A0B-0B8E-93B8502A1CB8}"/>
              </a:ext>
            </a:extLst>
          </p:cNvPr>
          <p:cNvSpPr txBox="1"/>
          <p:nvPr/>
        </p:nvSpPr>
        <p:spPr>
          <a:xfrm>
            <a:off x="99847" y="505123"/>
            <a:ext cx="11997560" cy="2215991"/>
          </a:xfrm>
          <a:prstGeom prst="rect">
            <a:avLst/>
          </a:prstGeom>
          <a:solidFill>
            <a:schemeClr val="tx1"/>
          </a:solidFill>
          <a:ln>
            <a:solidFill>
              <a:schemeClr val="tx1"/>
            </a:solidFill>
          </a:ln>
        </p:spPr>
        <p:txBody>
          <a:bodyPr wrap="square">
            <a:spAutoFit/>
          </a:bodyPr>
          <a:lstStyle/>
          <a:p>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head</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a:p>
            <a:r>
              <a:rPr lang="en-US" sz="2300" b="0" dirty="0">
                <a:solidFill>
                  <a:srgbClr val="CCCCCC"/>
                </a:solidFill>
                <a:effectLst/>
                <a:highlight>
                  <a:srgbClr val="000000"/>
                </a:highlight>
                <a:latin typeface="Consolas" panose="020B0609020204030204" pitchFamily="49" charset="0"/>
              </a:rPr>
              <a:t>    </a:t>
            </a:r>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meta</a:t>
            </a:r>
            <a:r>
              <a:rPr lang="en-US" sz="2300" b="0" dirty="0">
                <a:solidFill>
                  <a:srgbClr val="CCCCCC"/>
                </a:solidFill>
                <a:effectLst/>
                <a:highlight>
                  <a:srgbClr val="000000"/>
                </a:highlight>
                <a:latin typeface="Consolas" panose="020B0609020204030204" pitchFamily="49" charset="0"/>
              </a:rPr>
              <a:t> </a:t>
            </a:r>
            <a:r>
              <a:rPr lang="en-US" sz="2300" b="0" dirty="0">
                <a:solidFill>
                  <a:srgbClr val="9CDCFE"/>
                </a:solidFill>
                <a:effectLst/>
                <a:highlight>
                  <a:srgbClr val="000000"/>
                </a:highlight>
                <a:latin typeface="Consolas" panose="020B0609020204030204" pitchFamily="49" charset="0"/>
              </a:rPr>
              <a:t>charset</a:t>
            </a:r>
            <a:r>
              <a:rPr lang="en-US" sz="2300" b="0" dirty="0">
                <a:solidFill>
                  <a:srgbClr val="CCCCCC"/>
                </a:solidFill>
                <a:effectLst/>
                <a:highlight>
                  <a:srgbClr val="000000"/>
                </a:highlight>
                <a:latin typeface="Consolas" panose="020B0609020204030204" pitchFamily="49" charset="0"/>
              </a:rPr>
              <a:t>=</a:t>
            </a:r>
            <a:r>
              <a:rPr lang="en-US" sz="2300" b="0" dirty="0">
                <a:solidFill>
                  <a:srgbClr val="CE9178"/>
                </a:solidFill>
                <a:effectLst/>
                <a:highlight>
                  <a:srgbClr val="000000"/>
                </a:highlight>
                <a:latin typeface="Consolas" panose="020B0609020204030204" pitchFamily="49" charset="0"/>
              </a:rPr>
              <a:t>"UTF-8"</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a:p>
            <a:r>
              <a:rPr lang="en-US" sz="2300" b="0" dirty="0">
                <a:solidFill>
                  <a:srgbClr val="CCCCCC"/>
                </a:solidFill>
                <a:effectLst/>
                <a:highlight>
                  <a:srgbClr val="000000"/>
                </a:highlight>
                <a:latin typeface="Consolas" panose="020B0609020204030204" pitchFamily="49" charset="0"/>
              </a:rPr>
              <a:t>    </a:t>
            </a:r>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meta</a:t>
            </a:r>
            <a:r>
              <a:rPr lang="en-US" sz="2300" b="0" dirty="0">
                <a:solidFill>
                  <a:srgbClr val="CCCCCC"/>
                </a:solidFill>
                <a:effectLst/>
                <a:highlight>
                  <a:srgbClr val="000000"/>
                </a:highlight>
                <a:latin typeface="Consolas" panose="020B0609020204030204" pitchFamily="49" charset="0"/>
              </a:rPr>
              <a:t> </a:t>
            </a:r>
            <a:r>
              <a:rPr lang="en-US" sz="2300" b="0" dirty="0">
                <a:solidFill>
                  <a:srgbClr val="9CDCFE"/>
                </a:solidFill>
                <a:effectLst/>
                <a:highlight>
                  <a:srgbClr val="000000"/>
                </a:highlight>
                <a:latin typeface="Consolas" panose="020B0609020204030204" pitchFamily="49" charset="0"/>
              </a:rPr>
              <a:t>name</a:t>
            </a:r>
            <a:r>
              <a:rPr lang="en-US" sz="2300" b="0" dirty="0">
                <a:solidFill>
                  <a:srgbClr val="CCCCCC"/>
                </a:solidFill>
                <a:effectLst/>
                <a:highlight>
                  <a:srgbClr val="000000"/>
                </a:highlight>
                <a:latin typeface="Consolas" panose="020B0609020204030204" pitchFamily="49" charset="0"/>
              </a:rPr>
              <a:t>=</a:t>
            </a:r>
            <a:r>
              <a:rPr lang="en-US" sz="2300" b="0" dirty="0">
                <a:solidFill>
                  <a:srgbClr val="CE9178"/>
                </a:solidFill>
                <a:effectLst/>
                <a:highlight>
                  <a:srgbClr val="000000"/>
                </a:highlight>
                <a:latin typeface="Consolas" panose="020B0609020204030204" pitchFamily="49" charset="0"/>
              </a:rPr>
              <a:t>"viewport"</a:t>
            </a:r>
            <a:r>
              <a:rPr lang="en-US" sz="2300" b="0" dirty="0">
                <a:solidFill>
                  <a:srgbClr val="CCCCCC"/>
                </a:solidFill>
                <a:effectLst/>
                <a:highlight>
                  <a:srgbClr val="000000"/>
                </a:highlight>
                <a:latin typeface="Consolas" panose="020B0609020204030204" pitchFamily="49" charset="0"/>
              </a:rPr>
              <a:t> </a:t>
            </a:r>
            <a:r>
              <a:rPr lang="en-US" sz="2300" b="0" dirty="0">
                <a:solidFill>
                  <a:srgbClr val="9CDCFE"/>
                </a:solidFill>
                <a:effectLst/>
                <a:highlight>
                  <a:srgbClr val="000000"/>
                </a:highlight>
                <a:latin typeface="Consolas" panose="020B0609020204030204" pitchFamily="49" charset="0"/>
              </a:rPr>
              <a:t>content</a:t>
            </a:r>
            <a:r>
              <a:rPr lang="en-US" sz="2300" b="0" dirty="0">
                <a:solidFill>
                  <a:srgbClr val="CCCCCC"/>
                </a:solidFill>
                <a:effectLst/>
                <a:highlight>
                  <a:srgbClr val="000000"/>
                </a:highlight>
                <a:latin typeface="Consolas" panose="020B0609020204030204" pitchFamily="49" charset="0"/>
              </a:rPr>
              <a:t>=</a:t>
            </a:r>
            <a:r>
              <a:rPr lang="en-US" sz="2300" b="0" dirty="0">
                <a:solidFill>
                  <a:srgbClr val="CE9178"/>
                </a:solidFill>
                <a:effectLst/>
                <a:highlight>
                  <a:srgbClr val="000000"/>
                </a:highlight>
                <a:latin typeface="Consolas" panose="020B0609020204030204" pitchFamily="49" charset="0"/>
              </a:rPr>
              <a:t>"width=device-width, initial-scale=1"</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a:p>
            <a:r>
              <a:rPr lang="en-US" sz="2300" b="0" dirty="0">
                <a:solidFill>
                  <a:srgbClr val="CCCCCC"/>
                </a:solidFill>
                <a:effectLst/>
                <a:highlight>
                  <a:srgbClr val="000000"/>
                </a:highlight>
                <a:latin typeface="Consolas" panose="020B0609020204030204" pitchFamily="49" charset="0"/>
              </a:rPr>
              <a:t>    </a:t>
            </a:r>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title</a:t>
            </a:r>
            <a:r>
              <a:rPr lang="en-US" sz="2300" b="0" dirty="0">
                <a:solidFill>
                  <a:srgbClr val="808080"/>
                </a:solidFill>
                <a:effectLst/>
                <a:highlight>
                  <a:srgbClr val="000000"/>
                </a:highlight>
                <a:latin typeface="Consolas" panose="020B0609020204030204" pitchFamily="49" charset="0"/>
              </a:rPr>
              <a:t>&gt;</a:t>
            </a:r>
            <a:r>
              <a:rPr lang="en-US" sz="2300" b="0" dirty="0">
                <a:solidFill>
                  <a:srgbClr val="CCCCCC"/>
                </a:solidFill>
                <a:effectLst/>
                <a:highlight>
                  <a:srgbClr val="000000"/>
                </a:highlight>
                <a:latin typeface="Consolas" panose="020B0609020204030204" pitchFamily="49" charset="0"/>
              </a:rPr>
              <a:t>Responsive Web Design Example</a:t>
            </a:r>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title</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a:p>
            <a:r>
              <a:rPr lang="en-US" sz="2300" b="0" dirty="0">
                <a:solidFill>
                  <a:srgbClr val="CCCCCC"/>
                </a:solidFill>
                <a:effectLst/>
                <a:highlight>
                  <a:srgbClr val="000000"/>
                </a:highlight>
                <a:latin typeface="Consolas" panose="020B0609020204030204" pitchFamily="49" charset="0"/>
              </a:rPr>
              <a:t>    </a:t>
            </a:r>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link</a:t>
            </a:r>
            <a:r>
              <a:rPr lang="en-US" sz="2300" b="0" dirty="0">
                <a:solidFill>
                  <a:srgbClr val="CCCCCC"/>
                </a:solidFill>
                <a:effectLst/>
                <a:highlight>
                  <a:srgbClr val="000000"/>
                </a:highlight>
                <a:latin typeface="Consolas" panose="020B0609020204030204" pitchFamily="49" charset="0"/>
              </a:rPr>
              <a:t> </a:t>
            </a:r>
            <a:r>
              <a:rPr lang="en-US" sz="2300" b="0" dirty="0" err="1">
                <a:solidFill>
                  <a:srgbClr val="9CDCFE"/>
                </a:solidFill>
                <a:effectLst/>
                <a:highlight>
                  <a:srgbClr val="000000"/>
                </a:highlight>
                <a:latin typeface="Consolas" panose="020B0609020204030204" pitchFamily="49" charset="0"/>
              </a:rPr>
              <a:t>rel</a:t>
            </a:r>
            <a:r>
              <a:rPr lang="en-US" sz="2300" b="0" dirty="0">
                <a:solidFill>
                  <a:srgbClr val="CCCCCC"/>
                </a:solidFill>
                <a:effectLst/>
                <a:highlight>
                  <a:srgbClr val="000000"/>
                </a:highlight>
                <a:latin typeface="Consolas" panose="020B0609020204030204" pitchFamily="49" charset="0"/>
              </a:rPr>
              <a:t>=</a:t>
            </a:r>
            <a:r>
              <a:rPr lang="en-US" sz="2300" b="0" dirty="0">
                <a:solidFill>
                  <a:srgbClr val="CE9178"/>
                </a:solidFill>
                <a:effectLst/>
                <a:highlight>
                  <a:srgbClr val="000000"/>
                </a:highlight>
                <a:latin typeface="Consolas" panose="020B0609020204030204" pitchFamily="49" charset="0"/>
              </a:rPr>
              <a:t>"stylesheet"</a:t>
            </a:r>
            <a:r>
              <a:rPr lang="en-US" sz="2300" b="0" dirty="0">
                <a:solidFill>
                  <a:srgbClr val="CCCCCC"/>
                </a:solidFill>
                <a:effectLst/>
                <a:highlight>
                  <a:srgbClr val="000000"/>
                </a:highlight>
                <a:latin typeface="Consolas" panose="020B0609020204030204" pitchFamily="49" charset="0"/>
              </a:rPr>
              <a:t> </a:t>
            </a:r>
            <a:r>
              <a:rPr lang="en-US" sz="2300" b="0" dirty="0" err="1">
                <a:solidFill>
                  <a:srgbClr val="9CDCFE"/>
                </a:solidFill>
                <a:effectLst/>
                <a:highlight>
                  <a:srgbClr val="000000"/>
                </a:highlight>
                <a:latin typeface="Consolas" panose="020B0609020204030204" pitchFamily="49" charset="0"/>
              </a:rPr>
              <a:t>href</a:t>
            </a:r>
            <a:r>
              <a:rPr lang="en-US" sz="2300" b="0" dirty="0">
                <a:solidFill>
                  <a:srgbClr val="CCCCCC"/>
                </a:solidFill>
                <a:effectLst/>
                <a:highlight>
                  <a:srgbClr val="000000"/>
                </a:highlight>
                <a:latin typeface="Consolas" panose="020B0609020204030204" pitchFamily="49" charset="0"/>
              </a:rPr>
              <a:t>=</a:t>
            </a:r>
            <a:r>
              <a:rPr lang="en-US" sz="2300" b="0" dirty="0">
                <a:solidFill>
                  <a:srgbClr val="CE9178"/>
                </a:solidFill>
                <a:effectLst/>
                <a:highlight>
                  <a:srgbClr val="000000"/>
                </a:highlight>
                <a:latin typeface="Consolas" panose="020B0609020204030204" pitchFamily="49" charset="0"/>
              </a:rPr>
              <a:t>"Responsive Web Design Stylesheet.css"</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a:p>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head</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039418" y="0"/>
            <a:ext cx="1152581" cy="1135117"/>
          </a:xfrm>
          <a:prstGeom prst="rect">
            <a:avLst/>
          </a:prstGeom>
        </p:spPr>
      </p:pic>
      <p:sp>
        <p:nvSpPr>
          <p:cNvPr id="4" name="TextBox 3">
            <a:extLst>
              <a:ext uri="{FF2B5EF4-FFF2-40B4-BE49-F238E27FC236}">
                <a16:creationId xmlns:a16="http://schemas.microsoft.com/office/drawing/2014/main" id="{1E33E976-6C05-3BD5-E6CE-6B2AE1805D1C}"/>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255025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94593" y="3913661"/>
            <a:ext cx="12097407" cy="2692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&lt;header&gt;: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Defines the header section of the page.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&lt;h1&gt;Responsive Design Example&lt;/h1&gt;: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Main heading of the page.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&lt;nav&gt;: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Defines a navigation menu.</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a:t>
            </a:r>
            <a:r>
              <a:rPr kumimoji="0" lang="en-US" altLang="en-US" sz="23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ul</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Unordered list to hold navigation links.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&lt;li&gt;&lt;a </a:t>
            </a:r>
            <a:r>
              <a:rPr kumimoji="0" lang="en-US" altLang="en-US" sz="23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href</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="#"&gt;Link&lt;/a&gt;&lt;/li&gt;: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List items containing links (e.g., Home, About, Services, Contact).</a:t>
            </a:r>
          </a:p>
        </p:txBody>
      </p:sp>
      <p:sp>
        <p:nvSpPr>
          <p:cNvPr id="11" name="TextBox 10">
            <a:extLst>
              <a:ext uri="{FF2B5EF4-FFF2-40B4-BE49-F238E27FC236}">
                <a16:creationId xmlns:a16="http://schemas.microsoft.com/office/drawing/2014/main" id="{02715D6B-EE61-3A0B-0B8E-93B8502A1CB8}"/>
              </a:ext>
            </a:extLst>
          </p:cNvPr>
          <p:cNvSpPr txBox="1"/>
          <p:nvPr/>
        </p:nvSpPr>
        <p:spPr>
          <a:xfrm>
            <a:off x="99847" y="0"/>
            <a:ext cx="11997560" cy="3970318"/>
          </a:xfrm>
          <a:prstGeom prst="rect">
            <a:avLst/>
          </a:prstGeom>
          <a:solidFill>
            <a:schemeClr val="tx1"/>
          </a:solidFill>
          <a:ln>
            <a:solidFill>
              <a:schemeClr val="tx1"/>
            </a:solidFill>
          </a:ln>
        </p:spPr>
        <p:txBody>
          <a:bodyPr wrap="square">
            <a:spAutoFit/>
          </a:bodyPr>
          <a:lstStyle/>
          <a:p>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body</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header</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h1</a:t>
            </a:r>
            <a:r>
              <a:rPr lang="en-US" sz="2100" b="0" dirty="0">
                <a:solidFill>
                  <a:srgbClr val="808080"/>
                </a:solidFill>
                <a:effectLst/>
                <a:highlight>
                  <a:srgbClr val="000000"/>
                </a:highlight>
                <a:latin typeface="Consolas" panose="020B0609020204030204" pitchFamily="49" charset="0"/>
              </a:rPr>
              <a:t>&gt;</a:t>
            </a:r>
            <a:r>
              <a:rPr lang="en-US" sz="2100" b="0" dirty="0">
                <a:solidFill>
                  <a:srgbClr val="CCCCCC"/>
                </a:solidFill>
                <a:effectLst/>
                <a:highlight>
                  <a:srgbClr val="000000"/>
                </a:highlight>
                <a:latin typeface="Consolas" panose="020B0609020204030204" pitchFamily="49" charset="0"/>
              </a:rPr>
              <a:t>Responsive Design Example</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h1</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nav</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err="1">
                <a:solidFill>
                  <a:srgbClr val="569CD6"/>
                </a:solidFill>
                <a:effectLst/>
                <a:highlight>
                  <a:srgbClr val="000000"/>
                </a:highlight>
                <a:latin typeface="Consolas" panose="020B0609020204030204" pitchFamily="49" charset="0"/>
              </a:rPr>
              <a:t>ul</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li</a:t>
            </a:r>
            <a:r>
              <a:rPr lang="en-US" sz="2100" b="0" dirty="0">
                <a:solidFill>
                  <a:srgbClr val="808080"/>
                </a:solidFill>
                <a:effectLst/>
                <a:highlight>
                  <a:srgbClr val="000000"/>
                </a:highlight>
                <a:latin typeface="Consolas" panose="020B0609020204030204" pitchFamily="49" charset="0"/>
              </a:rPr>
              <a:t>&gt;&lt;</a:t>
            </a:r>
            <a:r>
              <a:rPr lang="en-US" sz="2100" b="0" dirty="0">
                <a:solidFill>
                  <a:srgbClr val="569CD6"/>
                </a:solidFill>
                <a:effectLst/>
                <a:highlight>
                  <a:srgbClr val="000000"/>
                </a:highlight>
                <a:latin typeface="Consolas" panose="020B0609020204030204" pitchFamily="49" charset="0"/>
              </a:rPr>
              <a:t>a</a:t>
            </a:r>
            <a:r>
              <a:rPr lang="en-US" sz="2100" b="0" dirty="0">
                <a:solidFill>
                  <a:srgbClr val="CCCCCC"/>
                </a:solidFill>
                <a:effectLst/>
                <a:highlight>
                  <a:srgbClr val="000000"/>
                </a:highlight>
                <a:latin typeface="Consolas" panose="020B0609020204030204" pitchFamily="49" charset="0"/>
              </a:rPr>
              <a:t> </a:t>
            </a:r>
            <a:r>
              <a:rPr lang="en-US" sz="2100" b="0" dirty="0" err="1">
                <a:solidFill>
                  <a:srgbClr val="9CDCFE"/>
                </a:solidFill>
                <a:effectLst/>
                <a:highlight>
                  <a:srgbClr val="000000"/>
                </a:highlight>
                <a:latin typeface="Consolas" panose="020B0609020204030204" pitchFamily="49" charset="0"/>
              </a:rPr>
              <a:t>href</a:t>
            </a:r>
            <a:r>
              <a:rPr lang="en-US" sz="2100" b="0" dirty="0">
                <a:solidFill>
                  <a:srgbClr val="CCCCCC"/>
                </a:solidFill>
                <a:effectLst/>
                <a:highlight>
                  <a:srgbClr val="000000"/>
                </a:highlight>
                <a:latin typeface="Consolas" panose="020B0609020204030204" pitchFamily="49" charset="0"/>
              </a:rPr>
              <a:t>=</a:t>
            </a:r>
            <a:r>
              <a:rPr lang="en-US" sz="2100" b="0" dirty="0">
                <a:solidFill>
                  <a:srgbClr val="CE9178"/>
                </a:solidFill>
                <a:effectLst/>
                <a:highlight>
                  <a:srgbClr val="000000"/>
                </a:highlight>
                <a:latin typeface="Consolas" panose="020B0609020204030204" pitchFamily="49" charset="0"/>
              </a:rPr>
              <a:t>"#"</a:t>
            </a:r>
            <a:r>
              <a:rPr lang="en-US" sz="2100" b="0" dirty="0">
                <a:solidFill>
                  <a:srgbClr val="808080"/>
                </a:solidFill>
                <a:effectLst/>
                <a:highlight>
                  <a:srgbClr val="000000"/>
                </a:highlight>
                <a:latin typeface="Consolas" panose="020B0609020204030204" pitchFamily="49" charset="0"/>
              </a:rPr>
              <a:t>&gt;</a:t>
            </a:r>
            <a:r>
              <a:rPr lang="en-US" sz="2100" b="0" dirty="0">
                <a:solidFill>
                  <a:srgbClr val="CCCCCC"/>
                </a:solidFill>
                <a:effectLst/>
                <a:highlight>
                  <a:srgbClr val="000000"/>
                </a:highlight>
                <a:latin typeface="Consolas" panose="020B0609020204030204" pitchFamily="49" charset="0"/>
              </a:rPr>
              <a:t>Home</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a</a:t>
            </a:r>
            <a:r>
              <a:rPr lang="en-US" sz="2100" b="0" dirty="0">
                <a:solidFill>
                  <a:srgbClr val="808080"/>
                </a:solidFill>
                <a:effectLst/>
                <a:highlight>
                  <a:srgbClr val="000000"/>
                </a:highlight>
                <a:latin typeface="Consolas" panose="020B0609020204030204" pitchFamily="49" charset="0"/>
              </a:rPr>
              <a:t>&gt;&lt;/</a:t>
            </a:r>
            <a:r>
              <a:rPr lang="en-US" sz="2100" b="0" dirty="0">
                <a:solidFill>
                  <a:srgbClr val="569CD6"/>
                </a:solidFill>
                <a:effectLst/>
                <a:highlight>
                  <a:srgbClr val="000000"/>
                </a:highlight>
                <a:latin typeface="Consolas" panose="020B0609020204030204" pitchFamily="49" charset="0"/>
              </a:rPr>
              <a:t>li</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li</a:t>
            </a:r>
            <a:r>
              <a:rPr lang="en-US" sz="2100" b="0" dirty="0">
                <a:solidFill>
                  <a:srgbClr val="808080"/>
                </a:solidFill>
                <a:effectLst/>
                <a:highlight>
                  <a:srgbClr val="000000"/>
                </a:highlight>
                <a:latin typeface="Consolas" panose="020B0609020204030204" pitchFamily="49" charset="0"/>
              </a:rPr>
              <a:t>&gt;&lt;</a:t>
            </a:r>
            <a:r>
              <a:rPr lang="en-US" sz="2100" b="0" dirty="0">
                <a:solidFill>
                  <a:srgbClr val="569CD6"/>
                </a:solidFill>
                <a:effectLst/>
                <a:highlight>
                  <a:srgbClr val="000000"/>
                </a:highlight>
                <a:latin typeface="Consolas" panose="020B0609020204030204" pitchFamily="49" charset="0"/>
              </a:rPr>
              <a:t>a</a:t>
            </a:r>
            <a:r>
              <a:rPr lang="en-US" sz="2100" b="0" dirty="0">
                <a:solidFill>
                  <a:srgbClr val="CCCCCC"/>
                </a:solidFill>
                <a:effectLst/>
                <a:highlight>
                  <a:srgbClr val="000000"/>
                </a:highlight>
                <a:latin typeface="Consolas" panose="020B0609020204030204" pitchFamily="49" charset="0"/>
              </a:rPr>
              <a:t> </a:t>
            </a:r>
            <a:r>
              <a:rPr lang="en-US" sz="2100" b="0" dirty="0" err="1">
                <a:solidFill>
                  <a:srgbClr val="9CDCFE"/>
                </a:solidFill>
                <a:effectLst/>
                <a:highlight>
                  <a:srgbClr val="000000"/>
                </a:highlight>
                <a:latin typeface="Consolas" panose="020B0609020204030204" pitchFamily="49" charset="0"/>
              </a:rPr>
              <a:t>href</a:t>
            </a:r>
            <a:r>
              <a:rPr lang="en-US" sz="2100" b="0" dirty="0">
                <a:solidFill>
                  <a:srgbClr val="CCCCCC"/>
                </a:solidFill>
                <a:effectLst/>
                <a:highlight>
                  <a:srgbClr val="000000"/>
                </a:highlight>
                <a:latin typeface="Consolas" panose="020B0609020204030204" pitchFamily="49" charset="0"/>
              </a:rPr>
              <a:t>=</a:t>
            </a:r>
            <a:r>
              <a:rPr lang="en-US" sz="2100" b="0" dirty="0">
                <a:solidFill>
                  <a:srgbClr val="CE9178"/>
                </a:solidFill>
                <a:effectLst/>
                <a:highlight>
                  <a:srgbClr val="000000"/>
                </a:highlight>
                <a:latin typeface="Consolas" panose="020B0609020204030204" pitchFamily="49" charset="0"/>
              </a:rPr>
              <a:t>"#"</a:t>
            </a:r>
            <a:r>
              <a:rPr lang="en-US" sz="2100" b="0" dirty="0">
                <a:solidFill>
                  <a:srgbClr val="808080"/>
                </a:solidFill>
                <a:effectLst/>
                <a:highlight>
                  <a:srgbClr val="000000"/>
                </a:highlight>
                <a:latin typeface="Consolas" panose="020B0609020204030204" pitchFamily="49" charset="0"/>
              </a:rPr>
              <a:t>&gt;</a:t>
            </a:r>
            <a:r>
              <a:rPr lang="en-US" sz="2100" b="0" dirty="0">
                <a:solidFill>
                  <a:srgbClr val="CCCCCC"/>
                </a:solidFill>
                <a:effectLst/>
                <a:highlight>
                  <a:srgbClr val="000000"/>
                </a:highlight>
                <a:latin typeface="Consolas" panose="020B0609020204030204" pitchFamily="49" charset="0"/>
              </a:rPr>
              <a:t>About</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a</a:t>
            </a:r>
            <a:r>
              <a:rPr lang="en-US" sz="2100" b="0" dirty="0">
                <a:solidFill>
                  <a:srgbClr val="808080"/>
                </a:solidFill>
                <a:effectLst/>
                <a:highlight>
                  <a:srgbClr val="000000"/>
                </a:highlight>
                <a:latin typeface="Consolas" panose="020B0609020204030204" pitchFamily="49" charset="0"/>
              </a:rPr>
              <a:t>&gt;&lt;/</a:t>
            </a:r>
            <a:r>
              <a:rPr lang="en-US" sz="2100" b="0" dirty="0">
                <a:solidFill>
                  <a:srgbClr val="569CD6"/>
                </a:solidFill>
                <a:effectLst/>
                <a:highlight>
                  <a:srgbClr val="000000"/>
                </a:highlight>
                <a:latin typeface="Consolas" panose="020B0609020204030204" pitchFamily="49" charset="0"/>
              </a:rPr>
              <a:t>li</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li</a:t>
            </a:r>
            <a:r>
              <a:rPr lang="en-US" sz="2100" b="0" dirty="0">
                <a:solidFill>
                  <a:srgbClr val="808080"/>
                </a:solidFill>
                <a:effectLst/>
                <a:highlight>
                  <a:srgbClr val="000000"/>
                </a:highlight>
                <a:latin typeface="Consolas" panose="020B0609020204030204" pitchFamily="49" charset="0"/>
              </a:rPr>
              <a:t>&gt;&lt;</a:t>
            </a:r>
            <a:r>
              <a:rPr lang="en-US" sz="2100" b="0" dirty="0">
                <a:solidFill>
                  <a:srgbClr val="569CD6"/>
                </a:solidFill>
                <a:effectLst/>
                <a:highlight>
                  <a:srgbClr val="000000"/>
                </a:highlight>
                <a:latin typeface="Consolas" panose="020B0609020204030204" pitchFamily="49" charset="0"/>
              </a:rPr>
              <a:t>a</a:t>
            </a:r>
            <a:r>
              <a:rPr lang="en-US" sz="2100" b="0" dirty="0">
                <a:solidFill>
                  <a:srgbClr val="CCCCCC"/>
                </a:solidFill>
                <a:effectLst/>
                <a:highlight>
                  <a:srgbClr val="000000"/>
                </a:highlight>
                <a:latin typeface="Consolas" panose="020B0609020204030204" pitchFamily="49" charset="0"/>
              </a:rPr>
              <a:t> </a:t>
            </a:r>
            <a:r>
              <a:rPr lang="en-US" sz="2100" b="0" dirty="0" err="1">
                <a:solidFill>
                  <a:srgbClr val="9CDCFE"/>
                </a:solidFill>
                <a:effectLst/>
                <a:highlight>
                  <a:srgbClr val="000000"/>
                </a:highlight>
                <a:latin typeface="Consolas" panose="020B0609020204030204" pitchFamily="49" charset="0"/>
              </a:rPr>
              <a:t>href</a:t>
            </a:r>
            <a:r>
              <a:rPr lang="en-US" sz="2100" b="0" dirty="0">
                <a:solidFill>
                  <a:srgbClr val="CCCCCC"/>
                </a:solidFill>
                <a:effectLst/>
                <a:highlight>
                  <a:srgbClr val="000000"/>
                </a:highlight>
                <a:latin typeface="Consolas" panose="020B0609020204030204" pitchFamily="49" charset="0"/>
              </a:rPr>
              <a:t>=</a:t>
            </a:r>
            <a:r>
              <a:rPr lang="en-US" sz="2100" b="0" dirty="0">
                <a:solidFill>
                  <a:srgbClr val="CE9178"/>
                </a:solidFill>
                <a:effectLst/>
                <a:highlight>
                  <a:srgbClr val="000000"/>
                </a:highlight>
                <a:latin typeface="Consolas" panose="020B0609020204030204" pitchFamily="49" charset="0"/>
              </a:rPr>
              <a:t>"#"</a:t>
            </a:r>
            <a:r>
              <a:rPr lang="en-US" sz="2100" b="0" dirty="0">
                <a:solidFill>
                  <a:srgbClr val="808080"/>
                </a:solidFill>
                <a:effectLst/>
                <a:highlight>
                  <a:srgbClr val="000000"/>
                </a:highlight>
                <a:latin typeface="Consolas" panose="020B0609020204030204" pitchFamily="49" charset="0"/>
              </a:rPr>
              <a:t>&gt;</a:t>
            </a:r>
            <a:r>
              <a:rPr lang="en-US" sz="2100" b="0" dirty="0">
                <a:solidFill>
                  <a:srgbClr val="CCCCCC"/>
                </a:solidFill>
                <a:effectLst/>
                <a:highlight>
                  <a:srgbClr val="000000"/>
                </a:highlight>
                <a:latin typeface="Consolas" panose="020B0609020204030204" pitchFamily="49" charset="0"/>
              </a:rPr>
              <a:t>Services</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a</a:t>
            </a:r>
            <a:r>
              <a:rPr lang="en-US" sz="2100" b="0" dirty="0">
                <a:solidFill>
                  <a:srgbClr val="808080"/>
                </a:solidFill>
                <a:effectLst/>
                <a:highlight>
                  <a:srgbClr val="000000"/>
                </a:highlight>
                <a:latin typeface="Consolas" panose="020B0609020204030204" pitchFamily="49" charset="0"/>
              </a:rPr>
              <a:t>&gt;&lt;/</a:t>
            </a:r>
            <a:r>
              <a:rPr lang="en-US" sz="2100" b="0" dirty="0">
                <a:solidFill>
                  <a:srgbClr val="569CD6"/>
                </a:solidFill>
                <a:effectLst/>
                <a:highlight>
                  <a:srgbClr val="000000"/>
                </a:highlight>
                <a:latin typeface="Consolas" panose="020B0609020204030204" pitchFamily="49" charset="0"/>
              </a:rPr>
              <a:t>li</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li</a:t>
            </a:r>
            <a:r>
              <a:rPr lang="en-US" sz="2100" b="0" dirty="0">
                <a:solidFill>
                  <a:srgbClr val="808080"/>
                </a:solidFill>
                <a:effectLst/>
                <a:highlight>
                  <a:srgbClr val="000000"/>
                </a:highlight>
                <a:latin typeface="Consolas" panose="020B0609020204030204" pitchFamily="49" charset="0"/>
              </a:rPr>
              <a:t>&gt;&lt;</a:t>
            </a:r>
            <a:r>
              <a:rPr lang="en-US" sz="2100" b="0" dirty="0">
                <a:solidFill>
                  <a:srgbClr val="569CD6"/>
                </a:solidFill>
                <a:effectLst/>
                <a:highlight>
                  <a:srgbClr val="000000"/>
                </a:highlight>
                <a:latin typeface="Consolas" panose="020B0609020204030204" pitchFamily="49" charset="0"/>
              </a:rPr>
              <a:t>a</a:t>
            </a:r>
            <a:r>
              <a:rPr lang="en-US" sz="2100" b="0" dirty="0">
                <a:solidFill>
                  <a:srgbClr val="CCCCCC"/>
                </a:solidFill>
                <a:effectLst/>
                <a:highlight>
                  <a:srgbClr val="000000"/>
                </a:highlight>
                <a:latin typeface="Consolas" panose="020B0609020204030204" pitchFamily="49" charset="0"/>
              </a:rPr>
              <a:t> </a:t>
            </a:r>
            <a:r>
              <a:rPr lang="en-US" sz="2100" b="0" dirty="0" err="1">
                <a:solidFill>
                  <a:srgbClr val="9CDCFE"/>
                </a:solidFill>
                <a:effectLst/>
                <a:highlight>
                  <a:srgbClr val="000000"/>
                </a:highlight>
                <a:latin typeface="Consolas" panose="020B0609020204030204" pitchFamily="49" charset="0"/>
              </a:rPr>
              <a:t>href</a:t>
            </a:r>
            <a:r>
              <a:rPr lang="en-US" sz="2100" b="0" dirty="0">
                <a:solidFill>
                  <a:srgbClr val="CCCCCC"/>
                </a:solidFill>
                <a:effectLst/>
                <a:highlight>
                  <a:srgbClr val="000000"/>
                </a:highlight>
                <a:latin typeface="Consolas" panose="020B0609020204030204" pitchFamily="49" charset="0"/>
              </a:rPr>
              <a:t>=</a:t>
            </a:r>
            <a:r>
              <a:rPr lang="en-US" sz="2100" b="0" dirty="0">
                <a:solidFill>
                  <a:srgbClr val="CE9178"/>
                </a:solidFill>
                <a:effectLst/>
                <a:highlight>
                  <a:srgbClr val="000000"/>
                </a:highlight>
                <a:latin typeface="Consolas" panose="020B0609020204030204" pitchFamily="49" charset="0"/>
              </a:rPr>
              <a:t>"#"</a:t>
            </a:r>
            <a:r>
              <a:rPr lang="en-US" sz="2100" b="0" dirty="0">
                <a:solidFill>
                  <a:srgbClr val="808080"/>
                </a:solidFill>
                <a:effectLst/>
                <a:highlight>
                  <a:srgbClr val="000000"/>
                </a:highlight>
                <a:latin typeface="Consolas" panose="020B0609020204030204" pitchFamily="49" charset="0"/>
              </a:rPr>
              <a:t>&gt;</a:t>
            </a:r>
            <a:r>
              <a:rPr lang="en-US" sz="2100" b="0" dirty="0">
                <a:solidFill>
                  <a:srgbClr val="CCCCCC"/>
                </a:solidFill>
                <a:effectLst/>
                <a:highlight>
                  <a:srgbClr val="000000"/>
                </a:highlight>
                <a:latin typeface="Consolas" panose="020B0609020204030204" pitchFamily="49" charset="0"/>
              </a:rPr>
              <a:t>Contact</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a</a:t>
            </a:r>
            <a:r>
              <a:rPr lang="en-US" sz="2100" b="0" dirty="0">
                <a:solidFill>
                  <a:srgbClr val="808080"/>
                </a:solidFill>
                <a:effectLst/>
                <a:highlight>
                  <a:srgbClr val="000000"/>
                </a:highlight>
                <a:latin typeface="Consolas" panose="020B0609020204030204" pitchFamily="49" charset="0"/>
              </a:rPr>
              <a:t>&gt;&lt;/</a:t>
            </a:r>
            <a:r>
              <a:rPr lang="en-US" sz="2100" b="0" dirty="0">
                <a:solidFill>
                  <a:srgbClr val="569CD6"/>
                </a:solidFill>
                <a:effectLst/>
                <a:highlight>
                  <a:srgbClr val="000000"/>
                </a:highlight>
                <a:latin typeface="Consolas" panose="020B0609020204030204" pitchFamily="49" charset="0"/>
              </a:rPr>
              <a:t>li</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err="1">
                <a:solidFill>
                  <a:srgbClr val="569CD6"/>
                </a:solidFill>
                <a:effectLst/>
                <a:highlight>
                  <a:srgbClr val="000000"/>
                </a:highlight>
                <a:latin typeface="Consolas" panose="020B0609020204030204" pitchFamily="49" charset="0"/>
              </a:rPr>
              <a:t>ul</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nav</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a:p>
            <a:r>
              <a:rPr lang="en-US" sz="2100" b="0" dirty="0">
                <a:solidFill>
                  <a:srgbClr val="CCCCCC"/>
                </a:solidFill>
                <a:effectLst/>
                <a:highlight>
                  <a:srgbClr val="000000"/>
                </a:highlight>
                <a:latin typeface="Consolas" panose="020B0609020204030204" pitchFamily="49" charset="0"/>
              </a:rPr>
              <a:t>    </a:t>
            </a:r>
            <a:r>
              <a:rPr lang="en-US" sz="2100" b="0" dirty="0">
                <a:solidFill>
                  <a:srgbClr val="808080"/>
                </a:solidFill>
                <a:effectLst/>
                <a:highlight>
                  <a:srgbClr val="000000"/>
                </a:highlight>
                <a:latin typeface="Consolas" panose="020B0609020204030204" pitchFamily="49" charset="0"/>
              </a:rPr>
              <a:t>&lt;/</a:t>
            </a:r>
            <a:r>
              <a:rPr lang="en-US" sz="2100" b="0" dirty="0">
                <a:solidFill>
                  <a:srgbClr val="569CD6"/>
                </a:solidFill>
                <a:effectLst/>
                <a:highlight>
                  <a:srgbClr val="000000"/>
                </a:highlight>
                <a:latin typeface="Consolas" panose="020B0609020204030204" pitchFamily="49" charset="0"/>
              </a:rPr>
              <a:t>header</a:t>
            </a:r>
            <a:r>
              <a:rPr lang="en-US" sz="2100" b="0" dirty="0">
                <a:solidFill>
                  <a:srgbClr val="808080"/>
                </a:solidFill>
                <a:effectLst/>
                <a:highlight>
                  <a:srgbClr val="000000"/>
                </a:highlight>
                <a:latin typeface="Consolas" panose="020B0609020204030204" pitchFamily="49" charset="0"/>
              </a:rPr>
              <a:t>&gt;</a:t>
            </a:r>
            <a:endParaRPr lang="en-US" sz="2100" b="0" dirty="0">
              <a:solidFill>
                <a:srgbClr val="CCCCCC"/>
              </a:solidFill>
              <a:effectLst/>
              <a:highlight>
                <a:srgbClr val="000000"/>
              </a:highlight>
              <a:latin typeface="Consolas" panose="020B0609020204030204" pitchFamily="49"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Tree>
    <p:extLst>
      <p:ext uri="{BB962C8B-B14F-4D97-AF65-F5344CB8AC3E}">
        <p14:creationId xmlns:p14="http://schemas.microsoft.com/office/powerpoint/2010/main" val="37692485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94593" y="3344482"/>
            <a:ext cx="12097407" cy="3222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&lt;main&gt;: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Main content area of the page.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&lt;section&gt;: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Defines a section within the main content.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&lt;h2&gt;Introduction to Responsive Design&lt;/h2&gt;: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Subheading for the section.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&lt;p&gt;This example demonstrates...media queries.&lt;/p&gt;: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Paragraph explaining the purpose of the example.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a:t>
            </a:r>
            <a:r>
              <a:rPr kumimoji="0" lang="en-US" altLang="en-US" sz="23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img</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3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src</a:t>
            </a: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"img.jpg" alt="Example Image"&gt;: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Image with a source file and alternative text.</a:t>
            </a:r>
          </a:p>
        </p:txBody>
      </p:sp>
      <p:sp>
        <p:nvSpPr>
          <p:cNvPr id="11" name="TextBox 10">
            <a:extLst>
              <a:ext uri="{FF2B5EF4-FFF2-40B4-BE49-F238E27FC236}">
                <a16:creationId xmlns:a16="http://schemas.microsoft.com/office/drawing/2014/main" id="{02715D6B-EE61-3A0B-0B8E-93B8502A1CB8}"/>
              </a:ext>
            </a:extLst>
          </p:cNvPr>
          <p:cNvSpPr txBox="1"/>
          <p:nvPr/>
        </p:nvSpPr>
        <p:spPr>
          <a:xfrm>
            <a:off x="99847" y="0"/>
            <a:ext cx="11997560" cy="3416320"/>
          </a:xfrm>
          <a:prstGeom prst="rect">
            <a:avLst/>
          </a:prstGeom>
          <a:solidFill>
            <a:schemeClr val="tx1"/>
          </a:solidFill>
          <a:ln>
            <a:solidFill>
              <a:schemeClr val="tx1"/>
            </a:solidFill>
          </a:ln>
        </p:spPr>
        <p:txBody>
          <a:bodyPr wrap="square">
            <a:spAutoFit/>
          </a:bodyPr>
          <a:lstStyle/>
          <a:p>
            <a:r>
              <a:rPr lang="en-US" sz="2400" b="0" dirty="0">
                <a:solidFill>
                  <a:srgbClr val="CCCCCC"/>
                </a:solidFill>
                <a:effectLst/>
                <a:highlight>
                  <a:srgbClr val="000000"/>
                </a:highlight>
                <a:latin typeface="Consolas" panose="020B0609020204030204" pitchFamily="49" charset="0"/>
              </a:rPr>
              <a:t>    </a:t>
            </a:r>
            <a:r>
              <a:rPr lang="en-US" sz="2400" b="0" dirty="0">
                <a:solidFill>
                  <a:srgbClr val="808080"/>
                </a:solidFill>
                <a:effectLst/>
                <a:highlight>
                  <a:srgbClr val="000000"/>
                </a:highlight>
                <a:latin typeface="Consolas" panose="020B0609020204030204" pitchFamily="49" charset="0"/>
              </a:rPr>
              <a:t>&lt;</a:t>
            </a:r>
            <a:r>
              <a:rPr lang="en-US" sz="2400" b="0" dirty="0">
                <a:solidFill>
                  <a:srgbClr val="569CD6"/>
                </a:solidFill>
                <a:effectLst/>
                <a:highlight>
                  <a:srgbClr val="000000"/>
                </a:highlight>
                <a:latin typeface="Consolas" panose="020B0609020204030204" pitchFamily="49" charset="0"/>
              </a:rPr>
              <a:t>main</a:t>
            </a:r>
            <a:r>
              <a:rPr lang="en-US" sz="2400" b="0" dirty="0">
                <a:solidFill>
                  <a:srgbClr val="808080"/>
                </a:solidFill>
                <a:effectLst/>
                <a:highlight>
                  <a:srgbClr val="000000"/>
                </a:highlight>
                <a:latin typeface="Consolas" panose="020B0609020204030204" pitchFamily="49" charset="0"/>
              </a:rPr>
              <a:t>&gt;</a:t>
            </a:r>
            <a:endParaRPr lang="en-US" sz="2400" b="0" dirty="0">
              <a:solidFill>
                <a:srgbClr val="CCCCCC"/>
              </a:solidFill>
              <a:effectLst/>
              <a:highlight>
                <a:srgbClr val="000000"/>
              </a:highlight>
              <a:latin typeface="Consolas" panose="020B0609020204030204" pitchFamily="49" charset="0"/>
            </a:endParaRP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808080"/>
                </a:solidFill>
                <a:effectLst/>
                <a:highlight>
                  <a:srgbClr val="000000"/>
                </a:highlight>
                <a:latin typeface="Consolas" panose="020B0609020204030204" pitchFamily="49" charset="0"/>
              </a:rPr>
              <a:t>&lt;</a:t>
            </a:r>
            <a:r>
              <a:rPr lang="en-US" sz="2400" b="0" dirty="0">
                <a:solidFill>
                  <a:srgbClr val="569CD6"/>
                </a:solidFill>
                <a:effectLst/>
                <a:highlight>
                  <a:srgbClr val="000000"/>
                </a:highlight>
                <a:latin typeface="Consolas" panose="020B0609020204030204" pitchFamily="49" charset="0"/>
              </a:rPr>
              <a:t>section</a:t>
            </a:r>
            <a:r>
              <a:rPr lang="en-US" sz="2400" b="0" dirty="0">
                <a:solidFill>
                  <a:srgbClr val="808080"/>
                </a:solidFill>
                <a:effectLst/>
                <a:highlight>
                  <a:srgbClr val="000000"/>
                </a:highlight>
                <a:latin typeface="Consolas" panose="020B0609020204030204" pitchFamily="49" charset="0"/>
              </a:rPr>
              <a:t>&gt;</a:t>
            </a:r>
            <a:endParaRPr lang="en-US" sz="2400" b="0" dirty="0">
              <a:solidFill>
                <a:srgbClr val="CCCCCC"/>
              </a:solidFill>
              <a:effectLst/>
              <a:highlight>
                <a:srgbClr val="000000"/>
              </a:highlight>
              <a:latin typeface="Consolas" panose="020B0609020204030204" pitchFamily="49" charset="0"/>
            </a:endParaRP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808080"/>
                </a:solidFill>
                <a:effectLst/>
                <a:highlight>
                  <a:srgbClr val="000000"/>
                </a:highlight>
                <a:latin typeface="Consolas" panose="020B0609020204030204" pitchFamily="49" charset="0"/>
              </a:rPr>
              <a:t>&lt;</a:t>
            </a:r>
            <a:r>
              <a:rPr lang="en-US" sz="2400" b="0" dirty="0">
                <a:solidFill>
                  <a:srgbClr val="569CD6"/>
                </a:solidFill>
                <a:effectLst/>
                <a:highlight>
                  <a:srgbClr val="000000"/>
                </a:highlight>
                <a:latin typeface="Consolas" panose="020B0609020204030204" pitchFamily="49" charset="0"/>
              </a:rPr>
              <a:t>h2</a:t>
            </a:r>
            <a:r>
              <a:rPr lang="en-US" sz="2400" b="0" dirty="0">
                <a:solidFill>
                  <a:srgbClr val="808080"/>
                </a:solidFill>
                <a:effectLst/>
                <a:highlight>
                  <a:srgbClr val="000000"/>
                </a:highlight>
                <a:latin typeface="Consolas" panose="020B0609020204030204" pitchFamily="49" charset="0"/>
              </a:rPr>
              <a:t>&gt;</a:t>
            </a:r>
            <a:r>
              <a:rPr lang="en-US" sz="2400" b="0" dirty="0">
                <a:solidFill>
                  <a:srgbClr val="CCCCCC"/>
                </a:solidFill>
                <a:effectLst/>
                <a:highlight>
                  <a:srgbClr val="000000"/>
                </a:highlight>
                <a:latin typeface="Consolas" panose="020B0609020204030204" pitchFamily="49" charset="0"/>
              </a:rPr>
              <a:t>Introduction to Responsive Design</a:t>
            </a:r>
            <a:r>
              <a:rPr lang="en-US" sz="2400" b="0" dirty="0">
                <a:solidFill>
                  <a:srgbClr val="808080"/>
                </a:solidFill>
                <a:effectLst/>
                <a:highlight>
                  <a:srgbClr val="000000"/>
                </a:highlight>
                <a:latin typeface="Consolas" panose="020B0609020204030204" pitchFamily="49" charset="0"/>
              </a:rPr>
              <a:t>&lt;/</a:t>
            </a:r>
            <a:r>
              <a:rPr lang="en-US" sz="2400" b="0" dirty="0">
                <a:solidFill>
                  <a:srgbClr val="569CD6"/>
                </a:solidFill>
                <a:effectLst/>
                <a:highlight>
                  <a:srgbClr val="000000"/>
                </a:highlight>
                <a:latin typeface="Consolas" panose="020B0609020204030204" pitchFamily="49" charset="0"/>
              </a:rPr>
              <a:t>h2</a:t>
            </a:r>
            <a:r>
              <a:rPr lang="en-US" sz="2400" b="0" dirty="0">
                <a:solidFill>
                  <a:srgbClr val="808080"/>
                </a:solidFill>
                <a:effectLst/>
                <a:highlight>
                  <a:srgbClr val="000000"/>
                </a:highlight>
                <a:latin typeface="Consolas" panose="020B0609020204030204" pitchFamily="49" charset="0"/>
              </a:rPr>
              <a:t>&gt;</a:t>
            </a:r>
            <a:endParaRPr lang="en-US" sz="2400" b="0" dirty="0">
              <a:solidFill>
                <a:srgbClr val="CCCCCC"/>
              </a:solidFill>
              <a:effectLst/>
              <a:highlight>
                <a:srgbClr val="000000"/>
              </a:highlight>
              <a:latin typeface="Consolas" panose="020B0609020204030204" pitchFamily="49" charset="0"/>
            </a:endParaRP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808080"/>
                </a:solidFill>
                <a:effectLst/>
                <a:highlight>
                  <a:srgbClr val="000000"/>
                </a:highlight>
                <a:latin typeface="Consolas" panose="020B0609020204030204" pitchFamily="49" charset="0"/>
              </a:rPr>
              <a:t>&lt;</a:t>
            </a:r>
            <a:r>
              <a:rPr lang="en-US" sz="2400" b="0" dirty="0">
                <a:solidFill>
                  <a:srgbClr val="569CD6"/>
                </a:solidFill>
                <a:effectLst/>
                <a:highlight>
                  <a:srgbClr val="000000"/>
                </a:highlight>
                <a:latin typeface="Consolas" panose="020B0609020204030204" pitchFamily="49" charset="0"/>
              </a:rPr>
              <a:t>p</a:t>
            </a:r>
            <a:r>
              <a:rPr lang="en-US" sz="2400" b="0" dirty="0">
                <a:solidFill>
                  <a:srgbClr val="808080"/>
                </a:solidFill>
                <a:effectLst/>
                <a:highlight>
                  <a:srgbClr val="000000"/>
                </a:highlight>
                <a:latin typeface="Consolas" panose="020B0609020204030204" pitchFamily="49" charset="0"/>
              </a:rPr>
              <a:t>&gt;</a:t>
            </a:r>
            <a:r>
              <a:rPr lang="en-US" sz="2400" b="0" dirty="0">
                <a:solidFill>
                  <a:srgbClr val="CCCCCC"/>
                </a:solidFill>
                <a:effectLst/>
                <a:highlight>
                  <a:srgbClr val="000000"/>
                </a:highlight>
                <a:latin typeface="Consolas" panose="020B0609020204030204" pitchFamily="49" charset="0"/>
              </a:rPr>
              <a:t>This example demonstrates the principles of responsive design, including fluid layouts, flexible images, and media queries.</a:t>
            </a:r>
            <a:r>
              <a:rPr lang="en-US" sz="2400" b="0" dirty="0">
                <a:solidFill>
                  <a:srgbClr val="808080"/>
                </a:solidFill>
                <a:effectLst/>
                <a:highlight>
                  <a:srgbClr val="000000"/>
                </a:highlight>
                <a:latin typeface="Consolas" panose="020B0609020204030204" pitchFamily="49" charset="0"/>
              </a:rPr>
              <a:t>&lt;/</a:t>
            </a:r>
            <a:r>
              <a:rPr lang="en-US" sz="2400" b="0" dirty="0">
                <a:solidFill>
                  <a:srgbClr val="569CD6"/>
                </a:solidFill>
                <a:effectLst/>
                <a:highlight>
                  <a:srgbClr val="000000"/>
                </a:highlight>
                <a:latin typeface="Consolas" panose="020B0609020204030204" pitchFamily="49" charset="0"/>
              </a:rPr>
              <a:t>p</a:t>
            </a:r>
            <a:r>
              <a:rPr lang="en-US" sz="2400" b="0" dirty="0">
                <a:solidFill>
                  <a:srgbClr val="808080"/>
                </a:solidFill>
                <a:effectLst/>
                <a:highlight>
                  <a:srgbClr val="000000"/>
                </a:highlight>
                <a:latin typeface="Consolas" panose="020B0609020204030204" pitchFamily="49" charset="0"/>
              </a:rPr>
              <a:t>&gt;</a:t>
            </a:r>
            <a:endParaRPr lang="en-US" sz="2400" b="0" dirty="0">
              <a:solidFill>
                <a:srgbClr val="CCCCCC"/>
              </a:solidFill>
              <a:effectLst/>
              <a:highlight>
                <a:srgbClr val="000000"/>
              </a:highlight>
              <a:latin typeface="Consolas" panose="020B0609020204030204" pitchFamily="49" charset="0"/>
            </a:endParaRP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808080"/>
                </a:solidFill>
                <a:effectLst/>
                <a:highlight>
                  <a:srgbClr val="000000"/>
                </a:highlight>
                <a:latin typeface="Consolas" panose="020B0609020204030204" pitchFamily="49" charset="0"/>
              </a:rPr>
              <a:t>&lt;</a:t>
            </a:r>
            <a:r>
              <a:rPr lang="en-US" sz="2400" b="0" dirty="0" err="1">
                <a:solidFill>
                  <a:srgbClr val="569CD6"/>
                </a:solidFill>
                <a:effectLst/>
                <a:highlight>
                  <a:srgbClr val="000000"/>
                </a:highlight>
                <a:latin typeface="Consolas" panose="020B0609020204030204" pitchFamily="49" charset="0"/>
              </a:rPr>
              <a:t>img</a:t>
            </a:r>
            <a:r>
              <a:rPr lang="en-US" sz="2400" b="0" dirty="0">
                <a:solidFill>
                  <a:srgbClr val="CCCCCC"/>
                </a:solidFill>
                <a:effectLst/>
                <a:highlight>
                  <a:srgbClr val="000000"/>
                </a:highlight>
                <a:latin typeface="Consolas" panose="020B0609020204030204" pitchFamily="49" charset="0"/>
              </a:rPr>
              <a:t> </a:t>
            </a:r>
            <a:r>
              <a:rPr lang="en-US" sz="2400" b="0" dirty="0" err="1">
                <a:solidFill>
                  <a:srgbClr val="9CDCFE"/>
                </a:solidFill>
                <a:effectLst/>
                <a:highlight>
                  <a:srgbClr val="000000"/>
                </a:highlight>
                <a:latin typeface="Consolas" panose="020B0609020204030204" pitchFamily="49" charset="0"/>
              </a:rPr>
              <a:t>src</a:t>
            </a:r>
            <a:r>
              <a:rPr lang="en-US" sz="2400" b="0" dirty="0">
                <a:solidFill>
                  <a:srgbClr val="CCCCCC"/>
                </a:solidFill>
                <a:effectLst/>
                <a:highlight>
                  <a:srgbClr val="000000"/>
                </a:highlight>
                <a:latin typeface="Consolas" panose="020B0609020204030204" pitchFamily="49" charset="0"/>
              </a:rPr>
              <a:t>=</a:t>
            </a:r>
            <a:r>
              <a:rPr lang="en-US" sz="2400" b="0" dirty="0">
                <a:solidFill>
                  <a:srgbClr val="CE9178"/>
                </a:solidFill>
                <a:effectLst/>
                <a:highlight>
                  <a:srgbClr val="000000"/>
                </a:highlight>
                <a:latin typeface="Consolas" panose="020B0609020204030204" pitchFamily="49" charset="0"/>
              </a:rPr>
              <a:t>"img.jpg"</a:t>
            </a:r>
            <a:r>
              <a:rPr lang="en-US" sz="2400" b="0" dirty="0">
                <a:solidFill>
                  <a:srgbClr val="CCCCCC"/>
                </a:solidFill>
                <a:effectLst/>
                <a:highlight>
                  <a:srgbClr val="000000"/>
                </a:highlight>
                <a:latin typeface="Consolas" panose="020B0609020204030204" pitchFamily="49" charset="0"/>
              </a:rPr>
              <a:t> </a:t>
            </a:r>
            <a:r>
              <a:rPr lang="en-US" sz="2400" b="0" dirty="0">
                <a:solidFill>
                  <a:srgbClr val="9CDCFE"/>
                </a:solidFill>
                <a:effectLst/>
                <a:highlight>
                  <a:srgbClr val="000000"/>
                </a:highlight>
                <a:latin typeface="Consolas" panose="020B0609020204030204" pitchFamily="49" charset="0"/>
              </a:rPr>
              <a:t>alt</a:t>
            </a:r>
            <a:r>
              <a:rPr lang="en-US" sz="2400" b="0" dirty="0">
                <a:solidFill>
                  <a:srgbClr val="CCCCCC"/>
                </a:solidFill>
                <a:effectLst/>
                <a:highlight>
                  <a:srgbClr val="000000"/>
                </a:highlight>
                <a:latin typeface="Consolas" panose="020B0609020204030204" pitchFamily="49" charset="0"/>
              </a:rPr>
              <a:t>=</a:t>
            </a:r>
            <a:r>
              <a:rPr lang="en-US" sz="2400" b="0" dirty="0">
                <a:solidFill>
                  <a:srgbClr val="CE9178"/>
                </a:solidFill>
                <a:effectLst/>
                <a:highlight>
                  <a:srgbClr val="000000"/>
                </a:highlight>
                <a:latin typeface="Consolas" panose="020B0609020204030204" pitchFamily="49" charset="0"/>
              </a:rPr>
              <a:t>"Example Image"</a:t>
            </a:r>
            <a:r>
              <a:rPr lang="en-US" sz="2400" b="0" dirty="0">
                <a:solidFill>
                  <a:srgbClr val="808080"/>
                </a:solidFill>
                <a:effectLst/>
                <a:highlight>
                  <a:srgbClr val="000000"/>
                </a:highlight>
                <a:latin typeface="Consolas" panose="020B0609020204030204" pitchFamily="49" charset="0"/>
              </a:rPr>
              <a:t>&gt;</a:t>
            </a:r>
            <a:endParaRPr lang="en-US" sz="2400" b="0" dirty="0">
              <a:solidFill>
                <a:srgbClr val="CCCCCC"/>
              </a:solidFill>
              <a:effectLst/>
              <a:highlight>
                <a:srgbClr val="000000"/>
              </a:highlight>
              <a:latin typeface="Consolas" panose="020B0609020204030204" pitchFamily="49" charset="0"/>
            </a:endParaRP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808080"/>
                </a:solidFill>
                <a:effectLst/>
                <a:highlight>
                  <a:srgbClr val="000000"/>
                </a:highlight>
                <a:latin typeface="Consolas" panose="020B0609020204030204" pitchFamily="49" charset="0"/>
              </a:rPr>
              <a:t>&lt;/</a:t>
            </a:r>
            <a:r>
              <a:rPr lang="en-US" sz="2400" b="0" dirty="0">
                <a:solidFill>
                  <a:srgbClr val="569CD6"/>
                </a:solidFill>
                <a:effectLst/>
                <a:highlight>
                  <a:srgbClr val="000000"/>
                </a:highlight>
                <a:latin typeface="Consolas" panose="020B0609020204030204" pitchFamily="49" charset="0"/>
              </a:rPr>
              <a:t>section</a:t>
            </a:r>
            <a:r>
              <a:rPr lang="en-US" sz="2400" b="0" dirty="0">
                <a:solidFill>
                  <a:srgbClr val="808080"/>
                </a:solidFill>
                <a:effectLst/>
                <a:highlight>
                  <a:srgbClr val="000000"/>
                </a:highlight>
                <a:latin typeface="Consolas" panose="020B0609020204030204" pitchFamily="49" charset="0"/>
              </a:rPr>
              <a:t>&gt;</a:t>
            </a:r>
            <a:endParaRPr lang="en-US" sz="2400" b="0" dirty="0">
              <a:solidFill>
                <a:srgbClr val="CCCCCC"/>
              </a:solidFill>
              <a:effectLst/>
              <a:highlight>
                <a:srgbClr val="000000"/>
              </a:highlight>
              <a:latin typeface="Consolas" panose="020B0609020204030204" pitchFamily="49" charset="0"/>
            </a:endParaRP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808080"/>
                </a:solidFill>
                <a:effectLst/>
                <a:highlight>
                  <a:srgbClr val="000000"/>
                </a:highlight>
                <a:latin typeface="Consolas" panose="020B0609020204030204" pitchFamily="49" charset="0"/>
              </a:rPr>
              <a:t>&lt;/</a:t>
            </a:r>
            <a:r>
              <a:rPr lang="en-US" sz="2400" b="0" dirty="0">
                <a:solidFill>
                  <a:srgbClr val="569CD6"/>
                </a:solidFill>
                <a:effectLst/>
                <a:highlight>
                  <a:srgbClr val="000000"/>
                </a:highlight>
                <a:latin typeface="Consolas" panose="020B0609020204030204" pitchFamily="49" charset="0"/>
              </a:rPr>
              <a:t>main</a:t>
            </a:r>
            <a:r>
              <a:rPr lang="en-US" sz="2400" b="0" dirty="0">
                <a:solidFill>
                  <a:srgbClr val="808080"/>
                </a:solidFill>
                <a:effectLst/>
                <a:highlight>
                  <a:srgbClr val="000000"/>
                </a:highlight>
                <a:latin typeface="Consolas" panose="020B0609020204030204" pitchFamily="49" charset="0"/>
              </a:rPr>
              <a:t>&gt;</a:t>
            </a:r>
            <a:endParaRPr lang="en-US" sz="2400" b="0" dirty="0">
              <a:solidFill>
                <a:srgbClr val="CCCCCC"/>
              </a:solidFill>
              <a:effectLst/>
              <a:highlight>
                <a:srgbClr val="000000"/>
              </a:highlight>
              <a:latin typeface="Consolas" panose="020B0609020204030204" pitchFamily="49"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993821" y="0"/>
            <a:ext cx="1198179" cy="1180024"/>
          </a:xfrm>
          <a:prstGeom prst="rect">
            <a:avLst/>
          </a:prstGeom>
        </p:spPr>
      </p:pic>
    </p:spTree>
    <p:extLst>
      <p:ext uri="{BB962C8B-B14F-4D97-AF65-F5344CB8AC3E}">
        <p14:creationId xmlns:p14="http://schemas.microsoft.com/office/powerpoint/2010/main" val="1862400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5254" y="2495305"/>
            <a:ext cx="12097407" cy="216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&lt;footer&gt;: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Defines the footer section of the page.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&lt;p&gt;Designed by: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Dr. Farshid Keivanian&lt;/p&gt;: Paragraph crediting the designer.</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&lt;/body&gt;: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Closing tag for the body.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3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&lt;/html&gt;: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Closing tag for the HTML document.</a:t>
            </a:r>
          </a:p>
        </p:txBody>
      </p:sp>
      <p:sp>
        <p:nvSpPr>
          <p:cNvPr id="11" name="TextBox 10">
            <a:extLst>
              <a:ext uri="{FF2B5EF4-FFF2-40B4-BE49-F238E27FC236}">
                <a16:creationId xmlns:a16="http://schemas.microsoft.com/office/drawing/2014/main" id="{02715D6B-EE61-3A0B-0B8E-93B8502A1CB8}"/>
              </a:ext>
            </a:extLst>
          </p:cNvPr>
          <p:cNvSpPr txBox="1"/>
          <p:nvPr/>
        </p:nvSpPr>
        <p:spPr>
          <a:xfrm>
            <a:off x="0" y="599089"/>
            <a:ext cx="11997560" cy="1862048"/>
          </a:xfrm>
          <a:prstGeom prst="rect">
            <a:avLst/>
          </a:prstGeom>
          <a:solidFill>
            <a:schemeClr val="tx1"/>
          </a:solidFill>
          <a:ln>
            <a:solidFill>
              <a:schemeClr val="tx1"/>
            </a:solidFill>
          </a:ln>
        </p:spPr>
        <p:txBody>
          <a:bodyPr wrap="square">
            <a:spAutoFit/>
          </a:bodyPr>
          <a:lstStyle/>
          <a:p>
            <a:r>
              <a:rPr lang="en-US" sz="2300" b="0" dirty="0">
                <a:solidFill>
                  <a:srgbClr val="CCCCCC"/>
                </a:solidFill>
                <a:effectLst/>
                <a:highlight>
                  <a:srgbClr val="000000"/>
                </a:highlight>
                <a:latin typeface="Consolas" panose="020B0609020204030204" pitchFamily="49" charset="0"/>
              </a:rPr>
              <a:t>    </a:t>
            </a:r>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footer</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a:p>
            <a:r>
              <a:rPr lang="en-US" sz="2300" b="0" dirty="0">
                <a:solidFill>
                  <a:srgbClr val="CCCCCC"/>
                </a:solidFill>
                <a:effectLst/>
                <a:highlight>
                  <a:srgbClr val="000000"/>
                </a:highlight>
                <a:latin typeface="Consolas" panose="020B0609020204030204" pitchFamily="49" charset="0"/>
              </a:rPr>
              <a:t>        </a:t>
            </a:r>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p</a:t>
            </a:r>
            <a:r>
              <a:rPr lang="en-US" sz="2300" b="0" dirty="0">
                <a:solidFill>
                  <a:srgbClr val="808080"/>
                </a:solidFill>
                <a:effectLst/>
                <a:highlight>
                  <a:srgbClr val="000000"/>
                </a:highlight>
                <a:latin typeface="Consolas" panose="020B0609020204030204" pitchFamily="49" charset="0"/>
              </a:rPr>
              <a:t>&gt;</a:t>
            </a:r>
            <a:r>
              <a:rPr lang="en-US" sz="2300" b="0" dirty="0">
                <a:solidFill>
                  <a:srgbClr val="CCCCCC"/>
                </a:solidFill>
                <a:effectLst/>
                <a:highlight>
                  <a:srgbClr val="000000"/>
                </a:highlight>
                <a:latin typeface="Consolas" panose="020B0609020204030204" pitchFamily="49" charset="0"/>
              </a:rPr>
              <a:t>Designed by: Dr. Farshid Keivanian</a:t>
            </a:r>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p</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a:p>
            <a:r>
              <a:rPr lang="en-US" sz="2300" b="0" dirty="0">
                <a:solidFill>
                  <a:srgbClr val="CCCCCC"/>
                </a:solidFill>
                <a:effectLst/>
                <a:highlight>
                  <a:srgbClr val="000000"/>
                </a:highlight>
                <a:latin typeface="Consolas" panose="020B0609020204030204" pitchFamily="49" charset="0"/>
              </a:rPr>
              <a:t>    </a:t>
            </a:r>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footer</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a:p>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body</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a:p>
            <a:r>
              <a:rPr lang="en-US" sz="2300" b="0" dirty="0">
                <a:solidFill>
                  <a:srgbClr val="808080"/>
                </a:solidFill>
                <a:effectLst/>
                <a:highlight>
                  <a:srgbClr val="000000"/>
                </a:highlight>
                <a:latin typeface="Consolas" panose="020B0609020204030204" pitchFamily="49" charset="0"/>
              </a:rPr>
              <a:t>&lt;/</a:t>
            </a:r>
            <a:r>
              <a:rPr lang="en-US" sz="2300" b="0" dirty="0">
                <a:solidFill>
                  <a:srgbClr val="569CD6"/>
                </a:solidFill>
                <a:effectLst/>
                <a:highlight>
                  <a:srgbClr val="000000"/>
                </a:highlight>
                <a:latin typeface="Consolas" panose="020B0609020204030204" pitchFamily="49" charset="0"/>
              </a:rPr>
              <a:t>html</a:t>
            </a:r>
            <a:r>
              <a:rPr lang="en-US" sz="2300" b="0" dirty="0">
                <a:solidFill>
                  <a:srgbClr val="808080"/>
                </a:solidFill>
                <a:effectLst/>
                <a:highlight>
                  <a:srgbClr val="000000"/>
                </a:highlight>
                <a:latin typeface="Consolas" panose="020B0609020204030204" pitchFamily="49" charset="0"/>
              </a:rPr>
              <a:t>&gt;</a:t>
            </a:r>
            <a:endParaRPr lang="en-US" sz="2300" b="0" dirty="0">
              <a:solidFill>
                <a:srgbClr val="CCCCCC"/>
              </a:solidFill>
              <a:effectLst/>
              <a:highlight>
                <a:srgbClr val="000000"/>
              </a:highlight>
              <a:latin typeface="Consolas" panose="020B0609020204030204" pitchFamily="49"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4" name="TextBox 3">
            <a:extLst>
              <a:ext uri="{FF2B5EF4-FFF2-40B4-BE49-F238E27FC236}">
                <a16:creationId xmlns:a16="http://schemas.microsoft.com/office/drawing/2014/main" id="{0C9979F7-67B6-1449-1F8A-F30A0E1962D0}"/>
              </a:ext>
            </a:extLst>
          </p:cNvPr>
          <p:cNvSpPr txBox="1"/>
          <p:nvPr/>
        </p:nvSpPr>
        <p:spPr>
          <a:xfrm>
            <a:off x="-47298" y="4730581"/>
            <a:ext cx="12044857" cy="1697068"/>
          </a:xfrm>
          <a:prstGeom prst="rect">
            <a:avLst/>
          </a:prstGeom>
          <a:noFill/>
        </p:spPr>
        <p:txBody>
          <a:bodyPr wrap="square">
            <a:spAutoFit/>
          </a:bodyPr>
          <a:lstStyle/>
          <a:p>
            <a:pPr>
              <a:lnSpc>
                <a:spcPct val="150000"/>
              </a:lnSpc>
            </a:pPr>
            <a:r>
              <a:rPr lang="en-AU" sz="2400" dirty="0">
                <a:latin typeface="Calibri" panose="020F0502020204030204" pitchFamily="34" charset="0"/>
                <a:cs typeface="Calibri" panose="020F0502020204030204" pitchFamily="34" charset="0"/>
              </a:rPr>
              <a:t>This HTML structure outlines a basic responsive web design example, including a header with navigation, main content with a section explaining responsive design, and a footer crediting the designer.</a:t>
            </a:r>
          </a:p>
        </p:txBody>
      </p:sp>
      <p:sp>
        <p:nvSpPr>
          <p:cNvPr id="5" name="TextBox 4">
            <a:extLst>
              <a:ext uri="{FF2B5EF4-FFF2-40B4-BE49-F238E27FC236}">
                <a16:creationId xmlns:a16="http://schemas.microsoft.com/office/drawing/2014/main" id="{EA43C03E-DC09-1973-1B02-E3596BFF7F2D}"/>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20302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99847" y="2280684"/>
            <a:ext cx="12097407" cy="114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 comment indicating the author of the stylesheet and the date it was created. Comments in CSS are enclosed in /* */. </a:t>
            </a:r>
          </a:p>
        </p:txBody>
      </p:sp>
      <p:sp>
        <p:nvSpPr>
          <p:cNvPr id="11" name="TextBox 10">
            <a:extLst>
              <a:ext uri="{FF2B5EF4-FFF2-40B4-BE49-F238E27FC236}">
                <a16:creationId xmlns:a16="http://schemas.microsoft.com/office/drawing/2014/main" id="{02715D6B-EE61-3A0B-0B8E-93B8502A1CB8}"/>
              </a:ext>
            </a:extLst>
          </p:cNvPr>
          <p:cNvSpPr txBox="1"/>
          <p:nvPr/>
        </p:nvSpPr>
        <p:spPr>
          <a:xfrm>
            <a:off x="0" y="838159"/>
            <a:ext cx="11997560" cy="707886"/>
          </a:xfrm>
          <a:prstGeom prst="rect">
            <a:avLst/>
          </a:prstGeom>
          <a:solidFill>
            <a:schemeClr val="tx1"/>
          </a:solidFill>
          <a:ln>
            <a:solidFill>
              <a:schemeClr val="tx1"/>
            </a:solidFill>
          </a:ln>
        </p:spPr>
        <p:txBody>
          <a:bodyPr wrap="square">
            <a:spAutoFit/>
          </a:bodyPr>
          <a:lstStyle/>
          <a:p>
            <a:r>
              <a:rPr lang="en-US" sz="2000" b="0" dirty="0">
                <a:solidFill>
                  <a:srgbClr val="6A9955"/>
                </a:solidFill>
                <a:effectLst/>
                <a:highlight>
                  <a:srgbClr val="000000"/>
                </a:highlight>
                <a:latin typeface="Consolas" panose="020B0609020204030204" pitchFamily="49" charset="0"/>
              </a:rPr>
              <a:t>/* Style sheet created by: Dr. Farshid Keivanian, 23 May 2024 */</a:t>
            </a:r>
            <a:br>
              <a:rPr lang="en-US" sz="2000" b="0" dirty="0">
                <a:solidFill>
                  <a:srgbClr val="CCCCCC"/>
                </a:solidFill>
                <a:effectLst/>
                <a:highlight>
                  <a:srgbClr val="000000"/>
                </a:highlight>
                <a:latin typeface="Consolas" panose="020B0609020204030204" pitchFamily="49" charset="0"/>
              </a:rPr>
            </a:br>
            <a:endParaRPr lang="en-US" sz="2000" b="0" dirty="0">
              <a:solidFill>
                <a:srgbClr val="CCCCCC"/>
              </a:solidFill>
              <a:effectLst/>
              <a:highlight>
                <a:srgbClr val="000000"/>
              </a:highlight>
              <a:latin typeface="Consolas" panose="020B0609020204030204" pitchFamily="49"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260685" y="0"/>
            <a:ext cx="1931315" cy="1902052"/>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88017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49924" y="3449908"/>
            <a:ext cx="12097407" cy="280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block sets the styles for the &lt;body&gt; element: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background-color: #f0f0f0;: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Sets the background color to a light gray.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font-family: Arial, sans-serif;: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Sets the font family to Arial, with a fallback to sans-serif.</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margin: 0;: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Removes the default margin.</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padding: 0;: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Removes the default padding.</a:t>
            </a:r>
          </a:p>
        </p:txBody>
      </p:sp>
      <p:sp>
        <p:nvSpPr>
          <p:cNvPr id="11" name="TextBox 10">
            <a:extLst>
              <a:ext uri="{FF2B5EF4-FFF2-40B4-BE49-F238E27FC236}">
                <a16:creationId xmlns:a16="http://schemas.microsoft.com/office/drawing/2014/main" id="{02715D6B-EE61-3A0B-0B8E-93B8502A1CB8}"/>
              </a:ext>
            </a:extLst>
          </p:cNvPr>
          <p:cNvSpPr txBox="1"/>
          <p:nvPr/>
        </p:nvSpPr>
        <p:spPr>
          <a:xfrm>
            <a:off x="0" y="838159"/>
            <a:ext cx="11997560" cy="2569934"/>
          </a:xfrm>
          <a:prstGeom prst="rect">
            <a:avLst/>
          </a:prstGeom>
          <a:solidFill>
            <a:schemeClr val="tx1"/>
          </a:solidFill>
          <a:ln>
            <a:solidFill>
              <a:schemeClr val="tx1"/>
            </a:solidFill>
          </a:ln>
        </p:spPr>
        <p:txBody>
          <a:bodyPr wrap="square">
            <a:spAutoFit/>
          </a:bodyPr>
          <a:lstStyle/>
          <a:p>
            <a:r>
              <a:rPr lang="en-US" sz="2300" b="0" dirty="0">
                <a:solidFill>
                  <a:srgbClr val="6A9955"/>
                </a:solidFill>
                <a:effectLst/>
                <a:latin typeface="Consolas" panose="020B0609020204030204" pitchFamily="49" charset="0"/>
              </a:rPr>
              <a:t>/* Style for body specifies a background color */</a:t>
            </a:r>
            <a:endParaRPr lang="en-US" sz="2300" b="0" dirty="0">
              <a:solidFill>
                <a:srgbClr val="CCCCCC"/>
              </a:solidFill>
              <a:effectLst/>
              <a:latin typeface="Consolas" panose="020B0609020204030204" pitchFamily="49" charset="0"/>
            </a:endParaRPr>
          </a:p>
          <a:p>
            <a:r>
              <a:rPr lang="en-US" sz="2300" b="0" dirty="0">
                <a:solidFill>
                  <a:srgbClr val="D7BA7D"/>
                </a:solidFill>
                <a:effectLst/>
                <a:latin typeface="Consolas" panose="020B0609020204030204" pitchFamily="49" charset="0"/>
              </a:rPr>
              <a:t>body</a:t>
            </a:r>
            <a:r>
              <a:rPr lang="en-US" sz="2300" b="0" dirty="0">
                <a:solidFill>
                  <a:srgbClr val="CCCCCC"/>
                </a:solidFill>
                <a:effectLst/>
                <a:latin typeface="Consolas" panose="020B0609020204030204" pitchFamily="49" charset="0"/>
              </a:rPr>
              <a:t> {</a:t>
            </a:r>
          </a:p>
          <a:p>
            <a:r>
              <a:rPr lang="en-US" sz="2300" b="0" dirty="0">
                <a:solidFill>
                  <a:srgbClr val="CCCCCC"/>
                </a:solidFill>
                <a:effectLst/>
                <a:latin typeface="Consolas" panose="020B0609020204030204" pitchFamily="49" charset="0"/>
              </a:rPr>
              <a:t>    </a:t>
            </a:r>
            <a:r>
              <a:rPr lang="en-US" sz="2300" b="0" dirty="0">
                <a:solidFill>
                  <a:srgbClr val="9CDCFE"/>
                </a:solidFill>
                <a:effectLst/>
                <a:latin typeface="Consolas" panose="020B0609020204030204" pitchFamily="49" charset="0"/>
              </a:rPr>
              <a:t>background-color</a:t>
            </a:r>
            <a:r>
              <a:rPr lang="en-US" sz="2300" b="0" dirty="0">
                <a:solidFill>
                  <a:srgbClr val="CCCCCC"/>
                </a:solidFill>
                <a:effectLst/>
                <a:latin typeface="Consolas" panose="020B0609020204030204" pitchFamily="49" charset="0"/>
              </a:rPr>
              <a:t>: </a:t>
            </a:r>
            <a:r>
              <a:rPr lang="en-US" sz="2300" b="0" dirty="0">
                <a:solidFill>
                  <a:srgbClr val="CE9178"/>
                </a:solidFill>
                <a:effectLst/>
                <a:latin typeface="Consolas" panose="020B0609020204030204" pitchFamily="49" charset="0"/>
              </a:rPr>
              <a:t>#f0f0f0</a:t>
            </a:r>
            <a:r>
              <a:rPr lang="en-US" sz="2300" b="0" dirty="0">
                <a:solidFill>
                  <a:srgbClr val="CCCCCC"/>
                </a:solidFill>
                <a:effectLst/>
                <a:latin typeface="Consolas" panose="020B0609020204030204" pitchFamily="49" charset="0"/>
              </a:rPr>
              <a:t>;</a:t>
            </a:r>
          </a:p>
          <a:p>
            <a:r>
              <a:rPr lang="en-US" sz="2300" b="0" dirty="0">
                <a:solidFill>
                  <a:srgbClr val="CCCCCC"/>
                </a:solidFill>
                <a:effectLst/>
                <a:latin typeface="Consolas" panose="020B0609020204030204" pitchFamily="49" charset="0"/>
              </a:rPr>
              <a:t>    </a:t>
            </a:r>
            <a:r>
              <a:rPr lang="en-US" sz="2300" b="0" dirty="0">
                <a:solidFill>
                  <a:srgbClr val="9CDCFE"/>
                </a:solidFill>
                <a:effectLst/>
                <a:latin typeface="Consolas" panose="020B0609020204030204" pitchFamily="49" charset="0"/>
              </a:rPr>
              <a:t>font-family</a:t>
            </a:r>
            <a:r>
              <a:rPr lang="en-US" sz="2300" b="0" dirty="0">
                <a:solidFill>
                  <a:srgbClr val="CCCCCC"/>
                </a:solidFill>
                <a:effectLst/>
                <a:latin typeface="Consolas" panose="020B0609020204030204" pitchFamily="49" charset="0"/>
              </a:rPr>
              <a:t>: </a:t>
            </a:r>
            <a:r>
              <a:rPr lang="en-US" sz="2300" b="0" dirty="0">
                <a:solidFill>
                  <a:srgbClr val="CE9178"/>
                </a:solidFill>
                <a:effectLst/>
                <a:latin typeface="Consolas" panose="020B0609020204030204" pitchFamily="49" charset="0"/>
              </a:rPr>
              <a:t>Arial</a:t>
            </a:r>
            <a:r>
              <a:rPr lang="en-US" sz="2300" b="0" dirty="0">
                <a:solidFill>
                  <a:srgbClr val="CCCCCC"/>
                </a:solidFill>
                <a:effectLst/>
                <a:latin typeface="Consolas" panose="020B0609020204030204" pitchFamily="49" charset="0"/>
              </a:rPr>
              <a:t>, </a:t>
            </a:r>
            <a:r>
              <a:rPr lang="en-US" sz="2300" b="0" dirty="0">
                <a:solidFill>
                  <a:srgbClr val="CE9178"/>
                </a:solidFill>
                <a:effectLst/>
                <a:latin typeface="Consolas" panose="020B0609020204030204" pitchFamily="49" charset="0"/>
              </a:rPr>
              <a:t>sans-serif</a:t>
            </a:r>
            <a:r>
              <a:rPr lang="en-US" sz="2300" b="0" dirty="0">
                <a:solidFill>
                  <a:srgbClr val="CCCCCC"/>
                </a:solidFill>
                <a:effectLst/>
                <a:latin typeface="Consolas" panose="020B0609020204030204" pitchFamily="49" charset="0"/>
              </a:rPr>
              <a:t>;</a:t>
            </a:r>
          </a:p>
          <a:p>
            <a:r>
              <a:rPr lang="en-US" sz="2300" b="0" dirty="0">
                <a:solidFill>
                  <a:srgbClr val="CCCCCC"/>
                </a:solidFill>
                <a:effectLst/>
                <a:latin typeface="Consolas" panose="020B0609020204030204" pitchFamily="49" charset="0"/>
              </a:rPr>
              <a:t>    </a:t>
            </a:r>
            <a:r>
              <a:rPr lang="en-US" sz="2300" b="0" dirty="0">
                <a:solidFill>
                  <a:srgbClr val="9CDCFE"/>
                </a:solidFill>
                <a:effectLst/>
                <a:latin typeface="Consolas" panose="020B0609020204030204" pitchFamily="49" charset="0"/>
              </a:rPr>
              <a:t>margin</a:t>
            </a:r>
            <a:r>
              <a:rPr lang="en-US" sz="2300" b="0" dirty="0">
                <a:solidFill>
                  <a:srgbClr val="CCCCCC"/>
                </a:solidFill>
                <a:effectLst/>
                <a:latin typeface="Consolas" panose="020B0609020204030204" pitchFamily="49" charset="0"/>
              </a:rPr>
              <a:t>: </a:t>
            </a:r>
            <a:r>
              <a:rPr lang="en-US" sz="2300" b="0" dirty="0">
                <a:solidFill>
                  <a:srgbClr val="B5CEA8"/>
                </a:solidFill>
                <a:effectLst/>
                <a:latin typeface="Consolas" panose="020B0609020204030204" pitchFamily="49" charset="0"/>
              </a:rPr>
              <a:t>0</a:t>
            </a:r>
            <a:r>
              <a:rPr lang="en-US" sz="2300" b="0" dirty="0">
                <a:solidFill>
                  <a:srgbClr val="CCCCCC"/>
                </a:solidFill>
                <a:effectLst/>
                <a:latin typeface="Consolas" panose="020B0609020204030204" pitchFamily="49" charset="0"/>
              </a:rPr>
              <a:t>;</a:t>
            </a:r>
          </a:p>
          <a:p>
            <a:r>
              <a:rPr lang="en-US" sz="2300" b="0" dirty="0">
                <a:solidFill>
                  <a:srgbClr val="CCCCCC"/>
                </a:solidFill>
                <a:effectLst/>
                <a:latin typeface="Consolas" panose="020B0609020204030204" pitchFamily="49" charset="0"/>
              </a:rPr>
              <a:t>    </a:t>
            </a:r>
            <a:r>
              <a:rPr lang="en-US" sz="2300" b="0" dirty="0">
                <a:solidFill>
                  <a:srgbClr val="9CDCFE"/>
                </a:solidFill>
                <a:effectLst/>
                <a:latin typeface="Consolas" panose="020B0609020204030204" pitchFamily="49" charset="0"/>
              </a:rPr>
              <a:t>padding</a:t>
            </a:r>
            <a:r>
              <a:rPr lang="en-US" sz="2300" b="0" dirty="0">
                <a:solidFill>
                  <a:srgbClr val="CCCCCC"/>
                </a:solidFill>
                <a:effectLst/>
                <a:latin typeface="Consolas" panose="020B0609020204030204" pitchFamily="49" charset="0"/>
              </a:rPr>
              <a:t>: </a:t>
            </a:r>
            <a:r>
              <a:rPr lang="en-US" sz="2300" b="0" dirty="0">
                <a:solidFill>
                  <a:srgbClr val="B5CEA8"/>
                </a:solidFill>
                <a:effectLst/>
                <a:latin typeface="Consolas" panose="020B0609020204030204" pitchFamily="49" charset="0"/>
              </a:rPr>
              <a:t>0</a:t>
            </a:r>
            <a:r>
              <a:rPr lang="en-US" sz="2300" b="0" dirty="0">
                <a:solidFill>
                  <a:srgbClr val="CCCCCC"/>
                </a:solidFill>
                <a:effectLst/>
                <a:latin typeface="Consolas" panose="020B0609020204030204" pitchFamily="49" charset="0"/>
              </a:rPr>
              <a:t>;</a:t>
            </a:r>
          </a:p>
          <a:p>
            <a:r>
              <a:rPr lang="en-US" sz="2300" b="0" dirty="0">
                <a:solidFill>
                  <a:srgbClr val="CCCCCC"/>
                </a:solidFill>
                <a:effectLst/>
                <a:latin typeface="Consolas" panose="020B0609020204030204" pitchFamily="49" charset="0"/>
              </a:rPr>
              <a:t>}</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708586" y="0"/>
            <a:ext cx="1483414" cy="146093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45991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0" y="2580466"/>
            <a:ext cx="12097407" cy="1697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block sets the styles for the &lt;</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ul</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&gt; element inside &lt;nav&gt;: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list-style-type: none;: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Removes the default bullet points from the list.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padding: 0;: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Removes the default padding.</a:t>
            </a:r>
          </a:p>
        </p:txBody>
      </p:sp>
      <p:sp>
        <p:nvSpPr>
          <p:cNvPr id="11" name="TextBox 10">
            <a:extLst>
              <a:ext uri="{FF2B5EF4-FFF2-40B4-BE49-F238E27FC236}">
                <a16:creationId xmlns:a16="http://schemas.microsoft.com/office/drawing/2014/main" id="{02715D6B-EE61-3A0B-0B8E-93B8502A1CB8}"/>
              </a:ext>
            </a:extLst>
          </p:cNvPr>
          <p:cNvSpPr txBox="1"/>
          <p:nvPr/>
        </p:nvSpPr>
        <p:spPr>
          <a:xfrm>
            <a:off x="0" y="838159"/>
            <a:ext cx="11997560" cy="1569660"/>
          </a:xfrm>
          <a:prstGeom prst="rect">
            <a:avLst/>
          </a:prstGeom>
          <a:solidFill>
            <a:schemeClr val="tx1"/>
          </a:solidFill>
          <a:ln>
            <a:solidFill>
              <a:schemeClr val="tx1"/>
            </a:solidFill>
          </a:ln>
        </p:spPr>
        <p:txBody>
          <a:bodyPr wrap="square">
            <a:spAutoFit/>
          </a:bodyPr>
          <a:lstStyle/>
          <a:p>
            <a:r>
              <a:rPr lang="nb-NO" sz="2400" b="0" dirty="0">
                <a:solidFill>
                  <a:srgbClr val="D7BA7D"/>
                </a:solidFill>
                <a:effectLst/>
                <a:highlight>
                  <a:srgbClr val="000000"/>
                </a:highlight>
                <a:latin typeface="Consolas" panose="020B0609020204030204" pitchFamily="49" charset="0"/>
              </a:rPr>
              <a:t>nav</a:t>
            </a:r>
            <a:r>
              <a:rPr lang="nb-NO" sz="2400" b="0" dirty="0">
                <a:solidFill>
                  <a:srgbClr val="CCCCCC"/>
                </a:solidFill>
                <a:effectLst/>
                <a:highlight>
                  <a:srgbClr val="000000"/>
                </a:highlight>
                <a:latin typeface="Consolas" panose="020B0609020204030204" pitchFamily="49" charset="0"/>
              </a:rPr>
              <a:t> </a:t>
            </a:r>
            <a:r>
              <a:rPr lang="nb-NO" sz="2400" b="0" dirty="0">
                <a:solidFill>
                  <a:srgbClr val="D7BA7D"/>
                </a:solidFill>
                <a:effectLst/>
                <a:highlight>
                  <a:srgbClr val="000000"/>
                </a:highlight>
                <a:latin typeface="Consolas" panose="020B0609020204030204" pitchFamily="49" charset="0"/>
              </a:rPr>
              <a:t>ul</a:t>
            </a:r>
            <a:r>
              <a:rPr lang="nb-NO" sz="2400" b="0" dirty="0">
                <a:solidFill>
                  <a:srgbClr val="CCCCCC"/>
                </a:solidFill>
                <a:effectLst/>
                <a:highlight>
                  <a:srgbClr val="000000"/>
                </a:highlight>
                <a:latin typeface="Consolas" panose="020B0609020204030204" pitchFamily="49" charset="0"/>
              </a:rPr>
              <a:t> {</a:t>
            </a:r>
          </a:p>
          <a:p>
            <a:r>
              <a:rPr lang="nb-NO" sz="2400" b="0" dirty="0">
                <a:solidFill>
                  <a:srgbClr val="CCCCCC"/>
                </a:solidFill>
                <a:effectLst/>
                <a:highlight>
                  <a:srgbClr val="000000"/>
                </a:highlight>
                <a:latin typeface="Consolas" panose="020B0609020204030204" pitchFamily="49" charset="0"/>
              </a:rPr>
              <a:t>    </a:t>
            </a:r>
            <a:r>
              <a:rPr lang="nb-NO" sz="2400" b="0" dirty="0">
                <a:solidFill>
                  <a:srgbClr val="9CDCFE"/>
                </a:solidFill>
                <a:effectLst/>
                <a:highlight>
                  <a:srgbClr val="000000"/>
                </a:highlight>
                <a:latin typeface="Consolas" panose="020B0609020204030204" pitchFamily="49" charset="0"/>
              </a:rPr>
              <a:t>list-style-type</a:t>
            </a:r>
            <a:r>
              <a:rPr lang="nb-NO" sz="2400" b="0" dirty="0">
                <a:solidFill>
                  <a:srgbClr val="CCCCCC"/>
                </a:solidFill>
                <a:effectLst/>
                <a:highlight>
                  <a:srgbClr val="000000"/>
                </a:highlight>
                <a:latin typeface="Consolas" panose="020B0609020204030204" pitchFamily="49" charset="0"/>
              </a:rPr>
              <a:t>: </a:t>
            </a:r>
            <a:r>
              <a:rPr lang="nb-NO" sz="2400" b="0" dirty="0">
                <a:solidFill>
                  <a:srgbClr val="CE9178"/>
                </a:solidFill>
                <a:effectLst/>
                <a:highlight>
                  <a:srgbClr val="000000"/>
                </a:highlight>
                <a:latin typeface="Consolas" panose="020B0609020204030204" pitchFamily="49" charset="0"/>
              </a:rPr>
              <a:t>none</a:t>
            </a:r>
            <a:r>
              <a:rPr lang="nb-NO" sz="2400" b="0" dirty="0">
                <a:solidFill>
                  <a:srgbClr val="CCCCCC"/>
                </a:solidFill>
                <a:effectLst/>
                <a:highlight>
                  <a:srgbClr val="000000"/>
                </a:highlight>
                <a:latin typeface="Consolas" panose="020B0609020204030204" pitchFamily="49" charset="0"/>
              </a:rPr>
              <a:t>;</a:t>
            </a:r>
          </a:p>
          <a:p>
            <a:r>
              <a:rPr lang="nb-NO" sz="2400" b="0" dirty="0">
                <a:solidFill>
                  <a:srgbClr val="CCCCCC"/>
                </a:solidFill>
                <a:effectLst/>
                <a:highlight>
                  <a:srgbClr val="000000"/>
                </a:highlight>
                <a:latin typeface="Consolas" panose="020B0609020204030204" pitchFamily="49" charset="0"/>
              </a:rPr>
              <a:t>    </a:t>
            </a:r>
            <a:r>
              <a:rPr lang="nb-NO" sz="2400" b="0" dirty="0">
                <a:solidFill>
                  <a:srgbClr val="9CDCFE"/>
                </a:solidFill>
                <a:effectLst/>
                <a:highlight>
                  <a:srgbClr val="000000"/>
                </a:highlight>
                <a:latin typeface="Consolas" panose="020B0609020204030204" pitchFamily="49" charset="0"/>
              </a:rPr>
              <a:t>padding</a:t>
            </a:r>
            <a:r>
              <a:rPr lang="nb-NO" sz="2400" b="0" dirty="0">
                <a:solidFill>
                  <a:srgbClr val="CCCCCC"/>
                </a:solidFill>
                <a:effectLst/>
                <a:highlight>
                  <a:srgbClr val="000000"/>
                </a:highlight>
                <a:latin typeface="Consolas" panose="020B0609020204030204" pitchFamily="49" charset="0"/>
              </a:rPr>
              <a:t>: </a:t>
            </a:r>
            <a:r>
              <a:rPr lang="nb-NO" sz="2400" b="0" dirty="0">
                <a:solidFill>
                  <a:srgbClr val="B5CEA8"/>
                </a:solidFill>
                <a:effectLst/>
                <a:highlight>
                  <a:srgbClr val="000000"/>
                </a:highlight>
                <a:latin typeface="Consolas" panose="020B0609020204030204" pitchFamily="49" charset="0"/>
              </a:rPr>
              <a:t>0</a:t>
            </a:r>
            <a:r>
              <a:rPr lang="nb-NO" sz="2400" b="0" dirty="0">
                <a:solidFill>
                  <a:srgbClr val="CCCCCC"/>
                </a:solidFill>
                <a:effectLst/>
                <a:highlight>
                  <a:srgbClr val="000000"/>
                </a:highlight>
                <a:latin typeface="Consolas" panose="020B0609020204030204" pitchFamily="49" charset="0"/>
              </a:rPr>
              <a:t>;</a:t>
            </a:r>
          </a:p>
          <a:p>
            <a:r>
              <a:rPr lang="nb-NO" sz="2400" b="0" dirty="0">
                <a:solidFill>
                  <a:srgbClr val="CCCCCC"/>
                </a:solidFill>
                <a:effectLst/>
                <a:highlight>
                  <a:srgbClr val="000000"/>
                </a:highlight>
                <a:latin typeface="Consolas" panose="020B0609020204030204" pitchFamily="49" charset="0"/>
              </a:rPr>
              <a:t>}</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708586" y="0"/>
            <a:ext cx="1483414" cy="146093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759882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0" y="2580466"/>
            <a:ext cx="12097407" cy="1697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block sets the styles for the &lt;li&gt; elements inside &lt;nav&gt; &lt;</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ul</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display: inline;: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Displays the list items horizontally.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margin: 0 1em;: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Adds horizontal spacing between the list items.</a:t>
            </a:r>
          </a:p>
        </p:txBody>
      </p:sp>
      <p:sp>
        <p:nvSpPr>
          <p:cNvPr id="11" name="TextBox 10">
            <a:extLst>
              <a:ext uri="{FF2B5EF4-FFF2-40B4-BE49-F238E27FC236}">
                <a16:creationId xmlns:a16="http://schemas.microsoft.com/office/drawing/2014/main" id="{02715D6B-EE61-3A0B-0B8E-93B8502A1CB8}"/>
              </a:ext>
            </a:extLst>
          </p:cNvPr>
          <p:cNvSpPr txBox="1"/>
          <p:nvPr/>
        </p:nvSpPr>
        <p:spPr>
          <a:xfrm>
            <a:off x="0" y="838159"/>
            <a:ext cx="11997560" cy="1569660"/>
          </a:xfrm>
          <a:prstGeom prst="rect">
            <a:avLst/>
          </a:prstGeom>
          <a:solidFill>
            <a:schemeClr val="tx1"/>
          </a:solidFill>
          <a:ln>
            <a:solidFill>
              <a:schemeClr val="tx1"/>
            </a:solidFill>
          </a:ln>
        </p:spPr>
        <p:txBody>
          <a:bodyPr wrap="square">
            <a:spAutoFit/>
          </a:bodyPr>
          <a:lstStyle/>
          <a:p>
            <a:r>
              <a:rPr lang="en-US" sz="2400" b="0" dirty="0">
                <a:solidFill>
                  <a:srgbClr val="D7BA7D"/>
                </a:solidFill>
                <a:effectLst/>
                <a:highlight>
                  <a:srgbClr val="000000"/>
                </a:highlight>
                <a:latin typeface="Consolas" panose="020B0609020204030204" pitchFamily="49" charset="0"/>
              </a:rPr>
              <a:t>nav</a:t>
            </a:r>
            <a:r>
              <a:rPr lang="en-US" sz="2400" b="0" dirty="0">
                <a:solidFill>
                  <a:srgbClr val="CCCCCC"/>
                </a:solidFill>
                <a:effectLst/>
                <a:highlight>
                  <a:srgbClr val="000000"/>
                </a:highlight>
                <a:latin typeface="Consolas" panose="020B0609020204030204" pitchFamily="49" charset="0"/>
              </a:rPr>
              <a:t> </a:t>
            </a:r>
            <a:r>
              <a:rPr lang="en-US" sz="2400" b="0" dirty="0" err="1">
                <a:solidFill>
                  <a:srgbClr val="D7BA7D"/>
                </a:solidFill>
                <a:effectLst/>
                <a:highlight>
                  <a:srgbClr val="000000"/>
                </a:highlight>
                <a:latin typeface="Consolas" panose="020B0609020204030204" pitchFamily="49" charset="0"/>
              </a:rPr>
              <a:t>ul</a:t>
            </a:r>
            <a:r>
              <a:rPr lang="en-US" sz="2400" b="0" dirty="0">
                <a:solidFill>
                  <a:srgbClr val="CCCCCC"/>
                </a:solidFill>
                <a:effectLst/>
                <a:highlight>
                  <a:srgbClr val="000000"/>
                </a:highlight>
                <a:latin typeface="Consolas" panose="020B0609020204030204" pitchFamily="49" charset="0"/>
              </a:rPr>
              <a:t> </a:t>
            </a:r>
            <a:r>
              <a:rPr lang="en-US" sz="2400" b="0" dirty="0">
                <a:solidFill>
                  <a:srgbClr val="D7BA7D"/>
                </a:solidFill>
                <a:effectLst/>
                <a:highlight>
                  <a:srgbClr val="000000"/>
                </a:highlight>
                <a:latin typeface="Consolas" panose="020B0609020204030204" pitchFamily="49" charset="0"/>
              </a:rPr>
              <a:t>li</a:t>
            </a:r>
            <a:r>
              <a:rPr lang="en-US" sz="2400" b="0" dirty="0">
                <a:solidFill>
                  <a:srgbClr val="CCCCCC"/>
                </a:solidFill>
                <a:effectLst/>
                <a:highlight>
                  <a:srgbClr val="000000"/>
                </a:highlight>
                <a:latin typeface="Consolas" panose="020B0609020204030204" pitchFamily="49" charset="0"/>
              </a:rPr>
              <a:t> {</a:t>
            </a: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9CDCFE"/>
                </a:solidFill>
                <a:effectLst/>
                <a:highlight>
                  <a:srgbClr val="000000"/>
                </a:highlight>
                <a:latin typeface="Consolas" panose="020B0609020204030204" pitchFamily="49" charset="0"/>
              </a:rPr>
              <a:t>display</a:t>
            </a:r>
            <a:r>
              <a:rPr lang="en-US" sz="2400" b="0" dirty="0">
                <a:solidFill>
                  <a:srgbClr val="CCCCCC"/>
                </a:solidFill>
                <a:effectLst/>
                <a:highlight>
                  <a:srgbClr val="000000"/>
                </a:highlight>
                <a:latin typeface="Consolas" panose="020B0609020204030204" pitchFamily="49" charset="0"/>
              </a:rPr>
              <a:t>: </a:t>
            </a:r>
            <a:r>
              <a:rPr lang="en-US" sz="2400" b="0" dirty="0">
                <a:solidFill>
                  <a:srgbClr val="CE9178"/>
                </a:solidFill>
                <a:effectLst/>
                <a:highlight>
                  <a:srgbClr val="000000"/>
                </a:highlight>
                <a:latin typeface="Consolas" panose="020B0609020204030204" pitchFamily="49" charset="0"/>
              </a:rPr>
              <a:t>inline</a:t>
            </a:r>
            <a:r>
              <a:rPr lang="en-US" sz="2400" b="0" dirty="0">
                <a:solidFill>
                  <a:srgbClr val="CCCCCC"/>
                </a:solidFill>
                <a:effectLst/>
                <a:highlight>
                  <a:srgbClr val="000000"/>
                </a:highlight>
                <a:latin typeface="Consolas" panose="020B0609020204030204" pitchFamily="49" charset="0"/>
              </a:rPr>
              <a:t>;</a:t>
            </a: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9CDCFE"/>
                </a:solidFill>
                <a:effectLst/>
                <a:highlight>
                  <a:srgbClr val="000000"/>
                </a:highlight>
                <a:latin typeface="Consolas" panose="020B0609020204030204" pitchFamily="49" charset="0"/>
              </a:rPr>
              <a:t>margin</a:t>
            </a:r>
            <a:r>
              <a:rPr lang="en-US" sz="2400" b="0" dirty="0">
                <a:solidFill>
                  <a:srgbClr val="CCCCCC"/>
                </a:solidFill>
                <a:effectLst/>
                <a:highlight>
                  <a:srgbClr val="000000"/>
                </a:highlight>
                <a:latin typeface="Consolas" panose="020B0609020204030204" pitchFamily="49" charset="0"/>
              </a:rPr>
              <a:t>: </a:t>
            </a:r>
            <a:r>
              <a:rPr lang="en-US" sz="2400" b="0" dirty="0">
                <a:solidFill>
                  <a:srgbClr val="B5CEA8"/>
                </a:solidFill>
                <a:effectLst/>
                <a:highlight>
                  <a:srgbClr val="000000"/>
                </a:highlight>
                <a:latin typeface="Consolas" panose="020B0609020204030204" pitchFamily="49" charset="0"/>
              </a:rPr>
              <a:t>0</a:t>
            </a:r>
            <a:r>
              <a:rPr lang="en-US" sz="2400" b="0" dirty="0">
                <a:solidFill>
                  <a:srgbClr val="CCCCCC"/>
                </a:solidFill>
                <a:effectLst/>
                <a:highlight>
                  <a:srgbClr val="000000"/>
                </a:highlight>
                <a:latin typeface="Consolas" panose="020B0609020204030204" pitchFamily="49" charset="0"/>
              </a:rPr>
              <a:t> </a:t>
            </a:r>
            <a:r>
              <a:rPr lang="en-US" sz="2400" b="0" dirty="0">
                <a:solidFill>
                  <a:srgbClr val="B5CEA8"/>
                </a:solidFill>
                <a:effectLst/>
                <a:highlight>
                  <a:srgbClr val="000000"/>
                </a:highlight>
                <a:latin typeface="Consolas" panose="020B0609020204030204" pitchFamily="49" charset="0"/>
              </a:rPr>
              <a:t>1em</a:t>
            </a:r>
            <a:r>
              <a:rPr lang="en-US" sz="2400" b="0" dirty="0">
                <a:solidFill>
                  <a:srgbClr val="CCCCCC"/>
                </a:solidFill>
                <a:effectLst/>
                <a:highlight>
                  <a:srgbClr val="000000"/>
                </a:highlight>
                <a:latin typeface="Consolas" panose="020B0609020204030204" pitchFamily="49" charset="0"/>
              </a:rPr>
              <a:t>;</a:t>
            </a:r>
          </a:p>
          <a:p>
            <a:r>
              <a:rPr lang="en-US" sz="2400" b="0" dirty="0">
                <a:solidFill>
                  <a:srgbClr val="CCCCCC"/>
                </a:solidFill>
                <a:effectLst/>
                <a:highlight>
                  <a:srgbClr val="000000"/>
                </a:highlight>
                <a:latin typeface="Consolas" panose="020B0609020204030204" pitchFamily="49" charset="0"/>
              </a:rPr>
              <a:t>}</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708586" y="0"/>
            <a:ext cx="1483414" cy="146093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4847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0" y="2580466"/>
            <a:ext cx="12097407" cy="1697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block sets the styles for the &lt;a&gt; elements inside &lt;nav&gt; &lt;</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ul</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&gt; &lt;li&gt;: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color: white;: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Sets the text color to white.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text-decoration: none;: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Removes the underline from the links.</a:t>
            </a:r>
          </a:p>
        </p:txBody>
      </p:sp>
      <p:sp>
        <p:nvSpPr>
          <p:cNvPr id="11" name="TextBox 10">
            <a:extLst>
              <a:ext uri="{FF2B5EF4-FFF2-40B4-BE49-F238E27FC236}">
                <a16:creationId xmlns:a16="http://schemas.microsoft.com/office/drawing/2014/main" id="{02715D6B-EE61-3A0B-0B8E-93B8502A1CB8}"/>
              </a:ext>
            </a:extLst>
          </p:cNvPr>
          <p:cNvSpPr txBox="1"/>
          <p:nvPr/>
        </p:nvSpPr>
        <p:spPr>
          <a:xfrm>
            <a:off x="0" y="838159"/>
            <a:ext cx="11997560" cy="1569660"/>
          </a:xfrm>
          <a:prstGeom prst="rect">
            <a:avLst/>
          </a:prstGeom>
          <a:solidFill>
            <a:schemeClr val="tx1"/>
          </a:solidFill>
          <a:ln>
            <a:solidFill>
              <a:schemeClr val="tx1"/>
            </a:solidFill>
          </a:ln>
        </p:spPr>
        <p:txBody>
          <a:bodyPr wrap="square">
            <a:spAutoFit/>
          </a:bodyPr>
          <a:lstStyle/>
          <a:p>
            <a:r>
              <a:rPr lang="en-US" sz="2400" b="0" dirty="0">
                <a:solidFill>
                  <a:srgbClr val="D7BA7D"/>
                </a:solidFill>
                <a:effectLst/>
                <a:highlight>
                  <a:srgbClr val="1F1F1F"/>
                </a:highlight>
                <a:latin typeface="Consolas" panose="020B0609020204030204" pitchFamily="49" charset="0"/>
              </a:rPr>
              <a:t>nav</a:t>
            </a:r>
            <a:r>
              <a:rPr lang="en-US" sz="2400" b="0" dirty="0">
                <a:solidFill>
                  <a:srgbClr val="CCCCCC"/>
                </a:solidFill>
                <a:effectLst/>
                <a:highlight>
                  <a:srgbClr val="1F1F1F"/>
                </a:highlight>
                <a:latin typeface="Consolas" panose="020B0609020204030204" pitchFamily="49" charset="0"/>
              </a:rPr>
              <a:t> </a:t>
            </a:r>
            <a:r>
              <a:rPr lang="en-US" sz="2400" b="0" dirty="0" err="1">
                <a:solidFill>
                  <a:srgbClr val="D7BA7D"/>
                </a:solidFill>
                <a:effectLst/>
                <a:highlight>
                  <a:srgbClr val="1F1F1F"/>
                </a:highlight>
                <a:latin typeface="Consolas" panose="020B0609020204030204" pitchFamily="49" charset="0"/>
              </a:rPr>
              <a:t>ul</a:t>
            </a:r>
            <a:r>
              <a:rPr lang="en-US" sz="2400" b="0" dirty="0">
                <a:solidFill>
                  <a:srgbClr val="CCCCCC"/>
                </a:solidFill>
                <a:effectLst/>
                <a:highlight>
                  <a:srgbClr val="1F1F1F"/>
                </a:highlight>
                <a:latin typeface="Consolas" panose="020B0609020204030204" pitchFamily="49" charset="0"/>
              </a:rPr>
              <a:t> </a:t>
            </a:r>
            <a:r>
              <a:rPr lang="en-US" sz="2400" b="0" dirty="0">
                <a:solidFill>
                  <a:srgbClr val="D7BA7D"/>
                </a:solidFill>
                <a:effectLst/>
                <a:highlight>
                  <a:srgbClr val="1F1F1F"/>
                </a:highlight>
                <a:latin typeface="Consolas" panose="020B0609020204030204" pitchFamily="49" charset="0"/>
              </a:rPr>
              <a:t>li</a:t>
            </a:r>
            <a:r>
              <a:rPr lang="en-US" sz="2400" b="0" dirty="0">
                <a:solidFill>
                  <a:srgbClr val="CCCCCC"/>
                </a:solidFill>
                <a:effectLst/>
                <a:highlight>
                  <a:srgbClr val="1F1F1F"/>
                </a:highlight>
                <a:latin typeface="Consolas" panose="020B0609020204030204" pitchFamily="49" charset="0"/>
              </a:rPr>
              <a:t> </a:t>
            </a:r>
            <a:r>
              <a:rPr lang="en-US" sz="2400" b="0" dirty="0">
                <a:solidFill>
                  <a:srgbClr val="D7BA7D"/>
                </a:solidFill>
                <a:effectLst/>
                <a:highlight>
                  <a:srgbClr val="1F1F1F"/>
                </a:highlight>
                <a:latin typeface="Consolas" panose="020B0609020204030204" pitchFamily="49" charset="0"/>
              </a:rPr>
              <a:t>a</a:t>
            </a:r>
            <a:r>
              <a:rPr lang="en-US" sz="2400" b="0" dirty="0">
                <a:solidFill>
                  <a:srgbClr val="CCCCCC"/>
                </a:solidFill>
                <a:effectLst/>
                <a:highlight>
                  <a:srgbClr val="1F1F1F"/>
                </a:highlight>
                <a:latin typeface="Consolas" panose="020B0609020204030204" pitchFamily="49" charset="0"/>
              </a:rPr>
              <a:t> {</a:t>
            </a:r>
          </a:p>
          <a:p>
            <a:r>
              <a:rPr lang="en-US" sz="2400" b="0" dirty="0">
                <a:solidFill>
                  <a:srgbClr val="CCCCCC"/>
                </a:solidFill>
                <a:effectLst/>
                <a:highlight>
                  <a:srgbClr val="1F1F1F"/>
                </a:highlight>
                <a:latin typeface="Consolas" panose="020B0609020204030204" pitchFamily="49" charset="0"/>
              </a:rPr>
              <a:t>    </a:t>
            </a:r>
            <a:r>
              <a:rPr lang="en-US" sz="2400" b="0" dirty="0">
                <a:solidFill>
                  <a:srgbClr val="9CDCFE"/>
                </a:solidFill>
                <a:effectLst/>
                <a:highlight>
                  <a:srgbClr val="1F1F1F"/>
                </a:highlight>
                <a:latin typeface="Consolas" panose="020B0609020204030204" pitchFamily="49" charset="0"/>
              </a:rPr>
              <a:t>color</a:t>
            </a:r>
            <a:r>
              <a:rPr lang="en-US" sz="2400" b="0" dirty="0">
                <a:solidFill>
                  <a:srgbClr val="CCCCCC"/>
                </a:solidFill>
                <a:effectLst/>
                <a:highlight>
                  <a:srgbClr val="1F1F1F"/>
                </a:highlight>
                <a:latin typeface="Consolas" panose="020B0609020204030204" pitchFamily="49" charset="0"/>
              </a:rPr>
              <a:t>: </a:t>
            </a:r>
            <a:r>
              <a:rPr lang="en-US" sz="2400" b="0" dirty="0">
                <a:solidFill>
                  <a:srgbClr val="CE9178"/>
                </a:solidFill>
                <a:effectLst/>
                <a:highlight>
                  <a:srgbClr val="1F1F1F"/>
                </a:highlight>
                <a:latin typeface="Consolas" panose="020B0609020204030204" pitchFamily="49" charset="0"/>
              </a:rPr>
              <a:t>white</a:t>
            </a:r>
            <a:r>
              <a:rPr lang="en-US" sz="2400" b="0" dirty="0">
                <a:solidFill>
                  <a:srgbClr val="CCCCCC"/>
                </a:solidFill>
                <a:effectLst/>
                <a:highlight>
                  <a:srgbClr val="1F1F1F"/>
                </a:highlight>
                <a:latin typeface="Consolas" panose="020B0609020204030204" pitchFamily="49" charset="0"/>
              </a:rPr>
              <a:t>;</a:t>
            </a:r>
          </a:p>
          <a:p>
            <a:r>
              <a:rPr lang="en-US" sz="2400" b="0" dirty="0">
                <a:solidFill>
                  <a:srgbClr val="CCCCCC"/>
                </a:solidFill>
                <a:effectLst/>
                <a:highlight>
                  <a:srgbClr val="1F1F1F"/>
                </a:highlight>
                <a:latin typeface="Consolas" panose="020B0609020204030204" pitchFamily="49" charset="0"/>
              </a:rPr>
              <a:t>    </a:t>
            </a:r>
            <a:r>
              <a:rPr lang="en-US" sz="2400" b="0" dirty="0">
                <a:solidFill>
                  <a:srgbClr val="9CDCFE"/>
                </a:solidFill>
                <a:effectLst/>
                <a:highlight>
                  <a:srgbClr val="1F1F1F"/>
                </a:highlight>
                <a:latin typeface="Consolas" panose="020B0609020204030204" pitchFamily="49" charset="0"/>
              </a:rPr>
              <a:t>text-decoration</a:t>
            </a:r>
            <a:r>
              <a:rPr lang="en-US" sz="2400" b="0" dirty="0">
                <a:solidFill>
                  <a:srgbClr val="CCCCCC"/>
                </a:solidFill>
                <a:effectLst/>
                <a:highlight>
                  <a:srgbClr val="1F1F1F"/>
                </a:highlight>
                <a:latin typeface="Consolas" panose="020B0609020204030204" pitchFamily="49" charset="0"/>
              </a:rPr>
              <a:t>: </a:t>
            </a:r>
            <a:r>
              <a:rPr lang="en-US" sz="2400" b="0" dirty="0">
                <a:solidFill>
                  <a:srgbClr val="CE9178"/>
                </a:solidFill>
                <a:effectLst/>
                <a:highlight>
                  <a:srgbClr val="1F1F1F"/>
                </a:highlight>
                <a:latin typeface="Consolas" panose="020B0609020204030204" pitchFamily="49" charset="0"/>
              </a:rPr>
              <a:t>none</a:t>
            </a:r>
            <a:r>
              <a:rPr lang="en-US" sz="2400" b="0" dirty="0">
                <a:solidFill>
                  <a:srgbClr val="CCCCCC"/>
                </a:solidFill>
                <a:effectLst/>
                <a:highlight>
                  <a:srgbClr val="1F1F1F"/>
                </a:highlight>
                <a:latin typeface="Consolas" panose="020B0609020204030204" pitchFamily="49" charset="0"/>
              </a:rPr>
              <a:t>;</a:t>
            </a:r>
          </a:p>
          <a:p>
            <a:r>
              <a:rPr lang="en-US" sz="2400" b="0" dirty="0">
                <a:solidFill>
                  <a:srgbClr val="CCCCCC"/>
                </a:solidFill>
                <a:effectLst/>
                <a:highlight>
                  <a:srgbClr val="1F1F1F"/>
                </a:highlight>
                <a:latin typeface="Consolas" panose="020B0609020204030204" pitchFamily="49" charset="0"/>
              </a:rPr>
              <a:t>}</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708586" y="0"/>
            <a:ext cx="1483414" cy="146093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996970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47296" y="3268878"/>
            <a:ext cx="12097407" cy="2251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block sets the styles for the &lt;main&gt; element: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margin: 2em auto;: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Adds vertical margins and centers the main content horizontally.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max-width: 800px;: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Limits the width of the main content to 800 pixels.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padding: 1em;: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Adds padding inside the main content area.</a:t>
            </a:r>
          </a:p>
        </p:txBody>
      </p:sp>
      <p:sp>
        <p:nvSpPr>
          <p:cNvPr id="11" name="TextBox 10">
            <a:extLst>
              <a:ext uri="{FF2B5EF4-FFF2-40B4-BE49-F238E27FC236}">
                <a16:creationId xmlns:a16="http://schemas.microsoft.com/office/drawing/2014/main" id="{02715D6B-EE61-3A0B-0B8E-93B8502A1CB8}"/>
              </a:ext>
            </a:extLst>
          </p:cNvPr>
          <p:cNvSpPr txBox="1"/>
          <p:nvPr/>
        </p:nvSpPr>
        <p:spPr>
          <a:xfrm>
            <a:off x="0" y="838159"/>
            <a:ext cx="11997560" cy="2308324"/>
          </a:xfrm>
          <a:prstGeom prst="rect">
            <a:avLst/>
          </a:prstGeom>
          <a:solidFill>
            <a:schemeClr val="tx1"/>
          </a:solidFill>
          <a:ln>
            <a:solidFill>
              <a:schemeClr val="tx1"/>
            </a:solidFill>
          </a:ln>
        </p:spPr>
        <p:txBody>
          <a:bodyPr wrap="square">
            <a:spAutoFit/>
          </a:bodyPr>
          <a:lstStyle/>
          <a:p>
            <a:r>
              <a:rPr lang="en-US" sz="2400" b="0" dirty="0">
                <a:solidFill>
                  <a:srgbClr val="6A9955"/>
                </a:solidFill>
                <a:effectLst/>
                <a:highlight>
                  <a:srgbClr val="1F1F1F"/>
                </a:highlight>
                <a:latin typeface="Consolas" panose="020B0609020204030204" pitchFamily="49" charset="0"/>
              </a:rPr>
              <a:t>/* Fluid layout for main content */</a:t>
            </a:r>
            <a:endParaRPr lang="en-US" sz="2400" b="0" dirty="0">
              <a:solidFill>
                <a:srgbClr val="CCCCCC"/>
              </a:solidFill>
              <a:effectLst/>
              <a:highlight>
                <a:srgbClr val="1F1F1F"/>
              </a:highlight>
              <a:latin typeface="Consolas" panose="020B0609020204030204" pitchFamily="49" charset="0"/>
            </a:endParaRPr>
          </a:p>
          <a:p>
            <a:r>
              <a:rPr lang="en-US" sz="2400" b="0" dirty="0">
                <a:solidFill>
                  <a:srgbClr val="D7BA7D"/>
                </a:solidFill>
                <a:effectLst/>
                <a:highlight>
                  <a:srgbClr val="1F1F1F"/>
                </a:highlight>
                <a:latin typeface="Consolas" panose="020B0609020204030204" pitchFamily="49" charset="0"/>
              </a:rPr>
              <a:t>main</a:t>
            </a:r>
            <a:r>
              <a:rPr lang="en-US" sz="2400" b="0" dirty="0">
                <a:solidFill>
                  <a:srgbClr val="CCCCCC"/>
                </a:solidFill>
                <a:effectLst/>
                <a:highlight>
                  <a:srgbClr val="1F1F1F"/>
                </a:highlight>
                <a:latin typeface="Consolas" panose="020B0609020204030204" pitchFamily="49" charset="0"/>
              </a:rPr>
              <a:t> {</a:t>
            </a:r>
          </a:p>
          <a:p>
            <a:r>
              <a:rPr lang="en-US" sz="2400" b="0" dirty="0">
                <a:solidFill>
                  <a:srgbClr val="CCCCCC"/>
                </a:solidFill>
                <a:effectLst/>
                <a:highlight>
                  <a:srgbClr val="1F1F1F"/>
                </a:highlight>
                <a:latin typeface="Consolas" panose="020B0609020204030204" pitchFamily="49" charset="0"/>
              </a:rPr>
              <a:t>    </a:t>
            </a:r>
            <a:r>
              <a:rPr lang="en-US" sz="2400" b="0" dirty="0">
                <a:solidFill>
                  <a:srgbClr val="9CDCFE"/>
                </a:solidFill>
                <a:effectLst/>
                <a:highlight>
                  <a:srgbClr val="1F1F1F"/>
                </a:highlight>
                <a:latin typeface="Consolas" panose="020B0609020204030204" pitchFamily="49" charset="0"/>
              </a:rPr>
              <a:t>margin</a:t>
            </a:r>
            <a:r>
              <a:rPr lang="en-US" sz="2400" b="0" dirty="0">
                <a:solidFill>
                  <a:srgbClr val="CCCCCC"/>
                </a:solidFill>
                <a:effectLst/>
                <a:highlight>
                  <a:srgbClr val="1F1F1F"/>
                </a:highlight>
                <a:latin typeface="Consolas" panose="020B0609020204030204" pitchFamily="49" charset="0"/>
              </a:rPr>
              <a:t>: </a:t>
            </a:r>
            <a:r>
              <a:rPr lang="en-US" sz="2400" b="0" dirty="0">
                <a:solidFill>
                  <a:srgbClr val="B5CEA8"/>
                </a:solidFill>
                <a:effectLst/>
                <a:highlight>
                  <a:srgbClr val="1F1F1F"/>
                </a:highlight>
                <a:latin typeface="Consolas" panose="020B0609020204030204" pitchFamily="49" charset="0"/>
              </a:rPr>
              <a:t>2em</a:t>
            </a:r>
            <a:r>
              <a:rPr lang="en-US" sz="2400" b="0" dirty="0">
                <a:solidFill>
                  <a:srgbClr val="CCCCCC"/>
                </a:solidFill>
                <a:effectLst/>
                <a:highlight>
                  <a:srgbClr val="1F1F1F"/>
                </a:highlight>
                <a:latin typeface="Consolas" panose="020B0609020204030204" pitchFamily="49" charset="0"/>
              </a:rPr>
              <a:t> </a:t>
            </a:r>
            <a:r>
              <a:rPr lang="en-US" sz="2400" b="0" dirty="0">
                <a:solidFill>
                  <a:srgbClr val="CE9178"/>
                </a:solidFill>
                <a:effectLst/>
                <a:highlight>
                  <a:srgbClr val="1F1F1F"/>
                </a:highlight>
                <a:latin typeface="Consolas" panose="020B0609020204030204" pitchFamily="49" charset="0"/>
              </a:rPr>
              <a:t>auto</a:t>
            </a:r>
            <a:r>
              <a:rPr lang="en-US" sz="2400" b="0" dirty="0">
                <a:solidFill>
                  <a:srgbClr val="CCCCCC"/>
                </a:solidFill>
                <a:effectLst/>
                <a:highlight>
                  <a:srgbClr val="1F1F1F"/>
                </a:highlight>
                <a:latin typeface="Consolas" panose="020B0609020204030204" pitchFamily="49" charset="0"/>
              </a:rPr>
              <a:t>;</a:t>
            </a:r>
          </a:p>
          <a:p>
            <a:r>
              <a:rPr lang="en-US" sz="2400" b="0" dirty="0">
                <a:solidFill>
                  <a:srgbClr val="CCCCCC"/>
                </a:solidFill>
                <a:effectLst/>
                <a:highlight>
                  <a:srgbClr val="1F1F1F"/>
                </a:highlight>
                <a:latin typeface="Consolas" panose="020B0609020204030204" pitchFamily="49" charset="0"/>
              </a:rPr>
              <a:t>    </a:t>
            </a:r>
            <a:r>
              <a:rPr lang="en-US" sz="2400" b="0" dirty="0">
                <a:solidFill>
                  <a:srgbClr val="9CDCFE"/>
                </a:solidFill>
                <a:effectLst/>
                <a:highlight>
                  <a:srgbClr val="1F1F1F"/>
                </a:highlight>
                <a:latin typeface="Consolas" panose="020B0609020204030204" pitchFamily="49" charset="0"/>
              </a:rPr>
              <a:t>max-width</a:t>
            </a:r>
            <a:r>
              <a:rPr lang="en-US" sz="2400" b="0" dirty="0">
                <a:solidFill>
                  <a:srgbClr val="CCCCCC"/>
                </a:solidFill>
                <a:effectLst/>
                <a:highlight>
                  <a:srgbClr val="1F1F1F"/>
                </a:highlight>
                <a:latin typeface="Consolas" panose="020B0609020204030204" pitchFamily="49" charset="0"/>
              </a:rPr>
              <a:t>: </a:t>
            </a:r>
            <a:r>
              <a:rPr lang="en-US" sz="2400" b="0" dirty="0">
                <a:solidFill>
                  <a:srgbClr val="B5CEA8"/>
                </a:solidFill>
                <a:effectLst/>
                <a:highlight>
                  <a:srgbClr val="1F1F1F"/>
                </a:highlight>
                <a:latin typeface="Consolas" panose="020B0609020204030204" pitchFamily="49" charset="0"/>
              </a:rPr>
              <a:t>800px</a:t>
            </a:r>
            <a:r>
              <a:rPr lang="en-US" sz="2400" b="0" dirty="0">
                <a:solidFill>
                  <a:srgbClr val="CCCCCC"/>
                </a:solidFill>
                <a:effectLst/>
                <a:highlight>
                  <a:srgbClr val="1F1F1F"/>
                </a:highlight>
                <a:latin typeface="Consolas" panose="020B0609020204030204" pitchFamily="49" charset="0"/>
              </a:rPr>
              <a:t>;</a:t>
            </a:r>
          </a:p>
          <a:p>
            <a:r>
              <a:rPr lang="en-US" sz="2400" b="0" dirty="0">
                <a:solidFill>
                  <a:srgbClr val="CCCCCC"/>
                </a:solidFill>
                <a:effectLst/>
                <a:highlight>
                  <a:srgbClr val="1F1F1F"/>
                </a:highlight>
                <a:latin typeface="Consolas" panose="020B0609020204030204" pitchFamily="49" charset="0"/>
              </a:rPr>
              <a:t>    </a:t>
            </a:r>
            <a:r>
              <a:rPr lang="en-US" sz="2400" b="0" dirty="0">
                <a:solidFill>
                  <a:srgbClr val="9CDCFE"/>
                </a:solidFill>
                <a:effectLst/>
                <a:highlight>
                  <a:srgbClr val="1F1F1F"/>
                </a:highlight>
                <a:latin typeface="Consolas" panose="020B0609020204030204" pitchFamily="49" charset="0"/>
              </a:rPr>
              <a:t>padding</a:t>
            </a:r>
            <a:r>
              <a:rPr lang="en-US" sz="2400" b="0" dirty="0">
                <a:solidFill>
                  <a:srgbClr val="CCCCCC"/>
                </a:solidFill>
                <a:effectLst/>
                <a:highlight>
                  <a:srgbClr val="1F1F1F"/>
                </a:highlight>
                <a:latin typeface="Consolas" panose="020B0609020204030204" pitchFamily="49" charset="0"/>
              </a:rPr>
              <a:t>: </a:t>
            </a:r>
            <a:r>
              <a:rPr lang="en-US" sz="2400" b="0" dirty="0">
                <a:solidFill>
                  <a:srgbClr val="B5CEA8"/>
                </a:solidFill>
                <a:effectLst/>
                <a:highlight>
                  <a:srgbClr val="1F1F1F"/>
                </a:highlight>
                <a:latin typeface="Consolas" panose="020B0609020204030204" pitchFamily="49" charset="0"/>
              </a:rPr>
              <a:t>1em</a:t>
            </a:r>
            <a:r>
              <a:rPr lang="en-US" sz="2400" b="0" dirty="0">
                <a:solidFill>
                  <a:srgbClr val="CCCCCC"/>
                </a:solidFill>
                <a:effectLst/>
                <a:highlight>
                  <a:srgbClr val="1F1F1F"/>
                </a:highlight>
                <a:latin typeface="Consolas" panose="020B0609020204030204" pitchFamily="49" charset="0"/>
              </a:rPr>
              <a:t>;</a:t>
            </a:r>
          </a:p>
          <a:p>
            <a:r>
              <a:rPr lang="en-US" sz="2400" b="0" dirty="0">
                <a:solidFill>
                  <a:srgbClr val="CCCCCC"/>
                </a:solidFill>
                <a:effectLst/>
                <a:highlight>
                  <a:srgbClr val="1F1F1F"/>
                </a:highlight>
                <a:latin typeface="Consolas" panose="020B0609020204030204" pitchFamily="49" charset="0"/>
              </a:rPr>
              <a:t>}</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708586" y="0"/>
            <a:ext cx="1483414" cy="146093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83072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0" y="2925765"/>
            <a:ext cx="12097407" cy="1697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block sets the styles for the &lt;</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img</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&gt; elements inside &lt;main&gt;: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max-width: 100%;: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Ensures the images do not exceed the width of their container.</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height: auto;: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Maintains the aspect ratio of the images.</a:t>
            </a:r>
          </a:p>
        </p:txBody>
      </p:sp>
      <p:sp>
        <p:nvSpPr>
          <p:cNvPr id="11" name="TextBox 10">
            <a:extLst>
              <a:ext uri="{FF2B5EF4-FFF2-40B4-BE49-F238E27FC236}">
                <a16:creationId xmlns:a16="http://schemas.microsoft.com/office/drawing/2014/main" id="{02715D6B-EE61-3A0B-0B8E-93B8502A1CB8}"/>
              </a:ext>
            </a:extLst>
          </p:cNvPr>
          <p:cNvSpPr txBox="1"/>
          <p:nvPr/>
        </p:nvSpPr>
        <p:spPr>
          <a:xfrm>
            <a:off x="0" y="838159"/>
            <a:ext cx="11997560" cy="1938992"/>
          </a:xfrm>
          <a:prstGeom prst="rect">
            <a:avLst/>
          </a:prstGeom>
          <a:solidFill>
            <a:schemeClr val="tx1"/>
          </a:solidFill>
          <a:ln>
            <a:solidFill>
              <a:schemeClr val="tx1"/>
            </a:solidFill>
          </a:ln>
        </p:spPr>
        <p:txBody>
          <a:bodyPr wrap="square">
            <a:spAutoFit/>
          </a:bodyPr>
          <a:lstStyle/>
          <a:p>
            <a:r>
              <a:rPr lang="en-US" sz="2400" b="0" dirty="0">
                <a:solidFill>
                  <a:srgbClr val="D7BA7D"/>
                </a:solidFill>
                <a:effectLst/>
                <a:highlight>
                  <a:srgbClr val="1F1F1F"/>
                </a:highlight>
                <a:latin typeface="Consolas" panose="020B0609020204030204" pitchFamily="49" charset="0"/>
              </a:rPr>
              <a:t>main</a:t>
            </a:r>
            <a:r>
              <a:rPr lang="en-US" sz="2400" b="0" dirty="0">
                <a:solidFill>
                  <a:srgbClr val="CCCCCC"/>
                </a:solidFill>
                <a:effectLst/>
                <a:highlight>
                  <a:srgbClr val="1F1F1F"/>
                </a:highlight>
                <a:latin typeface="Consolas" panose="020B0609020204030204" pitchFamily="49" charset="0"/>
              </a:rPr>
              <a:t> </a:t>
            </a:r>
            <a:r>
              <a:rPr lang="en-US" sz="2400" b="0" dirty="0" err="1">
                <a:solidFill>
                  <a:srgbClr val="D7BA7D"/>
                </a:solidFill>
                <a:effectLst/>
                <a:highlight>
                  <a:srgbClr val="1F1F1F"/>
                </a:highlight>
                <a:latin typeface="Consolas" panose="020B0609020204030204" pitchFamily="49" charset="0"/>
              </a:rPr>
              <a:t>img</a:t>
            </a:r>
            <a:r>
              <a:rPr lang="en-US" sz="2400" b="0" dirty="0">
                <a:solidFill>
                  <a:srgbClr val="CCCCCC"/>
                </a:solidFill>
                <a:effectLst/>
                <a:highlight>
                  <a:srgbClr val="1F1F1F"/>
                </a:highlight>
                <a:latin typeface="Consolas" panose="020B0609020204030204" pitchFamily="49" charset="0"/>
              </a:rPr>
              <a:t> {</a:t>
            </a:r>
          </a:p>
          <a:p>
            <a:r>
              <a:rPr lang="en-US" sz="2400" b="0" dirty="0">
                <a:solidFill>
                  <a:srgbClr val="CCCCCC"/>
                </a:solidFill>
                <a:effectLst/>
                <a:highlight>
                  <a:srgbClr val="1F1F1F"/>
                </a:highlight>
                <a:latin typeface="Consolas" panose="020B0609020204030204" pitchFamily="49" charset="0"/>
              </a:rPr>
              <a:t>    </a:t>
            </a:r>
            <a:r>
              <a:rPr lang="en-US" sz="2400" b="0" dirty="0">
                <a:solidFill>
                  <a:srgbClr val="9CDCFE"/>
                </a:solidFill>
                <a:effectLst/>
                <a:highlight>
                  <a:srgbClr val="1F1F1F"/>
                </a:highlight>
                <a:latin typeface="Consolas" panose="020B0609020204030204" pitchFamily="49" charset="0"/>
              </a:rPr>
              <a:t>max-width</a:t>
            </a:r>
            <a:r>
              <a:rPr lang="en-US" sz="2400" b="0" dirty="0">
                <a:solidFill>
                  <a:srgbClr val="CCCCCC"/>
                </a:solidFill>
                <a:effectLst/>
                <a:highlight>
                  <a:srgbClr val="1F1F1F"/>
                </a:highlight>
                <a:latin typeface="Consolas" panose="020B0609020204030204" pitchFamily="49" charset="0"/>
              </a:rPr>
              <a:t>: </a:t>
            </a:r>
            <a:r>
              <a:rPr lang="en-US" sz="2400" b="0" dirty="0">
                <a:solidFill>
                  <a:srgbClr val="B5CEA8"/>
                </a:solidFill>
                <a:effectLst/>
                <a:highlight>
                  <a:srgbClr val="1F1F1F"/>
                </a:highlight>
                <a:latin typeface="Consolas" panose="020B0609020204030204" pitchFamily="49" charset="0"/>
              </a:rPr>
              <a:t>100%</a:t>
            </a:r>
            <a:r>
              <a:rPr lang="en-US" sz="2400" b="0" dirty="0">
                <a:solidFill>
                  <a:srgbClr val="CCCCCC"/>
                </a:solidFill>
                <a:effectLst/>
                <a:highlight>
                  <a:srgbClr val="1F1F1F"/>
                </a:highlight>
                <a:latin typeface="Consolas" panose="020B0609020204030204" pitchFamily="49" charset="0"/>
              </a:rPr>
              <a:t>;</a:t>
            </a:r>
          </a:p>
          <a:p>
            <a:r>
              <a:rPr lang="en-US" sz="2400" b="0" dirty="0">
                <a:solidFill>
                  <a:srgbClr val="CCCCCC"/>
                </a:solidFill>
                <a:effectLst/>
                <a:highlight>
                  <a:srgbClr val="1F1F1F"/>
                </a:highlight>
                <a:latin typeface="Consolas" panose="020B0609020204030204" pitchFamily="49" charset="0"/>
              </a:rPr>
              <a:t>    </a:t>
            </a:r>
            <a:r>
              <a:rPr lang="en-US" sz="2400" b="0" dirty="0">
                <a:solidFill>
                  <a:srgbClr val="9CDCFE"/>
                </a:solidFill>
                <a:effectLst/>
                <a:highlight>
                  <a:srgbClr val="1F1F1F"/>
                </a:highlight>
                <a:latin typeface="Consolas" panose="020B0609020204030204" pitchFamily="49" charset="0"/>
              </a:rPr>
              <a:t>height</a:t>
            </a:r>
            <a:r>
              <a:rPr lang="en-US" sz="2400" b="0" dirty="0">
                <a:solidFill>
                  <a:srgbClr val="CCCCCC"/>
                </a:solidFill>
                <a:effectLst/>
                <a:highlight>
                  <a:srgbClr val="1F1F1F"/>
                </a:highlight>
                <a:latin typeface="Consolas" panose="020B0609020204030204" pitchFamily="49" charset="0"/>
              </a:rPr>
              <a:t>: </a:t>
            </a:r>
            <a:r>
              <a:rPr lang="en-US" sz="2400" b="0" dirty="0">
                <a:solidFill>
                  <a:srgbClr val="CE9178"/>
                </a:solidFill>
                <a:effectLst/>
                <a:highlight>
                  <a:srgbClr val="1F1F1F"/>
                </a:highlight>
                <a:latin typeface="Consolas" panose="020B0609020204030204" pitchFamily="49" charset="0"/>
              </a:rPr>
              <a:t>auto</a:t>
            </a:r>
            <a:r>
              <a:rPr lang="en-US" sz="2400" b="0" dirty="0">
                <a:solidFill>
                  <a:srgbClr val="CCCCCC"/>
                </a:solidFill>
                <a:effectLst/>
                <a:highlight>
                  <a:srgbClr val="1F1F1F"/>
                </a:highlight>
                <a:latin typeface="Consolas" panose="020B0609020204030204" pitchFamily="49" charset="0"/>
              </a:rPr>
              <a:t>;</a:t>
            </a:r>
          </a:p>
          <a:p>
            <a:r>
              <a:rPr lang="en-US" sz="2400" b="0" dirty="0">
                <a:solidFill>
                  <a:srgbClr val="CCCCCC"/>
                </a:solidFill>
                <a:effectLst/>
                <a:highlight>
                  <a:srgbClr val="1F1F1F"/>
                </a:highlight>
                <a:latin typeface="Consolas" panose="020B0609020204030204" pitchFamily="49" charset="0"/>
              </a:rPr>
              <a:t>}</a:t>
            </a:r>
          </a:p>
          <a:p>
            <a:endParaRPr lang="en-US" sz="2400" b="0" dirty="0">
              <a:solidFill>
                <a:srgbClr val="CCCCCC"/>
              </a:solidFill>
              <a:effectLst/>
              <a:highlight>
                <a:srgbClr val="1F1F1F"/>
              </a:highlight>
              <a:latin typeface="Consolas" panose="020B0609020204030204" pitchFamily="49" charset="0"/>
            </a:endParaRP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708586" y="0"/>
            <a:ext cx="1483414" cy="146093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39862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3910971F-7F48-E8C7-2901-9E76B4DB6600}"/>
              </a:ext>
            </a:extLst>
          </p:cNvPr>
          <p:cNvSpPr>
            <a:spLocks noChangeArrowheads="1"/>
          </p:cNvSpPr>
          <p:nvPr/>
        </p:nvSpPr>
        <p:spPr bwMode="auto">
          <a:xfrm>
            <a:off x="0" y="3088298"/>
            <a:ext cx="12097407" cy="3359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block sets responsive styles for screens with a maximum width of 600 pixels: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@media only screen and (max-width: 600px):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Media query targeting screens with a width of 600 pixels or less.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header, nav </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ul</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li { display: block; text-align: center; }: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Changes the display property to block and centers the text for the &lt;header&gt; and &lt;li&gt; elements inside &lt;nav&gt; &lt;</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ul</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&gt; to ensure better readability on small screens.</a:t>
            </a:r>
          </a:p>
        </p:txBody>
      </p:sp>
      <p:sp>
        <p:nvSpPr>
          <p:cNvPr id="11" name="TextBox 10">
            <a:extLst>
              <a:ext uri="{FF2B5EF4-FFF2-40B4-BE49-F238E27FC236}">
                <a16:creationId xmlns:a16="http://schemas.microsoft.com/office/drawing/2014/main" id="{02715D6B-EE61-3A0B-0B8E-93B8502A1CB8}"/>
              </a:ext>
            </a:extLst>
          </p:cNvPr>
          <p:cNvSpPr txBox="1"/>
          <p:nvPr/>
        </p:nvSpPr>
        <p:spPr>
          <a:xfrm>
            <a:off x="99847" y="492443"/>
            <a:ext cx="11997560" cy="2677656"/>
          </a:xfrm>
          <a:prstGeom prst="rect">
            <a:avLst/>
          </a:prstGeom>
          <a:solidFill>
            <a:schemeClr val="tx1"/>
          </a:solidFill>
          <a:ln>
            <a:solidFill>
              <a:schemeClr val="tx1"/>
            </a:solidFill>
          </a:ln>
        </p:spPr>
        <p:txBody>
          <a:bodyPr wrap="square">
            <a:spAutoFit/>
          </a:bodyPr>
          <a:lstStyle/>
          <a:p>
            <a:r>
              <a:rPr lang="en-US" sz="2400" b="0" dirty="0">
                <a:solidFill>
                  <a:srgbClr val="6A9955"/>
                </a:solidFill>
                <a:effectLst/>
                <a:highlight>
                  <a:srgbClr val="000000"/>
                </a:highlight>
                <a:latin typeface="Consolas" panose="020B0609020204030204" pitchFamily="49" charset="0"/>
              </a:rPr>
              <a:t>/* Responsive styles */</a:t>
            </a:r>
            <a:endParaRPr lang="en-US" sz="2400" b="0" dirty="0">
              <a:solidFill>
                <a:srgbClr val="CCCCCC"/>
              </a:solidFill>
              <a:effectLst/>
              <a:highlight>
                <a:srgbClr val="000000"/>
              </a:highlight>
              <a:latin typeface="Consolas" panose="020B0609020204030204" pitchFamily="49" charset="0"/>
            </a:endParaRPr>
          </a:p>
          <a:p>
            <a:r>
              <a:rPr lang="en-US" sz="2400" b="0" dirty="0">
                <a:solidFill>
                  <a:srgbClr val="C586C0"/>
                </a:solidFill>
                <a:effectLst/>
                <a:highlight>
                  <a:srgbClr val="000000"/>
                </a:highlight>
                <a:latin typeface="Consolas" panose="020B0609020204030204" pitchFamily="49" charset="0"/>
              </a:rPr>
              <a:t>@media</a:t>
            </a:r>
            <a:r>
              <a:rPr lang="en-US" sz="2400" b="0" dirty="0">
                <a:solidFill>
                  <a:srgbClr val="CCCCCC"/>
                </a:solidFill>
                <a:effectLst/>
                <a:highlight>
                  <a:srgbClr val="000000"/>
                </a:highlight>
                <a:latin typeface="Consolas" panose="020B0609020204030204" pitchFamily="49" charset="0"/>
              </a:rPr>
              <a:t> </a:t>
            </a:r>
            <a:r>
              <a:rPr lang="en-US" sz="2400" b="0" dirty="0">
                <a:solidFill>
                  <a:srgbClr val="D4D4D4"/>
                </a:solidFill>
                <a:effectLst/>
                <a:highlight>
                  <a:srgbClr val="000000"/>
                </a:highlight>
                <a:latin typeface="Consolas" panose="020B0609020204030204" pitchFamily="49" charset="0"/>
              </a:rPr>
              <a:t>only</a:t>
            </a:r>
            <a:r>
              <a:rPr lang="en-US" sz="2400" b="0" dirty="0">
                <a:solidFill>
                  <a:srgbClr val="CCCCCC"/>
                </a:solidFill>
                <a:effectLst/>
                <a:highlight>
                  <a:srgbClr val="000000"/>
                </a:highlight>
                <a:latin typeface="Consolas" panose="020B0609020204030204" pitchFamily="49" charset="0"/>
              </a:rPr>
              <a:t> </a:t>
            </a:r>
            <a:r>
              <a:rPr lang="en-US" sz="2400" b="0" dirty="0">
                <a:solidFill>
                  <a:srgbClr val="CE9178"/>
                </a:solidFill>
                <a:effectLst/>
                <a:highlight>
                  <a:srgbClr val="000000"/>
                </a:highlight>
                <a:latin typeface="Consolas" panose="020B0609020204030204" pitchFamily="49" charset="0"/>
              </a:rPr>
              <a:t>screen</a:t>
            </a:r>
            <a:r>
              <a:rPr lang="en-US" sz="2400" b="0" dirty="0">
                <a:solidFill>
                  <a:srgbClr val="CCCCCC"/>
                </a:solidFill>
                <a:effectLst/>
                <a:highlight>
                  <a:srgbClr val="000000"/>
                </a:highlight>
                <a:latin typeface="Consolas" panose="020B0609020204030204" pitchFamily="49" charset="0"/>
              </a:rPr>
              <a:t> </a:t>
            </a:r>
            <a:r>
              <a:rPr lang="en-US" sz="2400" b="0" dirty="0">
                <a:solidFill>
                  <a:srgbClr val="D4D4D4"/>
                </a:solidFill>
                <a:effectLst/>
                <a:highlight>
                  <a:srgbClr val="000000"/>
                </a:highlight>
                <a:latin typeface="Consolas" panose="020B0609020204030204" pitchFamily="49" charset="0"/>
              </a:rPr>
              <a:t>and</a:t>
            </a:r>
            <a:r>
              <a:rPr lang="en-US" sz="2400" b="0" dirty="0">
                <a:solidFill>
                  <a:srgbClr val="CCCCCC"/>
                </a:solidFill>
                <a:effectLst/>
                <a:highlight>
                  <a:srgbClr val="000000"/>
                </a:highlight>
                <a:latin typeface="Consolas" panose="020B0609020204030204" pitchFamily="49" charset="0"/>
              </a:rPr>
              <a:t> (</a:t>
            </a:r>
            <a:r>
              <a:rPr lang="en-US" sz="2400" b="0" dirty="0">
                <a:solidFill>
                  <a:srgbClr val="9CDCFE"/>
                </a:solidFill>
                <a:effectLst/>
                <a:highlight>
                  <a:srgbClr val="000000"/>
                </a:highlight>
                <a:latin typeface="Consolas" panose="020B0609020204030204" pitchFamily="49" charset="0"/>
              </a:rPr>
              <a:t>max-width</a:t>
            </a:r>
            <a:r>
              <a:rPr lang="en-US" sz="2400" b="0" dirty="0">
                <a:solidFill>
                  <a:srgbClr val="CCCCCC"/>
                </a:solidFill>
                <a:effectLst/>
                <a:highlight>
                  <a:srgbClr val="000000"/>
                </a:highlight>
                <a:latin typeface="Consolas" panose="020B0609020204030204" pitchFamily="49" charset="0"/>
              </a:rPr>
              <a:t>: </a:t>
            </a:r>
            <a:r>
              <a:rPr lang="en-US" sz="2400" b="0" dirty="0">
                <a:solidFill>
                  <a:srgbClr val="B5CEA8"/>
                </a:solidFill>
                <a:effectLst/>
                <a:highlight>
                  <a:srgbClr val="000000"/>
                </a:highlight>
                <a:latin typeface="Consolas" panose="020B0609020204030204" pitchFamily="49" charset="0"/>
              </a:rPr>
              <a:t>600px</a:t>
            </a:r>
            <a:r>
              <a:rPr lang="en-US" sz="2400" b="0" dirty="0">
                <a:solidFill>
                  <a:srgbClr val="CCCCCC"/>
                </a:solidFill>
                <a:effectLst/>
                <a:highlight>
                  <a:srgbClr val="000000"/>
                </a:highlight>
                <a:latin typeface="Consolas" panose="020B0609020204030204" pitchFamily="49" charset="0"/>
              </a:rPr>
              <a:t>) {</a:t>
            </a: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D7BA7D"/>
                </a:solidFill>
                <a:effectLst/>
                <a:highlight>
                  <a:srgbClr val="000000"/>
                </a:highlight>
                <a:latin typeface="Consolas" panose="020B0609020204030204" pitchFamily="49" charset="0"/>
              </a:rPr>
              <a:t>header</a:t>
            </a:r>
            <a:r>
              <a:rPr lang="en-US" sz="2400" b="0" dirty="0">
                <a:solidFill>
                  <a:srgbClr val="CCCCCC"/>
                </a:solidFill>
                <a:effectLst/>
                <a:highlight>
                  <a:srgbClr val="000000"/>
                </a:highlight>
                <a:latin typeface="Consolas" panose="020B0609020204030204" pitchFamily="49" charset="0"/>
              </a:rPr>
              <a:t>, </a:t>
            </a:r>
            <a:r>
              <a:rPr lang="en-US" sz="2400" b="0" dirty="0">
                <a:solidFill>
                  <a:srgbClr val="D7BA7D"/>
                </a:solidFill>
                <a:effectLst/>
                <a:highlight>
                  <a:srgbClr val="000000"/>
                </a:highlight>
                <a:latin typeface="Consolas" panose="020B0609020204030204" pitchFamily="49" charset="0"/>
              </a:rPr>
              <a:t>nav</a:t>
            </a:r>
            <a:r>
              <a:rPr lang="en-US" sz="2400" b="0" dirty="0">
                <a:solidFill>
                  <a:srgbClr val="CCCCCC"/>
                </a:solidFill>
                <a:effectLst/>
                <a:highlight>
                  <a:srgbClr val="000000"/>
                </a:highlight>
                <a:latin typeface="Consolas" panose="020B0609020204030204" pitchFamily="49" charset="0"/>
              </a:rPr>
              <a:t> </a:t>
            </a:r>
            <a:r>
              <a:rPr lang="en-US" sz="2400" b="0" dirty="0" err="1">
                <a:solidFill>
                  <a:srgbClr val="D7BA7D"/>
                </a:solidFill>
                <a:effectLst/>
                <a:highlight>
                  <a:srgbClr val="000000"/>
                </a:highlight>
                <a:latin typeface="Consolas" panose="020B0609020204030204" pitchFamily="49" charset="0"/>
              </a:rPr>
              <a:t>ul</a:t>
            </a:r>
            <a:r>
              <a:rPr lang="en-US" sz="2400" b="0" dirty="0">
                <a:solidFill>
                  <a:srgbClr val="CCCCCC"/>
                </a:solidFill>
                <a:effectLst/>
                <a:highlight>
                  <a:srgbClr val="000000"/>
                </a:highlight>
                <a:latin typeface="Consolas" panose="020B0609020204030204" pitchFamily="49" charset="0"/>
              </a:rPr>
              <a:t> </a:t>
            </a:r>
            <a:r>
              <a:rPr lang="en-US" sz="2400" b="0" dirty="0">
                <a:solidFill>
                  <a:srgbClr val="D7BA7D"/>
                </a:solidFill>
                <a:effectLst/>
                <a:highlight>
                  <a:srgbClr val="000000"/>
                </a:highlight>
                <a:latin typeface="Consolas" panose="020B0609020204030204" pitchFamily="49" charset="0"/>
              </a:rPr>
              <a:t>li</a:t>
            </a:r>
            <a:r>
              <a:rPr lang="en-US" sz="2400" b="0" dirty="0">
                <a:solidFill>
                  <a:srgbClr val="CCCCCC"/>
                </a:solidFill>
                <a:effectLst/>
                <a:highlight>
                  <a:srgbClr val="000000"/>
                </a:highlight>
                <a:latin typeface="Consolas" panose="020B0609020204030204" pitchFamily="49" charset="0"/>
              </a:rPr>
              <a:t> {</a:t>
            </a: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9CDCFE"/>
                </a:solidFill>
                <a:effectLst/>
                <a:highlight>
                  <a:srgbClr val="000000"/>
                </a:highlight>
                <a:latin typeface="Consolas" panose="020B0609020204030204" pitchFamily="49" charset="0"/>
              </a:rPr>
              <a:t>display</a:t>
            </a:r>
            <a:r>
              <a:rPr lang="en-US" sz="2400" b="0" dirty="0">
                <a:solidFill>
                  <a:srgbClr val="CCCCCC"/>
                </a:solidFill>
                <a:effectLst/>
                <a:highlight>
                  <a:srgbClr val="000000"/>
                </a:highlight>
                <a:latin typeface="Consolas" panose="020B0609020204030204" pitchFamily="49" charset="0"/>
              </a:rPr>
              <a:t>: </a:t>
            </a:r>
            <a:r>
              <a:rPr lang="en-US" sz="2400" b="0" dirty="0">
                <a:solidFill>
                  <a:srgbClr val="CE9178"/>
                </a:solidFill>
                <a:effectLst/>
                <a:highlight>
                  <a:srgbClr val="000000"/>
                </a:highlight>
                <a:latin typeface="Consolas" panose="020B0609020204030204" pitchFamily="49" charset="0"/>
              </a:rPr>
              <a:t>block</a:t>
            </a:r>
            <a:r>
              <a:rPr lang="en-US" sz="2400" b="0" dirty="0">
                <a:solidFill>
                  <a:srgbClr val="CCCCCC"/>
                </a:solidFill>
                <a:effectLst/>
                <a:highlight>
                  <a:srgbClr val="000000"/>
                </a:highlight>
                <a:latin typeface="Consolas" panose="020B0609020204030204" pitchFamily="49" charset="0"/>
              </a:rPr>
              <a:t>;</a:t>
            </a:r>
          </a:p>
          <a:p>
            <a:r>
              <a:rPr lang="en-US" sz="2400" b="0" dirty="0">
                <a:solidFill>
                  <a:srgbClr val="CCCCCC"/>
                </a:solidFill>
                <a:effectLst/>
                <a:highlight>
                  <a:srgbClr val="000000"/>
                </a:highlight>
                <a:latin typeface="Consolas" panose="020B0609020204030204" pitchFamily="49" charset="0"/>
              </a:rPr>
              <a:t>        </a:t>
            </a:r>
            <a:r>
              <a:rPr lang="en-US" sz="2400" b="0" dirty="0">
                <a:solidFill>
                  <a:srgbClr val="9CDCFE"/>
                </a:solidFill>
                <a:effectLst/>
                <a:highlight>
                  <a:srgbClr val="000000"/>
                </a:highlight>
                <a:latin typeface="Consolas" panose="020B0609020204030204" pitchFamily="49" charset="0"/>
              </a:rPr>
              <a:t>text-align</a:t>
            </a:r>
            <a:r>
              <a:rPr lang="en-US" sz="2400" b="0" dirty="0">
                <a:solidFill>
                  <a:srgbClr val="CCCCCC"/>
                </a:solidFill>
                <a:effectLst/>
                <a:highlight>
                  <a:srgbClr val="000000"/>
                </a:highlight>
                <a:latin typeface="Consolas" panose="020B0609020204030204" pitchFamily="49" charset="0"/>
              </a:rPr>
              <a:t>: </a:t>
            </a:r>
            <a:r>
              <a:rPr lang="en-US" sz="2400" b="0" dirty="0">
                <a:solidFill>
                  <a:srgbClr val="CE9178"/>
                </a:solidFill>
                <a:effectLst/>
                <a:highlight>
                  <a:srgbClr val="000000"/>
                </a:highlight>
                <a:latin typeface="Consolas" panose="020B0609020204030204" pitchFamily="49" charset="0"/>
              </a:rPr>
              <a:t>center</a:t>
            </a:r>
            <a:r>
              <a:rPr lang="en-US" sz="2400" b="0" dirty="0">
                <a:solidFill>
                  <a:srgbClr val="CCCCCC"/>
                </a:solidFill>
                <a:effectLst/>
                <a:highlight>
                  <a:srgbClr val="000000"/>
                </a:highlight>
                <a:latin typeface="Consolas" panose="020B0609020204030204" pitchFamily="49" charset="0"/>
              </a:rPr>
              <a:t>;</a:t>
            </a:r>
          </a:p>
          <a:p>
            <a:r>
              <a:rPr lang="en-US" sz="2400" b="0" dirty="0">
                <a:solidFill>
                  <a:srgbClr val="CCCCCC"/>
                </a:solidFill>
                <a:effectLst/>
                <a:highlight>
                  <a:srgbClr val="000000"/>
                </a:highlight>
                <a:latin typeface="Consolas" panose="020B0609020204030204" pitchFamily="49" charset="0"/>
              </a:rPr>
              <a:t>    }</a:t>
            </a:r>
          </a:p>
          <a:p>
            <a:r>
              <a:rPr lang="en-US" sz="2400" b="0" dirty="0">
                <a:solidFill>
                  <a:srgbClr val="CCCCCC"/>
                </a:solidFill>
                <a:effectLst/>
                <a:highlight>
                  <a:srgbClr val="000000"/>
                </a:highlight>
                <a:latin typeface="Consolas" panose="020B0609020204030204" pitchFamily="49" charset="0"/>
              </a:rPr>
              <a:t>}</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0708586" y="0"/>
            <a:ext cx="1483414" cy="146093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3910971F-7F48-E8C7-2901-9E76B4DB6600}"/>
              </a:ext>
            </a:extLst>
          </p:cNvPr>
          <p:cNvSpPr>
            <a:spLocks noChangeArrowheads="1"/>
          </p:cNvSpPr>
          <p:nvPr/>
        </p:nvSpPr>
        <p:spPr bwMode="auto">
          <a:xfrm>
            <a:off x="0" y="6268928"/>
            <a:ext cx="12097407"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This stylesheet provides a simple but effective set of styles for creating a responsive web design.</a:t>
            </a:r>
          </a:p>
        </p:txBody>
      </p:sp>
    </p:spTree>
    <p:extLst>
      <p:ext uri="{BB962C8B-B14F-4D97-AF65-F5344CB8AC3E}">
        <p14:creationId xmlns:p14="http://schemas.microsoft.com/office/powerpoint/2010/main" val="3609056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D1C153D4-F66A-4F74-1934-979BF5FB6D03}"/>
              </a:ext>
            </a:extLst>
          </p:cNvPr>
          <p:cNvPicPr>
            <a:picLocks noChangeAspect="1"/>
          </p:cNvPicPr>
          <p:nvPr/>
        </p:nvPicPr>
        <p:blipFill rotWithShape="1">
          <a:blip r:embed="rId3"/>
          <a:srcRect t="8889" b="5900"/>
          <a:stretch/>
        </p:blipFill>
        <p:spPr>
          <a:xfrm>
            <a:off x="0" y="1014248"/>
            <a:ext cx="12192000" cy="5843752"/>
          </a:xfrm>
          <a:prstGeom prst="rect">
            <a:avLst/>
          </a:prstGeom>
        </p:spPr>
      </p:pic>
    </p:spTree>
    <p:extLst>
      <p:ext uri="{BB962C8B-B14F-4D97-AF65-F5344CB8AC3E}">
        <p14:creationId xmlns:p14="http://schemas.microsoft.com/office/powerpoint/2010/main" val="5938528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9DA2B106-5773-432E-AFF0-99BF44722BB9}"/>
              </a:ext>
            </a:extLst>
          </p:cNvPr>
          <p:cNvSpPr txBox="1"/>
          <p:nvPr/>
        </p:nvSpPr>
        <p:spPr>
          <a:xfrm>
            <a:off x="94593" y="752638"/>
            <a:ext cx="7848136" cy="523220"/>
          </a:xfrm>
          <a:prstGeom prst="rect">
            <a:avLst/>
          </a:prstGeom>
          <a:noFill/>
        </p:spPr>
        <p:txBody>
          <a:bodyPr wrap="square" rtlCol="0">
            <a:spAutoFit/>
          </a:bodyPr>
          <a:lstStyle/>
          <a:p>
            <a:r>
              <a:rPr lang="en-US" sz="2800" dirty="0">
                <a:latin typeface="Calibir"/>
              </a:rPr>
              <a:t>Reduce the max-width for the main section</a:t>
            </a:r>
            <a:endParaRPr lang="en-AU" sz="2800" dirty="0">
              <a:latin typeface="Calibir"/>
            </a:endParaRPr>
          </a:p>
        </p:txBody>
      </p:sp>
      <p:sp>
        <p:nvSpPr>
          <p:cNvPr id="6" name="Rectangle 5">
            <a:extLst>
              <a:ext uri="{FF2B5EF4-FFF2-40B4-BE49-F238E27FC236}">
                <a16:creationId xmlns:a16="http://schemas.microsoft.com/office/drawing/2014/main" id="{D0F42CB6-DD39-41D9-B0A6-DA9072CFC94F}"/>
              </a:ext>
            </a:extLst>
          </p:cNvPr>
          <p:cNvSpPr/>
          <p:nvPr/>
        </p:nvSpPr>
        <p:spPr>
          <a:xfrm>
            <a:off x="9637059" y="1014248"/>
            <a:ext cx="2259106" cy="1477328"/>
          </a:xfrm>
          <a:prstGeom prst="rect">
            <a:avLst/>
          </a:prstGeom>
          <a:solidFill>
            <a:schemeClr val="accent2"/>
          </a:solidFill>
          <a:ln>
            <a:solidFill>
              <a:srgbClr val="0070C0"/>
            </a:solidFill>
          </a:ln>
        </p:spPr>
        <p:txBody>
          <a:bodyPr wrap="square">
            <a:spAutoFit/>
          </a:bodyPr>
          <a:lstStyle/>
          <a:p>
            <a:r>
              <a:rPr lang="en-AU" dirty="0"/>
              <a:t>main {</a:t>
            </a:r>
          </a:p>
          <a:p>
            <a:r>
              <a:rPr lang="en-AU" dirty="0"/>
              <a:t>    margin: 2em auto;</a:t>
            </a:r>
          </a:p>
          <a:p>
            <a:r>
              <a:rPr lang="en-AU" dirty="0"/>
              <a:t>    max-width: 200px;</a:t>
            </a:r>
          </a:p>
          <a:p>
            <a:r>
              <a:rPr lang="en-AU" dirty="0"/>
              <a:t>    padding: 1em;</a:t>
            </a:r>
          </a:p>
          <a:p>
            <a:r>
              <a:rPr lang="en-AU" dirty="0"/>
              <a:t>}</a:t>
            </a:r>
          </a:p>
        </p:txBody>
      </p:sp>
      <p:pic>
        <p:nvPicPr>
          <p:cNvPr id="7" name="Picture 6">
            <a:extLst>
              <a:ext uri="{FF2B5EF4-FFF2-40B4-BE49-F238E27FC236}">
                <a16:creationId xmlns:a16="http://schemas.microsoft.com/office/drawing/2014/main" id="{A3726F32-4862-4CA5-A1CA-39F16A9BC7E0}"/>
              </a:ext>
            </a:extLst>
          </p:cNvPr>
          <p:cNvPicPr>
            <a:picLocks noChangeAspect="1"/>
          </p:cNvPicPr>
          <p:nvPr/>
        </p:nvPicPr>
        <p:blipFill>
          <a:blip r:embed="rId3"/>
          <a:stretch>
            <a:fillRect/>
          </a:stretch>
        </p:blipFill>
        <p:spPr>
          <a:xfrm>
            <a:off x="94593" y="1532777"/>
            <a:ext cx="9135446" cy="5325223"/>
          </a:xfrm>
          <a:prstGeom prst="rect">
            <a:avLst/>
          </a:prstGeom>
        </p:spPr>
      </p:pic>
    </p:spTree>
    <p:extLst>
      <p:ext uri="{BB962C8B-B14F-4D97-AF65-F5344CB8AC3E}">
        <p14:creationId xmlns:p14="http://schemas.microsoft.com/office/powerpoint/2010/main" val="24661798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Responsive Web Design Example</a:t>
            </a:r>
            <a:endParaRPr lang="en-AU" sz="2600" b="1"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9DA2B106-5773-432E-AFF0-99BF44722BB9}"/>
              </a:ext>
            </a:extLst>
          </p:cNvPr>
          <p:cNvSpPr txBox="1"/>
          <p:nvPr/>
        </p:nvSpPr>
        <p:spPr>
          <a:xfrm>
            <a:off x="94593" y="752638"/>
            <a:ext cx="7848136" cy="523220"/>
          </a:xfrm>
          <a:prstGeom prst="rect">
            <a:avLst/>
          </a:prstGeom>
          <a:noFill/>
        </p:spPr>
        <p:txBody>
          <a:bodyPr wrap="square" rtlCol="0">
            <a:spAutoFit/>
          </a:bodyPr>
          <a:lstStyle/>
          <a:p>
            <a:r>
              <a:rPr lang="en-US" sz="2800" dirty="0">
                <a:latin typeface="Calibir"/>
              </a:rPr>
              <a:t>Change text alignment from center to left</a:t>
            </a:r>
            <a:endParaRPr lang="en-AU" sz="2800" dirty="0">
              <a:latin typeface="Calibir"/>
            </a:endParaRPr>
          </a:p>
        </p:txBody>
      </p:sp>
      <p:sp>
        <p:nvSpPr>
          <p:cNvPr id="6" name="Rectangle 5">
            <a:extLst>
              <a:ext uri="{FF2B5EF4-FFF2-40B4-BE49-F238E27FC236}">
                <a16:creationId xmlns:a16="http://schemas.microsoft.com/office/drawing/2014/main" id="{D0F42CB6-DD39-41D9-B0A6-DA9072CFC94F}"/>
              </a:ext>
            </a:extLst>
          </p:cNvPr>
          <p:cNvSpPr/>
          <p:nvPr/>
        </p:nvSpPr>
        <p:spPr>
          <a:xfrm>
            <a:off x="7700682" y="1014248"/>
            <a:ext cx="4491318" cy="2031325"/>
          </a:xfrm>
          <a:prstGeom prst="rect">
            <a:avLst/>
          </a:prstGeom>
          <a:solidFill>
            <a:schemeClr val="accent2"/>
          </a:solidFill>
          <a:ln>
            <a:solidFill>
              <a:srgbClr val="0070C0"/>
            </a:solidFill>
          </a:ln>
        </p:spPr>
        <p:txBody>
          <a:bodyPr wrap="square">
            <a:spAutoFit/>
          </a:bodyPr>
          <a:lstStyle/>
          <a:p>
            <a:r>
              <a:rPr lang="en-AU" dirty="0"/>
              <a:t>/* Responsive styles */</a:t>
            </a:r>
          </a:p>
          <a:p>
            <a:r>
              <a:rPr lang="en-AU" dirty="0"/>
              <a:t>@media only screen and (max-width: 600px) {</a:t>
            </a:r>
          </a:p>
          <a:p>
            <a:r>
              <a:rPr lang="en-AU" dirty="0"/>
              <a:t>    header, nav ul li {</a:t>
            </a:r>
          </a:p>
          <a:p>
            <a:r>
              <a:rPr lang="en-AU" dirty="0"/>
              <a:t>        display: block;</a:t>
            </a:r>
          </a:p>
          <a:p>
            <a:r>
              <a:rPr lang="en-AU" dirty="0"/>
              <a:t>        text-align: </a:t>
            </a:r>
            <a:r>
              <a:rPr lang="en-AU" dirty="0" err="1"/>
              <a:t>center</a:t>
            </a:r>
            <a:r>
              <a:rPr lang="en-AU" dirty="0"/>
              <a:t>;</a:t>
            </a:r>
          </a:p>
          <a:p>
            <a:r>
              <a:rPr lang="en-AU" dirty="0"/>
              <a:t>    }</a:t>
            </a:r>
          </a:p>
          <a:p>
            <a:r>
              <a:rPr lang="en-AU" dirty="0"/>
              <a:t>}</a:t>
            </a:r>
          </a:p>
        </p:txBody>
      </p:sp>
    </p:spTree>
    <p:extLst>
      <p:ext uri="{BB962C8B-B14F-4D97-AF65-F5344CB8AC3E}">
        <p14:creationId xmlns:p14="http://schemas.microsoft.com/office/powerpoint/2010/main" val="18508462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Project 2</a:t>
            </a:r>
            <a:endParaRPr lang="en-AU" sz="2600" b="1" dirty="0">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BCD39F26-B072-10BB-D76C-0DF9E337ACE7}"/>
              </a:ext>
            </a:extLst>
          </p:cNvPr>
          <p:cNvSpPr>
            <a:spLocks noChangeArrowheads="1"/>
          </p:cNvSpPr>
          <p:nvPr/>
        </p:nvSpPr>
        <p:spPr bwMode="auto">
          <a:xfrm>
            <a:off x="94593" y="784123"/>
            <a:ext cx="8082455" cy="2251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Project 2: Using Tables</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Open </a:t>
            </a:r>
            <a:r>
              <a:rPr kumimoji="0" lang="en-US" altLang="en-US" sz="2400" b="1" i="0" u="none" strike="noStrike" cap="none" normalizeH="0" baseline="0" dirty="0">
                <a:ln>
                  <a:noFill/>
                </a:ln>
                <a:solidFill>
                  <a:schemeClr val="tx1"/>
                </a:solidFill>
                <a:effectLst/>
                <a:highlight>
                  <a:srgbClr val="FFFF00"/>
                </a:highlight>
                <a:latin typeface="Calibri" panose="020F0502020204030204" pitchFamily="34" charset="0"/>
                <a:cs typeface="Calibri" panose="020F0502020204030204" pitchFamily="34" charset="0"/>
              </a:rPr>
              <a:t>apply09.html</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in your text editor</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Add a title: </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2017 Sales by Quarter</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Modify the comment at the top:</a:t>
            </a:r>
          </a:p>
        </p:txBody>
      </p:sp>
      <p:sp>
        <p:nvSpPr>
          <p:cNvPr id="6" name="TextBox 5">
            <a:extLst>
              <a:ext uri="{FF2B5EF4-FFF2-40B4-BE49-F238E27FC236}">
                <a16:creationId xmlns:a16="http://schemas.microsoft.com/office/drawing/2014/main" id="{32F33D71-0307-E6B3-847A-F5C367043E05}"/>
              </a:ext>
            </a:extLst>
          </p:cNvPr>
          <p:cNvSpPr txBox="1"/>
          <p:nvPr/>
        </p:nvSpPr>
        <p:spPr>
          <a:xfrm>
            <a:off x="0" y="3326868"/>
            <a:ext cx="12192000" cy="1154162"/>
          </a:xfrm>
          <a:prstGeom prst="rect">
            <a:avLst/>
          </a:prstGeom>
          <a:solidFill>
            <a:schemeClr val="tx1"/>
          </a:solidFill>
        </p:spPr>
        <p:txBody>
          <a:bodyPr wrap="square">
            <a:spAutoFit/>
          </a:bodyPr>
          <a:lstStyle/>
          <a:p>
            <a:r>
              <a:rPr lang="en-US" sz="2300" b="0" dirty="0">
                <a:solidFill>
                  <a:srgbClr val="6A9955"/>
                </a:solidFill>
                <a:effectLst/>
                <a:highlight>
                  <a:srgbClr val="1F1F1F"/>
                </a:highlight>
                <a:latin typeface="Consolas" panose="020B0609020204030204" pitchFamily="49" charset="0"/>
              </a:rPr>
              <a:t>&lt;!-- This website template was created by: Mayer Alvarez </a:t>
            </a:r>
            <a:r>
              <a:rPr lang="en-US" sz="2300" b="0" dirty="0" err="1">
                <a:solidFill>
                  <a:srgbClr val="6A9955"/>
                </a:solidFill>
                <a:effectLst/>
                <a:highlight>
                  <a:srgbClr val="1F1F1F"/>
                </a:highlight>
                <a:latin typeface="Consolas" panose="020B0609020204030204" pitchFamily="49" charset="0"/>
              </a:rPr>
              <a:t>Vivanco</a:t>
            </a:r>
            <a:r>
              <a:rPr lang="en-US" sz="2300" b="0" dirty="0">
                <a:solidFill>
                  <a:srgbClr val="6A9955"/>
                </a:solidFill>
                <a:effectLst/>
                <a:highlight>
                  <a:srgbClr val="1F1F1F"/>
                </a:highlight>
                <a:latin typeface="Consolas" panose="020B0609020204030204" pitchFamily="49" charset="0"/>
              </a:rPr>
              <a:t>, Today's Date --&gt;</a:t>
            </a:r>
            <a:endParaRPr lang="en-US" sz="2300" b="0" dirty="0">
              <a:solidFill>
                <a:srgbClr val="CCCCCC"/>
              </a:solidFill>
              <a:effectLst/>
              <a:highlight>
                <a:srgbClr val="1F1F1F"/>
              </a:highlight>
              <a:latin typeface="Consolas" panose="020B0609020204030204" pitchFamily="49" charset="0"/>
            </a:endParaRPr>
          </a:p>
          <a:p>
            <a:endParaRPr lang="en-US" sz="2300" b="0" dirty="0">
              <a:solidFill>
                <a:srgbClr val="CCCCCC"/>
              </a:solidFill>
              <a:effectLst/>
              <a:highlight>
                <a:srgbClr val="1F1F1F"/>
              </a:highlight>
              <a:latin typeface="Consolas" panose="020B0609020204030204" pitchFamily="49" charset="0"/>
            </a:endParaRPr>
          </a:p>
        </p:txBody>
      </p:sp>
      <p:sp>
        <p:nvSpPr>
          <p:cNvPr id="7" name="TextBox 6">
            <a:extLst>
              <a:ext uri="{FF2B5EF4-FFF2-40B4-BE49-F238E27FC236}">
                <a16:creationId xmlns:a16="http://schemas.microsoft.com/office/drawing/2014/main" id="{3CE9C008-CC8D-1490-60F1-26886B251773}"/>
              </a:ext>
            </a:extLst>
          </p:cNvPr>
          <p:cNvSpPr txBox="1"/>
          <p:nvPr/>
        </p:nvSpPr>
        <p:spPr>
          <a:xfrm>
            <a:off x="94593" y="4632462"/>
            <a:ext cx="12097407" cy="589072"/>
          </a:xfrm>
          <a:prstGeom prst="rect">
            <a:avLst/>
          </a:prstGeom>
          <a:noFill/>
        </p:spPr>
        <p:txBody>
          <a:bodyPr wrap="square">
            <a:spAutoFit/>
          </a:bodyPr>
          <a:lstStyle/>
          <a:p>
            <a:pPr>
              <a:lnSpc>
                <a:spcPct val="150000"/>
              </a:lnSpc>
            </a:pPr>
            <a:r>
              <a:rPr lang="en-AU" sz="2400" dirty="0">
                <a:latin typeface="Calibri" panose="020F0502020204030204" pitchFamily="34" charset="0"/>
                <a:cs typeface="Calibri" panose="020F0502020204030204" pitchFamily="34" charset="0"/>
              </a:rPr>
              <a:t>Replace “Student’s Name” with “Mayer Alvarez </a:t>
            </a:r>
            <a:r>
              <a:rPr lang="en-AU" sz="2400" dirty="0" err="1">
                <a:latin typeface="Calibri" panose="020F0502020204030204" pitchFamily="34" charset="0"/>
                <a:cs typeface="Calibri" panose="020F0502020204030204" pitchFamily="34" charset="0"/>
              </a:rPr>
              <a:t>Vivanco</a:t>
            </a:r>
            <a:r>
              <a:rPr lang="en-AU" sz="2400" dirty="0">
                <a:latin typeface="Calibri" panose="020F0502020204030204" pitchFamily="34" charset="0"/>
                <a:cs typeface="Calibri" panose="020F0502020204030204" pitchFamily="34" charset="0"/>
              </a:rPr>
              <a:t>” in the footer:</a:t>
            </a:r>
          </a:p>
        </p:txBody>
      </p:sp>
      <p:sp>
        <p:nvSpPr>
          <p:cNvPr id="8" name="TextBox 7">
            <a:extLst>
              <a:ext uri="{FF2B5EF4-FFF2-40B4-BE49-F238E27FC236}">
                <a16:creationId xmlns:a16="http://schemas.microsoft.com/office/drawing/2014/main" id="{3066D443-2CF1-1DC1-EB37-6353DC2F24C8}"/>
              </a:ext>
            </a:extLst>
          </p:cNvPr>
          <p:cNvSpPr txBox="1"/>
          <p:nvPr/>
        </p:nvSpPr>
        <p:spPr>
          <a:xfrm>
            <a:off x="0" y="5473712"/>
            <a:ext cx="12192000" cy="1200329"/>
          </a:xfrm>
          <a:prstGeom prst="rect">
            <a:avLst/>
          </a:prstGeom>
          <a:solidFill>
            <a:schemeClr val="tx1"/>
          </a:solidFill>
        </p:spPr>
        <p:txBody>
          <a:bodyPr wrap="square">
            <a:spAutoFit/>
          </a:bodyPr>
          <a:lstStyle/>
          <a:p>
            <a:r>
              <a:rPr lang="en-US" sz="2400" b="0" dirty="0">
                <a:solidFill>
                  <a:srgbClr val="CCCCCC"/>
                </a:solidFill>
                <a:effectLst/>
                <a:highlight>
                  <a:srgbClr val="1F1F1F"/>
                </a:highlight>
                <a:latin typeface="Consolas" panose="020B0609020204030204" pitchFamily="49" charset="0"/>
              </a:rPr>
              <a:t>    </a:t>
            </a:r>
            <a:r>
              <a:rPr lang="en-US" sz="2400" b="0" dirty="0">
                <a:solidFill>
                  <a:srgbClr val="808080"/>
                </a:solidFill>
                <a:effectLst/>
                <a:highlight>
                  <a:srgbClr val="1F1F1F"/>
                </a:highlight>
                <a:latin typeface="Consolas" panose="020B0609020204030204" pitchFamily="49" charset="0"/>
              </a:rPr>
              <a:t>&lt;</a:t>
            </a:r>
            <a:r>
              <a:rPr lang="en-US" sz="2400" b="0" dirty="0">
                <a:solidFill>
                  <a:srgbClr val="569CD6"/>
                </a:solidFill>
                <a:effectLst/>
                <a:highlight>
                  <a:srgbClr val="1F1F1F"/>
                </a:highlight>
                <a:latin typeface="Consolas" panose="020B0609020204030204" pitchFamily="49" charset="0"/>
              </a:rPr>
              <a:t>footer</a:t>
            </a:r>
            <a:r>
              <a:rPr lang="en-US" sz="2400" b="0" dirty="0">
                <a:solidFill>
                  <a:srgbClr val="808080"/>
                </a:solidFill>
                <a:effectLst/>
                <a:highlight>
                  <a:srgbClr val="1F1F1F"/>
                </a:highlight>
                <a:latin typeface="Consolas" panose="020B0609020204030204" pitchFamily="49" charset="0"/>
              </a:rPr>
              <a:t>&gt;</a:t>
            </a:r>
            <a:endParaRPr lang="en-US" sz="2400" b="0" dirty="0">
              <a:solidFill>
                <a:srgbClr val="CCCCCC"/>
              </a:solidFill>
              <a:effectLst/>
              <a:highlight>
                <a:srgbClr val="1F1F1F"/>
              </a:highlight>
              <a:latin typeface="Consolas" panose="020B0609020204030204" pitchFamily="49" charset="0"/>
            </a:endParaRPr>
          </a:p>
          <a:p>
            <a:r>
              <a:rPr lang="en-US" sz="2400" b="0" dirty="0">
                <a:solidFill>
                  <a:srgbClr val="CCCCCC"/>
                </a:solidFill>
                <a:effectLst/>
                <a:highlight>
                  <a:srgbClr val="1F1F1F"/>
                </a:highlight>
                <a:latin typeface="Consolas" panose="020B0609020204030204" pitchFamily="49" charset="0"/>
              </a:rPr>
              <a:t>        </a:t>
            </a:r>
            <a:r>
              <a:rPr lang="en-US" sz="2400" b="0" dirty="0">
                <a:solidFill>
                  <a:srgbClr val="808080"/>
                </a:solidFill>
                <a:effectLst/>
                <a:highlight>
                  <a:srgbClr val="1F1F1F"/>
                </a:highlight>
                <a:latin typeface="Consolas" panose="020B0609020204030204" pitchFamily="49" charset="0"/>
              </a:rPr>
              <a:t>&lt;</a:t>
            </a:r>
            <a:r>
              <a:rPr lang="en-US" sz="2400" b="0" dirty="0">
                <a:solidFill>
                  <a:srgbClr val="569CD6"/>
                </a:solidFill>
                <a:effectLst/>
                <a:highlight>
                  <a:srgbClr val="1F1F1F"/>
                </a:highlight>
                <a:latin typeface="Consolas" panose="020B0609020204030204" pitchFamily="49" charset="0"/>
              </a:rPr>
              <a:t>p</a:t>
            </a:r>
            <a:r>
              <a:rPr lang="en-US" sz="2400" b="0" dirty="0">
                <a:solidFill>
                  <a:srgbClr val="808080"/>
                </a:solidFill>
                <a:effectLst/>
                <a:highlight>
                  <a:srgbClr val="1F1F1F"/>
                </a:highlight>
                <a:latin typeface="Consolas" panose="020B0609020204030204" pitchFamily="49" charset="0"/>
              </a:rPr>
              <a:t>&gt;</a:t>
            </a:r>
            <a:r>
              <a:rPr lang="en-US" sz="2400" b="0" dirty="0">
                <a:solidFill>
                  <a:srgbClr val="CCCCCC"/>
                </a:solidFill>
                <a:effectLst/>
                <a:highlight>
                  <a:srgbClr val="1F1F1F"/>
                </a:highlight>
                <a:latin typeface="Consolas" panose="020B0609020204030204" pitchFamily="49" charset="0"/>
              </a:rPr>
              <a:t>Designed by: Mayer Alvarez </a:t>
            </a:r>
            <a:r>
              <a:rPr lang="en-US" sz="2400" b="0" dirty="0" err="1">
                <a:solidFill>
                  <a:srgbClr val="CCCCCC"/>
                </a:solidFill>
                <a:effectLst/>
                <a:highlight>
                  <a:srgbClr val="1F1F1F"/>
                </a:highlight>
                <a:latin typeface="Consolas" panose="020B0609020204030204" pitchFamily="49" charset="0"/>
              </a:rPr>
              <a:t>Vivanco</a:t>
            </a:r>
            <a:r>
              <a:rPr lang="en-US" sz="2400" b="0" dirty="0">
                <a:solidFill>
                  <a:srgbClr val="808080"/>
                </a:solidFill>
                <a:effectLst/>
                <a:highlight>
                  <a:srgbClr val="1F1F1F"/>
                </a:highlight>
                <a:latin typeface="Consolas" panose="020B0609020204030204" pitchFamily="49" charset="0"/>
              </a:rPr>
              <a:t>&lt;/</a:t>
            </a:r>
            <a:r>
              <a:rPr lang="en-US" sz="2400" b="0" dirty="0">
                <a:solidFill>
                  <a:srgbClr val="569CD6"/>
                </a:solidFill>
                <a:effectLst/>
                <a:highlight>
                  <a:srgbClr val="1F1F1F"/>
                </a:highlight>
                <a:latin typeface="Consolas" panose="020B0609020204030204" pitchFamily="49" charset="0"/>
              </a:rPr>
              <a:t>p</a:t>
            </a:r>
            <a:r>
              <a:rPr lang="en-US" sz="2400" b="0" dirty="0">
                <a:solidFill>
                  <a:srgbClr val="808080"/>
                </a:solidFill>
                <a:effectLst/>
                <a:highlight>
                  <a:srgbClr val="1F1F1F"/>
                </a:highlight>
                <a:latin typeface="Consolas" panose="020B0609020204030204" pitchFamily="49" charset="0"/>
              </a:rPr>
              <a:t>&gt;</a:t>
            </a:r>
            <a:endParaRPr lang="en-US" sz="2400" b="0" dirty="0">
              <a:solidFill>
                <a:srgbClr val="CCCCCC"/>
              </a:solidFill>
              <a:effectLst/>
              <a:highlight>
                <a:srgbClr val="1F1F1F"/>
              </a:highlight>
              <a:latin typeface="Consolas" panose="020B0609020204030204" pitchFamily="49" charset="0"/>
            </a:endParaRPr>
          </a:p>
          <a:p>
            <a:r>
              <a:rPr lang="en-US" sz="2400" b="0" dirty="0">
                <a:solidFill>
                  <a:srgbClr val="CCCCCC"/>
                </a:solidFill>
                <a:effectLst/>
                <a:highlight>
                  <a:srgbClr val="1F1F1F"/>
                </a:highlight>
                <a:latin typeface="Consolas" panose="020B0609020204030204" pitchFamily="49" charset="0"/>
              </a:rPr>
              <a:t>    </a:t>
            </a:r>
            <a:r>
              <a:rPr lang="en-US" sz="2400" b="0" dirty="0">
                <a:solidFill>
                  <a:srgbClr val="808080"/>
                </a:solidFill>
                <a:effectLst/>
                <a:highlight>
                  <a:srgbClr val="1F1F1F"/>
                </a:highlight>
                <a:latin typeface="Consolas" panose="020B0609020204030204" pitchFamily="49" charset="0"/>
              </a:rPr>
              <a:t>&lt;/</a:t>
            </a:r>
            <a:r>
              <a:rPr lang="en-US" sz="2400" b="0" dirty="0">
                <a:solidFill>
                  <a:srgbClr val="569CD6"/>
                </a:solidFill>
                <a:effectLst/>
                <a:highlight>
                  <a:srgbClr val="1F1F1F"/>
                </a:highlight>
                <a:latin typeface="Consolas" panose="020B0609020204030204" pitchFamily="49" charset="0"/>
              </a:rPr>
              <a:t>footer</a:t>
            </a:r>
            <a:r>
              <a:rPr lang="en-US" sz="2400" b="0" dirty="0">
                <a:solidFill>
                  <a:srgbClr val="808080"/>
                </a:solidFill>
                <a:effectLst/>
                <a:highlight>
                  <a:srgbClr val="1F1F1F"/>
                </a:highlight>
                <a:latin typeface="Consolas" panose="020B0609020204030204" pitchFamily="49" charset="0"/>
              </a:rPr>
              <a:t>&gt;</a:t>
            </a:r>
            <a:endParaRPr lang="en-US" sz="24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7031247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5" name="TextBox 4">
            <a:extLst>
              <a:ext uri="{FF2B5EF4-FFF2-40B4-BE49-F238E27FC236}">
                <a16:creationId xmlns:a16="http://schemas.microsoft.com/office/drawing/2014/main" id="{4B590DE9-8CBE-4186-F71E-992B3420D4C2}"/>
              </a:ext>
            </a:extLst>
          </p:cNvPr>
          <p:cNvSpPr txBox="1"/>
          <p:nvPr/>
        </p:nvSpPr>
        <p:spPr>
          <a:xfrm>
            <a:off x="94593" y="0"/>
            <a:ext cx="10009074" cy="492443"/>
          </a:xfrm>
          <a:prstGeom prst="rect">
            <a:avLst/>
          </a:prstGeom>
          <a:noFill/>
        </p:spPr>
        <p:txBody>
          <a:bodyPr wrap="square" rtlCol="0">
            <a:spAutoFit/>
          </a:bodyPr>
          <a:lstStyle/>
          <a:p>
            <a:r>
              <a:rPr lang="en-US" sz="2600" b="1" dirty="0">
                <a:latin typeface="Calibri" panose="020F0502020204030204" pitchFamily="34" charset="0"/>
                <a:cs typeface="Calibri" panose="020F0502020204030204" pitchFamily="34" charset="0"/>
              </a:rPr>
              <a:t>Weeks 8 – 9 Tutorial: Project 2</a:t>
            </a:r>
            <a:endParaRPr lang="en-AU" sz="2600" b="1" dirty="0">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BCD39F26-B072-10BB-D76C-0DF9E337ACE7}"/>
              </a:ext>
            </a:extLst>
          </p:cNvPr>
          <p:cNvSpPr>
            <a:spLocks noChangeArrowheads="1"/>
          </p:cNvSpPr>
          <p:nvPr/>
        </p:nvSpPr>
        <p:spPr bwMode="auto">
          <a:xfrm>
            <a:off x="94593" y="1615119"/>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 Open applystyles09.css and modify the comment at the top:</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2F33D71-0307-E6B3-847A-F5C367043E05}"/>
              </a:ext>
            </a:extLst>
          </p:cNvPr>
          <p:cNvSpPr txBox="1"/>
          <p:nvPr/>
        </p:nvSpPr>
        <p:spPr>
          <a:xfrm>
            <a:off x="94593" y="2380937"/>
            <a:ext cx="12192000" cy="830997"/>
          </a:xfrm>
          <a:prstGeom prst="rect">
            <a:avLst/>
          </a:prstGeom>
          <a:solidFill>
            <a:schemeClr val="tx1"/>
          </a:solidFill>
        </p:spPr>
        <p:txBody>
          <a:bodyPr wrap="square">
            <a:spAutoFit/>
          </a:bodyPr>
          <a:lstStyle/>
          <a:p>
            <a:r>
              <a:rPr lang="en-US" sz="2400" b="0" dirty="0">
                <a:solidFill>
                  <a:srgbClr val="6A9955"/>
                </a:solidFill>
                <a:effectLst/>
                <a:highlight>
                  <a:srgbClr val="1F1F1F"/>
                </a:highlight>
                <a:latin typeface="Consolas" panose="020B0609020204030204" pitchFamily="49" charset="0"/>
              </a:rPr>
              <a:t>/* Style sheet created by: Mayer Alvarez </a:t>
            </a:r>
            <a:r>
              <a:rPr lang="en-US" sz="2400" b="0" dirty="0" err="1">
                <a:solidFill>
                  <a:srgbClr val="6A9955"/>
                </a:solidFill>
                <a:effectLst/>
                <a:highlight>
                  <a:srgbClr val="1F1F1F"/>
                </a:highlight>
                <a:latin typeface="Consolas" panose="020B0609020204030204" pitchFamily="49" charset="0"/>
              </a:rPr>
              <a:t>Vivanco</a:t>
            </a:r>
            <a:r>
              <a:rPr lang="en-US" sz="2400" b="0" dirty="0">
                <a:solidFill>
                  <a:srgbClr val="6A9955"/>
                </a:solidFill>
                <a:effectLst/>
                <a:highlight>
                  <a:srgbClr val="1F1F1F"/>
                </a:highlight>
                <a:latin typeface="Consolas" panose="020B0609020204030204" pitchFamily="49" charset="0"/>
              </a:rPr>
              <a:t>, Today's Date */</a:t>
            </a:r>
            <a:endParaRPr lang="en-US" sz="2400" b="0" dirty="0">
              <a:solidFill>
                <a:srgbClr val="CCCCCC"/>
              </a:solidFill>
              <a:effectLst/>
              <a:highlight>
                <a:srgbClr val="1F1F1F"/>
              </a:highlight>
              <a:latin typeface="Consolas" panose="020B0609020204030204" pitchFamily="49" charset="0"/>
            </a:endParaRPr>
          </a:p>
          <a:p>
            <a:endParaRPr lang="en-US" sz="24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3215070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 In </a:t>
            </a:r>
            <a:r>
              <a:rPr kumimoji="0" lang="en-US" altLang="en-US" sz="2400" b="1" i="0" u="none" strike="noStrike" cap="none" normalizeH="0" baseline="0" dirty="0">
                <a:ln>
                  <a:noFill/>
                </a:ln>
                <a:solidFill>
                  <a:schemeClr val="tx1"/>
                </a:solidFill>
                <a:effectLst/>
                <a:highlight>
                  <a:srgbClr val="FFFF00"/>
                </a:highlight>
                <a:latin typeface="Calibri" panose="020F0502020204030204" pitchFamily="34" charset="0"/>
                <a:cs typeface="Calibri" panose="020F0502020204030204" pitchFamily="34" charset="0"/>
              </a:rPr>
              <a:t>apply09.html</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add a table element within the main element:</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24C72015-D6A3-BEF8-BB5A-B63257DC5222}"/>
              </a:ext>
            </a:extLst>
          </p:cNvPr>
          <p:cNvSpPr txBox="1"/>
          <p:nvPr/>
        </p:nvSpPr>
        <p:spPr>
          <a:xfrm>
            <a:off x="0" y="610136"/>
            <a:ext cx="12318124" cy="6247864"/>
          </a:xfrm>
          <a:prstGeom prst="rect">
            <a:avLst/>
          </a:prstGeom>
          <a:solidFill>
            <a:schemeClr val="tx1"/>
          </a:solidFill>
        </p:spPr>
        <p:txBody>
          <a:bodyPr wrap="square">
            <a:spAutoFit/>
          </a:bodyPr>
          <a:lstStyle/>
          <a:p>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main</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table</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caption</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2017 Sales by Quarter</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caption</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Product</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Quarter 1</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Quarter 2</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Quarter 3</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Quarter 4</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Tablets</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24,500</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21,525</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20,217</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28,575</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Monitors</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12,825</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12,400</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11,900</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14,233</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Laptops</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33,000</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32,750</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31,595</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32,465</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r>
              <a:rPr lang="en-US" sz="1000" b="0" dirty="0">
                <a:solidFill>
                  <a:srgbClr val="CCCCCC"/>
                </a:solidFill>
                <a:effectLst/>
                <a:highlight>
                  <a:srgbClr val="1F1F1F"/>
                </a:highlight>
                <a:latin typeface="Consolas" panose="020B0609020204030204" pitchFamily="49" charset="0"/>
              </a:rPr>
              <a:t>Desktops</a:t>
            </a:r>
            <a:r>
              <a:rPr lang="en-US" sz="1000" b="0" dirty="0">
                <a:solidFill>
                  <a:srgbClr val="808080"/>
                </a:solidFill>
                <a:effectLst/>
                <a:highlight>
                  <a:srgbClr val="1F1F1F"/>
                </a:highlight>
                <a:latin typeface="Consolas" panose="020B0609020204030204" pitchFamily="49" charset="0"/>
              </a:rPr>
              <a:t>&lt;/</a:t>
            </a:r>
            <a:r>
              <a:rPr lang="en-US" sz="1000" b="0" dirty="0" err="1">
                <a:solidFill>
                  <a:srgbClr val="569CD6"/>
                </a:solidFill>
                <a:effectLst/>
                <a:highlight>
                  <a:srgbClr val="1F1F1F"/>
                </a:highlight>
                <a:latin typeface="Consolas" panose="020B0609020204030204" pitchFamily="49" charset="0"/>
              </a:rPr>
              <a:t>th</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21,478</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20,895</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18,200</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r>
              <a:rPr lang="en-US" sz="1000" b="0" dirty="0">
                <a:solidFill>
                  <a:srgbClr val="569CD6"/>
                </a:solidFill>
                <a:effectLst/>
                <a:highlight>
                  <a:srgbClr val="1F1F1F"/>
                </a:highlight>
                <a:latin typeface="Consolas" panose="020B0609020204030204" pitchFamily="49" charset="0"/>
              </a:rPr>
              <a:t>&amp;#36;</a:t>
            </a:r>
            <a:r>
              <a:rPr lang="en-US" sz="1000" b="0" dirty="0">
                <a:solidFill>
                  <a:srgbClr val="CCCCCC"/>
                </a:solidFill>
                <a:effectLst/>
                <a:highlight>
                  <a:srgbClr val="1F1F1F"/>
                </a:highlight>
                <a:latin typeface="Consolas" panose="020B0609020204030204" pitchFamily="49" charset="0"/>
              </a:rPr>
              <a:t>21,625</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td</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tr</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CCCCCC"/>
                </a:solidFill>
                <a:effectLst/>
                <a:highlight>
                  <a:srgbClr val="1F1F1F"/>
                </a:highlight>
                <a:latin typeface="Consolas" panose="020B0609020204030204" pitchFamily="49" charset="0"/>
              </a:rPr>
              <a:t>    </a:t>
            </a:r>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table</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a:p>
            <a:r>
              <a:rPr lang="en-US" sz="1000" b="0" dirty="0">
                <a:solidFill>
                  <a:srgbClr val="808080"/>
                </a:solidFill>
                <a:effectLst/>
                <a:highlight>
                  <a:srgbClr val="1F1F1F"/>
                </a:highlight>
                <a:latin typeface="Consolas" panose="020B0609020204030204" pitchFamily="49" charset="0"/>
              </a:rPr>
              <a:t>&lt;/</a:t>
            </a:r>
            <a:r>
              <a:rPr lang="en-US" sz="1000" b="0" dirty="0">
                <a:solidFill>
                  <a:srgbClr val="569CD6"/>
                </a:solidFill>
                <a:effectLst/>
                <a:highlight>
                  <a:srgbClr val="1F1F1F"/>
                </a:highlight>
                <a:latin typeface="Consolas" panose="020B0609020204030204" pitchFamily="49" charset="0"/>
              </a:rPr>
              <a:t>main</a:t>
            </a:r>
            <a:r>
              <a:rPr lang="en-US" sz="1000" b="0" dirty="0">
                <a:solidFill>
                  <a:srgbClr val="808080"/>
                </a:solidFill>
                <a:effectLst/>
                <a:highlight>
                  <a:srgbClr val="1F1F1F"/>
                </a:highlight>
                <a:latin typeface="Consolas" panose="020B0609020204030204" pitchFamily="49" charset="0"/>
              </a:rPr>
              <a:t>&gt;</a:t>
            </a:r>
            <a:endParaRPr lang="en-US" sz="10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34604026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4C72015-D6A3-BEF8-BB5A-B63257DC5222}"/>
              </a:ext>
            </a:extLst>
          </p:cNvPr>
          <p:cNvSpPr txBox="1"/>
          <p:nvPr/>
        </p:nvSpPr>
        <p:spPr>
          <a:xfrm>
            <a:off x="0" y="610136"/>
            <a:ext cx="12192000" cy="6247864"/>
          </a:xfrm>
          <a:prstGeom prst="rect">
            <a:avLst/>
          </a:prstGeom>
          <a:solidFill>
            <a:schemeClr val="tx1"/>
          </a:solidFill>
        </p:spPr>
        <p:txBody>
          <a:bodyPr wrap="square">
            <a:spAutoFit/>
          </a:bodyPr>
          <a:lstStyle/>
          <a:p>
            <a:r>
              <a:rPr lang="en-US" sz="1600" b="0" dirty="0">
                <a:solidFill>
                  <a:srgbClr val="6A9955"/>
                </a:solidFill>
                <a:effectLst/>
                <a:highlight>
                  <a:srgbClr val="1F1F1F"/>
                </a:highlight>
                <a:latin typeface="Consolas" panose="020B0609020204030204" pitchFamily="49" charset="0"/>
              </a:rPr>
              <a:t>/* Style for table */</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D7BA7D"/>
                </a:solidFill>
                <a:effectLst/>
                <a:highlight>
                  <a:srgbClr val="1F1F1F"/>
                </a:highlight>
                <a:latin typeface="Consolas" panose="020B0609020204030204" pitchFamily="49" charset="0"/>
              </a:rPr>
              <a:t>table</a:t>
            </a:r>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width</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80%</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margin-left</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auto</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margin-right</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auto</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a:t>
            </a:r>
          </a:p>
          <a:p>
            <a:br>
              <a:rPr lang="en-US" sz="1600" b="0" dirty="0">
                <a:solidFill>
                  <a:srgbClr val="CCCCCC"/>
                </a:solidFill>
                <a:effectLst/>
                <a:highlight>
                  <a:srgbClr val="1F1F1F"/>
                </a:highlight>
                <a:latin typeface="Consolas" panose="020B0609020204030204" pitchFamily="49" charset="0"/>
              </a:rPr>
            </a:br>
            <a:r>
              <a:rPr lang="en-US" sz="1600" b="0" dirty="0">
                <a:solidFill>
                  <a:srgbClr val="6A9955"/>
                </a:solidFill>
                <a:effectLst/>
                <a:highlight>
                  <a:srgbClr val="1F1F1F"/>
                </a:highlight>
                <a:latin typeface="Consolas" panose="020B0609020204030204" pitchFamily="49" charset="0"/>
              </a:rPr>
              <a:t>/* Style for table, tr, </a:t>
            </a:r>
            <a:r>
              <a:rPr lang="en-US" sz="1600" b="0" dirty="0" err="1">
                <a:solidFill>
                  <a:srgbClr val="6A9955"/>
                </a:solidFill>
                <a:effectLst/>
                <a:highlight>
                  <a:srgbClr val="1F1F1F"/>
                </a:highlight>
                <a:latin typeface="Consolas" panose="020B0609020204030204" pitchFamily="49" charset="0"/>
              </a:rPr>
              <a:t>th</a:t>
            </a:r>
            <a:r>
              <a:rPr lang="en-US" sz="1600" b="0" dirty="0">
                <a:solidFill>
                  <a:srgbClr val="6A9955"/>
                </a:solidFill>
                <a:effectLst/>
                <a:highlight>
                  <a:srgbClr val="1F1F1F"/>
                </a:highlight>
                <a:latin typeface="Consolas" panose="020B0609020204030204" pitchFamily="49" charset="0"/>
              </a:rPr>
              <a:t>, td */</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D7BA7D"/>
                </a:solidFill>
                <a:effectLst/>
                <a:highlight>
                  <a:srgbClr val="1F1F1F"/>
                </a:highlight>
                <a:latin typeface="Consolas" panose="020B0609020204030204" pitchFamily="49" charset="0"/>
              </a:rPr>
              <a:t>table</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tr</a:t>
            </a:r>
            <a:r>
              <a:rPr lang="en-US" sz="1600" b="0" dirty="0">
                <a:solidFill>
                  <a:srgbClr val="CCCCCC"/>
                </a:solidFill>
                <a:effectLst/>
                <a:highlight>
                  <a:srgbClr val="1F1F1F"/>
                </a:highlight>
                <a:latin typeface="Consolas" panose="020B0609020204030204" pitchFamily="49" charset="0"/>
              </a:rPr>
              <a:t>, </a:t>
            </a:r>
            <a:r>
              <a:rPr lang="en-US" sz="1600" b="0" dirty="0" err="1">
                <a:solidFill>
                  <a:srgbClr val="D7BA7D"/>
                </a:solidFill>
                <a:effectLst/>
                <a:highlight>
                  <a:srgbClr val="1F1F1F"/>
                </a:highlight>
                <a:latin typeface="Consolas" panose="020B0609020204030204" pitchFamily="49" charset="0"/>
              </a:rPr>
              <a:t>th</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td</a:t>
            </a:r>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border-collapse</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collapse</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border</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solid</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0.1em</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#000000</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padding</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1em</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a:t>
            </a:r>
          </a:p>
          <a:p>
            <a:br>
              <a:rPr lang="en-US" sz="1600" b="0" dirty="0">
                <a:solidFill>
                  <a:srgbClr val="CCCCCC"/>
                </a:solidFill>
                <a:effectLst/>
                <a:highlight>
                  <a:srgbClr val="1F1F1F"/>
                </a:highlight>
                <a:latin typeface="Consolas" panose="020B0609020204030204" pitchFamily="49" charset="0"/>
              </a:rPr>
            </a:br>
            <a:r>
              <a:rPr lang="en-US" sz="1600" b="0" dirty="0">
                <a:solidFill>
                  <a:srgbClr val="6A9955"/>
                </a:solidFill>
                <a:effectLst/>
                <a:highlight>
                  <a:srgbClr val="1F1F1F"/>
                </a:highlight>
                <a:latin typeface="Consolas" panose="020B0609020204030204" pitchFamily="49" charset="0"/>
              </a:rPr>
              <a:t>/* Style for table data */</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D7BA7D"/>
                </a:solidFill>
                <a:effectLst/>
                <a:highlight>
                  <a:srgbClr val="1F1F1F"/>
                </a:highlight>
                <a:latin typeface="Consolas" panose="020B0609020204030204" pitchFamily="49" charset="0"/>
              </a:rPr>
              <a:t>td</a:t>
            </a:r>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text-align</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center</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a:t>
            </a:r>
          </a:p>
          <a:p>
            <a:br>
              <a:rPr lang="en-US" sz="1600" b="0" dirty="0">
                <a:solidFill>
                  <a:srgbClr val="CCCCCC"/>
                </a:solidFill>
                <a:effectLst/>
                <a:highlight>
                  <a:srgbClr val="1F1F1F"/>
                </a:highlight>
                <a:latin typeface="Consolas" panose="020B0609020204030204" pitchFamily="49" charset="0"/>
              </a:rPr>
            </a:br>
            <a:r>
              <a:rPr lang="en-US" sz="1600" b="0" dirty="0">
                <a:solidFill>
                  <a:srgbClr val="6A9955"/>
                </a:solidFill>
                <a:effectLst/>
                <a:highlight>
                  <a:srgbClr val="1F1F1F"/>
                </a:highlight>
                <a:latin typeface="Consolas" panose="020B0609020204030204" pitchFamily="49" charset="0"/>
              </a:rPr>
              <a:t>/* Style for table caption */</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D7BA7D"/>
                </a:solidFill>
                <a:effectLst/>
                <a:highlight>
                  <a:srgbClr val="1F1F1F"/>
                </a:highlight>
                <a:latin typeface="Consolas" panose="020B0609020204030204" pitchFamily="49" charset="0"/>
              </a:rPr>
              <a:t>caption</a:t>
            </a:r>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font-size</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2em</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padding</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1em</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margin-top</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1em</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a:t>
            </a:r>
          </a:p>
        </p:txBody>
      </p:sp>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 In </a:t>
            </a:r>
            <a:r>
              <a:rPr kumimoji="0" lang="en-US" altLang="en-US" sz="2400" b="1" i="0" u="none" strike="noStrike" cap="none" normalizeH="0" baseline="0" dirty="0">
                <a:ln>
                  <a:noFill/>
                </a:ln>
                <a:solidFill>
                  <a:schemeClr val="tx1"/>
                </a:solidFill>
                <a:effectLst/>
                <a:highlight>
                  <a:srgbClr val="FFFF00"/>
                </a:highlight>
                <a:latin typeface="Calibri" panose="020F0502020204030204" pitchFamily="34" charset="0"/>
                <a:cs typeface="Calibri" panose="020F0502020204030204" pitchFamily="34" charset="0"/>
              </a:rPr>
              <a:t>applystyles09.css</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create the following style rules: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4166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 Validate HTML and CSS files using W3C validator:</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D202B175-9595-303A-65D3-2053FD030659}"/>
              </a:ext>
            </a:extLst>
          </p:cNvPr>
          <p:cNvSpPr>
            <a:spLocks noChangeArrowheads="1"/>
          </p:cNvSpPr>
          <p:nvPr/>
        </p:nvSpPr>
        <p:spPr bwMode="auto">
          <a:xfrm>
            <a:off x="117987" y="1291247"/>
            <a:ext cx="11857703" cy="114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Use the W3C validator found at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3"/>
              </a:rPr>
              <a:t>validator.w3.org</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for HTML.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Use the W3C validator found at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4"/>
              </a:rPr>
              <a:t>jigsaw.w3.org/</a:t>
            </a:r>
            <a:r>
              <a:rPr kumimoji="0" lang="en-US" altLang="en-US" sz="24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hlinkClick r:id="rId4"/>
              </a:rPr>
              <a:t>css</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4"/>
              </a:rPr>
              <a:t>-validator</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for CSS. </a:t>
            </a:r>
          </a:p>
        </p:txBody>
      </p:sp>
    </p:spTree>
    <p:extLst>
      <p:ext uri="{BB962C8B-B14F-4D97-AF65-F5344CB8AC3E}">
        <p14:creationId xmlns:p14="http://schemas.microsoft.com/office/powerpoint/2010/main" val="10245575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6. Describe the purpose of using the table header elements: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D202B175-9595-303A-65D3-2053FD030659}"/>
              </a:ext>
            </a:extLst>
          </p:cNvPr>
          <p:cNvSpPr>
            <a:spLocks noChangeArrowheads="1"/>
          </p:cNvSpPr>
          <p:nvPr/>
        </p:nvSpPr>
        <p:spPr bwMode="auto">
          <a:xfrm>
            <a:off x="0" y="634011"/>
            <a:ext cx="11857703" cy="2251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Purpose: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 table header elements </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(&lt;</a:t>
            </a:r>
            <a:r>
              <a:rPr kumimoji="0" lang="en-US" altLang="en-US" sz="24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th</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&gt;)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are used to define header cells in the table, which are typically rendered in bold and centered by default. They provide a semantic meaning, indicating that the cells contain header information.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Styling: </a:t>
            </a:r>
            <a:r>
              <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To left-align the text in table header elements</a:t>
            </a:r>
          </a:p>
        </p:txBody>
      </p:sp>
      <p:sp>
        <p:nvSpPr>
          <p:cNvPr id="5" name="TextBox 4">
            <a:extLst>
              <a:ext uri="{FF2B5EF4-FFF2-40B4-BE49-F238E27FC236}">
                <a16:creationId xmlns:a16="http://schemas.microsoft.com/office/drawing/2014/main" id="{9EB23E0A-9881-8874-FBD5-41C054FE42EA}"/>
              </a:ext>
            </a:extLst>
          </p:cNvPr>
          <p:cNvSpPr txBox="1"/>
          <p:nvPr/>
        </p:nvSpPr>
        <p:spPr>
          <a:xfrm>
            <a:off x="110611" y="3429000"/>
            <a:ext cx="11747091" cy="1695016"/>
          </a:xfrm>
          <a:prstGeom prst="rect">
            <a:avLst/>
          </a:prstGeom>
          <a:solidFill>
            <a:schemeClr val="tx1"/>
          </a:solidFill>
        </p:spPr>
        <p:txBody>
          <a:bodyPr wrap="square">
            <a:spAutoFit/>
          </a:bodyPr>
          <a:lstStyle/>
          <a:p>
            <a:pPr>
              <a:lnSpc>
                <a:spcPct val="150000"/>
              </a:lnSpc>
            </a:pPr>
            <a:r>
              <a:rPr lang="en-US" sz="2400" b="0" dirty="0" err="1">
                <a:solidFill>
                  <a:srgbClr val="D7BA7D"/>
                </a:solidFill>
                <a:effectLst/>
                <a:highlight>
                  <a:srgbClr val="000000"/>
                </a:highlight>
                <a:latin typeface="Consolas" panose="020B0609020204030204" pitchFamily="49" charset="0"/>
              </a:rPr>
              <a:t>th</a:t>
            </a:r>
            <a:r>
              <a:rPr lang="en-US" sz="2400" b="0" dirty="0">
                <a:solidFill>
                  <a:srgbClr val="CCCCCC"/>
                </a:solidFill>
                <a:effectLst/>
                <a:highlight>
                  <a:srgbClr val="000000"/>
                </a:highlight>
                <a:latin typeface="Consolas" panose="020B0609020204030204" pitchFamily="49" charset="0"/>
              </a:rPr>
              <a:t> {</a:t>
            </a:r>
          </a:p>
          <a:p>
            <a:pPr>
              <a:lnSpc>
                <a:spcPct val="150000"/>
              </a:lnSpc>
            </a:pPr>
            <a:r>
              <a:rPr lang="en-US" sz="2400" b="0" dirty="0">
                <a:solidFill>
                  <a:srgbClr val="CCCCCC"/>
                </a:solidFill>
                <a:effectLst/>
                <a:highlight>
                  <a:srgbClr val="000000"/>
                </a:highlight>
                <a:latin typeface="Consolas" panose="020B0609020204030204" pitchFamily="49" charset="0"/>
              </a:rPr>
              <a:t>    </a:t>
            </a:r>
            <a:r>
              <a:rPr lang="en-US" sz="2400" b="0" dirty="0">
                <a:solidFill>
                  <a:srgbClr val="9CDCFE"/>
                </a:solidFill>
                <a:effectLst/>
                <a:highlight>
                  <a:srgbClr val="000000"/>
                </a:highlight>
                <a:latin typeface="Consolas" panose="020B0609020204030204" pitchFamily="49" charset="0"/>
              </a:rPr>
              <a:t>text-align</a:t>
            </a:r>
            <a:r>
              <a:rPr lang="en-US" sz="2400" b="0" dirty="0">
                <a:solidFill>
                  <a:srgbClr val="CCCCCC"/>
                </a:solidFill>
                <a:effectLst/>
                <a:highlight>
                  <a:srgbClr val="000000"/>
                </a:highlight>
                <a:latin typeface="Consolas" panose="020B0609020204030204" pitchFamily="49" charset="0"/>
              </a:rPr>
              <a:t>: </a:t>
            </a:r>
            <a:r>
              <a:rPr lang="en-US" sz="2400" b="0" dirty="0">
                <a:solidFill>
                  <a:srgbClr val="CE9178"/>
                </a:solidFill>
                <a:effectLst/>
                <a:highlight>
                  <a:srgbClr val="000000"/>
                </a:highlight>
                <a:latin typeface="Consolas" panose="020B0609020204030204" pitchFamily="49" charset="0"/>
              </a:rPr>
              <a:t>left</a:t>
            </a:r>
            <a:r>
              <a:rPr lang="en-US" sz="2400" b="0" dirty="0">
                <a:solidFill>
                  <a:srgbClr val="CCCCCC"/>
                </a:solidFill>
                <a:effectLst/>
                <a:highlight>
                  <a:srgbClr val="000000"/>
                </a:highlight>
                <a:latin typeface="Consolas" panose="020B0609020204030204" pitchFamily="49" charset="0"/>
              </a:rPr>
              <a:t>;</a:t>
            </a:r>
          </a:p>
          <a:p>
            <a:pPr>
              <a:lnSpc>
                <a:spcPct val="150000"/>
              </a:lnSpc>
            </a:pPr>
            <a:r>
              <a:rPr lang="en-US" sz="2400" b="0" dirty="0">
                <a:solidFill>
                  <a:srgbClr val="CCCCCC"/>
                </a:solidFill>
                <a:effectLst/>
                <a:highlight>
                  <a:srgbClr val="000000"/>
                </a:highlight>
                <a:latin typeface="Consolas" panose="020B0609020204030204" pitchFamily="49" charset="0"/>
              </a:rPr>
              <a:t>}</a:t>
            </a:r>
          </a:p>
        </p:txBody>
      </p:sp>
    </p:spTree>
    <p:extLst>
      <p:ext uri="{BB962C8B-B14F-4D97-AF65-F5344CB8AC3E}">
        <p14:creationId xmlns:p14="http://schemas.microsoft.com/office/powerpoint/2010/main" val="11665398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C0EC96-797C-B361-B026-8A767E5CBBE1}"/>
              </a:ext>
            </a:extLst>
          </p:cNvPr>
          <p:cNvPicPr>
            <a:picLocks noChangeAspect="1"/>
          </p:cNvPicPr>
          <p:nvPr/>
        </p:nvPicPr>
        <p:blipFill rotWithShape="1">
          <a:blip r:embed="rId2"/>
          <a:srcRect t="7097" b="39139"/>
          <a:stretch/>
        </p:blipFill>
        <p:spPr>
          <a:xfrm>
            <a:off x="275303" y="3337416"/>
            <a:ext cx="11641394" cy="3520584"/>
          </a:xfrm>
          <a:prstGeom prst="rect">
            <a:avLst/>
          </a:prstGeom>
        </p:spPr>
      </p:pic>
      <p:pic>
        <p:nvPicPr>
          <p:cNvPr id="10" name="Picture 9">
            <a:extLst>
              <a:ext uri="{FF2B5EF4-FFF2-40B4-BE49-F238E27FC236}">
                <a16:creationId xmlns:a16="http://schemas.microsoft.com/office/drawing/2014/main" id="{E73F54DC-CA51-2328-BD7F-9B078CF3041F}"/>
              </a:ext>
            </a:extLst>
          </p:cNvPr>
          <p:cNvPicPr>
            <a:picLocks noChangeAspect="1"/>
          </p:cNvPicPr>
          <p:nvPr/>
        </p:nvPicPr>
        <p:blipFill rotWithShape="1">
          <a:blip r:embed="rId3"/>
          <a:srcRect r="45443" b="51335"/>
          <a:stretch/>
        </p:blipFill>
        <p:spPr>
          <a:xfrm>
            <a:off x="2770238" y="0"/>
            <a:ext cx="6651523" cy="3337416"/>
          </a:xfrm>
          <a:prstGeom prst="rect">
            <a:avLst/>
          </a:prstGeom>
        </p:spPr>
      </p:pic>
    </p:spTree>
    <p:extLst>
      <p:ext uri="{BB962C8B-B14F-4D97-AF65-F5344CB8AC3E}">
        <p14:creationId xmlns:p14="http://schemas.microsoft.com/office/powerpoint/2010/main" val="1285049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Weeks 8 – 9 Tutorial: Challenge 2 - Working with Form Elements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D202B175-9595-303A-65D3-2053FD030659}"/>
              </a:ext>
            </a:extLst>
          </p:cNvPr>
          <p:cNvSpPr>
            <a:spLocks noChangeArrowheads="1"/>
          </p:cNvSpPr>
          <p:nvPr/>
        </p:nvSpPr>
        <p:spPr bwMode="auto">
          <a:xfrm>
            <a:off x="0" y="911009"/>
            <a:ext cx="11857703" cy="1697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 Open form09.html in your text editor: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Add a title: </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User Registration Form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Link to </a:t>
            </a:r>
            <a:r>
              <a:rPr kumimoji="0" lang="en-US" altLang="en-US" sz="2400" b="1"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rPr>
              <a:t>styles09.cs</a:t>
            </a:r>
            <a:endParaRPr kumimoji="0" lang="en-US" altLang="en-US" sz="2400" b="0"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B23E0A-9881-8874-FBD5-41C054FE42EA}"/>
              </a:ext>
            </a:extLst>
          </p:cNvPr>
          <p:cNvSpPr txBox="1"/>
          <p:nvPr/>
        </p:nvSpPr>
        <p:spPr>
          <a:xfrm>
            <a:off x="110611" y="3429000"/>
            <a:ext cx="11747091" cy="830997"/>
          </a:xfrm>
          <a:prstGeom prst="rect">
            <a:avLst/>
          </a:prstGeom>
          <a:solidFill>
            <a:schemeClr val="tx1"/>
          </a:solidFill>
        </p:spPr>
        <p:txBody>
          <a:bodyPr wrap="square">
            <a:spAutoFit/>
          </a:bodyPr>
          <a:lstStyle/>
          <a:p>
            <a:r>
              <a:rPr lang="en-US" sz="2400" b="0" dirty="0">
                <a:solidFill>
                  <a:srgbClr val="CCCCCC"/>
                </a:solidFill>
                <a:effectLst/>
                <a:highlight>
                  <a:srgbClr val="1F1F1F"/>
                </a:highlight>
                <a:latin typeface="Consolas" panose="020B0609020204030204" pitchFamily="49" charset="0"/>
              </a:rPr>
              <a:t>&lt;</a:t>
            </a:r>
            <a:r>
              <a:rPr lang="en-US" sz="2400" b="0" dirty="0">
                <a:solidFill>
                  <a:srgbClr val="D7BA7D"/>
                </a:solidFill>
                <a:effectLst/>
                <a:highlight>
                  <a:srgbClr val="1F1F1F"/>
                </a:highlight>
                <a:latin typeface="Consolas" panose="020B0609020204030204" pitchFamily="49" charset="0"/>
              </a:rPr>
              <a:t>link</a:t>
            </a:r>
            <a:r>
              <a:rPr lang="en-US" sz="2400" b="0" dirty="0">
                <a:solidFill>
                  <a:srgbClr val="CCCCCC"/>
                </a:solidFill>
                <a:effectLst/>
                <a:highlight>
                  <a:srgbClr val="1F1F1F"/>
                </a:highlight>
                <a:latin typeface="Consolas" panose="020B0609020204030204" pitchFamily="49" charset="0"/>
              </a:rPr>
              <a:t> </a:t>
            </a:r>
            <a:r>
              <a:rPr lang="en-US" sz="2400" b="0" dirty="0" err="1">
                <a:solidFill>
                  <a:srgbClr val="CCCCCC"/>
                </a:solidFill>
                <a:effectLst/>
                <a:highlight>
                  <a:srgbClr val="1F1F1F"/>
                </a:highlight>
                <a:latin typeface="Consolas" panose="020B0609020204030204" pitchFamily="49" charset="0"/>
              </a:rPr>
              <a:t>rel</a:t>
            </a:r>
            <a:r>
              <a:rPr lang="en-US" sz="2400" b="0" dirty="0">
                <a:solidFill>
                  <a:srgbClr val="CCCCCC"/>
                </a:solidFill>
                <a:effectLst/>
                <a:highlight>
                  <a:srgbClr val="1F1F1F"/>
                </a:highlight>
                <a:latin typeface="Consolas" panose="020B0609020204030204" pitchFamily="49" charset="0"/>
              </a:rPr>
              <a:t>="stylesheet" </a:t>
            </a:r>
            <a:r>
              <a:rPr lang="en-US" sz="2400" b="0" dirty="0" err="1">
                <a:solidFill>
                  <a:srgbClr val="CCCCCC"/>
                </a:solidFill>
                <a:effectLst/>
                <a:highlight>
                  <a:srgbClr val="1F1F1F"/>
                </a:highlight>
                <a:latin typeface="Consolas" panose="020B0609020204030204" pitchFamily="49" charset="0"/>
              </a:rPr>
              <a:t>href</a:t>
            </a:r>
            <a:r>
              <a:rPr lang="en-US" sz="2400" b="0" dirty="0">
                <a:solidFill>
                  <a:srgbClr val="CCCCCC"/>
                </a:solidFill>
                <a:effectLst/>
                <a:highlight>
                  <a:srgbClr val="1F1F1F"/>
                </a:highlight>
                <a:latin typeface="Consolas" panose="020B0609020204030204" pitchFamily="49" charset="0"/>
              </a:rPr>
              <a:t>="styles09.css"</a:t>
            </a:r>
            <a:r>
              <a:rPr lang="en-US" sz="2400" b="0" dirty="0">
                <a:solidFill>
                  <a:srgbClr val="D4D4D4"/>
                </a:solidFill>
                <a:effectLst/>
                <a:highlight>
                  <a:srgbClr val="1F1F1F"/>
                </a:highlight>
                <a:latin typeface="Consolas" panose="020B0609020204030204" pitchFamily="49" charset="0"/>
              </a:rPr>
              <a:t>&gt;</a:t>
            </a:r>
            <a:endParaRPr lang="en-US" sz="2400" b="0" dirty="0">
              <a:solidFill>
                <a:srgbClr val="CCCCCC"/>
              </a:solidFill>
              <a:effectLst/>
              <a:highlight>
                <a:srgbClr val="1F1F1F"/>
              </a:highlight>
              <a:latin typeface="Consolas" panose="020B0609020204030204" pitchFamily="49" charset="0"/>
            </a:endParaRPr>
          </a:p>
          <a:p>
            <a:endParaRPr lang="en-US" sz="24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9184323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Weeks 8 – 9 Tutorial: Challenge 2 - Working with Form Elements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D202B175-9595-303A-65D3-2053FD030659}"/>
              </a:ext>
            </a:extLst>
          </p:cNvPr>
          <p:cNvSpPr>
            <a:spLocks noChangeArrowheads="1"/>
          </p:cNvSpPr>
          <p:nvPr/>
        </p:nvSpPr>
        <p:spPr bwMode="auto">
          <a:xfrm>
            <a:off x="0" y="1465007"/>
            <a:ext cx="11857703"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Modify the comment at the top</a:t>
            </a:r>
            <a:endParaRPr kumimoji="0" lang="en-US" altLang="en-US" sz="2400" b="0"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B23E0A-9881-8874-FBD5-41C054FE42EA}"/>
              </a:ext>
            </a:extLst>
          </p:cNvPr>
          <p:cNvSpPr txBox="1"/>
          <p:nvPr/>
        </p:nvSpPr>
        <p:spPr>
          <a:xfrm>
            <a:off x="55305" y="2504838"/>
            <a:ext cx="11747091" cy="830997"/>
          </a:xfrm>
          <a:prstGeom prst="rect">
            <a:avLst/>
          </a:prstGeom>
          <a:solidFill>
            <a:schemeClr val="tx1"/>
          </a:solidFill>
        </p:spPr>
        <p:txBody>
          <a:bodyPr wrap="square">
            <a:spAutoFit/>
          </a:bodyPr>
          <a:lstStyle/>
          <a:p>
            <a:r>
              <a:rPr lang="en-US" sz="2400" b="0" dirty="0">
                <a:solidFill>
                  <a:srgbClr val="CCCCCC"/>
                </a:solidFill>
                <a:effectLst/>
                <a:highlight>
                  <a:srgbClr val="1F1F1F"/>
                </a:highlight>
                <a:latin typeface="Consolas" panose="020B0609020204030204" pitchFamily="49" charset="0"/>
              </a:rPr>
              <a:t>&lt;!-- This website </a:t>
            </a:r>
            <a:r>
              <a:rPr lang="en-US" sz="2400" b="0" dirty="0">
                <a:solidFill>
                  <a:srgbClr val="D7BA7D"/>
                </a:solidFill>
                <a:effectLst/>
                <a:highlight>
                  <a:srgbClr val="1F1F1F"/>
                </a:highlight>
                <a:latin typeface="Consolas" panose="020B0609020204030204" pitchFamily="49" charset="0"/>
              </a:rPr>
              <a:t>template</a:t>
            </a:r>
            <a:r>
              <a:rPr lang="en-US" sz="2400" b="0" dirty="0">
                <a:solidFill>
                  <a:srgbClr val="CCCCCC"/>
                </a:solidFill>
                <a:effectLst/>
                <a:highlight>
                  <a:srgbClr val="1F1F1F"/>
                </a:highlight>
                <a:latin typeface="Consolas" panose="020B0609020204030204" pitchFamily="49" charset="0"/>
              </a:rPr>
              <a:t> was created by: Mayer Alvarez </a:t>
            </a:r>
            <a:r>
              <a:rPr lang="en-US" sz="2400" b="0" dirty="0" err="1">
                <a:solidFill>
                  <a:srgbClr val="CCCCCC"/>
                </a:solidFill>
                <a:effectLst/>
                <a:highlight>
                  <a:srgbClr val="1F1F1F"/>
                </a:highlight>
                <a:latin typeface="Consolas" panose="020B0609020204030204" pitchFamily="49" charset="0"/>
              </a:rPr>
              <a:t>Vivanco</a:t>
            </a:r>
            <a:r>
              <a:rPr lang="en-US" sz="2400" b="0" dirty="0">
                <a:solidFill>
                  <a:srgbClr val="CCCCCC"/>
                </a:solidFill>
                <a:effectLst/>
                <a:highlight>
                  <a:srgbClr val="1F1F1F"/>
                </a:highlight>
                <a:latin typeface="Consolas" panose="020B0609020204030204" pitchFamily="49" charset="0"/>
              </a:rPr>
              <a:t>, Today'</a:t>
            </a:r>
            <a:r>
              <a:rPr lang="en-US" sz="2400" b="0" dirty="0">
                <a:solidFill>
                  <a:srgbClr val="D7BA7D"/>
                </a:solidFill>
                <a:effectLst/>
                <a:highlight>
                  <a:srgbClr val="1F1F1F"/>
                </a:highlight>
                <a:latin typeface="Consolas" panose="020B0609020204030204" pitchFamily="49" charset="0"/>
              </a:rPr>
              <a:t>s</a:t>
            </a:r>
            <a:r>
              <a:rPr lang="en-US" sz="2400" b="0" dirty="0">
                <a:solidFill>
                  <a:srgbClr val="CCCCCC"/>
                </a:solidFill>
                <a:effectLst/>
                <a:highlight>
                  <a:srgbClr val="1F1F1F"/>
                </a:highlight>
                <a:latin typeface="Consolas" panose="020B0609020204030204" pitchFamily="49" charset="0"/>
              </a:rPr>
              <a:t> Date --</a:t>
            </a:r>
            <a:r>
              <a:rPr lang="en-US" sz="2400" b="0" dirty="0">
                <a:solidFill>
                  <a:srgbClr val="D4D4D4"/>
                </a:solidFill>
                <a:effectLst/>
                <a:highlight>
                  <a:srgbClr val="1F1F1F"/>
                </a:highlight>
                <a:latin typeface="Consolas" panose="020B0609020204030204" pitchFamily="49" charset="0"/>
              </a:rPr>
              <a:t>&gt;</a:t>
            </a:r>
            <a:endParaRPr lang="en-US" sz="24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23384650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Weeks 8 – 9 Tutorial: Challenge 2 - Working with Form Elements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D202B175-9595-303A-65D3-2053FD030659}"/>
              </a:ext>
            </a:extLst>
          </p:cNvPr>
          <p:cNvSpPr>
            <a:spLocks noChangeArrowheads="1"/>
          </p:cNvSpPr>
          <p:nvPr/>
        </p:nvSpPr>
        <p:spPr bwMode="auto">
          <a:xfrm>
            <a:off x="0" y="1465007"/>
            <a:ext cx="11857703"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Replace “Student’s Name” with “Mayer Alvarez </a:t>
            </a:r>
            <a:r>
              <a:rPr kumimoji="0" lang="en-US" altLang="en-US" sz="240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Vivanco</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in the footer</a:t>
            </a:r>
            <a:endParaRPr kumimoji="0" lang="en-US" altLang="en-US" sz="2400" b="0"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B23E0A-9881-8874-FBD5-41C054FE42EA}"/>
              </a:ext>
            </a:extLst>
          </p:cNvPr>
          <p:cNvSpPr txBox="1"/>
          <p:nvPr/>
        </p:nvSpPr>
        <p:spPr>
          <a:xfrm>
            <a:off x="55305" y="2504838"/>
            <a:ext cx="11747091" cy="1200329"/>
          </a:xfrm>
          <a:prstGeom prst="rect">
            <a:avLst/>
          </a:prstGeom>
          <a:solidFill>
            <a:schemeClr val="tx1"/>
          </a:solidFill>
        </p:spPr>
        <p:txBody>
          <a:bodyPr wrap="square">
            <a:spAutoFit/>
          </a:bodyPr>
          <a:lstStyle/>
          <a:p>
            <a:r>
              <a:rPr lang="en-US" sz="2400" b="0" dirty="0">
                <a:solidFill>
                  <a:srgbClr val="CCCCCC"/>
                </a:solidFill>
                <a:effectLst/>
                <a:highlight>
                  <a:srgbClr val="1F1F1F"/>
                </a:highlight>
                <a:latin typeface="Consolas" panose="020B0609020204030204" pitchFamily="49" charset="0"/>
              </a:rPr>
              <a:t>&lt;</a:t>
            </a:r>
            <a:r>
              <a:rPr lang="en-US" sz="2400" b="0" dirty="0">
                <a:solidFill>
                  <a:srgbClr val="D7BA7D"/>
                </a:solidFill>
                <a:effectLst/>
                <a:highlight>
                  <a:srgbClr val="1F1F1F"/>
                </a:highlight>
                <a:latin typeface="Consolas" panose="020B0609020204030204" pitchFamily="49" charset="0"/>
              </a:rPr>
              <a:t>footer</a:t>
            </a:r>
            <a:r>
              <a:rPr lang="en-US" sz="2400" b="0" dirty="0">
                <a:solidFill>
                  <a:srgbClr val="D4D4D4"/>
                </a:solidFill>
                <a:effectLst/>
                <a:highlight>
                  <a:srgbClr val="1F1F1F"/>
                </a:highlight>
                <a:latin typeface="Consolas" panose="020B0609020204030204" pitchFamily="49" charset="0"/>
              </a:rPr>
              <a:t>&gt;</a:t>
            </a:r>
            <a:endParaRPr lang="en-US" sz="2400" b="0" dirty="0">
              <a:solidFill>
                <a:srgbClr val="CCCCCC"/>
              </a:solidFill>
              <a:effectLst/>
              <a:highlight>
                <a:srgbClr val="1F1F1F"/>
              </a:highlight>
              <a:latin typeface="Consolas" panose="020B0609020204030204" pitchFamily="49" charset="0"/>
            </a:endParaRPr>
          </a:p>
          <a:p>
            <a:r>
              <a:rPr lang="en-US" sz="2400" b="0" dirty="0">
                <a:solidFill>
                  <a:srgbClr val="CCCCCC"/>
                </a:solidFill>
                <a:effectLst/>
                <a:highlight>
                  <a:srgbClr val="1F1F1F"/>
                </a:highlight>
                <a:latin typeface="Consolas" panose="020B0609020204030204" pitchFamily="49" charset="0"/>
              </a:rPr>
              <a:t>    &lt;</a:t>
            </a:r>
            <a:r>
              <a:rPr lang="en-US" sz="2400" b="0" dirty="0">
                <a:solidFill>
                  <a:srgbClr val="D7BA7D"/>
                </a:solidFill>
                <a:effectLst/>
                <a:highlight>
                  <a:srgbClr val="1F1F1F"/>
                </a:highlight>
                <a:latin typeface="Consolas" panose="020B0609020204030204" pitchFamily="49" charset="0"/>
              </a:rPr>
              <a:t>p</a:t>
            </a:r>
            <a:r>
              <a:rPr lang="en-US" sz="2400" b="0" dirty="0">
                <a:solidFill>
                  <a:srgbClr val="D4D4D4"/>
                </a:solidFill>
                <a:effectLst/>
                <a:highlight>
                  <a:srgbClr val="1F1F1F"/>
                </a:highlight>
                <a:latin typeface="Consolas" panose="020B0609020204030204" pitchFamily="49" charset="0"/>
              </a:rPr>
              <a:t>&gt;</a:t>
            </a:r>
            <a:r>
              <a:rPr lang="en-US" sz="2400" b="0" dirty="0">
                <a:solidFill>
                  <a:srgbClr val="CCCCCC"/>
                </a:solidFill>
                <a:effectLst/>
                <a:highlight>
                  <a:srgbClr val="1F1F1F"/>
                </a:highlight>
                <a:latin typeface="Consolas" panose="020B0609020204030204" pitchFamily="49" charset="0"/>
              </a:rPr>
              <a:t>Designed by: Mayer Alvarez </a:t>
            </a:r>
            <a:r>
              <a:rPr lang="en-US" sz="2400" b="0" dirty="0" err="1">
                <a:solidFill>
                  <a:srgbClr val="CCCCCC"/>
                </a:solidFill>
                <a:effectLst/>
                <a:highlight>
                  <a:srgbClr val="1F1F1F"/>
                </a:highlight>
                <a:latin typeface="Consolas" panose="020B0609020204030204" pitchFamily="49" charset="0"/>
              </a:rPr>
              <a:t>Vivanco</a:t>
            </a:r>
            <a:r>
              <a:rPr lang="en-US" sz="2400" b="0" dirty="0">
                <a:solidFill>
                  <a:srgbClr val="CCCCCC"/>
                </a:solidFill>
                <a:effectLst/>
                <a:highlight>
                  <a:srgbClr val="1F1F1F"/>
                </a:highlight>
                <a:latin typeface="Consolas" panose="020B0609020204030204" pitchFamily="49" charset="0"/>
              </a:rPr>
              <a:t>&lt;/</a:t>
            </a:r>
            <a:r>
              <a:rPr lang="en-US" sz="2400" b="0" dirty="0">
                <a:solidFill>
                  <a:srgbClr val="D7BA7D"/>
                </a:solidFill>
                <a:effectLst/>
                <a:highlight>
                  <a:srgbClr val="1F1F1F"/>
                </a:highlight>
                <a:latin typeface="Consolas" panose="020B0609020204030204" pitchFamily="49" charset="0"/>
              </a:rPr>
              <a:t>p</a:t>
            </a:r>
            <a:r>
              <a:rPr lang="en-US" sz="2400" b="0" dirty="0">
                <a:solidFill>
                  <a:srgbClr val="D4D4D4"/>
                </a:solidFill>
                <a:effectLst/>
                <a:highlight>
                  <a:srgbClr val="1F1F1F"/>
                </a:highlight>
                <a:latin typeface="Consolas" panose="020B0609020204030204" pitchFamily="49" charset="0"/>
              </a:rPr>
              <a:t>&gt;</a:t>
            </a:r>
            <a:endParaRPr lang="en-US" sz="2400" b="0" dirty="0">
              <a:solidFill>
                <a:srgbClr val="CCCCCC"/>
              </a:solidFill>
              <a:effectLst/>
              <a:highlight>
                <a:srgbClr val="1F1F1F"/>
              </a:highlight>
              <a:latin typeface="Consolas" panose="020B0609020204030204" pitchFamily="49" charset="0"/>
            </a:endParaRPr>
          </a:p>
          <a:p>
            <a:r>
              <a:rPr lang="en-US" sz="2400" b="0" dirty="0">
                <a:solidFill>
                  <a:srgbClr val="CCCCCC"/>
                </a:solidFill>
                <a:effectLst/>
                <a:highlight>
                  <a:srgbClr val="1F1F1F"/>
                </a:highlight>
                <a:latin typeface="Consolas" panose="020B0609020204030204" pitchFamily="49" charset="0"/>
              </a:rPr>
              <a:t>&lt;/</a:t>
            </a:r>
            <a:r>
              <a:rPr lang="en-US" sz="2400" b="0" dirty="0">
                <a:solidFill>
                  <a:srgbClr val="D7BA7D"/>
                </a:solidFill>
                <a:effectLst/>
                <a:highlight>
                  <a:srgbClr val="1F1F1F"/>
                </a:highlight>
                <a:latin typeface="Consolas" panose="020B0609020204030204" pitchFamily="49" charset="0"/>
              </a:rPr>
              <a:t>footer</a:t>
            </a:r>
            <a:r>
              <a:rPr lang="en-US" sz="2400" b="0" dirty="0">
                <a:solidFill>
                  <a:srgbClr val="D4D4D4"/>
                </a:solidFill>
                <a:effectLst/>
                <a:highlight>
                  <a:srgbClr val="1F1F1F"/>
                </a:highlight>
                <a:latin typeface="Consolas" panose="020B0609020204030204" pitchFamily="49" charset="0"/>
              </a:rPr>
              <a:t>&gt;</a:t>
            </a:r>
            <a:endParaRPr lang="en-US" sz="24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30221824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Weeks 8 – 9 Tutorial: Challenge 2 - Working with Form Elements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D202B175-9595-303A-65D3-2053FD030659}"/>
              </a:ext>
            </a:extLst>
          </p:cNvPr>
          <p:cNvSpPr>
            <a:spLocks noChangeArrowheads="1"/>
          </p:cNvSpPr>
          <p:nvPr/>
        </p:nvSpPr>
        <p:spPr bwMode="auto">
          <a:xfrm>
            <a:off x="55305" y="425176"/>
            <a:ext cx="11857703"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 Create the form within the main element:</a:t>
            </a:r>
            <a:endParaRPr kumimoji="0" lang="en-US" altLang="en-US" sz="2400" b="1"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B23E0A-9881-8874-FBD5-41C054FE42EA}"/>
              </a:ext>
            </a:extLst>
          </p:cNvPr>
          <p:cNvSpPr txBox="1"/>
          <p:nvPr/>
        </p:nvSpPr>
        <p:spPr>
          <a:xfrm>
            <a:off x="0" y="1102578"/>
            <a:ext cx="12192000" cy="5755422"/>
          </a:xfrm>
          <a:prstGeom prst="rect">
            <a:avLst/>
          </a:prstGeom>
          <a:solidFill>
            <a:schemeClr val="tx1"/>
          </a:solidFill>
        </p:spPr>
        <p:txBody>
          <a:bodyPr wrap="square">
            <a:spAutoFit/>
          </a:bodyPr>
          <a:lstStyle/>
          <a:p>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main</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form</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action</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a:t>
            </a:r>
            <a:r>
              <a:rPr lang="en-US" sz="1600" b="0" dirty="0" err="1">
                <a:solidFill>
                  <a:srgbClr val="CE9178"/>
                </a:solidFill>
                <a:effectLst/>
                <a:highlight>
                  <a:srgbClr val="1F1F1F"/>
                </a:highlight>
                <a:latin typeface="Consolas" panose="020B0609020204030204" pitchFamily="49" charset="0"/>
              </a:rPr>
              <a:t>submit_form.php</a:t>
            </a:r>
            <a:r>
              <a:rPr lang="en-US" sz="1600" b="0" dirty="0">
                <a:solidFill>
                  <a:srgbClr val="CE9178"/>
                </a:solidFill>
                <a:effectLst/>
                <a:highlight>
                  <a:srgbClr val="1F1F1F"/>
                </a:highlight>
                <a:latin typeface="Consolas" panose="020B0609020204030204" pitchFamily="49" charset="0"/>
              </a:rPr>
              <a:t>"</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method</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"post"</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for</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"username"</a:t>
            </a:r>
            <a:r>
              <a:rPr lang="en-US" sz="1600" b="0" dirty="0">
                <a:solidFill>
                  <a:srgbClr val="808080"/>
                </a:solidFill>
                <a:effectLst/>
                <a:highlight>
                  <a:srgbClr val="1F1F1F"/>
                </a:highlight>
                <a:latin typeface="Consolas" panose="020B0609020204030204" pitchFamily="49" charset="0"/>
              </a:rPr>
              <a:t>&gt;</a:t>
            </a:r>
            <a:r>
              <a:rPr lang="en-US" sz="1600" b="0" dirty="0">
                <a:solidFill>
                  <a:srgbClr val="CCCCCC"/>
                </a:solidFill>
                <a:effectLst/>
                <a:highlight>
                  <a:srgbClr val="1F1F1F"/>
                </a:highlight>
                <a:latin typeface="Consolas" panose="020B0609020204030204" pitchFamily="49" charset="0"/>
              </a:rPr>
              <a:t>Username:</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"text"</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id</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"username"</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name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"username"</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required</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for</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"password"</a:t>
            </a:r>
            <a:r>
              <a:rPr lang="en-US" sz="1600" b="0" dirty="0">
                <a:solidFill>
                  <a:srgbClr val="808080"/>
                </a:solidFill>
                <a:effectLst/>
                <a:highlight>
                  <a:srgbClr val="1F1F1F"/>
                </a:highlight>
                <a:latin typeface="Consolas" panose="020B0609020204030204" pitchFamily="49" charset="0"/>
              </a:rPr>
              <a:t>&gt;</a:t>
            </a:r>
            <a:r>
              <a:rPr lang="en-US" sz="1600" b="0" dirty="0">
                <a:solidFill>
                  <a:srgbClr val="CCCCCC"/>
                </a:solidFill>
                <a:effectLst/>
                <a:highlight>
                  <a:srgbClr val="1F1F1F"/>
                </a:highlight>
                <a:latin typeface="Consolas" panose="020B0609020204030204" pitchFamily="49" charset="0"/>
              </a:rPr>
              <a:t>Password:</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"password"</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id</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"password"</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name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"password"</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required</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for</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"dob"</a:t>
            </a:r>
            <a:r>
              <a:rPr lang="en-US" sz="1600" b="0" dirty="0">
                <a:solidFill>
                  <a:srgbClr val="808080"/>
                </a:solidFill>
                <a:effectLst/>
                <a:highlight>
                  <a:srgbClr val="1F1F1F"/>
                </a:highlight>
                <a:latin typeface="Consolas" panose="020B0609020204030204" pitchFamily="49" charset="0"/>
              </a:rPr>
              <a:t>&gt;</a:t>
            </a:r>
            <a:r>
              <a:rPr lang="en-US" sz="1600" b="0" dirty="0">
                <a:solidFill>
                  <a:srgbClr val="CCCCCC"/>
                </a:solidFill>
                <a:effectLst/>
                <a:highlight>
                  <a:srgbClr val="1F1F1F"/>
                </a:highlight>
                <a:latin typeface="Consolas" panose="020B0609020204030204" pitchFamily="49" charset="0"/>
              </a:rPr>
              <a:t>Date of Birth:</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"date"</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id</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"dob"</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name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"dob"</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required</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p</a:t>
            </a:r>
            <a:r>
              <a:rPr lang="en-US" sz="1600" b="0" dirty="0">
                <a:solidFill>
                  <a:srgbClr val="808080"/>
                </a:solidFill>
                <a:effectLst/>
                <a:highlight>
                  <a:srgbClr val="1F1F1F"/>
                </a:highlight>
                <a:latin typeface="Consolas" panose="020B0609020204030204" pitchFamily="49" charset="0"/>
              </a:rPr>
              <a:t>&gt;</a:t>
            </a:r>
            <a:r>
              <a:rPr lang="en-US" sz="1600" b="0" dirty="0">
                <a:solidFill>
                  <a:srgbClr val="CCCCCC"/>
                </a:solidFill>
                <a:effectLst/>
                <a:highlight>
                  <a:srgbClr val="1F1F1F"/>
                </a:highlight>
                <a:latin typeface="Consolas" panose="020B0609020204030204" pitchFamily="49" charset="0"/>
              </a:rPr>
              <a:t>Upload your file here</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p</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"file"</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name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"file"</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size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"20"</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p</a:t>
            </a:r>
            <a:r>
              <a:rPr lang="en-US" sz="1600" b="0" dirty="0">
                <a:solidFill>
                  <a:srgbClr val="808080"/>
                </a:solidFill>
                <a:effectLst/>
                <a:highlight>
                  <a:srgbClr val="1F1F1F"/>
                </a:highlight>
                <a:latin typeface="Consolas" panose="020B0609020204030204" pitchFamily="49" charset="0"/>
              </a:rPr>
              <a:t>&gt;</a:t>
            </a:r>
            <a:r>
              <a:rPr lang="en-US" sz="1600" b="0" dirty="0">
                <a:solidFill>
                  <a:srgbClr val="CCCCCC"/>
                </a:solidFill>
                <a:effectLst/>
                <a:highlight>
                  <a:srgbClr val="1F1F1F"/>
                </a:highlight>
                <a:latin typeface="Consolas" panose="020B0609020204030204" pitchFamily="49" charset="0"/>
              </a:rPr>
              <a:t>Example of Radio Buttons</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p</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"radio"</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id</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"option1"</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name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"option"</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value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"1"</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for</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"option1"</a:t>
            </a:r>
            <a:r>
              <a:rPr lang="en-US" sz="1600" b="0" dirty="0">
                <a:solidFill>
                  <a:srgbClr val="808080"/>
                </a:solidFill>
                <a:effectLst/>
                <a:highlight>
                  <a:srgbClr val="1F1F1F"/>
                </a:highlight>
                <a:latin typeface="Consolas" panose="020B0609020204030204" pitchFamily="49" charset="0"/>
              </a:rPr>
              <a:t>&gt;</a:t>
            </a:r>
            <a:r>
              <a:rPr lang="en-US" sz="1600" b="0" dirty="0">
                <a:solidFill>
                  <a:srgbClr val="CCCCCC"/>
                </a:solidFill>
                <a:effectLst/>
                <a:highlight>
                  <a:srgbClr val="1F1F1F"/>
                </a:highlight>
                <a:latin typeface="Consolas" panose="020B0609020204030204" pitchFamily="49" charset="0"/>
              </a:rPr>
              <a:t>Option 1</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"radio"</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id</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"option2"</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name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"option"</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value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"2"</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for</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"option2"</a:t>
            </a:r>
            <a:r>
              <a:rPr lang="en-US" sz="1600" b="0" dirty="0">
                <a:solidFill>
                  <a:srgbClr val="808080"/>
                </a:solidFill>
                <a:effectLst/>
                <a:highlight>
                  <a:srgbClr val="1F1F1F"/>
                </a:highlight>
                <a:latin typeface="Consolas" panose="020B0609020204030204" pitchFamily="49" charset="0"/>
              </a:rPr>
              <a:t>&gt;</a:t>
            </a:r>
            <a:r>
              <a:rPr lang="en-US" sz="1600" b="0" dirty="0">
                <a:solidFill>
                  <a:srgbClr val="CCCCCC"/>
                </a:solidFill>
                <a:effectLst/>
                <a:highlight>
                  <a:srgbClr val="1F1F1F"/>
                </a:highlight>
                <a:latin typeface="Consolas" panose="020B0609020204030204" pitchFamily="49" charset="0"/>
              </a:rPr>
              <a:t>Option 2</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"radio"</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id</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"option3"</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name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"option"</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value</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"3"</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for</a:t>
            </a:r>
            <a:r>
              <a:rPr lang="en-US" sz="1600" b="0" dirty="0">
                <a:solidFill>
                  <a:srgbClr val="CCCCCC"/>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"option3"</a:t>
            </a:r>
            <a:r>
              <a:rPr lang="en-US" sz="1600" b="0" dirty="0">
                <a:solidFill>
                  <a:srgbClr val="808080"/>
                </a:solidFill>
                <a:effectLst/>
                <a:highlight>
                  <a:srgbClr val="1F1F1F"/>
                </a:highlight>
                <a:latin typeface="Consolas" panose="020B0609020204030204" pitchFamily="49" charset="0"/>
              </a:rPr>
              <a:t>&gt;</a:t>
            </a:r>
            <a:r>
              <a:rPr lang="en-US" sz="1600" b="0" dirty="0">
                <a:solidFill>
                  <a:srgbClr val="CCCCCC"/>
                </a:solidFill>
                <a:effectLst/>
                <a:highlight>
                  <a:srgbClr val="1F1F1F"/>
                </a:highlight>
                <a:latin typeface="Consolas" panose="020B0609020204030204" pitchFamily="49" charset="0"/>
              </a:rPr>
              <a:t>Option 3</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label</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form</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808080"/>
                </a:solidFill>
                <a:effectLst/>
                <a:highlight>
                  <a:srgbClr val="1F1F1F"/>
                </a:highlight>
                <a:latin typeface="Consolas" panose="020B0609020204030204" pitchFamily="49" charset="0"/>
              </a:rPr>
              <a:t>&lt;/</a:t>
            </a:r>
            <a:r>
              <a:rPr lang="en-US" sz="1600" b="0" dirty="0">
                <a:solidFill>
                  <a:srgbClr val="569CD6"/>
                </a:solidFill>
                <a:effectLst/>
                <a:highlight>
                  <a:srgbClr val="1F1F1F"/>
                </a:highlight>
                <a:latin typeface="Consolas" panose="020B0609020204030204" pitchFamily="49" charset="0"/>
              </a:rPr>
              <a:t>main</a:t>
            </a:r>
            <a:r>
              <a:rPr lang="en-US" sz="1600" b="0" dirty="0">
                <a:solidFill>
                  <a:srgbClr val="808080"/>
                </a:solidFill>
                <a:effectLst/>
                <a:highlight>
                  <a:srgbClr val="1F1F1F"/>
                </a:highlight>
                <a:latin typeface="Consolas" panose="020B0609020204030204" pitchFamily="49" charset="0"/>
              </a:rPr>
              <a:t>&gt;</a:t>
            </a:r>
            <a:endParaRPr lang="en-US" sz="16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19953978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Weeks 8 – 9 Tutorial: Challenge 2 - Working with Form Elements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D202B175-9595-303A-65D3-2053FD030659}"/>
              </a:ext>
            </a:extLst>
          </p:cNvPr>
          <p:cNvSpPr>
            <a:spLocks noChangeArrowheads="1"/>
          </p:cNvSpPr>
          <p:nvPr/>
        </p:nvSpPr>
        <p:spPr bwMode="auto">
          <a:xfrm>
            <a:off x="55305" y="425176"/>
            <a:ext cx="11857703"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 In </a:t>
            </a:r>
            <a:r>
              <a:rPr kumimoji="0" lang="en-US" altLang="en-US" sz="2400" b="1"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rPr>
              <a:t>styles09.css</a:t>
            </a: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create style rules for form elements:</a:t>
            </a:r>
            <a:endParaRPr kumimoji="0" lang="en-US" altLang="en-US" sz="2400" b="1"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B23E0A-9881-8874-FBD5-41C054FE42EA}"/>
              </a:ext>
            </a:extLst>
          </p:cNvPr>
          <p:cNvSpPr txBox="1"/>
          <p:nvPr/>
        </p:nvSpPr>
        <p:spPr>
          <a:xfrm>
            <a:off x="0" y="1348800"/>
            <a:ext cx="12192000" cy="5509200"/>
          </a:xfrm>
          <a:prstGeom prst="rect">
            <a:avLst/>
          </a:prstGeom>
          <a:solidFill>
            <a:schemeClr val="tx1"/>
          </a:solidFill>
        </p:spPr>
        <p:txBody>
          <a:bodyPr wrap="square">
            <a:spAutoFit/>
          </a:bodyPr>
          <a:lstStyle/>
          <a:p>
            <a:r>
              <a:rPr lang="en-US" sz="1600" b="0" dirty="0">
                <a:solidFill>
                  <a:srgbClr val="6A9955"/>
                </a:solidFill>
                <a:effectLst/>
                <a:highlight>
                  <a:srgbClr val="1F1F1F"/>
                </a:highlight>
                <a:latin typeface="Consolas" panose="020B0609020204030204" pitchFamily="49" charset="0"/>
              </a:rPr>
              <a:t>/* Style for form elements */</a:t>
            </a:r>
            <a:endParaRPr lang="en-US" sz="1600" b="0" dirty="0">
              <a:solidFill>
                <a:srgbClr val="CCCCCC"/>
              </a:solidFill>
              <a:effectLst/>
              <a:highlight>
                <a:srgbClr val="1F1F1F"/>
              </a:highlight>
              <a:latin typeface="Consolas" panose="020B0609020204030204" pitchFamily="49" charset="0"/>
            </a:endParaRPr>
          </a:p>
          <a:p>
            <a:r>
              <a:rPr lang="en-US" sz="1600" b="0" dirty="0">
                <a:solidFill>
                  <a:srgbClr val="D7BA7D"/>
                </a:solidFill>
                <a:effectLst/>
                <a:highlight>
                  <a:srgbClr val="1F1F1F"/>
                </a:highlight>
                <a:latin typeface="Consolas" panose="020B0609020204030204" pitchFamily="49" charset="0"/>
              </a:rPr>
              <a:t>form</a:t>
            </a:r>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width</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50%</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margin</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auto</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padding</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1em</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background-color</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#f9f9f9</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border</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1px</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solid</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#ccc</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a:t>
            </a:r>
          </a:p>
          <a:p>
            <a:r>
              <a:rPr lang="en-US" sz="1600" b="0" dirty="0">
                <a:solidFill>
                  <a:srgbClr val="D7BA7D"/>
                </a:solidFill>
                <a:effectLst/>
                <a:highlight>
                  <a:srgbClr val="1F1F1F"/>
                </a:highlight>
                <a:latin typeface="Consolas" panose="020B0609020204030204" pitchFamily="49" charset="0"/>
              </a:rPr>
              <a:t>form</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label</a:t>
            </a:r>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display</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block</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margin-top</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1em</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a:t>
            </a:r>
          </a:p>
          <a:p>
            <a:r>
              <a:rPr lang="en-US" sz="1600" b="0" dirty="0">
                <a:solidFill>
                  <a:srgbClr val="D7BA7D"/>
                </a:solidFill>
                <a:effectLst/>
                <a:highlight>
                  <a:srgbClr val="1F1F1F"/>
                </a:highlight>
                <a:latin typeface="Consolas" panose="020B0609020204030204" pitchFamily="49" charset="0"/>
              </a:rPr>
              <a:t>form</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D4D4D4"/>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"text"</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form</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D4D4D4"/>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"password"</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form</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D4D4D4"/>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"date"</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form</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input</a:t>
            </a:r>
            <a:r>
              <a:rPr lang="en-US" sz="1600" b="0" dirty="0">
                <a:solidFill>
                  <a:srgbClr val="CCCCCC"/>
                </a:solidFill>
                <a:effectLst/>
                <a:highlight>
                  <a:srgbClr val="1F1F1F"/>
                </a:highlight>
                <a:latin typeface="Consolas" panose="020B0609020204030204" pitchFamily="49" charset="0"/>
              </a:rPr>
              <a:t>[</a:t>
            </a:r>
            <a:r>
              <a:rPr lang="en-US" sz="1600" b="0" dirty="0">
                <a:solidFill>
                  <a:srgbClr val="9CDCFE"/>
                </a:solidFill>
                <a:effectLst/>
                <a:highlight>
                  <a:srgbClr val="1F1F1F"/>
                </a:highlight>
                <a:latin typeface="Consolas" panose="020B0609020204030204" pitchFamily="49" charset="0"/>
              </a:rPr>
              <a:t>type</a:t>
            </a:r>
            <a:r>
              <a:rPr lang="en-US" sz="1600" b="0" dirty="0">
                <a:solidFill>
                  <a:srgbClr val="D4D4D4"/>
                </a:solidFill>
                <a:effectLst/>
                <a:highlight>
                  <a:srgbClr val="1F1F1F"/>
                </a:highlight>
                <a:latin typeface="Consolas" panose="020B0609020204030204" pitchFamily="49" charset="0"/>
              </a:rPr>
              <a:t>=</a:t>
            </a:r>
            <a:r>
              <a:rPr lang="en-US" sz="1600" b="0" dirty="0">
                <a:solidFill>
                  <a:srgbClr val="CE9178"/>
                </a:solidFill>
                <a:effectLst/>
                <a:highlight>
                  <a:srgbClr val="1F1F1F"/>
                </a:highlight>
                <a:latin typeface="Consolas" panose="020B0609020204030204" pitchFamily="49" charset="0"/>
              </a:rPr>
              <a:t>"file"</a:t>
            </a:r>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width</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100%</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padding</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0.5em</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margin-top</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0.5em</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a:t>
            </a:r>
          </a:p>
          <a:p>
            <a:br>
              <a:rPr lang="en-US" sz="1600" b="0" dirty="0">
                <a:solidFill>
                  <a:srgbClr val="CCCCCC"/>
                </a:solidFill>
                <a:effectLst/>
                <a:highlight>
                  <a:srgbClr val="1F1F1F"/>
                </a:highlight>
                <a:latin typeface="Consolas" panose="020B0609020204030204" pitchFamily="49" charset="0"/>
              </a:rPr>
            </a:br>
            <a:r>
              <a:rPr lang="en-US" sz="1600" b="0" dirty="0">
                <a:solidFill>
                  <a:srgbClr val="D7BA7D"/>
                </a:solidFill>
                <a:effectLst/>
                <a:highlight>
                  <a:srgbClr val="1F1F1F"/>
                </a:highlight>
                <a:latin typeface="Consolas" panose="020B0609020204030204" pitchFamily="49" charset="0"/>
              </a:rPr>
              <a:t>form</a:t>
            </a:r>
            <a:r>
              <a:rPr lang="en-US" sz="1600" b="0" dirty="0">
                <a:solidFill>
                  <a:srgbClr val="CCCCCC"/>
                </a:solidFill>
                <a:effectLst/>
                <a:highlight>
                  <a:srgbClr val="1F1F1F"/>
                </a:highlight>
                <a:latin typeface="Consolas" panose="020B0609020204030204" pitchFamily="49" charset="0"/>
              </a:rPr>
              <a:t> </a:t>
            </a:r>
            <a:r>
              <a:rPr lang="en-US" sz="1600" b="0" dirty="0">
                <a:solidFill>
                  <a:srgbClr val="D7BA7D"/>
                </a:solidFill>
                <a:effectLst/>
                <a:highlight>
                  <a:srgbClr val="1F1F1F"/>
                </a:highlight>
                <a:latin typeface="Consolas" panose="020B0609020204030204" pitchFamily="49" charset="0"/>
              </a:rPr>
              <a:t>p</a:t>
            </a:r>
            <a:r>
              <a:rPr lang="en-US" sz="1600" b="0" dirty="0">
                <a:solidFill>
                  <a:srgbClr val="CCCCCC"/>
                </a:solidFill>
                <a:effectLst/>
                <a:highlight>
                  <a:srgbClr val="1F1F1F"/>
                </a:highlight>
                <a:latin typeface="Consolas" panose="020B0609020204030204" pitchFamily="49" charset="0"/>
              </a:rPr>
              <a:t> {</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margin-top</a:t>
            </a:r>
            <a:r>
              <a:rPr lang="en-US" sz="1600" b="0" dirty="0">
                <a:solidFill>
                  <a:srgbClr val="CCCCCC"/>
                </a:solidFill>
                <a:effectLst/>
                <a:highlight>
                  <a:srgbClr val="1F1F1F"/>
                </a:highlight>
                <a:latin typeface="Consolas" panose="020B0609020204030204" pitchFamily="49" charset="0"/>
              </a:rPr>
              <a:t>: </a:t>
            </a:r>
            <a:r>
              <a:rPr lang="en-US" sz="1600" b="0" dirty="0">
                <a:solidFill>
                  <a:srgbClr val="B5CEA8"/>
                </a:solidFill>
                <a:effectLst/>
                <a:highlight>
                  <a:srgbClr val="1F1F1F"/>
                </a:highlight>
                <a:latin typeface="Consolas" panose="020B0609020204030204" pitchFamily="49" charset="0"/>
              </a:rPr>
              <a:t>1em</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    </a:t>
            </a:r>
            <a:r>
              <a:rPr lang="en-US" sz="1600" b="0" dirty="0">
                <a:solidFill>
                  <a:srgbClr val="9CDCFE"/>
                </a:solidFill>
                <a:effectLst/>
                <a:highlight>
                  <a:srgbClr val="1F1F1F"/>
                </a:highlight>
                <a:latin typeface="Consolas" panose="020B0609020204030204" pitchFamily="49" charset="0"/>
              </a:rPr>
              <a:t>font-weight</a:t>
            </a:r>
            <a:r>
              <a:rPr lang="en-US" sz="1600" b="0" dirty="0">
                <a:solidFill>
                  <a:srgbClr val="CCCCCC"/>
                </a:solidFill>
                <a:effectLst/>
                <a:highlight>
                  <a:srgbClr val="1F1F1F"/>
                </a:highlight>
                <a:latin typeface="Consolas" panose="020B0609020204030204" pitchFamily="49" charset="0"/>
              </a:rPr>
              <a:t>: </a:t>
            </a:r>
            <a:r>
              <a:rPr lang="en-US" sz="1600" b="0" dirty="0">
                <a:solidFill>
                  <a:srgbClr val="CE9178"/>
                </a:solidFill>
                <a:effectLst/>
                <a:highlight>
                  <a:srgbClr val="1F1F1F"/>
                </a:highlight>
                <a:latin typeface="Consolas" panose="020B0609020204030204" pitchFamily="49" charset="0"/>
              </a:rPr>
              <a:t>bold</a:t>
            </a:r>
            <a:r>
              <a:rPr lang="en-US" sz="1600" b="0" dirty="0">
                <a:solidFill>
                  <a:srgbClr val="CCCCCC"/>
                </a:solidFill>
                <a:effectLst/>
                <a:highlight>
                  <a:srgbClr val="1F1F1F"/>
                </a:highlight>
                <a:latin typeface="Consolas" panose="020B0609020204030204" pitchFamily="49" charset="0"/>
              </a:rPr>
              <a:t>;</a:t>
            </a:r>
          </a:p>
          <a:p>
            <a:r>
              <a:rPr lang="en-US" sz="1600" b="0" dirty="0">
                <a:solidFill>
                  <a:srgbClr val="CCCCCC"/>
                </a:solidFill>
                <a:effectLst/>
                <a:highlight>
                  <a:srgbClr val="1F1F1F"/>
                </a:highlight>
                <a:latin typeface="Consolas" panose="020B0609020204030204" pitchFamily="49" charset="0"/>
              </a:rPr>
              <a:t>}</a:t>
            </a:r>
          </a:p>
        </p:txBody>
      </p:sp>
    </p:spTree>
    <p:extLst>
      <p:ext uri="{BB962C8B-B14F-4D97-AF65-F5344CB8AC3E}">
        <p14:creationId xmlns:p14="http://schemas.microsoft.com/office/powerpoint/2010/main" val="39273766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1233B7-201B-A314-D4C7-3EE525A5625D}"/>
              </a:ext>
            </a:extLst>
          </p:cNvPr>
          <p:cNvPicPr>
            <a:picLocks noChangeAspect="1"/>
          </p:cNvPicPr>
          <p:nvPr/>
        </p:nvPicPr>
        <p:blipFill>
          <a:blip r:embed="rId2"/>
          <a:stretch>
            <a:fillRect/>
          </a:stretch>
        </p:blipFill>
        <p:spPr>
          <a:xfrm>
            <a:off x="11162148" y="0"/>
            <a:ext cx="1029852" cy="1014248"/>
          </a:xfrm>
          <a:prstGeom prst="rect">
            <a:avLst/>
          </a:prstGeom>
        </p:spPr>
      </p:pic>
      <p:sp>
        <p:nvSpPr>
          <p:cNvPr id="7" name="Rectangle 1">
            <a:extLst>
              <a:ext uri="{FF2B5EF4-FFF2-40B4-BE49-F238E27FC236}">
                <a16:creationId xmlns:a16="http://schemas.microsoft.com/office/drawing/2014/main" id="{D7CD94DA-D364-493A-33A5-20DC3583913C}"/>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Weeks 8 – 9 Tutorial: Challenge 2 - Working with Form Elements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D202B175-9595-303A-65D3-2053FD030659}"/>
              </a:ext>
            </a:extLst>
          </p:cNvPr>
          <p:cNvSpPr>
            <a:spLocks noChangeArrowheads="1"/>
          </p:cNvSpPr>
          <p:nvPr/>
        </p:nvSpPr>
        <p:spPr bwMode="auto">
          <a:xfrm>
            <a:off x="167148" y="784123"/>
            <a:ext cx="11857703" cy="3359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 Describe the difference in how the date type input field displays in Firefox and Google Chrome: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Firefox: </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 date input field is displayed as a regular text box where users must manually enter the date in the specified format.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Google Chrome: </a:t>
            </a:r>
            <a:r>
              <a:rPr kumimoji="0" lang="en-US" altLang="en-US" sz="24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 date input field includes a date picker, allowing users to select a date from a calendar widget.</a:t>
            </a:r>
            <a:endParaRPr kumimoji="0" lang="en-US" altLang="en-US" sz="2400" i="0" u="none" strike="noStrike" cap="none" normalizeH="0" baseline="0" dirty="0">
              <a:ln>
                <a:noFill/>
              </a:ln>
              <a:solidFill>
                <a:schemeClr val="tx1"/>
              </a:solidFill>
              <a:effectLst/>
              <a:highlight>
                <a:srgbClr val="00FF00"/>
              </a:highligh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CA491FF-7A69-68B2-F162-2830A401225E}"/>
              </a:ext>
            </a:extLst>
          </p:cNvPr>
          <p:cNvSpPr txBox="1"/>
          <p:nvPr/>
        </p:nvSpPr>
        <p:spPr>
          <a:xfrm>
            <a:off x="167147" y="4180378"/>
            <a:ext cx="11857703" cy="1697068"/>
          </a:xfrm>
          <a:prstGeom prst="rect">
            <a:avLst/>
          </a:prstGeom>
          <a:noFill/>
        </p:spPr>
        <p:txBody>
          <a:bodyPr wrap="square">
            <a:spAutoFit/>
          </a:bodyPr>
          <a:lstStyle/>
          <a:p>
            <a:pPr>
              <a:lnSpc>
                <a:spcPct val="150000"/>
              </a:lnSpc>
            </a:pPr>
            <a:r>
              <a:rPr lang="en-AU" sz="2400" dirty="0">
                <a:latin typeface="Calibri" panose="020F0502020204030204" pitchFamily="34" charset="0"/>
                <a:cs typeface="Calibri" panose="020F0502020204030204" pitchFamily="34" charset="0"/>
              </a:rPr>
              <a:t>By following these instructions, you will learn to create and style tables and forms in HTML and CSS, enhancing your understanding of web development practices and preparing yourself for your tutorial week 9.</a:t>
            </a:r>
          </a:p>
        </p:txBody>
      </p:sp>
    </p:spTree>
    <p:extLst>
      <p:ext uri="{BB962C8B-B14F-4D97-AF65-F5344CB8AC3E}">
        <p14:creationId xmlns:p14="http://schemas.microsoft.com/office/powerpoint/2010/main" val="31466902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82417A7A-D6C0-7E06-3292-E0485F6AA170}"/>
              </a:ext>
            </a:extLst>
          </p:cNvPr>
          <p:cNvSpPr>
            <a:spLocks noChangeArrowheads="1"/>
          </p:cNvSpPr>
          <p:nvPr/>
        </p:nvSpPr>
        <p:spPr bwMode="auto">
          <a:xfrm>
            <a:off x="0" y="-81948"/>
            <a:ext cx="10009074" cy="589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Weeks 8 – 9 Tutorial: Challenge 2 - Working with Form Elements</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49BA6C6B-6DE6-FCAA-F17C-C2855CE3679D}"/>
              </a:ext>
            </a:extLst>
          </p:cNvPr>
          <p:cNvPicPr>
            <a:picLocks noChangeAspect="1"/>
          </p:cNvPicPr>
          <p:nvPr/>
        </p:nvPicPr>
        <p:blipFill rotWithShape="1">
          <a:blip r:embed="rId2"/>
          <a:srcRect t="7395" b="6022"/>
          <a:stretch/>
        </p:blipFill>
        <p:spPr>
          <a:xfrm>
            <a:off x="1006077" y="1900068"/>
            <a:ext cx="10179844" cy="4957932"/>
          </a:xfrm>
          <a:prstGeom prst="rect">
            <a:avLst/>
          </a:prstGeom>
          <a:ln>
            <a:solidFill>
              <a:srgbClr val="FF0000"/>
            </a:solidFill>
          </a:ln>
        </p:spPr>
      </p:pic>
      <p:pic>
        <p:nvPicPr>
          <p:cNvPr id="10" name="Picture 9">
            <a:extLst>
              <a:ext uri="{FF2B5EF4-FFF2-40B4-BE49-F238E27FC236}">
                <a16:creationId xmlns:a16="http://schemas.microsoft.com/office/drawing/2014/main" id="{EF8B85B2-0385-AA60-AA2A-E054D6819CF4}"/>
              </a:ext>
            </a:extLst>
          </p:cNvPr>
          <p:cNvPicPr>
            <a:picLocks noChangeAspect="1"/>
          </p:cNvPicPr>
          <p:nvPr/>
        </p:nvPicPr>
        <p:blipFill rotWithShape="1">
          <a:blip r:embed="rId3"/>
          <a:srcRect l="11613" t="25591" r="46774" b="54409"/>
          <a:stretch/>
        </p:blipFill>
        <p:spPr>
          <a:xfrm>
            <a:off x="3559276" y="453502"/>
            <a:ext cx="5073445" cy="1371600"/>
          </a:xfrm>
          <a:prstGeom prst="rect">
            <a:avLst/>
          </a:prstGeom>
          <a:ln>
            <a:solidFill>
              <a:srgbClr val="FF0000"/>
            </a:solidFill>
          </a:ln>
        </p:spPr>
      </p:pic>
    </p:spTree>
    <p:extLst>
      <p:ext uri="{BB962C8B-B14F-4D97-AF65-F5344CB8AC3E}">
        <p14:creationId xmlns:p14="http://schemas.microsoft.com/office/powerpoint/2010/main" val="22626310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B80208A4-7493-2D48-FCC1-DB77FF1FFF4D}"/>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Multiple Choice Question</a:t>
            </a:r>
            <a:endParaRPr lang="en-US" sz="28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B6C9C0D-BDC6-6FA9-CFC0-EA5EAF8D75A9}"/>
              </a:ext>
            </a:extLst>
          </p:cNvPr>
          <p:cNvSpPr txBox="1"/>
          <p:nvPr/>
        </p:nvSpPr>
        <p:spPr>
          <a:xfrm>
            <a:off x="94592" y="2079889"/>
            <a:ext cx="12097407" cy="2692019"/>
          </a:xfrm>
          <a:prstGeom prst="rect">
            <a:avLst/>
          </a:prstGeom>
          <a:noFill/>
        </p:spPr>
        <p:txBody>
          <a:bodyPr wrap="square">
            <a:spAutoFit/>
          </a:bodyPr>
          <a:lstStyle/>
          <a:p>
            <a:pPr>
              <a:lnSpc>
                <a:spcPct val="150000"/>
              </a:lnSpc>
            </a:pPr>
            <a:r>
              <a:rPr lang="en-US" sz="2300" b="1" dirty="0">
                <a:latin typeface="Calibri" panose="020F0502020204030204" pitchFamily="34" charset="0"/>
                <a:cs typeface="Calibri" panose="020F0502020204030204" pitchFamily="34" charset="0"/>
              </a:rPr>
              <a:t>Q1) What are the three main concepts of responsive design discussed in Lecture 8?</a:t>
            </a:r>
            <a:endParaRPr lang="en-US" sz="2300" dirty="0">
              <a:latin typeface="Calibri" panose="020F0502020204030204" pitchFamily="34" charset="0"/>
              <a:cs typeface="Calibri" panose="020F0502020204030204" pitchFamily="34" charset="0"/>
            </a:endParaRPr>
          </a:p>
          <a:p>
            <a:pPr>
              <a:lnSpc>
                <a:spcPct val="150000"/>
              </a:lnSpc>
            </a:pPr>
            <a:r>
              <a:rPr lang="en-US" sz="2300" dirty="0">
                <a:latin typeface="Calibri" panose="020F0502020204030204" pitchFamily="34" charset="0"/>
                <a:cs typeface="Calibri" panose="020F0502020204030204" pitchFamily="34" charset="0"/>
              </a:rPr>
              <a:t>A. Fixed layouts, fluid layouts, and flexible images</a:t>
            </a:r>
          </a:p>
          <a:p>
            <a:pPr>
              <a:lnSpc>
                <a:spcPct val="150000"/>
              </a:lnSpc>
            </a:pPr>
            <a:r>
              <a:rPr lang="en-US" sz="2300" dirty="0">
                <a:latin typeface="Calibri" panose="020F0502020204030204" pitchFamily="34" charset="0"/>
                <a:cs typeface="Calibri" panose="020F0502020204030204" pitchFamily="34" charset="0"/>
              </a:rPr>
              <a:t>B. Fluid layouts, media queries, and flexible images</a:t>
            </a:r>
          </a:p>
          <a:p>
            <a:pPr>
              <a:lnSpc>
                <a:spcPct val="150000"/>
              </a:lnSpc>
            </a:pPr>
            <a:r>
              <a:rPr lang="en-US" sz="2300" dirty="0">
                <a:latin typeface="Calibri" panose="020F0502020204030204" pitchFamily="34" charset="0"/>
                <a:cs typeface="Calibri" panose="020F0502020204030204" pitchFamily="34" charset="0"/>
              </a:rPr>
              <a:t>C. Media queries, viewport tags, and mobile-first strategy</a:t>
            </a:r>
          </a:p>
          <a:p>
            <a:pPr>
              <a:lnSpc>
                <a:spcPct val="150000"/>
              </a:lnSpc>
            </a:pPr>
            <a:r>
              <a:rPr lang="en-US" sz="2300" dirty="0">
                <a:latin typeface="Calibri" panose="020F0502020204030204" pitchFamily="34" charset="0"/>
                <a:cs typeface="Calibri" panose="020F0502020204030204" pitchFamily="34" charset="0"/>
              </a:rPr>
              <a:t>D. Flexible images, fixed layouts, and media queries</a:t>
            </a:r>
          </a:p>
        </p:txBody>
      </p:sp>
      <p:sp>
        <p:nvSpPr>
          <p:cNvPr id="6" name="Rectangle: Rounded Corners 5">
            <a:extLst>
              <a:ext uri="{FF2B5EF4-FFF2-40B4-BE49-F238E27FC236}">
                <a16:creationId xmlns:a16="http://schemas.microsoft.com/office/drawing/2014/main" id="{99ED24C7-745D-DC20-AA1D-AE3251F681E9}"/>
              </a:ext>
            </a:extLst>
          </p:cNvPr>
          <p:cNvSpPr/>
          <p:nvPr/>
        </p:nvSpPr>
        <p:spPr>
          <a:xfrm>
            <a:off x="94592" y="3200400"/>
            <a:ext cx="11792608" cy="516194"/>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05965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202F9F-D877-13C8-F25C-FD0B2D46A206}"/>
              </a:ext>
            </a:extLst>
          </p:cNvPr>
          <p:cNvPicPr>
            <a:picLocks noChangeAspect="1"/>
          </p:cNvPicPr>
          <p:nvPr/>
        </p:nvPicPr>
        <p:blipFill>
          <a:blip r:embed="rId2"/>
          <a:stretch>
            <a:fillRect/>
          </a:stretch>
        </p:blipFill>
        <p:spPr>
          <a:xfrm>
            <a:off x="10260685" y="0"/>
            <a:ext cx="1931315" cy="1902052"/>
          </a:xfrm>
          <a:prstGeom prst="rect">
            <a:avLst/>
          </a:prstGeom>
        </p:spPr>
      </p:pic>
      <p:sp>
        <p:nvSpPr>
          <p:cNvPr id="5" name="TextBox 4">
            <a:extLst>
              <a:ext uri="{FF2B5EF4-FFF2-40B4-BE49-F238E27FC236}">
                <a16:creationId xmlns:a16="http://schemas.microsoft.com/office/drawing/2014/main" id="{4B6C9C0D-BDC6-6FA9-CFC0-EA5EAF8D75A9}"/>
              </a:ext>
            </a:extLst>
          </p:cNvPr>
          <p:cNvSpPr txBox="1"/>
          <p:nvPr/>
        </p:nvSpPr>
        <p:spPr>
          <a:xfrm>
            <a:off x="47296" y="2079889"/>
            <a:ext cx="12097407" cy="3359061"/>
          </a:xfrm>
          <a:prstGeom prst="rect">
            <a:avLst/>
          </a:prstGeom>
          <a:noFill/>
        </p:spPr>
        <p:txBody>
          <a:bodyPr wrap="square">
            <a:spAutoFit/>
          </a:bodyPr>
          <a:lstStyle/>
          <a:p>
            <a:pPr>
              <a:lnSpc>
                <a:spcPct val="150000"/>
              </a:lnSpc>
            </a:pPr>
            <a:r>
              <a:rPr lang="en-US" sz="2400" b="1" dirty="0">
                <a:latin typeface="Calibri" panose="020F0502020204030204" pitchFamily="34" charset="0"/>
                <a:cs typeface="Calibri" panose="020F0502020204030204" pitchFamily="34" charset="0"/>
              </a:rPr>
              <a:t>Q2) Which of the following statements correctly describes a fluid layout in responsive web design?</a:t>
            </a:r>
            <a:endParaRPr lang="en-US" sz="2400" dirty="0">
              <a:latin typeface="Calibri" panose="020F0502020204030204" pitchFamily="34" charset="0"/>
              <a:cs typeface="Calibri" panose="020F0502020204030204" pitchFamily="34" charset="0"/>
            </a:endParaRPr>
          </a:p>
          <a:p>
            <a:pPr>
              <a:lnSpc>
                <a:spcPct val="150000"/>
              </a:lnSpc>
            </a:pPr>
            <a:r>
              <a:rPr lang="en-US" sz="2400" dirty="0">
                <a:latin typeface="Calibri" panose="020F0502020204030204" pitchFamily="34" charset="0"/>
                <a:cs typeface="Calibri" panose="020F0502020204030204" pitchFamily="34" charset="0"/>
              </a:rPr>
              <a:t>A. It uses fixed measurement units like pixels to define the width of content areas.</a:t>
            </a:r>
          </a:p>
          <a:p>
            <a:pPr>
              <a:lnSpc>
                <a:spcPct val="150000"/>
              </a:lnSpc>
            </a:pPr>
            <a:r>
              <a:rPr lang="en-US" sz="2400" dirty="0">
                <a:latin typeface="Calibri" panose="020F0502020204030204" pitchFamily="34" charset="0"/>
                <a:cs typeface="Calibri" panose="020F0502020204030204" pitchFamily="34" charset="0"/>
              </a:rPr>
              <a:t>B. It changes in width based on the size of the viewport, using proportional size measurements.</a:t>
            </a:r>
          </a:p>
          <a:p>
            <a:pPr>
              <a:lnSpc>
                <a:spcPct val="150000"/>
              </a:lnSpc>
            </a:pPr>
            <a:r>
              <a:rPr lang="en-US" sz="2400" dirty="0">
                <a:latin typeface="Calibri" panose="020F0502020204030204" pitchFamily="34" charset="0"/>
                <a:cs typeface="Calibri" panose="020F0502020204030204" pitchFamily="34" charset="0"/>
              </a:rPr>
              <a:t>C. It requires media queries to adjust content size based on the viewport.</a:t>
            </a:r>
          </a:p>
          <a:p>
            <a:pPr>
              <a:lnSpc>
                <a:spcPct val="150000"/>
              </a:lnSpc>
            </a:pPr>
            <a:r>
              <a:rPr lang="en-US" sz="2400" dirty="0">
                <a:latin typeface="Calibri" panose="020F0502020204030204" pitchFamily="34" charset="0"/>
                <a:cs typeface="Calibri" panose="020F0502020204030204" pitchFamily="34" charset="0"/>
              </a:rPr>
              <a:t>D. It is the same as a fixed layout but with flexible images.</a:t>
            </a:r>
          </a:p>
        </p:txBody>
      </p:sp>
      <p:sp>
        <p:nvSpPr>
          <p:cNvPr id="4" name="Rectangle: Rounded Corners 3">
            <a:extLst>
              <a:ext uri="{FF2B5EF4-FFF2-40B4-BE49-F238E27FC236}">
                <a16:creationId xmlns:a16="http://schemas.microsoft.com/office/drawing/2014/main" id="{DB674AB6-8BB9-4AF9-DFD1-071622A903C4}"/>
              </a:ext>
            </a:extLst>
          </p:cNvPr>
          <p:cNvSpPr/>
          <p:nvPr/>
        </p:nvSpPr>
        <p:spPr>
          <a:xfrm>
            <a:off x="47296" y="3878826"/>
            <a:ext cx="11918485" cy="516194"/>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03A4E668-6144-B26F-5304-C5A6BC01D1BD}"/>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Multiple Choice Question</a:t>
            </a:r>
            <a:endParaRPr lang="en-US" sz="28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596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68969-9874-935C-FF6D-2833DF35448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0C461DC-2EDD-7755-5056-44083949F2C0}"/>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17AADE5B-3878-3FAF-F8F5-2FC91ECE4F85}"/>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91FDA20-1A1B-1B31-AE5C-9E1D1A242AF5}"/>
              </a:ext>
            </a:extLst>
          </p:cNvPr>
          <p:cNvSpPr txBox="1"/>
          <p:nvPr/>
        </p:nvSpPr>
        <p:spPr>
          <a:xfrm>
            <a:off x="0" y="842964"/>
            <a:ext cx="12165806" cy="5196166"/>
          </a:xfrm>
          <a:prstGeom prst="rect">
            <a:avLst/>
          </a:prstGeom>
          <a:noFill/>
        </p:spPr>
        <p:txBody>
          <a:bodyPr wrap="square">
            <a:spAutoFit/>
          </a:bodyPr>
          <a:lstStyle/>
          <a:p>
            <a:pPr>
              <a:lnSpc>
                <a:spcPct val="150000"/>
              </a:lnSpc>
              <a:buNone/>
            </a:pPr>
            <a:r>
              <a:rPr lang="en-AU" sz="2800" b="1" dirty="0">
                <a:latin typeface="Calibir"/>
              </a:rPr>
              <a:t>1. Which file should you open first to view the webpage in Project 1?</a:t>
            </a:r>
          </a:p>
          <a:p>
            <a:pPr>
              <a:lnSpc>
                <a:spcPct val="150000"/>
              </a:lnSpc>
              <a:buNone/>
            </a:pPr>
            <a:r>
              <a:rPr lang="en-AU" sz="2800" b="1" dirty="0">
                <a:latin typeface="Calibir"/>
              </a:rPr>
              <a:t>Options:</a:t>
            </a:r>
            <a:endParaRPr lang="en-AU" sz="2800" dirty="0">
              <a:latin typeface="Calibir"/>
            </a:endParaRPr>
          </a:p>
          <a:p>
            <a:pPr marL="914400" lvl="1" indent="-457200">
              <a:lnSpc>
                <a:spcPct val="150000"/>
              </a:lnSpc>
              <a:buFont typeface="Arial" panose="020B0604020202020204" pitchFamily="34" charset="0"/>
              <a:buChar char="•"/>
            </a:pPr>
            <a:r>
              <a:rPr lang="en-AU" sz="2800" dirty="0">
                <a:latin typeface="Calibir"/>
              </a:rPr>
              <a:t>A. apply08.html </a:t>
            </a:r>
          </a:p>
          <a:p>
            <a:pPr marL="914400" lvl="1" indent="-457200">
              <a:lnSpc>
                <a:spcPct val="150000"/>
              </a:lnSpc>
              <a:buFont typeface="Arial" panose="020B0604020202020204" pitchFamily="34" charset="0"/>
              <a:buChar char="•"/>
            </a:pPr>
            <a:r>
              <a:rPr lang="en-AU" sz="2800" dirty="0">
                <a:latin typeface="Calibir"/>
              </a:rPr>
              <a:t>B. apply09.html </a:t>
            </a:r>
          </a:p>
          <a:p>
            <a:pPr marL="914400" lvl="1" indent="-457200">
              <a:lnSpc>
                <a:spcPct val="150000"/>
              </a:lnSpc>
              <a:buFont typeface="Arial" panose="020B0604020202020204" pitchFamily="34" charset="0"/>
              <a:buChar char="•"/>
            </a:pPr>
            <a:r>
              <a:rPr lang="en-AU" sz="2800" dirty="0">
                <a:latin typeface="Calibir"/>
              </a:rPr>
              <a:t>C. index.html </a:t>
            </a:r>
          </a:p>
          <a:p>
            <a:pPr marL="914400" lvl="1" indent="-457200">
              <a:lnSpc>
                <a:spcPct val="150000"/>
              </a:lnSpc>
              <a:buFont typeface="Arial" panose="020B0604020202020204" pitchFamily="34" charset="0"/>
              <a:buChar char="•"/>
            </a:pPr>
            <a:r>
              <a:rPr lang="en-AU" sz="2800" dirty="0">
                <a:latin typeface="Calibir"/>
              </a:rPr>
              <a:t>D. form09.html </a:t>
            </a:r>
          </a:p>
          <a:p>
            <a:pPr>
              <a:lnSpc>
                <a:spcPct val="150000"/>
              </a:lnSpc>
              <a:buNone/>
            </a:pPr>
            <a:r>
              <a:rPr lang="en-AU" sz="2800" dirty="0">
                <a:latin typeface="Calibir"/>
              </a:rPr>
              <a:t>The project instructions start with apply08.html, so this is the first file you open to see and work on the webpage.</a:t>
            </a:r>
          </a:p>
        </p:txBody>
      </p:sp>
      <p:sp>
        <p:nvSpPr>
          <p:cNvPr id="8" name="Rectangle: Rounded Corners 7">
            <a:extLst>
              <a:ext uri="{FF2B5EF4-FFF2-40B4-BE49-F238E27FC236}">
                <a16:creationId xmlns:a16="http://schemas.microsoft.com/office/drawing/2014/main" id="{4AB256F8-BDDF-A3B0-4218-D3D3A9A5FAA5}"/>
              </a:ext>
            </a:extLst>
          </p:cNvPr>
          <p:cNvSpPr/>
          <p:nvPr/>
        </p:nvSpPr>
        <p:spPr>
          <a:xfrm>
            <a:off x="0" y="2207419"/>
            <a:ext cx="4536281"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8725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9B458-20ED-8FD0-052D-F8F3CFD001C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BA441BC-5025-6868-0FB2-B97F5248C064}"/>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B9E3A8C4-D10A-096E-F9DC-BA918E5A0F8E}"/>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5DE5C34-C0AE-4B56-4D52-0E327AD14496}"/>
              </a:ext>
            </a:extLst>
          </p:cNvPr>
          <p:cNvSpPr txBox="1"/>
          <p:nvPr/>
        </p:nvSpPr>
        <p:spPr>
          <a:xfrm>
            <a:off x="0" y="842964"/>
            <a:ext cx="12165806" cy="5842497"/>
          </a:xfrm>
          <a:prstGeom prst="rect">
            <a:avLst/>
          </a:prstGeom>
          <a:noFill/>
        </p:spPr>
        <p:txBody>
          <a:bodyPr wrap="square">
            <a:spAutoFit/>
          </a:bodyPr>
          <a:lstStyle/>
          <a:p>
            <a:pPr>
              <a:lnSpc>
                <a:spcPct val="150000"/>
              </a:lnSpc>
            </a:pPr>
            <a:r>
              <a:rPr lang="en-AU" sz="2800" b="1" dirty="0">
                <a:latin typeface="Calibir"/>
              </a:rPr>
              <a:t>2. What information should be added to the comment section at the top of apply08.html?</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Your name and today’s date </a:t>
            </a:r>
          </a:p>
          <a:p>
            <a:pPr>
              <a:lnSpc>
                <a:spcPct val="150000"/>
              </a:lnSpc>
            </a:pPr>
            <a:r>
              <a:rPr lang="en-AU" sz="2800" dirty="0">
                <a:latin typeface="Calibir"/>
              </a:rPr>
              <a:t>B. Your student ID only </a:t>
            </a:r>
          </a:p>
          <a:p>
            <a:pPr>
              <a:lnSpc>
                <a:spcPct val="150000"/>
              </a:lnSpc>
            </a:pPr>
            <a:r>
              <a:rPr lang="en-AU" sz="2800" dirty="0">
                <a:latin typeface="Calibir"/>
              </a:rPr>
              <a:t>C. Your instructor’s name </a:t>
            </a:r>
          </a:p>
          <a:p>
            <a:pPr>
              <a:lnSpc>
                <a:spcPct val="150000"/>
              </a:lnSpc>
            </a:pPr>
            <a:r>
              <a:rPr lang="en-AU" sz="2800" dirty="0">
                <a:latin typeface="Calibir"/>
              </a:rPr>
              <a:t>D. A link to the CSS file </a:t>
            </a:r>
          </a:p>
          <a:p>
            <a:pPr>
              <a:lnSpc>
                <a:spcPct val="150000"/>
              </a:lnSpc>
            </a:pPr>
            <a:r>
              <a:rPr lang="en-AU" sz="2800" dirty="0">
                <a:latin typeface="Calibir"/>
              </a:rPr>
              <a:t>Adding your name and the current date shows who completed the work and when it was completed.</a:t>
            </a:r>
          </a:p>
        </p:txBody>
      </p:sp>
      <p:sp>
        <p:nvSpPr>
          <p:cNvPr id="8" name="Rectangle: Rounded Corners 7">
            <a:extLst>
              <a:ext uri="{FF2B5EF4-FFF2-40B4-BE49-F238E27FC236}">
                <a16:creationId xmlns:a16="http://schemas.microsoft.com/office/drawing/2014/main" id="{3E9D8818-6760-6C10-0542-00ADAD4B83EB}"/>
              </a:ext>
            </a:extLst>
          </p:cNvPr>
          <p:cNvSpPr/>
          <p:nvPr/>
        </p:nvSpPr>
        <p:spPr>
          <a:xfrm>
            <a:off x="26194" y="2871787"/>
            <a:ext cx="4536281"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62984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9BC97-79ED-B2CF-8D61-49761599CD9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FE5048F-AF09-7EB6-23A7-7D600C07BFF7}"/>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6974893B-21FC-643D-1FFA-E0AB80B032D3}"/>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C451CCD9-9350-3636-CDFB-AA708102ABEE}"/>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3. What should be removed from all image elements in apply08.html?</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Width and height attributes </a:t>
            </a:r>
          </a:p>
          <a:p>
            <a:pPr>
              <a:lnSpc>
                <a:spcPct val="150000"/>
              </a:lnSpc>
            </a:pPr>
            <a:r>
              <a:rPr lang="en-AU" sz="2800" dirty="0">
                <a:latin typeface="Calibir"/>
              </a:rPr>
              <a:t>B. Alt attributes </a:t>
            </a:r>
          </a:p>
          <a:p>
            <a:pPr>
              <a:lnSpc>
                <a:spcPct val="150000"/>
              </a:lnSpc>
            </a:pPr>
            <a:r>
              <a:rPr lang="en-AU" sz="2800" dirty="0">
                <a:latin typeface="Calibir"/>
              </a:rPr>
              <a:t>C. Title attributes </a:t>
            </a:r>
          </a:p>
          <a:p>
            <a:pPr>
              <a:lnSpc>
                <a:spcPct val="150000"/>
              </a:lnSpc>
            </a:pPr>
            <a:r>
              <a:rPr lang="en-AU" sz="2800" dirty="0">
                <a:latin typeface="Calibir"/>
              </a:rPr>
              <a:t>D. Borders </a:t>
            </a:r>
          </a:p>
          <a:p>
            <a:pPr>
              <a:lnSpc>
                <a:spcPct val="150000"/>
              </a:lnSpc>
            </a:pPr>
            <a:r>
              <a:rPr lang="en-AU" sz="2800" dirty="0">
                <a:latin typeface="Calibir"/>
              </a:rPr>
              <a:t>Removing fixed width and height values allows images to resize automatically on different screen sizes, making the page responsive.</a:t>
            </a:r>
          </a:p>
        </p:txBody>
      </p:sp>
      <p:sp>
        <p:nvSpPr>
          <p:cNvPr id="8" name="Rectangle: Rounded Corners 7">
            <a:extLst>
              <a:ext uri="{FF2B5EF4-FFF2-40B4-BE49-F238E27FC236}">
                <a16:creationId xmlns:a16="http://schemas.microsoft.com/office/drawing/2014/main" id="{445F4629-1860-0B79-FE62-F82962B71B0B}"/>
              </a:ext>
            </a:extLst>
          </p:cNvPr>
          <p:cNvSpPr/>
          <p:nvPr/>
        </p:nvSpPr>
        <p:spPr>
          <a:xfrm>
            <a:off x="0" y="2257424"/>
            <a:ext cx="4536281"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46936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1000"/>
                                        <p:tgtEl>
                                          <p:spTgt spid="7">
                                            <p:txEl>
                                              <p:pRg st="6" end="6"/>
                                            </p:txEl>
                                          </p:spTgt>
                                        </p:tgtEl>
                                      </p:cBhvr>
                                    </p:animEffect>
                                    <p:anim calcmode="lin" valueType="num">
                                      <p:cBhvr>
                                        <p:cTn id="1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19DE3-A8DD-AB42-327E-780D2239C6E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3DA5A3-23FC-5AB4-F3DF-53367B8AA5F4}"/>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6495141D-E764-34E0-4F6B-7CDE3ECCDF40}"/>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433BAB9-0EF8-C15F-7880-8A99BB5FFE51}"/>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4. What CSS rule should be added to the </a:t>
            </a:r>
            <a:r>
              <a:rPr lang="en-AU" sz="2800" b="1" dirty="0" err="1">
                <a:latin typeface="Calibir"/>
              </a:rPr>
              <a:t>img</a:t>
            </a:r>
            <a:r>
              <a:rPr lang="en-AU" sz="2800" b="1" dirty="0">
                <a:latin typeface="Calibir"/>
              </a:rPr>
              <a:t> selector in styles08.css?</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max-width: 100%; </a:t>
            </a:r>
          </a:p>
          <a:p>
            <a:pPr>
              <a:lnSpc>
                <a:spcPct val="150000"/>
              </a:lnSpc>
            </a:pPr>
            <a:r>
              <a:rPr lang="en-AU" sz="2800" dirty="0">
                <a:latin typeface="Calibir"/>
              </a:rPr>
              <a:t>B. width: auto; </a:t>
            </a:r>
          </a:p>
          <a:p>
            <a:pPr>
              <a:lnSpc>
                <a:spcPct val="150000"/>
              </a:lnSpc>
            </a:pPr>
            <a:r>
              <a:rPr lang="en-AU" sz="2800" dirty="0">
                <a:latin typeface="Calibir"/>
              </a:rPr>
              <a:t>C. height: 50%; </a:t>
            </a:r>
          </a:p>
          <a:p>
            <a:pPr>
              <a:lnSpc>
                <a:spcPct val="150000"/>
              </a:lnSpc>
            </a:pPr>
            <a:r>
              <a:rPr lang="en-AU" sz="2800" dirty="0">
                <a:latin typeface="Calibir"/>
              </a:rPr>
              <a:t>D. border-radius: 10px; </a:t>
            </a:r>
          </a:p>
          <a:p>
            <a:pPr>
              <a:lnSpc>
                <a:spcPct val="150000"/>
              </a:lnSpc>
            </a:pPr>
            <a:r>
              <a:rPr lang="en-AU" sz="2800" dirty="0">
                <a:latin typeface="Calibir"/>
              </a:rPr>
              <a:t>This rule prevents images from becoming wider than their container, helping them fit properly on mobile and desktop screens.</a:t>
            </a:r>
          </a:p>
        </p:txBody>
      </p:sp>
      <p:sp>
        <p:nvSpPr>
          <p:cNvPr id="8" name="Rectangle: Rounded Corners 7">
            <a:extLst>
              <a:ext uri="{FF2B5EF4-FFF2-40B4-BE49-F238E27FC236}">
                <a16:creationId xmlns:a16="http://schemas.microsoft.com/office/drawing/2014/main" id="{3B916BDA-729A-BF91-987E-76367411CCE5}"/>
              </a:ext>
            </a:extLst>
          </p:cNvPr>
          <p:cNvSpPr/>
          <p:nvPr/>
        </p:nvSpPr>
        <p:spPr>
          <a:xfrm>
            <a:off x="0" y="2257424"/>
            <a:ext cx="4536281"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0223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BD9BC-F424-1C6E-A041-B6689A2C295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8ECE9BF-6E64-7D0F-CEC8-412062808110}"/>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7A0D7D00-1E00-8082-0225-A91BF389CDD2}"/>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9380045-23DF-16B1-9D3D-1201D4A611AE}"/>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5. What change should be made to the #container selector in Project 1?</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Set width to a relative measurement </a:t>
            </a:r>
          </a:p>
          <a:p>
            <a:pPr>
              <a:lnSpc>
                <a:spcPct val="150000"/>
              </a:lnSpc>
            </a:pPr>
            <a:r>
              <a:rPr lang="en-AU" sz="2800" dirty="0">
                <a:latin typeface="Calibir"/>
              </a:rPr>
              <a:t>B. Add a fixed width </a:t>
            </a:r>
          </a:p>
          <a:p>
            <a:pPr>
              <a:lnSpc>
                <a:spcPct val="150000"/>
              </a:lnSpc>
            </a:pPr>
            <a:r>
              <a:rPr lang="en-AU" sz="2800" dirty="0">
                <a:latin typeface="Calibir"/>
              </a:rPr>
              <a:t>C. Remove background </a:t>
            </a:r>
            <a:r>
              <a:rPr lang="en-AU" sz="2800" dirty="0" err="1">
                <a:latin typeface="Calibir"/>
              </a:rPr>
              <a:t>color</a:t>
            </a:r>
            <a:r>
              <a:rPr lang="en-AU" sz="2800" dirty="0">
                <a:latin typeface="Calibir"/>
              </a:rPr>
              <a:t> </a:t>
            </a:r>
          </a:p>
          <a:p>
            <a:pPr>
              <a:lnSpc>
                <a:spcPct val="150000"/>
              </a:lnSpc>
            </a:pPr>
            <a:r>
              <a:rPr lang="en-AU" sz="2800" dirty="0">
                <a:latin typeface="Calibir"/>
              </a:rPr>
              <a:t>D. Add padding only </a:t>
            </a:r>
          </a:p>
          <a:p>
            <a:pPr>
              <a:lnSpc>
                <a:spcPct val="150000"/>
              </a:lnSpc>
            </a:pPr>
            <a:r>
              <a:rPr lang="en-AU" sz="2800" dirty="0">
                <a:latin typeface="Calibir"/>
              </a:rPr>
              <a:t>Relative measurements (such as percentages) allow the layout to adjust to different screen sizes more easily.</a:t>
            </a:r>
          </a:p>
        </p:txBody>
      </p:sp>
      <p:sp>
        <p:nvSpPr>
          <p:cNvPr id="8" name="Rectangle: Rounded Corners 7">
            <a:extLst>
              <a:ext uri="{FF2B5EF4-FFF2-40B4-BE49-F238E27FC236}">
                <a16:creationId xmlns:a16="http://schemas.microsoft.com/office/drawing/2014/main" id="{9E38C09B-65BA-C0D6-CF94-28926B12B0DF}"/>
              </a:ext>
            </a:extLst>
          </p:cNvPr>
          <p:cNvSpPr/>
          <p:nvPr/>
        </p:nvSpPr>
        <p:spPr>
          <a:xfrm>
            <a:off x="0" y="2257424"/>
            <a:ext cx="5900738"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17134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AA76D-B91F-774F-7317-390E4CF54E1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DC92C26-65D5-EAF4-80C4-F9A759A1D42F}"/>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2D3B93D7-63EA-C1EE-51E8-BA2B279821A0}"/>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B154908-9FC5-671D-7082-EF343E4A8D38}"/>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6. Which meta tag should be added for responsive web design in apply08.html?</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&lt;meta name="viewport" content="width=device-width, initial-scale=1"&gt; </a:t>
            </a:r>
          </a:p>
          <a:p>
            <a:pPr>
              <a:lnSpc>
                <a:spcPct val="150000"/>
              </a:lnSpc>
            </a:pPr>
            <a:r>
              <a:rPr lang="en-AU" sz="2800" dirty="0">
                <a:latin typeface="Calibir"/>
              </a:rPr>
              <a:t>B. &lt;meta name="viewport" content="width=device-width, initial-scale=3"&gt; </a:t>
            </a:r>
          </a:p>
          <a:p>
            <a:pPr>
              <a:lnSpc>
                <a:spcPct val="150000"/>
              </a:lnSpc>
            </a:pPr>
            <a:r>
              <a:rPr lang="en-AU" sz="2800" dirty="0">
                <a:latin typeface="Calibir"/>
              </a:rPr>
              <a:t>C. &lt;p&gt;&lt;a </a:t>
            </a:r>
            <a:r>
              <a:rPr lang="en-AU" sz="2800" dirty="0" err="1">
                <a:latin typeface="Calibir"/>
              </a:rPr>
              <a:t>href</a:t>
            </a:r>
            <a:r>
              <a:rPr lang="en-AU" sz="2800" dirty="0">
                <a:latin typeface="Calibir"/>
              </a:rPr>
              <a:t>="tel:5558235555"&gt;Call us today&lt;/a&gt; </a:t>
            </a:r>
          </a:p>
          <a:p>
            <a:pPr>
              <a:lnSpc>
                <a:spcPct val="150000"/>
              </a:lnSpc>
            </a:pPr>
            <a:r>
              <a:rPr lang="en-AU" sz="2800" dirty="0">
                <a:latin typeface="Calibir"/>
              </a:rPr>
              <a:t>D. &lt;h3&gt;Need your patio screened or just a small repair?&lt;/h3&gt; </a:t>
            </a:r>
          </a:p>
          <a:p>
            <a:pPr>
              <a:lnSpc>
                <a:spcPct val="150000"/>
              </a:lnSpc>
            </a:pPr>
            <a:r>
              <a:rPr lang="en-AU" sz="2800" dirty="0">
                <a:latin typeface="Calibir"/>
              </a:rPr>
              <a:t>This viewport tag tells browsers to display the webpage correctly on mobile devices by matching the screen width.</a:t>
            </a:r>
          </a:p>
        </p:txBody>
      </p:sp>
      <p:sp>
        <p:nvSpPr>
          <p:cNvPr id="8" name="Rectangle: Rounded Corners 7">
            <a:extLst>
              <a:ext uri="{FF2B5EF4-FFF2-40B4-BE49-F238E27FC236}">
                <a16:creationId xmlns:a16="http://schemas.microsoft.com/office/drawing/2014/main" id="{0AE9701A-C8F9-2AC4-779B-1B948279D1F1}"/>
              </a:ext>
            </a:extLst>
          </p:cNvPr>
          <p:cNvSpPr/>
          <p:nvPr/>
        </p:nvSpPr>
        <p:spPr>
          <a:xfrm>
            <a:off x="0" y="225742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59774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1000"/>
                                        <p:tgtEl>
                                          <p:spTgt spid="7">
                                            <p:txEl>
                                              <p:pRg st="6" end="6"/>
                                            </p:txEl>
                                          </p:spTgt>
                                        </p:tgtEl>
                                      </p:cBhvr>
                                    </p:animEffect>
                                    <p:anim calcmode="lin" valueType="num">
                                      <p:cBhvr>
                                        <p:cTn id="1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A2162-D949-F48F-00E2-3D5847E3B8E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BCA2F0E-F5D9-2054-8E80-5E1CE9FB2B74}"/>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8E5D611A-F67A-5D32-1D55-2DADEA1FF95D}"/>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6A1D26D-D3BE-0FD6-4325-58A56A1D612F}"/>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7. Which browser tool should be used to test the webpage in mobile view?</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Chrome Developer Tools emulator </a:t>
            </a:r>
          </a:p>
          <a:p>
            <a:pPr>
              <a:lnSpc>
                <a:spcPct val="150000"/>
              </a:lnSpc>
            </a:pPr>
            <a:r>
              <a:rPr lang="en-AU" sz="2800" dirty="0">
                <a:latin typeface="Calibir"/>
              </a:rPr>
              <a:t>B. Firefox Add-ons </a:t>
            </a:r>
          </a:p>
          <a:p>
            <a:pPr>
              <a:lnSpc>
                <a:spcPct val="150000"/>
              </a:lnSpc>
            </a:pPr>
            <a:r>
              <a:rPr lang="en-AU" sz="2800" dirty="0">
                <a:latin typeface="Calibir"/>
              </a:rPr>
              <a:t>C. Safari’s Web Inspector </a:t>
            </a:r>
          </a:p>
          <a:p>
            <a:pPr>
              <a:lnSpc>
                <a:spcPct val="150000"/>
              </a:lnSpc>
            </a:pPr>
            <a:r>
              <a:rPr lang="en-AU" sz="2800" dirty="0">
                <a:latin typeface="Calibir"/>
              </a:rPr>
              <a:t>D. Edge Performance Tools</a:t>
            </a:r>
          </a:p>
          <a:p>
            <a:pPr>
              <a:lnSpc>
                <a:spcPct val="150000"/>
              </a:lnSpc>
            </a:pPr>
            <a:r>
              <a:rPr lang="en-AU" sz="2800" dirty="0">
                <a:latin typeface="Calibir"/>
              </a:rPr>
              <a:t>Chrome Developer Tools includes a device emulator that lets you see how a webpage looks on phones and tablets.</a:t>
            </a:r>
          </a:p>
        </p:txBody>
      </p:sp>
      <p:sp>
        <p:nvSpPr>
          <p:cNvPr id="8" name="Rectangle: Rounded Corners 7">
            <a:extLst>
              <a:ext uri="{FF2B5EF4-FFF2-40B4-BE49-F238E27FC236}">
                <a16:creationId xmlns:a16="http://schemas.microsoft.com/office/drawing/2014/main" id="{D39A0C51-4023-A01B-B0E2-03B8C6F50A49}"/>
              </a:ext>
            </a:extLst>
          </p:cNvPr>
          <p:cNvSpPr/>
          <p:nvPr/>
        </p:nvSpPr>
        <p:spPr>
          <a:xfrm>
            <a:off x="0" y="225742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40269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1000"/>
                                        <p:tgtEl>
                                          <p:spTgt spid="7">
                                            <p:txEl>
                                              <p:pRg st="6" end="6"/>
                                            </p:txEl>
                                          </p:spTgt>
                                        </p:tgtEl>
                                      </p:cBhvr>
                                    </p:animEffect>
                                    <p:anim calcmode="lin" valueType="num">
                                      <p:cBhvr>
                                        <p:cTn id="1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367BD-C245-7167-79C4-53087F2E3FE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63D3436-36DD-4791-20FC-72B78A06ADC1}"/>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7FBC0ED4-C64E-C470-AEFE-F846961EC2E8}"/>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005F2-F513-353F-C346-4EC5774E617B}"/>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8. Which unit makes a layout more flexible than pixels (</a:t>
            </a:r>
            <a:r>
              <a:rPr lang="en-AU" sz="2800" b="1" dirty="0" err="1">
                <a:latin typeface="Calibir"/>
              </a:rPr>
              <a:t>px</a:t>
            </a:r>
            <a:r>
              <a:rPr lang="en-AU" sz="2800" b="1" dirty="0">
                <a:latin typeface="Calibir"/>
              </a:rPr>
              <a:t>) in Project 1?</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Percentage (%) </a:t>
            </a:r>
          </a:p>
          <a:p>
            <a:pPr>
              <a:lnSpc>
                <a:spcPct val="150000"/>
              </a:lnSpc>
            </a:pPr>
            <a:r>
              <a:rPr lang="en-AU" sz="2800" dirty="0">
                <a:latin typeface="Calibir"/>
              </a:rPr>
              <a:t>B. Rem units </a:t>
            </a:r>
          </a:p>
          <a:p>
            <a:pPr>
              <a:lnSpc>
                <a:spcPct val="150000"/>
              </a:lnSpc>
            </a:pPr>
            <a:r>
              <a:rPr lang="en-AU" sz="2800" dirty="0">
                <a:latin typeface="Calibir"/>
              </a:rPr>
              <a:t>C. Pixels </a:t>
            </a:r>
          </a:p>
          <a:p>
            <a:pPr>
              <a:lnSpc>
                <a:spcPct val="150000"/>
              </a:lnSpc>
            </a:pPr>
            <a:r>
              <a:rPr lang="en-AU" sz="2800" dirty="0">
                <a:latin typeface="Calibir"/>
              </a:rPr>
              <a:t>D. </a:t>
            </a:r>
            <a:r>
              <a:rPr lang="en-AU" sz="2800" dirty="0" err="1">
                <a:latin typeface="Calibir"/>
              </a:rPr>
              <a:t>Centimeters</a:t>
            </a:r>
            <a:r>
              <a:rPr lang="en-AU" sz="2800" dirty="0">
                <a:latin typeface="Calibir"/>
              </a:rPr>
              <a:t> </a:t>
            </a:r>
          </a:p>
          <a:p>
            <a:pPr>
              <a:lnSpc>
                <a:spcPct val="150000"/>
              </a:lnSpc>
            </a:pPr>
            <a:r>
              <a:rPr lang="en-AU" sz="2800" dirty="0">
                <a:latin typeface="Calibir"/>
              </a:rPr>
              <a:t>Percentages adjust based on the size of the screen or container, making layouts more responsive than fixed pixel values.</a:t>
            </a:r>
          </a:p>
        </p:txBody>
      </p:sp>
      <p:sp>
        <p:nvSpPr>
          <p:cNvPr id="8" name="Rectangle: Rounded Corners 7">
            <a:extLst>
              <a:ext uri="{FF2B5EF4-FFF2-40B4-BE49-F238E27FC236}">
                <a16:creationId xmlns:a16="http://schemas.microsoft.com/office/drawing/2014/main" id="{70DC56EA-8924-8790-57B7-AACE6F9BE026}"/>
              </a:ext>
            </a:extLst>
          </p:cNvPr>
          <p:cNvSpPr/>
          <p:nvPr/>
        </p:nvSpPr>
        <p:spPr>
          <a:xfrm>
            <a:off x="0" y="225742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0503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BFA5F-E772-18B2-E382-8A6E326BFAF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B01FF36-4DFB-2F66-5A4A-0B114E05E2D1}"/>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3A40EE27-1FCC-06A8-5512-95DBB110F7DC}"/>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2A67153-6C05-91D4-4CA0-887CE686B7DC}"/>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9. What text should the &lt;title&gt; element contain in Challenge 1?</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Steve’s Screen Services </a:t>
            </a:r>
          </a:p>
          <a:p>
            <a:pPr>
              <a:lnSpc>
                <a:spcPct val="150000"/>
              </a:lnSpc>
            </a:pPr>
            <a:r>
              <a:rPr lang="en-AU" sz="2800" dirty="0">
                <a:latin typeface="Calibir"/>
              </a:rPr>
              <a:t>B. Screen Repair Specialists </a:t>
            </a:r>
          </a:p>
          <a:p>
            <a:pPr>
              <a:lnSpc>
                <a:spcPct val="150000"/>
              </a:lnSpc>
            </a:pPr>
            <a:r>
              <a:rPr lang="en-AU" sz="2800" dirty="0">
                <a:latin typeface="Calibir"/>
              </a:rPr>
              <a:t>C. Responsive Web Design </a:t>
            </a:r>
          </a:p>
          <a:p>
            <a:pPr>
              <a:lnSpc>
                <a:spcPct val="150000"/>
              </a:lnSpc>
            </a:pPr>
            <a:r>
              <a:rPr lang="en-AU" sz="2800" dirty="0">
                <a:latin typeface="Calibir"/>
              </a:rPr>
              <a:t>D. Steve’s Patio Repair </a:t>
            </a:r>
          </a:p>
          <a:p>
            <a:pPr>
              <a:lnSpc>
                <a:spcPct val="150000"/>
              </a:lnSpc>
            </a:pPr>
            <a:r>
              <a:rPr lang="en-AU" sz="2800" dirty="0">
                <a:latin typeface="Calibir"/>
              </a:rPr>
              <a:t>The title element should contain the website’s name so it appears correctly in the browser tab and search results.</a:t>
            </a:r>
          </a:p>
        </p:txBody>
      </p:sp>
      <p:sp>
        <p:nvSpPr>
          <p:cNvPr id="8" name="Rectangle: Rounded Corners 7">
            <a:extLst>
              <a:ext uri="{FF2B5EF4-FFF2-40B4-BE49-F238E27FC236}">
                <a16:creationId xmlns:a16="http://schemas.microsoft.com/office/drawing/2014/main" id="{E1F5B5B5-FE03-FBA7-9719-3DFC731BC5B5}"/>
              </a:ext>
            </a:extLst>
          </p:cNvPr>
          <p:cNvSpPr/>
          <p:nvPr/>
        </p:nvSpPr>
        <p:spPr>
          <a:xfrm>
            <a:off x="0" y="225742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6184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1000"/>
                                        <p:tgtEl>
                                          <p:spTgt spid="7">
                                            <p:txEl>
                                              <p:pRg st="6" end="6"/>
                                            </p:txEl>
                                          </p:spTgt>
                                        </p:tgtEl>
                                      </p:cBhvr>
                                    </p:animEffect>
                                    <p:anim calcmode="lin" valueType="num">
                                      <p:cBhvr>
                                        <p:cTn id="1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17E6C-E51D-2ADA-580F-BC9705CF988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2B4E70-6B1D-47C2-4DB6-06C73A898393}"/>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736D40C4-B121-2D20-62EF-3978D4F5F485}"/>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979E15A-F75D-0488-4720-BD7262264AE5}"/>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10. How should the navigation links be coded in index.html?</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As an unordered list </a:t>
            </a:r>
          </a:p>
          <a:p>
            <a:pPr>
              <a:lnSpc>
                <a:spcPct val="150000"/>
              </a:lnSpc>
            </a:pPr>
            <a:r>
              <a:rPr lang="en-AU" sz="2800" dirty="0">
                <a:latin typeface="Calibir"/>
              </a:rPr>
              <a:t>B. As a navigation table </a:t>
            </a:r>
          </a:p>
          <a:p>
            <a:pPr>
              <a:lnSpc>
                <a:spcPct val="150000"/>
              </a:lnSpc>
            </a:pPr>
            <a:r>
              <a:rPr lang="en-AU" sz="2800" dirty="0">
                <a:latin typeface="Calibir"/>
              </a:rPr>
              <a:t>C. As paragraph elements </a:t>
            </a:r>
          </a:p>
          <a:p>
            <a:pPr>
              <a:lnSpc>
                <a:spcPct val="150000"/>
              </a:lnSpc>
            </a:pPr>
            <a:r>
              <a:rPr lang="en-AU" sz="2800" dirty="0">
                <a:latin typeface="Calibir"/>
              </a:rPr>
              <a:t>D. As a list of spans </a:t>
            </a:r>
          </a:p>
          <a:p>
            <a:pPr>
              <a:lnSpc>
                <a:spcPct val="150000"/>
              </a:lnSpc>
            </a:pPr>
            <a:r>
              <a:rPr lang="en-AU" sz="2800" dirty="0">
                <a:latin typeface="Calibir"/>
              </a:rPr>
              <a:t>Navigation menus are commonly built using unordered lists (&lt;ul&gt; and &lt;li&gt;), which provide a clear and organized structure for links.</a:t>
            </a:r>
          </a:p>
        </p:txBody>
      </p:sp>
      <p:sp>
        <p:nvSpPr>
          <p:cNvPr id="8" name="Rectangle: Rounded Corners 7">
            <a:extLst>
              <a:ext uri="{FF2B5EF4-FFF2-40B4-BE49-F238E27FC236}">
                <a16:creationId xmlns:a16="http://schemas.microsoft.com/office/drawing/2014/main" id="{EF0233C8-5E3C-8FF2-A8DD-D6A587A5880B}"/>
              </a:ext>
            </a:extLst>
          </p:cNvPr>
          <p:cNvSpPr/>
          <p:nvPr/>
        </p:nvSpPr>
        <p:spPr>
          <a:xfrm>
            <a:off x="0" y="225742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200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1000"/>
                                        <p:tgtEl>
                                          <p:spTgt spid="7">
                                            <p:txEl>
                                              <p:pRg st="6" end="6"/>
                                            </p:txEl>
                                          </p:spTgt>
                                        </p:tgtEl>
                                      </p:cBhvr>
                                    </p:animEffect>
                                    <p:anim calcmode="lin" valueType="num">
                                      <p:cBhvr>
                                        <p:cTn id="1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F40C-43E2-2CED-C5C9-1DF992430D8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C10D574-717F-A2D6-9425-58F2760350DC}"/>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48E18DD7-256E-3821-3881-75EDD3CE8F72}"/>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80B9752-72EE-E287-262E-10C0F5AEBCDA}"/>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11. Which new class should be added to a &lt;div&gt; element inside the &lt;main&gt; section?</a:t>
            </a:r>
          </a:p>
          <a:p>
            <a:pPr>
              <a:lnSpc>
                <a:spcPct val="150000"/>
              </a:lnSpc>
            </a:pPr>
            <a:r>
              <a:rPr lang="en-AU" sz="2800" dirty="0">
                <a:latin typeface="Calibir"/>
              </a:rPr>
              <a:t>A. mobile </a:t>
            </a:r>
          </a:p>
          <a:p>
            <a:pPr>
              <a:lnSpc>
                <a:spcPct val="150000"/>
              </a:lnSpc>
            </a:pPr>
            <a:r>
              <a:rPr lang="en-AU" sz="2800" dirty="0">
                <a:latin typeface="Calibir"/>
              </a:rPr>
              <a:t>B. flex </a:t>
            </a:r>
          </a:p>
          <a:p>
            <a:pPr>
              <a:lnSpc>
                <a:spcPct val="150000"/>
              </a:lnSpc>
            </a:pPr>
            <a:r>
              <a:rPr lang="en-AU" sz="2800" dirty="0">
                <a:latin typeface="Calibir"/>
              </a:rPr>
              <a:t>C. container </a:t>
            </a:r>
          </a:p>
          <a:p>
            <a:pPr>
              <a:lnSpc>
                <a:spcPct val="150000"/>
              </a:lnSpc>
            </a:pPr>
            <a:r>
              <a:rPr lang="en-AU" sz="2800" dirty="0">
                <a:latin typeface="Calibir"/>
              </a:rPr>
              <a:t>D. sidebar </a:t>
            </a:r>
          </a:p>
          <a:p>
            <a:pPr>
              <a:lnSpc>
                <a:spcPct val="150000"/>
              </a:lnSpc>
            </a:pPr>
            <a:r>
              <a:rPr lang="en-AU" sz="2800" dirty="0">
                <a:latin typeface="Calibir"/>
              </a:rPr>
              <a:t>The mobile class is added to help display content properly on mobile devices and support responsive design.</a:t>
            </a:r>
          </a:p>
        </p:txBody>
      </p:sp>
      <p:sp>
        <p:nvSpPr>
          <p:cNvPr id="8" name="Rectangle: Rounded Corners 7">
            <a:extLst>
              <a:ext uri="{FF2B5EF4-FFF2-40B4-BE49-F238E27FC236}">
                <a16:creationId xmlns:a16="http://schemas.microsoft.com/office/drawing/2014/main" id="{C92F06C5-95B1-2B8E-0F97-59980F667C0F}"/>
              </a:ext>
            </a:extLst>
          </p:cNvPr>
          <p:cNvSpPr/>
          <p:nvPr/>
        </p:nvSpPr>
        <p:spPr>
          <a:xfrm>
            <a:off x="0" y="225742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3945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Effect transition="in" filter="fade">
                                      <p:cBhvr>
                                        <p:cTn id="11" dur="1000"/>
                                        <p:tgtEl>
                                          <p:spTgt spid="7">
                                            <p:txEl>
                                              <p:pRg st="5" end="5"/>
                                            </p:txEl>
                                          </p:spTgt>
                                        </p:tgtEl>
                                      </p:cBhvr>
                                    </p:animEffect>
                                    <p:anim calcmode="lin" valueType="num">
                                      <p:cBhvr>
                                        <p:cTn id="1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ECFD3-856B-FAAA-0D86-DD48C29E4CC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3224867-09E8-1AF0-A4CE-6FBA172BCBA8}"/>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D3D816FB-A5C5-9A50-4E59-9880DECEA8E9}"/>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0EDD509-56F9-4A48-67DF-E267EE38D34B}"/>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12. Which CSS property should be added to images in screenstyles.css to make them flexible?</a:t>
            </a:r>
          </a:p>
          <a:p>
            <a:pPr>
              <a:lnSpc>
                <a:spcPct val="150000"/>
              </a:lnSpc>
            </a:pPr>
            <a:r>
              <a:rPr lang="en-AU" sz="2800" dirty="0">
                <a:latin typeface="Calibir"/>
              </a:rPr>
              <a:t>A. max-width: 100%; </a:t>
            </a:r>
          </a:p>
          <a:p>
            <a:pPr>
              <a:lnSpc>
                <a:spcPct val="150000"/>
              </a:lnSpc>
            </a:pPr>
            <a:r>
              <a:rPr lang="en-AU" sz="2800" dirty="0">
                <a:latin typeface="Calibir"/>
              </a:rPr>
              <a:t>B. min-width: 50%; </a:t>
            </a:r>
          </a:p>
          <a:p>
            <a:pPr>
              <a:lnSpc>
                <a:spcPct val="150000"/>
              </a:lnSpc>
            </a:pPr>
            <a:r>
              <a:rPr lang="en-AU" sz="2800" dirty="0">
                <a:latin typeface="Calibir"/>
              </a:rPr>
              <a:t>C. height: auto; </a:t>
            </a:r>
          </a:p>
          <a:p>
            <a:pPr>
              <a:lnSpc>
                <a:spcPct val="150000"/>
              </a:lnSpc>
            </a:pPr>
            <a:r>
              <a:rPr lang="en-AU" sz="2800" dirty="0">
                <a:latin typeface="Calibir"/>
              </a:rPr>
              <a:t>D. display: block; </a:t>
            </a:r>
          </a:p>
          <a:p>
            <a:pPr>
              <a:lnSpc>
                <a:spcPct val="150000"/>
              </a:lnSpc>
            </a:pPr>
            <a:r>
              <a:rPr lang="en-AU" sz="2800" dirty="0">
                <a:latin typeface="Calibir"/>
              </a:rPr>
              <a:t>This property makes images shrink when needed so they fit inside their container without overflowing.</a:t>
            </a:r>
          </a:p>
        </p:txBody>
      </p:sp>
      <p:sp>
        <p:nvSpPr>
          <p:cNvPr id="8" name="Rectangle: Rounded Corners 7">
            <a:extLst>
              <a:ext uri="{FF2B5EF4-FFF2-40B4-BE49-F238E27FC236}">
                <a16:creationId xmlns:a16="http://schemas.microsoft.com/office/drawing/2014/main" id="{5079C9D8-ED6C-49FF-7337-1F6A1BDE523C}"/>
              </a:ext>
            </a:extLst>
          </p:cNvPr>
          <p:cNvSpPr/>
          <p:nvPr/>
        </p:nvSpPr>
        <p:spPr>
          <a:xfrm>
            <a:off x="0" y="225742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010444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 calcmode="lin" valueType="num">
                                      <p:cBhvr additive="base">
                                        <p:cTn id="1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2FCE7-D808-4E79-B7D1-C6BC2FC9F16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3414219-6F70-4F6C-B44F-3103AF7CB7EA}"/>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CF222BCA-EE4F-B08A-9945-36DDC23033F0}"/>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CBC35C2-3A4D-9DFB-ED2B-22A9886E151B}"/>
              </a:ext>
            </a:extLst>
          </p:cNvPr>
          <p:cNvSpPr txBox="1"/>
          <p:nvPr/>
        </p:nvSpPr>
        <p:spPr>
          <a:xfrm>
            <a:off x="0" y="842964"/>
            <a:ext cx="12165806" cy="4549835"/>
          </a:xfrm>
          <a:prstGeom prst="rect">
            <a:avLst/>
          </a:prstGeom>
          <a:noFill/>
        </p:spPr>
        <p:txBody>
          <a:bodyPr wrap="square">
            <a:spAutoFit/>
          </a:bodyPr>
          <a:lstStyle/>
          <a:p>
            <a:pPr>
              <a:lnSpc>
                <a:spcPct val="150000"/>
              </a:lnSpc>
            </a:pPr>
            <a:r>
              <a:rPr lang="en-AU" sz="2800" b="1" dirty="0">
                <a:latin typeface="Calibir"/>
              </a:rPr>
              <a:t>13. What background </a:t>
            </a:r>
            <a:r>
              <a:rPr lang="en-AU" sz="2800" b="1" dirty="0" err="1">
                <a:latin typeface="Calibir"/>
              </a:rPr>
              <a:t>color</a:t>
            </a:r>
            <a:r>
              <a:rPr lang="en-AU" sz="2800" b="1" dirty="0">
                <a:latin typeface="Calibir"/>
              </a:rPr>
              <a:t> is used for the navigation list items (nav li)?</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#000066 </a:t>
            </a:r>
          </a:p>
          <a:p>
            <a:pPr>
              <a:lnSpc>
                <a:spcPct val="150000"/>
              </a:lnSpc>
            </a:pPr>
            <a:r>
              <a:rPr lang="en-AU" sz="2800" dirty="0">
                <a:latin typeface="Calibir"/>
              </a:rPr>
              <a:t>B. #FFFFFF </a:t>
            </a:r>
          </a:p>
          <a:p>
            <a:pPr>
              <a:lnSpc>
                <a:spcPct val="150000"/>
              </a:lnSpc>
            </a:pPr>
            <a:r>
              <a:rPr lang="en-AU" sz="2800" dirty="0">
                <a:latin typeface="Calibir"/>
              </a:rPr>
              <a:t>C. #f15a24 </a:t>
            </a:r>
          </a:p>
          <a:p>
            <a:pPr>
              <a:lnSpc>
                <a:spcPct val="150000"/>
              </a:lnSpc>
            </a:pPr>
            <a:r>
              <a:rPr lang="en-AU" sz="2800" dirty="0">
                <a:latin typeface="Calibir"/>
              </a:rPr>
              <a:t>D. #183440 </a:t>
            </a:r>
          </a:p>
          <a:p>
            <a:pPr>
              <a:lnSpc>
                <a:spcPct val="150000"/>
              </a:lnSpc>
            </a:pPr>
            <a:r>
              <a:rPr lang="en-AU" sz="2800" dirty="0">
                <a:latin typeface="Calibir"/>
              </a:rPr>
              <a:t>The navigation items use the dark blue </a:t>
            </a:r>
            <a:r>
              <a:rPr lang="en-AU" sz="2800" dirty="0" err="1">
                <a:latin typeface="Calibir"/>
              </a:rPr>
              <a:t>color</a:t>
            </a:r>
            <a:r>
              <a:rPr lang="en-AU" sz="2800" dirty="0">
                <a:latin typeface="Calibir"/>
              </a:rPr>
              <a:t> #000066 as their background.</a:t>
            </a:r>
          </a:p>
        </p:txBody>
      </p:sp>
      <p:sp>
        <p:nvSpPr>
          <p:cNvPr id="8" name="Rectangle: Rounded Corners 7">
            <a:extLst>
              <a:ext uri="{FF2B5EF4-FFF2-40B4-BE49-F238E27FC236}">
                <a16:creationId xmlns:a16="http://schemas.microsoft.com/office/drawing/2014/main" id="{30AE6F46-AB43-8B67-B8B6-9F628A5EC4B8}"/>
              </a:ext>
            </a:extLst>
          </p:cNvPr>
          <p:cNvSpPr/>
          <p:nvPr/>
        </p:nvSpPr>
        <p:spPr>
          <a:xfrm>
            <a:off x="0" y="225742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41796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1000"/>
                                        <p:tgtEl>
                                          <p:spTgt spid="7">
                                            <p:txEl>
                                              <p:pRg st="6" end="6"/>
                                            </p:txEl>
                                          </p:spTgt>
                                        </p:tgtEl>
                                      </p:cBhvr>
                                    </p:animEffect>
                                    <p:anim calcmode="lin" valueType="num">
                                      <p:cBhvr>
                                        <p:cTn id="1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4651A-9073-EAC9-276D-FE14E966568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3FD45BF-6924-52E2-3BE1-B5345E0AB5D5}"/>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5E20B9EB-F8DF-AF81-07F3-77AC807288C2}"/>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C03B3A1-F989-9C61-BB47-1A56C59F4E08}"/>
              </a:ext>
            </a:extLst>
          </p:cNvPr>
          <p:cNvSpPr txBox="1"/>
          <p:nvPr/>
        </p:nvSpPr>
        <p:spPr>
          <a:xfrm>
            <a:off x="0" y="842964"/>
            <a:ext cx="12165806" cy="4549835"/>
          </a:xfrm>
          <a:prstGeom prst="rect">
            <a:avLst/>
          </a:prstGeom>
          <a:noFill/>
        </p:spPr>
        <p:txBody>
          <a:bodyPr wrap="square">
            <a:spAutoFit/>
          </a:bodyPr>
          <a:lstStyle/>
          <a:p>
            <a:pPr>
              <a:lnSpc>
                <a:spcPct val="150000"/>
              </a:lnSpc>
            </a:pPr>
            <a:r>
              <a:rPr lang="en-AU" sz="2800" b="1" dirty="0">
                <a:latin typeface="Calibir"/>
              </a:rPr>
              <a:t>14. What text </a:t>
            </a:r>
            <a:r>
              <a:rPr lang="en-AU" sz="2800" b="1" dirty="0" err="1">
                <a:latin typeface="Calibir"/>
              </a:rPr>
              <a:t>color</a:t>
            </a:r>
            <a:r>
              <a:rPr lang="en-AU" sz="2800" b="1" dirty="0">
                <a:latin typeface="Calibir"/>
              </a:rPr>
              <a:t> should be used for navigation links?</a:t>
            </a:r>
          </a:p>
          <a:p>
            <a:pPr>
              <a:lnSpc>
                <a:spcPct val="150000"/>
              </a:lnSpc>
            </a:pPr>
            <a:r>
              <a:rPr lang="en-AU" sz="2800" dirty="0">
                <a:latin typeface="Calibir"/>
              </a:rPr>
              <a:t>A. White (#FFFFFF) </a:t>
            </a:r>
          </a:p>
          <a:p>
            <a:pPr>
              <a:lnSpc>
                <a:spcPct val="150000"/>
              </a:lnSpc>
            </a:pPr>
            <a:r>
              <a:rPr lang="en-AU" sz="2800" dirty="0">
                <a:latin typeface="Calibir"/>
              </a:rPr>
              <a:t>B. Black (#000000) </a:t>
            </a:r>
          </a:p>
          <a:p>
            <a:pPr>
              <a:lnSpc>
                <a:spcPct val="150000"/>
              </a:lnSpc>
            </a:pPr>
            <a:r>
              <a:rPr lang="en-AU" sz="2800" dirty="0">
                <a:latin typeface="Calibir"/>
              </a:rPr>
              <a:t>C. Green (#00FF00) </a:t>
            </a:r>
          </a:p>
          <a:p>
            <a:pPr>
              <a:lnSpc>
                <a:spcPct val="150000"/>
              </a:lnSpc>
            </a:pPr>
            <a:r>
              <a:rPr lang="en-AU" sz="2800" dirty="0">
                <a:latin typeface="Calibir"/>
              </a:rPr>
              <a:t>D. Blue (#0000FF) </a:t>
            </a:r>
          </a:p>
          <a:p>
            <a:pPr>
              <a:lnSpc>
                <a:spcPct val="150000"/>
              </a:lnSpc>
            </a:pPr>
            <a:r>
              <a:rPr lang="en-AU" sz="2800" dirty="0">
                <a:latin typeface="Calibir"/>
              </a:rPr>
              <a:t>White text creates a strong contrast against the dark blue navigation background, making links easy to read.</a:t>
            </a:r>
          </a:p>
        </p:txBody>
      </p:sp>
      <p:sp>
        <p:nvSpPr>
          <p:cNvPr id="8" name="Rectangle: Rounded Corners 7">
            <a:extLst>
              <a:ext uri="{FF2B5EF4-FFF2-40B4-BE49-F238E27FC236}">
                <a16:creationId xmlns:a16="http://schemas.microsoft.com/office/drawing/2014/main" id="{596BE18A-8714-A0C0-DE65-6DA24CD3C763}"/>
              </a:ext>
            </a:extLst>
          </p:cNvPr>
          <p:cNvSpPr/>
          <p:nvPr/>
        </p:nvSpPr>
        <p:spPr>
          <a:xfrm>
            <a:off x="0" y="1580583"/>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66338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Effect transition="in" filter="fade">
                                      <p:cBhvr>
                                        <p:cTn id="11" dur="1000"/>
                                        <p:tgtEl>
                                          <p:spTgt spid="7">
                                            <p:txEl>
                                              <p:pRg st="5" end="5"/>
                                            </p:txEl>
                                          </p:spTgt>
                                        </p:tgtEl>
                                      </p:cBhvr>
                                    </p:animEffect>
                                    <p:anim calcmode="lin" valueType="num">
                                      <p:cBhvr>
                                        <p:cTn id="1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78974-2378-5E09-1295-C5BD6B8FB12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BB88B31-3CC0-9BA4-262B-31F10A14007E}"/>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F442380E-CF71-D51A-4F53-802AB994BB84}"/>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BA346C1-F298-968B-B6F7-75C7BB40FBD2}"/>
              </a:ext>
            </a:extLst>
          </p:cNvPr>
          <p:cNvSpPr txBox="1"/>
          <p:nvPr/>
        </p:nvSpPr>
        <p:spPr>
          <a:xfrm>
            <a:off x="0" y="842964"/>
            <a:ext cx="12165806" cy="4549835"/>
          </a:xfrm>
          <a:prstGeom prst="rect">
            <a:avLst/>
          </a:prstGeom>
          <a:noFill/>
        </p:spPr>
        <p:txBody>
          <a:bodyPr wrap="square">
            <a:spAutoFit/>
          </a:bodyPr>
          <a:lstStyle/>
          <a:p>
            <a:pPr>
              <a:lnSpc>
                <a:spcPct val="150000"/>
              </a:lnSpc>
            </a:pPr>
            <a:r>
              <a:rPr lang="en-AU" sz="2800" b="1" dirty="0">
                <a:latin typeface="Calibir"/>
              </a:rPr>
              <a:t>15. What display value is assigned to the .mobile class?</a:t>
            </a:r>
          </a:p>
          <a:p>
            <a:pPr>
              <a:lnSpc>
                <a:spcPct val="150000"/>
              </a:lnSpc>
            </a:pPr>
            <a:r>
              <a:rPr lang="en-AU" sz="2800" dirty="0">
                <a:latin typeface="Calibir"/>
              </a:rPr>
              <a:t>A. inline </a:t>
            </a:r>
          </a:p>
          <a:p>
            <a:pPr>
              <a:lnSpc>
                <a:spcPct val="150000"/>
              </a:lnSpc>
            </a:pPr>
            <a:r>
              <a:rPr lang="en-AU" sz="2800" dirty="0">
                <a:latin typeface="Calibir"/>
              </a:rPr>
              <a:t>B. block </a:t>
            </a:r>
          </a:p>
          <a:p>
            <a:pPr>
              <a:lnSpc>
                <a:spcPct val="150000"/>
              </a:lnSpc>
            </a:pPr>
            <a:r>
              <a:rPr lang="en-AU" sz="2800" dirty="0">
                <a:latin typeface="Calibir"/>
              </a:rPr>
              <a:t>C. flex </a:t>
            </a:r>
          </a:p>
          <a:p>
            <a:pPr>
              <a:lnSpc>
                <a:spcPct val="150000"/>
              </a:lnSpc>
            </a:pPr>
            <a:r>
              <a:rPr lang="en-AU" sz="2800" dirty="0">
                <a:latin typeface="Calibir"/>
              </a:rPr>
              <a:t>D. grid </a:t>
            </a:r>
          </a:p>
          <a:p>
            <a:pPr>
              <a:lnSpc>
                <a:spcPct val="150000"/>
              </a:lnSpc>
            </a:pPr>
            <a:r>
              <a:rPr lang="en-AU" sz="2800" dirty="0">
                <a:latin typeface="Calibir"/>
              </a:rPr>
              <a:t>The inline display value allows the element to appear within the same line as surrounding content.</a:t>
            </a:r>
          </a:p>
        </p:txBody>
      </p:sp>
      <p:sp>
        <p:nvSpPr>
          <p:cNvPr id="8" name="Rectangle: Rounded Corners 7">
            <a:extLst>
              <a:ext uri="{FF2B5EF4-FFF2-40B4-BE49-F238E27FC236}">
                <a16:creationId xmlns:a16="http://schemas.microsoft.com/office/drawing/2014/main" id="{009EAEE0-F544-020E-F09F-D63252BA25AB}"/>
              </a:ext>
            </a:extLst>
          </p:cNvPr>
          <p:cNvSpPr/>
          <p:nvPr/>
        </p:nvSpPr>
        <p:spPr>
          <a:xfrm>
            <a:off x="0" y="1580583"/>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17727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Effect transition="in" filter="fade">
                                      <p:cBhvr>
                                        <p:cTn id="11" dur="1000"/>
                                        <p:tgtEl>
                                          <p:spTgt spid="7">
                                            <p:txEl>
                                              <p:pRg st="5" end="5"/>
                                            </p:txEl>
                                          </p:spTgt>
                                        </p:tgtEl>
                                      </p:cBhvr>
                                    </p:animEffect>
                                    <p:anim calcmode="lin" valueType="num">
                                      <p:cBhvr>
                                        <p:cTn id="1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42688-8615-CF46-677E-2B292497A54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1CFB810-D9CC-97BC-BDA2-2A2FF2BA29B6}"/>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C59B4EA3-487D-342C-86D5-056102EA9102}"/>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1077A8D-BAB7-E8CB-FEBB-1B8131D10AA6}"/>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16. Which file should be edited in Project 2 to add a table?</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apply09.html </a:t>
            </a:r>
          </a:p>
          <a:p>
            <a:pPr>
              <a:lnSpc>
                <a:spcPct val="150000"/>
              </a:lnSpc>
            </a:pPr>
            <a:r>
              <a:rPr lang="en-AU" sz="2800" dirty="0">
                <a:latin typeface="Calibir"/>
              </a:rPr>
              <a:t>B. apply08.html </a:t>
            </a:r>
          </a:p>
          <a:p>
            <a:pPr>
              <a:lnSpc>
                <a:spcPct val="150000"/>
              </a:lnSpc>
            </a:pPr>
            <a:r>
              <a:rPr lang="en-AU" sz="2800" dirty="0">
                <a:latin typeface="Calibir"/>
              </a:rPr>
              <a:t>C. index.html </a:t>
            </a:r>
          </a:p>
          <a:p>
            <a:pPr>
              <a:lnSpc>
                <a:spcPct val="150000"/>
              </a:lnSpc>
            </a:pPr>
            <a:r>
              <a:rPr lang="en-AU" sz="2800" dirty="0">
                <a:latin typeface="Calibir"/>
              </a:rPr>
              <a:t>D. form09.html </a:t>
            </a:r>
          </a:p>
          <a:p>
            <a:pPr>
              <a:lnSpc>
                <a:spcPct val="150000"/>
              </a:lnSpc>
            </a:pPr>
            <a:r>
              <a:rPr lang="en-AU" sz="2800" dirty="0">
                <a:latin typeface="Calibir"/>
              </a:rPr>
              <a:t>Project 2 instructions require adding the table to apply09.html, so that is the file that must be edited.</a:t>
            </a:r>
          </a:p>
        </p:txBody>
      </p:sp>
      <p:sp>
        <p:nvSpPr>
          <p:cNvPr id="8" name="Rectangle: Rounded Corners 7">
            <a:extLst>
              <a:ext uri="{FF2B5EF4-FFF2-40B4-BE49-F238E27FC236}">
                <a16:creationId xmlns:a16="http://schemas.microsoft.com/office/drawing/2014/main" id="{DB4754D7-05E0-B46A-415D-B71A99D477CE}"/>
              </a:ext>
            </a:extLst>
          </p:cNvPr>
          <p:cNvSpPr/>
          <p:nvPr/>
        </p:nvSpPr>
        <p:spPr>
          <a:xfrm>
            <a:off x="-26194" y="2180658"/>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7070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animEffect transition="in" filter="fade">
                                      <p:cBhvr>
                                        <p:cTn id="7" dur="1000"/>
                                        <p:tgtEl>
                                          <p:spTgt spid="7">
                                            <p:txEl>
                                              <p:pRg st="6" end="6"/>
                                            </p:txEl>
                                          </p:spTgt>
                                        </p:tgtEl>
                                      </p:cBhvr>
                                    </p:animEffect>
                                    <p:anim calcmode="lin" valueType="num">
                                      <p:cBhvr>
                                        <p:cTn id="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6" end="6"/>
                                            </p:txEl>
                                          </p:spTgt>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B302B-06B7-9073-56DE-BE4EC125D24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F2FE4F1-6CA6-2F5B-F6E6-D02341AF2035}"/>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E0C888C9-2248-89C7-39B3-4095CE2F6AB4}"/>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B505056-54A2-5BF8-105F-59C5A4D5A33E}"/>
              </a:ext>
            </a:extLst>
          </p:cNvPr>
          <p:cNvSpPr txBox="1"/>
          <p:nvPr/>
        </p:nvSpPr>
        <p:spPr>
          <a:xfrm>
            <a:off x="0" y="842964"/>
            <a:ext cx="12165806" cy="4549835"/>
          </a:xfrm>
          <a:prstGeom prst="rect">
            <a:avLst/>
          </a:prstGeom>
          <a:noFill/>
        </p:spPr>
        <p:txBody>
          <a:bodyPr wrap="square">
            <a:spAutoFit/>
          </a:bodyPr>
          <a:lstStyle/>
          <a:p>
            <a:pPr>
              <a:lnSpc>
                <a:spcPct val="150000"/>
              </a:lnSpc>
            </a:pPr>
            <a:r>
              <a:rPr lang="en-AU" sz="2800" b="1" dirty="0">
                <a:latin typeface="Calibir"/>
              </a:rPr>
              <a:t>17. What width should be assigned to the table in applystyles09.css?</a:t>
            </a:r>
          </a:p>
          <a:p>
            <a:pPr>
              <a:lnSpc>
                <a:spcPct val="150000"/>
              </a:lnSpc>
            </a:pPr>
            <a:r>
              <a:rPr lang="en-AU" sz="2800" dirty="0">
                <a:latin typeface="Calibir"/>
              </a:rPr>
              <a:t>A. 80% </a:t>
            </a:r>
          </a:p>
          <a:p>
            <a:pPr>
              <a:lnSpc>
                <a:spcPct val="150000"/>
              </a:lnSpc>
            </a:pPr>
            <a:r>
              <a:rPr lang="en-AU" sz="2800" dirty="0">
                <a:latin typeface="Calibir"/>
              </a:rPr>
              <a:t>B. 100% </a:t>
            </a:r>
          </a:p>
          <a:p>
            <a:pPr>
              <a:lnSpc>
                <a:spcPct val="150000"/>
              </a:lnSpc>
            </a:pPr>
            <a:r>
              <a:rPr lang="en-AU" sz="2800" dirty="0">
                <a:latin typeface="Calibir"/>
              </a:rPr>
              <a:t>C. 60% </a:t>
            </a:r>
          </a:p>
          <a:p>
            <a:pPr>
              <a:lnSpc>
                <a:spcPct val="150000"/>
              </a:lnSpc>
            </a:pPr>
            <a:r>
              <a:rPr lang="en-AU" sz="2800" dirty="0">
                <a:latin typeface="Calibir"/>
              </a:rPr>
              <a:t>D. auto </a:t>
            </a:r>
          </a:p>
          <a:p>
            <a:pPr>
              <a:lnSpc>
                <a:spcPct val="150000"/>
              </a:lnSpc>
            </a:pPr>
            <a:r>
              <a:rPr lang="en-AU" sz="2800" dirty="0">
                <a:latin typeface="Calibir"/>
              </a:rPr>
              <a:t>Setting the table width to 80% gives it a balanced size while leaving space on both sides.</a:t>
            </a:r>
          </a:p>
        </p:txBody>
      </p:sp>
      <p:sp>
        <p:nvSpPr>
          <p:cNvPr id="8" name="Rectangle: Rounded Corners 7">
            <a:extLst>
              <a:ext uri="{FF2B5EF4-FFF2-40B4-BE49-F238E27FC236}">
                <a16:creationId xmlns:a16="http://schemas.microsoft.com/office/drawing/2014/main" id="{CDC820E0-71D6-C9A9-349D-3C7D03883884}"/>
              </a:ext>
            </a:extLst>
          </p:cNvPr>
          <p:cNvSpPr/>
          <p:nvPr/>
        </p:nvSpPr>
        <p:spPr>
          <a:xfrm>
            <a:off x="-26194" y="1580583"/>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90970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 calcmode="lin" valueType="num">
                                      <p:cBhvr additive="base">
                                        <p:cTn id="1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919F5-53F9-1C88-D122-E252BF994D7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5AEACF1-A816-A1D7-36FF-33E998671370}"/>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CF395395-5160-1B2B-9203-0B1016C741F9}"/>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02ED4A7-7322-4A3A-316E-7338728A763D}"/>
              </a:ext>
            </a:extLst>
          </p:cNvPr>
          <p:cNvSpPr txBox="1"/>
          <p:nvPr/>
        </p:nvSpPr>
        <p:spPr>
          <a:xfrm>
            <a:off x="0" y="842964"/>
            <a:ext cx="12165806" cy="4549835"/>
          </a:xfrm>
          <a:prstGeom prst="rect">
            <a:avLst/>
          </a:prstGeom>
          <a:noFill/>
        </p:spPr>
        <p:txBody>
          <a:bodyPr wrap="square">
            <a:spAutoFit/>
          </a:bodyPr>
          <a:lstStyle/>
          <a:p>
            <a:pPr>
              <a:lnSpc>
                <a:spcPct val="150000"/>
              </a:lnSpc>
            </a:pPr>
            <a:r>
              <a:rPr lang="en-AU" sz="2800" b="1" dirty="0">
                <a:latin typeface="Calibir"/>
              </a:rPr>
              <a:t>18. Which CSS code </a:t>
            </a:r>
            <a:r>
              <a:rPr lang="en-AU" sz="2800" b="1" dirty="0" err="1">
                <a:latin typeface="Calibir"/>
              </a:rPr>
              <a:t>centers</a:t>
            </a:r>
            <a:r>
              <a:rPr lang="en-AU" sz="2800" b="1" dirty="0">
                <a:latin typeface="Calibir"/>
              </a:rPr>
              <a:t> the table on the page?</a:t>
            </a:r>
          </a:p>
          <a:p>
            <a:pPr>
              <a:lnSpc>
                <a:spcPct val="150000"/>
              </a:lnSpc>
            </a:pPr>
            <a:r>
              <a:rPr lang="en-AU" sz="2800" dirty="0">
                <a:latin typeface="Calibir"/>
              </a:rPr>
              <a:t>A. margin-left: auto; and margin-right: auto; </a:t>
            </a:r>
          </a:p>
          <a:p>
            <a:pPr>
              <a:lnSpc>
                <a:spcPct val="150000"/>
              </a:lnSpc>
            </a:pPr>
            <a:r>
              <a:rPr lang="en-AU" sz="2800" dirty="0">
                <a:latin typeface="Calibir"/>
              </a:rPr>
              <a:t>B. text-align: </a:t>
            </a:r>
            <a:r>
              <a:rPr lang="en-AU" sz="2800" dirty="0" err="1">
                <a:latin typeface="Calibir"/>
              </a:rPr>
              <a:t>center</a:t>
            </a:r>
            <a:r>
              <a:rPr lang="en-AU" sz="2800" dirty="0">
                <a:latin typeface="Calibir"/>
              </a:rPr>
              <a:t>; </a:t>
            </a:r>
          </a:p>
          <a:p>
            <a:pPr>
              <a:lnSpc>
                <a:spcPct val="150000"/>
              </a:lnSpc>
            </a:pPr>
            <a:r>
              <a:rPr lang="en-AU" sz="2800" dirty="0">
                <a:latin typeface="Calibir"/>
              </a:rPr>
              <a:t>C. display: inline-block; </a:t>
            </a:r>
          </a:p>
          <a:p>
            <a:pPr>
              <a:lnSpc>
                <a:spcPct val="150000"/>
              </a:lnSpc>
            </a:pPr>
            <a:r>
              <a:rPr lang="en-AU" sz="2800" dirty="0">
                <a:latin typeface="Calibir"/>
              </a:rPr>
              <a:t>D. float: none; </a:t>
            </a:r>
          </a:p>
          <a:p>
            <a:pPr>
              <a:lnSpc>
                <a:spcPct val="150000"/>
              </a:lnSpc>
            </a:pPr>
            <a:r>
              <a:rPr lang="en-AU" sz="2800" dirty="0">
                <a:latin typeface="Calibir"/>
              </a:rPr>
              <a:t>Using automatic left and right margins </a:t>
            </a:r>
            <a:r>
              <a:rPr lang="en-AU" sz="2800" dirty="0" err="1">
                <a:latin typeface="Calibir"/>
              </a:rPr>
              <a:t>centers</a:t>
            </a:r>
            <a:r>
              <a:rPr lang="en-AU" sz="2800" dirty="0">
                <a:latin typeface="Calibir"/>
              </a:rPr>
              <a:t> the table horizontally within its container.</a:t>
            </a:r>
          </a:p>
        </p:txBody>
      </p:sp>
      <p:sp>
        <p:nvSpPr>
          <p:cNvPr id="8" name="Rectangle: Rounded Corners 7">
            <a:extLst>
              <a:ext uri="{FF2B5EF4-FFF2-40B4-BE49-F238E27FC236}">
                <a16:creationId xmlns:a16="http://schemas.microsoft.com/office/drawing/2014/main" id="{FDF5DAF4-997B-D463-83CA-82028E4ABD17}"/>
              </a:ext>
            </a:extLst>
          </p:cNvPr>
          <p:cNvSpPr/>
          <p:nvPr/>
        </p:nvSpPr>
        <p:spPr>
          <a:xfrm>
            <a:off x="-26194" y="1580583"/>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57319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Effect transition="in" filter="fade">
                                      <p:cBhvr>
                                        <p:cTn id="11" dur="1000"/>
                                        <p:tgtEl>
                                          <p:spTgt spid="7">
                                            <p:txEl>
                                              <p:pRg st="5" end="5"/>
                                            </p:txEl>
                                          </p:spTgt>
                                        </p:tgtEl>
                                      </p:cBhvr>
                                    </p:animEffect>
                                    <p:anim calcmode="lin" valueType="num">
                                      <p:cBhvr>
                                        <p:cTn id="1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C621-B0B1-A71D-BDC8-6B493C6B93B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AADE61B-0D08-3A81-29BB-4F445D952056}"/>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565B37B0-8381-A006-D23E-29D22B7BE4B1}"/>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719FAB9-3CEB-A194-4ABC-2C68D86EEE5D}"/>
              </a:ext>
            </a:extLst>
          </p:cNvPr>
          <p:cNvSpPr txBox="1"/>
          <p:nvPr/>
        </p:nvSpPr>
        <p:spPr>
          <a:xfrm>
            <a:off x="0" y="842964"/>
            <a:ext cx="12165806" cy="4549835"/>
          </a:xfrm>
          <a:prstGeom prst="rect">
            <a:avLst/>
          </a:prstGeom>
          <a:noFill/>
        </p:spPr>
        <p:txBody>
          <a:bodyPr wrap="square">
            <a:spAutoFit/>
          </a:bodyPr>
          <a:lstStyle/>
          <a:p>
            <a:pPr>
              <a:lnSpc>
                <a:spcPct val="150000"/>
              </a:lnSpc>
            </a:pPr>
            <a:r>
              <a:rPr lang="en-AU" sz="2800" b="1" dirty="0">
                <a:latin typeface="Calibir"/>
              </a:rPr>
              <a:t>19. What should be added first inside the &lt;table&gt; element?</a:t>
            </a:r>
          </a:p>
          <a:p>
            <a:pPr>
              <a:lnSpc>
                <a:spcPct val="150000"/>
              </a:lnSpc>
            </a:pPr>
            <a:r>
              <a:rPr lang="en-AU" sz="2800" dirty="0">
                <a:latin typeface="Calibir"/>
              </a:rPr>
              <a:t>A. 2017 Sales by Quarter </a:t>
            </a:r>
          </a:p>
          <a:p>
            <a:pPr>
              <a:lnSpc>
                <a:spcPct val="150000"/>
              </a:lnSpc>
            </a:pPr>
            <a:r>
              <a:rPr lang="en-AU" sz="2800" dirty="0">
                <a:latin typeface="Calibir"/>
              </a:rPr>
              <a:t>B. Sales </a:t>
            </a:r>
          </a:p>
          <a:p>
            <a:pPr>
              <a:lnSpc>
                <a:spcPct val="150000"/>
              </a:lnSpc>
            </a:pPr>
            <a:r>
              <a:rPr lang="en-AU" sz="2800" dirty="0">
                <a:latin typeface="Calibir"/>
              </a:rPr>
              <a:t>C. A &lt;tag&gt; </a:t>
            </a:r>
          </a:p>
          <a:p>
            <a:pPr>
              <a:lnSpc>
                <a:spcPct val="150000"/>
              </a:lnSpc>
            </a:pPr>
            <a:r>
              <a:rPr lang="en-AU" sz="2800" dirty="0">
                <a:latin typeface="Calibir"/>
              </a:rPr>
              <a:t>D. A summary attribute</a:t>
            </a:r>
          </a:p>
          <a:p>
            <a:pPr>
              <a:lnSpc>
                <a:spcPct val="150000"/>
              </a:lnSpc>
            </a:pPr>
            <a:r>
              <a:rPr lang="en-AU" sz="2800" dirty="0">
                <a:latin typeface="Calibir"/>
              </a:rPr>
              <a:t>This text is used as the table caption or title, helping users understand the table’s purpose.</a:t>
            </a:r>
          </a:p>
        </p:txBody>
      </p:sp>
      <p:sp>
        <p:nvSpPr>
          <p:cNvPr id="8" name="Rectangle: Rounded Corners 7">
            <a:extLst>
              <a:ext uri="{FF2B5EF4-FFF2-40B4-BE49-F238E27FC236}">
                <a16:creationId xmlns:a16="http://schemas.microsoft.com/office/drawing/2014/main" id="{64746F6D-D359-A373-A8C5-95E4AB5DC249}"/>
              </a:ext>
            </a:extLst>
          </p:cNvPr>
          <p:cNvSpPr/>
          <p:nvPr/>
        </p:nvSpPr>
        <p:spPr>
          <a:xfrm>
            <a:off x="-26194" y="1580583"/>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714817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Effect transition="in" filter="fade">
                                      <p:cBhvr>
                                        <p:cTn id="11" dur="1000"/>
                                        <p:tgtEl>
                                          <p:spTgt spid="7">
                                            <p:txEl>
                                              <p:pRg st="5" end="5"/>
                                            </p:txEl>
                                          </p:spTgt>
                                        </p:tgtEl>
                                      </p:cBhvr>
                                    </p:animEffect>
                                    <p:anim calcmode="lin" valueType="num">
                                      <p:cBhvr>
                                        <p:cTn id="1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924BA-6470-D80A-3157-263473B8BA7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7A894E7-8652-C833-618F-0A39E9C42945}"/>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AFEB6C08-A066-06BD-9F4C-8EB384D6F66F}"/>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C5A7FA14-5BF2-8938-F0CC-867C33DC8641}"/>
              </a:ext>
            </a:extLst>
          </p:cNvPr>
          <p:cNvSpPr txBox="1"/>
          <p:nvPr/>
        </p:nvSpPr>
        <p:spPr>
          <a:xfrm>
            <a:off x="0" y="842964"/>
            <a:ext cx="12165806" cy="3903504"/>
          </a:xfrm>
          <a:prstGeom prst="rect">
            <a:avLst/>
          </a:prstGeom>
          <a:noFill/>
        </p:spPr>
        <p:txBody>
          <a:bodyPr wrap="square">
            <a:spAutoFit/>
          </a:bodyPr>
          <a:lstStyle/>
          <a:p>
            <a:pPr>
              <a:lnSpc>
                <a:spcPct val="150000"/>
              </a:lnSpc>
            </a:pPr>
            <a:r>
              <a:rPr lang="en-AU" sz="2800" b="1" dirty="0">
                <a:latin typeface="Calibir"/>
              </a:rPr>
              <a:t>20. Which product is listed first in the quarterly sales table?</a:t>
            </a:r>
          </a:p>
          <a:p>
            <a:pPr>
              <a:lnSpc>
                <a:spcPct val="150000"/>
              </a:lnSpc>
            </a:pPr>
            <a:r>
              <a:rPr lang="en-AU" sz="2800" dirty="0">
                <a:latin typeface="Calibir"/>
              </a:rPr>
              <a:t>A. Tablets </a:t>
            </a:r>
          </a:p>
          <a:p>
            <a:pPr>
              <a:lnSpc>
                <a:spcPct val="150000"/>
              </a:lnSpc>
            </a:pPr>
            <a:r>
              <a:rPr lang="en-AU" sz="2800" dirty="0">
                <a:latin typeface="Calibir"/>
              </a:rPr>
              <a:t>B. Monitors </a:t>
            </a:r>
          </a:p>
          <a:p>
            <a:pPr>
              <a:lnSpc>
                <a:spcPct val="150000"/>
              </a:lnSpc>
            </a:pPr>
            <a:r>
              <a:rPr lang="en-AU" sz="2800" dirty="0">
                <a:latin typeface="Calibir"/>
              </a:rPr>
              <a:t>C. Desktops </a:t>
            </a:r>
          </a:p>
          <a:p>
            <a:pPr>
              <a:lnSpc>
                <a:spcPct val="150000"/>
              </a:lnSpc>
            </a:pPr>
            <a:r>
              <a:rPr lang="en-AU" sz="2800" dirty="0">
                <a:latin typeface="Calibir"/>
              </a:rPr>
              <a:t>D. Laptops </a:t>
            </a:r>
          </a:p>
          <a:p>
            <a:pPr>
              <a:lnSpc>
                <a:spcPct val="150000"/>
              </a:lnSpc>
            </a:pPr>
            <a:r>
              <a:rPr lang="en-AU" sz="2800" dirty="0">
                <a:latin typeface="Calibir"/>
              </a:rPr>
              <a:t>The first row of product data in the table is Tablets.</a:t>
            </a:r>
          </a:p>
        </p:txBody>
      </p:sp>
      <p:sp>
        <p:nvSpPr>
          <p:cNvPr id="8" name="Rectangle: Rounded Corners 7">
            <a:extLst>
              <a:ext uri="{FF2B5EF4-FFF2-40B4-BE49-F238E27FC236}">
                <a16:creationId xmlns:a16="http://schemas.microsoft.com/office/drawing/2014/main" id="{BB0F12CF-34C6-A6EB-00BB-2E9BA094C212}"/>
              </a:ext>
            </a:extLst>
          </p:cNvPr>
          <p:cNvSpPr/>
          <p:nvPr/>
        </p:nvSpPr>
        <p:spPr>
          <a:xfrm>
            <a:off x="-26194" y="1580583"/>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23074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Effect transition="in" filter="fade">
                                      <p:cBhvr>
                                        <p:cTn id="11" dur="1000"/>
                                        <p:tgtEl>
                                          <p:spTgt spid="7">
                                            <p:txEl>
                                              <p:pRg st="5" end="5"/>
                                            </p:txEl>
                                          </p:spTgt>
                                        </p:tgtEl>
                                      </p:cBhvr>
                                    </p:animEffect>
                                    <p:anim calcmode="lin" valueType="num">
                                      <p:cBhvr>
                                        <p:cTn id="1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E7B63-748F-C057-4202-83C65BF1B33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7CAF293-E8CC-442C-0708-5483A1B169F4}"/>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AFDE8559-2AAE-34EE-66EB-B46D4D2F8A95}"/>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F5D21CF-F570-E679-A801-92FED9F6A137}"/>
              </a:ext>
            </a:extLst>
          </p:cNvPr>
          <p:cNvSpPr txBox="1"/>
          <p:nvPr/>
        </p:nvSpPr>
        <p:spPr>
          <a:xfrm>
            <a:off x="0" y="842964"/>
            <a:ext cx="12165806" cy="4549835"/>
          </a:xfrm>
          <a:prstGeom prst="rect">
            <a:avLst/>
          </a:prstGeom>
          <a:noFill/>
        </p:spPr>
        <p:txBody>
          <a:bodyPr wrap="square">
            <a:spAutoFit/>
          </a:bodyPr>
          <a:lstStyle/>
          <a:p>
            <a:pPr>
              <a:lnSpc>
                <a:spcPct val="150000"/>
              </a:lnSpc>
            </a:pPr>
            <a:r>
              <a:rPr lang="en-AU" sz="2800" b="1" dirty="0">
                <a:latin typeface="Calibir"/>
              </a:rPr>
              <a:t>21. Which table text should be </a:t>
            </a:r>
            <a:r>
              <a:rPr lang="en-AU" sz="2800" b="1" dirty="0" err="1">
                <a:latin typeface="Calibir"/>
              </a:rPr>
              <a:t>centered</a:t>
            </a:r>
            <a:r>
              <a:rPr lang="en-AU" sz="2800" b="1" dirty="0">
                <a:latin typeface="Calibir"/>
              </a:rPr>
              <a:t> according to the CSS rules?</a:t>
            </a:r>
          </a:p>
          <a:p>
            <a:pPr>
              <a:lnSpc>
                <a:spcPct val="150000"/>
              </a:lnSpc>
            </a:pPr>
            <a:r>
              <a:rPr lang="en-AU" sz="2800" dirty="0">
                <a:latin typeface="Calibir"/>
              </a:rPr>
              <a:t>A. td text </a:t>
            </a:r>
          </a:p>
          <a:p>
            <a:pPr>
              <a:lnSpc>
                <a:spcPct val="150000"/>
              </a:lnSpc>
            </a:pPr>
            <a:r>
              <a:rPr lang="en-AU" sz="2800" dirty="0">
                <a:latin typeface="Calibir"/>
              </a:rPr>
              <a:t>B. </a:t>
            </a:r>
            <a:r>
              <a:rPr lang="en-AU" sz="2800" dirty="0" err="1">
                <a:latin typeface="Calibir"/>
              </a:rPr>
              <a:t>th</a:t>
            </a:r>
            <a:r>
              <a:rPr lang="en-AU" sz="2800" dirty="0">
                <a:latin typeface="Calibir"/>
              </a:rPr>
              <a:t> text </a:t>
            </a:r>
          </a:p>
          <a:p>
            <a:pPr>
              <a:lnSpc>
                <a:spcPct val="150000"/>
              </a:lnSpc>
            </a:pPr>
            <a:r>
              <a:rPr lang="en-AU" sz="2800" dirty="0">
                <a:latin typeface="Calibir"/>
              </a:rPr>
              <a:t>C. caption text </a:t>
            </a:r>
          </a:p>
          <a:p>
            <a:pPr>
              <a:lnSpc>
                <a:spcPct val="150000"/>
              </a:lnSpc>
            </a:pPr>
            <a:r>
              <a:rPr lang="en-AU" sz="2800" dirty="0">
                <a:latin typeface="Calibir"/>
              </a:rPr>
              <a:t>D. footer text </a:t>
            </a:r>
          </a:p>
          <a:p>
            <a:pPr>
              <a:lnSpc>
                <a:spcPct val="150000"/>
              </a:lnSpc>
            </a:pPr>
            <a:r>
              <a:rPr lang="en-AU" sz="2800" dirty="0">
                <a:latin typeface="Calibir"/>
              </a:rPr>
              <a:t>The CSS rule </a:t>
            </a:r>
            <a:r>
              <a:rPr lang="en-AU" sz="2800" dirty="0" err="1">
                <a:latin typeface="Calibir"/>
              </a:rPr>
              <a:t>centers</a:t>
            </a:r>
            <a:r>
              <a:rPr lang="en-AU" sz="2800" dirty="0">
                <a:latin typeface="Calibir"/>
              </a:rPr>
              <a:t> the text inside table data cells (td), making the data easier to read.</a:t>
            </a:r>
          </a:p>
        </p:txBody>
      </p:sp>
      <p:sp>
        <p:nvSpPr>
          <p:cNvPr id="8" name="Rectangle: Rounded Corners 7">
            <a:extLst>
              <a:ext uri="{FF2B5EF4-FFF2-40B4-BE49-F238E27FC236}">
                <a16:creationId xmlns:a16="http://schemas.microsoft.com/office/drawing/2014/main" id="{835BAF00-DFFB-6CA7-B452-154FADDCD0E5}"/>
              </a:ext>
            </a:extLst>
          </p:cNvPr>
          <p:cNvSpPr/>
          <p:nvPr/>
        </p:nvSpPr>
        <p:spPr>
          <a:xfrm>
            <a:off x="-26194" y="1580583"/>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6514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 calcmode="lin" valueType="num">
                                      <p:cBhvr additive="base">
                                        <p:cTn id="1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0F713-1D71-6472-2F57-555364DBD6F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8044B37-5827-1FE8-A0D8-ECF4709A421E}"/>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61DAFFE3-88D4-70CE-6382-85535E33BBB0}"/>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FC7518C-89DC-CB70-98A5-B0B39DE4BAAE}"/>
              </a:ext>
            </a:extLst>
          </p:cNvPr>
          <p:cNvSpPr txBox="1"/>
          <p:nvPr/>
        </p:nvSpPr>
        <p:spPr>
          <a:xfrm>
            <a:off x="0" y="842964"/>
            <a:ext cx="12165806" cy="4549835"/>
          </a:xfrm>
          <a:prstGeom prst="rect">
            <a:avLst/>
          </a:prstGeom>
          <a:noFill/>
        </p:spPr>
        <p:txBody>
          <a:bodyPr wrap="square">
            <a:spAutoFit/>
          </a:bodyPr>
          <a:lstStyle/>
          <a:p>
            <a:pPr>
              <a:lnSpc>
                <a:spcPct val="150000"/>
              </a:lnSpc>
            </a:pPr>
            <a:r>
              <a:rPr lang="en-AU" sz="2800" b="1" dirty="0">
                <a:latin typeface="Calibir"/>
              </a:rPr>
              <a:t>22. What font size should be used for the table caption?</a:t>
            </a:r>
          </a:p>
          <a:p>
            <a:pPr>
              <a:lnSpc>
                <a:spcPct val="150000"/>
              </a:lnSpc>
            </a:pPr>
            <a:r>
              <a:rPr lang="en-AU" sz="2800" dirty="0">
                <a:latin typeface="Calibir"/>
              </a:rPr>
              <a:t>A. 2em </a:t>
            </a:r>
          </a:p>
          <a:p>
            <a:pPr>
              <a:lnSpc>
                <a:spcPct val="150000"/>
              </a:lnSpc>
            </a:pPr>
            <a:r>
              <a:rPr lang="en-AU" sz="2800" dirty="0">
                <a:latin typeface="Calibir"/>
              </a:rPr>
              <a:t>B. 1em </a:t>
            </a:r>
          </a:p>
          <a:p>
            <a:pPr>
              <a:lnSpc>
                <a:spcPct val="150000"/>
              </a:lnSpc>
            </a:pPr>
            <a:r>
              <a:rPr lang="en-AU" sz="2800" dirty="0">
                <a:latin typeface="Calibir"/>
              </a:rPr>
              <a:t>C. 3em </a:t>
            </a:r>
          </a:p>
          <a:p>
            <a:pPr>
              <a:lnSpc>
                <a:spcPct val="150000"/>
              </a:lnSpc>
            </a:pPr>
            <a:r>
              <a:rPr lang="en-AU" sz="2800" dirty="0">
                <a:latin typeface="Calibir"/>
              </a:rPr>
              <a:t>D. 14px </a:t>
            </a:r>
          </a:p>
          <a:p>
            <a:pPr>
              <a:lnSpc>
                <a:spcPct val="150000"/>
              </a:lnSpc>
            </a:pPr>
            <a:r>
              <a:rPr lang="en-AU" sz="2800" dirty="0">
                <a:latin typeface="Calibir"/>
              </a:rPr>
              <a:t>A font size of 2em makes the caption larger than normal text, helping it stand out as the table title.</a:t>
            </a:r>
          </a:p>
        </p:txBody>
      </p:sp>
      <p:sp>
        <p:nvSpPr>
          <p:cNvPr id="8" name="Rectangle: Rounded Corners 7">
            <a:extLst>
              <a:ext uri="{FF2B5EF4-FFF2-40B4-BE49-F238E27FC236}">
                <a16:creationId xmlns:a16="http://schemas.microsoft.com/office/drawing/2014/main" id="{C97D8179-1746-3047-A624-E02C8CE2B860}"/>
              </a:ext>
            </a:extLst>
          </p:cNvPr>
          <p:cNvSpPr/>
          <p:nvPr/>
        </p:nvSpPr>
        <p:spPr>
          <a:xfrm>
            <a:off x="-26194" y="1580583"/>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03775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Effect transition="in" filter="fade">
                                      <p:cBhvr>
                                        <p:cTn id="11" dur="1000"/>
                                        <p:tgtEl>
                                          <p:spTgt spid="7">
                                            <p:txEl>
                                              <p:pRg st="5" end="5"/>
                                            </p:txEl>
                                          </p:spTgt>
                                        </p:tgtEl>
                                      </p:cBhvr>
                                    </p:animEffect>
                                    <p:anim calcmode="lin" valueType="num">
                                      <p:cBhvr>
                                        <p:cTn id="1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C9D15-5A3C-E7F6-688C-EDE2F118482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250E5BF-1D7B-992A-D86D-9E21AC1EB304}"/>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10D14BBA-7341-8D65-3B4C-A06072D2D1D8}"/>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1366888-45F8-A980-9A87-E934EDB05915}"/>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23. In the form09.html activity, which input type should be used for a Date of Birth field?</a:t>
            </a:r>
          </a:p>
          <a:p>
            <a:pPr>
              <a:lnSpc>
                <a:spcPct val="150000"/>
              </a:lnSpc>
            </a:pPr>
            <a:r>
              <a:rPr lang="en-AU" sz="2800" dirty="0">
                <a:latin typeface="Calibir"/>
              </a:rPr>
              <a:t>A. date </a:t>
            </a:r>
          </a:p>
          <a:p>
            <a:pPr>
              <a:lnSpc>
                <a:spcPct val="150000"/>
              </a:lnSpc>
            </a:pPr>
            <a:r>
              <a:rPr lang="en-AU" sz="2800" dirty="0">
                <a:latin typeface="Calibir"/>
              </a:rPr>
              <a:t>B. text </a:t>
            </a:r>
          </a:p>
          <a:p>
            <a:pPr>
              <a:lnSpc>
                <a:spcPct val="150000"/>
              </a:lnSpc>
            </a:pPr>
            <a:r>
              <a:rPr lang="en-AU" sz="2800" dirty="0">
                <a:latin typeface="Calibir"/>
              </a:rPr>
              <a:t>C. time </a:t>
            </a:r>
          </a:p>
          <a:p>
            <a:pPr>
              <a:lnSpc>
                <a:spcPct val="150000"/>
              </a:lnSpc>
            </a:pPr>
            <a:r>
              <a:rPr lang="en-AU" sz="2800" dirty="0">
                <a:latin typeface="Calibir"/>
              </a:rPr>
              <a:t>D. datetime-local </a:t>
            </a:r>
          </a:p>
          <a:p>
            <a:pPr>
              <a:lnSpc>
                <a:spcPct val="150000"/>
              </a:lnSpc>
            </a:pPr>
            <a:r>
              <a:rPr lang="en-AU" sz="2800" dirty="0">
                <a:latin typeface="Calibir"/>
              </a:rPr>
              <a:t>The date input type provides a built-in calendar picker, making it easy for users to select their birth date correctly.</a:t>
            </a:r>
          </a:p>
        </p:txBody>
      </p:sp>
      <p:sp>
        <p:nvSpPr>
          <p:cNvPr id="8" name="Rectangle: Rounded Corners 7">
            <a:extLst>
              <a:ext uri="{FF2B5EF4-FFF2-40B4-BE49-F238E27FC236}">
                <a16:creationId xmlns:a16="http://schemas.microsoft.com/office/drawing/2014/main" id="{88784DA6-3B11-1321-47B0-A67834908464}"/>
              </a:ext>
            </a:extLst>
          </p:cNvPr>
          <p:cNvSpPr/>
          <p:nvPr/>
        </p:nvSpPr>
        <p:spPr>
          <a:xfrm>
            <a:off x="-26194" y="217351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71409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animEffect transition="in" filter="fade">
                                      <p:cBhvr>
                                        <p:cTn id="11" dur="1000"/>
                                        <p:tgtEl>
                                          <p:spTgt spid="7">
                                            <p:txEl>
                                              <p:pRg st="5" end="5"/>
                                            </p:txEl>
                                          </p:spTgt>
                                        </p:tgtEl>
                                      </p:cBhvr>
                                    </p:animEffect>
                                    <p:anim calcmode="lin" valueType="num">
                                      <p:cBhvr>
                                        <p:cTn id="12"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36CDD-EFA8-C5DC-87DE-5934ED4501B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509EB80-2C59-DCFA-1C09-A2071E4102E1}"/>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30486420-235A-1B5B-A5D5-061D9CE76A7C}"/>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27073DC-D1B7-7297-B263-5AECDEE0D4F0}"/>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24. Which attribute should be added to the file input field in the form exercise?</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size="20" </a:t>
            </a:r>
          </a:p>
          <a:p>
            <a:pPr>
              <a:lnSpc>
                <a:spcPct val="150000"/>
              </a:lnSpc>
            </a:pPr>
            <a:r>
              <a:rPr lang="en-AU" sz="2800" dirty="0">
                <a:latin typeface="Calibir"/>
              </a:rPr>
              <a:t>B. value="20" </a:t>
            </a:r>
          </a:p>
          <a:p>
            <a:pPr>
              <a:lnSpc>
                <a:spcPct val="150000"/>
              </a:lnSpc>
            </a:pPr>
            <a:r>
              <a:rPr lang="en-AU" sz="2800" dirty="0">
                <a:latin typeface="Calibir"/>
              </a:rPr>
              <a:t>C. width="20" </a:t>
            </a:r>
          </a:p>
          <a:p>
            <a:pPr>
              <a:lnSpc>
                <a:spcPct val="150000"/>
              </a:lnSpc>
            </a:pPr>
            <a:r>
              <a:rPr lang="en-AU" sz="2800" dirty="0">
                <a:latin typeface="Calibir"/>
              </a:rPr>
              <a:t>D. data-size="20" </a:t>
            </a:r>
          </a:p>
          <a:p>
            <a:pPr>
              <a:lnSpc>
                <a:spcPct val="150000"/>
              </a:lnSpc>
            </a:pPr>
            <a:r>
              <a:rPr lang="en-AU" sz="2800" dirty="0">
                <a:latin typeface="Calibir"/>
              </a:rPr>
              <a:t>The size attribute controls the visible width of the file input box, making it easier for users to see selected file names.</a:t>
            </a:r>
          </a:p>
        </p:txBody>
      </p:sp>
      <p:sp>
        <p:nvSpPr>
          <p:cNvPr id="8" name="Rectangle: Rounded Corners 7">
            <a:extLst>
              <a:ext uri="{FF2B5EF4-FFF2-40B4-BE49-F238E27FC236}">
                <a16:creationId xmlns:a16="http://schemas.microsoft.com/office/drawing/2014/main" id="{B83BEE89-D39D-A889-F883-18AECBECDCC5}"/>
              </a:ext>
            </a:extLst>
          </p:cNvPr>
          <p:cNvSpPr/>
          <p:nvPr/>
        </p:nvSpPr>
        <p:spPr>
          <a:xfrm>
            <a:off x="-26194" y="217351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737635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1000"/>
                                        <p:tgtEl>
                                          <p:spTgt spid="7">
                                            <p:txEl>
                                              <p:pRg st="6" end="6"/>
                                            </p:txEl>
                                          </p:spTgt>
                                        </p:tgtEl>
                                      </p:cBhvr>
                                    </p:animEffect>
                                    <p:anim calcmode="lin" valueType="num">
                                      <p:cBhvr>
                                        <p:cTn id="1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4C728-789B-798F-049C-194F5C1CD93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7D367ED-3E78-C8DF-8D99-FB12E9C1CDCD}"/>
              </a:ext>
            </a:extLst>
          </p:cNvPr>
          <p:cNvPicPr>
            <a:picLocks noChangeAspect="1"/>
          </p:cNvPicPr>
          <p:nvPr/>
        </p:nvPicPr>
        <p:blipFill>
          <a:blip r:embed="rId2"/>
          <a:stretch>
            <a:fillRect/>
          </a:stretch>
        </p:blipFill>
        <p:spPr>
          <a:xfrm>
            <a:off x="10260685" y="0"/>
            <a:ext cx="1931315" cy="1902052"/>
          </a:xfrm>
          <a:prstGeom prst="rect">
            <a:avLst/>
          </a:prstGeom>
        </p:spPr>
      </p:pic>
      <p:sp>
        <p:nvSpPr>
          <p:cNvPr id="3" name="TextBox 2">
            <a:extLst>
              <a:ext uri="{FF2B5EF4-FFF2-40B4-BE49-F238E27FC236}">
                <a16:creationId xmlns:a16="http://schemas.microsoft.com/office/drawing/2014/main" id="{0DB558BC-C802-B7B4-57C8-1047C4AFC587}"/>
              </a:ext>
            </a:extLst>
          </p:cNvPr>
          <p:cNvSpPr txBox="1"/>
          <p:nvPr/>
        </p:nvSpPr>
        <p:spPr>
          <a:xfrm>
            <a:off x="94593" y="0"/>
            <a:ext cx="10264890" cy="671851"/>
          </a:xfrm>
          <a:prstGeom prst="rect">
            <a:avLst/>
          </a:prstGeom>
          <a:noFill/>
        </p:spPr>
        <p:txBody>
          <a:bodyPr wrap="square" rtlCol="0">
            <a:spAutoFit/>
          </a:bodyPr>
          <a:lstStyle/>
          <a:p>
            <a:pPr>
              <a:lnSpc>
                <a:spcPct val="150000"/>
              </a:lnSpc>
            </a:pPr>
            <a:r>
              <a:rPr lang="en-AU" sz="2800" b="1" dirty="0">
                <a:latin typeface="Calibri" panose="020F0502020204030204" pitchFamily="34" charset="0"/>
                <a:cs typeface="Calibri" panose="020F0502020204030204" pitchFamily="34" charset="0"/>
              </a:rPr>
              <a:t>Lab 4 Practice</a:t>
            </a:r>
            <a:endParaRPr lang="en-US" sz="28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9DC6054-964E-52AB-4D25-E4D77A16E714}"/>
              </a:ext>
            </a:extLst>
          </p:cNvPr>
          <p:cNvSpPr txBox="1"/>
          <p:nvPr/>
        </p:nvSpPr>
        <p:spPr>
          <a:xfrm>
            <a:off x="0" y="842964"/>
            <a:ext cx="12165806" cy="5196166"/>
          </a:xfrm>
          <a:prstGeom prst="rect">
            <a:avLst/>
          </a:prstGeom>
          <a:noFill/>
        </p:spPr>
        <p:txBody>
          <a:bodyPr wrap="square">
            <a:spAutoFit/>
          </a:bodyPr>
          <a:lstStyle/>
          <a:p>
            <a:pPr>
              <a:lnSpc>
                <a:spcPct val="150000"/>
              </a:lnSpc>
            </a:pPr>
            <a:r>
              <a:rPr lang="en-AU" sz="2800" b="1" dirty="0">
                <a:latin typeface="Calibir"/>
              </a:rPr>
              <a:t>25. What comparison must be discussed in the final written task?</a:t>
            </a:r>
          </a:p>
          <a:p>
            <a:pPr>
              <a:lnSpc>
                <a:spcPct val="150000"/>
              </a:lnSpc>
            </a:pPr>
            <a:r>
              <a:rPr lang="en-AU" sz="2800" b="1" dirty="0">
                <a:latin typeface="Calibir"/>
              </a:rPr>
              <a:t>Options:</a:t>
            </a:r>
            <a:endParaRPr lang="en-AU" sz="2800" dirty="0">
              <a:latin typeface="Calibir"/>
            </a:endParaRPr>
          </a:p>
          <a:p>
            <a:pPr>
              <a:lnSpc>
                <a:spcPct val="150000"/>
              </a:lnSpc>
            </a:pPr>
            <a:r>
              <a:rPr lang="en-AU" sz="2800" dirty="0">
                <a:latin typeface="Calibir"/>
              </a:rPr>
              <a:t>A. How the date input appears in Firefox versus Google Chrome </a:t>
            </a:r>
          </a:p>
          <a:p>
            <a:pPr>
              <a:lnSpc>
                <a:spcPct val="150000"/>
              </a:lnSpc>
            </a:pPr>
            <a:r>
              <a:rPr lang="en-AU" sz="2800" dirty="0">
                <a:latin typeface="Calibir"/>
              </a:rPr>
              <a:t>B. How radio buttons appear on mobile versus desktop </a:t>
            </a:r>
          </a:p>
          <a:p>
            <a:pPr>
              <a:lnSpc>
                <a:spcPct val="150000"/>
              </a:lnSpc>
            </a:pPr>
            <a:r>
              <a:rPr lang="en-AU" sz="2800" dirty="0">
                <a:latin typeface="Calibir"/>
              </a:rPr>
              <a:t>C. How CSS validation works across browsers </a:t>
            </a:r>
          </a:p>
          <a:p>
            <a:pPr>
              <a:lnSpc>
                <a:spcPct val="150000"/>
              </a:lnSpc>
            </a:pPr>
            <a:r>
              <a:rPr lang="en-AU" sz="2800" dirty="0">
                <a:latin typeface="Calibir"/>
              </a:rPr>
              <a:t>D. How table headers display in Safari </a:t>
            </a:r>
          </a:p>
          <a:p>
            <a:pPr>
              <a:lnSpc>
                <a:spcPct val="150000"/>
              </a:lnSpc>
            </a:pPr>
            <a:r>
              <a:rPr lang="en-AU" sz="2800" dirty="0">
                <a:latin typeface="Calibir"/>
              </a:rPr>
              <a:t>Different browsers may display date input fields differently. The task requires observing and explaining these differences between Firefox and Google Chrome.</a:t>
            </a:r>
          </a:p>
        </p:txBody>
      </p:sp>
      <p:sp>
        <p:nvSpPr>
          <p:cNvPr id="8" name="Rectangle: Rounded Corners 7">
            <a:extLst>
              <a:ext uri="{FF2B5EF4-FFF2-40B4-BE49-F238E27FC236}">
                <a16:creationId xmlns:a16="http://schemas.microsoft.com/office/drawing/2014/main" id="{095AA783-5C3B-9E4F-783C-316EE926A258}"/>
              </a:ext>
            </a:extLst>
          </p:cNvPr>
          <p:cNvSpPr/>
          <p:nvPr/>
        </p:nvSpPr>
        <p:spPr>
          <a:xfrm>
            <a:off x="-26194" y="2173514"/>
            <a:ext cx="10915650" cy="642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9871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1000"/>
                                        <p:tgtEl>
                                          <p:spTgt spid="7">
                                            <p:txEl>
                                              <p:pRg st="6" end="6"/>
                                            </p:txEl>
                                          </p:spTgt>
                                        </p:tgtEl>
                                      </p:cBhvr>
                                    </p:animEffect>
                                    <p:anim calcmode="lin" valueType="num">
                                      <p:cBhvr>
                                        <p:cTn id="1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FB26E-E4E6-9277-F546-F5A9A65F4D52}"/>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2B1819-398A-6A16-1BAD-7C6C9AEEF432}"/>
              </a:ext>
            </a:extLst>
          </p:cNvPr>
          <p:cNvSpPr>
            <a:spLocks noGrp="1"/>
          </p:cNvSpPr>
          <p:nvPr>
            <p:ph type="title"/>
          </p:nvPr>
        </p:nvSpPr>
        <p:spPr>
          <a:xfrm>
            <a:off x="2895600" y="171826"/>
            <a:ext cx="9144000" cy="577517"/>
          </a:xfrm>
        </p:spPr>
        <p:txBody>
          <a:bodyPr>
            <a:noAutofit/>
          </a:bodyPr>
          <a:lstStyle/>
          <a:p>
            <a:r>
              <a:rPr lang="en-US" sz="3500" dirty="0">
                <a:solidFill>
                  <a:schemeClr val="bg1"/>
                </a:solidFill>
                <a:latin typeface="Calibri" panose="020F0502020204030204" pitchFamily="34" charset="0"/>
                <a:cs typeface="Calibri" panose="020F0502020204030204" pitchFamily="34" charset="0"/>
              </a:rPr>
              <a:t>Let’s Answer Your Questions</a:t>
            </a:r>
            <a:endParaRPr lang="en-AU" sz="3500" dirty="0">
              <a:solidFill>
                <a:schemeClr val="bg1"/>
              </a:solidFill>
              <a:latin typeface="Calibri" panose="020F0502020204030204" pitchFamily="34" charset="0"/>
              <a:cs typeface="Calibri" panose="020F0502020204030204" pitchFamily="34" charset="0"/>
            </a:endParaRPr>
          </a:p>
        </p:txBody>
      </p:sp>
      <p:pic>
        <p:nvPicPr>
          <p:cNvPr id="1028" name="Picture 4" descr="Answering Questions In Complete Sentences">
            <a:extLst>
              <a:ext uri="{FF2B5EF4-FFF2-40B4-BE49-F238E27FC236}">
                <a16:creationId xmlns:a16="http://schemas.microsoft.com/office/drawing/2014/main" id="{F3F39DD1-1664-A2BF-97E5-6BA3145EE9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5" y="1340457"/>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4D911-33A5-B864-56FB-887C30BDEF0D}"/>
              </a:ext>
            </a:extLst>
          </p:cNvPr>
          <p:cNvSpPr txBox="1"/>
          <p:nvPr/>
        </p:nvSpPr>
        <p:spPr>
          <a:xfrm>
            <a:off x="169011" y="3293269"/>
            <a:ext cx="11853978" cy="2610843"/>
          </a:xfrm>
          <a:prstGeom prst="rect">
            <a:avLst/>
          </a:prstGeom>
          <a:noFill/>
        </p:spPr>
        <p:txBody>
          <a:bodyPr wrap="square" rtlCol="0">
            <a:spAutoFit/>
          </a:bodyPr>
          <a:lstStyle/>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Live during class</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Ask directly during sessions.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Blackboard Inbox</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structured academic queries.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Email</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For formal communications or attachments.</a:t>
            </a:r>
          </a:p>
          <a:p>
            <a:pPr marL="385763" marR="0" lvl="0" indent="-385763" algn="l" defTabSz="685800" rtl="0" eaLnBrk="0" fontAlgn="base" latinLnBrk="0" hangingPunct="0">
              <a:lnSpc>
                <a:spcPct val="150000"/>
              </a:lnSpc>
              <a:spcBef>
                <a:spcPct val="0"/>
              </a:spcBef>
              <a:spcAft>
                <a:spcPct val="0"/>
              </a:spcAft>
              <a:buClrTx/>
              <a:buSzTx/>
              <a:buFont typeface="+mj-lt"/>
              <a:buAutoNum type="arabicPeriod"/>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Discussion Forum </a:t>
            </a:r>
            <a:r>
              <a:rPr kumimoji="0" lang="en-US" alt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Everyone can see and learn from your question.</a:t>
            </a:r>
          </a:p>
        </p:txBody>
      </p:sp>
    </p:spTree>
    <p:extLst>
      <p:ext uri="{BB962C8B-B14F-4D97-AF65-F5344CB8AC3E}">
        <p14:creationId xmlns:p14="http://schemas.microsoft.com/office/powerpoint/2010/main" val="24753639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742279" y="1275679"/>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5271135" y="1275679"/>
            <a:ext cx="6920865" cy="4543576"/>
          </a:xfrm>
          <a:prstGeom prst="rect">
            <a:avLst/>
          </a:prstGeom>
        </p:spPr>
        <p:txBody>
          <a:bodyPr vert="horz" lIns="68580" tIns="34290" rIns="68580" bIns="34290" rtlCol="0" anchor="t">
            <a:noAutofit/>
          </a:bodyPr>
          <a:lstStyle/>
          <a:p>
            <a:pPr marL="0" marR="0" lvl="0" indent="0" algn="l" defTabSz="685800" rtl="0" eaLnBrk="1" fontAlgn="auto" latinLnBrk="0" hangingPunct="1">
              <a:lnSpc>
                <a:spcPct val="150000"/>
              </a:lnSpc>
              <a:spcBef>
                <a:spcPts val="0"/>
              </a:spcBef>
              <a:spcAft>
                <a:spcPts val="450"/>
              </a:spcAft>
              <a:buClrTx/>
              <a:buSzTx/>
              <a:buFontTx/>
              <a:buNone/>
              <a:tabLst/>
              <a:defRPr/>
            </a:pPr>
            <a:r>
              <a:rPr kumimoji="0" lang="en-US" sz="2800" b="0" i="0" u="none" strike="noStrike" kern="0" cap="none" spc="-20" normalizeH="0" baseline="0" noProof="0" dirty="0">
                <a:ln>
                  <a:noFill/>
                </a:ln>
                <a:effectLst/>
                <a:uLnTx/>
                <a:uFillTx/>
                <a:latin typeface="Calibri" panose="020F0502020204030204" pitchFamily="34" charset="0"/>
                <a:ea typeface="+mn-ea"/>
                <a:cs typeface="Calibri" panose="020F0502020204030204" pitchFamily="34" charset="0"/>
              </a:rPr>
              <a:t>Happy Learning and Bright Futures Ahead!</a:t>
            </a:r>
          </a:p>
          <a:p>
            <a:pPr marL="0" marR="0" lvl="0" indent="0" algn="l" defTabSz="685800" rtl="0" eaLnBrk="1" fontAlgn="auto" latinLnBrk="0" hangingPunct="1">
              <a:lnSpc>
                <a:spcPct val="150000"/>
              </a:lnSpc>
              <a:spcBef>
                <a:spcPts val="0"/>
              </a:spcBef>
              <a:spcAft>
                <a:spcPts val="450"/>
              </a:spcAft>
              <a:buClrTx/>
              <a:buSzTx/>
              <a:buFontTx/>
              <a:buNone/>
              <a:tabLst/>
              <a:defRPr/>
            </a:pPr>
            <a:r>
              <a:rPr kumimoji="0" lang="en-US" sz="2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Stay Connected:</a:t>
            </a:r>
            <a:br>
              <a:rPr kumimoji="0" lang="en-US" sz="2800" b="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br>
            <a: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linkedin.com/in/</a:t>
            </a:r>
            <a:r>
              <a:rPr kumimoji="0" lang="en-US" sz="2800" b="0" i="0" u="none" strike="noStrike" kern="1200" cap="none" spc="0" normalizeH="0" baseline="0" noProof="0" dirty="0" err="1">
                <a:ln>
                  <a:noFill/>
                </a:ln>
                <a:solidFill>
                  <a:schemeClr val="tx2"/>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farshid-keivanian</a:t>
            </a:r>
            <a: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rPr>
              <a:t>  </a:t>
            </a:r>
            <a:b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rPr>
            </a:br>
            <a: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hlinkClick r:id="rId4">
                  <a:extLst>
                    <a:ext uri="{A12FA001-AC4F-418D-AE19-62706E023703}">
                      <ahyp:hlinkClr xmlns:ahyp="http://schemas.microsoft.com/office/drawing/2018/hyperlinkcolor" val="tx"/>
                    </a:ext>
                  </a:extLst>
                </a:hlinkClick>
              </a:rPr>
              <a:t>github.com/</a:t>
            </a:r>
            <a:r>
              <a:rPr kumimoji="0" lang="en-US" sz="2800" b="0" i="0" u="none" strike="noStrike" kern="1200" cap="none" spc="0" normalizeH="0" baseline="0" noProof="0" dirty="0" err="1">
                <a:ln>
                  <a:noFill/>
                </a:ln>
                <a:solidFill>
                  <a:schemeClr val="tx2"/>
                </a:solidFill>
                <a:effectLst/>
                <a:uLnTx/>
                <a:uFillTx/>
                <a:latin typeface="Calibri" panose="020F0502020204030204" pitchFamily="34" charset="0"/>
                <a:ea typeface="+mn-ea"/>
                <a:cs typeface="Calibri" panose="020F0502020204030204" pitchFamily="34" charset="0"/>
                <a:hlinkClick r:id="rId4">
                  <a:extLst>
                    <a:ext uri="{A12FA001-AC4F-418D-AE19-62706E023703}">
                      <ahyp:hlinkClr xmlns:ahyp="http://schemas.microsoft.com/office/drawing/2018/hyperlinkcolor" val="tx"/>
                    </a:ext>
                  </a:extLst>
                </a:hlinkClick>
              </a:rPr>
              <a:t>FarshidKeivanian</a:t>
            </a:r>
            <a:r>
              <a:rPr kumimoji="0" lang="en-US" sz="2800" b="0" i="0" u="none" strike="noStrike" kern="1200" cap="none" spc="0" normalizeH="0" baseline="0" noProof="0" dirty="0">
                <a:ln>
                  <a:noFill/>
                </a:ln>
                <a:solidFill>
                  <a:schemeClr val="tx2"/>
                </a:solidFill>
                <a:effectLst/>
                <a:uLnTx/>
                <a:uFillTx/>
                <a:latin typeface="Calibri" panose="020F0502020204030204" pitchFamily="34" charset="0"/>
                <a:ea typeface="+mn-ea"/>
                <a:cs typeface="Calibri" panose="020F0502020204030204" pitchFamily="34" charset="0"/>
              </a:rPr>
              <a:t> </a:t>
            </a:r>
          </a:p>
          <a:p>
            <a:pPr marL="0" marR="0" lvl="0" indent="-171450" algn="l" defTabSz="685800" rtl="0" eaLnBrk="1" fontAlgn="auto" latinLnBrk="0" hangingPunct="1">
              <a:lnSpc>
                <a:spcPct val="150000"/>
              </a:lnSpc>
              <a:spcBef>
                <a:spcPts val="0"/>
              </a:spcBef>
              <a:spcAft>
                <a:spcPts val="450"/>
              </a:spcAft>
              <a:buClrTx/>
              <a:buSzTx/>
              <a:buFont typeface="Arial" panose="020B0604020202020204" pitchFamily="34" charset="0"/>
              <a:buChar char="•"/>
              <a:tabLst/>
              <a:defRPr/>
            </a:pPr>
            <a:r>
              <a:rPr kumimoji="0" lang="en-US" sz="2800" b="0" i="1"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Education is the most powerful weapon you can use to change the world. </a:t>
            </a:r>
            <a:r>
              <a:rPr kumimoji="0" lang="en-US" sz="2800" b="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2895600" y="-152400"/>
            <a:ext cx="6920865" cy="800732"/>
          </a:xfrm>
          <a:prstGeom prst="rect">
            <a:avLst/>
          </a:prstGeom>
        </p:spPr>
        <p:txBody>
          <a:bodyPr vert="horz" wrap="square" lIns="0" tIns="259588" rIns="0" bIns="0" rtlCol="0">
            <a:spAutoFit/>
          </a:bodyPr>
          <a:lstStyle/>
          <a:p>
            <a:pPr marL="123825">
              <a:spcBef>
                <a:spcPts val="100"/>
              </a:spcBef>
            </a:pPr>
            <a:r>
              <a:rPr lang="en-US" sz="3500" spc="-20" dirty="0">
                <a:solidFill>
                  <a:schemeClr val="bg1"/>
                </a:solidFill>
                <a:latin typeface="Calibri" panose="020F0502020204030204" pitchFamily="34" charset="0"/>
                <a:cs typeface="Calibri" panose="020F0502020204030204" pitchFamily="34" charset="0"/>
              </a:rPr>
              <a:t>Thank You</a:t>
            </a:r>
            <a:endParaRPr sz="3500" spc="-2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2151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3370</TotalTime>
  <Words>7249</Words>
  <Application>Microsoft Office PowerPoint</Application>
  <PresentationFormat>Widescreen</PresentationFormat>
  <Paragraphs>694</Paragraphs>
  <Slides>91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91</vt:i4>
      </vt:variant>
    </vt:vector>
  </HeadingPairs>
  <TitlesOfParts>
    <vt:vector size="100" baseType="lpstr">
      <vt:lpstr>Aptos</vt:lpstr>
      <vt:lpstr>Aptos Display</vt:lpstr>
      <vt:lpstr>Arial</vt:lpstr>
      <vt:lpstr>Calibir</vt:lpstr>
      <vt:lpstr>Calibri</vt:lpstr>
      <vt:lpstr>Consolas</vt:lpstr>
      <vt:lpstr>Tahoma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Farshid Keivanian</dc:creator>
  <cp:lastModifiedBy>Sydney Classroom</cp:lastModifiedBy>
  <cp:revision>672</cp:revision>
  <dcterms:created xsi:type="dcterms:W3CDTF">2024-04-02T03:16:29Z</dcterms:created>
  <dcterms:modified xsi:type="dcterms:W3CDTF">2026-06-05T06:48:09Z</dcterms:modified>
</cp:coreProperties>
</file>
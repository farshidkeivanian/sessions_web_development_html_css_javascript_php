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1"/>
  </p:notesMasterIdLst>
  <p:sldIdLst>
    <p:sldId id="287" r:id="rId3"/>
    <p:sldId id="261" r:id="rId4"/>
    <p:sldId id="566" r:id="rId5"/>
    <p:sldId id="1853" r:id="rId6"/>
    <p:sldId id="567" r:id="rId7"/>
    <p:sldId id="568" r:id="rId8"/>
    <p:sldId id="569" r:id="rId9"/>
    <p:sldId id="573" r:id="rId10"/>
    <p:sldId id="570" r:id="rId11"/>
    <p:sldId id="571" r:id="rId12"/>
    <p:sldId id="572" r:id="rId13"/>
    <p:sldId id="1851" r:id="rId14"/>
    <p:sldId id="574" r:id="rId15"/>
    <p:sldId id="1852" r:id="rId16"/>
    <p:sldId id="576" r:id="rId17"/>
    <p:sldId id="577" r:id="rId18"/>
    <p:sldId id="1817" r:id="rId19"/>
    <p:sldId id="185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60"/>
  </p:normalViewPr>
  <p:slideViewPr>
    <p:cSldViewPr snapToGrid="0">
      <p:cViewPr varScale="1">
        <p:scale>
          <a:sx n="67" d="100"/>
          <a:sy n="67" d="100"/>
        </p:scale>
        <p:origin x="693"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1EC19-7E08-40F0-ACF2-22F660FC7C40}" type="datetimeFigureOut">
              <a:rPr lang="en-AU" smtClean="0"/>
              <a:t>11/06/2026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BD98D-E85B-4601-A77C-B7964013730D}" type="slidenum">
              <a:rPr lang="en-AU" smtClean="0"/>
              <a:t>‹#›</a:t>
            </a:fld>
            <a:endParaRPr lang="en-AU"/>
          </a:p>
        </p:txBody>
      </p:sp>
    </p:spTree>
    <p:extLst>
      <p:ext uri="{BB962C8B-B14F-4D97-AF65-F5344CB8AC3E}">
        <p14:creationId xmlns:p14="http://schemas.microsoft.com/office/powerpoint/2010/main" val="36971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DBD98D-E85B-4601-A77C-B7964013730D}"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20906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6C70-B768-65B1-6556-96BF184E4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95F93E1-16D1-D364-FDE1-F5C43AA28E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CB9E7BB-4707-201F-EE06-A48A12D48944}"/>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5" name="Footer Placeholder 4">
            <a:extLst>
              <a:ext uri="{FF2B5EF4-FFF2-40B4-BE49-F238E27FC236}">
                <a16:creationId xmlns:a16="http://schemas.microsoft.com/office/drawing/2014/main" id="{64A58FB7-C93E-81F6-2E41-0C2CEE839C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5B1B3D-3648-BA5A-F1E8-F3576B98545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9599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AB4AE-322D-B6C3-A1DE-738FD7ED340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99D54C3-19F9-02AD-025C-69DD9166D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A2C77A-6A88-8738-8A39-76BAC476ADD6}"/>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5" name="Footer Placeholder 4">
            <a:extLst>
              <a:ext uri="{FF2B5EF4-FFF2-40B4-BE49-F238E27FC236}">
                <a16:creationId xmlns:a16="http://schemas.microsoft.com/office/drawing/2014/main" id="{57019BD3-F1D6-5FE6-72A9-07F9F9DB2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632BB2-ED4D-4A8C-20BA-C64F1C360C7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6908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EACA-7AAE-C32F-ACC2-3D8D45E23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41DE1E7-6228-8F00-4C8C-49BCF562ED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B1251-888D-5407-DE40-24E0B5666EAD}"/>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5" name="Footer Placeholder 4">
            <a:extLst>
              <a:ext uri="{FF2B5EF4-FFF2-40B4-BE49-F238E27FC236}">
                <a16:creationId xmlns:a16="http://schemas.microsoft.com/office/drawing/2014/main" id="{1CDD5024-26A5-9A9C-921F-4553B2F00B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3B14B6-C9EC-FC5A-AFAB-8BAA369AC61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64319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5A3B-F871-EAB2-E4CA-F479C9EFA4D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592C35-B8A5-0F3E-E963-C2D19DB882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3940B5-8BCA-4EF3-185B-F0CF288E5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4717141-9800-0D1B-F4A8-EC0024210BC9}"/>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6" name="Footer Placeholder 5">
            <a:extLst>
              <a:ext uri="{FF2B5EF4-FFF2-40B4-BE49-F238E27FC236}">
                <a16:creationId xmlns:a16="http://schemas.microsoft.com/office/drawing/2014/main" id="{F4C73B31-82FC-930B-CBCE-64029049191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6455AE7-9072-1FF9-7749-898A9ED13F41}"/>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3984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3EF-EF8F-F539-964B-C4820289D46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8393D2D-46D0-C65F-3CD4-8CA1DC156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504EA2-A069-2AB5-BE4D-5A9531F19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1DD3DA3-5E8A-468F-D96D-DEF4FCA9D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753A7-BCB6-8494-67C4-A2DE23125A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96EAE1E-45A7-184F-1859-0151A0F6F174}"/>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8" name="Footer Placeholder 7">
            <a:extLst>
              <a:ext uri="{FF2B5EF4-FFF2-40B4-BE49-F238E27FC236}">
                <a16:creationId xmlns:a16="http://schemas.microsoft.com/office/drawing/2014/main" id="{CBE74A07-DECC-AF4C-A1B9-945896FF614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2B7527C-A026-733A-81F8-612A3672D2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80729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8692-6A66-A81A-F64D-252A01D72B5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5205C8B-6899-F7CD-218F-53B25A8C28A2}"/>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4" name="Footer Placeholder 3">
            <a:extLst>
              <a:ext uri="{FF2B5EF4-FFF2-40B4-BE49-F238E27FC236}">
                <a16:creationId xmlns:a16="http://schemas.microsoft.com/office/drawing/2014/main" id="{BC578AB9-14B5-81D7-6DB2-7A92246ECED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BE25876-36CF-424C-ABB5-B54C23E4EACF}"/>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245458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8F218-7BAB-6440-4B90-DD84170B86C6}"/>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3" name="Footer Placeholder 2">
            <a:extLst>
              <a:ext uri="{FF2B5EF4-FFF2-40B4-BE49-F238E27FC236}">
                <a16:creationId xmlns:a16="http://schemas.microsoft.com/office/drawing/2014/main" id="{98B0DA65-2C36-C5F9-E815-493215A422A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75990D7-0136-D22F-360A-B252C724BC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2072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82E2-A10E-6ABD-55B7-3CF2BB17A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8AFB820-3B67-54EE-9204-21E91A5B64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C38F663-644F-F023-2E42-582EF5E9C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3E879A-8E01-B66D-0599-3AC685A7BBDA}"/>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6" name="Footer Placeholder 5">
            <a:extLst>
              <a:ext uri="{FF2B5EF4-FFF2-40B4-BE49-F238E27FC236}">
                <a16:creationId xmlns:a16="http://schemas.microsoft.com/office/drawing/2014/main" id="{675E3D63-660A-D02B-96B2-4D753F7C06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9EB7DC-A1C1-DBE0-4D1D-DC8818D620F3}"/>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868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59C-D9F3-8D06-AD72-B0ACFEC8A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451E33A-D236-7697-03E8-F0AB97BD5F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47BB688-BC97-FCC2-C6B6-4BF70D294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F0714-9BF9-CEE3-2D93-A2D3000B4FBE}"/>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6" name="Footer Placeholder 5">
            <a:extLst>
              <a:ext uri="{FF2B5EF4-FFF2-40B4-BE49-F238E27FC236}">
                <a16:creationId xmlns:a16="http://schemas.microsoft.com/office/drawing/2014/main" id="{22D2D7F7-5B88-507C-DE4C-730E04E87A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E44157-7A04-856B-4C28-125F1006953A}"/>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48319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45458-5F73-9470-8CAE-2E81515E089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69212-ADB1-50EC-5CEA-45FC69553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3DE07B7-9900-254A-5FCC-8FA7A36E9CDC}"/>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5" name="Footer Placeholder 4">
            <a:extLst>
              <a:ext uri="{FF2B5EF4-FFF2-40B4-BE49-F238E27FC236}">
                <a16:creationId xmlns:a16="http://schemas.microsoft.com/office/drawing/2014/main" id="{1462B5A4-5993-85D1-5468-04356E6708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76EC13-E83E-ED79-64A4-4003E3E1652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03171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3886C-B88F-C1C9-1FB1-F136ADFDBA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7E0EB-AE17-BE86-7C82-F2CA8993E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DDFC22-96DC-6854-A720-1925CC85A54A}"/>
              </a:ext>
            </a:extLst>
          </p:cNvPr>
          <p:cNvSpPr>
            <a:spLocks noGrp="1"/>
          </p:cNvSpPr>
          <p:nvPr>
            <p:ph type="dt" sz="half" idx="10"/>
          </p:nvPr>
        </p:nvSpPr>
        <p:spPr/>
        <p:txBody>
          <a:bodyPr/>
          <a:lstStyle/>
          <a:p>
            <a:fld id="{7036F693-4807-4ACB-9866-42E633ECA663}" type="datetimeFigureOut">
              <a:rPr lang="en-AU" smtClean="0"/>
              <a:t>11/06/2026</a:t>
            </a:fld>
            <a:endParaRPr lang="en-AU"/>
          </a:p>
        </p:txBody>
      </p:sp>
      <p:sp>
        <p:nvSpPr>
          <p:cNvPr id="5" name="Footer Placeholder 4">
            <a:extLst>
              <a:ext uri="{FF2B5EF4-FFF2-40B4-BE49-F238E27FC236}">
                <a16:creationId xmlns:a16="http://schemas.microsoft.com/office/drawing/2014/main" id="{FC091287-7765-7759-35E1-6830A960FA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AECDA5-B452-46B1-123F-041BF41F130E}"/>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902162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93235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66693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37305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54124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44024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6/11/2026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192389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6B418-3ADB-3D52-362F-EF8EB606C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DF0B803-0FBE-9FD0-EA3C-E4F9B70AE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B6BA73C-3BBF-5A39-4403-330159E2A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6F693-4807-4ACB-9866-42E633ECA663}" type="datetimeFigureOut">
              <a:rPr lang="en-AU" smtClean="0"/>
              <a:t>11/06/2026</a:t>
            </a:fld>
            <a:endParaRPr lang="en-AU"/>
          </a:p>
        </p:txBody>
      </p:sp>
      <p:sp>
        <p:nvSpPr>
          <p:cNvPr id="5" name="Footer Placeholder 4">
            <a:extLst>
              <a:ext uri="{FF2B5EF4-FFF2-40B4-BE49-F238E27FC236}">
                <a16:creationId xmlns:a16="http://schemas.microsoft.com/office/drawing/2014/main" id="{A569C9B0-90EA-F790-C481-782B3C03B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2F78BE7-9EF2-8115-D3BF-53CF0589B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F9DD6F-E86F-40A2-88B8-DD3E2998C092}" type="slidenum">
              <a:rPr lang="en-AU" smtClean="0"/>
              <a:t>‹#›</a:t>
            </a:fld>
            <a:endParaRPr lang="en-AU"/>
          </a:p>
        </p:txBody>
      </p:sp>
    </p:spTree>
    <p:extLst>
      <p:ext uri="{BB962C8B-B14F-4D97-AF65-F5344CB8AC3E}">
        <p14:creationId xmlns:p14="http://schemas.microsoft.com/office/powerpoint/2010/main" val="2806536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49224"/>
          </a:xfrm>
          <a:prstGeom prst="rect">
            <a:avLst/>
          </a:prstGeom>
        </p:spPr>
      </p:pic>
      <p:pic>
        <p:nvPicPr>
          <p:cNvPr id="17" name="bg object 17"/>
          <p:cNvPicPr/>
          <p:nvPr/>
        </p:nvPicPr>
        <p:blipFill>
          <a:blip r:embed="rId9" cstate="print"/>
          <a:stretch>
            <a:fillRect/>
          </a:stretch>
        </p:blipFill>
        <p:spPr>
          <a:xfrm>
            <a:off x="192023" y="42671"/>
            <a:ext cx="1531620" cy="562355"/>
          </a:xfrm>
          <a:prstGeom prst="rect">
            <a:avLst/>
          </a:prstGeom>
        </p:spPr>
      </p:pic>
      <p:sp>
        <p:nvSpPr>
          <p:cNvPr id="2" name="Holder 2"/>
          <p:cNvSpPr>
            <a:spLocks noGrp="1"/>
          </p:cNvSpPr>
          <p:nvPr>
            <p:ph type="title"/>
          </p:nvPr>
        </p:nvSpPr>
        <p:spPr>
          <a:xfrm>
            <a:off x="1422019" y="2747213"/>
            <a:ext cx="8163559" cy="574675"/>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40059" y="6487707"/>
            <a:ext cx="944879" cy="178434"/>
          </a:xfrm>
          <a:prstGeom prst="rect">
            <a:avLst/>
          </a:prstGeom>
        </p:spPr>
        <p:txBody>
          <a:bodyPr wrap="square" lIns="0" tIns="0" rIns="0" bIns="0">
            <a:spAutoFit/>
          </a:bodyPr>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59523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4.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532880" y="838200"/>
            <a:ext cx="4889226" cy="4876800"/>
          </a:xfrm>
          <a:prstGeom prst="rect">
            <a:avLst/>
          </a:prstGeom>
        </p:spPr>
        <p:txBody>
          <a:bodyPr vert="horz" lIns="51434" tIns="25718" rIns="51434" bIns="25718" rtlCol="0" anchor="b">
            <a:noAutofit/>
          </a:bodyPr>
          <a:lstStyle/>
          <a:p>
            <a:pPr marL="0" marR="0" lvl="0" indent="0" algn="ctr" defTabSz="914400" rtl="0" eaLnBrk="1" fontAlgn="auto" latinLnBrk="0" hangingPunct="1">
              <a:lnSpc>
                <a:spcPct val="90000"/>
              </a:lnSpc>
              <a:spcBef>
                <a:spcPct val="0"/>
              </a:spcBef>
              <a:spcAft>
                <a:spcPts val="338"/>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libir"/>
                <a:ea typeface="+mn-ea"/>
                <a:cs typeface="+mn-cs"/>
              </a:rPr>
              <a:t>HS1021: Web Design</a:t>
            </a:r>
            <a:br>
              <a:rPr kumimoji="0" lang="en-US" sz="3800" b="1" i="0" u="none" strike="noStrike" kern="1200" cap="none" spc="0" normalizeH="0" baseline="0" noProof="0" dirty="0">
                <a:ln>
                  <a:noFill/>
                </a:ln>
                <a:solidFill>
                  <a:prstClr val="black"/>
                </a:solidFill>
                <a:effectLst/>
                <a:uLnTx/>
                <a:uFillTx/>
                <a:latin typeface="Calibir"/>
                <a:ea typeface="+mn-ea"/>
                <a:cs typeface="+mn-cs"/>
              </a:rPr>
            </a:br>
            <a:endParaRPr kumimoji="0" lang="en-US" sz="3800" b="1" i="0" u="none" strike="noStrike" kern="1200" cap="none" spc="0" normalizeH="0" baseline="0" noProof="0" dirty="0">
              <a:ln>
                <a:noFill/>
              </a:ln>
              <a:solidFill>
                <a:prstClr val="black"/>
              </a:solidFill>
              <a:effectLst/>
              <a:uLnTx/>
              <a:uFillTx/>
              <a:latin typeface="Calibir"/>
              <a:ea typeface="+mn-ea"/>
              <a:cs typeface="+mn-cs"/>
            </a:endParaRPr>
          </a:p>
          <a:p>
            <a:pPr marL="0" marR="0" lvl="0" indent="0" algn="ctr" defTabSz="914400" rtl="0" eaLnBrk="1" fontAlgn="auto" latinLnBrk="0" hangingPunct="1">
              <a:lnSpc>
                <a:spcPct val="90000"/>
              </a:lnSpc>
              <a:spcBef>
                <a:spcPct val="0"/>
              </a:spcBef>
              <a:spcAft>
                <a:spcPts val="338"/>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libir"/>
                <a:ea typeface="+mn-ea"/>
                <a:cs typeface="+mn-cs"/>
              </a:rPr>
              <a:t>Weeks 10 – 11 Tutorial</a:t>
            </a:r>
          </a:p>
          <a:p>
            <a:pPr marL="0" marR="0" lvl="0" indent="0" algn="ctr" defTabSz="914400" rtl="0" eaLnBrk="1" fontAlgn="auto" latinLnBrk="0" hangingPunct="1">
              <a:lnSpc>
                <a:spcPct val="90000"/>
              </a:lnSpc>
              <a:spcBef>
                <a:spcPct val="0"/>
              </a:spcBef>
              <a:spcAft>
                <a:spcPts val="338"/>
              </a:spcAft>
              <a:buClrTx/>
              <a:buSzTx/>
              <a:buFontTx/>
              <a:buNone/>
              <a:tabLst/>
              <a:defRPr/>
            </a:pPr>
            <a:endParaRPr kumimoji="0" lang="en-US" sz="3800" b="1" i="0" u="none" strike="noStrike" kern="1200" cap="none" spc="0" normalizeH="0" baseline="0" noProof="0" dirty="0">
              <a:ln>
                <a:noFill/>
              </a:ln>
              <a:solidFill>
                <a:prstClr val="black"/>
              </a:solidFill>
              <a:effectLst/>
              <a:uLnTx/>
              <a:uFillTx/>
              <a:latin typeface="Calibir"/>
              <a:ea typeface="+mn-ea"/>
              <a:cs typeface="+mn-cs"/>
            </a:endParaRPr>
          </a:p>
          <a:p>
            <a:pPr marL="0" marR="0" lvl="0" indent="0" algn="ctr" defTabSz="914400" rtl="0" eaLnBrk="1" fontAlgn="auto" latinLnBrk="0" hangingPunct="1">
              <a:lnSpc>
                <a:spcPct val="90000"/>
              </a:lnSpc>
              <a:spcBef>
                <a:spcPct val="0"/>
              </a:spcBef>
              <a:spcAft>
                <a:spcPts val="338"/>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libir"/>
                <a:ea typeface="+mn-ea"/>
                <a:cs typeface="+mn-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112410" y="869147"/>
            <a:ext cx="11941289" cy="1143070"/>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Week-10 lab (Project 1 and Challenge 1)</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Instructions for Completing Week-11 lab (Project 2 and Challenge 2)</a:t>
            </a:r>
          </a:p>
        </p:txBody>
      </p:sp>
      <p:sp>
        <p:nvSpPr>
          <p:cNvPr id="5" name="TextBox 4">
            <a:extLst>
              <a:ext uri="{FF2B5EF4-FFF2-40B4-BE49-F238E27FC236}">
                <a16:creationId xmlns:a16="http://schemas.microsoft.com/office/drawing/2014/main" id="{0EDA831C-3F59-8361-5C78-944EC8508F9C}"/>
              </a:ext>
            </a:extLst>
          </p:cNvPr>
          <p:cNvSpPr txBox="1"/>
          <p:nvPr/>
        </p:nvSpPr>
        <p:spPr>
          <a:xfrm>
            <a:off x="112410" y="179733"/>
            <a:ext cx="8976732"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Week 10 and 11 – Web Design – Sydney Campus</a:t>
            </a:r>
          </a:p>
        </p:txBody>
      </p:sp>
      <p:sp>
        <p:nvSpPr>
          <p:cNvPr id="6" name="TextBox 5">
            <a:extLst>
              <a:ext uri="{FF2B5EF4-FFF2-40B4-BE49-F238E27FC236}">
                <a16:creationId xmlns:a16="http://schemas.microsoft.com/office/drawing/2014/main" id="{E15192CE-A61A-138C-C058-E3B3ABE2C6BE}"/>
              </a:ext>
            </a:extLst>
          </p:cNvPr>
          <p:cNvSpPr txBox="1"/>
          <p:nvPr/>
        </p:nvSpPr>
        <p:spPr>
          <a:xfrm>
            <a:off x="250711" y="5636605"/>
            <a:ext cx="12097407" cy="589072"/>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Lecturer/Tutor: Dr. Farshid Keivanian</a:t>
            </a:r>
          </a:p>
        </p:txBody>
      </p:sp>
      <p:pic>
        <p:nvPicPr>
          <p:cNvPr id="3" name="Picture 2">
            <a:extLst>
              <a:ext uri="{FF2B5EF4-FFF2-40B4-BE49-F238E27FC236}">
                <a16:creationId xmlns:a16="http://schemas.microsoft.com/office/drawing/2014/main" id="{5B495849-4430-CCEF-C3B3-2C31DAA430D8}"/>
              </a:ext>
            </a:extLst>
          </p:cNvPr>
          <p:cNvPicPr>
            <a:picLocks noChangeAspect="1"/>
          </p:cNvPicPr>
          <p:nvPr/>
        </p:nvPicPr>
        <p:blipFill>
          <a:blip r:embed="rId3"/>
          <a:stretch>
            <a:fillRect/>
          </a:stretch>
        </p:blipFill>
        <p:spPr>
          <a:xfrm>
            <a:off x="10260685" y="0"/>
            <a:ext cx="1931315" cy="1902052"/>
          </a:xfrm>
          <a:prstGeom prst="rect">
            <a:avLst/>
          </a:prstGeom>
        </p:spPr>
      </p:pic>
    </p:spTree>
    <p:extLst>
      <p:ext uri="{BB962C8B-B14F-4D97-AF65-F5344CB8AC3E}">
        <p14:creationId xmlns:p14="http://schemas.microsoft.com/office/powerpoint/2010/main" val="2968848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433805" y="1477248"/>
            <a:ext cx="10406259"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Let's work through Project 1: Adding Audio to a Webpage step by step. Here are the instructions:</a:t>
            </a:r>
          </a:p>
          <a:p>
            <a:pPr marL="0" marR="0" lvl="0" indent="0" algn="l" defTabSz="914400" rtl="0" eaLnBrk="0" fontAlgn="base" latinLnBrk="0" hangingPunct="0">
              <a:lnSpc>
                <a:spcPct val="150000"/>
              </a:lnSpc>
              <a:spcBef>
                <a:spcPct val="0"/>
              </a:spcBef>
              <a:spcAft>
                <a:spcPct val="0"/>
              </a:spcAft>
              <a:buClrTx/>
              <a:buSzTx/>
              <a:buFontTx/>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Open apply10.html in your text editor, review the page, add a title, modify the comment at the top of the page to include your name and today’s date, and replace “Student’s Name” with your name in the footer element.</a:t>
            </a:r>
          </a:p>
        </p:txBody>
      </p:sp>
    </p:spTree>
    <p:extLst>
      <p:ext uri="{BB962C8B-B14F-4D97-AF65-F5344CB8AC3E}">
        <p14:creationId xmlns:p14="http://schemas.microsoft.com/office/powerpoint/2010/main" val="2524416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6F86-53D4-64ED-BF74-34B41A6361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12CBB1-513C-05F6-50CE-D5213512C23A}"/>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F83118EE-6C6C-A0CE-CCB0-EBB45E6EE765}"/>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D2C7B8E7-94F6-F311-95E7-4530D73D2380}"/>
              </a:ext>
            </a:extLst>
          </p:cNvPr>
          <p:cNvSpPr>
            <a:spLocks noChangeArrowheads="1"/>
          </p:cNvSpPr>
          <p:nvPr/>
        </p:nvSpPr>
        <p:spPr bwMode="auto">
          <a:xfrm>
            <a:off x="433805" y="1800413"/>
            <a:ext cx="10406259"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AutoNum type="arabicPeriod" startAt="2"/>
              <a:defRPr/>
            </a:pPr>
            <a:r>
              <a:rPr lang="en-US" altLang="en-US" sz="2800" dirty="0">
                <a:solidFill>
                  <a:prstClr val="black"/>
                </a:solidFill>
                <a:latin typeface="Calibri" panose="020F0502020204030204" pitchFamily="34" charset="0"/>
                <a:cs typeface="Calibri" panose="020F0502020204030204" pitchFamily="34" charset="0"/>
              </a:rPr>
              <a:t>  Insert an audio element below the figure element.</a:t>
            </a:r>
          </a:p>
          <a:p>
            <a:pPr lvl="0" eaLnBrk="0" fontAlgn="base" hangingPunct="0">
              <a:lnSpc>
                <a:spcPct val="150000"/>
              </a:lnSpc>
              <a:spcBef>
                <a:spcPct val="0"/>
              </a:spcBef>
              <a:spcAft>
                <a:spcPct val="0"/>
              </a:spcAft>
              <a:buFontTx/>
              <a:buAutoNum type="arabicPeriod" startAt="3"/>
              <a:defRPr/>
            </a:pPr>
            <a:r>
              <a:rPr lang="en-US" altLang="en-US" sz="2800" dirty="0">
                <a:solidFill>
                  <a:prstClr val="black"/>
                </a:solidFill>
                <a:latin typeface="Calibri" panose="020F0502020204030204" pitchFamily="34" charset="0"/>
                <a:cs typeface="Calibri" panose="020F0502020204030204" pitchFamily="34" charset="0"/>
              </a:rPr>
              <a:t>  Set the audio element to play automatically and to repeat continuously.</a:t>
            </a:r>
          </a:p>
          <a:p>
            <a:pPr lvl="0" eaLnBrk="0" fontAlgn="base" hangingPunct="0">
              <a:lnSpc>
                <a:spcPct val="150000"/>
              </a:lnSpc>
              <a:spcBef>
                <a:spcPct val="0"/>
              </a:spcBef>
              <a:spcAft>
                <a:spcPct val="0"/>
              </a:spcAft>
              <a:buFontTx/>
              <a:buAutoNum type="arabicPeriod" startAt="4"/>
              <a:defRPr/>
            </a:pPr>
            <a:r>
              <a:rPr lang="en-US" altLang="en-US" sz="2800" dirty="0">
                <a:solidFill>
                  <a:prstClr val="black"/>
                </a:solidFill>
                <a:latin typeface="Calibri" panose="020F0502020204030204" pitchFamily="34" charset="0"/>
                <a:cs typeface="Calibri" panose="020F0502020204030204" pitchFamily="34" charset="0"/>
              </a:rPr>
              <a:t>  Insert three source elements within the audio element and use the three audio files on Bb.</a:t>
            </a:r>
          </a:p>
        </p:txBody>
      </p:sp>
    </p:spTree>
    <p:extLst>
      <p:ext uri="{BB962C8B-B14F-4D97-AF65-F5344CB8AC3E}">
        <p14:creationId xmlns:p14="http://schemas.microsoft.com/office/powerpoint/2010/main" val="1357053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207666" y="775000"/>
            <a:ext cx="10406259"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5.   Include a paragraph element within the audio element that advises legacy browser users that their browser does not support the audio element.</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6.   Save all of your changes and open the apply10.html in your browser.</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7.   Validate your HTML document using the W3C validator found at validator.w3.org and fix any errors that are identified.</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8.   Submit the files in a format specified by your instructor.</a:t>
            </a:r>
          </a:p>
        </p:txBody>
      </p:sp>
    </p:spTree>
    <p:extLst>
      <p:ext uri="{BB962C8B-B14F-4D97-AF65-F5344CB8AC3E}">
        <p14:creationId xmlns:p14="http://schemas.microsoft.com/office/powerpoint/2010/main" val="3702035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264816" y="822952"/>
            <a:ext cx="10406259"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Beach Sunset with Audio.</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This is indicated by the title element &lt;title&gt;Beach Sunset with Audio&lt;/title&gt; within the head section, suggesting that the webpage is designed to showcase a relaxing beach sunset image accompanied by audio, creating a tranquil experience for the viewer. </a:t>
            </a:r>
          </a:p>
        </p:txBody>
      </p:sp>
    </p:spTree>
    <p:extLst>
      <p:ext uri="{BB962C8B-B14F-4D97-AF65-F5344CB8AC3E}">
        <p14:creationId xmlns:p14="http://schemas.microsoft.com/office/powerpoint/2010/main" val="166458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pic>
        <p:nvPicPr>
          <p:cNvPr id="4" name="Picture 3">
            <a:extLst>
              <a:ext uri="{FF2B5EF4-FFF2-40B4-BE49-F238E27FC236}">
                <a16:creationId xmlns:a16="http://schemas.microsoft.com/office/drawing/2014/main" id="{75AF4762-B6C5-28A2-7D8E-5A96B252B0D0}"/>
              </a:ext>
            </a:extLst>
          </p:cNvPr>
          <p:cNvPicPr>
            <a:picLocks noChangeAspect="1"/>
          </p:cNvPicPr>
          <p:nvPr/>
        </p:nvPicPr>
        <p:blipFill rotWithShape="1">
          <a:blip r:embed="rId3"/>
          <a:srcRect t="7180" b="6361"/>
          <a:stretch/>
        </p:blipFill>
        <p:spPr>
          <a:xfrm>
            <a:off x="0" y="492442"/>
            <a:ext cx="12192000" cy="5929379"/>
          </a:xfrm>
          <a:prstGeom prst="rect">
            <a:avLst/>
          </a:prstGeom>
        </p:spPr>
      </p:pic>
    </p:spTree>
    <p:extLst>
      <p:ext uri="{BB962C8B-B14F-4D97-AF65-F5344CB8AC3E}">
        <p14:creationId xmlns:p14="http://schemas.microsoft.com/office/powerpoint/2010/main" val="56330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pic>
        <p:nvPicPr>
          <p:cNvPr id="6" name="Picture 5">
            <a:extLst>
              <a:ext uri="{FF2B5EF4-FFF2-40B4-BE49-F238E27FC236}">
                <a16:creationId xmlns:a16="http://schemas.microsoft.com/office/drawing/2014/main" id="{85A812AD-D92F-E3A9-83B2-3AEE2FF5B86B}"/>
              </a:ext>
            </a:extLst>
          </p:cNvPr>
          <p:cNvPicPr>
            <a:picLocks noChangeAspect="1"/>
          </p:cNvPicPr>
          <p:nvPr/>
        </p:nvPicPr>
        <p:blipFill rotWithShape="1">
          <a:blip r:embed="rId3"/>
          <a:srcRect t="21915" r="31466" b="24138"/>
          <a:stretch/>
        </p:blipFill>
        <p:spPr>
          <a:xfrm>
            <a:off x="0" y="1219201"/>
            <a:ext cx="9981760" cy="4419598"/>
          </a:xfrm>
          <a:prstGeom prst="rect">
            <a:avLst/>
          </a:prstGeom>
        </p:spPr>
      </p:pic>
    </p:spTree>
    <p:extLst>
      <p:ext uri="{BB962C8B-B14F-4D97-AF65-F5344CB8AC3E}">
        <p14:creationId xmlns:p14="http://schemas.microsoft.com/office/powerpoint/2010/main" val="43444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87F8529-82E2-666A-6289-FA0D7D435862}"/>
              </a:ext>
            </a:extLst>
          </p:cNvPr>
          <p:cNvSpPr txBox="1"/>
          <p:nvPr/>
        </p:nvSpPr>
        <p:spPr>
          <a:xfrm>
            <a:off x="210207" y="819807"/>
            <a:ext cx="11981793" cy="584249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Challenge 1: Exploring Multimedia File Formats and Plug-ins</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Why were plug-ins created and how are they used by a browser?</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742950" marR="0" lvl="1" indent="-2857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Plug-ins were created to extend the functionality of web browsers, enabling them to handle multimedia content such as video, audio, and animations that were not supported by the browser natively.</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Why are plug-ins losing their popularity?</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742950" marR="0" lvl="1" indent="-2857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Plug-ins are losing popularity due to security vulnerabilities, performance issues, and the advent of HTML5, which natively supports multimedia content without the need for additional plug-ins.</a:t>
            </a:r>
          </a:p>
        </p:txBody>
      </p:sp>
    </p:spTree>
    <p:extLst>
      <p:ext uri="{BB962C8B-B14F-4D97-AF65-F5344CB8AC3E}">
        <p14:creationId xmlns:p14="http://schemas.microsoft.com/office/powerpoint/2010/main" val="2673807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87F8529-82E2-666A-6289-FA0D7D435862}"/>
              </a:ext>
            </a:extLst>
          </p:cNvPr>
          <p:cNvSpPr txBox="1"/>
          <p:nvPr/>
        </p:nvSpPr>
        <p:spPr>
          <a:xfrm>
            <a:off x="210207" y="819807"/>
            <a:ext cx="11981793" cy="519616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 What plug-ins are installed on your desktop browser?</a:t>
            </a:r>
            <a:endPar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This can be checked in your browser's settings or extensions section. Common plug-ins include Adobe Flash Player, Microsoft Silverlight, and various media codecs.</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4. What is Microsoft Silverlight?</a:t>
            </a:r>
            <a:endPar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Microsoft Silverlight is a deprecated application framework used for writing and running rich Internet applications, similar to Adobe Flash. It was used to stream multimedia content and run rich web applications.</a:t>
            </a:r>
          </a:p>
        </p:txBody>
      </p:sp>
    </p:spTree>
    <p:extLst>
      <p:ext uri="{BB962C8B-B14F-4D97-AF65-F5344CB8AC3E}">
        <p14:creationId xmlns:p14="http://schemas.microsoft.com/office/powerpoint/2010/main" val="2136254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10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87F8529-82E2-666A-6289-FA0D7D435862}"/>
              </a:ext>
            </a:extLst>
          </p:cNvPr>
          <p:cNvSpPr txBox="1"/>
          <p:nvPr/>
        </p:nvSpPr>
        <p:spPr>
          <a:xfrm>
            <a:off x="210207" y="819807"/>
            <a:ext cx="11981793" cy="261084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5. How to update the Adobe Flash Player plugin for your browser?</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Adobe Flash Player updates are managed by the browser itself or the operating system. For manual updates, you can visit the Adobe Flash Player download page and follow the instructions provided.</a:t>
            </a:r>
          </a:p>
        </p:txBody>
      </p:sp>
    </p:spTree>
    <p:extLst>
      <p:ext uri="{BB962C8B-B14F-4D97-AF65-F5344CB8AC3E}">
        <p14:creationId xmlns:p14="http://schemas.microsoft.com/office/powerpoint/2010/main" val="4000784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11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240924" y="772071"/>
            <a:ext cx="10406259"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Let's work through Project 2: Adding Meta Tags and Publishing a Webpage step by step. Here are the instructions:</a:t>
            </a:r>
          </a:p>
          <a:p>
            <a:pPr marL="0" marR="0" lvl="0" indent="0" algn="l" defTabSz="914400" rtl="0" eaLnBrk="0" fontAlgn="base" latinLnBrk="0" hangingPunct="0">
              <a:lnSpc>
                <a:spcPct val="150000"/>
              </a:lnSpc>
              <a:spcBef>
                <a:spcPct val="0"/>
              </a:spcBef>
              <a:spcAft>
                <a:spcPct val="0"/>
              </a:spcAft>
              <a:buClrTx/>
              <a:buSzTx/>
              <a:buFontTx/>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Create a new HTML file named apply11.html. Include a comment with your name and today’s date.</a:t>
            </a:r>
          </a:p>
          <a:p>
            <a:pPr marL="0" marR="0" lvl="0" indent="0" algn="l" defTabSz="914400" rtl="0" eaLnBrk="0" fontAlgn="base" latinLnBrk="0" hangingPunct="0">
              <a:lnSpc>
                <a:spcPct val="150000"/>
              </a:lnSpc>
              <a:spcBef>
                <a:spcPct val="0"/>
              </a:spcBef>
              <a:spcAft>
                <a:spcPct val="0"/>
              </a:spcAft>
              <a:buClrTx/>
              <a:buSzTx/>
              <a:buFontTx/>
              <a:buAutoNum type="arabicPeriod" startAt="2"/>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Include all necessary HTML5 elements for a webpage.</a:t>
            </a:r>
          </a:p>
          <a:p>
            <a:pPr marL="0" marR="0" lvl="0" indent="0" algn="l" defTabSz="914400" rtl="0" eaLnBrk="0" fontAlgn="base" latinLnBrk="0" hangingPunct="0">
              <a:lnSpc>
                <a:spcPct val="150000"/>
              </a:lnSpc>
              <a:spcBef>
                <a:spcPct val="0"/>
              </a:spcBef>
              <a:spcAft>
                <a:spcPct val="0"/>
              </a:spcAft>
              <a:buClrTx/>
              <a:buSzTx/>
              <a:buFontTx/>
              <a:buAutoNum type="arabicPeriod" startAt="3"/>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Create a title for the page and use Credit as the webpage title.</a:t>
            </a:r>
          </a:p>
          <a:p>
            <a:pPr marL="0" marR="0" lvl="0" indent="0" algn="l" defTabSz="914400" rtl="0" eaLnBrk="0" fontAlgn="base" latinLnBrk="0" hangingPunct="0">
              <a:lnSpc>
                <a:spcPct val="150000"/>
              </a:lnSpc>
              <a:spcBef>
                <a:spcPct val="0"/>
              </a:spcBef>
              <a:spcAft>
                <a:spcPct val="0"/>
              </a:spcAft>
              <a:buClrTx/>
              <a:buSzTx/>
              <a:buFontTx/>
              <a:buAutoNum type="arabicPeriod" startAt="4"/>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Insert a description meta tag with a content attribute and use This website provides helpful information about how to build good credit. as the value.</a:t>
            </a:r>
          </a:p>
        </p:txBody>
      </p:sp>
    </p:spTree>
    <p:extLst>
      <p:ext uri="{BB962C8B-B14F-4D97-AF65-F5344CB8AC3E}">
        <p14:creationId xmlns:p14="http://schemas.microsoft.com/office/powerpoint/2010/main" val="4189046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11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283787" y="1415327"/>
            <a:ext cx="10406259"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5. Create a header element.</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6. Create an h1 element within the header element and include the text How to Build Good Credit as the heading text.</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7. Create a main element.</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8. Research ways to build good credit and summarize your findings within a paragraph element within the main element.</a:t>
            </a:r>
          </a:p>
        </p:txBody>
      </p:sp>
    </p:spTree>
    <p:extLst>
      <p:ext uri="{BB962C8B-B14F-4D97-AF65-F5344CB8AC3E}">
        <p14:creationId xmlns:p14="http://schemas.microsoft.com/office/powerpoint/2010/main" val="3461397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185C9-D2AF-FB26-8DD5-0D0A7BC141C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DBCC41-71EE-E7B2-4D73-84D8252564EF}"/>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11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10F96837-89D3-ECD6-11F2-2E9AE9DDD3F0}"/>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E6405DD4-436C-DCF4-5407-1EAE089428A1}"/>
              </a:ext>
            </a:extLst>
          </p:cNvPr>
          <p:cNvSpPr>
            <a:spLocks noChangeArrowheads="1"/>
          </p:cNvSpPr>
          <p:nvPr/>
        </p:nvSpPr>
        <p:spPr bwMode="auto">
          <a:xfrm>
            <a:off x="283787" y="1738492"/>
            <a:ext cx="10406259"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defRPr/>
            </a:pPr>
            <a:r>
              <a:rPr lang="en-US" altLang="en-US" sz="2800" dirty="0">
                <a:solidFill>
                  <a:prstClr val="black"/>
                </a:solidFill>
                <a:latin typeface="Calibri" panose="020F0502020204030204" pitchFamily="34" charset="0"/>
                <a:cs typeface="Calibri" panose="020F0502020204030204" pitchFamily="34" charset="0"/>
              </a:rPr>
              <a:t>9. Create an unordered list of at least three steps one should take to build credit. Place the unordered list below the paragraph element, but within the main element.</a:t>
            </a:r>
          </a:p>
          <a:p>
            <a:pPr lvl="0" eaLnBrk="0" fontAlgn="base" hangingPunct="0">
              <a:lnSpc>
                <a:spcPct val="150000"/>
              </a:lnSpc>
              <a:spcBef>
                <a:spcPct val="0"/>
              </a:spcBef>
              <a:spcAft>
                <a:spcPct val="0"/>
              </a:spcAft>
              <a:defRPr/>
            </a:pPr>
            <a:r>
              <a:rPr lang="en-US" altLang="en-US" sz="2800" dirty="0">
                <a:solidFill>
                  <a:prstClr val="black"/>
                </a:solidFill>
                <a:latin typeface="Calibri" panose="020F0502020204030204" pitchFamily="34" charset="0"/>
                <a:cs typeface="Calibri" panose="020F0502020204030204" pitchFamily="34" charset="0"/>
              </a:rPr>
              <a:t>10. Create a footer element that contains your name.</a:t>
            </a:r>
          </a:p>
          <a:p>
            <a:pPr lvl="0" eaLnBrk="0" fontAlgn="base" hangingPunct="0">
              <a:lnSpc>
                <a:spcPct val="150000"/>
              </a:lnSpc>
              <a:spcBef>
                <a:spcPct val="0"/>
              </a:spcBef>
              <a:spcAft>
                <a:spcPct val="0"/>
              </a:spcAft>
              <a:defRPr/>
            </a:pPr>
            <a:r>
              <a:rPr lang="en-US" altLang="en-US" sz="2800" dirty="0">
                <a:solidFill>
                  <a:prstClr val="black"/>
                </a:solidFill>
                <a:latin typeface="Calibri" panose="020F0502020204030204" pitchFamily="34" charset="0"/>
                <a:cs typeface="Calibri" panose="020F0502020204030204" pitchFamily="34" charset="0"/>
              </a:rPr>
              <a:t>11. Save your changes.</a:t>
            </a:r>
          </a:p>
        </p:txBody>
      </p:sp>
    </p:spTree>
    <p:extLst>
      <p:ext uri="{BB962C8B-B14F-4D97-AF65-F5344CB8AC3E}">
        <p14:creationId xmlns:p14="http://schemas.microsoft.com/office/powerpoint/2010/main" val="302705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11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286660" y="833043"/>
            <a:ext cx="10406259" cy="630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HTML Code for Project 2 (apply11.html)  with (applystyles11.css)</a:t>
            </a:r>
          </a:p>
        </p:txBody>
      </p:sp>
      <p:pic>
        <p:nvPicPr>
          <p:cNvPr id="6" name="Picture 5">
            <a:extLst>
              <a:ext uri="{FF2B5EF4-FFF2-40B4-BE49-F238E27FC236}">
                <a16:creationId xmlns:a16="http://schemas.microsoft.com/office/drawing/2014/main" id="{CED1432B-038B-75EF-F2ED-E9E822A78E2B}"/>
              </a:ext>
            </a:extLst>
          </p:cNvPr>
          <p:cNvPicPr>
            <a:picLocks noChangeAspect="1"/>
          </p:cNvPicPr>
          <p:nvPr/>
        </p:nvPicPr>
        <p:blipFill rotWithShape="1">
          <a:blip r:embed="rId2"/>
          <a:srcRect t="7181" b="6360"/>
          <a:stretch/>
        </p:blipFill>
        <p:spPr>
          <a:xfrm>
            <a:off x="767255" y="1565907"/>
            <a:ext cx="10657490" cy="5183094"/>
          </a:xfrm>
          <a:prstGeom prst="rect">
            <a:avLst/>
          </a:prstGeom>
        </p:spPr>
      </p:pic>
      <p:pic>
        <p:nvPicPr>
          <p:cNvPr id="8" name="Picture 7">
            <a:extLst>
              <a:ext uri="{FF2B5EF4-FFF2-40B4-BE49-F238E27FC236}">
                <a16:creationId xmlns:a16="http://schemas.microsoft.com/office/drawing/2014/main" id="{F822698D-E5BD-154B-1303-12B151D79725}"/>
              </a:ext>
            </a:extLst>
          </p:cNvPr>
          <p:cNvPicPr>
            <a:picLocks noChangeAspect="1"/>
          </p:cNvPicPr>
          <p:nvPr/>
        </p:nvPicPr>
        <p:blipFill rotWithShape="1">
          <a:blip r:embed="rId3"/>
          <a:srcRect l="2351" t="36475" r="76983" b="48352"/>
          <a:stretch/>
        </p:blipFill>
        <p:spPr>
          <a:xfrm>
            <a:off x="9207062" y="2726"/>
            <a:ext cx="2984938" cy="1232695"/>
          </a:xfrm>
          <a:prstGeom prst="rect">
            <a:avLst/>
          </a:prstGeom>
          <a:ln>
            <a:solidFill>
              <a:srgbClr val="FF0000"/>
            </a:solidFill>
          </a:ln>
        </p:spPr>
      </p:pic>
    </p:spTree>
    <p:extLst>
      <p:ext uri="{BB962C8B-B14F-4D97-AF65-F5344CB8AC3E}">
        <p14:creationId xmlns:p14="http://schemas.microsoft.com/office/powerpoint/2010/main" val="122655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Instructions for Completing the Week 11 tutorial</a:t>
            </a:r>
            <a:endParaRPr kumimoji="0" lang="en-AU"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94593" y="492443"/>
            <a:ext cx="12097407" cy="1830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Challenge 2: Improving SEO for a Webpage</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Let's correct and enhance the provided analzyze11.html and analyze11styles.css files.</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Corrected analyze11.html</a:t>
            </a:r>
          </a:p>
        </p:txBody>
      </p:sp>
      <p:pic>
        <p:nvPicPr>
          <p:cNvPr id="3" name="Picture 2">
            <a:extLst>
              <a:ext uri="{FF2B5EF4-FFF2-40B4-BE49-F238E27FC236}">
                <a16:creationId xmlns:a16="http://schemas.microsoft.com/office/drawing/2014/main" id="{5D87FCEB-70B4-8E6E-D405-B941C61021A7}"/>
              </a:ext>
            </a:extLst>
          </p:cNvPr>
          <p:cNvPicPr>
            <a:picLocks noChangeAspect="1"/>
          </p:cNvPicPr>
          <p:nvPr/>
        </p:nvPicPr>
        <p:blipFill rotWithShape="1">
          <a:blip r:embed="rId2"/>
          <a:srcRect t="7181" b="5901"/>
          <a:stretch/>
        </p:blipFill>
        <p:spPr>
          <a:xfrm>
            <a:off x="2916860" y="2323200"/>
            <a:ext cx="9275139" cy="4534799"/>
          </a:xfrm>
          <a:prstGeom prst="rect">
            <a:avLst/>
          </a:prstGeom>
        </p:spPr>
      </p:pic>
      <p:pic>
        <p:nvPicPr>
          <p:cNvPr id="7" name="Picture 6">
            <a:extLst>
              <a:ext uri="{FF2B5EF4-FFF2-40B4-BE49-F238E27FC236}">
                <a16:creationId xmlns:a16="http://schemas.microsoft.com/office/drawing/2014/main" id="{7C269316-26F4-45AE-2CAC-BBF3B68D062B}"/>
              </a:ext>
            </a:extLst>
          </p:cNvPr>
          <p:cNvPicPr>
            <a:picLocks noChangeAspect="1"/>
          </p:cNvPicPr>
          <p:nvPr/>
        </p:nvPicPr>
        <p:blipFill rotWithShape="1">
          <a:blip r:embed="rId3"/>
          <a:srcRect l="1982" t="35556" r="80086" b="24598"/>
          <a:stretch/>
        </p:blipFill>
        <p:spPr>
          <a:xfrm>
            <a:off x="94592" y="2323200"/>
            <a:ext cx="2554014" cy="3192518"/>
          </a:xfrm>
          <a:prstGeom prst="rect">
            <a:avLst/>
          </a:prstGeom>
          <a:ln>
            <a:solidFill>
              <a:srgbClr val="FF0000"/>
            </a:solidFill>
          </a:ln>
        </p:spPr>
      </p:pic>
    </p:spTree>
    <p:extLst>
      <p:ext uri="{BB962C8B-B14F-4D97-AF65-F5344CB8AC3E}">
        <p14:creationId xmlns:p14="http://schemas.microsoft.com/office/powerpoint/2010/main" val="2819319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2895600" y="171826"/>
            <a:ext cx="9144000" cy="577517"/>
          </a:xfrm>
        </p:spPr>
        <p:txBody>
          <a:bodyPr>
            <a:noAutofit/>
          </a:bodyPr>
          <a:lstStyle/>
          <a:p>
            <a:r>
              <a:rPr lang="en-US" sz="3500" dirty="0">
                <a:solidFill>
                  <a:schemeClr val="bg1"/>
                </a:solidFill>
                <a:latin typeface="Calibri" panose="020F0502020204030204" pitchFamily="34" charset="0"/>
                <a:cs typeface="Calibri" panose="020F0502020204030204" pitchFamily="34" charset="0"/>
              </a:rPr>
              <a:t>Let’s Answer Your Questions</a:t>
            </a:r>
            <a:endParaRPr lang="en-AU" sz="3500" dirty="0">
              <a:solidFill>
                <a:schemeClr val="bg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69011" y="3293269"/>
            <a:ext cx="11853978" cy="2610843"/>
          </a:xfrm>
          <a:prstGeom prst="rect">
            <a:avLst/>
          </a:prstGeom>
          <a:noFill/>
        </p:spPr>
        <p:txBody>
          <a:bodyPr wrap="square" rtlCol="0">
            <a:spAutoFit/>
          </a:bodyPr>
          <a:lstStyle/>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Live during class</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Ask directly during sessions.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Blackboard Inbox</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structured academic queries.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Email</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formal communications or attachments.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Discussion Forum </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2475363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742279" y="1275679"/>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5271135" y="1275679"/>
            <a:ext cx="6920865" cy="4543576"/>
          </a:xfrm>
          <a:prstGeom prst="rect">
            <a:avLst/>
          </a:prstGeom>
        </p:spPr>
        <p:txBody>
          <a:bodyPr vert="horz" lIns="68580" tIns="34290" rIns="68580" bIns="34290" rtlCol="0" anchor="t">
            <a:noAutofit/>
          </a:bodyPr>
          <a:lstStyle/>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800" b="0" i="0" u="none" strike="noStrike" kern="0" cap="none" spc="-20" normalizeH="0" baseline="0" noProof="0" dirty="0">
                <a:ln>
                  <a:noFill/>
                </a:ln>
                <a:effectLst/>
                <a:uLnTx/>
                <a:uFillTx/>
                <a:latin typeface="Calibri" panose="020F0502020204030204" pitchFamily="34" charset="0"/>
                <a:ea typeface="+mn-ea"/>
                <a:cs typeface="Calibri" panose="020F0502020204030204" pitchFamily="34" charset="0"/>
              </a:rPr>
              <a:t>Happy Learning and Bright Futures Ahead!</a:t>
            </a:r>
          </a:p>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Stay Connected:</a:t>
            </a:r>
            <a:b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linkedin.com/in/</a:t>
            </a:r>
            <a:r>
              <a:rPr kumimoji="0" lang="en-US" sz="2800" b="0" i="0" u="none" strike="noStrike" kern="1200" cap="none" spc="0" normalizeH="0" baseline="0" noProof="0" dirty="0" err="1">
                <a:ln>
                  <a:noFill/>
                </a:ln>
                <a:solidFill>
                  <a:schemeClr val="tx2"/>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farshid-keivanian</a:t>
            </a: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rPr>
              <a:t>  </a:t>
            </a:r>
            <a:b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hlinkClick r:id="rId4">
                  <a:extLst>
                    <a:ext uri="{A12FA001-AC4F-418D-AE19-62706E023703}">
                      <ahyp:hlinkClr xmlns:ahyp="http://schemas.microsoft.com/office/drawing/2018/hyperlinkcolor" val="tx"/>
                    </a:ext>
                  </a:extLst>
                </a:hlinkClick>
              </a:rPr>
              <a:t>github.com/</a:t>
            </a:r>
            <a:r>
              <a:rPr kumimoji="0" lang="en-US" sz="2800" b="0" i="0" u="none" strike="noStrike" kern="1200" cap="none" spc="0" normalizeH="0" baseline="0" noProof="0" dirty="0" err="1">
                <a:ln>
                  <a:noFill/>
                </a:ln>
                <a:solidFill>
                  <a:schemeClr val="tx2"/>
                </a:solidFill>
                <a:effectLst/>
                <a:uLnTx/>
                <a:uFillTx/>
                <a:latin typeface="Calibri" panose="020F0502020204030204" pitchFamily="34" charset="0"/>
                <a:ea typeface="+mn-ea"/>
                <a:cs typeface="Calibri" panose="020F0502020204030204" pitchFamily="34" charset="0"/>
                <a:hlinkClick r:id="rId4">
                  <a:extLst>
                    <a:ext uri="{A12FA001-AC4F-418D-AE19-62706E023703}">
                      <ahyp:hlinkClr xmlns:ahyp="http://schemas.microsoft.com/office/drawing/2018/hyperlinkcolor" val="tx"/>
                    </a:ext>
                  </a:extLst>
                </a:hlinkClick>
              </a:rPr>
              <a:t>FarshidKeivanian</a:t>
            </a: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rPr>
              <a:t> </a:t>
            </a:r>
          </a:p>
          <a:p>
            <a:pPr marL="0" marR="0" lvl="0" indent="-171450" algn="l" defTabSz="685800" rtl="0" eaLnBrk="1" fontAlgn="auto" latinLnBrk="0" hangingPunct="1">
              <a:lnSpc>
                <a:spcPct val="150000"/>
              </a:lnSpc>
              <a:spcBef>
                <a:spcPts val="0"/>
              </a:spcBef>
              <a:spcAft>
                <a:spcPts val="450"/>
              </a:spcAft>
              <a:buClrTx/>
              <a:buSzTx/>
              <a:buFont typeface="Arial" panose="020B0604020202020204" pitchFamily="34" charset="0"/>
              <a:buChar char="•"/>
              <a:tabLst/>
              <a:defRPr/>
            </a:pPr>
            <a:r>
              <a:rPr kumimoji="0" lang="en-US" sz="2800" b="0" i="1"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Education is the most powerful weapon you can use to change the world. </a:t>
            </a:r>
            <a: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2895600" y="-152400"/>
            <a:ext cx="6920865" cy="800732"/>
          </a:xfrm>
          <a:prstGeom prst="rect">
            <a:avLst/>
          </a:prstGeom>
        </p:spPr>
        <p:txBody>
          <a:bodyPr vert="horz" wrap="square" lIns="0" tIns="259588" rIns="0" bIns="0" rtlCol="0">
            <a:spAutoFit/>
          </a:bodyPr>
          <a:lstStyle/>
          <a:p>
            <a:pPr marL="123825">
              <a:spcBef>
                <a:spcPts val="100"/>
              </a:spcBef>
            </a:pPr>
            <a:r>
              <a:rPr lang="en-US" sz="3500" spc="-20" dirty="0">
                <a:solidFill>
                  <a:schemeClr val="bg1"/>
                </a:solidFill>
                <a:latin typeface="Calibri" panose="020F0502020204030204" pitchFamily="34" charset="0"/>
                <a:cs typeface="Calibri" panose="020F0502020204030204" pitchFamily="34" charset="0"/>
              </a:rPr>
              <a:t>Thank You</a:t>
            </a:r>
            <a:endParaRPr sz="3500" spc="-2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215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3302</TotalTime>
  <Words>952</Words>
  <Application>Microsoft Office PowerPoint</Application>
  <PresentationFormat>Widescreen</PresentationFormat>
  <Paragraphs>70</Paragraphs>
  <Slides>18</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Aptos Display</vt:lpstr>
      <vt:lpstr>Arial</vt:lpstr>
      <vt:lpstr>Calibir</vt:lpstr>
      <vt:lpstr>Calibri</vt:lpstr>
      <vt:lpstr>Tahoma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Farshid Keivanian</dc:creator>
  <cp:lastModifiedBy>Farshid Keivanian</cp:lastModifiedBy>
  <cp:revision>632</cp:revision>
  <dcterms:created xsi:type="dcterms:W3CDTF">2024-04-02T03:16:29Z</dcterms:created>
  <dcterms:modified xsi:type="dcterms:W3CDTF">2026-06-11T02:09:10Z</dcterms:modified>
</cp:coreProperties>
</file>
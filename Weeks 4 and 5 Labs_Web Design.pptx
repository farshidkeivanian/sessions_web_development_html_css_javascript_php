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110"/>
  </p:notesMasterIdLst>
  <p:sldIdLst>
    <p:sldId id="287" r:id="rId3"/>
    <p:sldId id="262" r:id="rId4"/>
    <p:sldId id="389" r:id="rId5"/>
    <p:sldId id="390" r:id="rId6"/>
    <p:sldId id="393" r:id="rId7"/>
    <p:sldId id="391" r:id="rId8"/>
    <p:sldId id="392" r:id="rId9"/>
    <p:sldId id="394" r:id="rId10"/>
    <p:sldId id="413" r:id="rId11"/>
    <p:sldId id="416" r:id="rId12"/>
    <p:sldId id="414" r:id="rId13"/>
    <p:sldId id="418" r:id="rId14"/>
    <p:sldId id="421" r:id="rId15"/>
    <p:sldId id="422" r:id="rId16"/>
    <p:sldId id="419" r:id="rId17"/>
    <p:sldId id="415" r:id="rId18"/>
    <p:sldId id="399" r:id="rId19"/>
    <p:sldId id="408" r:id="rId20"/>
    <p:sldId id="409" r:id="rId21"/>
    <p:sldId id="410" r:id="rId22"/>
    <p:sldId id="411" r:id="rId23"/>
    <p:sldId id="412" r:id="rId24"/>
    <p:sldId id="404" r:id="rId25"/>
    <p:sldId id="405" r:id="rId26"/>
    <p:sldId id="406" r:id="rId27"/>
    <p:sldId id="407" r:id="rId28"/>
    <p:sldId id="423" r:id="rId29"/>
    <p:sldId id="359" r:id="rId30"/>
    <p:sldId id="360" r:id="rId31"/>
    <p:sldId id="361" r:id="rId32"/>
    <p:sldId id="362" r:id="rId33"/>
    <p:sldId id="363" r:id="rId34"/>
    <p:sldId id="1854" r:id="rId35"/>
    <p:sldId id="1852" r:id="rId36"/>
    <p:sldId id="424" r:id="rId37"/>
    <p:sldId id="426" r:id="rId38"/>
    <p:sldId id="427" r:id="rId39"/>
    <p:sldId id="428" r:id="rId40"/>
    <p:sldId id="429" r:id="rId41"/>
    <p:sldId id="430" r:id="rId42"/>
    <p:sldId id="425" r:id="rId43"/>
    <p:sldId id="433" r:id="rId44"/>
    <p:sldId id="434" r:id="rId45"/>
    <p:sldId id="435" r:id="rId46"/>
    <p:sldId id="436" r:id="rId47"/>
    <p:sldId id="437" r:id="rId48"/>
    <p:sldId id="438" r:id="rId49"/>
    <p:sldId id="439" r:id="rId50"/>
    <p:sldId id="440" r:id="rId51"/>
    <p:sldId id="445" r:id="rId52"/>
    <p:sldId id="446" r:id="rId53"/>
    <p:sldId id="447" r:id="rId54"/>
    <p:sldId id="448" r:id="rId55"/>
    <p:sldId id="452" r:id="rId56"/>
    <p:sldId id="453" r:id="rId57"/>
    <p:sldId id="449" r:id="rId58"/>
    <p:sldId id="450" r:id="rId59"/>
    <p:sldId id="451" r:id="rId60"/>
    <p:sldId id="444" r:id="rId61"/>
    <p:sldId id="441" r:id="rId62"/>
    <p:sldId id="442" r:id="rId63"/>
    <p:sldId id="458" r:id="rId64"/>
    <p:sldId id="463" r:id="rId65"/>
    <p:sldId id="465" r:id="rId66"/>
    <p:sldId id="457" r:id="rId67"/>
    <p:sldId id="472" r:id="rId68"/>
    <p:sldId id="474" r:id="rId69"/>
    <p:sldId id="475" r:id="rId70"/>
    <p:sldId id="478" r:id="rId71"/>
    <p:sldId id="473" r:id="rId72"/>
    <p:sldId id="479" r:id="rId73"/>
    <p:sldId id="443" r:id="rId74"/>
    <p:sldId id="454" r:id="rId75"/>
    <p:sldId id="455" r:id="rId76"/>
    <p:sldId id="456" r:id="rId77"/>
    <p:sldId id="1853" r:id="rId78"/>
    <p:sldId id="459" r:id="rId79"/>
    <p:sldId id="460" r:id="rId80"/>
    <p:sldId id="461" r:id="rId81"/>
    <p:sldId id="462" r:id="rId82"/>
    <p:sldId id="1855" r:id="rId83"/>
    <p:sldId id="1856" r:id="rId84"/>
    <p:sldId id="1857" r:id="rId85"/>
    <p:sldId id="1858" r:id="rId86"/>
    <p:sldId id="1859" r:id="rId87"/>
    <p:sldId id="1860" r:id="rId88"/>
    <p:sldId id="1861" r:id="rId89"/>
    <p:sldId id="1862" r:id="rId90"/>
    <p:sldId id="1863" r:id="rId91"/>
    <p:sldId id="1864" r:id="rId92"/>
    <p:sldId id="1865" r:id="rId93"/>
    <p:sldId id="1866" r:id="rId94"/>
    <p:sldId id="1867" r:id="rId95"/>
    <p:sldId id="1868" r:id="rId96"/>
    <p:sldId id="1869" r:id="rId97"/>
    <p:sldId id="1870" r:id="rId98"/>
    <p:sldId id="1871" r:id="rId99"/>
    <p:sldId id="1872" r:id="rId100"/>
    <p:sldId id="1873" r:id="rId101"/>
    <p:sldId id="1874" r:id="rId102"/>
    <p:sldId id="1875" r:id="rId103"/>
    <p:sldId id="1876" r:id="rId104"/>
    <p:sldId id="1877" r:id="rId105"/>
    <p:sldId id="1878" r:id="rId106"/>
    <p:sldId id="1879" r:id="rId107"/>
    <p:sldId id="1817" r:id="rId108"/>
    <p:sldId id="1850" r:id="rId10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107" d="100"/>
          <a:sy n="107" d="100"/>
        </p:scale>
        <p:origin x="750" y="1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84" Type="http://schemas.openxmlformats.org/officeDocument/2006/relationships/slide" Target="slides/slide82.xml"/><Relationship Id="rId89" Type="http://schemas.openxmlformats.org/officeDocument/2006/relationships/slide" Target="slides/slide87.xml"/><Relationship Id="rId112" Type="http://schemas.openxmlformats.org/officeDocument/2006/relationships/viewProps" Target="viewProps.xml"/><Relationship Id="rId16" Type="http://schemas.openxmlformats.org/officeDocument/2006/relationships/slide" Target="slides/slide14.xml"/><Relationship Id="rId107" Type="http://schemas.openxmlformats.org/officeDocument/2006/relationships/slide" Target="slides/slide105.xml"/><Relationship Id="rId11" Type="http://schemas.openxmlformats.org/officeDocument/2006/relationships/slide" Target="slides/slide9.xml"/><Relationship Id="rId32" Type="http://schemas.openxmlformats.org/officeDocument/2006/relationships/slide" Target="slides/slide30.xml"/><Relationship Id="rId37" Type="http://schemas.openxmlformats.org/officeDocument/2006/relationships/slide" Target="slides/slide35.xml"/><Relationship Id="rId53" Type="http://schemas.openxmlformats.org/officeDocument/2006/relationships/slide" Target="slides/slide51.xml"/><Relationship Id="rId58" Type="http://schemas.openxmlformats.org/officeDocument/2006/relationships/slide" Target="slides/slide56.xml"/><Relationship Id="rId74" Type="http://schemas.openxmlformats.org/officeDocument/2006/relationships/slide" Target="slides/slide72.xml"/><Relationship Id="rId79" Type="http://schemas.openxmlformats.org/officeDocument/2006/relationships/slide" Target="slides/slide77.xml"/><Relationship Id="rId102" Type="http://schemas.openxmlformats.org/officeDocument/2006/relationships/slide" Target="slides/slide100.xml"/><Relationship Id="rId5" Type="http://schemas.openxmlformats.org/officeDocument/2006/relationships/slide" Target="slides/slide3.xml"/><Relationship Id="rId90" Type="http://schemas.openxmlformats.org/officeDocument/2006/relationships/slide" Target="slides/slide88.xml"/><Relationship Id="rId95" Type="http://schemas.openxmlformats.org/officeDocument/2006/relationships/slide" Target="slides/slide93.xml"/><Relationship Id="rId22" Type="http://schemas.openxmlformats.org/officeDocument/2006/relationships/slide" Target="slides/slide20.xml"/><Relationship Id="rId27" Type="http://schemas.openxmlformats.org/officeDocument/2006/relationships/slide" Target="slides/slide25.xml"/><Relationship Id="rId43" Type="http://schemas.openxmlformats.org/officeDocument/2006/relationships/slide" Target="slides/slide41.xml"/><Relationship Id="rId48" Type="http://schemas.openxmlformats.org/officeDocument/2006/relationships/slide" Target="slides/slide46.xml"/><Relationship Id="rId64" Type="http://schemas.openxmlformats.org/officeDocument/2006/relationships/slide" Target="slides/slide62.xml"/><Relationship Id="rId69" Type="http://schemas.openxmlformats.org/officeDocument/2006/relationships/slide" Target="slides/slide67.xml"/><Relationship Id="rId113" Type="http://schemas.openxmlformats.org/officeDocument/2006/relationships/theme" Target="theme/theme1.xml"/><Relationship Id="rId80" Type="http://schemas.openxmlformats.org/officeDocument/2006/relationships/slide" Target="slides/slide78.xml"/><Relationship Id="rId85" Type="http://schemas.openxmlformats.org/officeDocument/2006/relationships/slide" Target="slides/slide83.xml"/><Relationship Id="rId12" Type="http://schemas.openxmlformats.org/officeDocument/2006/relationships/slide" Target="slides/slide10.xml"/><Relationship Id="rId17" Type="http://schemas.openxmlformats.org/officeDocument/2006/relationships/slide" Target="slides/slide15.xml"/><Relationship Id="rId33" Type="http://schemas.openxmlformats.org/officeDocument/2006/relationships/slide" Target="slides/slide31.xml"/><Relationship Id="rId38" Type="http://schemas.openxmlformats.org/officeDocument/2006/relationships/slide" Target="slides/slide36.xml"/><Relationship Id="rId59" Type="http://schemas.openxmlformats.org/officeDocument/2006/relationships/slide" Target="slides/slide57.xml"/><Relationship Id="rId103" Type="http://schemas.openxmlformats.org/officeDocument/2006/relationships/slide" Target="slides/slide101.xml"/><Relationship Id="rId108" Type="http://schemas.openxmlformats.org/officeDocument/2006/relationships/slide" Target="slides/slide106.xml"/><Relationship Id="rId54" Type="http://schemas.openxmlformats.org/officeDocument/2006/relationships/slide" Target="slides/slide52.xml"/><Relationship Id="rId70" Type="http://schemas.openxmlformats.org/officeDocument/2006/relationships/slide" Target="slides/slide68.xml"/><Relationship Id="rId75" Type="http://schemas.openxmlformats.org/officeDocument/2006/relationships/slide" Target="slides/slide73.xml"/><Relationship Id="rId91" Type="http://schemas.openxmlformats.org/officeDocument/2006/relationships/slide" Target="slides/slide89.xml"/><Relationship Id="rId96" Type="http://schemas.openxmlformats.org/officeDocument/2006/relationships/slide" Target="slides/slide94.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6" Type="http://schemas.openxmlformats.org/officeDocument/2006/relationships/slide" Target="slides/slide104.xml"/><Relationship Id="rId114" Type="http://schemas.openxmlformats.org/officeDocument/2006/relationships/tableStyles" Target="tableStyles.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slide" Target="slides/slide71.xml"/><Relationship Id="rId78" Type="http://schemas.openxmlformats.org/officeDocument/2006/relationships/slide" Target="slides/slide76.xml"/><Relationship Id="rId81" Type="http://schemas.openxmlformats.org/officeDocument/2006/relationships/slide" Target="slides/slide79.xml"/><Relationship Id="rId86" Type="http://schemas.openxmlformats.org/officeDocument/2006/relationships/slide" Target="slides/slide84.xml"/><Relationship Id="rId94" Type="http://schemas.openxmlformats.org/officeDocument/2006/relationships/slide" Target="slides/slide92.xml"/><Relationship Id="rId99" Type="http://schemas.openxmlformats.org/officeDocument/2006/relationships/slide" Target="slides/slide97.xml"/><Relationship Id="rId101" Type="http://schemas.openxmlformats.org/officeDocument/2006/relationships/slide" Target="slides/slide99.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109" Type="http://schemas.openxmlformats.org/officeDocument/2006/relationships/slide" Target="slides/slide10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97" Type="http://schemas.openxmlformats.org/officeDocument/2006/relationships/slide" Target="slides/slide95.xml"/><Relationship Id="rId104" Type="http://schemas.openxmlformats.org/officeDocument/2006/relationships/slide" Target="slides/slide102.xml"/><Relationship Id="rId7" Type="http://schemas.openxmlformats.org/officeDocument/2006/relationships/slide" Target="slides/slide5.xml"/><Relationship Id="rId71" Type="http://schemas.openxmlformats.org/officeDocument/2006/relationships/slide" Target="slides/slide69.xml"/><Relationship Id="rId92" Type="http://schemas.openxmlformats.org/officeDocument/2006/relationships/slide" Target="slides/slide90.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87" Type="http://schemas.openxmlformats.org/officeDocument/2006/relationships/slide" Target="slides/slide85.xml"/><Relationship Id="rId110" Type="http://schemas.openxmlformats.org/officeDocument/2006/relationships/notesMaster" Target="notesMasters/notesMaster1.xml"/><Relationship Id="rId61" Type="http://schemas.openxmlformats.org/officeDocument/2006/relationships/slide" Target="slides/slide59.xml"/><Relationship Id="rId82" Type="http://schemas.openxmlformats.org/officeDocument/2006/relationships/slide" Target="slides/slide80.xml"/><Relationship Id="rId19" Type="http://schemas.openxmlformats.org/officeDocument/2006/relationships/slide" Target="slides/slide17.xml"/><Relationship Id="rId14" Type="http://schemas.openxmlformats.org/officeDocument/2006/relationships/slide" Target="slides/slide12.xml"/><Relationship Id="rId30" Type="http://schemas.openxmlformats.org/officeDocument/2006/relationships/slide" Target="slides/slide28.xml"/><Relationship Id="rId35" Type="http://schemas.openxmlformats.org/officeDocument/2006/relationships/slide" Target="slides/slide33.xml"/><Relationship Id="rId56" Type="http://schemas.openxmlformats.org/officeDocument/2006/relationships/slide" Target="slides/slide54.xml"/><Relationship Id="rId77" Type="http://schemas.openxmlformats.org/officeDocument/2006/relationships/slide" Target="slides/slide75.xml"/><Relationship Id="rId100" Type="http://schemas.openxmlformats.org/officeDocument/2006/relationships/slide" Target="slides/slide98.xml"/><Relationship Id="rId105" Type="http://schemas.openxmlformats.org/officeDocument/2006/relationships/slide" Target="slides/slide103.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93" Type="http://schemas.openxmlformats.org/officeDocument/2006/relationships/slide" Target="slides/slide91.xml"/><Relationship Id="rId98" Type="http://schemas.openxmlformats.org/officeDocument/2006/relationships/slide" Target="slides/slide96.xml"/><Relationship Id="rId3" Type="http://schemas.openxmlformats.org/officeDocument/2006/relationships/slide" Target="slides/slide1.xml"/><Relationship Id="rId25" Type="http://schemas.openxmlformats.org/officeDocument/2006/relationships/slide" Target="slides/slide23.xml"/><Relationship Id="rId46" Type="http://schemas.openxmlformats.org/officeDocument/2006/relationships/slide" Target="slides/slide44.xml"/><Relationship Id="rId67" Type="http://schemas.openxmlformats.org/officeDocument/2006/relationships/slide" Target="slides/slide65.xml"/><Relationship Id="rId20" Type="http://schemas.openxmlformats.org/officeDocument/2006/relationships/slide" Target="slides/slide18.xml"/><Relationship Id="rId41" Type="http://schemas.openxmlformats.org/officeDocument/2006/relationships/slide" Target="slides/slide39.xml"/><Relationship Id="rId62" Type="http://schemas.openxmlformats.org/officeDocument/2006/relationships/slide" Target="slides/slide60.xml"/><Relationship Id="rId83" Type="http://schemas.openxmlformats.org/officeDocument/2006/relationships/slide" Target="slides/slide81.xml"/><Relationship Id="rId88" Type="http://schemas.openxmlformats.org/officeDocument/2006/relationships/slide" Target="slides/slide86.xml"/><Relationship Id="rId111"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311EC19-7E08-40F0-ACF2-22F660FC7C40}" type="datetimeFigureOut">
              <a:rPr lang="en-AU" smtClean="0"/>
              <a:t>21/05/2026</a:t>
            </a:fld>
            <a:endParaRPr lang="en-AU"/>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EDBD98D-E85B-4601-A77C-B7964013730D}" type="slidenum">
              <a:rPr lang="en-AU" smtClean="0"/>
              <a:t>‹#›</a:t>
            </a:fld>
            <a:endParaRPr lang="en-AU"/>
          </a:p>
        </p:txBody>
      </p:sp>
    </p:spTree>
    <p:extLst>
      <p:ext uri="{BB962C8B-B14F-4D97-AF65-F5344CB8AC3E}">
        <p14:creationId xmlns:p14="http://schemas.microsoft.com/office/powerpoint/2010/main" val="36971220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jp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jp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1B6C70-B768-65B1-6556-96BF184E4AB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AU"/>
          </a:p>
        </p:txBody>
      </p:sp>
      <p:sp>
        <p:nvSpPr>
          <p:cNvPr id="3" name="Subtitle 2">
            <a:extLst>
              <a:ext uri="{FF2B5EF4-FFF2-40B4-BE49-F238E27FC236}">
                <a16:creationId xmlns:a16="http://schemas.microsoft.com/office/drawing/2014/main" id="{695F93E1-16D1-D364-FDE1-F5C43AA28E7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AU"/>
          </a:p>
        </p:txBody>
      </p:sp>
      <p:sp>
        <p:nvSpPr>
          <p:cNvPr id="4" name="Date Placeholder 3">
            <a:extLst>
              <a:ext uri="{FF2B5EF4-FFF2-40B4-BE49-F238E27FC236}">
                <a16:creationId xmlns:a16="http://schemas.microsoft.com/office/drawing/2014/main" id="{9CB9E7BB-4707-201F-EE06-A48A12D48944}"/>
              </a:ext>
            </a:extLst>
          </p:cNvPr>
          <p:cNvSpPr>
            <a:spLocks noGrp="1"/>
          </p:cNvSpPr>
          <p:nvPr>
            <p:ph type="dt" sz="half" idx="10"/>
          </p:nvPr>
        </p:nvSpPr>
        <p:spPr/>
        <p:txBody>
          <a:bodyPr/>
          <a:lstStyle/>
          <a:p>
            <a:fld id="{7036F693-4807-4ACB-9866-42E633ECA663}" type="datetimeFigureOut">
              <a:rPr lang="en-AU" smtClean="0"/>
              <a:t>21/05/2026</a:t>
            </a:fld>
            <a:endParaRPr lang="en-AU"/>
          </a:p>
        </p:txBody>
      </p:sp>
      <p:sp>
        <p:nvSpPr>
          <p:cNvPr id="5" name="Footer Placeholder 4">
            <a:extLst>
              <a:ext uri="{FF2B5EF4-FFF2-40B4-BE49-F238E27FC236}">
                <a16:creationId xmlns:a16="http://schemas.microsoft.com/office/drawing/2014/main" id="{64A58FB7-C93E-81F6-2E41-0C2CEE839C5A}"/>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C65B1B3D-3648-BA5A-F1E8-F3576B98545B}"/>
              </a:ext>
            </a:extLst>
          </p:cNvPr>
          <p:cNvSpPr>
            <a:spLocks noGrp="1"/>
          </p:cNvSpPr>
          <p:nvPr>
            <p:ph type="sldNum" sz="quarter" idx="12"/>
          </p:nvPr>
        </p:nvSpPr>
        <p:spPr/>
        <p:txBody>
          <a:bodyPr/>
          <a:lstStyle/>
          <a:p>
            <a:fld id="{7BF9DD6F-E86F-40A2-88B8-DD3E2998C092}" type="slidenum">
              <a:rPr lang="en-AU" smtClean="0"/>
              <a:t>‹#›</a:t>
            </a:fld>
            <a:endParaRPr lang="en-AU"/>
          </a:p>
        </p:txBody>
      </p:sp>
    </p:spTree>
    <p:extLst>
      <p:ext uri="{BB962C8B-B14F-4D97-AF65-F5344CB8AC3E}">
        <p14:creationId xmlns:p14="http://schemas.microsoft.com/office/powerpoint/2010/main" val="13959934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6AB4AE-322D-B6C3-A1DE-738FD7ED3400}"/>
              </a:ext>
            </a:extLst>
          </p:cNvPr>
          <p:cNvSpPr>
            <a:spLocks noGrp="1"/>
          </p:cNvSpPr>
          <p:nvPr>
            <p:ph type="title"/>
          </p:nvPr>
        </p:nvSpPr>
        <p:spPr/>
        <p:txBody>
          <a:bodyPr/>
          <a:lstStyle/>
          <a:p>
            <a:r>
              <a:rPr lang="en-US"/>
              <a:t>Click to edit Master title style</a:t>
            </a:r>
            <a:endParaRPr lang="en-AU"/>
          </a:p>
        </p:txBody>
      </p:sp>
      <p:sp>
        <p:nvSpPr>
          <p:cNvPr id="3" name="Content Placeholder 2">
            <a:extLst>
              <a:ext uri="{FF2B5EF4-FFF2-40B4-BE49-F238E27FC236}">
                <a16:creationId xmlns:a16="http://schemas.microsoft.com/office/drawing/2014/main" id="{399D54C3-19F9-02AD-025C-69DD9166D19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EDA2C77A-6A88-8738-8A39-76BAC476ADD6}"/>
              </a:ext>
            </a:extLst>
          </p:cNvPr>
          <p:cNvSpPr>
            <a:spLocks noGrp="1"/>
          </p:cNvSpPr>
          <p:nvPr>
            <p:ph type="dt" sz="half" idx="10"/>
          </p:nvPr>
        </p:nvSpPr>
        <p:spPr/>
        <p:txBody>
          <a:bodyPr/>
          <a:lstStyle/>
          <a:p>
            <a:fld id="{7036F693-4807-4ACB-9866-42E633ECA663}" type="datetimeFigureOut">
              <a:rPr lang="en-AU" smtClean="0"/>
              <a:t>21/05/2026</a:t>
            </a:fld>
            <a:endParaRPr lang="en-AU"/>
          </a:p>
        </p:txBody>
      </p:sp>
      <p:sp>
        <p:nvSpPr>
          <p:cNvPr id="5" name="Footer Placeholder 4">
            <a:extLst>
              <a:ext uri="{FF2B5EF4-FFF2-40B4-BE49-F238E27FC236}">
                <a16:creationId xmlns:a16="http://schemas.microsoft.com/office/drawing/2014/main" id="{57019BD3-F1D6-5FE6-72A9-07F9F9DB2BD2}"/>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E6632BB2-ED4D-4A8C-20BA-C64F1C360C7B}"/>
              </a:ext>
            </a:extLst>
          </p:cNvPr>
          <p:cNvSpPr>
            <a:spLocks noGrp="1"/>
          </p:cNvSpPr>
          <p:nvPr>
            <p:ph type="sldNum" sz="quarter" idx="12"/>
          </p:nvPr>
        </p:nvSpPr>
        <p:spPr/>
        <p:txBody>
          <a:bodyPr/>
          <a:lstStyle/>
          <a:p>
            <a:fld id="{7BF9DD6F-E86F-40A2-88B8-DD3E2998C092}" type="slidenum">
              <a:rPr lang="en-AU" smtClean="0"/>
              <a:t>‹#›</a:t>
            </a:fld>
            <a:endParaRPr lang="en-AU"/>
          </a:p>
        </p:txBody>
      </p:sp>
    </p:spTree>
    <p:extLst>
      <p:ext uri="{BB962C8B-B14F-4D97-AF65-F5344CB8AC3E}">
        <p14:creationId xmlns:p14="http://schemas.microsoft.com/office/powerpoint/2010/main" val="41690863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7CEACA-7AAE-C32F-ACC2-3D8D45E234A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AU"/>
          </a:p>
        </p:txBody>
      </p:sp>
      <p:sp>
        <p:nvSpPr>
          <p:cNvPr id="3" name="Text Placeholder 2">
            <a:extLst>
              <a:ext uri="{FF2B5EF4-FFF2-40B4-BE49-F238E27FC236}">
                <a16:creationId xmlns:a16="http://schemas.microsoft.com/office/drawing/2014/main" id="{C41DE1E7-6228-8F00-4C8C-49BCF562ED8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47B1251-888D-5407-DE40-24E0B5666EAD}"/>
              </a:ext>
            </a:extLst>
          </p:cNvPr>
          <p:cNvSpPr>
            <a:spLocks noGrp="1"/>
          </p:cNvSpPr>
          <p:nvPr>
            <p:ph type="dt" sz="half" idx="10"/>
          </p:nvPr>
        </p:nvSpPr>
        <p:spPr/>
        <p:txBody>
          <a:bodyPr/>
          <a:lstStyle/>
          <a:p>
            <a:fld id="{7036F693-4807-4ACB-9866-42E633ECA663}" type="datetimeFigureOut">
              <a:rPr lang="en-AU" smtClean="0"/>
              <a:t>21/05/2026</a:t>
            </a:fld>
            <a:endParaRPr lang="en-AU"/>
          </a:p>
        </p:txBody>
      </p:sp>
      <p:sp>
        <p:nvSpPr>
          <p:cNvPr id="5" name="Footer Placeholder 4">
            <a:extLst>
              <a:ext uri="{FF2B5EF4-FFF2-40B4-BE49-F238E27FC236}">
                <a16:creationId xmlns:a16="http://schemas.microsoft.com/office/drawing/2014/main" id="{1CDD5024-26A5-9A9C-921F-4553B2F00B67}"/>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4F3B14B6-C9EC-FC5A-AFAB-8BAA369AC616}"/>
              </a:ext>
            </a:extLst>
          </p:cNvPr>
          <p:cNvSpPr>
            <a:spLocks noGrp="1"/>
          </p:cNvSpPr>
          <p:nvPr>
            <p:ph type="sldNum" sz="quarter" idx="12"/>
          </p:nvPr>
        </p:nvSpPr>
        <p:spPr/>
        <p:txBody>
          <a:bodyPr/>
          <a:lstStyle/>
          <a:p>
            <a:fld id="{7BF9DD6F-E86F-40A2-88B8-DD3E2998C092}" type="slidenum">
              <a:rPr lang="en-AU" smtClean="0"/>
              <a:t>‹#›</a:t>
            </a:fld>
            <a:endParaRPr lang="en-AU"/>
          </a:p>
        </p:txBody>
      </p:sp>
    </p:spTree>
    <p:extLst>
      <p:ext uri="{BB962C8B-B14F-4D97-AF65-F5344CB8AC3E}">
        <p14:creationId xmlns:p14="http://schemas.microsoft.com/office/powerpoint/2010/main" val="196431921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A25A3B-F871-EAB2-E4CA-F479C9EFA4D2}"/>
              </a:ext>
            </a:extLst>
          </p:cNvPr>
          <p:cNvSpPr>
            <a:spLocks noGrp="1"/>
          </p:cNvSpPr>
          <p:nvPr>
            <p:ph type="title"/>
          </p:nvPr>
        </p:nvSpPr>
        <p:spPr/>
        <p:txBody>
          <a:bodyPr/>
          <a:lstStyle/>
          <a:p>
            <a:r>
              <a:rPr lang="en-US"/>
              <a:t>Click to edit Master title style</a:t>
            </a:r>
            <a:endParaRPr lang="en-AU"/>
          </a:p>
        </p:txBody>
      </p:sp>
      <p:sp>
        <p:nvSpPr>
          <p:cNvPr id="3" name="Content Placeholder 2">
            <a:extLst>
              <a:ext uri="{FF2B5EF4-FFF2-40B4-BE49-F238E27FC236}">
                <a16:creationId xmlns:a16="http://schemas.microsoft.com/office/drawing/2014/main" id="{00592C35-B8A5-0F3E-E963-C2D19DB8820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Content Placeholder 3">
            <a:extLst>
              <a:ext uri="{FF2B5EF4-FFF2-40B4-BE49-F238E27FC236}">
                <a16:creationId xmlns:a16="http://schemas.microsoft.com/office/drawing/2014/main" id="{2D3940B5-8BCA-4EF3-185B-F0CF288E553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Date Placeholder 4">
            <a:extLst>
              <a:ext uri="{FF2B5EF4-FFF2-40B4-BE49-F238E27FC236}">
                <a16:creationId xmlns:a16="http://schemas.microsoft.com/office/drawing/2014/main" id="{44717141-9800-0D1B-F4A8-EC0024210BC9}"/>
              </a:ext>
            </a:extLst>
          </p:cNvPr>
          <p:cNvSpPr>
            <a:spLocks noGrp="1"/>
          </p:cNvSpPr>
          <p:nvPr>
            <p:ph type="dt" sz="half" idx="10"/>
          </p:nvPr>
        </p:nvSpPr>
        <p:spPr/>
        <p:txBody>
          <a:bodyPr/>
          <a:lstStyle/>
          <a:p>
            <a:fld id="{7036F693-4807-4ACB-9866-42E633ECA663}" type="datetimeFigureOut">
              <a:rPr lang="en-AU" smtClean="0"/>
              <a:t>21/05/2026</a:t>
            </a:fld>
            <a:endParaRPr lang="en-AU"/>
          </a:p>
        </p:txBody>
      </p:sp>
      <p:sp>
        <p:nvSpPr>
          <p:cNvPr id="6" name="Footer Placeholder 5">
            <a:extLst>
              <a:ext uri="{FF2B5EF4-FFF2-40B4-BE49-F238E27FC236}">
                <a16:creationId xmlns:a16="http://schemas.microsoft.com/office/drawing/2014/main" id="{F4C73B31-82FC-930B-CBCE-640290491911}"/>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D6455AE7-9072-1FF9-7749-898A9ED13F41}"/>
              </a:ext>
            </a:extLst>
          </p:cNvPr>
          <p:cNvSpPr>
            <a:spLocks noGrp="1"/>
          </p:cNvSpPr>
          <p:nvPr>
            <p:ph type="sldNum" sz="quarter" idx="12"/>
          </p:nvPr>
        </p:nvSpPr>
        <p:spPr/>
        <p:txBody>
          <a:bodyPr/>
          <a:lstStyle/>
          <a:p>
            <a:fld id="{7BF9DD6F-E86F-40A2-88B8-DD3E2998C092}" type="slidenum">
              <a:rPr lang="en-AU" smtClean="0"/>
              <a:t>‹#›</a:t>
            </a:fld>
            <a:endParaRPr lang="en-AU"/>
          </a:p>
        </p:txBody>
      </p:sp>
    </p:spTree>
    <p:extLst>
      <p:ext uri="{BB962C8B-B14F-4D97-AF65-F5344CB8AC3E}">
        <p14:creationId xmlns:p14="http://schemas.microsoft.com/office/powerpoint/2010/main" val="1339849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3AA3EF-EF8F-F539-964B-C4820289D46A}"/>
              </a:ext>
            </a:extLst>
          </p:cNvPr>
          <p:cNvSpPr>
            <a:spLocks noGrp="1"/>
          </p:cNvSpPr>
          <p:nvPr>
            <p:ph type="title"/>
          </p:nvPr>
        </p:nvSpPr>
        <p:spPr>
          <a:xfrm>
            <a:off x="839788" y="365125"/>
            <a:ext cx="10515600" cy="1325563"/>
          </a:xfrm>
        </p:spPr>
        <p:txBody>
          <a:bodyPr/>
          <a:lstStyle/>
          <a:p>
            <a:r>
              <a:rPr lang="en-US"/>
              <a:t>Click to edit Master title style</a:t>
            </a:r>
            <a:endParaRPr lang="en-AU"/>
          </a:p>
        </p:txBody>
      </p:sp>
      <p:sp>
        <p:nvSpPr>
          <p:cNvPr id="3" name="Text Placeholder 2">
            <a:extLst>
              <a:ext uri="{FF2B5EF4-FFF2-40B4-BE49-F238E27FC236}">
                <a16:creationId xmlns:a16="http://schemas.microsoft.com/office/drawing/2014/main" id="{48393D2D-46D0-C65F-3CD4-8CA1DC1568B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3504EA2-A069-2AB5-BE4D-5A9531F19FC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Text Placeholder 4">
            <a:extLst>
              <a:ext uri="{FF2B5EF4-FFF2-40B4-BE49-F238E27FC236}">
                <a16:creationId xmlns:a16="http://schemas.microsoft.com/office/drawing/2014/main" id="{E1DD3DA3-5E8A-468F-D96D-DEF4FCA9D75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20753A7-BCB6-8494-67C4-A2DE23125A5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7" name="Date Placeholder 6">
            <a:extLst>
              <a:ext uri="{FF2B5EF4-FFF2-40B4-BE49-F238E27FC236}">
                <a16:creationId xmlns:a16="http://schemas.microsoft.com/office/drawing/2014/main" id="{796EAE1E-45A7-184F-1859-0151A0F6F174}"/>
              </a:ext>
            </a:extLst>
          </p:cNvPr>
          <p:cNvSpPr>
            <a:spLocks noGrp="1"/>
          </p:cNvSpPr>
          <p:nvPr>
            <p:ph type="dt" sz="half" idx="10"/>
          </p:nvPr>
        </p:nvSpPr>
        <p:spPr/>
        <p:txBody>
          <a:bodyPr/>
          <a:lstStyle/>
          <a:p>
            <a:fld id="{7036F693-4807-4ACB-9866-42E633ECA663}" type="datetimeFigureOut">
              <a:rPr lang="en-AU" smtClean="0"/>
              <a:t>21/05/2026</a:t>
            </a:fld>
            <a:endParaRPr lang="en-AU"/>
          </a:p>
        </p:txBody>
      </p:sp>
      <p:sp>
        <p:nvSpPr>
          <p:cNvPr id="8" name="Footer Placeholder 7">
            <a:extLst>
              <a:ext uri="{FF2B5EF4-FFF2-40B4-BE49-F238E27FC236}">
                <a16:creationId xmlns:a16="http://schemas.microsoft.com/office/drawing/2014/main" id="{CBE74A07-DECC-AF4C-A1B9-945896FF614C}"/>
              </a:ext>
            </a:extLst>
          </p:cNvPr>
          <p:cNvSpPr>
            <a:spLocks noGrp="1"/>
          </p:cNvSpPr>
          <p:nvPr>
            <p:ph type="ftr" sz="quarter" idx="11"/>
          </p:nvPr>
        </p:nvSpPr>
        <p:spPr/>
        <p:txBody>
          <a:bodyPr/>
          <a:lstStyle/>
          <a:p>
            <a:endParaRPr lang="en-AU"/>
          </a:p>
        </p:txBody>
      </p:sp>
      <p:sp>
        <p:nvSpPr>
          <p:cNvPr id="9" name="Slide Number Placeholder 8">
            <a:extLst>
              <a:ext uri="{FF2B5EF4-FFF2-40B4-BE49-F238E27FC236}">
                <a16:creationId xmlns:a16="http://schemas.microsoft.com/office/drawing/2014/main" id="{32B7527C-A026-733A-81F8-612A3672D2F6}"/>
              </a:ext>
            </a:extLst>
          </p:cNvPr>
          <p:cNvSpPr>
            <a:spLocks noGrp="1"/>
          </p:cNvSpPr>
          <p:nvPr>
            <p:ph type="sldNum" sz="quarter" idx="12"/>
          </p:nvPr>
        </p:nvSpPr>
        <p:spPr/>
        <p:txBody>
          <a:bodyPr/>
          <a:lstStyle/>
          <a:p>
            <a:fld id="{7BF9DD6F-E86F-40A2-88B8-DD3E2998C092}" type="slidenum">
              <a:rPr lang="en-AU" smtClean="0"/>
              <a:t>‹#›</a:t>
            </a:fld>
            <a:endParaRPr lang="en-AU"/>
          </a:p>
        </p:txBody>
      </p:sp>
    </p:spTree>
    <p:extLst>
      <p:ext uri="{BB962C8B-B14F-4D97-AF65-F5344CB8AC3E}">
        <p14:creationId xmlns:p14="http://schemas.microsoft.com/office/powerpoint/2010/main" val="180729027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4D8692-6A66-A81A-F64D-252A01D72B58}"/>
              </a:ext>
            </a:extLst>
          </p:cNvPr>
          <p:cNvSpPr>
            <a:spLocks noGrp="1"/>
          </p:cNvSpPr>
          <p:nvPr>
            <p:ph type="title"/>
          </p:nvPr>
        </p:nvSpPr>
        <p:spPr/>
        <p:txBody>
          <a:bodyPr/>
          <a:lstStyle/>
          <a:p>
            <a:r>
              <a:rPr lang="en-US"/>
              <a:t>Click to edit Master title style</a:t>
            </a:r>
            <a:endParaRPr lang="en-AU"/>
          </a:p>
        </p:txBody>
      </p:sp>
      <p:sp>
        <p:nvSpPr>
          <p:cNvPr id="3" name="Date Placeholder 2">
            <a:extLst>
              <a:ext uri="{FF2B5EF4-FFF2-40B4-BE49-F238E27FC236}">
                <a16:creationId xmlns:a16="http://schemas.microsoft.com/office/drawing/2014/main" id="{E5205C8B-6899-F7CD-218F-53B25A8C28A2}"/>
              </a:ext>
            </a:extLst>
          </p:cNvPr>
          <p:cNvSpPr>
            <a:spLocks noGrp="1"/>
          </p:cNvSpPr>
          <p:nvPr>
            <p:ph type="dt" sz="half" idx="10"/>
          </p:nvPr>
        </p:nvSpPr>
        <p:spPr/>
        <p:txBody>
          <a:bodyPr/>
          <a:lstStyle/>
          <a:p>
            <a:fld id="{7036F693-4807-4ACB-9866-42E633ECA663}" type="datetimeFigureOut">
              <a:rPr lang="en-AU" smtClean="0"/>
              <a:t>21/05/2026</a:t>
            </a:fld>
            <a:endParaRPr lang="en-AU"/>
          </a:p>
        </p:txBody>
      </p:sp>
      <p:sp>
        <p:nvSpPr>
          <p:cNvPr id="4" name="Footer Placeholder 3">
            <a:extLst>
              <a:ext uri="{FF2B5EF4-FFF2-40B4-BE49-F238E27FC236}">
                <a16:creationId xmlns:a16="http://schemas.microsoft.com/office/drawing/2014/main" id="{BC578AB9-14B5-81D7-6DB2-7A92246ECEDB}"/>
              </a:ext>
            </a:extLst>
          </p:cNvPr>
          <p:cNvSpPr>
            <a:spLocks noGrp="1"/>
          </p:cNvSpPr>
          <p:nvPr>
            <p:ph type="ftr" sz="quarter" idx="11"/>
          </p:nvPr>
        </p:nvSpPr>
        <p:spPr/>
        <p:txBody>
          <a:bodyPr/>
          <a:lstStyle/>
          <a:p>
            <a:endParaRPr lang="en-AU"/>
          </a:p>
        </p:txBody>
      </p:sp>
      <p:sp>
        <p:nvSpPr>
          <p:cNvPr id="5" name="Slide Number Placeholder 4">
            <a:extLst>
              <a:ext uri="{FF2B5EF4-FFF2-40B4-BE49-F238E27FC236}">
                <a16:creationId xmlns:a16="http://schemas.microsoft.com/office/drawing/2014/main" id="{FBE25876-36CF-424C-ABB5-B54C23E4EACF}"/>
              </a:ext>
            </a:extLst>
          </p:cNvPr>
          <p:cNvSpPr>
            <a:spLocks noGrp="1"/>
          </p:cNvSpPr>
          <p:nvPr>
            <p:ph type="sldNum" sz="quarter" idx="12"/>
          </p:nvPr>
        </p:nvSpPr>
        <p:spPr/>
        <p:txBody>
          <a:bodyPr/>
          <a:lstStyle/>
          <a:p>
            <a:fld id="{7BF9DD6F-E86F-40A2-88B8-DD3E2998C092}" type="slidenum">
              <a:rPr lang="en-AU" smtClean="0"/>
              <a:t>‹#›</a:t>
            </a:fld>
            <a:endParaRPr lang="en-AU"/>
          </a:p>
        </p:txBody>
      </p:sp>
    </p:spTree>
    <p:extLst>
      <p:ext uri="{BB962C8B-B14F-4D97-AF65-F5344CB8AC3E}">
        <p14:creationId xmlns:p14="http://schemas.microsoft.com/office/powerpoint/2010/main" val="24545859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DD8F218-7BAB-6440-4B90-DD84170B86C6}"/>
              </a:ext>
            </a:extLst>
          </p:cNvPr>
          <p:cNvSpPr>
            <a:spLocks noGrp="1"/>
          </p:cNvSpPr>
          <p:nvPr>
            <p:ph type="dt" sz="half" idx="10"/>
          </p:nvPr>
        </p:nvSpPr>
        <p:spPr/>
        <p:txBody>
          <a:bodyPr/>
          <a:lstStyle/>
          <a:p>
            <a:fld id="{7036F693-4807-4ACB-9866-42E633ECA663}" type="datetimeFigureOut">
              <a:rPr lang="en-AU" smtClean="0"/>
              <a:t>21/05/2026</a:t>
            </a:fld>
            <a:endParaRPr lang="en-AU"/>
          </a:p>
        </p:txBody>
      </p:sp>
      <p:sp>
        <p:nvSpPr>
          <p:cNvPr id="3" name="Footer Placeholder 2">
            <a:extLst>
              <a:ext uri="{FF2B5EF4-FFF2-40B4-BE49-F238E27FC236}">
                <a16:creationId xmlns:a16="http://schemas.microsoft.com/office/drawing/2014/main" id="{98B0DA65-2C36-C5F9-E815-493215A422AB}"/>
              </a:ext>
            </a:extLst>
          </p:cNvPr>
          <p:cNvSpPr>
            <a:spLocks noGrp="1"/>
          </p:cNvSpPr>
          <p:nvPr>
            <p:ph type="ftr" sz="quarter" idx="11"/>
          </p:nvPr>
        </p:nvSpPr>
        <p:spPr/>
        <p:txBody>
          <a:bodyPr/>
          <a:lstStyle/>
          <a:p>
            <a:endParaRPr lang="en-AU"/>
          </a:p>
        </p:txBody>
      </p:sp>
      <p:sp>
        <p:nvSpPr>
          <p:cNvPr id="4" name="Slide Number Placeholder 3">
            <a:extLst>
              <a:ext uri="{FF2B5EF4-FFF2-40B4-BE49-F238E27FC236}">
                <a16:creationId xmlns:a16="http://schemas.microsoft.com/office/drawing/2014/main" id="{675990D7-0136-D22F-360A-B252C724BCF6}"/>
              </a:ext>
            </a:extLst>
          </p:cNvPr>
          <p:cNvSpPr>
            <a:spLocks noGrp="1"/>
          </p:cNvSpPr>
          <p:nvPr>
            <p:ph type="sldNum" sz="quarter" idx="12"/>
          </p:nvPr>
        </p:nvSpPr>
        <p:spPr/>
        <p:txBody>
          <a:bodyPr/>
          <a:lstStyle/>
          <a:p>
            <a:fld id="{7BF9DD6F-E86F-40A2-88B8-DD3E2998C092}" type="slidenum">
              <a:rPr lang="en-AU" smtClean="0"/>
              <a:t>‹#›</a:t>
            </a:fld>
            <a:endParaRPr lang="en-AU"/>
          </a:p>
        </p:txBody>
      </p:sp>
    </p:spTree>
    <p:extLst>
      <p:ext uri="{BB962C8B-B14F-4D97-AF65-F5344CB8AC3E}">
        <p14:creationId xmlns:p14="http://schemas.microsoft.com/office/powerpoint/2010/main" val="192072951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B182E2-A10E-6ABD-55B7-3CF2BB17A3F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U"/>
          </a:p>
        </p:txBody>
      </p:sp>
      <p:sp>
        <p:nvSpPr>
          <p:cNvPr id="3" name="Content Placeholder 2">
            <a:extLst>
              <a:ext uri="{FF2B5EF4-FFF2-40B4-BE49-F238E27FC236}">
                <a16:creationId xmlns:a16="http://schemas.microsoft.com/office/drawing/2014/main" id="{A8AFB820-3B67-54EE-9204-21E91A5B64D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Text Placeholder 3">
            <a:extLst>
              <a:ext uri="{FF2B5EF4-FFF2-40B4-BE49-F238E27FC236}">
                <a16:creationId xmlns:a16="http://schemas.microsoft.com/office/drawing/2014/main" id="{CC38F663-644F-F023-2E42-582EF5E9CCC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F3E879A-8E01-B66D-0599-3AC685A7BBDA}"/>
              </a:ext>
            </a:extLst>
          </p:cNvPr>
          <p:cNvSpPr>
            <a:spLocks noGrp="1"/>
          </p:cNvSpPr>
          <p:nvPr>
            <p:ph type="dt" sz="half" idx="10"/>
          </p:nvPr>
        </p:nvSpPr>
        <p:spPr/>
        <p:txBody>
          <a:bodyPr/>
          <a:lstStyle/>
          <a:p>
            <a:fld id="{7036F693-4807-4ACB-9866-42E633ECA663}" type="datetimeFigureOut">
              <a:rPr lang="en-AU" smtClean="0"/>
              <a:t>21/05/2026</a:t>
            </a:fld>
            <a:endParaRPr lang="en-AU"/>
          </a:p>
        </p:txBody>
      </p:sp>
      <p:sp>
        <p:nvSpPr>
          <p:cNvPr id="6" name="Footer Placeholder 5">
            <a:extLst>
              <a:ext uri="{FF2B5EF4-FFF2-40B4-BE49-F238E27FC236}">
                <a16:creationId xmlns:a16="http://schemas.microsoft.com/office/drawing/2014/main" id="{675E3D63-660A-D02B-96B2-4D753F7C062B}"/>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279EB7DC-A1C1-DBE0-4D1D-DC8818D620F3}"/>
              </a:ext>
            </a:extLst>
          </p:cNvPr>
          <p:cNvSpPr>
            <a:spLocks noGrp="1"/>
          </p:cNvSpPr>
          <p:nvPr>
            <p:ph type="sldNum" sz="quarter" idx="12"/>
          </p:nvPr>
        </p:nvSpPr>
        <p:spPr/>
        <p:txBody>
          <a:bodyPr/>
          <a:lstStyle/>
          <a:p>
            <a:fld id="{7BF9DD6F-E86F-40A2-88B8-DD3E2998C092}" type="slidenum">
              <a:rPr lang="en-AU" smtClean="0"/>
              <a:t>‹#›</a:t>
            </a:fld>
            <a:endParaRPr lang="en-AU"/>
          </a:p>
        </p:txBody>
      </p:sp>
    </p:spTree>
    <p:extLst>
      <p:ext uri="{BB962C8B-B14F-4D97-AF65-F5344CB8AC3E}">
        <p14:creationId xmlns:p14="http://schemas.microsoft.com/office/powerpoint/2010/main" val="41868696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BAC59C-D9F3-8D06-AD72-B0ACFEC8A76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U"/>
          </a:p>
        </p:txBody>
      </p:sp>
      <p:sp>
        <p:nvSpPr>
          <p:cNvPr id="3" name="Picture Placeholder 2">
            <a:extLst>
              <a:ext uri="{FF2B5EF4-FFF2-40B4-BE49-F238E27FC236}">
                <a16:creationId xmlns:a16="http://schemas.microsoft.com/office/drawing/2014/main" id="{D451E33A-D236-7697-03E8-F0AB97BD5FB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U"/>
          </a:p>
        </p:txBody>
      </p:sp>
      <p:sp>
        <p:nvSpPr>
          <p:cNvPr id="4" name="Text Placeholder 3">
            <a:extLst>
              <a:ext uri="{FF2B5EF4-FFF2-40B4-BE49-F238E27FC236}">
                <a16:creationId xmlns:a16="http://schemas.microsoft.com/office/drawing/2014/main" id="{747BB688-BC97-FCC2-C6B6-4BF70D2945E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EDF0714-9BF9-CEE3-2D93-A2D3000B4FBE}"/>
              </a:ext>
            </a:extLst>
          </p:cNvPr>
          <p:cNvSpPr>
            <a:spLocks noGrp="1"/>
          </p:cNvSpPr>
          <p:nvPr>
            <p:ph type="dt" sz="half" idx="10"/>
          </p:nvPr>
        </p:nvSpPr>
        <p:spPr/>
        <p:txBody>
          <a:bodyPr/>
          <a:lstStyle/>
          <a:p>
            <a:fld id="{7036F693-4807-4ACB-9866-42E633ECA663}" type="datetimeFigureOut">
              <a:rPr lang="en-AU" smtClean="0"/>
              <a:t>21/05/2026</a:t>
            </a:fld>
            <a:endParaRPr lang="en-AU"/>
          </a:p>
        </p:txBody>
      </p:sp>
      <p:sp>
        <p:nvSpPr>
          <p:cNvPr id="6" name="Footer Placeholder 5">
            <a:extLst>
              <a:ext uri="{FF2B5EF4-FFF2-40B4-BE49-F238E27FC236}">
                <a16:creationId xmlns:a16="http://schemas.microsoft.com/office/drawing/2014/main" id="{22D2D7F7-5B88-507C-DE4C-730E04E87A41}"/>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FEE44157-7A04-856B-4C28-125F1006953A}"/>
              </a:ext>
            </a:extLst>
          </p:cNvPr>
          <p:cNvSpPr>
            <a:spLocks noGrp="1"/>
          </p:cNvSpPr>
          <p:nvPr>
            <p:ph type="sldNum" sz="quarter" idx="12"/>
          </p:nvPr>
        </p:nvSpPr>
        <p:spPr/>
        <p:txBody>
          <a:bodyPr/>
          <a:lstStyle/>
          <a:p>
            <a:fld id="{7BF9DD6F-E86F-40A2-88B8-DD3E2998C092}" type="slidenum">
              <a:rPr lang="en-AU" smtClean="0"/>
              <a:t>‹#›</a:t>
            </a:fld>
            <a:endParaRPr lang="en-AU"/>
          </a:p>
        </p:txBody>
      </p:sp>
    </p:spTree>
    <p:extLst>
      <p:ext uri="{BB962C8B-B14F-4D97-AF65-F5344CB8AC3E}">
        <p14:creationId xmlns:p14="http://schemas.microsoft.com/office/powerpoint/2010/main" val="34831989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145458-5F73-9470-8CAE-2E81515E0894}"/>
              </a:ext>
            </a:extLst>
          </p:cNvPr>
          <p:cNvSpPr>
            <a:spLocks noGrp="1"/>
          </p:cNvSpPr>
          <p:nvPr>
            <p:ph type="title"/>
          </p:nvPr>
        </p:nvSpPr>
        <p:spPr/>
        <p:txBody>
          <a:bodyPr/>
          <a:lstStyle/>
          <a:p>
            <a:r>
              <a:rPr lang="en-US"/>
              <a:t>Click to edit Master title style</a:t>
            </a:r>
            <a:endParaRPr lang="en-AU"/>
          </a:p>
        </p:txBody>
      </p:sp>
      <p:sp>
        <p:nvSpPr>
          <p:cNvPr id="3" name="Vertical Text Placeholder 2">
            <a:extLst>
              <a:ext uri="{FF2B5EF4-FFF2-40B4-BE49-F238E27FC236}">
                <a16:creationId xmlns:a16="http://schemas.microsoft.com/office/drawing/2014/main" id="{68D69212-ADB1-50EC-5CEA-45FC6955365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13DE07B7-9900-254A-5FCC-8FA7A36E9CDC}"/>
              </a:ext>
            </a:extLst>
          </p:cNvPr>
          <p:cNvSpPr>
            <a:spLocks noGrp="1"/>
          </p:cNvSpPr>
          <p:nvPr>
            <p:ph type="dt" sz="half" idx="10"/>
          </p:nvPr>
        </p:nvSpPr>
        <p:spPr/>
        <p:txBody>
          <a:bodyPr/>
          <a:lstStyle/>
          <a:p>
            <a:fld id="{7036F693-4807-4ACB-9866-42E633ECA663}" type="datetimeFigureOut">
              <a:rPr lang="en-AU" smtClean="0"/>
              <a:t>21/05/2026</a:t>
            </a:fld>
            <a:endParaRPr lang="en-AU"/>
          </a:p>
        </p:txBody>
      </p:sp>
      <p:sp>
        <p:nvSpPr>
          <p:cNvPr id="5" name="Footer Placeholder 4">
            <a:extLst>
              <a:ext uri="{FF2B5EF4-FFF2-40B4-BE49-F238E27FC236}">
                <a16:creationId xmlns:a16="http://schemas.microsoft.com/office/drawing/2014/main" id="{1462B5A4-5993-85D1-5468-04356E670847}"/>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C176EC13-E83E-ED79-64A4-4003E3E1652B}"/>
              </a:ext>
            </a:extLst>
          </p:cNvPr>
          <p:cNvSpPr>
            <a:spLocks noGrp="1"/>
          </p:cNvSpPr>
          <p:nvPr>
            <p:ph type="sldNum" sz="quarter" idx="12"/>
          </p:nvPr>
        </p:nvSpPr>
        <p:spPr/>
        <p:txBody>
          <a:bodyPr/>
          <a:lstStyle/>
          <a:p>
            <a:fld id="{7BF9DD6F-E86F-40A2-88B8-DD3E2998C092}" type="slidenum">
              <a:rPr lang="en-AU" smtClean="0"/>
              <a:t>‹#›</a:t>
            </a:fld>
            <a:endParaRPr lang="en-AU"/>
          </a:p>
        </p:txBody>
      </p:sp>
    </p:spTree>
    <p:extLst>
      <p:ext uri="{BB962C8B-B14F-4D97-AF65-F5344CB8AC3E}">
        <p14:creationId xmlns:p14="http://schemas.microsoft.com/office/powerpoint/2010/main" val="303171159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6B3886C-B88F-C1C9-1FB1-F136ADFDBAC4}"/>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AU"/>
          </a:p>
        </p:txBody>
      </p:sp>
      <p:sp>
        <p:nvSpPr>
          <p:cNvPr id="3" name="Vertical Text Placeholder 2">
            <a:extLst>
              <a:ext uri="{FF2B5EF4-FFF2-40B4-BE49-F238E27FC236}">
                <a16:creationId xmlns:a16="http://schemas.microsoft.com/office/drawing/2014/main" id="{68D7E0EB-AE17-BE86-7C82-F2CA8993E02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3EDDFC22-96DC-6854-A720-1925CC85A54A}"/>
              </a:ext>
            </a:extLst>
          </p:cNvPr>
          <p:cNvSpPr>
            <a:spLocks noGrp="1"/>
          </p:cNvSpPr>
          <p:nvPr>
            <p:ph type="dt" sz="half" idx="10"/>
          </p:nvPr>
        </p:nvSpPr>
        <p:spPr/>
        <p:txBody>
          <a:bodyPr/>
          <a:lstStyle/>
          <a:p>
            <a:fld id="{7036F693-4807-4ACB-9866-42E633ECA663}" type="datetimeFigureOut">
              <a:rPr lang="en-AU" smtClean="0"/>
              <a:t>21/05/2026</a:t>
            </a:fld>
            <a:endParaRPr lang="en-AU"/>
          </a:p>
        </p:txBody>
      </p:sp>
      <p:sp>
        <p:nvSpPr>
          <p:cNvPr id="5" name="Footer Placeholder 4">
            <a:extLst>
              <a:ext uri="{FF2B5EF4-FFF2-40B4-BE49-F238E27FC236}">
                <a16:creationId xmlns:a16="http://schemas.microsoft.com/office/drawing/2014/main" id="{FC091287-7765-7759-35E1-6830A960FA69}"/>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BFAECDA5-B452-46B1-123F-041BF41F130E}"/>
              </a:ext>
            </a:extLst>
          </p:cNvPr>
          <p:cNvSpPr>
            <a:spLocks noGrp="1"/>
          </p:cNvSpPr>
          <p:nvPr>
            <p:ph type="sldNum" sz="quarter" idx="12"/>
          </p:nvPr>
        </p:nvSpPr>
        <p:spPr/>
        <p:txBody>
          <a:bodyPr/>
          <a:lstStyle/>
          <a:p>
            <a:fld id="{7BF9DD6F-E86F-40A2-88B8-DD3E2998C092}" type="slidenum">
              <a:rPr lang="en-AU" smtClean="0"/>
              <a:t>‹#›</a:t>
            </a:fld>
            <a:endParaRPr lang="en-AU"/>
          </a:p>
        </p:txBody>
      </p:sp>
    </p:spTree>
    <p:extLst>
      <p:ext uri="{BB962C8B-B14F-4D97-AF65-F5344CB8AC3E}">
        <p14:creationId xmlns:p14="http://schemas.microsoft.com/office/powerpoint/2010/main" val="90216256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obj" preserve="1">
  <p:cSld name="Title Slide">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2" cstate="print"/>
          <a:stretch>
            <a:fillRect/>
          </a:stretch>
        </p:blipFill>
        <p:spPr>
          <a:xfrm>
            <a:off x="0" y="0"/>
            <a:ext cx="12192000" cy="6857999"/>
          </a:xfrm>
          <a:prstGeom prst="rect">
            <a:avLst/>
          </a:prstGeom>
        </p:spPr>
      </p:pic>
      <p:pic>
        <p:nvPicPr>
          <p:cNvPr id="17" name="bg object 17"/>
          <p:cNvPicPr/>
          <p:nvPr/>
        </p:nvPicPr>
        <p:blipFill>
          <a:blip r:embed="rId3" cstate="print"/>
          <a:stretch>
            <a:fillRect/>
          </a:stretch>
        </p:blipFill>
        <p:spPr>
          <a:xfrm>
            <a:off x="3299459" y="77723"/>
            <a:ext cx="4029455" cy="1479803"/>
          </a:xfrm>
          <a:prstGeom prst="rect">
            <a:avLst/>
          </a:prstGeom>
        </p:spPr>
      </p:pic>
      <p:sp>
        <p:nvSpPr>
          <p:cNvPr id="2" name="Holder 2"/>
          <p:cNvSpPr>
            <a:spLocks noGrp="1"/>
          </p:cNvSpPr>
          <p:nvPr>
            <p:ph type="ctrTitle"/>
          </p:nvPr>
        </p:nvSpPr>
        <p:spPr>
          <a:xfrm>
            <a:off x="3055111" y="1967229"/>
            <a:ext cx="4791075" cy="452119"/>
          </a:xfrm>
          <a:prstGeom prst="rect">
            <a:avLst/>
          </a:prstGeom>
        </p:spPr>
        <p:txBody>
          <a:bodyPr wrap="square" lIns="0" tIns="0" rIns="0" bIns="0">
            <a:spAutoFit/>
          </a:bodyPr>
          <a:lstStyle>
            <a:lvl1pPr>
              <a:defRPr sz="3600" b="1" i="0">
                <a:solidFill>
                  <a:srgbClr val="AE230D"/>
                </a:solidFill>
                <a:latin typeface="Arial"/>
                <a:cs typeface="Arial"/>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defRPr sz="1000" b="0" i="0">
                <a:solidFill>
                  <a:schemeClr val="tx1"/>
                </a:solidFill>
                <a:latin typeface="Tahoma"/>
                <a:cs typeface="Tahoma"/>
              </a:defRPr>
            </a:lvl1pPr>
          </a:lstStyle>
          <a:p>
            <a:pPr marL="12700">
              <a:lnSpc>
                <a:spcPct val="100000"/>
              </a:lnSpc>
              <a:spcBef>
                <a:spcPts val="95"/>
              </a:spcBef>
            </a:pPr>
            <a:r>
              <a:rPr dirty="0"/>
              <a:t>Holmes</a:t>
            </a:r>
            <a:r>
              <a:rPr spc="-35" dirty="0"/>
              <a:t> </a:t>
            </a:r>
            <a:r>
              <a:rPr spc="-10" dirty="0"/>
              <a:t>Institute</a:t>
            </a: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5/21/2026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161065076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600" b="1" i="0">
                <a:solidFill>
                  <a:srgbClr val="AE230D"/>
                </a:solidFill>
                <a:latin typeface="Arial"/>
                <a:cs typeface="Arial"/>
              </a:defRPr>
            </a:lvl1pPr>
          </a:lstStyle>
          <a:p>
            <a:endParaRPr/>
          </a:p>
        </p:txBody>
      </p:sp>
      <p:sp>
        <p:nvSpPr>
          <p:cNvPr id="3" name="Holder 3"/>
          <p:cNvSpPr>
            <a:spLocks noGrp="1"/>
          </p:cNvSpPr>
          <p:nvPr>
            <p:ph type="body" idx="1"/>
          </p:nvPr>
        </p:nvSpPr>
        <p:spPr/>
        <p:txBody>
          <a:bodyPr lIns="0" tIns="0" rIns="0" bIns="0"/>
          <a:lstStyle>
            <a:lvl1pPr>
              <a:defRPr/>
            </a:lvl1pPr>
          </a:lstStyle>
          <a:p>
            <a:endParaRPr/>
          </a:p>
        </p:txBody>
      </p:sp>
      <p:sp>
        <p:nvSpPr>
          <p:cNvPr id="4" name="Holder 4"/>
          <p:cNvSpPr>
            <a:spLocks noGrp="1"/>
          </p:cNvSpPr>
          <p:nvPr>
            <p:ph type="ftr" sz="quarter" idx="5"/>
          </p:nvPr>
        </p:nvSpPr>
        <p:spPr/>
        <p:txBody>
          <a:bodyPr lIns="0" tIns="0" rIns="0" bIns="0"/>
          <a:lstStyle>
            <a:lvl1pPr>
              <a:defRPr sz="1000" b="0" i="0">
                <a:solidFill>
                  <a:schemeClr val="tx1"/>
                </a:solidFill>
                <a:latin typeface="Tahoma"/>
                <a:cs typeface="Tahoma"/>
              </a:defRPr>
            </a:lvl1pPr>
          </a:lstStyle>
          <a:p>
            <a:pPr marL="12700">
              <a:lnSpc>
                <a:spcPct val="100000"/>
              </a:lnSpc>
              <a:spcBef>
                <a:spcPts val="95"/>
              </a:spcBef>
            </a:pPr>
            <a:r>
              <a:rPr dirty="0"/>
              <a:t>Holmes</a:t>
            </a:r>
            <a:r>
              <a:rPr spc="-35" dirty="0"/>
              <a:t> </a:t>
            </a:r>
            <a:r>
              <a:rPr spc="-10" dirty="0"/>
              <a:t>Institute</a:t>
            </a: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5/21/2026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398738324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600" b="1" i="0">
                <a:solidFill>
                  <a:srgbClr val="AE230D"/>
                </a:solidFill>
                <a:latin typeface="Arial"/>
                <a:cs typeface="Arial"/>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defRPr sz="1000" b="0" i="0">
                <a:solidFill>
                  <a:schemeClr val="tx1"/>
                </a:solidFill>
                <a:latin typeface="Tahoma"/>
                <a:cs typeface="Tahoma"/>
              </a:defRPr>
            </a:lvl1pPr>
          </a:lstStyle>
          <a:p>
            <a:pPr marL="12700">
              <a:lnSpc>
                <a:spcPct val="100000"/>
              </a:lnSpc>
              <a:spcBef>
                <a:spcPts val="95"/>
              </a:spcBef>
            </a:pPr>
            <a:r>
              <a:rPr dirty="0"/>
              <a:t>Holmes</a:t>
            </a:r>
            <a:r>
              <a:rPr spc="-35" dirty="0"/>
              <a:t> </a:t>
            </a:r>
            <a:r>
              <a:rPr spc="-10" dirty="0"/>
              <a:t>Institute</a:t>
            </a: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5/21/2026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336822134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type="obj" preserve="1">
  <p:cSld name="Title Only">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2" cstate="print"/>
          <a:stretch>
            <a:fillRect/>
          </a:stretch>
        </p:blipFill>
        <p:spPr>
          <a:xfrm>
            <a:off x="0" y="0"/>
            <a:ext cx="12192000" cy="6857999"/>
          </a:xfrm>
          <a:prstGeom prst="rect">
            <a:avLst/>
          </a:prstGeom>
        </p:spPr>
      </p:pic>
      <p:pic>
        <p:nvPicPr>
          <p:cNvPr id="17" name="bg object 17"/>
          <p:cNvPicPr/>
          <p:nvPr/>
        </p:nvPicPr>
        <p:blipFill>
          <a:blip r:embed="rId3" cstate="print"/>
          <a:stretch>
            <a:fillRect/>
          </a:stretch>
        </p:blipFill>
        <p:spPr>
          <a:xfrm>
            <a:off x="3299459" y="77723"/>
            <a:ext cx="4029455" cy="1479803"/>
          </a:xfrm>
          <a:prstGeom prst="rect">
            <a:avLst/>
          </a:prstGeom>
        </p:spPr>
      </p:pic>
      <p:sp>
        <p:nvSpPr>
          <p:cNvPr id="2" name="Holder 2"/>
          <p:cNvSpPr>
            <a:spLocks noGrp="1"/>
          </p:cNvSpPr>
          <p:nvPr>
            <p:ph type="title"/>
          </p:nvPr>
        </p:nvSpPr>
        <p:spPr/>
        <p:txBody>
          <a:bodyPr lIns="0" tIns="0" rIns="0" bIns="0"/>
          <a:lstStyle>
            <a:lvl1pPr>
              <a:defRPr sz="3600" b="1" i="0">
                <a:solidFill>
                  <a:srgbClr val="AE230D"/>
                </a:solidFill>
                <a:latin typeface="Arial"/>
                <a:cs typeface="Arial"/>
              </a:defRPr>
            </a:lvl1pPr>
          </a:lstStyle>
          <a:p>
            <a:endParaRPr/>
          </a:p>
        </p:txBody>
      </p:sp>
      <p:sp>
        <p:nvSpPr>
          <p:cNvPr id="3" name="Holder 3"/>
          <p:cNvSpPr>
            <a:spLocks noGrp="1"/>
          </p:cNvSpPr>
          <p:nvPr>
            <p:ph type="ftr" sz="quarter" idx="5"/>
          </p:nvPr>
        </p:nvSpPr>
        <p:spPr/>
        <p:txBody>
          <a:bodyPr lIns="0" tIns="0" rIns="0" bIns="0"/>
          <a:lstStyle>
            <a:lvl1pPr>
              <a:defRPr sz="1000" b="0" i="0">
                <a:solidFill>
                  <a:schemeClr val="tx1"/>
                </a:solidFill>
                <a:latin typeface="Tahoma"/>
                <a:cs typeface="Tahoma"/>
              </a:defRPr>
            </a:lvl1pPr>
          </a:lstStyle>
          <a:p>
            <a:pPr marL="12700">
              <a:lnSpc>
                <a:spcPct val="100000"/>
              </a:lnSpc>
              <a:spcBef>
                <a:spcPts val="95"/>
              </a:spcBef>
            </a:pPr>
            <a:r>
              <a:rPr dirty="0"/>
              <a:t>Holmes</a:t>
            </a:r>
            <a:r>
              <a:rPr spc="-35" dirty="0"/>
              <a:t> </a:t>
            </a:r>
            <a:r>
              <a:rPr spc="-10" dirty="0"/>
              <a:t>Institute</a:t>
            </a: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5/21/2026</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315285149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defRPr sz="1000" b="0" i="0">
                <a:solidFill>
                  <a:schemeClr val="tx1"/>
                </a:solidFill>
                <a:latin typeface="Tahoma"/>
                <a:cs typeface="Tahoma"/>
              </a:defRPr>
            </a:lvl1pPr>
          </a:lstStyle>
          <a:p>
            <a:pPr marL="12700">
              <a:lnSpc>
                <a:spcPct val="100000"/>
              </a:lnSpc>
              <a:spcBef>
                <a:spcPts val="95"/>
              </a:spcBef>
            </a:pPr>
            <a:r>
              <a:rPr dirty="0"/>
              <a:t>Holmes</a:t>
            </a:r>
            <a:r>
              <a:rPr spc="-35" dirty="0"/>
              <a:t> </a:t>
            </a:r>
            <a:r>
              <a:rPr spc="-10" dirty="0"/>
              <a:t>Institute</a:t>
            </a: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5/21/2026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59625784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
  <p:cSld name="1_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453BBB-F907-4623-65DB-FC3156B63CD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D44D4CD2-2F0E-4232-0771-6C58ADBC1CA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5E16003-E5BD-FEBA-3F09-15903EFE492B}"/>
              </a:ext>
            </a:extLst>
          </p:cNvPr>
          <p:cNvSpPr>
            <a:spLocks noGrp="1"/>
          </p:cNvSpPr>
          <p:nvPr>
            <p:ph type="dt" sz="half" idx="10"/>
          </p:nvPr>
        </p:nvSpPr>
        <p:spPr/>
        <p:txBody>
          <a:bodyPr/>
          <a:lstStyle/>
          <a:p>
            <a:fld id="{6C5FC939-4E48-422B-85CF-AE5DFF0E5B8E}" type="datetimeFigureOut">
              <a:rPr lang="en-US" smtClean="0"/>
              <a:t>5/21/2026</a:t>
            </a:fld>
            <a:endParaRPr lang="en-US"/>
          </a:p>
        </p:txBody>
      </p:sp>
      <p:sp>
        <p:nvSpPr>
          <p:cNvPr id="5" name="Footer Placeholder 4">
            <a:extLst>
              <a:ext uri="{FF2B5EF4-FFF2-40B4-BE49-F238E27FC236}">
                <a16:creationId xmlns:a16="http://schemas.microsoft.com/office/drawing/2014/main" id="{330DAAF6-9D4F-1019-FF4B-B1131596897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9DF9AF1-5889-CBF6-6AEB-C2F585F1C357}"/>
              </a:ext>
            </a:extLst>
          </p:cNvPr>
          <p:cNvSpPr>
            <a:spLocks noGrp="1"/>
          </p:cNvSpPr>
          <p:nvPr>
            <p:ph type="sldNum" sz="quarter" idx="12"/>
          </p:nvPr>
        </p:nvSpPr>
        <p:spPr/>
        <p:txBody>
          <a:bodyPr/>
          <a:lstStyle/>
          <a:p>
            <a:fld id="{83D507A6-8785-483D-BAF4-84DBECC94A15}" type="slidenum">
              <a:rPr lang="en-US" smtClean="0"/>
              <a:t>‹#›</a:t>
            </a:fld>
            <a:endParaRPr lang="en-US"/>
          </a:p>
        </p:txBody>
      </p:sp>
    </p:spTree>
    <p:extLst>
      <p:ext uri="{BB962C8B-B14F-4D97-AF65-F5344CB8AC3E}">
        <p14:creationId xmlns:p14="http://schemas.microsoft.com/office/powerpoint/2010/main" val="361361627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image" Target="../media/image1.jpg"/><Relationship Id="rId3" Type="http://schemas.openxmlformats.org/officeDocument/2006/relationships/slideLayout" Target="../slideLayouts/slideLayout14.xml"/><Relationship Id="rId7"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9"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EE6B418-3ADB-3D52-362F-EF8EB606CEC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AU"/>
          </a:p>
        </p:txBody>
      </p:sp>
      <p:sp>
        <p:nvSpPr>
          <p:cNvPr id="3" name="Text Placeholder 2">
            <a:extLst>
              <a:ext uri="{FF2B5EF4-FFF2-40B4-BE49-F238E27FC236}">
                <a16:creationId xmlns:a16="http://schemas.microsoft.com/office/drawing/2014/main" id="{2DF0B803-0FBE-9FD0-EA3C-E4F9B70AE85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4B6BA73C-3BBF-5A39-4403-330159E2A57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7036F693-4807-4ACB-9866-42E633ECA663}" type="datetimeFigureOut">
              <a:rPr lang="en-AU" smtClean="0"/>
              <a:t>21/05/2026</a:t>
            </a:fld>
            <a:endParaRPr lang="en-AU"/>
          </a:p>
        </p:txBody>
      </p:sp>
      <p:sp>
        <p:nvSpPr>
          <p:cNvPr id="5" name="Footer Placeholder 4">
            <a:extLst>
              <a:ext uri="{FF2B5EF4-FFF2-40B4-BE49-F238E27FC236}">
                <a16:creationId xmlns:a16="http://schemas.microsoft.com/office/drawing/2014/main" id="{A569C9B0-90EA-F790-C481-782B3C03BC9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AU"/>
          </a:p>
        </p:txBody>
      </p:sp>
      <p:sp>
        <p:nvSpPr>
          <p:cNvPr id="6" name="Slide Number Placeholder 5">
            <a:extLst>
              <a:ext uri="{FF2B5EF4-FFF2-40B4-BE49-F238E27FC236}">
                <a16:creationId xmlns:a16="http://schemas.microsoft.com/office/drawing/2014/main" id="{82F78BE7-9EF2-8115-D3BF-53CF0589BB2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7BF9DD6F-E86F-40A2-88B8-DD3E2998C092}" type="slidenum">
              <a:rPr lang="en-AU" smtClean="0"/>
              <a:t>‹#›</a:t>
            </a:fld>
            <a:endParaRPr lang="en-AU"/>
          </a:p>
        </p:txBody>
      </p:sp>
    </p:spTree>
    <p:extLst>
      <p:ext uri="{BB962C8B-B14F-4D97-AF65-F5344CB8AC3E}">
        <p14:creationId xmlns:p14="http://schemas.microsoft.com/office/powerpoint/2010/main" val="280653608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8" cstate="print"/>
          <a:stretch>
            <a:fillRect/>
          </a:stretch>
        </p:blipFill>
        <p:spPr>
          <a:xfrm>
            <a:off x="0" y="0"/>
            <a:ext cx="12192000" cy="649224"/>
          </a:xfrm>
          <a:prstGeom prst="rect">
            <a:avLst/>
          </a:prstGeom>
        </p:spPr>
      </p:pic>
      <p:pic>
        <p:nvPicPr>
          <p:cNvPr id="17" name="bg object 17"/>
          <p:cNvPicPr/>
          <p:nvPr/>
        </p:nvPicPr>
        <p:blipFill>
          <a:blip r:embed="rId9" cstate="print"/>
          <a:stretch>
            <a:fillRect/>
          </a:stretch>
        </p:blipFill>
        <p:spPr>
          <a:xfrm>
            <a:off x="192023" y="42671"/>
            <a:ext cx="1531620" cy="562355"/>
          </a:xfrm>
          <a:prstGeom prst="rect">
            <a:avLst/>
          </a:prstGeom>
        </p:spPr>
      </p:pic>
      <p:sp>
        <p:nvSpPr>
          <p:cNvPr id="2" name="Holder 2"/>
          <p:cNvSpPr>
            <a:spLocks noGrp="1"/>
          </p:cNvSpPr>
          <p:nvPr>
            <p:ph type="title"/>
          </p:nvPr>
        </p:nvSpPr>
        <p:spPr>
          <a:xfrm>
            <a:off x="1422019" y="2747213"/>
            <a:ext cx="8163559" cy="574675"/>
          </a:xfrm>
          <a:prstGeom prst="rect">
            <a:avLst/>
          </a:prstGeom>
        </p:spPr>
        <p:txBody>
          <a:bodyPr wrap="square" lIns="0" tIns="0" rIns="0" bIns="0">
            <a:spAutoFit/>
          </a:bodyPr>
          <a:lstStyle>
            <a:lvl1pPr>
              <a:defRPr sz="3600" b="1" i="0">
                <a:solidFill>
                  <a:srgbClr val="AE230D"/>
                </a:solidFill>
                <a:latin typeface="Arial"/>
                <a:cs typeface="Arial"/>
              </a:defRPr>
            </a:lvl1pPr>
          </a:lstStyle>
          <a:p>
            <a:endParaRPr/>
          </a:p>
        </p:txBody>
      </p:sp>
      <p:sp>
        <p:nvSpPr>
          <p:cNvPr id="3" name="Holder 3"/>
          <p:cNvSpPr>
            <a:spLocks noGrp="1"/>
          </p:cNvSpPr>
          <p:nvPr>
            <p:ph type="body" idx="1"/>
          </p:nvPr>
        </p:nvSpPr>
        <p:spPr>
          <a:xfrm>
            <a:off x="609600" y="1577340"/>
            <a:ext cx="1097280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a:xfrm>
            <a:off x="10640059" y="6487707"/>
            <a:ext cx="944879" cy="178434"/>
          </a:xfrm>
          <a:prstGeom prst="rect">
            <a:avLst/>
          </a:prstGeom>
        </p:spPr>
        <p:txBody>
          <a:bodyPr wrap="square" lIns="0" tIns="0" rIns="0" bIns="0">
            <a:spAutoFit/>
          </a:bodyPr>
          <a:lstStyle>
            <a:lvl1pPr>
              <a:defRPr sz="1000" b="0" i="0">
                <a:solidFill>
                  <a:schemeClr val="tx1"/>
                </a:solidFill>
                <a:latin typeface="Tahoma"/>
                <a:cs typeface="Tahoma"/>
              </a:defRPr>
            </a:lvl1pPr>
          </a:lstStyle>
          <a:p>
            <a:pPr marL="12700">
              <a:lnSpc>
                <a:spcPct val="100000"/>
              </a:lnSpc>
              <a:spcBef>
                <a:spcPts val="95"/>
              </a:spcBef>
            </a:pPr>
            <a:r>
              <a:rPr dirty="0"/>
              <a:t>Holmes</a:t>
            </a:r>
            <a:r>
              <a:rPr spc="-35" dirty="0"/>
              <a:t> </a:t>
            </a:r>
            <a:r>
              <a:rPr spc="-10" dirty="0"/>
              <a:t>Institute</a:t>
            </a:r>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5/21/2026</a:t>
            </a:fld>
            <a:endParaRPr lang="en-US"/>
          </a:p>
        </p:txBody>
      </p:sp>
      <p:sp>
        <p:nvSpPr>
          <p:cNvPr id="6" name="Holder 6"/>
          <p:cNvSpPr>
            <a:spLocks noGrp="1"/>
          </p:cNvSpPr>
          <p:nvPr>
            <p:ph type="sldNum" sz="quarter" idx="7"/>
          </p:nvPr>
        </p:nvSpPr>
        <p:spPr>
          <a:xfrm>
            <a:off x="8778240" y="6377940"/>
            <a:ext cx="280416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329065316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image" Target="../media/image4.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hyperlink" Target="https://w3schools.com/" TargetMode="Externa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hyperlink" Target="https://www.apachefriends.org/de/download.html" TargetMode="Externa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hyperlink" Target="http://searchengineland.com/nine-best-practices-for-optimized-title-tags-111979" TargetMode="Externa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2.xml"/><Relationship Id="rId4" Type="http://schemas.openxmlformats.org/officeDocument/2006/relationships/image" Target="../media/image31.png"/></Relationships>
</file>

<file path=ppt/slides/_rels/slide51.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2.xml"/><Relationship Id="rId4" Type="http://schemas.openxmlformats.org/officeDocument/2006/relationships/image" Target="../media/image34.png"/></Relationships>
</file>

<file path=ppt/slides/_rels/slide52.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hyperlink" Target="https://validator.w3.org/" TargetMode="External"/><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hyperlink" Target="https://w3schools.com/" TargetMode="External"/><Relationship Id="rId2" Type="http://schemas.openxmlformats.org/officeDocument/2006/relationships/image" Target="../media/image55.pn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image" Target="../media/image56.pn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image" Target="../media/image58.pn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image" Target="../media/image65.png"/><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13.xml"/></Relationships>
</file>

<file path=ppt/slides/_rels/slide107.xml.rels><?xml version="1.0" encoding="UTF-8" standalone="yes"?>
<Relationships xmlns="http://schemas.openxmlformats.org/package/2006/relationships"><Relationship Id="rId3" Type="http://schemas.openxmlformats.org/officeDocument/2006/relationships/hyperlink" Target="https://www.linkedin.com/in/farshid-keivanian" TargetMode="External"/><Relationship Id="rId2" Type="http://schemas.openxmlformats.org/officeDocument/2006/relationships/image" Target="../media/image68.jpeg"/><Relationship Id="rId1" Type="http://schemas.openxmlformats.org/officeDocument/2006/relationships/slideLayout" Target="../slideLayouts/slideLayout13.xml"/><Relationship Id="rId4" Type="http://schemas.openxmlformats.org/officeDocument/2006/relationships/hyperlink" Target="https://github.com/FarshidKeivanian"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4658C80A-61B1-E3FD-99E2-625B7EEC66F6}"/>
              </a:ext>
            </a:extLst>
          </p:cNvPr>
          <p:cNvSpPr txBox="1"/>
          <p:nvPr/>
        </p:nvSpPr>
        <p:spPr>
          <a:xfrm>
            <a:off x="532880" y="838200"/>
            <a:ext cx="4889226" cy="4876800"/>
          </a:xfrm>
          <a:prstGeom prst="rect">
            <a:avLst/>
          </a:prstGeom>
        </p:spPr>
        <p:txBody>
          <a:bodyPr vert="horz" lIns="51434" tIns="25718" rIns="51434" bIns="25718" rtlCol="0" anchor="b">
            <a:noAutofit/>
          </a:bodyPr>
          <a:lstStyle/>
          <a:p>
            <a:pPr algn="ctr">
              <a:lnSpc>
                <a:spcPct val="90000"/>
              </a:lnSpc>
              <a:spcBef>
                <a:spcPct val="0"/>
              </a:spcBef>
              <a:spcAft>
                <a:spcPts val="338"/>
              </a:spcAft>
            </a:pPr>
            <a:r>
              <a:rPr lang="en-US" sz="3800" b="1" dirty="0">
                <a:latin typeface="Calibir"/>
                <a:ea typeface="+mj-ea"/>
                <a:cs typeface="+mj-cs"/>
              </a:rPr>
              <a:t>HS1021: Web Design</a:t>
            </a:r>
            <a:br>
              <a:rPr lang="en-US" sz="3800" b="1" dirty="0">
                <a:latin typeface="Calibir"/>
                <a:ea typeface="+mj-ea"/>
                <a:cs typeface="+mj-cs"/>
              </a:rPr>
            </a:br>
            <a:endParaRPr lang="en-US" sz="3800" b="1" dirty="0">
              <a:latin typeface="Calibir"/>
              <a:ea typeface="+mj-ea"/>
              <a:cs typeface="+mj-cs"/>
            </a:endParaRPr>
          </a:p>
          <a:p>
            <a:pPr algn="ctr">
              <a:lnSpc>
                <a:spcPct val="90000"/>
              </a:lnSpc>
              <a:spcBef>
                <a:spcPct val="0"/>
              </a:spcBef>
              <a:spcAft>
                <a:spcPts val="338"/>
              </a:spcAft>
            </a:pPr>
            <a:r>
              <a:rPr lang="en-US" sz="3800" b="1" dirty="0">
                <a:latin typeface="Calibir"/>
                <a:ea typeface="+mj-ea"/>
                <a:cs typeface="+mj-cs"/>
              </a:rPr>
              <a:t>Weeks 4 – 5 </a:t>
            </a:r>
            <a:r>
              <a:rPr lang="en-US" sz="3800" b="1">
                <a:latin typeface="Calibir"/>
                <a:ea typeface="+mj-ea"/>
                <a:cs typeface="+mj-cs"/>
              </a:rPr>
              <a:t>Tutorial and</a:t>
            </a:r>
            <a:endParaRPr lang="en-US" sz="3800" b="1" dirty="0">
              <a:latin typeface="Calibir"/>
              <a:ea typeface="+mj-ea"/>
              <a:cs typeface="+mj-cs"/>
            </a:endParaRPr>
          </a:p>
          <a:p>
            <a:pPr algn="ctr">
              <a:lnSpc>
                <a:spcPct val="90000"/>
              </a:lnSpc>
              <a:spcBef>
                <a:spcPct val="0"/>
              </a:spcBef>
              <a:spcAft>
                <a:spcPts val="338"/>
              </a:spcAft>
            </a:pPr>
            <a:r>
              <a:rPr lang="en-US" sz="3800" b="1">
                <a:latin typeface="Calibir"/>
                <a:ea typeface="+mj-ea"/>
                <a:cs typeface="+mj-cs"/>
              </a:rPr>
              <a:t>Lab </a:t>
            </a:r>
            <a:r>
              <a:rPr lang="en-US" sz="3800" b="1" dirty="0">
                <a:latin typeface="Calibir"/>
                <a:ea typeface="+mj-ea"/>
                <a:cs typeface="+mj-cs"/>
              </a:rPr>
              <a:t>2 Test Practice</a:t>
            </a:r>
          </a:p>
          <a:p>
            <a:pPr algn="ctr">
              <a:lnSpc>
                <a:spcPct val="90000"/>
              </a:lnSpc>
              <a:spcBef>
                <a:spcPct val="0"/>
              </a:spcBef>
              <a:spcAft>
                <a:spcPts val="338"/>
              </a:spcAft>
            </a:pPr>
            <a:endParaRPr lang="en-US" sz="3800" b="1" dirty="0">
              <a:latin typeface="Calibir"/>
              <a:ea typeface="+mj-ea"/>
              <a:cs typeface="+mj-cs"/>
            </a:endParaRPr>
          </a:p>
          <a:p>
            <a:pPr algn="ctr">
              <a:lnSpc>
                <a:spcPct val="90000"/>
              </a:lnSpc>
              <a:spcBef>
                <a:spcPct val="0"/>
              </a:spcBef>
              <a:spcAft>
                <a:spcPts val="338"/>
              </a:spcAft>
            </a:pPr>
            <a:r>
              <a:rPr lang="en-US" sz="3800" b="1" dirty="0">
                <a:latin typeface="Calibir"/>
                <a:ea typeface="+mj-ea"/>
                <a:cs typeface="+mj-cs"/>
              </a:rPr>
              <a:t>Dr. Farshid Keivanian</a:t>
            </a:r>
          </a:p>
        </p:txBody>
      </p:sp>
      <p:pic>
        <p:nvPicPr>
          <p:cNvPr id="5" name="Picture 4">
            <a:extLst>
              <a:ext uri="{FF2B5EF4-FFF2-40B4-BE49-F238E27FC236}">
                <a16:creationId xmlns:a16="http://schemas.microsoft.com/office/drawing/2014/main" id="{14B0392A-D22F-C20C-A44D-F9E3D906B6F8}"/>
              </a:ext>
            </a:extLst>
          </p:cNvPr>
          <p:cNvPicPr>
            <a:picLocks noChangeAspect="1"/>
          </p:cNvPicPr>
          <p:nvPr/>
        </p:nvPicPr>
        <p:blipFill>
          <a:blip r:embed="rId2" cstate="print">
            <a:extLst>
              <a:ext uri="{28A0092B-C50C-407E-A947-70E740481C1C}">
                <a14:useLocalDpi xmlns:a14="http://schemas.microsoft.com/office/drawing/2010/main" val="0"/>
              </a:ext>
            </a:extLst>
          </a:blip>
          <a:srcRect l="4968" r="24813" b="1"/>
          <a:stretch>
            <a:fillRect/>
          </a:stretch>
        </p:blipFill>
        <p:spPr>
          <a:xfrm>
            <a:off x="5954987" y="73691"/>
            <a:ext cx="4607570" cy="6852948"/>
          </a:xfrm>
          <a:prstGeom prst="rect">
            <a:avLst/>
          </a:prstGeom>
        </p:spPr>
      </p:pic>
      <p:pic>
        <p:nvPicPr>
          <p:cNvPr id="6" name="object 3">
            <a:extLst>
              <a:ext uri="{FF2B5EF4-FFF2-40B4-BE49-F238E27FC236}">
                <a16:creationId xmlns:a16="http://schemas.microsoft.com/office/drawing/2014/main" id="{5AA71B59-8A46-5F90-66ED-C66E07C8DB19}"/>
              </a:ext>
            </a:extLst>
          </p:cNvPr>
          <p:cNvPicPr/>
          <p:nvPr/>
        </p:nvPicPr>
        <p:blipFill>
          <a:blip r:embed="rId3" cstate="print"/>
          <a:srcRect l="24413" r="9390"/>
          <a:stretch>
            <a:fillRect/>
          </a:stretch>
        </p:blipFill>
        <p:spPr>
          <a:xfrm>
            <a:off x="10710041" y="73691"/>
            <a:ext cx="1481959" cy="1944414"/>
          </a:xfrm>
          <a:prstGeom prst="rect">
            <a:avLst/>
          </a:prstGeom>
        </p:spPr>
      </p:pic>
    </p:spTree>
    <p:extLst>
      <p:ext uri="{BB962C8B-B14F-4D97-AF65-F5344CB8AC3E}">
        <p14:creationId xmlns:p14="http://schemas.microsoft.com/office/powerpoint/2010/main" val="37523651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45B1BC1F-E475-FF17-1B3D-D5A5E78ABE3F}"/>
              </a:ext>
            </a:extLst>
          </p:cNvPr>
          <p:cNvSpPr txBox="1"/>
          <p:nvPr/>
        </p:nvSpPr>
        <p:spPr>
          <a:xfrm>
            <a:off x="47297" y="615986"/>
            <a:ext cx="9811078" cy="5118196"/>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en-US" sz="2200" dirty="0">
                <a:latin typeface="Calibri" panose="020F0502020204030204" pitchFamily="34" charset="0"/>
                <a:cs typeface="Calibri" panose="020F0502020204030204" pitchFamily="34" charset="0"/>
              </a:rPr>
              <a:t>Lecture 3, titled "Web Design Basics," covered the essential aspects of HTML and webpage design. The key objectives were to manage website files effectively, utilize HTML5 semantic elements, and construct the structural design of a webpage. The lecture also emphasized designing a semantic wireframe, creating and validating webpage templates, and adding unique content tailored to specific needs. It discussed the importance of understanding a website's purpose, its target audience, and ensuring an optimal viewing experience across different devices. Practical examples included creating a basic site map, organizing files within a website, and incorporating static and dynamic content to enhance the user experience.</a:t>
            </a:r>
          </a:p>
        </p:txBody>
      </p:sp>
      <p:sp>
        <p:nvSpPr>
          <p:cNvPr id="5" name="TextBox 4">
            <a:extLst>
              <a:ext uri="{FF2B5EF4-FFF2-40B4-BE49-F238E27FC236}">
                <a16:creationId xmlns:a16="http://schemas.microsoft.com/office/drawing/2014/main" id="{0EDA831C-3F59-8361-5C78-944EC8508F9C}"/>
              </a:ext>
            </a:extLst>
          </p:cNvPr>
          <p:cNvSpPr txBox="1"/>
          <p:nvPr/>
        </p:nvSpPr>
        <p:spPr>
          <a:xfrm>
            <a:off x="94593" y="0"/>
            <a:ext cx="8976732" cy="430887"/>
          </a:xfrm>
          <a:prstGeom prst="rect">
            <a:avLst/>
          </a:prstGeom>
          <a:noFill/>
        </p:spPr>
        <p:txBody>
          <a:bodyPr wrap="square" rtlCol="0">
            <a:spAutoFit/>
          </a:bodyPr>
          <a:lstStyle/>
          <a:p>
            <a:r>
              <a:rPr lang="en-AU" sz="2200" b="1" dirty="0">
                <a:latin typeface="Calibri" panose="020F0502020204030204" pitchFamily="34" charset="0"/>
                <a:cs typeface="Calibri" panose="020F0502020204030204" pitchFamily="34" charset="0"/>
              </a:rPr>
              <a:t>Weeks 4 - 5 Tutorial</a:t>
            </a:r>
          </a:p>
        </p:txBody>
      </p:sp>
      <p:pic>
        <p:nvPicPr>
          <p:cNvPr id="2" name="Picture 1">
            <a:extLst>
              <a:ext uri="{FF2B5EF4-FFF2-40B4-BE49-F238E27FC236}">
                <a16:creationId xmlns:a16="http://schemas.microsoft.com/office/drawing/2014/main" id="{8CE4333C-5558-3790-F793-3CA41C5A772A}"/>
              </a:ext>
            </a:extLst>
          </p:cNvPr>
          <p:cNvPicPr>
            <a:picLocks noChangeAspect="1"/>
          </p:cNvPicPr>
          <p:nvPr/>
        </p:nvPicPr>
        <p:blipFill>
          <a:blip r:embed="rId2"/>
          <a:stretch>
            <a:fillRect/>
          </a:stretch>
        </p:blipFill>
        <p:spPr>
          <a:xfrm>
            <a:off x="10260685" y="7144"/>
            <a:ext cx="1931315" cy="1902052"/>
          </a:xfrm>
          <a:prstGeom prst="rect">
            <a:avLst/>
          </a:prstGeom>
        </p:spPr>
      </p:pic>
    </p:spTree>
    <p:extLst>
      <p:ext uri="{BB962C8B-B14F-4D97-AF65-F5344CB8AC3E}">
        <p14:creationId xmlns:p14="http://schemas.microsoft.com/office/powerpoint/2010/main" val="235038970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45B1BC1F-E475-FF17-1B3D-D5A5E78ABE3F}"/>
              </a:ext>
            </a:extLst>
          </p:cNvPr>
          <p:cNvSpPr txBox="1"/>
          <p:nvPr/>
        </p:nvSpPr>
        <p:spPr>
          <a:xfrm>
            <a:off x="94593" y="416982"/>
            <a:ext cx="12097407" cy="1055545"/>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en-US" sz="2200" dirty="0">
                <a:latin typeface="Calibri" panose="020F0502020204030204" pitchFamily="34" charset="0"/>
                <a:cs typeface="Calibri" panose="020F0502020204030204" pitchFamily="34" charset="0"/>
              </a:rPr>
              <a:t>A simple example of an HTML page for a fitness center based in Australia, following the guidelines from the lecture:</a:t>
            </a:r>
          </a:p>
        </p:txBody>
      </p:sp>
      <p:sp>
        <p:nvSpPr>
          <p:cNvPr id="5" name="TextBox 4">
            <a:extLst>
              <a:ext uri="{FF2B5EF4-FFF2-40B4-BE49-F238E27FC236}">
                <a16:creationId xmlns:a16="http://schemas.microsoft.com/office/drawing/2014/main" id="{0EDA831C-3F59-8361-5C78-944EC8508F9C}"/>
              </a:ext>
            </a:extLst>
          </p:cNvPr>
          <p:cNvSpPr txBox="1"/>
          <p:nvPr/>
        </p:nvSpPr>
        <p:spPr>
          <a:xfrm>
            <a:off x="94592" y="0"/>
            <a:ext cx="12097407" cy="430887"/>
          </a:xfrm>
          <a:prstGeom prst="rect">
            <a:avLst/>
          </a:prstGeom>
          <a:noFill/>
        </p:spPr>
        <p:txBody>
          <a:bodyPr wrap="square" rtlCol="0">
            <a:spAutoFit/>
          </a:bodyPr>
          <a:lstStyle/>
          <a:p>
            <a:r>
              <a:rPr lang="en-US" sz="2200" b="1" dirty="0">
                <a:latin typeface="Calibri" panose="020F0502020204030204" pitchFamily="34" charset="0"/>
                <a:cs typeface="Calibri" panose="020F0502020204030204" pitchFamily="34" charset="0"/>
              </a:rPr>
              <a:t>Practical Example: Creating an HTML Page for an Australian Fitness Center</a:t>
            </a:r>
            <a:endParaRPr lang="en-AU" sz="2200" b="1" dirty="0">
              <a:latin typeface="Calibri" panose="020F0502020204030204" pitchFamily="34" charset="0"/>
              <a:cs typeface="Calibri" panose="020F0502020204030204" pitchFamily="34" charset="0"/>
            </a:endParaRPr>
          </a:p>
        </p:txBody>
      </p:sp>
      <p:pic>
        <p:nvPicPr>
          <p:cNvPr id="6" name="Picture 5">
            <a:extLst>
              <a:ext uri="{FF2B5EF4-FFF2-40B4-BE49-F238E27FC236}">
                <a16:creationId xmlns:a16="http://schemas.microsoft.com/office/drawing/2014/main" id="{A06D5311-E94F-5975-C65E-817FA5523FB6}"/>
              </a:ext>
            </a:extLst>
          </p:cNvPr>
          <p:cNvPicPr>
            <a:picLocks noChangeAspect="1"/>
          </p:cNvPicPr>
          <p:nvPr/>
        </p:nvPicPr>
        <p:blipFill rotWithShape="1">
          <a:blip r:embed="rId2"/>
          <a:srcRect l="3895" r="1689"/>
          <a:stretch/>
        </p:blipFill>
        <p:spPr>
          <a:xfrm>
            <a:off x="357350" y="1744719"/>
            <a:ext cx="6369271" cy="2744346"/>
          </a:xfrm>
          <a:prstGeom prst="rect">
            <a:avLst/>
          </a:prstGeom>
          <a:ln>
            <a:solidFill>
              <a:srgbClr val="FF0000"/>
            </a:solidFill>
          </a:ln>
        </p:spPr>
      </p:pic>
      <p:sp>
        <p:nvSpPr>
          <p:cNvPr id="8" name="TextBox 7">
            <a:extLst>
              <a:ext uri="{FF2B5EF4-FFF2-40B4-BE49-F238E27FC236}">
                <a16:creationId xmlns:a16="http://schemas.microsoft.com/office/drawing/2014/main" id="{548339E8-BF84-DE95-F4BF-2C8581AEEC9E}"/>
              </a:ext>
            </a:extLst>
          </p:cNvPr>
          <p:cNvSpPr txBox="1"/>
          <p:nvPr/>
        </p:nvSpPr>
        <p:spPr>
          <a:xfrm>
            <a:off x="6726622" y="1744719"/>
            <a:ext cx="5465378" cy="5118196"/>
          </a:xfrm>
          <a:prstGeom prst="rect">
            <a:avLst/>
          </a:prstGeom>
          <a:noFill/>
          <a:ln>
            <a:solidFill>
              <a:srgbClr val="FF0000"/>
            </a:solidFill>
          </a:ln>
        </p:spPr>
        <p:txBody>
          <a:bodyPr wrap="square" rtlCol="0">
            <a:spAutoFit/>
          </a:bodyPr>
          <a:lstStyle/>
          <a:p>
            <a:pPr>
              <a:lnSpc>
                <a:spcPct val="150000"/>
              </a:lnSpc>
            </a:pPr>
            <a:r>
              <a:rPr lang="en-US" sz="2200" dirty="0">
                <a:latin typeface="Calibri" panose="020F0502020204030204" pitchFamily="34" charset="0"/>
                <a:cs typeface="Calibri" panose="020F0502020204030204" pitchFamily="34" charset="0"/>
              </a:rPr>
              <a:t>This HTML template uses semantic elements like &lt;header&gt;, &lt;nav&gt;, &lt;main&gt;, and &lt;footer&gt; to structure the webpage effectively. Each section is clearly defined, making the content accessible and the page easier to navigate, aligning with the best practices discussed in the lecture. This structure also aids in SEO and ensures compatibility across various devices, catering to the needs of a diverse Australian audience.</a:t>
            </a:r>
            <a:endParaRPr lang="en-AU" sz="2200" dirty="0">
              <a:latin typeface="Calibri" panose="020F0502020204030204" pitchFamily="34" charset="0"/>
              <a:cs typeface="Calibri" panose="020F0502020204030204" pitchFamily="34" charset="0"/>
            </a:endParaRPr>
          </a:p>
        </p:txBody>
      </p:sp>
      <p:sp>
        <p:nvSpPr>
          <p:cNvPr id="13" name="TextBox 12">
            <a:extLst>
              <a:ext uri="{FF2B5EF4-FFF2-40B4-BE49-F238E27FC236}">
                <a16:creationId xmlns:a16="http://schemas.microsoft.com/office/drawing/2014/main" id="{1FF2CFA7-5665-BFDC-A16C-25A72A480AD6}"/>
              </a:ext>
            </a:extLst>
          </p:cNvPr>
          <p:cNvSpPr txBox="1"/>
          <p:nvPr/>
        </p:nvSpPr>
        <p:spPr>
          <a:xfrm>
            <a:off x="357350" y="4628911"/>
            <a:ext cx="5369363" cy="369332"/>
          </a:xfrm>
          <a:prstGeom prst="rect">
            <a:avLst/>
          </a:prstGeom>
          <a:noFill/>
          <a:ln>
            <a:solidFill>
              <a:srgbClr val="C00000"/>
            </a:solidFill>
          </a:ln>
        </p:spPr>
        <p:txBody>
          <a:bodyPr wrap="square" rtlCol="0">
            <a:spAutoFit/>
          </a:bodyPr>
          <a:lstStyle/>
          <a:p>
            <a:r>
              <a:rPr lang="en-AU" dirty="0"/>
              <a:t>Change it and Save it in C:\\Xampp &gt;&gt; </a:t>
            </a:r>
            <a:r>
              <a:rPr lang="en-AU" dirty="0" err="1"/>
              <a:t>htdocs</a:t>
            </a:r>
            <a:endParaRPr lang="en-AU" dirty="0"/>
          </a:p>
        </p:txBody>
      </p:sp>
      <p:pic>
        <p:nvPicPr>
          <p:cNvPr id="12" name="Picture 11">
            <a:extLst>
              <a:ext uri="{FF2B5EF4-FFF2-40B4-BE49-F238E27FC236}">
                <a16:creationId xmlns:a16="http://schemas.microsoft.com/office/drawing/2014/main" id="{4DF9E134-3900-0EEE-37FC-5E8BB17A14C7}"/>
              </a:ext>
            </a:extLst>
          </p:cNvPr>
          <p:cNvPicPr>
            <a:picLocks noChangeAspect="1"/>
          </p:cNvPicPr>
          <p:nvPr/>
        </p:nvPicPr>
        <p:blipFill rotWithShape="1">
          <a:blip r:embed="rId3"/>
          <a:srcRect t="10654" r="41927"/>
          <a:stretch/>
        </p:blipFill>
        <p:spPr>
          <a:xfrm>
            <a:off x="355927" y="5173557"/>
            <a:ext cx="5369363" cy="1614809"/>
          </a:xfrm>
          <a:prstGeom prst="rect">
            <a:avLst/>
          </a:prstGeom>
          <a:ln>
            <a:solidFill>
              <a:srgbClr val="C00000"/>
            </a:solidFill>
          </a:ln>
        </p:spPr>
      </p:pic>
    </p:spTree>
    <p:extLst>
      <p:ext uri="{BB962C8B-B14F-4D97-AF65-F5344CB8AC3E}">
        <p14:creationId xmlns:p14="http://schemas.microsoft.com/office/powerpoint/2010/main" val="361215582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4BD2CCD-D910-45C7-84AA-E9D9A1AB5536}"/>
              </a:ext>
            </a:extLst>
          </p:cNvPr>
          <p:cNvPicPr>
            <a:picLocks noChangeAspect="1"/>
          </p:cNvPicPr>
          <p:nvPr/>
        </p:nvPicPr>
        <p:blipFill>
          <a:blip r:embed="rId2"/>
          <a:stretch>
            <a:fillRect/>
          </a:stretch>
        </p:blipFill>
        <p:spPr>
          <a:xfrm>
            <a:off x="0" y="687846"/>
            <a:ext cx="12192000" cy="5482308"/>
          </a:xfrm>
          <a:prstGeom prst="rect">
            <a:avLst/>
          </a:prstGeom>
        </p:spPr>
      </p:pic>
      <p:sp>
        <p:nvSpPr>
          <p:cNvPr id="7" name="TextBox 6">
            <a:extLst>
              <a:ext uri="{FF2B5EF4-FFF2-40B4-BE49-F238E27FC236}">
                <a16:creationId xmlns:a16="http://schemas.microsoft.com/office/drawing/2014/main" id="{184A2A8C-2FCE-98DE-E2C6-60825D0F901E}"/>
              </a:ext>
            </a:extLst>
          </p:cNvPr>
          <p:cNvSpPr txBox="1"/>
          <p:nvPr/>
        </p:nvSpPr>
        <p:spPr>
          <a:xfrm>
            <a:off x="94593" y="0"/>
            <a:ext cx="8976732" cy="430887"/>
          </a:xfrm>
          <a:prstGeom prst="rect">
            <a:avLst/>
          </a:prstGeom>
          <a:noFill/>
        </p:spPr>
        <p:txBody>
          <a:bodyPr wrap="square" rtlCol="0">
            <a:spAutoFit/>
          </a:bodyPr>
          <a:lstStyle/>
          <a:p>
            <a:r>
              <a:rPr lang="en-AU" sz="2200" b="1" dirty="0">
                <a:latin typeface="Calibri" panose="020F0502020204030204" pitchFamily="34" charset="0"/>
                <a:cs typeface="Calibri" panose="020F0502020204030204" pitchFamily="34" charset="0"/>
              </a:rPr>
              <a:t>Practical Example</a:t>
            </a:r>
          </a:p>
        </p:txBody>
      </p:sp>
      <p:pic>
        <p:nvPicPr>
          <p:cNvPr id="9" name="Picture 8">
            <a:extLst>
              <a:ext uri="{FF2B5EF4-FFF2-40B4-BE49-F238E27FC236}">
                <a16:creationId xmlns:a16="http://schemas.microsoft.com/office/drawing/2014/main" id="{3FAA53D9-DF13-982F-9A62-C0059F8A89C0}"/>
              </a:ext>
            </a:extLst>
          </p:cNvPr>
          <p:cNvPicPr>
            <a:picLocks noChangeAspect="1"/>
          </p:cNvPicPr>
          <p:nvPr/>
        </p:nvPicPr>
        <p:blipFill>
          <a:blip r:embed="rId3"/>
          <a:stretch>
            <a:fillRect/>
          </a:stretch>
        </p:blipFill>
        <p:spPr>
          <a:xfrm>
            <a:off x="5307724" y="0"/>
            <a:ext cx="6884276" cy="3363777"/>
          </a:xfrm>
          <a:prstGeom prst="rect">
            <a:avLst/>
          </a:prstGeom>
          <a:ln>
            <a:solidFill>
              <a:srgbClr val="C00000"/>
            </a:solidFill>
          </a:ln>
        </p:spPr>
      </p:pic>
      <p:pic>
        <p:nvPicPr>
          <p:cNvPr id="2" name="Picture 1">
            <a:extLst>
              <a:ext uri="{FF2B5EF4-FFF2-40B4-BE49-F238E27FC236}">
                <a16:creationId xmlns:a16="http://schemas.microsoft.com/office/drawing/2014/main" id="{2E5C9CF7-86A5-9902-E1A9-3D4C0ED6D2A4}"/>
              </a:ext>
            </a:extLst>
          </p:cNvPr>
          <p:cNvPicPr>
            <a:picLocks noChangeAspect="1"/>
          </p:cNvPicPr>
          <p:nvPr/>
        </p:nvPicPr>
        <p:blipFill rotWithShape="1">
          <a:blip r:embed="rId4"/>
          <a:srcRect l="3895" r="8856" b="19191"/>
          <a:stretch/>
        </p:blipFill>
        <p:spPr>
          <a:xfrm>
            <a:off x="7143045" y="4955628"/>
            <a:ext cx="5048955" cy="1902372"/>
          </a:xfrm>
          <a:prstGeom prst="rect">
            <a:avLst/>
          </a:prstGeom>
          <a:ln>
            <a:solidFill>
              <a:srgbClr val="FF0000"/>
            </a:solidFill>
          </a:ln>
        </p:spPr>
      </p:pic>
      <p:sp>
        <p:nvSpPr>
          <p:cNvPr id="3" name="TextBox 2">
            <a:extLst>
              <a:ext uri="{FF2B5EF4-FFF2-40B4-BE49-F238E27FC236}">
                <a16:creationId xmlns:a16="http://schemas.microsoft.com/office/drawing/2014/main" id="{1818720D-03C2-FF26-8CE1-A3C9E02AA216}"/>
              </a:ext>
            </a:extLst>
          </p:cNvPr>
          <p:cNvSpPr txBox="1"/>
          <p:nvPr/>
        </p:nvSpPr>
        <p:spPr>
          <a:xfrm>
            <a:off x="1912883" y="6310286"/>
            <a:ext cx="5219652" cy="547714"/>
          </a:xfrm>
          <a:prstGeom prst="rect">
            <a:avLst/>
          </a:prstGeom>
          <a:noFill/>
          <a:ln>
            <a:solidFill>
              <a:srgbClr val="FF0000"/>
            </a:solidFill>
          </a:ln>
        </p:spPr>
        <p:txBody>
          <a:bodyPr wrap="square" rtlCol="0">
            <a:spAutoFit/>
          </a:bodyPr>
          <a:lstStyle/>
          <a:p>
            <a:pPr>
              <a:lnSpc>
                <a:spcPct val="150000"/>
              </a:lnSpc>
            </a:pPr>
            <a:r>
              <a:rPr lang="en-AU" sz="2200" dirty="0">
                <a:latin typeface="Calibri" panose="020F0502020204030204" pitchFamily="34" charset="0"/>
                <a:cs typeface="Calibri" panose="020F0502020204030204" pitchFamily="34" charset="0"/>
              </a:rPr>
              <a:t>The code is available online for my students!</a:t>
            </a:r>
          </a:p>
        </p:txBody>
      </p:sp>
    </p:spTree>
    <p:extLst>
      <p:ext uri="{BB962C8B-B14F-4D97-AF65-F5344CB8AC3E}">
        <p14:creationId xmlns:p14="http://schemas.microsoft.com/office/powerpoint/2010/main" val="100509878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0FE2496-7E1C-C846-B206-D15BB3A7F9A7}"/>
              </a:ext>
            </a:extLst>
          </p:cNvPr>
          <p:cNvSpPr txBox="1"/>
          <p:nvPr/>
        </p:nvSpPr>
        <p:spPr>
          <a:xfrm>
            <a:off x="47296" y="430887"/>
            <a:ext cx="12097407" cy="2071208"/>
          </a:xfrm>
          <a:prstGeom prst="rect">
            <a:avLst/>
          </a:prstGeom>
          <a:noFill/>
        </p:spPr>
        <p:txBody>
          <a:bodyPr wrap="square" rtlCol="0">
            <a:spAutoFit/>
          </a:bodyPr>
          <a:lstStyle/>
          <a:p>
            <a:pPr>
              <a:lnSpc>
                <a:spcPct val="150000"/>
              </a:lnSpc>
            </a:pPr>
            <a:r>
              <a:rPr lang="en-US" sz="2200" dirty="0">
                <a:latin typeface="Calibri" panose="020F0502020204030204" pitchFamily="34" charset="0"/>
                <a:cs typeface="Calibri" panose="020F0502020204030204" pitchFamily="34" charset="0"/>
              </a:rPr>
              <a:t>The purpose of the tutorial as detailed in the provided documents is to practice and understand the application of semantic HTML5 elements within the structure of a web page, and to apply CSS styling techniques to enhance the presentation of the content. This assignment ties into the overall learning goals of web design in several ways:</a:t>
            </a:r>
          </a:p>
        </p:txBody>
      </p:sp>
      <p:sp>
        <p:nvSpPr>
          <p:cNvPr id="3" name="TextBox 2">
            <a:extLst>
              <a:ext uri="{FF2B5EF4-FFF2-40B4-BE49-F238E27FC236}">
                <a16:creationId xmlns:a16="http://schemas.microsoft.com/office/drawing/2014/main" id="{75D024B9-B036-F4C5-8848-3FDC554962DE}"/>
              </a:ext>
            </a:extLst>
          </p:cNvPr>
          <p:cNvSpPr txBox="1"/>
          <p:nvPr/>
        </p:nvSpPr>
        <p:spPr>
          <a:xfrm>
            <a:off x="94593" y="2680101"/>
            <a:ext cx="12097407" cy="3594702"/>
          </a:xfrm>
          <a:prstGeom prst="rect">
            <a:avLst/>
          </a:prstGeom>
          <a:noFill/>
        </p:spPr>
        <p:txBody>
          <a:bodyPr wrap="square" rtlCol="0">
            <a:spAutoFit/>
          </a:bodyPr>
          <a:lstStyle/>
          <a:p>
            <a:pPr marL="457200" indent="-457200">
              <a:lnSpc>
                <a:spcPct val="150000"/>
              </a:lnSpc>
              <a:buFont typeface="+mj-lt"/>
              <a:buAutoNum type="arabicPeriod"/>
            </a:pPr>
            <a:r>
              <a:rPr lang="en-US" sz="2200" b="1" dirty="0">
                <a:latin typeface="Calibri" panose="020F0502020204030204" pitchFamily="34" charset="0"/>
                <a:cs typeface="Calibri" panose="020F0502020204030204" pitchFamily="34" charset="0"/>
              </a:rPr>
              <a:t>Understanding Semantic HTML: </a:t>
            </a:r>
            <a:r>
              <a:rPr lang="en-US" sz="2200" dirty="0">
                <a:latin typeface="Calibri" panose="020F0502020204030204" pitchFamily="34" charset="0"/>
                <a:cs typeface="Calibri" panose="020F0502020204030204" pitchFamily="34" charset="0"/>
              </a:rPr>
              <a:t>By creating a template with semantic wireframe elements like </a:t>
            </a:r>
            <a:r>
              <a:rPr lang="en-US" sz="2200" b="1" dirty="0">
                <a:latin typeface="Calibri" panose="020F0502020204030204" pitchFamily="34" charset="0"/>
                <a:cs typeface="Calibri" panose="020F0502020204030204" pitchFamily="34" charset="0"/>
              </a:rPr>
              <a:t>header</a:t>
            </a:r>
            <a:r>
              <a:rPr lang="en-US" sz="2200" dirty="0">
                <a:latin typeface="Calibri" panose="020F0502020204030204" pitchFamily="34" charset="0"/>
                <a:cs typeface="Calibri" panose="020F0502020204030204" pitchFamily="34" charset="0"/>
              </a:rPr>
              <a:t>, </a:t>
            </a:r>
            <a:r>
              <a:rPr lang="en-US" sz="2200" b="1" dirty="0">
                <a:latin typeface="Calibri" panose="020F0502020204030204" pitchFamily="34" charset="0"/>
                <a:cs typeface="Calibri" panose="020F0502020204030204" pitchFamily="34" charset="0"/>
              </a:rPr>
              <a:t>nav</a:t>
            </a:r>
            <a:r>
              <a:rPr lang="en-US" sz="2200" dirty="0">
                <a:latin typeface="Calibri" panose="020F0502020204030204" pitchFamily="34" charset="0"/>
                <a:cs typeface="Calibri" panose="020F0502020204030204" pitchFamily="34" charset="0"/>
              </a:rPr>
              <a:t>, </a:t>
            </a:r>
            <a:r>
              <a:rPr lang="en-US" sz="2200" b="1" dirty="0">
                <a:latin typeface="Calibri" panose="020F0502020204030204" pitchFamily="34" charset="0"/>
                <a:cs typeface="Calibri" panose="020F0502020204030204" pitchFamily="34" charset="0"/>
              </a:rPr>
              <a:t>main</a:t>
            </a:r>
            <a:r>
              <a:rPr lang="en-US" sz="2200" dirty="0">
                <a:latin typeface="Calibri" panose="020F0502020204030204" pitchFamily="34" charset="0"/>
                <a:cs typeface="Calibri" panose="020F0502020204030204" pitchFamily="34" charset="0"/>
              </a:rPr>
              <a:t>, and </a:t>
            </a:r>
            <a:r>
              <a:rPr lang="en-US" sz="2200" b="1" dirty="0">
                <a:latin typeface="Calibri" panose="020F0502020204030204" pitchFamily="34" charset="0"/>
                <a:cs typeface="Calibri" panose="020F0502020204030204" pitchFamily="34" charset="0"/>
              </a:rPr>
              <a:t>footer</a:t>
            </a:r>
            <a:r>
              <a:rPr lang="en-US" sz="2200" dirty="0">
                <a:latin typeface="Calibri" panose="020F0502020204030204" pitchFamily="34" charset="0"/>
                <a:cs typeface="Calibri" panose="020F0502020204030204" pitchFamily="34" charset="0"/>
              </a:rPr>
              <a:t>, you learn the importance of semantic HTML in web design. Semantic HTML5 elements convey meaning about the type of content they contain, not just its appearance, which is crucial for accessibility and search engine optimization (SEO).</a:t>
            </a:r>
          </a:p>
          <a:p>
            <a:pPr marL="457200" indent="-457200">
              <a:lnSpc>
                <a:spcPct val="150000"/>
              </a:lnSpc>
              <a:buFont typeface="+mj-lt"/>
              <a:buAutoNum type="arabicPeriod"/>
            </a:pPr>
            <a:r>
              <a:rPr lang="en-US" sz="2200" b="1" dirty="0">
                <a:latin typeface="Calibri" panose="020F0502020204030204" pitchFamily="34" charset="0"/>
                <a:cs typeface="Calibri" panose="020F0502020204030204" pitchFamily="34" charset="0"/>
              </a:rPr>
              <a:t>Practical Application: </a:t>
            </a:r>
            <a:r>
              <a:rPr lang="en-US" sz="2200" dirty="0">
                <a:latin typeface="Calibri" panose="020F0502020204030204" pitchFamily="34" charset="0"/>
                <a:cs typeface="Calibri" panose="020F0502020204030204" pitchFamily="34" charset="0"/>
              </a:rPr>
              <a:t>The tasks require you to apply the concepts learned in lectures by creating a webpage template and styling it using CSS. This solidifies your theoretical knowledge through practical application.</a:t>
            </a:r>
          </a:p>
        </p:txBody>
      </p:sp>
      <p:sp>
        <p:nvSpPr>
          <p:cNvPr id="7" name="TextBox 6">
            <a:extLst>
              <a:ext uri="{FF2B5EF4-FFF2-40B4-BE49-F238E27FC236}">
                <a16:creationId xmlns:a16="http://schemas.microsoft.com/office/drawing/2014/main" id="{50AE2931-D5C2-2859-DCFD-B7DC3C1BB676}"/>
              </a:ext>
            </a:extLst>
          </p:cNvPr>
          <p:cNvSpPr txBox="1"/>
          <p:nvPr/>
        </p:nvSpPr>
        <p:spPr>
          <a:xfrm>
            <a:off x="94593" y="7144"/>
            <a:ext cx="8976732" cy="430887"/>
          </a:xfrm>
          <a:prstGeom prst="rect">
            <a:avLst/>
          </a:prstGeom>
          <a:noFill/>
        </p:spPr>
        <p:txBody>
          <a:bodyPr wrap="square" rtlCol="0">
            <a:spAutoFit/>
          </a:bodyPr>
          <a:lstStyle/>
          <a:p>
            <a:r>
              <a:rPr lang="en-AU" sz="2200" b="1" dirty="0">
                <a:latin typeface="Calibri" panose="020F0502020204030204" pitchFamily="34" charset="0"/>
                <a:cs typeface="Calibri" panose="020F0502020204030204" pitchFamily="34" charset="0"/>
              </a:rPr>
              <a:t>Weeks 4 - 5 Tutorial</a:t>
            </a:r>
          </a:p>
        </p:txBody>
      </p:sp>
    </p:spTree>
    <p:extLst>
      <p:ext uri="{BB962C8B-B14F-4D97-AF65-F5344CB8AC3E}">
        <p14:creationId xmlns:p14="http://schemas.microsoft.com/office/powerpoint/2010/main" val="293204553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0EDA831C-3F59-8361-5C78-944EC8508F9C}"/>
              </a:ext>
            </a:extLst>
          </p:cNvPr>
          <p:cNvSpPr txBox="1"/>
          <p:nvPr/>
        </p:nvSpPr>
        <p:spPr>
          <a:xfrm>
            <a:off x="94593" y="0"/>
            <a:ext cx="8976732" cy="430887"/>
          </a:xfrm>
          <a:prstGeom prst="rect">
            <a:avLst/>
          </a:prstGeom>
          <a:noFill/>
        </p:spPr>
        <p:txBody>
          <a:bodyPr wrap="square" rtlCol="0">
            <a:spAutoFit/>
          </a:bodyPr>
          <a:lstStyle/>
          <a:p>
            <a:r>
              <a:rPr lang="en-AU" sz="2200" b="1" dirty="0">
                <a:latin typeface="Calibri" panose="020F0502020204030204" pitchFamily="34" charset="0"/>
                <a:cs typeface="Calibri" panose="020F0502020204030204" pitchFamily="34" charset="0"/>
              </a:rPr>
              <a:t>Weeks 4 - 5 Tutorial</a:t>
            </a:r>
          </a:p>
        </p:txBody>
      </p:sp>
      <p:sp>
        <p:nvSpPr>
          <p:cNvPr id="3" name="TextBox 2">
            <a:extLst>
              <a:ext uri="{FF2B5EF4-FFF2-40B4-BE49-F238E27FC236}">
                <a16:creationId xmlns:a16="http://schemas.microsoft.com/office/drawing/2014/main" id="{75D024B9-B036-F4C5-8848-3FDC554962DE}"/>
              </a:ext>
            </a:extLst>
          </p:cNvPr>
          <p:cNvSpPr txBox="1"/>
          <p:nvPr/>
        </p:nvSpPr>
        <p:spPr>
          <a:xfrm>
            <a:off x="47296" y="683136"/>
            <a:ext cx="12097407" cy="4610365"/>
          </a:xfrm>
          <a:prstGeom prst="rect">
            <a:avLst/>
          </a:prstGeom>
          <a:noFill/>
        </p:spPr>
        <p:txBody>
          <a:bodyPr wrap="square" rtlCol="0">
            <a:spAutoFit/>
          </a:bodyPr>
          <a:lstStyle/>
          <a:p>
            <a:pPr marL="457200" indent="-457200">
              <a:lnSpc>
                <a:spcPct val="150000"/>
              </a:lnSpc>
              <a:buAutoNum type="arabicPeriod" startAt="3"/>
            </a:pPr>
            <a:r>
              <a:rPr lang="en-US" sz="2200" b="1" dirty="0">
                <a:latin typeface="Calibri" panose="020F0502020204030204" pitchFamily="34" charset="0"/>
                <a:cs typeface="Calibri" panose="020F0502020204030204" pitchFamily="34" charset="0"/>
              </a:rPr>
              <a:t>Research and Documentation: </a:t>
            </a:r>
            <a:r>
              <a:rPr lang="en-US" sz="2200" dirty="0">
                <a:latin typeface="Calibri" panose="020F0502020204030204" pitchFamily="34" charset="0"/>
                <a:cs typeface="Calibri" panose="020F0502020204030204" pitchFamily="34" charset="0"/>
              </a:rPr>
              <a:t>The assignment asks you to research various HTML elements and document your findings as comments in the code, promoting the skill of self-learning and the importance of code documentation for future reference.</a:t>
            </a:r>
          </a:p>
          <a:p>
            <a:pPr marL="457200" indent="-457200">
              <a:lnSpc>
                <a:spcPct val="150000"/>
              </a:lnSpc>
              <a:buAutoNum type="arabicPeriod" startAt="3"/>
            </a:pPr>
            <a:r>
              <a:rPr lang="en-US" sz="2200" b="1" dirty="0">
                <a:latin typeface="Calibri" panose="020F0502020204030204" pitchFamily="34" charset="0"/>
                <a:cs typeface="Calibri" panose="020F0502020204030204" pitchFamily="34" charset="0"/>
              </a:rPr>
              <a:t>Webpage Validation: </a:t>
            </a:r>
            <a:r>
              <a:rPr lang="en-US" sz="2200" dirty="0">
                <a:latin typeface="Calibri" panose="020F0502020204030204" pitchFamily="34" charset="0"/>
                <a:cs typeface="Calibri" panose="020F0502020204030204" pitchFamily="34" charset="0"/>
              </a:rPr>
              <a:t>By validating the webpage using the W3C validator, you ensure that the HTML and CSS code adheres to web standards, which is important for cross-browser compatibility and long-term maintainability of the code.</a:t>
            </a:r>
          </a:p>
          <a:p>
            <a:pPr marL="457200" indent="-457200">
              <a:lnSpc>
                <a:spcPct val="150000"/>
              </a:lnSpc>
              <a:buAutoNum type="arabicPeriod" startAt="3"/>
            </a:pPr>
            <a:r>
              <a:rPr lang="en-US" sz="2200" b="1" dirty="0">
                <a:latin typeface="Calibri" panose="020F0502020204030204" pitchFamily="34" charset="0"/>
                <a:cs typeface="Calibri" panose="020F0502020204030204" pitchFamily="34" charset="0"/>
              </a:rPr>
              <a:t>Styling with CSS: </a:t>
            </a:r>
            <a:r>
              <a:rPr lang="en-US" sz="2200" dirty="0">
                <a:latin typeface="Calibri" panose="020F0502020204030204" pitchFamily="34" charset="0"/>
                <a:cs typeface="Calibri" panose="020F0502020204030204" pitchFamily="34" charset="0"/>
              </a:rPr>
              <a:t>The project requires the use of external, embedded, and inline CSS to style the webpage, giving you hands-on experience with different methods of applying styles, and understanding the advantages and best use-cases for each method.</a:t>
            </a:r>
          </a:p>
        </p:txBody>
      </p:sp>
    </p:spTree>
    <p:extLst>
      <p:ext uri="{BB962C8B-B14F-4D97-AF65-F5344CB8AC3E}">
        <p14:creationId xmlns:p14="http://schemas.microsoft.com/office/powerpoint/2010/main" val="86221947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0EDA831C-3F59-8361-5C78-944EC8508F9C}"/>
              </a:ext>
            </a:extLst>
          </p:cNvPr>
          <p:cNvSpPr txBox="1"/>
          <p:nvPr/>
        </p:nvSpPr>
        <p:spPr>
          <a:xfrm>
            <a:off x="94593" y="0"/>
            <a:ext cx="8976732" cy="430887"/>
          </a:xfrm>
          <a:prstGeom prst="rect">
            <a:avLst/>
          </a:prstGeom>
          <a:noFill/>
        </p:spPr>
        <p:txBody>
          <a:bodyPr wrap="square" rtlCol="0">
            <a:spAutoFit/>
          </a:bodyPr>
          <a:lstStyle/>
          <a:p>
            <a:r>
              <a:rPr lang="en-AU" sz="2200" b="1" dirty="0">
                <a:latin typeface="Calibri" panose="020F0502020204030204" pitchFamily="34" charset="0"/>
                <a:cs typeface="Calibri" panose="020F0502020204030204" pitchFamily="34" charset="0"/>
              </a:rPr>
              <a:t>Weeks 4 - 5 Tutorial</a:t>
            </a:r>
          </a:p>
        </p:txBody>
      </p:sp>
      <p:sp>
        <p:nvSpPr>
          <p:cNvPr id="3" name="TextBox 2">
            <a:extLst>
              <a:ext uri="{FF2B5EF4-FFF2-40B4-BE49-F238E27FC236}">
                <a16:creationId xmlns:a16="http://schemas.microsoft.com/office/drawing/2014/main" id="{75D024B9-B036-F4C5-8848-3FDC554962DE}"/>
              </a:ext>
            </a:extLst>
          </p:cNvPr>
          <p:cNvSpPr txBox="1"/>
          <p:nvPr/>
        </p:nvSpPr>
        <p:spPr>
          <a:xfrm>
            <a:off x="0" y="641094"/>
            <a:ext cx="12097407" cy="2071208"/>
          </a:xfrm>
          <a:prstGeom prst="rect">
            <a:avLst/>
          </a:prstGeom>
          <a:noFill/>
        </p:spPr>
        <p:txBody>
          <a:bodyPr wrap="square" rtlCol="0">
            <a:spAutoFit/>
          </a:bodyPr>
          <a:lstStyle/>
          <a:p>
            <a:pPr marL="452438" indent="-452438">
              <a:lnSpc>
                <a:spcPct val="150000"/>
              </a:lnSpc>
            </a:pPr>
            <a:r>
              <a:rPr lang="en-US" sz="2200" b="1" dirty="0">
                <a:latin typeface="Calibri" panose="020F0502020204030204" pitchFamily="34" charset="0"/>
                <a:cs typeface="Calibri" panose="020F0502020204030204" pitchFamily="34" charset="0"/>
              </a:rPr>
              <a:t>6.    CSS Layout Techniques: </a:t>
            </a:r>
            <a:r>
              <a:rPr lang="en-US" sz="2200" dirty="0">
                <a:latin typeface="Calibri" panose="020F0502020204030204" pitchFamily="34" charset="0"/>
                <a:cs typeface="Calibri" panose="020F0502020204030204" pitchFamily="34" charset="0"/>
              </a:rPr>
              <a:t>You will practice CSS layout techniques such as using the float property and the margin property to align elements, which are essential skills for creating visually appealing and well-structured web pages.</a:t>
            </a:r>
          </a:p>
          <a:p>
            <a:pPr marL="452438" indent="-452438">
              <a:lnSpc>
                <a:spcPct val="150000"/>
              </a:lnSpc>
            </a:pPr>
            <a:r>
              <a:rPr lang="en-US" sz="2200" b="1" dirty="0">
                <a:latin typeface="Calibri" panose="020F0502020204030204" pitchFamily="34" charset="0"/>
                <a:cs typeface="Calibri" panose="020F0502020204030204" pitchFamily="34" charset="0"/>
              </a:rPr>
              <a:t>7.    Problem Solving and Debugging: </a:t>
            </a:r>
            <a:endParaRPr lang="en-US" sz="2200" dirty="0">
              <a:latin typeface="Calibri" panose="020F0502020204030204" pitchFamily="34" charset="0"/>
              <a:cs typeface="Calibri" panose="020F0502020204030204" pitchFamily="34" charset="0"/>
            </a:endParaRPr>
          </a:p>
        </p:txBody>
      </p:sp>
      <p:sp>
        <p:nvSpPr>
          <p:cNvPr id="4" name="TextBox 3">
            <a:extLst>
              <a:ext uri="{FF2B5EF4-FFF2-40B4-BE49-F238E27FC236}">
                <a16:creationId xmlns:a16="http://schemas.microsoft.com/office/drawing/2014/main" id="{C1E860A5-C787-D510-5B7D-5D71237BAFC6}"/>
              </a:ext>
            </a:extLst>
          </p:cNvPr>
          <p:cNvSpPr txBox="1"/>
          <p:nvPr/>
        </p:nvSpPr>
        <p:spPr>
          <a:xfrm>
            <a:off x="84082" y="2922509"/>
            <a:ext cx="11929241" cy="2074029"/>
          </a:xfrm>
          <a:prstGeom prst="rect">
            <a:avLst/>
          </a:prstGeom>
          <a:noFill/>
        </p:spPr>
        <p:txBody>
          <a:bodyPr wrap="square">
            <a:spAutoFit/>
          </a:bodyPr>
          <a:lstStyle/>
          <a:p>
            <a:pPr>
              <a:lnSpc>
                <a:spcPct val="150000"/>
              </a:lnSpc>
            </a:pPr>
            <a:r>
              <a:rPr lang="en-US" sz="2200" dirty="0">
                <a:latin typeface="Calibri" panose="020F0502020204030204" pitchFamily="34" charset="0"/>
                <a:cs typeface="Calibri" panose="020F0502020204030204" pitchFamily="34" charset="0"/>
              </a:rPr>
              <a:t>In summary, this assignment is designed to develop a comprehensive set of web design skills, from understanding the structure and semantics of HTML to applying styles and layouts with CSS. These are fundamental skills for any web designer or developer and are essential for creating efficient, accessible, and maintainable web pages​</a:t>
            </a:r>
            <a:endParaRPr lang="en-AU" sz="2200" dirty="0"/>
          </a:p>
        </p:txBody>
      </p:sp>
    </p:spTree>
    <p:extLst>
      <p:ext uri="{BB962C8B-B14F-4D97-AF65-F5344CB8AC3E}">
        <p14:creationId xmlns:p14="http://schemas.microsoft.com/office/powerpoint/2010/main" val="423314373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0EDA831C-3F59-8361-5C78-944EC8508F9C}"/>
              </a:ext>
            </a:extLst>
          </p:cNvPr>
          <p:cNvSpPr txBox="1"/>
          <p:nvPr/>
        </p:nvSpPr>
        <p:spPr>
          <a:xfrm>
            <a:off x="94593" y="0"/>
            <a:ext cx="8976732" cy="430887"/>
          </a:xfrm>
          <a:prstGeom prst="rect">
            <a:avLst/>
          </a:prstGeom>
          <a:noFill/>
        </p:spPr>
        <p:txBody>
          <a:bodyPr wrap="square" rtlCol="0">
            <a:spAutoFit/>
          </a:bodyPr>
          <a:lstStyle/>
          <a:p>
            <a:r>
              <a:rPr lang="en-AU" sz="2200" b="1" dirty="0">
                <a:latin typeface="Calibri" panose="020F0502020204030204" pitchFamily="34" charset="0"/>
                <a:cs typeface="Calibri" panose="020F0502020204030204" pitchFamily="34" charset="0"/>
              </a:rPr>
              <a:t>Weeks 4 - 5 Tutorial</a:t>
            </a:r>
          </a:p>
        </p:txBody>
      </p:sp>
      <p:sp>
        <p:nvSpPr>
          <p:cNvPr id="4" name="TextBox 3">
            <a:extLst>
              <a:ext uri="{FF2B5EF4-FFF2-40B4-BE49-F238E27FC236}">
                <a16:creationId xmlns:a16="http://schemas.microsoft.com/office/drawing/2014/main" id="{C1E860A5-C787-D510-5B7D-5D71237BAFC6}"/>
              </a:ext>
            </a:extLst>
          </p:cNvPr>
          <p:cNvSpPr txBox="1"/>
          <p:nvPr/>
        </p:nvSpPr>
        <p:spPr>
          <a:xfrm>
            <a:off x="0" y="654269"/>
            <a:ext cx="11929241" cy="1058367"/>
          </a:xfrm>
          <a:prstGeom prst="rect">
            <a:avLst/>
          </a:prstGeom>
          <a:noFill/>
        </p:spPr>
        <p:txBody>
          <a:bodyPr wrap="square">
            <a:spAutoFit/>
          </a:bodyPr>
          <a:lstStyle/>
          <a:p>
            <a:pPr marL="342900" indent="-342900">
              <a:lnSpc>
                <a:spcPct val="150000"/>
              </a:lnSpc>
              <a:buFont typeface="Arial" panose="020B0604020202020204" pitchFamily="34" charset="0"/>
              <a:buChar char="•"/>
            </a:pPr>
            <a:r>
              <a:rPr lang="en-US" sz="2200" dirty="0">
                <a:latin typeface="Calibri" panose="020F0502020204030204" pitchFamily="34" charset="0"/>
                <a:cs typeface="Calibri" panose="020F0502020204030204" pitchFamily="34" charset="0"/>
              </a:rPr>
              <a:t>Use the </a:t>
            </a:r>
            <a:r>
              <a:rPr lang="en-US" sz="2200" b="1" dirty="0">
                <a:latin typeface="Calibri" panose="020F0502020204030204" pitchFamily="34" charset="0"/>
                <a:cs typeface="Calibri" panose="020F0502020204030204" pitchFamily="34" charset="0"/>
              </a:rPr>
              <a:t>apply02.docx</a:t>
            </a:r>
            <a:r>
              <a:rPr lang="en-US" sz="2200" dirty="0">
                <a:latin typeface="Calibri" panose="020F0502020204030204" pitchFamily="34" charset="0"/>
                <a:cs typeface="Calibri" panose="020F0502020204030204" pitchFamily="34" charset="0"/>
              </a:rPr>
              <a:t> document and the </a:t>
            </a:r>
            <a:r>
              <a:rPr lang="en-US" sz="2200" b="1" dirty="0">
                <a:latin typeface="Calibri" panose="020F0502020204030204" pitchFamily="34" charset="0"/>
                <a:cs typeface="Calibri" panose="020F0502020204030204" pitchFamily="34" charset="0"/>
              </a:rPr>
              <a:t>Weeks 4-5 Lab.pdf </a:t>
            </a:r>
            <a:r>
              <a:rPr lang="en-US" sz="2200" dirty="0">
                <a:latin typeface="Calibri" panose="020F0502020204030204" pitchFamily="34" charset="0"/>
                <a:cs typeface="Calibri" panose="020F0502020204030204" pitchFamily="34" charset="0"/>
              </a:rPr>
              <a:t>as guides through each task. For HTML and CSS syntax, you can refer to </a:t>
            </a:r>
            <a:r>
              <a:rPr lang="en-US" sz="2200" dirty="0" err="1">
                <a:latin typeface="Calibri" panose="020F0502020204030204" pitchFamily="34" charset="0"/>
                <a:cs typeface="Calibri" panose="020F0502020204030204" pitchFamily="34" charset="0"/>
              </a:rPr>
              <a:t>Notepadd</a:t>
            </a:r>
            <a:r>
              <a:rPr lang="en-US" sz="2200" dirty="0">
                <a:latin typeface="Calibri" panose="020F0502020204030204" pitchFamily="34" charset="0"/>
                <a:cs typeface="Calibri" panose="020F0502020204030204" pitchFamily="34" charset="0"/>
              </a:rPr>
              <a:t>++ or web resources such as </a:t>
            </a:r>
            <a:r>
              <a:rPr lang="en-US" sz="2200" dirty="0">
                <a:latin typeface="Calibri" panose="020F0502020204030204" pitchFamily="34" charset="0"/>
                <a:cs typeface="Calibri" panose="020F0502020204030204" pitchFamily="34" charset="0"/>
                <a:hlinkClick r:id="rId2"/>
              </a:rPr>
              <a:t>https://w3schools.com/</a:t>
            </a:r>
            <a:endParaRPr lang="en-AU" sz="2200" dirty="0"/>
          </a:p>
        </p:txBody>
      </p:sp>
      <p:sp>
        <p:nvSpPr>
          <p:cNvPr id="2" name="TextBox 1">
            <a:extLst>
              <a:ext uri="{FF2B5EF4-FFF2-40B4-BE49-F238E27FC236}">
                <a16:creationId xmlns:a16="http://schemas.microsoft.com/office/drawing/2014/main" id="{02CB2019-8A6B-BEC7-64F2-CE44CB1D4BFC}"/>
              </a:ext>
            </a:extLst>
          </p:cNvPr>
          <p:cNvSpPr txBox="1"/>
          <p:nvPr/>
        </p:nvSpPr>
        <p:spPr>
          <a:xfrm>
            <a:off x="0" y="1936018"/>
            <a:ext cx="11929241" cy="1566198"/>
          </a:xfrm>
          <a:prstGeom prst="rect">
            <a:avLst/>
          </a:prstGeom>
          <a:noFill/>
        </p:spPr>
        <p:txBody>
          <a:bodyPr wrap="square">
            <a:spAutoFit/>
          </a:bodyPr>
          <a:lstStyle/>
          <a:p>
            <a:pPr marL="342900" indent="-342900">
              <a:lnSpc>
                <a:spcPct val="150000"/>
              </a:lnSpc>
              <a:buFont typeface="Arial" panose="020B0604020202020204" pitchFamily="34" charset="0"/>
              <a:buChar char="•"/>
            </a:pPr>
            <a:r>
              <a:rPr lang="en-US" sz="2200" dirty="0">
                <a:latin typeface="Calibri" panose="020F0502020204030204" pitchFamily="34" charset="0"/>
                <a:cs typeface="Calibri" panose="020F0502020204030204" pitchFamily="34" charset="0"/>
              </a:rPr>
              <a:t>Given the instructions and details from the </a:t>
            </a:r>
            <a:r>
              <a:rPr lang="en-US" sz="2200" b="1" dirty="0">
                <a:latin typeface="Calibri" panose="020F0502020204030204" pitchFamily="34" charset="0"/>
                <a:cs typeface="Calibri" panose="020F0502020204030204" pitchFamily="34" charset="0"/>
              </a:rPr>
              <a:t>Weeks 4-5 Lab </a:t>
            </a:r>
            <a:r>
              <a:rPr lang="en-US" sz="2200" dirty="0">
                <a:latin typeface="Calibri" panose="020F0502020204030204" pitchFamily="34" charset="0"/>
                <a:cs typeface="Calibri" panose="020F0502020204030204" pitchFamily="34" charset="0"/>
              </a:rPr>
              <a:t>PDF and the apply02.docx, let's write the HTML code needed to create a web page template with semantic HTML5 elements and then style it with CSS.</a:t>
            </a:r>
            <a:endParaRPr lang="en-AU" sz="2200" dirty="0"/>
          </a:p>
        </p:txBody>
      </p:sp>
    </p:spTree>
    <p:extLst>
      <p:ext uri="{BB962C8B-B14F-4D97-AF65-F5344CB8AC3E}">
        <p14:creationId xmlns:p14="http://schemas.microsoft.com/office/powerpoint/2010/main" val="10239326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0EDA831C-3F59-8361-5C78-944EC8508F9C}"/>
              </a:ext>
            </a:extLst>
          </p:cNvPr>
          <p:cNvSpPr txBox="1"/>
          <p:nvPr/>
        </p:nvSpPr>
        <p:spPr>
          <a:xfrm>
            <a:off x="94593" y="0"/>
            <a:ext cx="8976732" cy="430887"/>
          </a:xfrm>
          <a:prstGeom prst="rect">
            <a:avLst/>
          </a:prstGeom>
          <a:noFill/>
        </p:spPr>
        <p:txBody>
          <a:bodyPr wrap="square" rtlCol="0">
            <a:spAutoFit/>
          </a:bodyPr>
          <a:lstStyle/>
          <a:p>
            <a:r>
              <a:rPr lang="en-AU" sz="2200" b="1" dirty="0">
                <a:latin typeface="Calibri" panose="020F0502020204030204" pitchFamily="34" charset="0"/>
                <a:cs typeface="Calibri" panose="020F0502020204030204" pitchFamily="34" charset="0"/>
              </a:rPr>
              <a:t>Weeks 4 - 5 Tutorial</a:t>
            </a:r>
          </a:p>
        </p:txBody>
      </p:sp>
      <p:sp>
        <p:nvSpPr>
          <p:cNvPr id="3" name="TextBox 2">
            <a:extLst>
              <a:ext uri="{FF2B5EF4-FFF2-40B4-BE49-F238E27FC236}">
                <a16:creationId xmlns:a16="http://schemas.microsoft.com/office/drawing/2014/main" id="{C1E860A5-C787-D510-5B7D-5D71237BAFC6}"/>
              </a:ext>
            </a:extLst>
          </p:cNvPr>
          <p:cNvSpPr txBox="1"/>
          <p:nvPr/>
        </p:nvSpPr>
        <p:spPr>
          <a:xfrm>
            <a:off x="94594" y="430887"/>
            <a:ext cx="3951890" cy="6136680"/>
          </a:xfrm>
          <a:prstGeom prst="rect">
            <a:avLst/>
          </a:prstGeom>
          <a:noFill/>
        </p:spPr>
        <p:txBody>
          <a:bodyPr wrap="square">
            <a:spAutoFit/>
          </a:bodyPr>
          <a:lstStyle/>
          <a:p>
            <a:pPr>
              <a:lnSpc>
                <a:spcPct val="150000"/>
              </a:lnSpc>
            </a:pPr>
            <a:r>
              <a:rPr lang="en-US" sz="2200" b="1" dirty="0">
                <a:latin typeface="Calibri" panose="020F0502020204030204" pitchFamily="34" charset="0"/>
                <a:cs typeface="Calibri" panose="020F0502020204030204" pitchFamily="34" charset="0"/>
              </a:rPr>
              <a:t>Step 1) HTML Code for Template Creation (template02.html)</a:t>
            </a:r>
          </a:p>
          <a:p>
            <a:pPr>
              <a:lnSpc>
                <a:spcPct val="150000"/>
              </a:lnSpc>
            </a:pPr>
            <a:r>
              <a:rPr lang="en-US" sz="2200" dirty="0">
                <a:latin typeface="Calibri" panose="020F0502020204030204" pitchFamily="34" charset="0"/>
                <a:cs typeface="Calibri" panose="020F0502020204030204" pitchFamily="34" charset="0"/>
              </a:rPr>
              <a:t>Here's the basic structure with semantic HTML5 elements and HTML comments to indicate the type of content each section should contain:</a:t>
            </a:r>
          </a:p>
          <a:p>
            <a:pPr marL="342900" indent="-342900">
              <a:lnSpc>
                <a:spcPct val="150000"/>
              </a:lnSpc>
              <a:buFont typeface="Arial" panose="020B0604020202020204" pitchFamily="34" charset="0"/>
              <a:buChar char="•"/>
            </a:pPr>
            <a:r>
              <a:rPr lang="en-US" sz="2200" dirty="0">
                <a:latin typeface="Calibri" panose="020F0502020204030204" pitchFamily="34" charset="0"/>
                <a:cs typeface="Calibri" panose="020F0502020204030204" pitchFamily="34" charset="0"/>
              </a:rPr>
              <a:t>Please always change, showcase your</a:t>
            </a:r>
            <a:br>
              <a:rPr lang="en-US" sz="2200" dirty="0">
                <a:latin typeface="Calibri" panose="020F0502020204030204" pitchFamily="34" charset="0"/>
                <a:cs typeface="Calibri" panose="020F0502020204030204" pitchFamily="34" charset="0"/>
              </a:rPr>
            </a:br>
            <a:r>
              <a:rPr lang="en-US" sz="2200" dirty="0">
                <a:latin typeface="Calibri" panose="020F0502020204030204" pitchFamily="34" charset="0"/>
                <a:cs typeface="Calibri" panose="020F0502020204030204" pitchFamily="34" charset="0"/>
              </a:rPr>
              <a:t>coding skills, then save it as </a:t>
            </a:r>
            <a:br>
              <a:rPr lang="en-US" sz="2200" dirty="0">
                <a:latin typeface="Calibri" panose="020F0502020204030204" pitchFamily="34" charset="0"/>
                <a:cs typeface="Calibri" panose="020F0502020204030204" pitchFamily="34" charset="0"/>
              </a:rPr>
            </a:br>
            <a:r>
              <a:rPr lang="en-US" sz="2200" b="1" dirty="0">
                <a:latin typeface="Calibri" panose="020F0502020204030204" pitchFamily="34" charset="0"/>
                <a:cs typeface="Calibri" panose="020F0502020204030204" pitchFamily="34" charset="0"/>
              </a:rPr>
              <a:t>html extension </a:t>
            </a:r>
            <a:r>
              <a:rPr lang="en-US" sz="2200" dirty="0">
                <a:latin typeface="Calibri" panose="020F0502020204030204" pitchFamily="34" charset="0"/>
                <a:cs typeface="Calibri" panose="020F0502020204030204" pitchFamily="34" charset="0"/>
              </a:rPr>
              <a:t>in file in </a:t>
            </a:r>
            <a:r>
              <a:rPr lang="en-US" sz="2200" b="1" dirty="0">
                <a:latin typeface="Calibri" panose="020F0502020204030204" pitchFamily="34" charset="0"/>
                <a:cs typeface="Calibri" panose="020F0502020204030204" pitchFamily="34" charset="0"/>
              </a:rPr>
              <a:t>C:\xampp\htdocs</a:t>
            </a:r>
            <a:endParaRPr lang="en-AU" sz="2200" b="1" dirty="0"/>
          </a:p>
        </p:txBody>
      </p:sp>
      <p:pic>
        <p:nvPicPr>
          <p:cNvPr id="6" name="Picture 5">
            <a:extLst>
              <a:ext uri="{FF2B5EF4-FFF2-40B4-BE49-F238E27FC236}">
                <a16:creationId xmlns:a16="http://schemas.microsoft.com/office/drawing/2014/main" id="{C708B99D-9163-3A7E-8497-E521F7B67CA9}"/>
              </a:ext>
            </a:extLst>
          </p:cNvPr>
          <p:cNvPicPr>
            <a:picLocks noChangeAspect="1"/>
          </p:cNvPicPr>
          <p:nvPr/>
        </p:nvPicPr>
        <p:blipFill rotWithShape="1">
          <a:blip r:embed="rId2"/>
          <a:srcRect l="2032"/>
          <a:stretch/>
        </p:blipFill>
        <p:spPr>
          <a:xfrm>
            <a:off x="5223641" y="4735022"/>
            <a:ext cx="6968359" cy="1658362"/>
          </a:xfrm>
          <a:prstGeom prst="rect">
            <a:avLst/>
          </a:prstGeom>
        </p:spPr>
      </p:pic>
      <p:sp>
        <p:nvSpPr>
          <p:cNvPr id="8" name="Rectangle: Rounded Corners 7">
            <a:extLst>
              <a:ext uri="{FF2B5EF4-FFF2-40B4-BE49-F238E27FC236}">
                <a16:creationId xmlns:a16="http://schemas.microsoft.com/office/drawing/2014/main" id="{80A5EFD8-B14E-7B04-7174-D5EFC567C0B3}"/>
              </a:ext>
            </a:extLst>
          </p:cNvPr>
          <p:cNvSpPr/>
          <p:nvPr/>
        </p:nvSpPr>
        <p:spPr>
          <a:xfrm>
            <a:off x="5528443" y="5814847"/>
            <a:ext cx="5370785" cy="420414"/>
          </a:xfrm>
          <a:prstGeom prst="round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9" name="Picture 8">
            <a:extLst>
              <a:ext uri="{FF2B5EF4-FFF2-40B4-BE49-F238E27FC236}">
                <a16:creationId xmlns:a16="http://schemas.microsoft.com/office/drawing/2014/main" id="{7CEE7C0D-BBBC-FD57-125C-20D06C6191FA}"/>
              </a:ext>
            </a:extLst>
          </p:cNvPr>
          <p:cNvPicPr>
            <a:picLocks noChangeAspect="1"/>
          </p:cNvPicPr>
          <p:nvPr/>
        </p:nvPicPr>
        <p:blipFill rotWithShape="1">
          <a:blip r:embed="rId3"/>
          <a:srcRect l="4482" t="12052" r="11810" b="21992"/>
          <a:stretch/>
        </p:blipFill>
        <p:spPr>
          <a:xfrm>
            <a:off x="4001995" y="10474"/>
            <a:ext cx="8190005" cy="3629926"/>
          </a:xfrm>
          <a:prstGeom prst="rect">
            <a:avLst/>
          </a:prstGeom>
        </p:spPr>
      </p:pic>
    </p:spTree>
    <p:extLst>
      <p:ext uri="{BB962C8B-B14F-4D97-AF65-F5344CB8AC3E}">
        <p14:creationId xmlns:p14="http://schemas.microsoft.com/office/powerpoint/2010/main" val="270634767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0EDA831C-3F59-8361-5C78-944EC8508F9C}"/>
              </a:ext>
            </a:extLst>
          </p:cNvPr>
          <p:cNvSpPr txBox="1"/>
          <p:nvPr/>
        </p:nvSpPr>
        <p:spPr>
          <a:xfrm>
            <a:off x="94592" y="0"/>
            <a:ext cx="12097407" cy="430887"/>
          </a:xfrm>
          <a:prstGeom prst="rect">
            <a:avLst/>
          </a:prstGeom>
          <a:noFill/>
        </p:spPr>
        <p:txBody>
          <a:bodyPr wrap="square" rtlCol="0">
            <a:spAutoFit/>
          </a:bodyPr>
          <a:lstStyle/>
          <a:p>
            <a:r>
              <a:rPr lang="en-AU" sz="2200" b="1" dirty="0">
                <a:latin typeface="Calibri" panose="020F0502020204030204" pitchFamily="34" charset="0"/>
                <a:cs typeface="Calibri" panose="020F0502020204030204" pitchFamily="34" charset="0"/>
              </a:rPr>
              <a:t>Weeks 4 - 5 Tutorial – Understanding the Main Document</a:t>
            </a:r>
          </a:p>
        </p:txBody>
      </p:sp>
      <p:pic>
        <p:nvPicPr>
          <p:cNvPr id="9" name="Picture 8">
            <a:extLst>
              <a:ext uri="{FF2B5EF4-FFF2-40B4-BE49-F238E27FC236}">
                <a16:creationId xmlns:a16="http://schemas.microsoft.com/office/drawing/2014/main" id="{7CEE7C0D-BBBC-FD57-125C-20D06C6191FA}"/>
              </a:ext>
            </a:extLst>
          </p:cNvPr>
          <p:cNvPicPr>
            <a:picLocks noChangeAspect="1"/>
          </p:cNvPicPr>
          <p:nvPr/>
        </p:nvPicPr>
        <p:blipFill rotWithShape="1">
          <a:blip r:embed="rId2"/>
          <a:srcRect l="4482" t="12052" r="11810" b="21992"/>
          <a:stretch/>
        </p:blipFill>
        <p:spPr>
          <a:xfrm>
            <a:off x="4046484" y="505366"/>
            <a:ext cx="8145516" cy="3610208"/>
          </a:xfrm>
          <a:prstGeom prst="rect">
            <a:avLst/>
          </a:prstGeom>
        </p:spPr>
      </p:pic>
      <p:sp>
        <p:nvSpPr>
          <p:cNvPr id="10" name="TextBox 9">
            <a:extLst>
              <a:ext uri="{FF2B5EF4-FFF2-40B4-BE49-F238E27FC236}">
                <a16:creationId xmlns:a16="http://schemas.microsoft.com/office/drawing/2014/main" id="{7FD105B0-72AD-5878-B364-AAB2F2730BFC}"/>
              </a:ext>
            </a:extLst>
          </p:cNvPr>
          <p:cNvSpPr txBox="1"/>
          <p:nvPr/>
        </p:nvSpPr>
        <p:spPr>
          <a:xfrm>
            <a:off x="210207" y="517179"/>
            <a:ext cx="4214648" cy="6408421"/>
          </a:xfrm>
          <a:prstGeom prst="rect">
            <a:avLst/>
          </a:prstGeom>
          <a:noFill/>
        </p:spPr>
        <p:txBody>
          <a:bodyPr wrap="square" rtlCol="0">
            <a:spAutoFit/>
          </a:bodyPr>
          <a:lstStyle/>
          <a:p>
            <a:pPr>
              <a:lnSpc>
                <a:spcPct val="150000"/>
              </a:lnSpc>
            </a:pPr>
            <a:r>
              <a:rPr lang="en-US" sz="2300" b="1" dirty="0">
                <a:highlight>
                  <a:srgbClr val="00FF00"/>
                </a:highlight>
                <a:latin typeface="Calibri" panose="020F0502020204030204" pitchFamily="34" charset="0"/>
                <a:cs typeface="Calibri" panose="020F0502020204030204" pitchFamily="34" charset="0"/>
              </a:rPr>
              <a:t>Project 1: Creating a Template with a Semantic Wireframe</a:t>
            </a:r>
            <a:endParaRPr lang="en-AU" sz="2300" b="1" dirty="0">
              <a:highlight>
                <a:srgbClr val="00FF00"/>
              </a:highlight>
              <a:latin typeface="Calibri" panose="020F0502020204030204" pitchFamily="34" charset="0"/>
              <a:cs typeface="Calibri" panose="020F0502020204030204" pitchFamily="34" charset="0"/>
            </a:endParaRPr>
          </a:p>
          <a:p>
            <a:pPr marL="457200" indent="-457200">
              <a:lnSpc>
                <a:spcPct val="150000"/>
              </a:lnSpc>
              <a:buAutoNum type="arabicPeriod"/>
            </a:pPr>
            <a:r>
              <a:rPr lang="en-US" sz="2300" b="1" dirty="0">
                <a:latin typeface="Calibri" panose="020F0502020204030204" pitchFamily="34" charset="0"/>
                <a:cs typeface="Calibri" panose="020F0502020204030204" pitchFamily="34" charset="0"/>
              </a:rPr>
              <a:t>HTML Tags Entry: </a:t>
            </a:r>
            <a:r>
              <a:rPr lang="en-US" sz="2300" dirty="0">
                <a:latin typeface="Calibri" panose="020F0502020204030204" pitchFamily="34" charset="0"/>
                <a:cs typeface="Calibri" panose="020F0502020204030204" pitchFamily="34" charset="0"/>
              </a:rPr>
              <a:t>Use an HTML editor to enter HTML tags for creating a webpage template with semantic HTML5 structural tags.</a:t>
            </a:r>
          </a:p>
          <a:p>
            <a:pPr marL="800100" lvl="1" indent="-342900">
              <a:lnSpc>
                <a:spcPct val="150000"/>
              </a:lnSpc>
              <a:buFont typeface="Arial" panose="020B0604020202020204" pitchFamily="34" charset="0"/>
              <a:buChar char="•"/>
            </a:pPr>
            <a:r>
              <a:rPr lang="en-US" sz="2300" dirty="0">
                <a:latin typeface="Calibri" panose="020F0502020204030204" pitchFamily="34" charset="0"/>
                <a:cs typeface="Calibri" panose="020F0502020204030204" pitchFamily="34" charset="0"/>
              </a:rPr>
              <a:t>You will need to input HTML tags as specified in the document and use indents to make the code readable.</a:t>
            </a:r>
            <a:endParaRPr lang="en-AU" sz="23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51173890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1">
            <a:extLst>
              <a:ext uri="{FF2B5EF4-FFF2-40B4-BE49-F238E27FC236}">
                <a16:creationId xmlns:a16="http://schemas.microsoft.com/office/drawing/2014/main" id="{5522D24B-A336-7B80-A6A7-844E92DE8834}"/>
              </a:ext>
            </a:extLst>
          </p:cNvPr>
          <p:cNvSpPr>
            <a:spLocks noChangeArrowheads="1"/>
          </p:cNvSpPr>
          <p:nvPr/>
        </p:nvSpPr>
        <p:spPr bwMode="auto">
          <a:xfrm>
            <a:off x="0" y="-138499"/>
            <a:ext cx="65" cy="27699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1" name="TextBox 10">
            <a:extLst>
              <a:ext uri="{FF2B5EF4-FFF2-40B4-BE49-F238E27FC236}">
                <a16:creationId xmlns:a16="http://schemas.microsoft.com/office/drawing/2014/main" id="{20D88088-BECB-AB4B-7F6E-D4DAA06E2E3A}"/>
              </a:ext>
            </a:extLst>
          </p:cNvPr>
          <p:cNvSpPr txBox="1"/>
          <p:nvPr/>
        </p:nvSpPr>
        <p:spPr>
          <a:xfrm>
            <a:off x="231229" y="430887"/>
            <a:ext cx="10983310" cy="3753848"/>
          </a:xfrm>
          <a:prstGeom prst="rect">
            <a:avLst/>
          </a:prstGeom>
          <a:noFill/>
        </p:spPr>
        <p:txBody>
          <a:bodyPr wrap="square" rtlCol="0">
            <a:spAutoFit/>
          </a:bodyPr>
          <a:lstStyle/>
          <a:p>
            <a:pPr>
              <a:lnSpc>
                <a:spcPct val="150000"/>
              </a:lnSpc>
            </a:pPr>
            <a:r>
              <a:rPr lang="en-AU" sz="2300" b="1" dirty="0">
                <a:latin typeface="Calibri" panose="020F0502020204030204" pitchFamily="34" charset="0"/>
                <a:cs typeface="Calibri" panose="020F0502020204030204" pitchFamily="34" charset="0"/>
              </a:rPr>
              <a:t>2.  Title Element Research:</a:t>
            </a:r>
          </a:p>
          <a:p>
            <a:pPr>
              <a:lnSpc>
                <a:spcPct val="150000"/>
              </a:lnSpc>
            </a:pPr>
            <a:r>
              <a:rPr lang="en-AU" sz="2300" dirty="0">
                <a:latin typeface="Calibri" panose="020F0502020204030204" pitchFamily="34" charset="0"/>
                <a:cs typeface="Calibri" panose="020F0502020204030204" pitchFamily="34" charset="0"/>
              </a:rPr>
              <a:t>Utilise a search engine to understand the &lt;‘title’&gt; element and document findings as HTML comments. </a:t>
            </a:r>
            <a:r>
              <a:rPr lang="en-US" sz="2300" dirty="0">
                <a:latin typeface="Calibri" panose="020F0502020204030204" pitchFamily="34" charset="0"/>
                <a:cs typeface="Calibri" panose="020F0502020204030204" pitchFamily="34" charset="0"/>
              </a:rPr>
              <a:t>You need to research what a title element is and its importance for a web page.</a:t>
            </a:r>
          </a:p>
          <a:p>
            <a:pPr>
              <a:lnSpc>
                <a:spcPct val="150000"/>
              </a:lnSpc>
            </a:pPr>
            <a:r>
              <a:rPr lang="en-US" sz="2300" b="1" dirty="0">
                <a:latin typeface="Calibri" panose="020F0502020204030204" pitchFamily="34" charset="0"/>
                <a:cs typeface="Calibri" panose="020F0502020204030204" pitchFamily="34" charset="0"/>
              </a:rPr>
              <a:t>3.  Applying Research:</a:t>
            </a:r>
          </a:p>
          <a:p>
            <a:pPr>
              <a:lnSpc>
                <a:spcPct val="150000"/>
              </a:lnSpc>
            </a:pPr>
            <a:r>
              <a:rPr lang="en-US" sz="2300" dirty="0">
                <a:latin typeface="Calibri" panose="020F0502020204030204" pitchFamily="34" charset="0"/>
                <a:cs typeface="Calibri" panose="020F0502020204030204" pitchFamily="34" charset="0"/>
              </a:rPr>
              <a:t>Save the webpage addresses used for research in the apply02.docx document.</a:t>
            </a:r>
          </a:p>
          <a:p>
            <a:pPr marL="630238" indent="-273050">
              <a:lnSpc>
                <a:spcPct val="150000"/>
              </a:lnSpc>
              <a:buFont typeface="Arial" panose="020B0604020202020204" pitchFamily="34" charset="0"/>
              <a:buChar char="•"/>
            </a:pPr>
            <a:r>
              <a:rPr lang="en-US" sz="2300" dirty="0">
                <a:latin typeface="Calibri" panose="020F0502020204030204" pitchFamily="34" charset="0"/>
                <a:cs typeface="Calibri" panose="020F0502020204030204" pitchFamily="34" charset="0"/>
              </a:rPr>
              <a:t>This involves documenting sources of your research for future reference or validation.</a:t>
            </a:r>
            <a:endParaRPr lang="en-AU" sz="2300" dirty="0">
              <a:latin typeface="Calibri" panose="020F0502020204030204" pitchFamily="34" charset="0"/>
              <a:cs typeface="Calibri" panose="020F0502020204030204" pitchFamily="34" charset="0"/>
            </a:endParaRPr>
          </a:p>
        </p:txBody>
      </p:sp>
      <p:sp>
        <p:nvSpPr>
          <p:cNvPr id="12" name="TextBox 11">
            <a:extLst>
              <a:ext uri="{FF2B5EF4-FFF2-40B4-BE49-F238E27FC236}">
                <a16:creationId xmlns:a16="http://schemas.microsoft.com/office/drawing/2014/main" id="{5733AB14-2F20-1259-D652-884A8D3DC3C0}"/>
              </a:ext>
            </a:extLst>
          </p:cNvPr>
          <p:cNvSpPr txBox="1"/>
          <p:nvPr/>
        </p:nvSpPr>
        <p:spPr>
          <a:xfrm>
            <a:off x="94592" y="0"/>
            <a:ext cx="12097407" cy="430887"/>
          </a:xfrm>
          <a:prstGeom prst="rect">
            <a:avLst/>
          </a:prstGeom>
          <a:noFill/>
        </p:spPr>
        <p:txBody>
          <a:bodyPr wrap="square" rtlCol="0">
            <a:spAutoFit/>
          </a:bodyPr>
          <a:lstStyle/>
          <a:p>
            <a:r>
              <a:rPr lang="en-AU" sz="2200" b="1" dirty="0">
                <a:latin typeface="Calibri" panose="020F0502020204030204" pitchFamily="34" charset="0"/>
                <a:cs typeface="Calibri" panose="020F0502020204030204" pitchFamily="34" charset="0"/>
              </a:rPr>
              <a:t>Weeks 4 - 5 Tutorial – Understanding the Main Document</a:t>
            </a:r>
          </a:p>
        </p:txBody>
      </p:sp>
    </p:spTree>
    <p:extLst>
      <p:ext uri="{BB962C8B-B14F-4D97-AF65-F5344CB8AC3E}">
        <p14:creationId xmlns:p14="http://schemas.microsoft.com/office/powerpoint/2010/main" val="259821800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1">
            <a:extLst>
              <a:ext uri="{FF2B5EF4-FFF2-40B4-BE49-F238E27FC236}">
                <a16:creationId xmlns:a16="http://schemas.microsoft.com/office/drawing/2014/main" id="{5522D24B-A336-7B80-A6A7-844E92DE8834}"/>
              </a:ext>
            </a:extLst>
          </p:cNvPr>
          <p:cNvSpPr>
            <a:spLocks noChangeArrowheads="1"/>
          </p:cNvSpPr>
          <p:nvPr/>
        </p:nvSpPr>
        <p:spPr bwMode="auto">
          <a:xfrm>
            <a:off x="0" y="-138499"/>
            <a:ext cx="65" cy="27699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1" name="TextBox 10">
            <a:extLst>
              <a:ext uri="{FF2B5EF4-FFF2-40B4-BE49-F238E27FC236}">
                <a16:creationId xmlns:a16="http://schemas.microsoft.com/office/drawing/2014/main" id="{20D88088-BECB-AB4B-7F6E-D4DAA06E2E3A}"/>
              </a:ext>
            </a:extLst>
          </p:cNvPr>
          <p:cNvSpPr txBox="1"/>
          <p:nvPr/>
        </p:nvSpPr>
        <p:spPr>
          <a:xfrm>
            <a:off x="273269" y="430887"/>
            <a:ext cx="10941270" cy="5877506"/>
          </a:xfrm>
          <a:prstGeom prst="rect">
            <a:avLst/>
          </a:prstGeom>
          <a:noFill/>
        </p:spPr>
        <p:txBody>
          <a:bodyPr wrap="square" rtlCol="0">
            <a:spAutoFit/>
          </a:bodyPr>
          <a:lstStyle/>
          <a:p>
            <a:pPr lvl="0" eaLnBrk="0" fontAlgn="base" hangingPunct="0">
              <a:lnSpc>
                <a:spcPct val="150000"/>
              </a:lnSpc>
              <a:spcBef>
                <a:spcPct val="0"/>
              </a:spcBef>
              <a:spcAft>
                <a:spcPct val="0"/>
              </a:spcAft>
            </a:pPr>
            <a:r>
              <a:rPr lang="en-US" altLang="en-US" sz="2300" b="1" dirty="0">
                <a:solidFill>
                  <a:srgbClr val="0D0D0D"/>
                </a:solidFill>
                <a:latin typeface="Calibri" panose="020F0502020204030204" pitchFamily="34" charset="0"/>
                <a:cs typeface="Calibri" panose="020F0502020204030204" pitchFamily="34" charset="0"/>
              </a:rPr>
              <a:t>4.  Semantic HTML Research</a:t>
            </a:r>
            <a:r>
              <a:rPr lang="en-US" altLang="en-US" sz="2300" dirty="0">
                <a:solidFill>
                  <a:srgbClr val="0D0D0D"/>
                </a:solidFill>
                <a:latin typeface="Calibri" panose="020F0502020204030204" pitchFamily="34" charset="0"/>
                <a:cs typeface="Calibri" panose="020F0502020204030204" pitchFamily="34" charset="0"/>
              </a:rPr>
              <a:t>: You will need to answer specific questions about semantic HTML5 elements (</a:t>
            </a:r>
            <a:r>
              <a:rPr lang="en-US" altLang="en-US" sz="2300" b="1" dirty="0">
                <a:solidFill>
                  <a:srgbClr val="0D0D0D"/>
                </a:solidFill>
                <a:latin typeface="Calibri" panose="020F0502020204030204" pitchFamily="34" charset="0"/>
                <a:cs typeface="Calibri" panose="020F0502020204030204" pitchFamily="34" charset="0"/>
              </a:rPr>
              <a:t>header</a:t>
            </a:r>
            <a:r>
              <a:rPr lang="en-US" altLang="en-US" sz="2300" dirty="0">
                <a:solidFill>
                  <a:srgbClr val="0D0D0D"/>
                </a:solidFill>
                <a:latin typeface="Calibri" panose="020F0502020204030204" pitchFamily="34" charset="0"/>
                <a:cs typeface="Calibri" panose="020F0502020204030204" pitchFamily="34" charset="0"/>
              </a:rPr>
              <a:t>, </a:t>
            </a:r>
            <a:r>
              <a:rPr lang="en-US" altLang="en-US" sz="2300" b="1" dirty="0">
                <a:solidFill>
                  <a:srgbClr val="0D0D0D"/>
                </a:solidFill>
                <a:latin typeface="Calibri" panose="020F0502020204030204" pitchFamily="34" charset="0"/>
                <a:cs typeface="Calibri" panose="020F0502020204030204" pitchFamily="34" charset="0"/>
              </a:rPr>
              <a:t>nav</a:t>
            </a:r>
            <a:r>
              <a:rPr lang="en-US" altLang="en-US" sz="2300" dirty="0">
                <a:solidFill>
                  <a:srgbClr val="0D0D0D"/>
                </a:solidFill>
                <a:latin typeface="Calibri" panose="020F0502020204030204" pitchFamily="34" charset="0"/>
                <a:cs typeface="Calibri" panose="020F0502020204030204" pitchFamily="34" charset="0"/>
              </a:rPr>
              <a:t>, </a:t>
            </a:r>
            <a:r>
              <a:rPr lang="en-US" altLang="en-US" sz="2300" b="1" dirty="0">
                <a:solidFill>
                  <a:srgbClr val="0D0D0D"/>
                </a:solidFill>
                <a:latin typeface="Calibri" panose="020F0502020204030204" pitchFamily="34" charset="0"/>
                <a:cs typeface="Calibri" panose="020F0502020204030204" pitchFamily="34" charset="0"/>
              </a:rPr>
              <a:t>main</a:t>
            </a:r>
            <a:r>
              <a:rPr lang="en-US" altLang="en-US" sz="2300" dirty="0">
                <a:solidFill>
                  <a:srgbClr val="0D0D0D"/>
                </a:solidFill>
                <a:latin typeface="Calibri" panose="020F0502020204030204" pitchFamily="34" charset="0"/>
                <a:cs typeface="Calibri" panose="020F0502020204030204" pitchFamily="34" charset="0"/>
              </a:rPr>
              <a:t>, </a:t>
            </a:r>
            <a:r>
              <a:rPr lang="en-US" altLang="en-US" sz="2300" b="1" dirty="0">
                <a:solidFill>
                  <a:srgbClr val="0D0D0D"/>
                </a:solidFill>
                <a:latin typeface="Calibri" panose="020F0502020204030204" pitchFamily="34" charset="0"/>
                <a:cs typeface="Calibri" panose="020F0502020204030204" pitchFamily="34" charset="0"/>
              </a:rPr>
              <a:t>footer</a:t>
            </a:r>
            <a:r>
              <a:rPr lang="en-US" altLang="en-US" sz="2300" dirty="0">
                <a:solidFill>
                  <a:srgbClr val="0D0D0D"/>
                </a:solidFill>
                <a:latin typeface="Calibri" panose="020F0502020204030204" pitchFamily="34" charset="0"/>
                <a:cs typeface="Calibri" panose="020F0502020204030204" pitchFamily="34" charset="0"/>
              </a:rPr>
              <a:t>) using a search engine.</a:t>
            </a:r>
          </a:p>
          <a:p>
            <a:pPr lvl="1" eaLnBrk="0" fontAlgn="base" hangingPunct="0">
              <a:lnSpc>
                <a:spcPct val="150000"/>
              </a:lnSpc>
              <a:spcBef>
                <a:spcPct val="0"/>
              </a:spcBef>
              <a:spcAft>
                <a:spcPct val="0"/>
              </a:spcAft>
              <a:buFontTx/>
              <a:buChar char="•"/>
            </a:pPr>
            <a:r>
              <a:rPr lang="en-US" altLang="en-US" sz="2300" dirty="0">
                <a:solidFill>
                  <a:srgbClr val="0D0D0D"/>
                </a:solidFill>
                <a:latin typeface="Calibri" panose="020F0502020204030204" pitchFamily="34" charset="0"/>
                <a:cs typeface="Calibri" panose="020F0502020204030204" pitchFamily="34" charset="0"/>
              </a:rPr>
              <a:t> This will require you to understand what each tag represents and its role in the structure of a webpage.</a:t>
            </a:r>
          </a:p>
          <a:p>
            <a:pPr lvl="0" eaLnBrk="0" fontAlgn="base" hangingPunct="0">
              <a:lnSpc>
                <a:spcPct val="150000"/>
              </a:lnSpc>
              <a:spcBef>
                <a:spcPct val="0"/>
              </a:spcBef>
              <a:spcAft>
                <a:spcPct val="0"/>
              </a:spcAft>
            </a:pPr>
            <a:r>
              <a:rPr lang="en-US" altLang="en-US" sz="2300" b="1" dirty="0">
                <a:solidFill>
                  <a:srgbClr val="0D0D0D"/>
                </a:solidFill>
                <a:latin typeface="Calibri" panose="020F0502020204030204" pitchFamily="34" charset="0"/>
                <a:cs typeface="Calibri" panose="020F0502020204030204" pitchFamily="34" charset="0"/>
              </a:rPr>
              <a:t>5.  HTML Commenting</a:t>
            </a:r>
            <a:r>
              <a:rPr lang="en-US" altLang="en-US" sz="2300" dirty="0">
                <a:solidFill>
                  <a:srgbClr val="0D0D0D"/>
                </a:solidFill>
                <a:latin typeface="Calibri" panose="020F0502020204030204" pitchFamily="34" charset="0"/>
                <a:cs typeface="Calibri" panose="020F0502020204030204" pitchFamily="34" charset="0"/>
              </a:rPr>
              <a:t>: Replace comments with researched answers in the </a:t>
            </a:r>
            <a:r>
              <a:rPr lang="en-US" altLang="en-US" sz="2300" b="1" dirty="0">
                <a:solidFill>
                  <a:srgbClr val="0D0D0D"/>
                </a:solidFill>
                <a:latin typeface="Calibri" panose="020F0502020204030204" pitchFamily="34" charset="0"/>
                <a:cs typeface="Calibri" panose="020F0502020204030204" pitchFamily="34" charset="0"/>
              </a:rPr>
              <a:t>template02.html</a:t>
            </a:r>
            <a:r>
              <a:rPr lang="en-US" altLang="en-US" sz="2300" dirty="0">
                <a:solidFill>
                  <a:srgbClr val="0D0D0D"/>
                </a:solidFill>
                <a:latin typeface="Calibri" panose="020F0502020204030204" pitchFamily="34" charset="0"/>
                <a:cs typeface="Calibri" panose="020F0502020204030204" pitchFamily="34" charset="0"/>
              </a:rPr>
              <a:t> document.</a:t>
            </a:r>
          </a:p>
          <a:p>
            <a:pPr lvl="1" eaLnBrk="0" fontAlgn="base" hangingPunct="0">
              <a:lnSpc>
                <a:spcPct val="150000"/>
              </a:lnSpc>
              <a:spcBef>
                <a:spcPct val="0"/>
              </a:spcBef>
              <a:spcAft>
                <a:spcPct val="0"/>
              </a:spcAft>
              <a:buFontTx/>
              <a:buChar char="•"/>
            </a:pPr>
            <a:r>
              <a:rPr lang="en-US" altLang="en-US" sz="2300" dirty="0">
                <a:solidFill>
                  <a:srgbClr val="0D0D0D"/>
                </a:solidFill>
                <a:latin typeface="Calibri" panose="020F0502020204030204" pitchFamily="34" charset="0"/>
                <a:cs typeface="Calibri" panose="020F0502020204030204" pitchFamily="34" charset="0"/>
              </a:rPr>
              <a:t> You will replace placeholder comments with the appropriate explanations as HTML comments.</a:t>
            </a:r>
          </a:p>
          <a:p>
            <a:pPr lvl="0" eaLnBrk="0" fontAlgn="base" hangingPunct="0">
              <a:lnSpc>
                <a:spcPct val="150000"/>
              </a:lnSpc>
              <a:spcBef>
                <a:spcPct val="0"/>
              </a:spcBef>
              <a:spcAft>
                <a:spcPct val="0"/>
              </a:spcAft>
            </a:pPr>
            <a:r>
              <a:rPr lang="en-US" altLang="en-US" sz="2300" b="1" dirty="0">
                <a:solidFill>
                  <a:srgbClr val="0D0D0D"/>
                </a:solidFill>
                <a:latin typeface="Calibri" panose="020F0502020204030204" pitchFamily="34" charset="0"/>
                <a:cs typeface="Calibri" panose="020F0502020204030204" pitchFamily="34" charset="0"/>
              </a:rPr>
              <a:t>6.  Validation with W3C</a:t>
            </a:r>
            <a:r>
              <a:rPr lang="en-US" altLang="en-US" sz="2300" dirty="0">
                <a:solidFill>
                  <a:srgbClr val="0D0D0D"/>
                </a:solidFill>
                <a:latin typeface="Calibri" panose="020F0502020204030204" pitchFamily="34" charset="0"/>
                <a:cs typeface="Calibri" panose="020F0502020204030204" pitchFamily="34" charset="0"/>
              </a:rPr>
              <a:t>: Validate the </a:t>
            </a:r>
            <a:r>
              <a:rPr lang="en-US" altLang="en-US" sz="2300" b="1" dirty="0">
                <a:solidFill>
                  <a:srgbClr val="0D0D0D"/>
                </a:solidFill>
                <a:latin typeface="Calibri" panose="020F0502020204030204" pitchFamily="34" charset="0"/>
                <a:cs typeface="Calibri" panose="020F0502020204030204" pitchFamily="34" charset="0"/>
              </a:rPr>
              <a:t>template02.html</a:t>
            </a:r>
            <a:r>
              <a:rPr lang="en-US" altLang="en-US" sz="2300" dirty="0">
                <a:solidFill>
                  <a:srgbClr val="0D0D0D"/>
                </a:solidFill>
                <a:latin typeface="Calibri" panose="020F0502020204030204" pitchFamily="34" charset="0"/>
                <a:cs typeface="Calibri" panose="020F0502020204030204" pitchFamily="34" charset="0"/>
              </a:rPr>
              <a:t> document using W3C validator and correct any issues.</a:t>
            </a:r>
          </a:p>
          <a:p>
            <a:pPr lvl="1" eaLnBrk="0" fontAlgn="base" hangingPunct="0">
              <a:lnSpc>
                <a:spcPct val="150000"/>
              </a:lnSpc>
              <a:spcBef>
                <a:spcPct val="0"/>
              </a:spcBef>
              <a:spcAft>
                <a:spcPct val="0"/>
              </a:spcAft>
              <a:buFontTx/>
              <a:buChar char="•"/>
            </a:pPr>
            <a:r>
              <a:rPr lang="en-US" altLang="en-US" sz="2300" dirty="0">
                <a:solidFill>
                  <a:srgbClr val="0D0D0D"/>
                </a:solidFill>
                <a:latin typeface="Calibri" panose="020F0502020204030204" pitchFamily="34" charset="0"/>
                <a:cs typeface="Calibri" panose="020F0502020204030204" pitchFamily="34" charset="0"/>
              </a:rPr>
              <a:t>This step ensures that the HTML code adheres to current web standards.</a:t>
            </a:r>
            <a:endParaRPr lang="en-US" altLang="en-US" sz="2300" dirty="0">
              <a:latin typeface="Calibri" panose="020F0502020204030204" pitchFamily="34" charset="0"/>
              <a:cs typeface="Calibri" panose="020F0502020204030204" pitchFamily="34" charset="0"/>
            </a:endParaRPr>
          </a:p>
        </p:txBody>
      </p:sp>
      <p:sp>
        <p:nvSpPr>
          <p:cNvPr id="12" name="TextBox 11">
            <a:extLst>
              <a:ext uri="{FF2B5EF4-FFF2-40B4-BE49-F238E27FC236}">
                <a16:creationId xmlns:a16="http://schemas.microsoft.com/office/drawing/2014/main" id="{5733AB14-2F20-1259-D652-884A8D3DC3C0}"/>
              </a:ext>
            </a:extLst>
          </p:cNvPr>
          <p:cNvSpPr txBox="1"/>
          <p:nvPr/>
        </p:nvSpPr>
        <p:spPr>
          <a:xfrm>
            <a:off x="94592" y="0"/>
            <a:ext cx="12097407" cy="430887"/>
          </a:xfrm>
          <a:prstGeom prst="rect">
            <a:avLst/>
          </a:prstGeom>
          <a:noFill/>
        </p:spPr>
        <p:txBody>
          <a:bodyPr wrap="square" rtlCol="0">
            <a:spAutoFit/>
          </a:bodyPr>
          <a:lstStyle/>
          <a:p>
            <a:r>
              <a:rPr lang="en-AU" sz="2200" b="1" dirty="0">
                <a:latin typeface="Calibri" panose="020F0502020204030204" pitchFamily="34" charset="0"/>
                <a:cs typeface="Calibri" panose="020F0502020204030204" pitchFamily="34" charset="0"/>
              </a:rPr>
              <a:t>Weeks 4 - 5 Tutorial – Understanding the Main Document</a:t>
            </a:r>
          </a:p>
        </p:txBody>
      </p:sp>
      <p:sp>
        <p:nvSpPr>
          <p:cNvPr id="2" name="Rectangle 1">
            <a:extLst>
              <a:ext uri="{FF2B5EF4-FFF2-40B4-BE49-F238E27FC236}">
                <a16:creationId xmlns:a16="http://schemas.microsoft.com/office/drawing/2014/main" id="{2A8CB516-F3FB-BD0B-9386-2B88BFB0B764}"/>
              </a:ext>
            </a:extLst>
          </p:cNvPr>
          <p:cNvSpPr>
            <a:spLocks noChangeArrowheads="1"/>
          </p:cNvSpPr>
          <p:nvPr/>
        </p:nvSpPr>
        <p:spPr bwMode="auto">
          <a:xfrm>
            <a:off x="0" y="-138499"/>
            <a:ext cx="65" cy="27699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4" name="Rectangle 2">
            <a:extLst>
              <a:ext uri="{FF2B5EF4-FFF2-40B4-BE49-F238E27FC236}">
                <a16:creationId xmlns:a16="http://schemas.microsoft.com/office/drawing/2014/main" id="{2C7FC75C-996C-A3D5-1D51-9F095148264C}"/>
              </a:ext>
            </a:extLst>
          </p:cNvPr>
          <p:cNvSpPr>
            <a:spLocks noChangeArrowheads="1"/>
          </p:cNvSpPr>
          <p:nvPr/>
        </p:nvSpPr>
        <p:spPr bwMode="auto">
          <a:xfrm>
            <a:off x="0" y="-138499"/>
            <a:ext cx="65" cy="27699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42273193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298D0B0D-BA55-0C51-2295-E2BFCD9675BF}"/>
              </a:ext>
            </a:extLst>
          </p:cNvPr>
          <p:cNvSpPr txBox="1"/>
          <p:nvPr/>
        </p:nvSpPr>
        <p:spPr>
          <a:xfrm>
            <a:off x="210207" y="517179"/>
            <a:ext cx="11151476" cy="5346592"/>
          </a:xfrm>
          <a:prstGeom prst="rect">
            <a:avLst/>
          </a:prstGeom>
          <a:noFill/>
        </p:spPr>
        <p:txBody>
          <a:bodyPr wrap="square" rtlCol="0">
            <a:spAutoFit/>
          </a:bodyPr>
          <a:lstStyle/>
          <a:p>
            <a:pPr>
              <a:lnSpc>
                <a:spcPct val="150000"/>
              </a:lnSpc>
            </a:pPr>
            <a:r>
              <a:rPr lang="en-US" sz="2300" b="1" dirty="0">
                <a:highlight>
                  <a:srgbClr val="00FF00"/>
                </a:highlight>
                <a:latin typeface="Calibri" panose="020F0502020204030204" pitchFamily="34" charset="0"/>
                <a:cs typeface="Calibri" panose="020F0502020204030204" pitchFamily="34" charset="0"/>
              </a:rPr>
              <a:t>Project 2: Styling a Webpage</a:t>
            </a:r>
          </a:p>
          <a:p>
            <a:pPr lvl="0" eaLnBrk="0" fontAlgn="base" hangingPunct="0">
              <a:lnSpc>
                <a:spcPct val="150000"/>
              </a:lnSpc>
              <a:spcBef>
                <a:spcPct val="0"/>
              </a:spcBef>
              <a:spcAft>
                <a:spcPct val="0"/>
              </a:spcAft>
              <a:buFontTx/>
              <a:buAutoNum type="arabicPeriod"/>
            </a:pPr>
            <a:r>
              <a:rPr lang="en-US" altLang="en-US" sz="2300" b="1" dirty="0">
                <a:solidFill>
                  <a:srgbClr val="0D0D0D"/>
                </a:solidFill>
                <a:latin typeface="Calibri" panose="020F0502020204030204" pitchFamily="34" charset="0"/>
                <a:cs typeface="Calibri" panose="020F0502020204030204" pitchFamily="34" charset="0"/>
              </a:rPr>
              <a:t> CSS Styling</a:t>
            </a:r>
            <a:r>
              <a:rPr lang="en-US" altLang="en-US" sz="2300" dirty="0">
                <a:solidFill>
                  <a:srgbClr val="0D0D0D"/>
                </a:solidFill>
                <a:latin typeface="Calibri" panose="020F0502020204030204" pitchFamily="34" charset="0"/>
                <a:cs typeface="Calibri" panose="020F0502020204030204" pitchFamily="34" charset="0"/>
              </a:rPr>
              <a:t>: Create styles for the semantic wireframe sections (</a:t>
            </a:r>
            <a:r>
              <a:rPr lang="en-US" altLang="en-US" sz="2300" b="1" dirty="0">
                <a:solidFill>
                  <a:srgbClr val="0D0D0D"/>
                </a:solidFill>
                <a:latin typeface="Calibri" panose="020F0502020204030204" pitchFamily="34" charset="0"/>
                <a:cs typeface="Calibri" panose="020F0502020204030204" pitchFamily="34" charset="0"/>
              </a:rPr>
              <a:t>header</a:t>
            </a:r>
            <a:r>
              <a:rPr lang="en-US" altLang="en-US" sz="2300" dirty="0">
                <a:solidFill>
                  <a:srgbClr val="0D0D0D"/>
                </a:solidFill>
                <a:latin typeface="Calibri" panose="020F0502020204030204" pitchFamily="34" charset="0"/>
                <a:cs typeface="Calibri" panose="020F0502020204030204" pitchFamily="34" charset="0"/>
              </a:rPr>
              <a:t>, </a:t>
            </a:r>
            <a:r>
              <a:rPr lang="en-US" altLang="en-US" sz="2300" b="1" dirty="0">
                <a:solidFill>
                  <a:srgbClr val="0D0D0D"/>
                </a:solidFill>
                <a:latin typeface="Calibri" panose="020F0502020204030204" pitchFamily="34" charset="0"/>
                <a:cs typeface="Calibri" panose="020F0502020204030204" pitchFamily="34" charset="0"/>
              </a:rPr>
              <a:t>nav</a:t>
            </a:r>
            <a:r>
              <a:rPr lang="en-US" altLang="en-US" sz="2300" dirty="0">
                <a:solidFill>
                  <a:srgbClr val="0D0D0D"/>
                </a:solidFill>
                <a:latin typeface="Calibri" panose="020F0502020204030204" pitchFamily="34" charset="0"/>
                <a:cs typeface="Calibri" panose="020F0502020204030204" pitchFamily="34" charset="0"/>
              </a:rPr>
              <a:t>, </a:t>
            </a:r>
            <a:r>
              <a:rPr lang="en-US" altLang="en-US" sz="2300" b="1" dirty="0">
                <a:solidFill>
                  <a:srgbClr val="0D0D0D"/>
                </a:solidFill>
                <a:latin typeface="Calibri" panose="020F0502020204030204" pitchFamily="34" charset="0"/>
                <a:cs typeface="Calibri" panose="020F0502020204030204" pitchFamily="34" charset="0"/>
              </a:rPr>
              <a:t>main</a:t>
            </a:r>
            <a:r>
              <a:rPr lang="en-US" altLang="en-US" sz="2300" dirty="0">
                <a:solidFill>
                  <a:srgbClr val="0D0D0D"/>
                </a:solidFill>
                <a:latin typeface="Calibri" panose="020F0502020204030204" pitchFamily="34" charset="0"/>
                <a:cs typeface="Calibri" panose="020F0502020204030204" pitchFamily="34" charset="0"/>
              </a:rPr>
              <a:t>, </a:t>
            </a:r>
            <a:r>
              <a:rPr lang="en-US" altLang="en-US" sz="2300" b="1" dirty="0">
                <a:solidFill>
                  <a:srgbClr val="0D0D0D"/>
                </a:solidFill>
                <a:latin typeface="Calibri" panose="020F0502020204030204" pitchFamily="34" charset="0"/>
                <a:cs typeface="Calibri" panose="020F0502020204030204" pitchFamily="34" charset="0"/>
              </a:rPr>
              <a:t>footer</a:t>
            </a:r>
            <a:r>
              <a:rPr lang="en-US" altLang="en-US" sz="2300" dirty="0">
                <a:solidFill>
                  <a:srgbClr val="0D0D0D"/>
                </a:solidFill>
                <a:latin typeface="Calibri" panose="020F0502020204030204" pitchFamily="34" charset="0"/>
                <a:cs typeface="Calibri" panose="020F0502020204030204" pitchFamily="34" charset="0"/>
              </a:rPr>
              <a:t>) and a </a:t>
            </a:r>
            <a:r>
              <a:rPr lang="en-US" altLang="en-US" sz="2300" b="1" dirty="0">
                <a:solidFill>
                  <a:srgbClr val="0D0D0D"/>
                </a:solidFill>
                <a:latin typeface="Calibri" panose="020F0502020204030204" pitchFamily="34" charset="0"/>
                <a:cs typeface="Calibri" panose="020F0502020204030204" pitchFamily="34" charset="0"/>
              </a:rPr>
              <a:t>div</a:t>
            </a:r>
            <a:r>
              <a:rPr lang="en-US" altLang="en-US" sz="2300" dirty="0">
                <a:solidFill>
                  <a:srgbClr val="0D0D0D"/>
                </a:solidFill>
                <a:latin typeface="Calibri" panose="020F0502020204030204" pitchFamily="34" charset="0"/>
                <a:cs typeface="Calibri" panose="020F0502020204030204" pitchFamily="34" charset="0"/>
              </a:rPr>
              <a:t> element.</a:t>
            </a:r>
          </a:p>
          <a:p>
            <a:pPr lvl="1" eaLnBrk="0" fontAlgn="base" hangingPunct="0">
              <a:lnSpc>
                <a:spcPct val="150000"/>
              </a:lnSpc>
              <a:spcBef>
                <a:spcPct val="0"/>
              </a:spcBef>
              <a:spcAft>
                <a:spcPct val="0"/>
              </a:spcAft>
              <a:buFontTx/>
              <a:buChar char="•"/>
            </a:pPr>
            <a:r>
              <a:rPr lang="en-US" altLang="en-US" sz="2300" dirty="0">
                <a:solidFill>
                  <a:srgbClr val="0D0D0D"/>
                </a:solidFill>
                <a:latin typeface="Calibri" panose="020F0502020204030204" pitchFamily="34" charset="0"/>
                <a:cs typeface="Calibri" panose="020F0502020204030204" pitchFamily="34" charset="0"/>
              </a:rPr>
              <a:t> You will create an external stylesheet, link it to the HTML document, and apply styles as instructed.</a:t>
            </a:r>
          </a:p>
          <a:p>
            <a:pPr lvl="0" eaLnBrk="0" fontAlgn="base" hangingPunct="0">
              <a:lnSpc>
                <a:spcPct val="150000"/>
              </a:lnSpc>
              <a:spcBef>
                <a:spcPct val="0"/>
              </a:spcBef>
              <a:spcAft>
                <a:spcPct val="0"/>
              </a:spcAft>
              <a:buFontTx/>
              <a:buAutoNum type="arabicPeriod" startAt="2"/>
            </a:pPr>
            <a:r>
              <a:rPr lang="en-US" altLang="en-US" sz="2300" b="1" dirty="0">
                <a:solidFill>
                  <a:srgbClr val="0D0D0D"/>
                </a:solidFill>
                <a:latin typeface="Calibri" panose="020F0502020204030204" pitchFamily="34" charset="0"/>
                <a:cs typeface="Calibri" panose="020F0502020204030204" pitchFamily="34" charset="0"/>
              </a:rPr>
              <a:t> Centering Content</a:t>
            </a:r>
            <a:r>
              <a:rPr lang="en-US" altLang="en-US" sz="2300" dirty="0">
                <a:solidFill>
                  <a:srgbClr val="0D0D0D"/>
                </a:solidFill>
                <a:latin typeface="Calibri" panose="020F0502020204030204" pitchFamily="34" charset="0"/>
                <a:cs typeface="Calibri" panose="020F0502020204030204" pitchFamily="34" charset="0"/>
              </a:rPr>
              <a:t>: Use CSS to center content within a </a:t>
            </a:r>
            <a:r>
              <a:rPr lang="en-US" altLang="en-US" sz="2300" b="1" dirty="0">
                <a:solidFill>
                  <a:srgbClr val="0D0D0D"/>
                </a:solidFill>
                <a:latin typeface="Calibri" panose="020F0502020204030204" pitchFamily="34" charset="0"/>
                <a:cs typeface="Calibri" panose="020F0502020204030204" pitchFamily="34" charset="0"/>
              </a:rPr>
              <a:t>div</a:t>
            </a:r>
            <a:r>
              <a:rPr lang="en-US" altLang="en-US" sz="2300" dirty="0">
                <a:solidFill>
                  <a:srgbClr val="0D0D0D"/>
                </a:solidFill>
                <a:latin typeface="Calibri" panose="020F0502020204030204" pitchFamily="34" charset="0"/>
                <a:cs typeface="Calibri" panose="020F0502020204030204" pitchFamily="34" charset="0"/>
              </a:rPr>
              <a:t> wrapper.</a:t>
            </a:r>
          </a:p>
          <a:p>
            <a:pPr lvl="1" eaLnBrk="0" fontAlgn="base" hangingPunct="0">
              <a:lnSpc>
                <a:spcPct val="150000"/>
              </a:lnSpc>
              <a:spcBef>
                <a:spcPct val="0"/>
              </a:spcBef>
              <a:spcAft>
                <a:spcPct val="0"/>
              </a:spcAft>
              <a:buFontTx/>
              <a:buChar char="•"/>
            </a:pPr>
            <a:r>
              <a:rPr lang="en-US" altLang="en-US" sz="2300" dirty="0">
                <a:solidFill>
                  <a:srgbClr val="0D0D0D"/>
                </a:solidFill>
                <a:latin typeface="Calibri" panose="020F0502020204030204" pitchFamily="34" charset="0"/>
                <a:cs typeface="Calibri" panose="020F0502020204030204" pitchFamily="34" charset="0"/>
              </a:rPr>
              <a:t> A specific </a:t>
            </a:r>
            <a:r>
              <a:rPr lang="en-US" altLang="en-US" sz="2300" b="1" dirty="0">
                <a:solidFill>
                  <a:srgbClr val="0D0D0D"/>
                </a:solidFill>
                <a:latin typeface="Calibri" panose="020F0502020204030204" pitchFamily="34" charset="0"/>
                <a:cs typeface="Calibri" panose="020F0502020204030204" pitchFamily="34" charset="0"/>
              </a:rPr>
              <a:t>div</a:t>
            </a:r>
            <a:r>
              <a:rPr lang="en-US" altLang="en-US" sz="2300" dirty="0">
                <a:solidFill>
                  <a:srgbClr val="0D0D0D"/>
                </a:solidFill>
                <a:latin typeface="Calibri" panose="020F0502020204030204" pitchFamily="34" charset="0"/>
                <a:cs typeface="Calibri" panose="020F0502020204030204" pitchFamily="34" charset="0"/>
              </a:rPr>
              <a:t> with an id of </a:t>
            </a:r>
            <a:r>
              <a:rPr lang="en-US" altLang="en-US" sz="2300" b="1" dirty="0" err="1">
                <a:solidFill>
                  <a:srgbClr val="0D0D0D"/>
                </a:solidFill>
                <a:latin typeface="Calibri" panose="020F0502020204030204" pitchFamily="34" charset="0"/>
                <a:cs typeface="Calibri" panose="020F0502020204030204" pitchFamily="34" charset="0"/>
              </a:rPr>
              <a:t>outerwrapper</a:t>
            </a:r>
            <a:r>
              <a:rPr lang="en-US" altLang="en-US" sz="2300" dirty="0">
                <a:solidFill>
                  <a:srgbClr val="0D0D0D"/>
                </a:solidFill>
                <a:latin typeface="Calibri" panose="020F0502020204030204" pitchFamily="34" charset="0"/>
                <a:cs typeface="Calibri" panose="020F0502020204030204" pitchFamily="34" charset="0"/>
              </a:rPr>
              <a:t> will be styled to center the page content.</a:t>
            </a:r>
          </a:p>
          <a:p>
            <a:pPr lvl="0" eaLnBrk="0" fontAlgn="base" hangingPunct="0">
              <a:lnSpc>
                <a:spcPct val="150000"/>
              </a:lnSpc>
              <a:spcBef>
                <a:spcPct val="0"/>
              </a:spcBef>
              <a:spcAft>
                <a:spcPct val="0"/>
              </a:spcAft>
              <a:buFontTx/>
              <a:buAutoNum type="arabicPeriod" startAt="3"/>
            </a:pPr>
            <a:r>
              <a:rPr lang="en-US" altLang="en-US" sz="2300" b="1" dirty="0">
                <a:solidFill>
                  <a:srgbClr val="0D0D0D"/>
                </a:solidFill>
                <a:latin typeface="Calibri" panose="020F0502020204030204" pitchFamily="34" charset="0"/>
                <a:cs typeface="Calibri" panose="020F0502020204030204" pitchFamily="34" charset="0"/>
              </a:rPr>
              <a:t> Font Family Styling</a:t>
            </a:r>
            <a:r>
              <a:rPr lang="en-US" altLang="en-US" sz="2300" dirty="0">
                <a:solidFill>
                  <a:srgbClr val="0D0D0D"/>
                </a:solidFill>
                <a:latin typeface="Calibri" panose="020F0502020204030204" pitchFamily="34" charset="0"/>
                <a:cs typeface="Calibri" panose="020F0502020204030204" pitchFamily="34" charset="0"/>
              </a:rPr>
              <a:t>: Apply sans-serif and serif fonts to different sections of the webpage.</a:t>
            </a:r>
          </a:p>
          <a:p>
            <a:pPr lvl="1" eaLnBrk="0" fontAlgn="base" hangingPunct="0">
              <a:lnSpc>
                <a:spcPct val="150000"/>
              </a:lnSpc>
              <a:spcBef>
                <a:spcPct val="0"/>
              </a:spcBef>
              <a:spcAft>
                <a:spcPct val="0"/>
              </a:spcAft>
              <a:buFontTx/>
              <a:buChar char="•"/>
            </a:pPr>
            <a:r>
              <a:rPr lang="en-US" altLang="en-US" sz="2300" dirty="0">
                <a:solidFill>
                  <a:srgbClr val="0D0D0D"/>
                </a:solidFill>
                <a:latin typeface="Calibri" panose="020F0502020204030204" pitchFamily="34" charset="0"/>
                <a:cs typeface="Calibri" panose="020F0502020204030204" pitchFamily="34" charset="0"/>
              </a:rPr>
              <a:t> This requires understanding which font styles are appropriate for various parts of a webpage.</a:t>
            </a:r>
            <a:endParaRPr lang="en-AU" sz="2300" b="1" dirty="0">
              <a:highlight>
                <a:srgbClr val="00FF00"/>
              </a:highlight>
              <a:latin typeface="Calibri" panose="020F0502020204030204" pitchFamily="34" charset="0"/>
              <a:cs typeface="Calibri" panose="020F0502020204030204" pitchFamily="34" charset="0"/>
            </a:endParaRPr>
          </a:p>
        </p:txBody>
      </p:sp>
      <p:sp>
        <p:nvSpPr>
          <p:cNvPr id="5" name="Rectangle 1">
            <a:extLst>
              <a:ext uri="{FF2B5EF4-FFF2-40B4-BE49-F238E27FC236}">
                <a16:creationId xmlns:a16="http://schemas.microsoft.com/office/drawing/2014/main" id="{CB1693F2-5AEE-7DB3-BD87-EADE811E6000}"/>
              </a:ext>
            </a:extLst>
          </p:cNvPr>
          <p:cNvSpPr>
            <a:spLocks noChangeArrowheads="1"/>
          </p:cNvSpPr>
          <p:nvPr/>
        </p:nvSpPr>
        <p:spPr bwMode="auto">
          <a:xfrm>
            <a:off x="0" y="-138499"/>
            <a:ext cx="65" cy="27699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7740617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298D0B0D-BA55-0C51-2295-E2BFCD9675BF}"/>
              </a:ext>
            </a:extLst>
          </p:cNvPr>
          <p:cNvSpPr txBox="1"/>
          <p:nvPr/>
        </p:nvSpPr>
        <p:spPr>
          <a:xfrm>
            <a:off x="189187" y="275441"/>
            <a:ext cx="11151476" cy="5877506"/>
          </a:xfrm>
          <a:prstGeom prst="rect">
            <a:avLst/>
          </a:prstGeom>
          <a:noFill/>
        </p:spPr>
        <p:txBody>
          <a:bodyPr wrap="square" rtlCol="0">
            <a:spAutoFit/>
          </a:bodyPr>
          <a:lstStyle/>
          <a:p>
            <a:pPr>
              <a:lnSpc>
                <a:spcPct val="150000"/>
              </a:lnSpc>
            </a:pPr>
            <a:r>
              <a:rPr lang="en-US" sz="2300" b="1" dirty="0">
                <a:highlight>
                  <a:srgbClr val="00FF00"/>
                </a:highlight>
                <a:latin typeface="Calibri" panose="020F0502020204030204" pitchFamily="34" charset="0"/>
                <a:cs typeface="Calibri" panose="020F0502020204030204" pitchFamily="34" charset="0"/>
              </a:rPr>
              <a:t>Project 2: Styling a Webpage</a:t>
            </a:r>
          </a:p>
          <a:p>
            <a:pPr>
              <a:lnSpc>
                <a:spcPct val="150000"/>
              </a:lnSpc>
            </a:pPr>
            <a:r>
              <a:rPr lang="en-US" sz="2300" b="1" dirty="0">
                <a:solidFill>
                  <a:srgbClr val="0D0D0D"/>
                </a:solidFill>
                <a:highlight>
                  <a:srgbClr val="FFFFFF"/>
                </a:highlight>
                <a:latin typeface="Söhne"/>
              </a:rPr>
              <a:t>4. Image Floating</a:t>
            </a:r>
            <a:r>
              <a:rPr lang="en-US" sz="2300" dirty="0">
                <a:solidFill>
                  <a:srgbClr val="0D0D0D"/>
                </a:solidFill>
                <a:highlight>
                  <a:srgbClr val="FFFFFF"/>
                </a:highlight>
                <a:latin typeface="Söhne"/>
              </a:rPr>
              <a:t>: Float an image to the left and clear the float where necessary.</a:t>
            </a:r>
          </a:p>
          <a:p>
            <a:pPr marL="742950" lvl="1" indent="-285750">
              <a:lnSpc>
                <a:spcPct val="150000"/>
              </a:lnSpc>
              <a:buFont typeface="+mj-lt"/>
              <a:buAutoNum type="arabicPeriod"/>
            </a:pPr>
            <a:r>
              <a:rPr lang="en-US" sz="2300" dirty="0">
                <a:solidFill>
                  <a:srgbClr val="0D0D0D"/>
                </a:solidFill>
                <a:highlight>
                  <a:srgbClr val="FFFFFF"/>
                </a:highlight>
                <a:latin typeface="Söhne"/>
              </a:rPr>
              <a:t>You will learn how to manipulate text flow around images.</a:t>
            </a:r>
          </a:p>
          <a:p>
            <a:pPr>
              <a:lnSpc>
                <a:spcPct val="150000"/>
              </a:lnSpc>
            </a:pPr>
            <a:r>
              <a:rPr lang="en-US" sz="2300" b="1" dirty="0">
                <a:solidFill>
                  <a:srgbClr val="0D0D0D"/>
                </a:solidFill>
                <a:highlight>
                  <a:srgbClr val="FFFFFF"/>
                </a:highlight>
                <a:latin typeface="Söhne"/>
              </a:rPr>
              <a:t>5. Margins, Borders, and Professional Touch</a:t>
            </a:r>
            <a:r>
              <a:rPr lang="en-US" sz="2300" dirty="0">
                <a:solidFill>
                  <a:srgbClr val="0D0D0D"/>
                </a:solidFill>
                <a:highlight>
                  <a:srgbClr val="FFFFFF"/>
                </a:highlight>
                <a:latin typeface="Söhne"/>
              </a:rPr>
              <a:t>: Add margins and borders to the page elements to make the page look professional.</a:t>
            </a:r>
          </a:p>
          <a:p>
            <a:pPr marL="742950" lvl="1" indent="-285750">
              <a:lnSpc>
                <a:spcPct val="150000"/>
              </a:lnSpc>
              <a:buFont typeface="+mj-lt"/>
              <a:buAutoNum type="arabicPeriod"/>
            </a:pPr>
            <a:r>
              <a:rPr lang="en-US" sz="2300" dirty="0">
                <a:solidFill>
                  <a:srgbClr val="0D0D0D"/>
                </a:solidFill>
                <a:highlight>
                  <a:srgbClr val="FFFFFF"/>
                </a:highlight>
                <a:latin typeface="Söhne"/>
              </a:rPr>
              <a:t>This teaches the aesthetic spacing and bordering of page elements.</a:t>
            </a:r>
          </a:p>
          <a:p>
            <a:pPr>
              <a:lnSpc>
                <a:spcPct val="150000"/>
              </a:lnSpc>
            </a:pPr>
            <a:r>
              <a:rPr lang="en-US" sz="2300" b="1" dirty="0">
                <a:solidFill>
                  <a:srgbClr val="0D0D0D"/>
                </a:solidFill>
                <a:highlight>
                  <a:srgbClr val="FFFFFF"/>
                </a:highlight>
                <a:latin typeface="Söhne"/>
              </a:rPr>
              <a:t>6. Embedded and Inline Styles</a:t>
            </a:r>
            <a:r>
              <a:rPr lang="en-US" sz="2300" dirty="0">
                <a:solidFill>
                  <a:srgbClr val="0D0D0D"/>
                </a:solidFill>
                <a:highlight>
                  <a:srgbClr val="FFFFFF"/>
                </a:highlight>
                <a:latin typeface="Söhne"/>
              </a:rPr>
              <a:t>: Use different methods of CSS application (external, embedded, and inline) and understand their use cases.</a:t>
            </a:r>
          </a:p>
          <a:p>
            <a:pPr marL="742950" lvl="1" indent="-285750">
              <a:lnSpc>
                <a:spcPct val="150000"/>
              </a:lnSpc>
              <a:buFont typeface="+mj-lt"/>
              <a:buAutoNum type="arabicPeriod"/>
            </a:pPr>
            <a:r>
              <a:rPr lang="en-US" sz="2300" dirty="0">
                <a:solidFill>
                  <a:srgbClr val="0D0D0D"/>
                </a:solidFill>
                <a:highlight>
                  <a:srgbClr val="FFFFFF"/>
                </a:highlight>
                <a:latin typeface="Söhne"/>
              </a:rPr>
              <a:t>You will apply CSS directly within the HTML document for specific elements.</a:t>
            </a:r>
          </a:p>
          <a:p>
            <a:pPr>
              <a:lnSpc>
                <a:spcPct val="150000"/>
              </a:lnSpc>
            </a:pPr>
            <a:r>
              <a:rPr lang="en-US" sz="2300" b="1" dirty="0">
                <a:solidFill>
                  <a:srgbClr val="0D0D0D"/>
                </a:solidFill>
                <a:highlight>
                  <a:srgbClr val="FFFFFF"/>
                </a:highlight>
                <a:latin typeface="Söhne"/>
              </a:rPr>
              <a:t>7. Code Validation and Submission</a:t>
            </a:r>
            <a:r>
              <a:rPr lang="en-US" sz="2300" dirty="0">
                <a:solidFill>
                  <a:srgbClr val="0D0D0D"/>
                </a:solidFill>
                <a:highlight>
                  <a:srgbClr val="FFFFFF"/>
                </a:highlight>
                <a:latin typeface="Söhne"/>
              </a:rPr>
              <a:t>: Validate the code again using W3C and submit the files as per instructor's format.</a:t>
            </a:r>
          </a:p>
        </p:txBody>
      </p:sp>
      <p:sp>
        <p:nvSpPr>
          <p:cNvPr id="5" name="Rectangle 1">
            <a:extLst>
              <a:ext uri="{FF2B5EF4-FFF2-40B4-BE49-F238E27FC236}">
                <a16:creationId xmlns:a16="http://schemas.microsoft.com/office/drawing/2014/main" id="{CB1693F2-5AEE-7DB3-BD87-EADE811E6000}"/>
              </a:ext>
            </a:extLst>
          </p:cNvPr>
          <p:cNvSpPr>
            <a:spLocks noChangeArrowheads="1"/>
          </p:cNvSpPr>
          <p:nvPr/>
        </p:nvSpPr>
        <p:spPr bwMode="auto">
          <a:xfrm>
            <a:off x="0" y="-138499"/>
            <a:ext cx="65" cy="27699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79818481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1E860A5-C787-D510-5B7D-5D71237BAFC6}"/>
              </a:ext>
            </a:extLst>
          </p:cNvPr>
          <p:cNvSpPr txBox="1"/>
          <p:nvPr/>
        </p:nvSpPr>
        <p:spPr>
          <a:xfrm>
            <a:off x="94594" y="430887"/>
            <a:ext cx="4908330" cy="6109365"/>
          </a:xfrm>
          <a:prstGeom prst="rect">
            <a:avLst/>
          </a:prstGeom>
          <a:noFill/>
        </p:spPr>
        <p:txBody>
          <a:bodyPr wrap="square">
            <a:spAutoFit/>
          </a:bodyPr>
          <a:lstStyle/>
          <a:p>
            <a:pPr lvl="0" eaLnBrk="0" fontAlgn="base" hangingPunct="0">
              <a:spcBef>
                <a:spcPct val="0"/>
              </a:spcBef>
              <a:spcAft>
                <a:spcPct val="0"/>
              </a:spcAft>
              <a:buFontTx/>
              <a:buAutoNum type="arabicPeriod"/>
            </a:pPr>
            <a:r>
              <a:rPr lang="en-US" altLang="en-US" sz="2300" b="1" dirty="0">
                <a:solidFill>
                  <a:srgbClr val="0D0D0D"/>
                </a:solidFill>
                <a:latin typeface="Calibri" panose="020F0502020204030204" pitchFamily="34" charset="0"/>
                <a:cs typeface="Calibri" panose="020F0502020204030204" pitchFamily="34" charset="0"/>
              </a:rPr>
              <a:t> Document Type and Meta Information</a:t>
            </a:r>
            <a:r>
              <a:rPr lang="en-US" altLang="en-US" sz="2300" dirty="0">
                <a:solidFill>
                  <a:srgbClr val="0D0D0D"/>
                </a:solidFill>
                <a:latin typeface="Calibri" panose="020F0502020204030204" pitchFamily="34" charset="0"/>
                <a:cs typeface="Calibri" panose="020F0502020204030204" pitchFamily="34" charset="0"/>
              </a:rPr>
              <a:t>:</a:t>
            </a:r>
          </a:p>
          <a:p>
            <a:pPr lvl="1" eaLnBrk="0" fontAlgn="base" hangingPunct="0">
              <a:spcBef>
                <a:spcPct val="0"/>
              </a:spcBef>
              <a:spcAft>
                <a:spcPct val="0"/>
              </a:spcAft>
              <a:buFontTx/>
              <a:buChar char="•"/>
            </a:pPr>
            <a:r>
              <a:rPr lang="en-US" altLang="en-US" sz="2300" b="1" dirty="0">
                <a:solidFill>
                  <a:srgbClr val="0D0D0D"/>
                </a:solidFill>
                <a:latin typeface="Calibri" panose="020F0502020204030204" pitchFamily="34" charset="0"/>
                <a:cs typeface="Calibri" panose="020F0502020204030204" pitchFamily="34" charset="0"/>
              </a:rPr>
              <a:t> &lt;!DOCTYPE html&gt;</a:t>
            </a:r>
            <a:r>
              <a:rPr lang="en-US" altLang="en-US" sz="2300" dirty="0">
                <a:solidFill>
                  <a:srgbClr val="0D0D0D"/>
                </a:solidFill>
                <a:latin typeface="Calibri" panose="020F0502020204030204" pitchFamily="34" charset="0"/>
                <a:cs typeface="Calibri" panose="020F0502020204030204" pitchFamily="34" charset="0"/>
              </a:rPr>
              <a:t>: Declares the document type and version of HTML (HTML5).</a:t>
            </a:r>
          </a:p>
          <a:p>
            <a:pPr lvl="1" eaLnBrk="0" fontAlgn="base" hangingPunct="0">
              <a:spcBef>
                <a:spcPct val="0"/>
              </a:spcBef>
              <a:spcAft>
                <a:spcPct val="0"/>
              </a:spcAft>
              <a:buFontTx/>
              <a:buChar char="•"/>
            </a:pPr>
            <a:r>
              <a:rPr lang="en-US" altLang="en-US" sz="2300" b="1" dirty="0">
                <a:solidFill>
                  <a:srgbClr val="0D0D0D"/>
                </a:solidFill>
                <a:latin typeface="Calibri" panose="020F0502020204030204" pitchFamily="34" charset="0"/>
                <a:cs typeface="Calibri" panose="020F0502020204030204" pitchFamily="34" charset="0"/>
              </a:rPr>
              <a:t> &lt;meta charset="UTF-8"&gt;</a:t>
            </a:r>
            <a:r>
              <a:rPr lang="en-US" altLang="en-US" sz="2300" dirty="0">
                <a:solidFill>
                  <a:srgbClr val="0D0D0D"/>
                </a:solidFill>
                <a:latin typeface="Calibri" panose="020F0502020204030204" pitchFamily="34" charset="0"/>
                <a:cs typeface="Calibri" panose="020F0502020204030204" pitchFamily="34" charset="0"/>
              </a:rPr>
              <a:t>: Specifies the character encoding for the webpage (UTF-8).</a:t>
            </a:r>
          </a:p>
          <a:p>
            <a:pPr lvl="1" eaLnBrk="0" fontAlgn="base" hangingPunct="0">
              <a:spcBef>
                <a:spcPct val="0"/>
              </a:spcBef>
              <a:spcAft>
                <a:spcPct val="0"/>
              </a:spcAft>
              <a:buFontTx/>
              <a:buChar char="•"/>
            </a:pPr>
            <a:r>
              <a:rPr lang="en-US" altLang="en-US" sz="2300" b="1" dirty="0">
                <a:solidFill>
                  <a:srgbClr val="0D0D0D"/>
                </a:solidFill>
                <a:latin typeface="Calibri" panose="020F0502020204030204" pitchFamily="34" charset="0"/>
                <a:cs typeface="Calibri" panose="020F0502020204030204" pitchFamily="34" charset="0"/>
              </a:rPr>
              <a:t> &lt;meta name="viewport" content="width=device-width, initial-scale=1.0"&gt;</a:t>
            </a:r>
            <a:r>
              <a:rPr lang="en-US" altLang="en-US" sz="2300" dirty="0">
                <a:solidFill>
                  <a:srgbClr val="0D0D0D"/>
                </a:solidFill>
                <a:latin typeface="Calibri" panose="020F0502020204030204" pitchFamily="34" charset="0"/>
                <a:cs typeface="Calibri" panose="020F0502020204030204" pitchFamily="34" charset="0"/>
              </a:rPr>
              <a:t>: Ensures the page is optimized for responsive design.</a:t>
            </a:r>
          </a:p>
          <a:p>
            <a:pPr lvl="1" eaLnBrk="0" fontAlgn="base" hangingPunct="0">
              <a:spcBef>
                <a:spcPct val="0"/>
              </a:spcBef>
              <a:spcAft>
                <a:spcPct val="0"/>
              </a:spcAft>
              <a:buFontTx/>
              <a:buChar char="•"/>
            </a:pPr>
            <a:r>
              <a:rPr lang="en-US" altLang="en-US" sz="2300" b="1" dirty="0">
                <a:solidFill>
                  <a:srgbClr val="0D0D0D"/>
                </a:solidFill>
                <a:latin typeface="Calibri" panose="020F0502020204030204" pitchFamily="34" charset="0"/>
                <a:cs typeface="Calibri" panose="020F0502020204030204" pitchFamily="34" charset="0"/>
              </a:rPr>
              <a:t> &lt;title&gt;</a:t>
            </a:r>
            <a:r>
              <a:rPr lang="en-US" altLang="en-US" sz="2300" dirty="0">
                <a:solidFill>
                  <a:srgbClr val="0D0D0D"/>
                </a:solidFill>
                <a:latin typeface="Calibri" panose="020F0502020204030204" pitchFamily="34" charset="0"/>
                <a:cs typeface="Calibri" panose="020F0502020204030204" pitchFamily="34" charset="0"/>
              </a:rPr>
              <a:t>: The title of the document, which appears in the browser tab; it should describe the topic or contents of the document.</a:t>
            </a:r>
          </a:p>
        </p:txBody>
      </p:sp>
      <p:sp>
        <p:nvSpPr>
          <p:cNvPr id="7" name="Rectangle 1">
            <a:extLst>
              <a:ext uri="{FF2B5EF4-FFF2-40B4-BE49-F238E27FC236}">
                <a16:creationId xmlns:a16="http://schemas.microsoft.com/office/drawing/2014/main" id="{5522D24B-A336-7B80-A6A7-844E92DE8834}"/>
              </a:ext>
            </a:extLst>
          </p:cNvPr>
          <p:cNvSpPr>
            <a:spLocks noChangeArrowheads="1"/>
          </p:cNvSpPr>
          <p:nvPr/>
        </p:nvSpPr>
        <p:spPr bwMode="auto">
          <a:xfrm>
            <a:off x="0" y="-138499"/>
            <a:ext cx="65" cy="27699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2" name="TextBox 11">
            <a:extLst>
              <a:ext uri="{FF2B5EF4-FFF2-40B4-BE49-F238E27FC236}">
                <a16:creationId xmlns:a16="http://schemas.microsoft.com/office/drawing/2014/main" id="{5733AB14-2F20-1259-D652-884A8D3DC3C0}"/>
              </a:ext>
            </a:extLst>
          </p:cNvPr>
          <p:cNvSpPr txBox="1"/>
          <p:nvPr/>
        </p:nvSpPr>
        <p:spPr>
          <a:xfrm>
            <a:off x="94592" y="0"/>
            <a:ext cx="12097407" cy="430887"/>
          </a:xfrm>
          <a:prstGeom prst="rect">
            <a:avLst/>
          </a:prstGeom>
          <a:noFill/>
        </p:spPr>
        <p:txBody>
          <a:bodyPr wrap="square" rtlCol="0">
            <a:spAutoFit/>
          </a:bodyPr>
          <a:lstStyle/>
          <a:p>
            <a:r>
              <a:rPr lang="en-AU" sz="2200" b="1" dirty="0">
                <a:latin typeface="Calibri" panose="020F0502020204030204" pitchFamily="34" charset="0"/>
                <a:cs typeface="Calibri" panose="020F0502020204030204" pitchFamily="34" charset="0"/>
              </a:rPr>
              <a:t>Weeks 4 - 5 Tutorial – Understanding the Code - Main Document</a:t>
            </a:r>
          </a:p>
        </p:txBody>
      </p:sp>
      <p:pic>
        <p:nvPicPr>
          <p:cNvPr id="2" name="Picture 1">
            <a:extLst>
              <a:ext uri="{FF2B5EF4-FFF2-40B4-BE49-F238E27FC236}">
                <a16:creationId xmlns:a16="http://schemas.microsoft.com/office/drawing/2014/main" id="{21FF9ECD-E1BF-3664-2FDF-F5BF81FAEB49}"/>
              </a:ext>
            </a:extLst>
          </p:cNvPr>
          <p:cNvPicPr>
            <a:picLocks noChangeAspect="1"/>
          </p:cNvPicPr>
          <p:nvPr/>
        </p:nvPicPr>
        <p:blipFill rotWithShape="1">
          <a:blip r:embed="rId2"/>
          <a:srcRect l="4482" t="12052" r="11810" b="21992"/>
          <a:stretch/>
        </p:blipFill>
        <p:spPr>
          <a:xfrm>
            <a:off x="4897821" y="756709"/>
            <a:ext cx="7294179" cy="3232883"/>
          </a:xfrm>
          <a:prstGeom prst="rect">
            <a:avLst/>
          </a:prstGeom>
        </p:spPr>
      </p:pic>
      <p:pic>
        <p:nvPicPr>
          <p:cNvPr id="4" name="Picture 3">
            <a:extLst>
              <a:ext uri="{FF2B5EF4-FFF2-40B4-BE49-F238E27FC236}">
                <a16:creationId xmlns:a16="http://schemas.microsoft.com/office/drawing/2014/main" id="{E2DA0374-3BCA-CE31-EEEB-C8E58BC8280F}"/>
              </a:ext>
            </a:extLst>
          </p:cNvPr>
          <p:cNvPicPr>
            <a:picLocks noChangeAspect="1"/>
          </p:cNvPicPr>
          <p:nvPr/>
        </p:nvPicPr>
        <p:blipFill rotWithShape="1">
          <a:blip r:embed="rId3"/>
          <a:srcRect l="2032"/>
          <a:stretch/>
        </p:blipFill>
        <p:spPr>
          <a:xfrm>
            <a:off x="5223641" y="4735022"/>
            <a:ext cx="6968359" cy="1658362"/>
          </a:xfrm>
          <a:prstGeom prst="rect">
            <a:avLst/>
          </a:prstGeom>
        </p:spPr>
      </p:pic>
      <p:sp>
        <p:nvSpPr>
          <p:cNvPr id="5" name="Rectangle: Rounded Corners 4">
            <a:extLst>
              <a:ext uri="{FF2B5EF4-FFF2-40B4-BE49-F238E27FC236}">
                <a16:creationId xmlns:a16="http://schemas.microsoft.com/office/drawing/2014/main" id="{49F2D9AF-85CD-8717-7F71-B8CEB070A67F}"/>
              </a:ext>
            </a:extLst>
          </p:cNvPr>
          <p:cNvSpPr/>
          <p:nvPr/>
        </p:nvSpPr>
        <p:spPr>
          <a:xfrm>
            <a:off x="5528443" y="5814847"/>
            <a:ext cx="5370785" cy="420414"/>
          </a:xfrm>
          <a:prstGeom prst="round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Tree>
    <p:extLst>
      <p:ext uri="{BB962C8B-B14F-4D97-AF65-F5344CB8AC3E}">
        <p14:creationId xmlns:p14="http://schemas.microsoft.com/office/powerpoint/2010/main" val="28551576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 calcmode="lin" valueType="num">
                                      <p:cBhvr additive="base">
                                        <p:cTn id="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 calcmode="lin" valueType="num">
                                      <p:cBhvr additive="base">
                                        <p:cTn id="19"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 calcmode="lin" valueType="num">
                                      <p:cBhvr additive="base">
                                        <p:cTn id="25"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4" end="4"/>
                                            </p:txEl>
                                          </p:spTgt>
                                        </p:tgtEl>
                                        <p:attrNameLst>
                                          <p:attrName>ppt_y</p:attrName>
                                        </p:attrNameLst>
                                      </p:cBhvr>
                                      <p:tavLst>
                                        <p:tav tm="0">
                                          <p:val>
                                            <p:strVal val="1+#ppt_h/2"/>
                                          </p:val>
                                        </p:tav>
                                        <p:tav tm="100000">
                                          <p:val>
                                            <p:strVal val="#ppt_y"/>
                                          </p:val>
                                        </p:tav>
                                      </p:tavLst>
                                    </p:anim>
                                  </p:childTnLst>
                                </p:cTn>
                              </p:par>
                              <p:par>
                                <p:cTn id="27" presetID="21" presetClass="entr" presetSubtype="1" fill="hold" nodeType="withEffect">
                                  <p:stCondLst>
                                    <p:cond delay="0"/>
                                  </p:stCondLst>
                                  <p:childTnLst>
                                    <p:set>
                                      <p:cBhvr>
                                        <p:cTn id="28" dur="1" fill="hold">
                                          <p:stCondLst>
                                            <p:cond delay="0"/>
                                          </p:stCondLst>
                                        </p:cTn>
                                        <p:tgtEl>
                                          <p:spTgt spid="4"/>
                                        </p:tgtEl>
                                        <p:attrNameLst>
                                          <p:attrName>style.visibility</p:attrName>
                                        </p:attrNameLst>
                                      </p:cBhvr>
                                      <p:to>
                                        <p:strVal val="visible"/>
                                      </p:to>
                                    </p:set>
                                    <p:animEffect transition="in" filter="wheel(1)">
                                      <p:cBhvr>
                                        <p:cTn id="29" dur="2000"/>
                                        <p:tgtEl>
                                          <p:spTgt spid="4"/>
                                        </p:tgtEl>
                                      </p:cBhvr>
                                    </p:animEffect>
                                  </p:childTnLst>
                                </p:cTn>
                              </p:par>
                              <p:par>
                                <p:cTn id="30" presetID="6" presetClass="entr" presetSubtype="16" fill="hold" grpId="0" nodeType="withEffect">
                                  <p:stCondLst>
                                    <p:cond delay="0"/>
                                  </p:stCondLst>
                                  <p:childTnLst>
                                    <p:set>
                                      <p:cBhvr>
                                        <p:cTn id="31" dur="1" fill="hold">
                                          <p:stCondLst>
                                            <p:cond delay="0"/>
                                          </p:stCondLst>
                                        </p:cTn>
                                        <p:tgtEl>
                                          <p:spTgt spid="5"/>
                                        </p:tgtEl>
                                        <p:attrNameLst>
                                          <p:attrName>style.visibility</p:attrName>
                                        </p:attrNameLst>
                                      </p:cBhvr>
                                      <p:to>
                                        <p:strVal val="visible"/>
                                      </p:to>
                                    </p:set>
                                    <p:animEffect transition="in" filter="circle(in)">
                                      <p:cBhvr>
                                        <p:cTn id="32" dur="2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0EDA831C-3F59-8361-5C78-944EC8508F9C}"/>
              </a:ext>
            </a:extLst>
          </p:cNvPr>
          <p:cNvSpPr txBox="1"/>
          <p:nvPr/>
        </p:nvSpPr>
        <p:spPr>
          <a:xfrm>
            <a:off x="94593" y="0"/>
            <a:ext cx="8976732" cy="430887"/>
          </a:xfrm>
          <a:prstGeom prst="rect">
            <a:avLst/>
          </a:prstGeom>
          <a:noFill/>
        </p:spPr>
        <p:txBody>
          <a:bodyPr wrap="square" rtlCol="0">
            <a:spAutoFit/>
          </a:bodyPr>
          <a:lstStyle/>
          <a:p>
            <a:r>
              <a:rPr lang="en-AU" sz="2200" b="1" dirty="0">
                <a:latin typeface="Calibri" panose="020F0502020204030204" pitchFamily="34" charset="0"/>
                <a:cs typeface="Calibri" panose="020F0502020204030204" pitchFamily="34" charset="0"/>
              </a:rPr>
              <a:t>Weeks 4 - 5 Tutorial – Understanding the Code - Main Document</a:t>
            </a:r>
          </a:p>
        </p:txBody>
      </p:sp>
      <p:sp>
        <p:nvSpPr>
          <p:cNvPr id="3" name="TextBox 2">
            <a:extLst>
              <a:ext uri="{FF2B5EF4-FFF2-40B4-BE49-F238E27FC236}">
                <a16:creationId xmlns:a16="http://schemas.microsoft.com/office/drawing/2014/main" id="{C1E860A5-C787-D510-5B7D-5D71237BAFC6}"/>
              </a:ext>
            </a:extLst>
          </p:cNvPr>
          <p:cNvSpPr txBox="1"/>
          <p:nvPr/>
        </p:nvSpPr>
        <p:spPr>
          <a:xfrm>
            <a:off x="94594" y="430887"/>
            <a:ext cx="4908330" cy="6001643"/>
          </a:xfrm>
          <a:prstGeom prst="rect">
            <a:avLst/>
          </a:prstGeom>
          <a:noFill/>
        </p:spPr>
        <p:txBody>
          <a:bodyPr wrap="square">
            <a:spAutoFit/>
          </a:bodyPr>
          <a:lstStyle/>
          <a:p>
            <a:pPr lvl="0" eaLnBrk="0" fontAlgn="base" hangingPunct="0">
              <a:spcBef>
                <a:spcPct val="0"/>
              </a:spcBef>
              <a:spcAft>
                <a:spcPct val="0"/>
              </a:spcAft>
            </a:pPr>
            <a:r>
              <a:rPr lang="en-US" altLang="en-US" sz="2400" b="1" dirty="0">
                <a:solidFill>
                  <a:srgbClr val="0D0D0D"/>
                </a:solidFill>
                <a:latin typeface="Söhne"/>
              </a:rPr>
              <a:t>2. Structural Elements</a:t>
            </a:r>
            <a:r>
              <a:rPr lang="en-US" altLang="en-US" sz="2400" dirty="0">
                <a:solidFill>
                  <a:srgbClr val="0D0D0D"/>
                </a:solidFill>
                <a:latin typeface="Söhne"/>
              </a:rPr>
              <a:t>:</a:t>
            </a:r>
          </a:p>
          <a:p>
            <a:pPr lvl="1" eaLnBrk="0" fontAlgn="base" hangingPunct="0">
              <a:spcBef>
                <a:spcPct val="0"/>
              </a:spcBef>
              <a:spcAft>
                <a:spcPct val="0"/>
              </a:spcAft>
              <a:buFontTx/>
              <a:buChar char="•"/>
            </a:pPr>
            <a:r>
              <a:rPr lang="en-US" altLang="en-US" sz="2400" b="1" dirty="0">
                <a:solidFill>
                  <a:srgbClr val="0D0D0D"/>
                </a:solidFill>
                <a:latin typeface="Söhne Mono"/>
              </a:rPr>
              <a:t> &lt;header&gt;</a:t>
            </a:r>
            <a:r>
              <a:rPr lang="en-US" altLang="en-US" sz="2400" dirty="0">
                <a:solidFill>
                  <a:srgbClr val="0D0D0D"/>
                </a:solidFill>
                <a:latin typeface="Söhne"/>
              </a:rPr>
              <a:t>: Typically contains introductory content or navigation links. It's the first thing users see in the "body" of the document.</a:t>
            </a:r>
          </a:p>
          <a:p>
            <a:pPr lvl="1" eaLnBrk="0" fontAlgn="base" hangingPunct="0">
              <a:spcBef>
                <a:spcPct val="0"/>
              </a:spcBef>
              <a:spcAft>
                <a:spcPct val="0"/>
              </a:spcAft>
              <a:buFontTx/>
              <a:buChar char="•"/>
            </a:pPr>
            <a:r>
              <a:rPr lang="en-US" altLang="en-US" sz="2400" b="1" dirty="0">
                <a:solidFill>
                  <a:srgbClr val="0D0D0D"/>
                </a:solidFill>
                <a:latin typeface="Söhne Mono"/>
              </a:rPr>
              <a:t> &lt;nav&gt;</a:t>
            </a:r>
            <a:r>
              <a:rPr lang="en-US" altLang="en-US" sz="2400" dirty="0">
                <a:solidFill>
                  <a:srgbClr val="0D0D0D"/>
                </a:solidFill>
                <a:latin typeface="Söhne"/>
              </a:rPr>
              <a:t>: Dedicated to navigation links, helping users navigate the site or app.</a:t>
            </a:r>
          </a:p>
          <a:p>
            <a:pPr lvl="1" eaLnBrk="0" fontAlgn="base" hangingPunct="0">
              <a:spcBef>
                <a:spcPct val="0"/>
              </a:spcBef>
              <a:spcAft>
                <a:spcPct val="0"/>
              </a:spcAft>
              <a:buFontTx/>
              <a:buChar char="•"/>
            </a:pPr>
            <a:r>
              <a:rPr lang="en-US" altLang="en-US" sz="2400" b="1" dirty="0">
                <a:solidFill>
                  <a:srgbClr val="0D0D0D"/>
                </a:solidFill>
                <a:latin typeface="Söhne Mono"/>
              </a:rPr>
              <a:t> &lt;main&gt;</a:t>
            </a:r>
            <a:r>
              <a:rPr lang="en-US" altLang="en-US" sz="2400" dirty="0">
                <a:solidFill>
                  <a:srgbClr val="0D0D0D"/>
                </a:solidFill>
                <a:latin typeface="Söhne"/>
              </a:rPr>
              <a:t>: The core content of the webpage, distinct from sidebars, footers, and navigation bars. It's the primary focus of the document.</a:t>
            </a:r>
          </a:p>
          <a:p>
            <a:pPr lvl="1" eaLnBrk="0" fontAlgn="base" hangingPunct="0">
              <a:spcBef>
                <a:spcPct val="0"/>
              </a:spcBef>
              <a:spcAft>
                <a:spcPct val="0"/>
              </a:spcAft>
              <a:buFontTx/>
              <a:buChar char="•"/>
            </a:pPr>
            <a:r>
              <a:rPr lang="en-US" altLang="en-US" sz="2400" b="1" dirty="0">
                <a:solidFill>
                  <a:srgbClr val="0D0D0D"/>
                </a:solidFill>
                <a:latin typeface="Söhne Mono"/>
              </a:rPr>
              <a:t> &lt;footer&gt;</a:t>
            </a:r>
            <a:r>
              <a:rPr lang="en-US" altLang="en-US" sz="2400" dirty="0">
                <a:solidFill>
                  <a:srgbClr val="0D0D0D"/>
                </a:solidFill>
                <a:latin typeface="Söhne"/>
              </a:rPr>
              <a:t>: Contains auxiliary information like copyrights, links to privacy policies, or contact info.</a:t>
            </a:r>
          </a:p>
        </p:txBody>
      </p:sp>
      <p:pic>
        <p:nvPicPr>
          <p:cNvPr id="6" name="Picture 5">
            <a:extLst>
              <a:ext uri="{FF2B5EF4-FFF2-40B4-BE49-F238E27FC236}">
                <a16:creationId xmlns:a16="http://schemas.microsoft.com/office/drawing/2014/main" id="{C708B99D-9163-3A7E-8497-E521F7B67CA9}"/>
              </a:ext>
            </a:extLst>
          </p:cNvPr>
          <p:cNvPicPr>
            <a:picLocks noChangeAspect="1"/>
          </p:cNvPicPr>
          <p:nvPr/>
        </p:nvPicPr>
        <p:blipFill rotWithShape="1">
          <a:blip r:embed="rId2"/>
          <a:srcRect l="2032"/>
          <a:stretch/>
        </p:blipFill>
        <p:spPr>
          <a:xfrm>
            <a:off x="5223641" y="4735022"/>
            <a:ext cx="6968359" cy="1658362"/>
          </a:xfrm>
          <a:prstGeom prst="rect">
            <a:avLst/>
          </a:prstGeom>
        </p:spPr>
      </p:pic>
      <p:sp>
        <p:nvSpPr>
          <p:cNvPr id="8" name="Rectangle: Rounded Corners 7">
            <a:extLst>
              <a:ext uri="{FF2B5EF4-FFF2-40B4-BE49-F238E27FC236}">
                <a16:creationId xmlns:a16="http://schemas.microsoft.com/office/drawing/2014/main" id="{80A5EFD8-B14E-7B04-7174-D5EFC567C0B3}"/>
              </a:ext>
            </a:extLst>
          </p:cNvPr>
          <p:cNvSpPr/>
          <p:nvPr/>
        </p:nvSpPr>
        <p:spPr>
          <a:xfrm>
            <a:off x="5528443" y="5814847"/>
            <a:ext cx="5370785" cy="420414"/>
          </a:xfrm>
          <a:prstGeom prst="round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9" name="Picture 8">
            <a:extLst>
              <a:ext uri="{FF2B5EF4-FFF2-40B4-BE49-F238E27FC236}">
                <a16:creationId xmlns:a16="http://schemas.microsoft.com/office/drawing/2014/main" id="{7CEE7C0D-BBBC-FD57-125C-20D06C6191FA}"/>
              </a:ext>
            </a:extLst>
          </p:cNvPr>
          <p:cNvPicPr>
            <a:picLocks noChangeAspect="1"/>
          </p:cNvPicPr>
          <p:nvPr/>
        </p:nvPicPr>
        <p:blipFill rotWithShape="1">
          <a:blip r:embed="rId3"/>
          <a:srcRect l="4482" t="12052" r="11810" b="21992"/>
          <a:stretch/>
        </p:blipFill>
        <p:spPr>
          <a:xfrm>
            <a:off x="4897821" y="622739"/>
            <a:ext cx="7294179" cy="3232883"/>
          </a:xfrm>
          <a:prstGeom prst="rect">
            <a:avLst/>
          </a:prstGeom>
        </p:spPr>
      </p:pic>
      <p:sp>
        <p:nvSpPr>
          <p:cNvPr id="7" name="Rectangle 1">
            <a:extLst>
              <a:ext uri="{FF2B5EF4-FFF2-40B4-BE49-F238E27FC236}">
                <a16:creationId xmlns:a16="http://schemas.microsoft.com/office/drawing/2014/main" id="{5522D24B-A336-7B80-A6A7-844E92DE8834}"/>
              </a:ext>
            </a:extLst>
          </p:cNvPr>
          <p:cNvSpPr>
            <a:spLocks noChangeArrowheads="1"/>
          </p:cNvSpPr>
          <p:nvPr/>
        </p:nvSpPr>
        <p:spPr bwMode="auto">
          <a:xfrm>
            <a:off x="0" y="-138499"/>
            <a:ext cx="65" cy="27699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2" name="Rectangle 1">
            <a:extLst>
              <a:ext uri="{FF2B5EF4-FFF2-40B4-BE49-F238E27FC236}">
                <a16:creationId xmlns:a16="http://schemas.microsoft.com/office/drawing/2014/main" id="{59B35D60-4685-D563-0370-E18836A0C200}"/>
              </a:ext>
            </a:extLst>
          </p:cNvPr>
          <p:cNvSpPr>
            <a:spLocks noChangeArrowheads="1"/>
          </p:cNvSpPr>
          <p:nvPr/>
        </p:nvSpPr>
        <p:spPr bwMode="auto">
          <a:xfrm>
            <a:off x="0" y="-138499"/>
            <a:ext cx="65" cy="27699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96400076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C1E860A5-C787-D510-5B7D-5D71237BAFC6}"/>
              </a:ext>
            </a:extLst>
          </p:cNvPr>
          <p:cNvSpPr txBox="1"/>
          <p:nvPr/>
        </p:nvSpPr>
        <p:spPr>
          <a:xfrm>
            <a:off x="0" y="0"/>
            <a:ext cx="12191999" cy="1058367"/>
          </a:xfrm>
          <a:prstGeom prst="rect">
            <a:avLst/>
          </a:prstGeom>
          <a:noFill/>
        </p:spPr>
        <p:txBody>
          <a:bodyPr wrap="square">
            <a:spAutoFit/>
          </a:bodyPr>
          <a:lstStyle/>
          <a:p>
            <a:pPr>
              <a:lnSpc>
                <a:spcPct val="150000"/>
              </a:lnSpc>
            </a:pPr>
            <a:r>
              <a:rPr lang="en-US" sz="2200" b="1" dirty="0">
                <a:latin typeface="Calibri" panose="020F0502020204030204" pitchFamily="34" charset="0"/>
                <a:cs typeface="Calibri" panose="020F0502020204030204" pitchFamily="34" charset="0"/>
              </a:rPr>
              <a:t>Step 2) CSS Styling for the Template (styles.css) - </a:t>
            </a:r>
            <a:r>
              <a:rPr lang="en-US" sz="2200" dirty="0">
                <a:latin typeface="Calibri" panose="020F0502020204030204" pitchFamily="34" charset="0"/>
                <a:cs typeface="Calibri" panose="020F0502020204030204" pitchFamily="34" charset="0"/>
              </a:rPr>
              <a:t>Please always change, showcase your coding skills, then save it as </a:t>
            </a:r>
            <a:r>
              <a:rPr lang="en-US" sz="2200" b="1" dirty="0">
                <a:latin typeface="Calibri" panose="020F0502020204030204" pitchFamily="34" charset="0"/>
                <a:cs typeface="Calibri" panose="020F0502020204030204" pitchFamily="34" charset="0"/>
              </a:rPr>
              <a:t>Cascade Style Sheets File (CSS) extension </a:t>
            </a:r>
            <a:r>
              <a:rPr lang="en-US" sz="2200" dirty="0">
                <a:latin typeface="Calibri" panose="020F0502020204030204" pitchFamily="34" charset="0"/>
                <a:cs typeface="Calibri" panose="020F0502020204030204" pitchFamily="34" charset="0"/>
              </a:rPr>
              <a:t>in file in </a:t>
            </a:r>
            <a:r>
              <a:rPr lang="en-US" sz="2200" b="1" dirty="0">
                <a:latin typeface="Calibri" panose="020F0502020204030204" pitchFamily="34" charset="0"/>
                <a:cs typeface="Calibri" panose="020F0502020204030204" pitchFamily="34" charset="0"/>
              </a:rPr>
              <a:t>C:\xampp\htdocs</a:t>
            </a:r>
            <a:endParaRPr lang="en-AU" sz="2200" b="1" dirty="0"/>
          </a:p>
        </p:txBody>
      </p:sp>
      <p:pic>
        <p:nvPicPr>
          <p:cNvPr id="12" name="Picture 11">
            <a:extLst>
              <a:ext uri="{FF2B5EF4-FFF2-40B4-BE49-F238E27FC236}">
                <a16:creationId xmlns:a16="http://schemas.microsoft.com/office/drawing/2014/main" id="{DB5A515C-77BB-9AF7-7AC8-477297A91F09}"/>
              </a:ext>
            </a:extLst>
          </p:cNvPr>
          <p:cNvPicPr>
            <a:picLocks noChangeAspect="1"/>
          </p:cNvPicPr>
          <p:nvPr/>
        </p:nvPicPr>
        <p:blipFill rotWithShape="1">
          <a:blip r:embed="rId2"/>
          <a:srcRect l="1208" t="1303" r="38102" b="9425"/>
          <a:stretch/>
        </p:blipFill>
        <p:spPr>
          <a:xfrm>
            <a:off x="5919955" y="1668418"/>
            <a:ext cx="6272043" cy="5189581"/>
          </a:xfrm>
          <a:prstGeom prst="rect">
            <a:avLst/>
          </a:prstGeom>
        </p:spPr>
      </p:pic>
      <p:sp>
        <p:nvSpPr>
          <p:cNvPr id="8" name="Rectangle: Rounded Corners 7">
            <a:extLst>
              <a:ext uri="{FF2B5EF4-FFF2-40B4-BE49-F238E27FC236}">
                <a16:creationId xmlns:a16="http://schemas.microsoft.com/office/drawing/2014/main" id="{80A5EFD8-B14E-7B04-7174-D5EFC567C0B3}"/>
              </a:ext>
            </a:extLst>
          </p:cNvPr>
          <p:cNvSpPr/>
          <p:nvPr/>
        </p:nvSpPr>
        <p:spPr>
          <a:xfrm>
            <a:off x="6642536" y="4987037"/>
            <a:ext cx="5370785" cy="131498"/>
          </a:xfrm>
          <a:prstGeom prst="round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3" name="Rectangle: Rounded Corners 12">
            <a:extLst>
              <a:ext uri="{FF2B5EF4-FFF2-40B4-BE49-F238E27FC236}">
                <a16:creationId xmlns:a16="http://schemas.microsoft.com/office/drawing/2014/main" id="{AE51BE65-66E0-43D9-2018-72CD4DC31D88}"/>
              </a:ext>
            </a:extLst>
          </p:cNvPr>
          <p:cNvSpPr/>
          <p:nvPr/>
        </p:nvSpPr>
        <p:spPr>
          <a:xfrm>
            <a:off x="10710041" y="6516294"/>
            <a:ext cx="751492" cy="341705"/>
          </a:xfrm>
          <a:prstGeom prst="round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15" name="Picture 14">
            <a:extLst>
              <a:ext uri="{FF2B5EF4-FFF2-40B4-BE49-F238E27FC236}">
                <a16:creationId xmlns:a16="http://schemas.microsoft.com/office/drawing/2014/main" id="{294B46E1-9FBA-428F-343C-CC6724C38383}"/>
              </a:ext>
            </a:extLst>
          </p:cNvPr>
          <p:cNvPicPr>
            <a:picLocks noChangeAspect="1"/>
          </p:cNvPicPr>
          <p:nvPr/>
        </p:nvPicPr>
        <p:blipFill rotWithShape="1">
          <a:blip r:embed="rId3"/>
          <a:srcRect l="3966" t="10949" r="55172" b="15402"/>
          <a:stretch/>
        </p:blipFill>
        <p:spPr>
          <a:xfrm>
            <a:off x="21020" y="976221"/>
            <a:ext cx="5843752" cy="5924560"/>
          </a:xfrm>
          <a:prstGeom prst="rect">
            <a:avLst/>
          </a:prstGeom>
        </p:spPr>
      </p:pic>
    </p:spTree>
    <p:extLst>
      <p:ext uri="{BB962C8B-B14F-4D97-AF65-F5344CB8AC3E}">
        <p14:creationId xmlns:p14="http://schemas.microsoft.com/office/powerpoint/2010/main" val="111426550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294B46E1-9FBA-428F-343C-CC6724C38383}"/>
              </a:ext>
            </a:extLst>
          </p:cNvPr>
          <p:cNvPicPr>
            <a:picLocks noChangeAspect="1"/>
          </p:cNvPicPr>
          <p:nvPr/>
        </p:nvPicPr>
        <p:blipFill rotWithShape="1">
          <a:blip r:embed="rId2"/>
          <a:srcRect l="3966" t="10949" r="55172" b="15402"/>
          <a:stretch/>
        </p:blipFill>
        <p:spPr>
          <a:xfrm>
            <a:off x="5738648" y="0"/>
            <a:ext cx="6453352" cy="6858000"/>
          </a:xfrm>
          <a:prstGeom prst="rect">
            <a:avLst/>
          </a:prstGeom>
        </p:spPr>
      </p:pic>
      <p:sp>
        <p:nvSpPr>
          <p:cNvPr id="2" name="TextBox 1">
            <a:extLst>
              <a:ext uri="{FF2B5EF4-FFF2-40B4-BE49-F238E27FC236}">
                <a16:creationId xmlns:a16="http://schemas.microsoft.com/office/drawing/2014/main" id="{D1718671-E19D-CFD7-42BA-6EBE74B75454}"/>
              </a:ext>
            </a:extLst>
          </p:cNvPr>
          <p:cNvSpPr txBox="1"/>
          <p:nvPr/>
        </p:nvSpPr>
        <p:spPr>
          <a:xfrm>
            <a:off x="199697" y="84083"/>
            <a:ext cx="5538951" cy="3913059"/>
          </a:xfrm>
          <a:prstGeom prst="rect">
            <a:avLst/>
          </a:prstGeom>
          <a:noFill/>
        </p:spPr>
        <p:txBody>
          <a:bodyPr wrap="square" rtlCol="0">
            <a:spAutoFit/>
          </a:bodyPr>
          <a:lstStyle/>
          <a:p>
            <a:pPr>
              <a:lnSpc>
                <a:spcPct val="150000"/>
              </a:lnSpc>
            </a:pPr>
            <a:r>
              <a:rPr lang="en-US" sz="2400" b="1" dirty="0">
                <a:latin typeface="Calibri" panose="020F0502020204030204" pitchFamily="34" charset="0"/>
                <a:cs typeface="Calibri" panose="020F0502020204030204" pitchFamily="34" charset="0"/>
              </a:rPr>
              <a:t>Explanation of the CSS code:</a:t>
            </a:r>
            <a:br>
              <a:rPr lang="en-US" sz="2400" b="1" dirty="0">
                <a:latin typeface="Calibri" panose="020F0502020204030204" pitchFamily="34" charset="0"/>
                <a:cs typeface="Calibri" panose="020F0502020204030204" pitchFamily="34" charset="0"/>
              </a:rPr>
            </a:br>
            <a:r>
              <a:rPr lang="en-US" sz="2400" b="1" dirty="0">
                <a:latin typeface="Calibri" panose="020F0502020204030204" pitchFamily="34" charset="0"/>
                <a:cs typeface="Calibri" panose="020F0502020204030204" pitchFamily="34" charset="0"/>
              </a:rPr>
              <a:t>1. Comment with name and date:</a:t>
            </a:r>
            <a:r>
              <a:rPr lang="en-US" sz="2400" dirty="0">
                <a:latin typeface="Calibri" panose="020F0502020204030204" pitchFamily="34" charset="0"/>
                <a:cs typeface="Calibri" panose="020F0502020204030204" pitchFamily="34" charset="0"/>
              </a:rPr>
              <a:t> This part of the code is a and the current date. Comments in CSS are ignored by browsers and serve only for documentation purposes.</a:t>
            </a:r>
          </a:p>
          <a:p>
            <a:pPr>
              <a:lnSpc>
                <a:spcPct val="150000"/>
              </a:lnSpc>
            </a:pPr>
            <a:r>
              <a:rPr lang="en-US" sz="2400" dirty="0">
                <a:latin typeface="Calibri" panose="020F0502020204030204" pitchFamily="34" charset="0"/>
                <a:cs typeface="Calibri" panose="020F0502020204030204" pitchFamily="34" charset="0"/>
              </a:rPr>
              <a:t>/* Your Name – Date */</a:t>
            </a:r>
            <a:endParaRPr lang="en-AU" sz="24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2655224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294B46E1-9FBA-428F-343C-CC6724C38383}"/>
              </a:ext>
            </a:extLst>
          </p:cNvPr>
          <p:cNvPicPr>
            <a:picLocks noChangeAspect="1"/>
          </p:cNvPicPr>
          <p:nvPr/>
        </p:nvPicPr>
        <p:blipFill rotWithShape="1">
          <a:blip r:embed="rId2"/>
          <a:srcRect l="3966" t="10949" r="55172" b="15402"/>
          <a:stretch/>
        </p:blipFill>
        <p:spPr>
          <a:xfrm>
            <a:off x="5738648" y="0"/>
            <a:ext cx="6453352" cy="6858000"/>
          </a:xfrm>
          <a:prstGeom prst="rect">
            <a:avLst/>
          </a:prstGeom>
        </p:spPr>
      </p:pic>
      <p:sp>
        <p:nvSpPr>
          <p:cNvPr id="2" name="TextBox 1">
            <a:extLst>
              <a:ext uri="{FF2B5EF4-FFF2-40B4-BE49-F238E27FC236}">
                <a16:creationId xmlns:a16="http://schemas.microsoft.com/office/drawing/2014/main" id="{D1718671-E19D-CFD7-42BA-6EBE74B75454}"/>
              </a:ext>
            </a:extLst>
          </p:cNvPr>
          <p:cNvSpPr txBox="1"/>
          <p:nvPr/>
        </p:nvSpPr>
        <p:spPr>
          <a:xfrm>
            <a:off x="199697" y="84083"/>
            <a:ext cx="5538951" cy="6129050"/>
          </a:xfrm>
          <a:prstGeom prst="rect">
            <a:avLst/>
          </a:prstGeom>
          <a:noFill/>
        </p:spPr>
        <p:txBody>
          <a:bodyPr wrap="square" rtlCol="0">
            <a:spAutoFit/>
          </a:bodyPr>
          <a:lstStyle/>
          <a:p>
            <a:pPr marL="0" marR="0" lvl="0" indent="0" algn="l" defTabSz="914400" rtl="0" eaLnBrk="0" fontAlgn="base" latinLnBrk="0" hangingPunct="0">
              <a:lnSpc>
                <a:spcPct val="150000"/>
              </a:lnSpc>
              <a:spcBef>
                <a:spcPct val="0"/>
              </a:spcBef>
              <a:spcAft>
                <a:spcPct val="0"/>
              </a:spcAft>
              <a:buClrTx/>
              <a:buSzTx/>
              <a:tabLst/>
            </a:pPr>
            <a:r>
              <a:rPr lang="en-US" altLang="en-US" sz="2400" b="1" dirty="0">
                <a:solidFill>
                  <a:srgbClr val="0D0D0D"/>
                </a:solidFill>
                <a:latin typeface="Calibri" panose="020F0502020204030204" pitchFamily="34" charset="0"/>
                <a:cs typeface="Calibri" panose="020F0502020204030204" pitchFamily="34" charset="0"/>
              </a:rPr>
              <a:t>2. </a:t>
            </a:r>
            <a:r>
              <a:rPr kumimoji="0" lang="en-US" altLang="en-US" sz="2400" b="1" i="0" u="none" strike="noStrike" cap="none" normalizeH="0" baseline="0" dirty="0">
                <a:ln>
                  <a:noFill/>
                </a:ln>
                <a:solidFill>
                  <a:srgbClr val="0D0D0D"/>
                </a:solidFill>
                <a:effectLst/>
                <a:latin typeface="Calibri" panose="020F0502020204030204" pitchFamily="34" charset="0"/>
                <a:cs typeface="Calibri" panose="020F0502020204030204" pitchFamily="34" charset="0"/>
              </a:rPr>
              <a:t>Body Styling</a:t>
            </a:r>
            <a:r>
              <a:rPr kumimoji="0" lang="en-US" altLang="en-US" sz="2400" b="0" i="0" u="none" strike="noStrike" cap="none" normalizeH="0" baseline="0" dirty="0">
                <a:ln>
                  <a:noFill/>
                </a:ln>
                <a:solidFill>
                  <a:srgbClr val="0D0D0D"/>
                </a:solidFill>
                <a:effectLst/>
                <a:latin typeface="Calibri" panose="020F0502020204030204" pitchFamily="34" charset="0"/>
                <a:cs typeface="Calibri" panose="020F0502020204030204" pitchFamily="34" charset="0"/>
              </a:rPr>
              <a:t>:</a:t>
            </a:r>
          </a:p>
          <a:p>
            <a:pPr marL="457200" marR="0" lvl="1" indent="0" algn="l" defTabSz="914400" rtl="0" eaLnBrk="0" fontAlgn="base" latinLnBrk="0" hangingPunct="0">
              <a:lnSpc>
                <a:spcPct val="150000"/>
              </a:lnSpc>
              <a:spcBef>
                <a:spcPct val="0"/>
              </a:spcBef>
              <a:spcAft>
                <a:spcPct val="0"/>
              </a:spcAft>
              <a:buClrTx/>
              <a:buSzTx/>
              <a:buFontTx/>
              <a:buChar char="•"/>
              <a:tabLst/>
            </a:pPr>
            <a:r>
              <a:rPr kumimoji="0" lang="en-US" altLang="en-US" sz="2400" b="1" i="0" u="none" strike="noStrike" cap="none" normalizeH="0" baseline="0" dirty="0">
                <a:ln>
                  <a:noFill/>
                </a:ln>
                <a:solidFill>
                  <a:srgbClr val="0D0D0D"/>
                </a:solidFill>
                <a:effectLst/>
                <a:latin typeface="Calibri" panose="020F0502020204030204" pitchFamily="34" charset="0"/>
                <a:cs typeface="Calibri" panose="020F0502020204030204" pitchFamily="34" charset="0"/>
              </a:rPr>
              <a:t> color: #000000;</a:t>
            </a:r>
            <a:r>
              <a:rPr kumimoji="0" lang="en-US" altLang="en-US" sz="2400" b="0" i="0" u="none" strike="noStrike" cap="none" normalizeH="0" baseline="0" dirty="0">
                <a:ln>
                  <a:noFill/>
                </a:ln>
                <a:solidFill>
                  <a:srgbClr val="0D0D0D"/>
                </a:solidFill>
                <a:effectLst/>
                <a:latin typeface="Calibri" panose="020F0502020204030204" pitchFamily="34" charset="0"/>
                <a:cs typeface="Calibri" panose="020F0502020204030204" pitchFamily="34" charset="0"/>
              </a:rPr>
              <a:t>: This sets the text color of the entire document to black.</a:t>
            </a:r>
          </a:p>
          <a:p>
            <a:pPr marL="457200" marR="0" lvl="1" indent="0" algn="l" defTabSz="914400" rtl="0" eaLnBrk="0" fontAlgn="base" latinLnBrk="0" hangingPunct="0">
              <a:lnSpc>
                <a:spcPct val="150000"/>
              </a:lnSpc>
              <a:spcBef>
                <a:spcPct val="0"/>
              </a:spcBef>
              <a:spcAft>
                <a:spcPct val="0"/>
              </a:spcAft>
              <a:buClrTx/>
              <a:buSzTx/>
              <a:buFontTx/>
              <a:buChar char="•"/>
              <a:tabLst/>
            </a:pPr>
            <a:r>
              <a:rPr kumimoji="0" lang="en-US" altLang="en-US" sz="2400" b="1" i="0" u="none" strike="noStrike" cap="none" normalizeH="0" baseline="0" dirty="0">
                <a:ln>
                  <a:noFill/>
                </a:ln>
                <a:solidFill>
                  <a:srgbClr val="0D0D0D"/>
                </a:solidFill>
                <a:effectLst/>
                <a:latin typeface="Calibri" panose="020F0502020204030204" pitchFamily="34" charset="0"/>
                <a:cs typeface="Calibri" panose="020F0502020204030204" pitchFamily="34" charset="0"/>
              </a:rPr>
              <a:t> background-color: #D9F1C1;</a:t>
            </a:r>
            <a:r>
              <a:rPr kumimoji="0" lang="en-US" altLang="en-US" sz="2400" b="0" i="0" u="none" strike="noStrike" cap="none" normalizeH="0" baseline="0" dirty="0">
                <a:ln>
                  <a:noFill/>
                </a:ln>
                <a:solidFill>
                  <a:srgbClr val="0D0D0D"/>
                </a:solidFill>
                <a:effectLst/>
                <a:latin typeface="Calibri" panose="020F0502020204030204" pitchFamily="34" charset="0"/>
                <a:cs typeface="Calibri" panose="020F0502020204030204" pitchFamily="34" charset="0"/>
              </a:rPr>
              <a:t>: The background color of the entire page is set to a light green.</a:t>
            </a:r>
          </a:p>
          <a:p>
            <a:pPr marL="457200" marR="0" lvl="1" indent="0" algn="l" defTabSz="914400" rtl="0" eaLnBrk="0" fontAlgn="base" latinLnBrk="0" hangingPunct="0">
              <a:lnSpc>
                <a:spcPct val="150000"/>
              </a:lnSpc>
              <a:spcBef>
                <a:spcPct val="0"/>
              </a:spcBef>
              <a:spcAft>
                <a:spcPct val="0"/>
              </a:spcAft>
              <a:buClrTx/>
              <a:buSzTx/>
              <a:buFontTx/>
              <a:buChar char="•"/>
              <a:tabLst/>
            </a:pPr>
            <a:r>
              <a:rPr kumimoji="0" lang="en-US" altLang="en-US" sz="2400" b="1" i="0" u="none" strike="noStrike" cap="none" normalizeH="0" baseline="0" dirty="0">
                <a:ln>
                  <a:noFill/>
                </a:ln>
                <a:solidFill>
                  <a:srgbClr val="0D0D0D"/>
                </a:solidFill>
                <a:effectLst/>
                <a:latin typeface="Calibri" panose="020F0502020204030204" pitchFamily="34" charset="0"/>
                <a:cs typeface="Calibri" panose="020F0502020204030204" pitchFamily="34" charset="0"/>
              </a:rPr>
              <a:t> font-family: "Times New Roman", serif;</a:t>
            </a:r>
            <a:r>
              <a:rPr kumimoji="0" lang="en-US" altLang="en-US" sz="2400" b="0" i="0" u="none" strike="noStrike" cap="none" normalizeH="0" baseline="0" dirty="0">
                <a:ln>
                  <a:noFill/>
                </a:ln>
                <a:solidFill>
                  <a:srgbClr val="0D0D0D"/>
                </a:solidFill>
                <a:effectLst/>
                <a:latin typeface="Calibri" panose="020F0502020204030204" pitchFamily="34" charset="0"/>
                <a:cs typeface="Calibri" panose="020F0502020204030204" pitchFamily="34" charset="0"/>
              </a:rPr>
              <a:t>: The default font for the page is set to Times New Roman with a fallback to any generic serif font if Times New Roman is not available.</a:t>
            </a:r>
            <a:endParaRPr kumimoji="0" lang="en-US" altLang="en-US" sz="24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p:txBody>
      </p:sp>
      <p:sp>
        <p:nvSpPr>
          <p:cNvPr id="4" name="Rectangle 2">
            <a:extLst>
              <a:ext uri="{FF2B5EF4-FFF2-40B4-BE49-F238E27FC236}">
                <a16:creationId xmlns:a16="http://schemas.microsoft.com/office/drawing/2014/main" id="{553D0699-C383-8C19-E4CC-F2564623A536}"/>
              </a:ext>
            </a:extLst>
          </p:cNvPr>
          <p:cNvSpPr>
            <a:spLocks noChangeArrowheads="1"/>
          </p:cNvSpPr>
          <p:nvPr/>
        </p:nvSpPr>
        <p:spPr bwMode="auto">
          <a:xfrm>
            <a:off x="0" y="-138499"/>
            <a:ext cx="65" cy="27699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65463807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294B46E1-9FBA-428F-343C-CC6724C38383}"/>
              </a:ext>
            </a:extLst>
          </p:cNvPr>
          <p:cNvPicPr>
            <a:picLocks noChangeAspect="1"/>
          </p:cNvPicPr>
          <p:nvPr/>
        </p:nvPicPr>
        <p:blipFill rotWithShape="1">
          <a:blip r:embed="rId2"/>
          <a:srcRect l="3966" t="10949" r="55172" b="15402"/>
          <a:stretch/>
        </p:blipFill>
        <p:spPr>
          <a:xfrm>
            <a:off x="5738648" y="0"/>
            <a:ext cx="6453352" cy="6858000"/>
          </a:xfrm>
          <a:prstGeom prst="rect">
            <a:avLst/>
          </a:prstGeom>
        </p:spPr>
      </p:pic>
      <p:sp>
        <p:nvSpPr>
          <p:cNvPr id="2" name="TextBox 1">
            <a:extLst>
              <a:ext uri="{FF2B5EF4-FFF2-40B4-BE49-F238E27FC236}">
                <a16:creationId xmlns:a16="http://schemas.microsoft.com/office/drawing/2014/main" id="{D1718671-E19D-CFD7-42BA-6EBE74B75454}"/>
              </a:ext>
            </a:extLst>
          </p:cNvPr>
          <p:cNvSpPr txBox="1"/>
          <p:nvPr/>
        </p:nvSpPr>
        <p:spPr>
          <a:xfrm>
            <a:off x="199697" y="84083"/>
            <a:ext cx="5538951" cy="6683048"/>
          </a:xfrm>
          <a:prstGeom prst="rect">
            <a:avLst/>
          </a:prstGeom>
          <a:noFill/>
        </p:spPr>
        <p:txBody>
          <a:bodyPr wrap="square" rtlCol="0">
            <a:spAutoFit/>
          </a:bodyPr>
          <a:lstStyle/>
          <a:p>
            <a:pPr marL="0" marR="0" lvl="0" indent="0" algn="l" defTabSz="914400" rtl="0" eaLnBrk="0" fontAlgn="base" latinLnBrk="0" hangingPunct="0">
              <a:lnSpc>
                <a:spcPct val="150000"/>
              </a:lnSpc>
              <a:spcBef>
                <a:spcPct val="0"/>
              </a:spcBef>
              <a:spcAft>
                <a:spcPct val="0"/>
              </a:spcAft>
              <a:buClrTx/>
              <a:buSzTx/>
              <a:tabLst/>
            </a:pPr>
            <a:r>
              <a:rPr kumimoji="0" lang="en-US" altLang="en-US" sz="2400" b="1" i="0" u="none" strike="noStrike" cap="none" normalizeH="0" baseline="0" dirty="0">
                <a:ln>
                  <a:noFill/>
                </a:ln>
                <a:solidFill>
                  <a:srgbClr val="0D0D0D"/>
                </a:solidFill>
                <a:effectLst/>
                <a:latin typeface="Calibri" panose="020F0502020204030204" pitchFamily="34" charset="0"/>
                <a:cs typeface="Calibri" panose="020F0502020204030204" pitchFamily="34" charset="0"/>
              </a:rPr>
              <a:t>3. Outer Wrapper</a:t>
            </a:r>
            <a:r>
              <a:rPr kumimoji="0" lang="en-US" altLang="en-US" sz="2400" b="0" i="0" u="none" strike="noStrike" cap="none" normalizeH="0" baseline="0" dirty="0">
                <a:ln>
                  <a:noFill/>
                </a:ln>
                <a:solidFill>
                  <a:srgbClr val="0D0D0D"/>
                </a:solidFill>
                <a:effectLst/>
                <a:latin typeface="Calibri" panose="020F0502020204030204" pitchFamily="34" charset="0"/>
                <a:cs typeface="Calibri" panose="020F0502020204030204" pitchFamily="34" charset="0"/>
              </a:rPr>
              <a:t>:</a:t>
            </a:r>
          </a:p>
          <a:p>
            <a:pPr marL="457200" marR="0" lvl="1" indent="0" algn="l" defTabSz="914400" rtl="0" eaLnBrk="0" fontAlgn="base" latinLnBrk="0" hangingPunct="0">
              <a:lnSpc>
                <a:spcPct val="150000"/>
              </a:lnSpc>
              <a:spcBef>
                <a:spcPct val="0"/>
              </a:spcBef>
              <a:spcAft>
                <a:spcPct val="0"/>
              </a:spcAft>
              <a:buClrTx/>
              <a:buSzTx/>
              <a:buFontTx/>
              <a:buChar char="•"/>
              <a:tabLst/>
            </a:pPr>
            <a:r>
              <a:rPr kumimoji="0" lang="en-US" altLang="en-US" sz="2400" b="1" i="0" u="none" strike="noStrike" cap="none" normalizeH="0" baseline="0" dirty="0">
                <a:ln>
                  <a:noFill/>
                </a:ln>
                <a:solidFill>
                  <a:srgbClr val="0D0D0D"/>
                </a:solidFill>
                <a:effectLst/>
                <a:latin typeface="Calibri" panose="020F0502020204030204" pitchFamily="34" charset="0"/>
                <a:cs typeface="Calibri" panose="020F0502020204030204" pitchFamily="34" charset="0"/>
              </a:rPr>
              <a:t> width: 80%;</a:t>
            </a:r>
            <a:r>
              <a:rPr kumimoji="0" lang="en-US" altLang="en-US" sz="2400" b="0" i="0" u="none" strike="noStrike" cap="none" normalizeH="0" baseline="0" dirty="0">
                <a:ln>
                  <a:noFill/>
                </a:ln>
                <a:solidFill>
                  <a:srgbClr val="0D0D0D"/>
                </a:solidFill>
                <a:effectLst/>
                <a:latin typeface="Calibri" panose="020F0502020204030204" pitchFamily="34" charset="0"/>
                <a:cs typeface="Calibri" panose="020F0502020204030204" pitchFamily="34" charset="0"/>
              </a:rPr>
              <a:t>: The width of the </a:t>
            </a:r>
            <a:r>
              <a:rPr kumimoji="0" lang="en-US" altLang="en-US" sz="2400" b="1" i="0" u="none" strike="noStrike" cap="none" normalizeH="0" baseline="0" dirty="0">
                <a:ln>
                  <a:noFill/>
                </a:ln>
                <a:solidFill>
                  <a:srgbClr val="0D0D0D"/>
                </a:solidFill>
                <a:effectLst/>
                <a:latin typeface="Calibri" panose="020F0502020204030204" pitchFamily="34" charset="0"/>
                <a:cs typeface="Calibri" panose="020F0502020204030204" pitchFamily="34" charset="0"/>
              </a:rPr>
              <a:t>#outerwrapper</a:t>
            </a:r>
            <a:r>
              <a:rPr kumimoji="0" lang="en-US" altLang="en-US" sz="2400" b="0" i="0" u="none" strike="noStrike" cap="none" normalizeH="0" baseline="0" dirty="0">
                <a:ln>
                  <a:noFill/>
                </a:ln>
                <a:solidFill>
                  <a:srgbClr val="0D0D0D"/>
                </a:solidFill>
                <a:effectLst/>
                <a:latin typeface="Calibri" panose="020F0502020204030204" pitchFamily="34" charset="0"/>
                <a:cs typeface="Calibri" panose="020F0502020204030204" pitchFamily="34" charset="0"/>
              </a:rPr>
              <a:t> element is set to 80% of its parent element, typically the </a:t>
            </a:r>
            <a:r>
              <a:rPr kumimoji="0" lang="en-US" altLang="en-US" sz="2400" b="1" i="0" u="none" strike="noStrike" cap="none" normalizeH="0" baseline="0" dirty="0">
                <a:ln>
                  <a:noFill/>
                </a:ln>
                <a:solidFill>
                  <a:srgbClr val="0D0D0D"/>
                </a:solidFill>
                <a:effectLst/>
                <a:latin typeface="Calibri" panose="020F0502020204030204" pitchFamily="34" charset="0"/>
                <a:cs typeface="Calibri" panose="020F0502020204030204" pitchFamily="34" charset="0"/>
              </a:rPr>
              <a:t>body</a:t>
            </a:r>
            <a:r>
              <a:rPr kumimoji="0" lang="en-US" altLang="en-US" sz="2400" b="0" i="0" u="none" strike="noStrike" cap="none" normalizeH="0" baseline="0" dirty="0">
                <a:ln>
                  <a:noFill/>
                </a:ln>
                <a:solidFill>
                  <a:srgbClr val="0D0D0D"/>
                </a:solidFill>
                <a:effectLst/>
                <a:latin typeface="Calibri" panose="020F0502020204030204" pitchFamily="34" charset="0"/>
                <a:cs typeface="Calibri" panose="020F0502020204030204" pitchFamily="34" charset="0"/>
              </a:rPr>
              <a:t>.</a:t>
            </a:r>
          </a:p>
          <a:p>
            <a:pPr marL="457200" marR="0" lvl="1" indent="0" algn="l" defTabSz="914400" rtl="0" eaLnBrk="0" fontAlgn="base" latinLnBrk="0" hangingPunct="0">
              <a:lnSpc>
                <a:spcPct val="150000"/>
              </a:lnSpc>
              <a:spcBef>
                <a:spcPct val="0"/>
              </a:spcBef>
              <a:spcAft>
                <a:spcPct val="0"/>
              </a:spcAft>
              <a:buClrTx/>
              <a:buSzTx/>
              <a:buFontTx/>
              <a:buChar char="•"/>
              <a:tabLst/>
            </a:pPr>
            <a:r>
              <a:rPr kumimoji="0" lang="en-US" altLang="en-US" sz="2400" b="1" i="0" u="none" strike="noStrike" cap="none" normalizeH="0" baseline="0" dirty="0">
                <a:ln>
                  <a:noFill/>
                </a:ln>
                <a:solidFill>
                  <a:srgbClr val="0D0D0D"/>
                </a:solidFill>
                <a:effectLst/>
                <a:latin typeface="Calibri" panose="020F0502020204030204" pitchFamily="34" charset="0"/>
                <a:cs typeface="Calibri" panose="020F0502020204030204" pitchFamily="34" charset="0"/>
              </a:rPr>
              <a:t> margin: 0 auto;</a:t>
            </a:r>
            <a:r>
              <a:rPr kumimoji="0" lang="en-US" altLang="en-US" sz="2400" b="0" i="0" u="none" strike="noStrike" cap="none" normalizeH="0" baseline="0" dirty="0">
                <a:ln>
                  <a:noFill/>
                </a:ln>
                <a:solidFill>
                  <a:srgbClr val="0D0D0D"/>
                </a:solidFill>
                <a:effectLst/>
                <a:latin typeface="Calibri" panose="020F0502020204030204" pitchFamily="34" charset="0"/>
                <a:cs typeface="Calibri" panose="020F0502020204030204" pitchFamily="34" charset="0"/>
              </a:rPr>
              <a:t>: This centers the </a:t>
            </a:r>
            <a:r>
              <a:rPr kumimoji="0" lang="en-US" altLang="en-US" sz="2400" b="1" i="0" u="none" strike="noStrike" cap="none" normalizeH="0" baseline="0" dirty="0">
                <a:ln>
                  <a:noFill/>
                </a:ln>
                <a:solidFill>
                  <a:srgbClr val="0D0D0D"/>
                </a:solidFill>
                <a:effectLst/>
                <a:latin typeface="Calibri" panose="020F0502020204030204" pitchFamily="34" charset="0"/>
                <a:cs typeface="Calibri" panose="020F0502020204030204" pitchFamily="34" charset="0"/>
              </a:rPr>
              <a:t>#outerwrapper</a:t>
            </a:r>
            <a:r>
              <a:rPr kumimoji="0" lang="en-US" altLang="en-US" sz="2400" b="0" i="0" u="none" strike="noStrike" cap="none" normalizeH="0" baseline="0" dirty="0">
                <a:ln>
                  <a:noFill/>
                </a:ln>
                <a:solidFill>
                  <a:srgbClr val="0D0D0D"/>
                </a:solidFill>
                <a:effectLst/>
                <a:latin typeface="Calibri" panose="020F0502020204030204" pitchFamily="34" charset="0"/>
                <a:cs typeface="Calibri" panose="020F0502020204030204" pitchFamily="34" charset="0"/>
              </a:rPr>
              <a:t> element horizontally within its parent element.</a:t>
            </a:r>
          </a:p>
          <a:p>
            <a:pPr marL="0" marR="0" lvl="0" indent="0" algn="l" defTabSz="914400" rtl="0" eaLnBrk="0" fontAlgn="base" latinLnBrk="0" hangingPunct="0">
              <a:lnSpc>
                <a:spcPct val="150000"/>
              </a:lnSpc>
              <a:spcBef>
                <a:spcPct val="0"/>
              </a:spcBef>
              <a:spcAft>
                <a:spcPct val="0"/>
              </a:spcAft>
              <a:buClrTx/>
              <a:buSzTx/>
              <a:tabLst/>
            </a:pPr>
            <a:r>
              <a:rPr kumimoji="0" lang="en-US" altLang="en-US" sz="2400" b="1" i="0" u="none" strike="noStrike" cap="none" normalizeH="0" baseline="0" dirty="0">
                <a:ln>
                  <a:noFill/>
                </a:ln>
                <a:solidFill>
                  <a:srgbClr val="0D0D0D"/>
                </a:solidFill>
                <a:effectLst/>
                <a:latin typeface="Calibri" panose="020F0502020204030204" pitchFamily="34" charset="0"/>
                <a:cs typeface="Calibri" panose="020F0502020204030204" pitchFamily="34" charset="0"/>
              </a:rPr>
              <a:t>4. Header, Nav, Footer Styling</a:t>
            </a:r>
            <a:r>
              <a:rPr kumimoji="0" lang="en-US" altLang="en-US" sz="2400" b="0" i="0" u="none" strike="noStrike" cap="none" normalizeH="0" baseline="0" dirty="0">
                <a:ln>
                  <a:noFill/>
                </a:ln>
                <a:solidFill>
                  <a:srgbClr val="0D0D0D"/>
                </a:solidFill>
                <a:effectLst/>
                <a:latin typeface="Calibri" panose="020F0502020204030204" pitchFamily="34" charset="0"/>
                <a:cs typeface="Calibri" panose="020F0502020204030204" pitchFamily="34" charset="0"/>
              </a:rPr>
              <a:t>:</a:t>
            </a:r>
          </a:p>
          <a:p>
            <a:pPr marL="457200" marR="0" lvl="1" indent="0" algn="l" defTabSz="914400" rtl="0" eaLnBrk="0" fontAlgn="base" latinLnBrk="0" hangingPunct="0">
              <a:lnSpc>
                <a:spcPct val="150000"/>
              </a:lnSpc>
              <a:spcBef>
                <a:spcPct val="0"/>
              </a:spcBef>
              <a:spcAft>
                <a:spcPct val="0"/>
              </a:spcAft>
              <a:buClrTx/>
              <a:buSzTx/>
              <a:buFontTx/>
              <a:buChar char="•"/>
              <a:tabLst/>
            </a:pPr>
            <a:r>
              <a:rPr kumimoji="0" lang="en-US" altLang="en-US" sz="2400" b="1" i="0" u="none" strike="noStrike" cap="none" normalizeH="0" baseline="0" dirty="0">
                <a:ln>
                  <a:noFill/>
                </a:ln>
                <a:solidFill>
                  <a:srgbClr val="0D0D0D"/>
                </a:solidFill>
                <a:effectLst/>
                <a:latin typeface="Calibri" panose="020F0502020204030204" pitchFamily="34" charset="0"/>
                <a:cs typeface="Calibri" panose="020F0502020204030204" pitchFamily="34" charset="0"/>
              </a:rPr>
              <a:t> font-family: Calibri, Arial, sans-serif;</a:t>
            </a:r>
            <a:r>
              <a:rPr kumimoji="0" lang="en-US" altLang="en-US" sz="2400" b="0" i="0" u="none" strike="noStrike" cap="none" normalizeH="0" baseline="0" dirty="0">
                <a:ln>
                  <a:noFill/>
                </a:ln>
                <a:solidFill>
                  <a:srgbClr val="0D0D0D"/>
                </a:solidFill>
                <a:effectLst/>
                <a:latin typeface="Calibri" panose="020F0502020204030204" pitchFamily="34" charset="0"/>
                <a:cs typeface="Calibri" panose="020F0502020204030204" pitchFamily="34" charset="0"/>
              </a:rPr>
              <a:t>: These elements are styled with a sans-serif font, preferring Calibri or Arial.</a:t>
            </a:r>
            <a:endParaRPr kumimoji="0" lang="en-US" altLang="en-US" sz="24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p:txBody>
      </p:sp>
      <p:sp>
        <p:nvSpPr>
          <p:cNvPr id="4" name="Rectangle 2">
            <a:extLst>
              <a:ext uri="{FF2B5EF4-FFF2-40B4-BE49-F238E27FC236}">
                <a16:creationId xmlns:a16="http://schemas.microsoft.com/office/drawing/2014/main" id="{553D0699-C383-8C19-E4CC-F2564623A536}"/>
              </a:ext>
            </a:extLst>
          </p:cNvPr>
          <p:cNvSpPr>
            <a:spLocks noChangeArrowheads="1"/>
          </p:cNvSpPr>
          <p:nvPr/>
        </p:nvSpPr>
        <p:spPr bwMode="auto">
          <a:xfrm>
            <a:off x="0" y="-138499"/>
            <a:ext cx="65" cy="27699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3" name="Rectangle 1">
            <a:extLst>
              <a:ext uri="{FF2B5EF4-FFF2-40B4-BE49-F238E27FC236}">
                <a16:creationId xmlns:a16="http://schemas.microsoft.com/office/drawing/2014/main" id="{7A9871AC-2978-F84D-A5CB-75F085995F14}"/>
              </a:ext>
            </a:extLst>
          </p:cNvPr>
          <p:cNvSpPr>
            <a:spLocks noChangeArrowheads="1"/>
          </p:cNvSpPr>
          <p:nvPr/>
        </p:nvSpPr>
        <p:spPr bwMode="auto">
          <a:xfrm>
            <a:off x="0" y="-138499"/>
            <a:ext cx="65" cy="27699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79906809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294B46E1-9FBA-428F-343C-CC6724C38383}"/>
              </a:ext>
            </a:extLst>
          </p:cNvPr>
          <p:cNvPicPr>
            <a:picLocks noChangeAspect="1"/>
          </p:cNvPicPr>
          <p:nvPr/>
        </p:nvPicPr>
        <p:blipFill rotWithShape="1">
          <a:blip r:embed="rId2"/>
          <a:srcRect l="3966" t="10949" r="55172" b="15402"/>
          <a:stretch/>
        </p:blipFill>
        <p:spPr>
          <a:xfrm>
            <a:off x="5738648" y="0"/>
            <a:ext cx="6453352" cy="6858000"/>
          </a:xfrm>
          <a:prstGeom prst="rect">
            <a:avLst/>
          </a:prstGeom>
        </p:spPr>
      </p:pic>
      <p:sp>
        <p:nvSpPr>
          <p:cNvPr id="2" name="TextBox 1">
            <a:extLst>
              <a:ext uri="{FF2B5EF4-FFF2-40B4-BE49-F238E27FC236}">
                <a16:creationId xmlns:a16="http://schemas.microsoft.com/office/drawing/2014/main" id="{D1718671-E19D-CFD7-42BA-6EBE74B75454}"/>
              </a:ext>
            </a:extLst>
          </p:cNvPr>
          <p:cNvSpPr txBox="1"/>
          <p:nvPr/>
        </p:nvSpPr>
        <p:spPr>
          <a:xfrm>
            <a:off x="199697" y="84083"/>
            <a:ext cx="5622839" cy="6740307"/>
          </a:xfrm>
          <a:prstGeom prst="rect">
            <a:avLst/>
          </a:prstGeom>
          <a:noFill/>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2400" b="1" i="0" u="none" strike="noStrike" cap="none" normalizeH="0" baseline="0" dirty="0">
                <a:ln>
                  <a:noFill/>
                </a:ln>
                <a:solidFill>
                  <a:srgbClr val="0D0D0D"/>
                </a:solidFill>
                <a:effectLst/>
                <a:latin typeface="Calibri" panose="020F0502020204030204" pitchFamily="34" charset="0"/>
                <a:cs typeface="Calibri" panose="020F0502020204030204" pitchFamily="34" charset="0"/>
              </a:rPr>
              <a:t>5. Main Section Styling</a:t>
            </a:r>
            <a:r>
              <a:rPr kumimoji="0" lang="en-US" altLang="en-US" sz="2400" b="0" i="0" u="none" strike="noStrike" cap="none" normalizeH="0" baseline="0" dirty="0">
                <a:ln>
                  <a:noFill/>
                </a:ln>
                <a:solidFill>
                  <a:srgbClr val="0D0D0D"/>
                </a:solidFill>
                <a:effectLst/>
                <a:latin typeface="Calibri" panose="020F0502020204030204" pitchFamily="34" charset="0"/>
                <a:cs typeface="Calibri" panose="020F0502020204030204" pitchFamily="34" charset="0"/>
              </a:rPr>
              <a:t>:</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rgbClr val="0D0D0D"/>
                </a:solidFill>
                <a:effectLst/>
                <a:latin typeface="Calibri" panose="020F0502020204030204" pitchFamily="34" charset="0"/>
                <a:cs typeface="Calibri" panose="020F0502020204030204" pitchFamily="34" charset="0"/>
              </a:rPr>
              <a:t> font-family: Garamond, "Times New Roman", serif;</a:t>
            </a:r>
            <a:r>
              <a:rPr kumimoji="0" lang="en-US" altLang="en-US" sz="2400" b="0" i="0" u="none" strike="noStrike" cap="none" normalizeH="0" baseline="0" dirty="0">
                <a:ln>
                  <a:noFill/>
                </a:ln>
                <a:solidFill>
                  <a:srgbClr val="0D0D0D"/>
                </a:solidFill>
                <a:effectLst/>
                <a:latin typeface="Calibri" panose="020F0502020204030204" pitchFamily="34" charset="0"/>
                <a:cs typeface="Calibri" panose="020F0502020204030204" pitchFamily="34" charset="0"/>
              </a:rPr>
              <a:t>: The text within the </a:t>
            </a:r>
            <a:r>
              <a:rPr kumimoji="0" lang="en-US" altLang="en-US" sz="2400" b="1" i="0" u="none" strike="noStrike" cap="none" normalizeH="0" baseline="0" dirty="0">
                <a:ln>
                  <a:noFill/>
                </a:ln>
                <a:solidFill>
                  <a:srgbClr val="0D0D0D"/>
                </a:solidFill>
                <a:effectLst/>
                <a:latin typeface="Calibri" panose="020F0502020204030204" pitchFamily="34" charset="0"/>
                <a:cs typeface="Calibri" panose="020F0502020204030204" pitchFamily="34" charset="0"/>
              </a:rPr>
              <a:t>#main</a:t>
            </a:r>
            <a:r>
              <a:rPr kumimoji="0" lang="en-US" altLang="en-US" sz="2400" b="0" i="0" u="none" strike="noStrike" cap="none" normalizeH="0" baseline="0" dirty="0">
                <a:ln>
                  <a:noFill/>
                </a:ln>
                <a:solidFill>
                  <a:srgbClr val="0D0D0D"/>
                </a:solidFill>
                <a:effectLst/>
                <a:latin typeface="Calibri" panose="020F0502020204030204" pitchFamily="34" charset="0"/>
                <a:cs typeface="Calibri" panose="020F0502020204030204" pitchFamily="34" charset="0"/>
              </a:rPr>
              <a:t> section uses Garamond, with Times New Roman as a fallback.</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rgbClr val="0D0D0D"/>
                </a:solidFill>
                <a:effectLst/>
                <a:latin typeface="Calibri" panose="020F0502020204030204" pitchFamily="34" charset="0"/>
                <a:cs typeface="Calibri" panose="020F0502020204030204" pitchFamily="34" charset="0"/>
              </a:rPr>
              <a:t> background-color: #F0F9E6;</a:t>
            </a:r>
            <a:r>
              <a:rPr kumimoji="0" lang="en-US" altLang="en-US" sz="2400" b="0" i="0" u="none" strike="noStrike" cap="none" normalizeH="0" baseline="0" dirty="0">
                <a:ln>
                  <a:noFill/>
                </a:ln>
                <a:solidFill>
                  <a:srgbClr val="0D0D0D"/>
                </a:solidFill>
                <a:effectLst/>
                <a:latin typeface="Calibri" panose="020F0502020204030204" pitchFamily="34" charset="0"/>
                <a:cs typeface="Calibri" panose="020F0502020204030204" pitchFamily="34" charset="0"/>
              </a:rPr>
              <a:t>: A lighter shade of green is set as the background color.</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rgbClr val="0D0D0D"/>
                </a:solidFill>
                <a:effectLst/>
                <a:latin typeface="Calibri" panose="020F0502020204030204" pitchFamily="34" charset="0"/>
                <a:cs typeface="Calibri" panose="020F0502020204030204" pitchFamily="34" charset="0"/>
              </a:rPr>
              <a:t> padding: 10px;</a:t>
            </a:r>
            <a:r>
              <a:rPr kumimoji="0" lang="en-US" altLang="en-US" sz="2400" b="0" i="0" u="none" strike="noStrike" cap="none" normalizeH="0" baseline="0" dirty="0">
                <a:ln>
                  <a:noFill/>
                </a:ln>
                <a:solidFill>
                  <a:srgbClr val="0D0D0D"/>
                </a:solidFill>
                <a:effectLst/>
                <a:latin typeface="Calibri" panose="020F0502020204030204" pitchFamily="34" charset="0"/>
                <a:cs typeface="Calibri" panose="020F0502020204030204" pitchFamily="34" charset="0"/>
              </a:rPr>
              <a:t>: Adds padding around the content inside the </a:t>
            </a:r>
            <a:r>
              <a:rPr kumimoji="0" lang="en-US" altLang="en-US" sz="2400" b="1" i="0" u="none" strike="noStrike" cap="none" normalizeH="0" baseline="0" dirty="0">
                <a:ln>
                  <a:noFill/>
                </a:ln>
                <a:solidFill>
                  <a:srgbClr val="0D0D0D"/>
                </a:solidFill>
                <a:effectLst/>
                <a:latin typeface="Calibri" panose="020F0502020204030204" pitchFamily="34" charset="0"/>
                <a:cs typeface="Calibri" panose="020F0502020204030204" pitchFamily="34" charset="0"/>
              </a:rPr>
              <a:t>#main</a:t>
            </a:r>
            <a:r>
              <a:rPr kumimoji="0" lang="en-US" altLang="en-US" sz="2400" b="0" i="0" u="none" strike="noStrike" cap="none" normalizeH="0" baseline="0" dirty="0">
                <a:ln>
                  <a:noFill/>
                </a:ln>
                <a:solidFill>
                  <a:srgbClr val="0D0D0D"/>
                </a:solidFill>
                <a:effectLst/>
                <a:latin typeface="Calibri" panose="020F0502020204030204" pitchFamily="34" charset="0"/>
                <a:cs typeface="Calibri" panose="020F0502020204030204" pitchFamily="34" charset="0"/>
              </a:rPr>
              <a:t> section, increasing its readability.</a:t>
            </a:r>
          </a:p>
          <a:p>
            <a:pPr marL="0" marR="0" lvl="0" indent="0" algn="l" defTabSz="914400" rtl="0" eaLnBrk="0" fontAlgn="base" latinLnBrk="0" hangingPunct="0">
              <a:lnSpc>
                <a:spcPct val="100000"/>
              </a:lnSpc>
              <a:spcBef>
                <a:spcPct val="0"/>
              </a:spcBef>
              <a:spcAft>
                <a:spcPct val="0"/>
              </a:spcAft>
              <a:buClrTx/>
              <a:buSzTx/>
              <a:tabLst/>
            </a:pPr>
            <a:r>
              <a:rPr lang="en-US" altLang="en-US" sz="2400" b="1" dirty="0">
                <a:solidFill>
                  <a:srgbClr val="0D0D0D"/>
                </a:solidFill>
                <a:latin typeface="Calibri" panose="020F0502020204030204" pitchFamily="34" charset="0"/>
                <a:cs typeface="Calibri" panose="020F0502020204030204" pitchFamily="34" charset="0"/>
              </a:rPr>
              <a:t>6.</a:t>
            </a:r>
            <a:r>
              <a:rPr kumimoji="0" lang="en-US" altLang="en-US" sz="2400" b="1" i="0" u="none" strike="noStrike" cap="none" normalizeH="0" baseline="0" dirty="0">
                <a:ln>
                  <a:noFill/>
                </a:ln>
                <a:solidFill>
                  <a:srgbClr val="0D0D0D"/>
                </a:solidFill>
                <a:effectLst/>
                <a:latin typeface="Calibri" panose="020F0502020204030204" pitchFamily="34" charset="0"/>
                <a:cs typeface="Calibri" panose="020F0502020204030204" pitchFamily="34" charset="0"/>
              </a:rPr>
              <a:t> Image Styling</a:t>
            </a:r>
            <a:r>
              <a:rPr kumimoji="0" lang="en-US" altLang="en-US" sz="2400" b="0" i="0" u="none" strike="noStrike" cap="none" normalizeH="0" baseline="0" dirty="0">
                <a:ln>
                  <a:noFill/>
                </a:ln>
                <a:solidFill>
                  <a:srgbClr val="0D0D0D"/>
                </a:solidFill>
                <a:effectLst/>
                <a:latin typeface="Calibri" panose="020F0502020204030204" pitchFamily="34" charset="0"/>
                <a:cs typeface="Calibri" panose="020F0502020204030204" pitchFamily="34" charset="0"/>
              </a:rPr>
              <a:t>:</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rgbClr val="0D0D0D"/>
                </a:solidFill>
                <a:effectLst/>
                <a:latin typeface="Calibri" panose="020F0502020204030204" pitchFamily="34" charset="0"/>
                <a:cs typeface="Calibri" panose="020F0502020204030204" pitchFamily="34" charset="0"/>
              </a:rPr>
              <a:t> float: left;</a:t>
            </a:r>
            <a:r>
              <a:rPr kumimoji="0" lang="en-US" altLang="en-US" sz="2400" b="0" i="0" u="none" strike="noStrike" cap="none" normalizeH="0" baseline="0" dirty="0">
                <a:ln>
                  <a:noFill/>
                </a:ln>
                <a:solidFill>
                  <a:srgbClr val="0D0D0D"/>
                </a:solidFill>
                <a:effectLst/>
                <a:latin typeface="Calibri" panose="020F0502020204030204" pitchFamily="34" charset="0"/>
                <a:cs typeface="Calibri" panose="020F0502020204030204" pitchFamily="34" charset="0"/>
              </a:rPr>
              <a:t>: Images will float to the left, allowing text to wrap around on the right.</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rgbClr val="0D0D0D"/>
                </a:solidFill>
                <a:effectLst/>
                <a:latin typeface="Calibri" panose="020F0502020204030204" pitchFamily="34" charset="0"/>
                <a:cs typeface="Calibri" panose="020F0502020204030204" pitchFamily="34" charset="0"/>
              </a:rPr>
              <a:t> margin-right: 2%;</a:t>
            </a:r>
            <a:r>
              <a:rPr kumimoji="0" lang="en-US" altLang="en-US" sz="2400" b="0" i="0" u="none" strike="noStrike" cap="none" normalizeH="0" baseline="0" dirty="0">
                <a:ln>
                  <a:noFill/>
                </a:ln>
                <a:solidFill>
                  <a:srgbClr val="0D0D0D"/>
                </a:solidFill>
                <a:effectLst/>
                <a:latin typeface="Calibri" panose="020F0502020204030204" pitchFamily="34" charset="0"/>
                <a:cs typeface="Calibri" panose="020F0502020204030204" pitchFamily="34" charset="0"/>
              </a:rPr>
              <a:t>: Adds a right margin to the images, creating space between them and any adjacent content.</a:t>
            </a:r>
          </a:p>
        </p:txBody>
      </p:sp>
      <p:sp>
        <p:nvSpPr>
          <p:cNvPr id="4" name="Rectangle 2">
            <a:extLst>
              <a:ext uri="{FF2B5EF4-FFF2-40B4-BE49-F238E27FC236}">
                <a16:creationId xmlns:a16="http://schemas.microsoft.com/office/drawing/2014/main" id="{553D0699-C383-8C19-E4CC-F2564623A536}"/>
              </a:ext>
            </a:extLst>
          </p:cNvPr>
          <p:cNvSpPr>
            <a:spLocks noChangeArrowheads="1"/>
          </p:cNvSpPr>
          <p:nvPr/>
        </p:nvSpPr>
        <p:spPr bwMode="auto">
          <a:xfrm>
            <a:off x="0" y="-138499"/>
            <a:ext cx="65" cy="27699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3" name="Rectangle 1">
            <a:extLst>
              <a:ext uri="{FF2B5EF4-FFF2-40B4-BE49-F238E27FC236}">
                <a16:creationId xmlns:a16="http://schemas.microsoft.com/office/drawing/2014/main" id="{7A9871AC-2978-F84D-A5CB-75F085995F14}"/>
              </a:ext>
            </a:extLst>
          </p:cNvPr>
          <p:cNvSpPr>
            <a:spLocks noChangeArrowheads="1"/>
          </p:cNvSpPr>
          <p:nvPr/>
        </p:nvSpPr>
        <p:spPr bwMode="auto">
          <a:xfrm>
            <a:off x="0" y="-138499"/>
            <a:ext cx="65" cy="27699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5" name="Rectangle 1">
            <a:extLst>
              <a:ext uri="{FF2B5EF4-FFF2-40B4-BE49-F238E27FC236}">
                <a16:creationId xmlns:a16="http://schemas.microsoft.com/office/drawing/2014/main" id="{7437BAA1-6C78-E77D-1DCC-07D791B0999A}"/>
              </a:ext>
            </a:extLst>
          </p:cNvPr>
          <p:cNvSpPr>
            <a:spLocks noChangeArrowheads="1"/>
          </p:cNvSpPr>
          <p:nvPr/>
        </p:nvSpPr>
        <p:spPr bwMode="auto">
          <a:xfrm>
            <a:off x="0" y="-138499"/>
            <a:ext cx="65" cy="27699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33249051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294B46E1-9FBA-428F-343C-CC6724C38383}"/>
              </a:ext>
            </a:extLst>
          </p:cNvPr>
          <p:cNvPicPr>
            <a:picLocks noChangeAspect="1"/>
          </p:cNvPicPr>
          <p:nvPr/>
        </p:nvPicPr>
        <p:blipFill rotWithShape="1">
          <a:blip r:embed="rId2"/>
          <a:srcRect l="3966" t="10949" r="55172" b="15402"/>
          <a:stretch/>
        </p:blipFill>
        <p:spPr>
          <a:xfrm>
            <a:off x="5738648" y="0"/>
            <a:ext cx="6453352" cy="6858000"/>
          </a:xfrm>
          <a:prstGeom prst="rect">
            <a:avLst/>
          </a:prstGeom>
        </p:spPr>
      </p:pic>
      <p:sp>
        <p:nvSpPr>
          <p:cNvPr id="2" name="TextBox 1">
            <a:extLst>
              <a:ext uri="{FF2B5EF4-FFF2-40B4-BE49-F238E27FC236}">
                <a16:creationId xmlns:a16="http://schemas.microsoft.com/office/drawing/2014/main" id="{D1718671-E19D-CFD7-42BA-6EBE74B75454}"/>
              </a:ext>
            </a:extLst>
          </p:cNvPr>
          <p:cNvSpPr txBox="1"/>
          <p:nvPr/>
        </p:nvSpPr>
        <p:spPr>
          <a:xfrm>
            <a:off x="199697" y="84083"/>
            <a:ext cx="5538951" cy="6129050"/>
          </a:xfrm>
          <a:prstGeom prst="rect">
            <a:avLst/>
          </a:prstGeom>
          <a:noFill/>
        </p:spPr>
        <p:txBody>
          <a:bodyPr wrap="square" rtlCol="0">
            <a:spAutoFit/>
          </a:bodyPr>
          <a:lstStyle/>
          <a:p>
            <a:pPr marL="0" marR="0" lvl="0" indent="0" algn="l" defTabSz="914400" rtl="0" eaLnBrk="0" fontAlgn="base" latinLnBrk="0" hangingPunct="0">
              <a:lnSpc>
                <a:spcPct val="150000"/>
              </a:lnSpc>
              <a:spcBef>
                <a:spcPct val="0"/>
              </a:spcBef>
              <a:spcAft>
                <a:spcPct val="0"/>
              </a:spcAft>
              <a:buClrTx/>
              <a:buSzTx/>
              <a:tabLst/>
            </a:pPr>
            <a:r>
              <a:rPr kumimoji="0" lang="en-US" altLang="en-US" sz="2400" b="1" i="0" u="none" strike="noStrike" cap="none" normalizeH="0" baseline="0" dirty="0">
                <a:ln>
                  <a:noFill/>
                </a:ln>
                <a:solidFill>
                  <a:srgbClr val="0D0D0D"/>
                </a:solidFill>
                <a:effectLst/>
                <a:latin typeface="Calibri" panose="020F0502020204030204" pitchFamily="34" charset="0"/>
                <a:cs typeface="Calibri" panose="020F0502020204030204" pitchFamily="34" charset="0"/>
              </a:rPr>
              <a:t>7. Navigation Clearing</a:t>
            </a:r>
            <a:r>
              <a:rPr kumimoji="0" lang="en-US" altLang="en-US" sz="2400" b="0" i="0" u="none" strike="noStrike" cap="none" normalizeH="0" baseline="0" dirty="0">
                <a:ln>
                  <a:noFill/>
                </a:ln>
                <a:solidFill>
                  <a:srgbClr val="0D0D0D"/>
                </a:solidFill>
                <a:effectLst/>
                <a:latin typeface="Calibri" panose="020F0502020204030204" pitchFamily="34" charset="0"/>
                <a:cs typeface="Calibri" panose="020F0502020204030204" pitchFamily="34" charset="0"/>
              </a:rPr>
              <a:t>:</a:t>
            </a:r>
          </a:p>
          <a:p>
            <a:pPr marL="457200" marR="0" lvl="1" indent="0" algn="l" defTabSz="914400" rtl="0" eaLnBrk="0" fontAlgn="base" latinLnBrk="0" hangingPunct="0">
              <a:lnSpc>
                <a:spcPct val="150000"/>
              </a:lnSpc>
              <a:spcBef>
                <a:spcPct val="0"/>
              </a:spcBef>
              <a:spcAft>
                <a:spcPct val="0"/>
              </a:spcAft>
              <a:buClrTx/>
              <a:buSzTx/>
              <a:buFontTx/>
              <a:buChar char="•"/>
              <a:tabLst/>
            </a:pPr>
            <a:r>
              <a:rPr kumimoji="0" lang="en-US" altLang="en-US" sz="2400" b="1" i="0" u="none" strike="noStrike" cap="none" normalizeH="0" baseline="0" dirty="0">
                <a:ln>
                  <a:noFill/>
                </a:ln>
                <a:solidFill>
                  <a:srgbClr val="0D0D0D"/>
                </a:solidFill>
                <a:effectLst/>
                <a:latin typeface="Calibri" panose="020F0502020204030204" pitchFamily="34" charset="0"/>
                <a:cs typeface="Calibri" panose="020F0502020204030204" pitchFamily="34" charset="0"/>
              </a:rPr>
              <a:t> clear: both;</a:t>
            </a:r>
            <a:r>
              <a:rPr kumimoji="0" lang="en-US" altLang="en-US" sz="2400" b="0" i="0" u="none" strike="noStrike" cap="none" normalizeH="0" baseline="0" dirty="0">
                <a:ln>
                  <a:noFill/>
                </a:ln>
                <a:solidFill>
                  <a:srgbClr val="0D0D0D"/>
                </a:solidFill>
                <a:effectLst/>
                <a:latin typeface="Calibri" panose="020F0502020204030204" pitchFamily="34" charset="0"/>
                <a:cs typeface="Calibri" panose="020F0502020204030204" pitchFamily="34" charset="0"/>
              </a:rPr>
              <a:t>: Ensures that the </a:t>
            </a:r>
            <a:r>
              <a:rPr kumimoji="0" lang="en-US" altLang="en-US" sz="2400" b="1" i="0" u="none" strike="noStrike" cap="none" normalizeH="0" baseline="0" dirty="0">
                <a:ln>
                  <a:noFill/>
                </a:ln>
                <a:solidFill>
                  <a:srgbClr val="0D0D0D"/>
                </a:solidFill>
                <a:effectLst/>
                <a:latin typeface="Calibri" panose="020F0502020204030204" pitchFamily="34" charset="0"/>
                <a:cs typeface="Calibri" panose="020F0502020204030204" pitchFamily="34" charset="0"/>
              </a:rPr>
              <a:t>nav</a:t>
            </a:r>
            <a:r>
              <a:rPr kumimoji="0" lang="en-US" altLang="en-US" sz="2400" b="0" i="0" u="none" strike="noStrike" cap="none" normalizeH="0" baseline="0" dirty="0">
                <a:ln>
                  <a:noFill/>
                </a:ln>
                <a:solidFill>
                  <a:srgbClr val="0D0D0D"/>
                </a:solidFill>
                <a:effectLst/>
                <a:latin typeface="Calibri" panose="020F0502020204030204" pitchFamily="34" charset="0"/>
                <a:cs typeface="Calibri" panose="020F0502020204030204" pitchFamily="34" charset="0"/>
              </a:rPr>
              <a:t> element does not wrap around any floated elements above it, effectively clearing previous floats.</a:t>
            </a:r>
          </a:p>
          <a:p>
            <a:pPr marL="0" marR="0" lvl="0" indent="0" algn="l" defTabSz="914400" rtl="0" eaLnBrk="0" fontAlgn="base" latinLnBrk="0" hangingPunct="0">
              <a:lnSpc>
                <a:spcPct val="150000"/>
              </a:lnSpc>
              <a:spcBef>
                <a:spcPct val="0"/>
              </a:spcBef>
              <a:spcAft>
                <a:spcPct val="0"/>
              </a:spcAft>
              <a:buClrTx/>
              <a:buSzTx/>
              <a:tabLst/>
            </a:pPr>
            <a:r>
              <a:rPr kumimoji="0" lang="en-US" altLang="en-US" sz="2400" b="1" i="0" u="none" strike="noStrike" cap="none" normalizeH="0" baseline="0" dirty="0">
                <a:ln>
                  <a:noFill/>
                </a:ln>
                <a:solidFill>
                  <a:srgbClr val="0D0D0D"/>
                </a:solidFill>
                <a:effectLst/>
                <a:latin typeface="Calibri" panose="020F0502020204030204" pitchFamily="34" charset="0"/>
                <a:cs typeface="Calibri" panose="020F0502020204030204" pitchFamily="34" charset="0"/>
              </a:rPr>
              <a:t>8. Footer Styling</a:t>
            </a:r>
            <a:r>
              <a:rPr kumimoji="0" lang="en-US" altLang="en-US" sz="2400" b="0" i="0" u="none" strike="noStrike" cap="none" normalizeH="0" baseline="0" dirty="0">
                <a:ln>
                  <a:noFill/>
                </a:ln>
                <a:solidFill>
                  <a:srgbClr val="0D0D0D"/>
                </a:solidFill>
                <a:effectLst/>
                <a:latin typeface="Calibri" panose="020F0502020204030204" pitchFamily="34" charset="0"/>
                <a:cs typeface="Calibri" panose="020F0502020204030204" pitchFamily="34" charset="0"/>
              </a:rPr>
              <a:t>:</a:t>
            </a:r>
          </a:p>
          <a:p>
            <a:pPr marL="457200" marR="0" lvl="1" indent="0" algn="l" defTabSz="914400" rtl="0" eaLnBrk="0" fontAlgn="base" latinLnBrk="0" hangingPunct="0">
              <a:lnSpc>
                <a:spcPct val="150000"/>
              </a:lnSpc>
              <a:spcBef>
                <a:spcPct val="0"/>
              </a:spcBef>
              <a:spcAft>
                <a:spcPct val="0"/>
              </a:spcAft>
              <a:buClrTx/>
              <a:buSzTx/>
              <a:buFontTx/>
              <a:buChar char="•"/>
              <a:tabLst/>
            </a:pPr>
            <a:r>
              <a:rPr kumimoji="0" lang="en-US" altLang="en-US" sz="2400" b="1" i="0" u="none" strike="noStrike" cap="none" normalizeH="0" baseline="0" dirty="0">
                <a:ln>
                  <a:noFill/>
                </a:ln>
                <a:solidFill>
                  <a:srgbClr val="0D0D0D"/>
                </a:solidFill>
                <a:effectLst/>
                <a:latin typeface="Calibri" panose="020F0502020204030204" pitchFamily="34" charset="0"/>
                <a:cs typeface="Calibri" panose="020F0502020204030204" pitchFamily="34" charset="0"/>
              </a:rPr>
              <a:t> font-size: 0.75em;</a:t>
            </a:r>
            <a:r>
              <a:rPr kumimoji="0" lang="en-US" altLang="en-US" sz="2400" b="0" i="0" u="none" strike="noStrike" cap="none" normalizeH="0" baseline="0" dirty="0">
                <a:ln>
                  <a:noFill/>
                </a:ln>
                <a:solidFill>
                  <a:srgbClr val="0D0D0D"/>
                </a:solidFill>
                <a:effectLst/>
                <a:latin typeface="Calibri" panose="020F0502020204030204" pitchFamily="34" charset="0"/>
                <a:cs typeface="Calibri" panose="020F0502020204030204" pitchFamily="34" charset="0"/>
              </a:rPr>
              <a:t>: The font size in the footer is smaller than the rest of the text.</a:t>
            </a:r>
          </a:p>
          <a:p>
            <a:pPr marL="457200" marR="0" lvl="1" indent="0" algn="l" defTabSz="914400" rtl="0" eaLnBrk="0" fontAlgn="base" latinLnBrk="0" hangingPunct="0">
              <a:lnSpc>
                <a:spcPct val="150000"/>
              </a:lnSpc>
              <a:spcBef>
                <a:spcPct val="0"/>
              </a:spcBef>
              <a:spcAft>
                <a:spcPct val="0"/>
              </a:spcAft>
              <a:buClrTx/>
              <a:buSzTx/>
              <a:buFontTx/>
              <a:buChar char="•"/>
              <a:tabLst/>
            </a:pPr>
            <a:r>
              <a:rPr kumimoji="0" lang="en-US" altLang="en-US" sz="2400" b="1" i="0" u="none" strike="noStrike" cap="none" normalizeH="0" baseline="0" dirty="0">
                <a:ln>
                  <a:noFill/>
                </a:ln>
                <a:solidFill>
                  <a:srgbClr val="0D0D0D"/>
                </a:solidFill>
                <a:effectLst/>
                <a:latin typeface="Calibri" panose="020F0502020204030204" pitchFamily="34" charset="0"/>
                <a:cs typeface="Calibri" panose="020F0502020204030204" pitchFamily="34" charset="0"/>
              </a:rPr>
              <a:t> text-align: center;</a:t>
            </a:r>
            <a:r>
              <a:rPr kumimoji="0" lang="en-US" altLang="en-US" sz="2400" b="0" i="0" u="none" strike="noStrike" cap="none" normalizeH="0" baseline="0" dirty="0">
                <a:ln>
                  <a:noFill/>
                </a:ln>
                <a:solidFill>
                  <a:srgbClr val="0D0D0D"/>
                </a:solidFill>
                <a:effectLst/>
                <a:latin typeface="Calibri" panose="020F0502020204030204" pitchFamily="34" charset="0"/>
                <a:cs typeface="Calibri" panose="020F0502020204030204" pitchFamily="34" charset="0"/>
              </a:rPr>
              <a:t>: Centers the text within the footer.</a:t>
            </a:r>
          </a:p>
        </p:txBody>
      </p:sp>
      <p:sp>
        <p:nvSpPr>
          <p:cNvPr id="4" name="Rectangle 2">
            <a:extLst>
              <a:ext uri="{FF2B5EF4-FFF2-40B4-BE49-F238E27FC236}">
                <a16:creationId xmlns:a16="http://schemas.microsoft.com/office/drawing/2014/main" id="{553D0699-C383-8C19-E4CC-F2564623A536}"/>
              </a:ext>
            </a:extLst>
          </p:cNvPr>
          <p:cNvSpPr>
            <a:spLocks noChangeArrowheads="1"/>
          </p:cNvSpPr>
          <p:nvPr/>
        </p:nvSpPr>
        <p:spPr bwMode="auto">
          <a:xfrm>
            <a:off x="0" y="-138499"/>
            <a:ext cx="65" cy="27699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3" name="Rectangle 1">
            <a:extLst>
              <a:ext uri="{FF2B5EF4-FFF2-40B4-BE49-F238E27FC236}">
                <a16:creationId xmlns:a16="http://schemas.microsoft.com/office/drawing/2014/main" id="{7A9871AC-2978-F84D-A5CB-75F085995F14}"/>
              </a:ext>
            </a:extLst>
          </p:cNvPr>
          <p:cNvSpPr>
            <a:spLocks noChangeArrowheads="1"/>
          </p:cNvSpPr>
          <p:nvPr/>
        </p:nvSpPr>
        <p:spPr bwMode="auto">
          <a:xfrm>
            <a:off x="0" y="-138499"/>
            <a:ext cx="65" cy="27699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5" name="Rectangle 1">
            <a:extLst>
              <a:ext uri="{FF2B5EF4-FFF2-40B4-BE49-F238E27FC236}">
                <a16:creationId xmlns:a16="http://schemas.microsoft.com/office/drawing/2014/main" id="{7437BAA1-6C78-E77D-1DCC-07D791B0999A}"/>
              </a:ext>
            </a:extLst>
          </p:cNvPr>
          <p:cNvSpPr>
            <a:spLocks noChangeArrowheads="1"/>
          </p:cNvSpPr>
          <p:nvPr/>
        </p:nvSpPr>
        <p:spPr bwMode="auto">
          <a:xfrm>
            <a:off x="0" y="-138499"/>
            <a:ext cx="65" cy="27699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6" name="Rectangle 1">
            <a:extLst>
              <a:ext uri="{FF2B5EF4-FFF2-40B4-BE49-F238E27FC236}">
                <a16:creationId xmlns:a16="http://schemas.microsoft.com/office/drawing/2014/main" id="{798F94D8-7C68-C146-2D25-9DB4A86DCF48}"/>
              </a:ext>
            </a:extLst>
          </p:cNvPr>
          <p:cNvSpPr>
            <a:spLocks noChangeArrowheads="1"/>
          </p:cNvSpPr>
          <p:nvPr/>
        </p:nvSpPr>
        <p:spPr bwMode="auto">
          <a:xfrm>
            <a:off x="0" y="-138499"/>
            <a:ext cx="65" cy="27699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13809894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C1E860A5-C787-D510-5B7D-5D71237BAFC6}"/>
              </a:ext>
            </a:extLst>
          </p:cNvPr>
          <p:cNvSpPr txBox="1"/>
          <p:nvPr/>
        </p:nvSpPr>
        <p:spPr>
          <a:xfrm>
            <a:off x="0" y="0"/>
            <a:ext cx="12191999" cy="550535"/>
          </a:xfrm>
          <a:prstGeom prst="rect">
            <a:avLst/>
          </a:prstGeom>
          <a:noFill/>
        </p:spPr>
        <p:txBody>
          <a:bodyPr wrap="square">
            <a:spAutoFit/>
          </a:bodyPr>
          <a:lstStyle/>
          <a:p>
            <a:pPr>
              <a:lnSpc>
                <a:spcPct val="150000"/>
              </a:lnSpc>
            </a:pPr>
            <a:r>
              <a:rPr lang="en-US" sz="2200" b="1" dirty="0">
                <a:latin typeface="Calibri" panose="020F0502020204030204" pitchFamily="34" charset="0"/>
                <a:cs typeface="Calibri" panose="020F0502020204030204" pitchFamily="34" charset="0"/>
              </a:rPr>
              <a:t>Step 3) Linking the CSS to HTML</a:t>
            </a:r>
            <a:endParaRPr lang="en-AU" sz="2200" b="1" dirty="0"/>
          </a:p>
        </p:txBody>
      </p:sp>
      <p:sp>
        <p:nvSpPr>
          <p:cNvPr id="2" name="TextBox 1">
            <a:extLst>
              <a:ext uri="{FF2B5EF4-FFF2-40B4-BE49-F238E27FC236}">
                <a16:creationId xmlns:a16="http://schemas.microsoft.com/office/drawing/2014/main" id="{CB46197B-98BB-6364-0455-E27A86880F36}"/>
              </a:ext>
            </a:extLst>
          </p:cNvPr>
          <p:cNvSpPr txBox="1"/>
          <p:nvPr/>
        </p:nvSpPr>
        <p:spPr>
          <a:xfrm>
            <a:off x="21020" y="550535"/>
            <a:ext cx="12191999" cy="461665"/>
          </a:xfrm>
          <a:prstGeom prst="rect">
            <a:avLst/>
          </a:prstGeom>
          <a:noFill/>
        </p:spPr>
        <p:txBody>
          <a:bodyPr wrap="square" rtlCol="0">
            <a:spAutoFit/>
          </a:bodyPr>
          <a:lstStyle/>
          <a:p>
            <a:r>
              <a:rPr lang="en-US" sz="2400" dirty="0">
                <a:latin typeface="Calibri" panose="020F0502020204030204" pitchFamily="34" charset="0"/>
                <a:cs typeface="Calibri" panose="020F0502020204030204" pitchFamily="34" charset="0"/>
              </a:rPr>
              <a:t>In the &lt;head&gt; of the HTML document, add the link to the external CSS file:</a:t>
            </a:r>
            <a:endParaRPr lang="en-AU" sz="2400" dirty="0">
              <a:latin typeface="Calibri" panose="020F0502020204030204" pitchFamily="34" charset="0"/>
              <a:cs typeface="Calibri" panose="020F0502020204030204" pitchFamily="34" charset="0"/>
            </a:endParaRPr>
          </a:p>
        </p:txBody>
      </p:sp>
      <p:sp>
        <p:nvSpPr>
          <p:cNvPr id="5" name="TextBox 4">
            <a:extLst>
              <a:ext uri="{FF2B5EF4-FFF2-40B4-BE49-F238E27FC236}">
                <a16:creationId xmlns:a16="http://schemas.microsoft.com/office/drawing/2014/main" id="{27553E1F-8556-3B33-4887-391118DCD49F}"/>
              </a:ext>
            </a:extLst>
          </p:cNvPr>
          <p:cNvSpPr txBox="1"/>
          <p:nvPr/>
        </p:nvSpPr>
        <p:spPr>
          <a:xfrm>
            <a:off x="126124" y="1830317"/>
            <a:ext cx="11645462" cy="1563377"/>
          </a:xfrm>
          <a:prstGeom prst="rect">
            <a:avLst/>
          </a:prstGeom>
          <a:noFill/>
        </p:spPr>
        <p:txBody>
          <a:bodyPr wrap="square" rtlCol="0">
            <a:spAutoFit/>
          </a:bodyPr>
          <a:lstStyle/>
          <a:p>
            <a:pPr>
              <a:lnSpc>
                <a:spcPct val="150000"/>
              </a:lnSpc>
            </a:pPr>
            <a:r>
              <a:rPr lang="en-US" sz="2200" dirty="0">
                <a:latin typeface="Calibri" panose="020F0502020204030204" pitchFamily="34" charset="0"/>
                <a:cs typeface="Calibri" panose="020F0502020204030204" pitchFamily="34" charset="0"/>
              </a:rPr>
              <a:t>Remember to validate your HTML and CSS using the W3C validators to ensure that there are no errors in your code​​. Also, you may need to replace placeholders with actual content and URLs based on the project requirements.</a:t>
            </a:r>
            <a:endParaRPr lang="en-AU" sz="2200" dirty="0">
              <a:latin typeface="Calibri" panose="020F0502020204030204" pitchFamily="34" charset="0"/>
              <a:cs typeface="Calibri" panose="020F0502020204030204" pitchFamily="34" charset="0"/>
            </a:endParaRPr>
          </a:p>
        </p:txBody>
      </p:sp>
      <p:pic>
        <p:nvPicPr>
          <p:cNvPr id="11" name="Picture 10">
            <a:extLst>
              <a:ext uri="{FF2B5EF4-FFF2-40B4-BE49-F238E27FC236}">
                <a16:creationId xmlns:a16="http://schemas.microsoft.com/office/drawing/2014/main" id="{AF80C030-1228-2974-7A36-1DEFC827D016}"/>
              </a:ext>
            </a:extLst>
          </p:cNvPr>
          <p:cNvPicPr>
            <a:picLocks noChangeAspect="1"/>
          </p:cNvPicPr>
          <p:nvPr/>
        </p:nvPicPr>
        <p:blipFill>
          <a:blip r:embed="rId2"/>
          <a:stretch>
            <a:fillRect/>
          </a:stretch>
        </p:blipFill>
        <p:spPr>
          <a:xfrm>
            <a:off x="126124" y="1243148"/>
            <a:ext cx="10900223" cy="416988"/>
          </a:xfrm>
          <a:prstGeom prst="rect">
            <a:avLst/>
          </a:prstGeom>
        </p:spPr>
      </p:pic>
      <p:sp>
        <p:nvSpPr>
          <p:cNvPr id="3" name="TextBox 2">
            <a:extLst>
              <a:ext uri="{FF2B5EF4-FFF2-40B4-BE49-F238E27FC236}">
                <a16:creationId xmlns:a16="http://schemas.microsoft.com/office/drawing/2014/main" id="{C7CB98BE-3676-372B-514A-C55617B729D4}"/>
              </a:ext>
            </a:extLst>
          </p:cNvPr>
          <p:cNvSpPr txBox="1"/>
          <p:nvPr/>
        </p:nvSpPr>
        <p:spPr>
          <a:xfrm>
            <a:off x="126124" y="3393694"/>
            <a:ext cx="11645462" cy="1563377"/>
          </a:xfrm>
          <a:prstGeom prst="rect">
            <a:avLst/>
          </a:prstGeom>
          <a:noFill/>
        </p:spPr>
        <p:txBody>
          <a:bodyPr wrap="square" rtlCol="0">
            <a:spAutoFit/>
          </a:bodyPr>
          <a:lstStyle/>
          <a:p>
            <a:pPr>
              <a:lnSpc>
                <a:spcPct val="150000"/>
              </a:lnSpc>
            </a:pPr>
            <a:r>
              <a:rPr lang="en-US" sz="2200" dirty="0">
                <a:latin typeface="Calibri" panose="020F0502020204030204" pitchFamily="34" charset="0"/>
                <a:cs typeface="Calibri" panose="020F0502020204030204" pitchFamily="34" charset="0"/>
              </a:rPr>
              <a:t>To link the external CSS file to the HTML document, we'll need to place the link tag inside the &lt;head&gt; section of your HTML code. Assuming your CSS file is named “Style_Week4_5.css" and it's located in the same directory as our HTML file, here is how we would modify the HTML</a:t>
            </a:r>
            <a:endParaRPr lang="en-AU" sz="22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42109171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3F3419D5-7211-455B-3F5B-645CE7B7A391}"/>
              </a:ext>
            </a:extLst>
          </p:cNvPr>
          <p:cNvPicPr>
            <a:picLocks noChangeAspect="1"/>
          </p:cNvPicPr>
          <p:nvPr/>
        </p:nvPicPr>
        <p:blipFill rotWithShape="1">
          <a:blip r:embed="rId2"/>
          <a:srcRect l="3448" t="7662" r="1207" b="15097"/>
          <a:stretch/>
        </p:blipFill>
        <p:spPr>
          <a:xfrm>
            <a:off x="283778" y="0"/>
            <a:ext cx="11204029" cy="5105634"/>
          </a:xfrm>
          <a:prstGeom prst="rect">
            <a:avLst/>
          </a:prstGeom>
        </p:spPr>
      </p:pic>
      <p:sp>
        <p:nvSpPr>
          <p:cNvPr id="8" name="TextBox 7">
            <a:extLst>
              <a:ext uri="{FF2B5EF4-FFF2-40B4-BE49-F238E27FC236}">
                <a16:creationId xmlns:a16="http://schemas.microsoft.com/office/drawing/2014/main" id="{C80ABE26-BD15-B74D-AF7A-2C728588BBE9}"/>
              </a:ext>
            </a:extLst>
          </p:cNvPr>
          <p:cNvSpPr txBox="1"/>
          <p:nvPr/>
        </p:nvSpPr>
        <p:spPr>
          <a:xfrm>
            <a:off x="7893269" y="231228"/>
            <a:ext cx="4214647" cy="550535"/>
          </a:xfrm>
          <a:prstGeom prst="rect">
            <a:avLst/>
          </a:prstGeom>
          <a:noFill/>
        </p:spPr>
        <p:txBody>
          <a:bodyPr wrap="square">
            <a:spAutoFit/>
          </a:bodyPr>
          <a:lstStyle/>
          <a:p>
            <a:pPr>
              <a:lnSpc>
                <a:spcPct val="150000"/>
              </a:lnSpc>
            </a:pPr>
            <a:r>
              <a:rPr lang="en-US" sz="2200" b="1" dirty="0">
                <a:latin typeface="Calibri" panose="020F0502020204030204" pitchFamily="34" charset="0"/>
                <a:cs typeface="Calibri" panose="020F0502020204030204" pitchFamily="34" charset="0"/>
              </a:rPr>
              <a:t>HTML linked to the external CSS</a:t>
            </a:r>
            <a:endParaRPr lang="en-AU" sz="2200" b="1" dirty="0"/>
          </a:p>
        </p:txBody>
      </p:sp>
      <p:sp>
        <p:nvSpPr>
          <p:cNvPr id="9" name="TextBox 8">
            <a:extLst>
              <a:ext uri="{FF2B5EF4-FFF2-40B4-BE49-F238E27FC236}">
                <a16:creationId xmlns:a16="http://schemas.microsoft.com/office/drawing/2014/main" id="{80E7A657-5E5C-932C-DA63-D40EE3DE1FCA}"/>
              </a:ext>
            </a:extLst>
          </p:cNvPr>
          <p:cNvSpPr txBox="1"/>
          <p:nvPr/>
        </p:nvSpPr>
        <p:spPr>
          <a:xfrm>
            <a:off x="541281" y="4734342"/>
            <a:ext cx="11109434" cy="2123658"/>
          </a:xfrm>
          <a:prstGeom prst="rect">
            <a:avLst/>
          </a:prstGeom>
          <a:noFill/>
        </p:spPr>
        <p:txBody>
          <a:bodyPr wrap="square" rtlCol="0">
            <a:spAutoFit/>
          </a:bodyPr>
          <a:lstStyle/>
          <a:p>
            <a:pPr marL="342900" indent="-342900">
              <a:buFont typeface="Arial" panose="020B0604020202020204" pitchFamily="34" charset="0"/>
              <a:buChar char="•"/>
            </a:pPr>
            <a:r>
              <a:rPr lang="en-US" sz="2200" dirty="0">
                <a:latin typeface="Calibri" panose="020F0502020204030204" pitchFamily="34" charset="0"/>
                <a:cs typeface="Calibri" panose="020F0502020204030204" pitchFamily="34" charset="0"/>
              </a:rPr>
              <a:t>Ensure that the path in the </a:t>
            </a:r>
            <a:r>
              <a:rPr lang="en-US" sz="2200" b="1" dirty="0" err="1">
                <a:latin typeface="Calibri" panose="020F0502020204030204" pitchFamily="34" charset="0"/>
                <a:cs typeface="Calibri" panose="020F0502020204030204" pitchFamily="34" charset="0"/>
              </a:rPr>
              <a:t>href</a:t>
            </a:r>
            <a:r>
              <a:rPr lang="en-US" sz="2200" dirty="0">
                <a:latin typeface="Calibri" panose="020F0502020204030204" pitchFamily="34" charset="0"/>
                <a:cs typeface="Calibri" panose="020F0502020204030204" pitchFamily="34" charset="0"/>
              </a:rPr>
              <a:t> attribute correctly points to the location of our CSS file. If the CSS file is in a subfolder, for instance, a folder named "</a:t>
            </a:r>
            <a:r>
              <a:rPr lang="en-US" sz="2200" dirty="0" err="1">
                <a:latin typeface="Calibri" panose="020F0502020204030204" pitchFamily="34" charset="0"/>
                <a:cs typeface="Calibri" panose="020F0502020204030204" pitchFamily="34" charset="0"/>
              </a:rPr>
              <a:t>css</a:t>
            </a:r>
            <a:r>
              <a:rPr lang="en-US" sz="2200" dirty="0">
                <a:latin typeface="Calibri" panose="020F0502020204030204" pitchFamily="34" charset="0"/>
                <a:cs typeface="Calibri" panose="020F0502020204030204" pitchFamily="34" charset="0"/>
              </a:rPr>
              <a:t>", the </a:t>
            </a:r>
            <a:r>
              <a:rPr lang="en-US" sz="2200" b="1" dirty="0" err="1">
                <a:latin typeface="Calibri" panose="020F0502020204030204" pitchFamily="34" charset="0"/>
                <a:cs typeface="Calibri" panose="020F0502020204030204" pitchFamily="34" charset="0"/>
              </a:rPr>
              <a:t>href</a:t>
            </a:r>
            <a:r>
              <a:rPr lang="en-US" sz="2200" dirty="0">
                <a:latin typeface="Calibri" panose="020F0502020204030204" pitchFamily="34" charset="0"/>
                <a:cs typeface="Calibri" panose="020F0502020204030204" pitchFamily="34" charset="0"/>
              </a:rPr>
              <a:t> would be </a:t>
            </a:r>
            <a:r>
              <a:rPr lang="en-US" sz="2200" b="1" dirty="0" err="1">
                <a:latin typeface="Calibri" panose="020F0502020204030204" pitchFamily="34" charset="0"/>
                <a:cs typeface="Calibri" panose="020F0502020204030204" pitchFamily="34" charset="0"/>
              </a:rPr>
              <a:t>css</a:t>
            </a:r>
            <a:r>
              <a:rPr lang="en-US" sz="2200" b="1" dirty="0">
                <a:latin typeface="Calibri" panose="020F0502020204030204" pitchFamily="34" charset="0"/>
                <a:cs typeface="Calibri" panose="020F0502020204030204" pitchFamily="34" charset="0"/>
              </a:rPr>
              <a:t>/Style_Week4_5.css</a:t>
            </a:r>
            <a:r>
              <a:rPr lang="en-US" sz="2200" dirty="0">
                <a:latin typeface="Calibri" panose="020F0502020204030204" pitchFamily="34" charset="0"/>
                <a:cs typeface="Calibri" panose="020F0502020204030204" pitchFamily="34" charset="0"/>
              </a:rPr>
              <a:t>. If it's in the same directory, just using </a:t>
            </a:r>
            <a:r>
              <a:rPr lang="en-US" sz="2200" b="1" dirty="0">
                <a:latin typeface="Calibri" panose="020F0502020204030204" pitchFamily="34" charset="0"/>
                <a:cs typeface="Calibri" panose="020F0502020204030204" pitchFamily="34" charset="0"/>
              </a:rPr>
              <a:t>Style_Week4_5.css </a:t>
            </a:r>
            <a:r>
              <a:rPr lang="en-US" sz="2200" dirty="0">
                <a:latin typeface="Calibri" panose="020F0502020204030204" pitchFamily="34" charset="0"/>
                <a:cs typeface="Calibri" panose="020F0502020204030204" pitchFamily="34" charset="0"/>
              </a:rPr>
              <a:t>as shown above is sufficient.</a:t>
            </a:r>
          </a:p>
          <a:p>
            <a:pPr marL="342900" indent="-342900">
              <a:buFont typeface="Arial" panose="020B0604020202020204" pitchFamily="34" charset="0"/>
              <a:buChar char="•"/>
            </a:pPr>
            <a:r>
              <a:rPr lang="en-US" sz="2200" dirty="0">
                <a:latin typeface="Calibri" panose="020F0502020204030204" pitchFamily="34" charset="0"/>
                <a:cs typeface="Calibri" panose="020F0502020204030204" pitchFamily="34" charset="0"/>
              </a:rPr>
              <a:t>Remember that the name of the CSS file in the </a:t>
            </a:r>
            <a:r>
              <a:rPr lang="en-US" sz="2200" b="1" dirty="0" err="1">
                <a:latin typeface="Calibri" panose="020F0502020204030204" pitchFamily="34" charset="0"/>
                <a:cs typeface="Calibri" panose="020F0502020204030204" pitchFamily="34" charset="0"/>
              </a:rPr>
              <a:t>href</a:t>
            </a:r>
            <a:r>
              <a:rPr lang="en-US" sz="2200" dirty="0">
                <a:latin typeface="Calibri" panose="020F0502020204030204" pitchFamily="34" charset="0"/>
                <a:cs typeface="Calibri" panose="020F0502020204030204" pitchFamily="34" charset="0"/>
              </a:rPr>
              <a:t> attribute must match exactly the name of the CSS file we've created, including letter case, as some servers are case-sensitive.</a:t>
            </a:r>
            <a:endParaRPr lang="en-AU" sz="22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59424813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C80ABE26-BD15-B74D-AF7A-2C728588BBE9}"/>
              </a:ext>
            </a:extLst>
          </p:cNvPr>
          <p:cNvSpPr txBox="1"/>
          <p:nvPr/>
        </p:nvSpPr>
        <p:spPr>
          <a:xfrm>
            <a:off x="0" y="0"/>
            <a:ext cx="4214647" cy="592150"/>
          </a:xfrm>
          <a:prstGeom prst="rect">
            <a:avLst/>
          </a:prstGeom>
          <a:noFill/>
        </p:spPr>
        <p:txBody>
          <a:bodyPr wrap="square">
            <a:spAutoFit/>
          </a:bodyPr>
          <a:lstStyle/>
          <a:p>
            <a:pPr>
              <a:lnSpc>
                <a:spcPct val="150000"/>
              </a:lnSpc>
            </a:pPr>
            <a:r>
              <a:rPr lang="en-US" sz="2400" b="1" dirty="0">
                <a:latin typeface="Calibri" panose="020F0502020204030204" pitchFamily="34" charset="0"/>
                <a:cs typeface="Calibri" panose="020F0502020204030204" pitchFamily="34" charset="0"/>
              </a:rPr>
              <a:t>Choose Title for the HTML)</a:t>
            </a:r>
            <a:endParaRPr lang="en-AU" sz="2400" b="1" dirty="0"/>
          </a:p>
        </p:txBody>
      </p:sp>
      <p:sp>
        <p:nvSpPr>
          <p:cNvPr id="9" name="TextBox 8">
            <a:extLst>
              <a:ext uri="{FF2B5EF4-FFF2-40B4-BE49-F238E27FC236}">
                <a16:creationId xmlns:a16="http://schemas.microsoft.com/office/drawing/2014/main" id="{80E7A657-5E5C-932C-DA63-D40EE3DE1FCA}"/>
              </a:ext>
            </a:extLst>
          </p:cNvPr>
          <p:cNvSpPr txBox="1"/>
          <p:nvPr/>
        </p:nvSpPr>
        <p:spPr>
          <a:xfrm>
            <a:off x="541283" y="641474"/>
            <a:ext cx="11109434" cy="5575052"/>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en-US" sz="2400" dirty="0">
                <a:latin typeface="Calibri" panose="020F0502020204030204" pitchFamily="34" charset="0"/>
                <a:cs typeface="Calibri" panose="020F0502020204030204" pitchFamily="34" charset="0"/>
              </a:rPr>
              <a:t>To choose the best </a:t>
            </a:r>
            <a:r>
              <a:rPr lang="en-US" sz="2400" b="1" dirty="0">
                <a:latin typeface="Calibri" panose="020F0502020204030204" pitchFamily="34" charset="0"/>
                <a:cs typeface="Calibri" panose="020F0502020204030204" pitchFamily="34" charset="0"/>
              </a:rPr>
              <a:t>title</a:t>
            </a:r>
            <a:r>
              <a:rPr lang="en-US" sz="2400" dirty="0">
                <a:latin typeface="Calibri" panose="020F0502020204030204" pitchFamily="34" charset="0"/>
                <a:cs typeface="Calibri" panose="020F0502020204030204" pitchFamily="34" charset="0"/>
              </a:rPr>
              <a:t> for the HTML document, consider the content and purpose of the website. The &lt;</a:t>
            </a:r>
            <a:r>
              <a:rPr lang="en-US" sz="2400" b="1" dirty="0">
                <a:latin typeface="Calibri" panose="020F0502020204030204" pitchFamily="34" charset="0"/>
                <a:cs typeface="Calibri" panose="020F0502020204030204" pitchFamily="34" charset="0"/>
              </a:rPr>
              <a:t>title</a:t>
            </a:r>
            <a:r>
              <a:rPr lang="en-US" sz="2400" dirty="0">
                <a:latin typeface="Calibri" panose="020F0502020204030204" pitchFamily="34" charset="0"/>
                <a:cs typeface="Calibri" panose="020F0502020204030204" pitchFamily="34" charset="0"/>
              </a:rPr>
              <a:t>&gt; tag is crucial because it provides context for what the page is about, and it's the text that appears in the browser tab, bookmarks, and search results. Here’s how to think about a good title:</a:t>
            </a:r>
          </a:p>
          <a:p>
            <a:pPr marL="457200" indent="-457200">
              <a:lnSpc>
                <a:spcPct val="150000"/>
              </a:lnSpc>
              <a:buFont typeface="+mj-lt"/>
              <a:buAutoNum type="arabicPeriod"/>
            </a:pPr>
            <a:r>
              <a:rPr lang="en-US" sz="2400" b="1" dirty="0">
                <a:latin typeface="Calibri" panose="020F0502020204030204" pitchFamily="34" charset="0"/>
                <a:cs typeface="Calibri" panose="020F0502020204030204" pitchFamily="34" charset="0"/>
              </a:rPr>
              <a:t>Descriptive: </a:t>
            </a:r>
            <a:r>
              <a:rPr lang="en-US" sz="2400" dirty="0">
                <a:latin typeface="Calibri" panose="020F0502020204030204" pitchFamily="34" charset="0"/>
                <a:cs typeface="Calibri" panose="020F0502020204030204" pitchFamily="34" charset="0"/>
              </a:rPr>
              <a:t>It should clearly indicate the content of the page.</a:t>
            </a:r>
          </a:p>
          <a:p>
            <a:pPr marL="457200" indent="-457200">
              <a:lnSpc>
                <a:spcPct val="150000"/>
              </a:lnSpc>
              <a:buFont typeface="+mj-lt"/>
              <a:buAutoNum type="arabicPeriod"/>
            </a:pPr>
            <a:r>
              <a:rPr lang="en-US" sz="2400" b="1" dirty="0">
                <a:latin typeface="Calibri" panose="020F0502020204030204" pitchFamily="34" charset="0"/>
                <a:cs typeface="Calibri" panose="020F0502020204030204" pitchFamily="34" charset="0"/>
              </a:rPr>
              <a:t>Concise: </a:t>
            </a:r>
            <a:r>
              <a:rPr lang="en-US" sz="2400" dirty="0">
                <a:latin typeface="Calibri" panose="020F0502020204030204" pitchFamily="34" charset="0"/>
                <a:cs typeface="Calibri" panose="020F0502020204030204" pitchFamily="34" charset="0"/>
              </a:rPr>
              <a:t>Keep it short but meaningful.</a:t>
            </a:r>
          </a:p>
          <a:p>
            <a:pPr marL="457200" indent="-457200">
              <a:lnSpc>
                <a:spcPct val="150000"/>
              </a:lnSpc>
              <a:buFont typeface="+mj-lt"/>
              <a:buAutoNum type="arabicPeriod"/>
            </a:pPr>
            <a:r>
              <a:rPr lang="en-US" sz="2400" b="1" dirty="0">
                <a:latin typeface="Calibri" panose="020F0502020204030204" pitchFamily="34" charset="0"/>
                <a:cs typeface="Calibri" panose="020F0502020204030204" pitchFamily="34" charset="0"/>
              </a:rPr>
              <a:t>Unique: </a:t>
            </a:r>
            <a:r>
              <a:rPr lang="en-US" sz="2400" dirty="0">
                <a:latin typeface="Calibri" panose="020F0502020204030204" pitchFamily="34" charset="0"/>
                <a:cs typeface="Calibri" panose="020F0502020204030204" pitchFamily="34" charset="0"/>
              </a:rPr>
              <a:t>Each page on your website should have a unique title to help distinguish it in search results and bookmarks.</a:t>
            </a:r>
          </a:p>
          <a:p>
            <a:pPr marL="457200" indent="-457200">
              <a:lnSpc>
                <a:spcPct val="150000"/>
              </a:lnSpc>
              <a:buFont typeface="+mj-lt"/>
              <a:buAutoNum type="arabicPeriod"/>
            </a:pPr>
            <a:r>
              <a:rPr lang="en-US" sz="2400" b="1" dirty="0">
                <a:latin typeface="Calibri" panose="020F0502020204030204" pitchFamily="34" charset="0"/>
                <a:cs typeface="Calibri" panose="020F0502020204030204" pitchFamily="34" charset="0"/>
              </a:rPr>
              <a:t>Keyword-Rich: </a:t>
            </a:r>
            <a:r>
              <a:rPr lang="en-US" sz="2400" dirty="0">
                <a:latin typeface="Calibri" panose="020F0502020204030204" pitchFamily="34" charset="0"/>
                <a:cs typeface="Calibri" panose="020F0502020204030204" pitchFamily="34" charset="0"/>
              </a:rPr>
              <a:t>Include keywords that are relevant to the content of your page, which can help with SEO.</a:t>
            </a:r>
            <a:endParaRPr lang="en-AU" sz="24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09949291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C80ABE26-BD15-B74D-AF7A-2C728588BBE9}"/>
              </a:ext>
            </a:extLst>
          </p:cNvPr>
          <p:cNvSpPr txBox="1"/>
          <p:nvPr/>
        </p:nvSpPr>
        <p:spPr>
          <a:xfrm>
            <a:off x="0" y="0"/>
            <a:ext cx="4214647" cy="592150"/>
          </a:xfrm>
          <a:prstGeom prst="rect">
            <a:avLst/>
          </a:prstGeom>
          <a:noFill/>
        </p:spPr>
        <p:txBody>
          <a:bodyPr wrap="square">
            <a:spAutoFit/>
          </a:bodyPr>
          <a:lstStyle/>
          <a:p>
            <a:pPr>
              <a:lnSpc>
                <a:spcPct val="150000"/>
              </a:lnSpc>
            </a:pPr>
            <a:r>
              <a:rPr lang="en-US" sz="2400" b="1" dirty="0">
                <a:latin typeface="Calibri" panose="020F0502020204030204" pitchFamily="34" charset="0"/>
                <a:cs typeface="Calibri" panose="020F0502020204030204" pitchFamily="34" charset="0"/>
              </a:rPr>
              <a:t>Choose Title for the HTML)</a:t>
            </a:r>
            <a:endParaRPr lang="en-AU" sz="2400" b="1" dirty="0"/>
          </a:p>
        </p:txBody>
      </p:sp>
      <p:sp>
        <p:nvSpPr>
          <p:cNvPr id="9" name="TextBox 8">
            <a:extLst>
              <a:ext uri="{FF2B5EF4-FFF2-40B4-BE49-F238E27FC236}">
                <a16:creationId xmlns:a16="http://schemas.microsoft.com/office/drawing/2014/main" id="{80E7A657-5E5C-932C-DA63-D40EE3DE1FCA}"/>
              </a:ext>
            </a:extLst>
          </p:cNvPr>
          <p:cNvSpPr txBox="1"/>
          <p:nvPr/>
        </p:nvSpPr>
        <p:spPr>
          <a:xfrm>
            <a:off x="541283" y="641474"/>
            <a:ext cx="11109434" cy="3913059"/>
          </a:xfrm>
          <a:prstGeom prst="rect">
            <a:avLst/>
          </a:prstGeom>
          <a:noFill/>
        </p:spPr>
        <p:txBody>
          <a:bodyPr wrap="square" rtlCol="0">
            <a:spAutoFit/>
          </a:bodyPr>
          <a:lstStyle/>
          <a:p>
            <a:pPr>
              <a:lnSpc>
                <a:spcPct val="150000"/>
              </a:lnSpc>
            </a:pPr>
            <a:r>
              <a:rPr lang="en-US" sz="2400" dirty="0">
                <a:latin typeface="Calibri" panose="020F0502020204030204" pitchFamily="34" charset="0"/>
                <a:cs typeface="Calibri" panose="020F0502020204030204" pitchFamily="34" charset="0"/>
              </a:rPr>
              <a:t>For instance:</a:t>
            </a:r>
          </a:p>
          <a:p>
            <a:pPr marL="342900" indent="-342900">
              <a:lnSpc>
                <a:spcPct val="150000"/>
              </a:lnSpc>
              <a:buFont typeface="Arial" panose="020B0604020202020204" pitchFamily="34" charset="0"/>
              <a:buChar char="•"/>
            </a:pPr>
            <a:r>
              <a:rPr lang="en-US" sz="2400" dirty="0">
                <a:latin typeface="Calibri" panose="020F0502020204030204" pitchFamily="34" charset="0"/>
                <a:cs typeface="Calibri" panose="020F0502020204030204" pitchFamily="34" charset="0"/>
              </a:rPr>
              <a:t>If it’s a homepage for a business, you might use: "Brand Name - Leading Solutions in Industry".</a:t>
            </a:r>
          </a:p>
          <a:p>
            <a:pPr marL="342900" indent="-342900">
              <a:lnSpc>
                <a:spcPct val="150000"/>
              </a:lnSpc>
              <a:buFont typeface="Arial" panose="020B0604020202020204" pitchFamily="34" charset="0"/>
              <a:buChar char="•"/>
            </a:pPr>
            <a:r>
              <a:rPr lang="en-US" sz="2400" dirty="0">
                <a:latin typeface="Calibri" panose="020F0502020204030204" pitchFamily="34" charset="0"/>
                <a:cs typeface="Calibri" panose="020F0502020204030204" pitchFamily="34" charset="0"/>
              </a:rPr>
              <a:t>If it’s an informational page about a specific topic, a title like "Complete Guide to Topic - Brand Name" could be appropriate.</a:t>
            </a:r>
          </a:p>
          <a:p>
            <a:pPr>
              <a:lnSpc>
                <a:spcPct val="150000"/>
              </a:lnSpc>
            </a:pPr>
            <a:r>
              <a:rPr lang="en-US" sz="2400" dirty="0">
                <a:latin typeface="Calibri" panose="020F0502020204030204" pitchFamily="34" charset="0"/>
                <a:cs typeface="Calibri" panose="020F0502020204030204" pitchFamily="34" charset="0"/>
              </a:rPr>
              <a:t>Let's fill in the &lt;title&gt; tag with a placeholder based on a hypothetical topic. For example, if your site is about sustainable living, the title could be:</a:t>
            </a:r>
            <a:endParaRPr lang="en-AU" sz="2400" dirty="0">
              <a:latin typeface="Calibri" panose="020F0502020204030204" pitchFamily="34" charset="0"/>
              <a:cs typeface="Calibri" panose="020F0502020204030204" pitchFamily="34" charset="0"/>
            </a:endParaRPr>
          </a:p>
        </p:txBody>
      </p:sp>
      <p:pic>
        <p:nvPicPr>
          <p:cNvPr id="3" name="Picture 2">
            <a:extLst>
              <a:ext uri="{FF2B5EF4-FFF2-40B4-BE49-F238E27FC236}">
                <a16:creationId xmlns:a16="http://schemas.microsoft.com/office/drawing/2014/main" id="{C6543391-F38A-AD55-22B9-1ABF211362E5}"/>
              </a:ext>
            </a:extLst>
          </p:cNvPr>
          <p:cNvPicPr>
            <a:picLocks noChangeAspect="1"/>
          </p:cNvPicPr>
          <p:nvPr/>
        </p:nvPicPr>
        <p:blipFill rotWithShape="1">
          <a:blip r:embed="rId2"/>
          <a:srcRect l="4441" t="11188" r="48447" b="85593"/>
          <a:stretch/>
        </p:blipFill>
        <p:spPr>
          <a:xfrm>
            <a:off x="215368" y="4803228"/>
            <a:ext cx="11761263" cy="451944"/>
          </a:xfrm>
          <a:prstGeom prst="rect">
            <a:avLst/>
          </a:prstGeom>
        </p:spPr>
      </p:pic>
      <p:sp>
        <p:nvSpPr>
          <p:cNvPr id="4" name="TextBox 3">
            <a:extLst>
              <a:ext uri="{FF2B5EF4-FFF2-40B4-BE49-F238E27FC236}">
                <a16:creationId xmlns:a16="http://schemas.microsoft.com/office/drawing/2014/main" id="{642D85AA-F294-311C-C21E-A82ADB83EBE3}"/>
              </a:ext>
            </a:extLst>
          </p:cNvPr>
          <p:cNvSpPr txBox="1"/>
          <p:nvPr/>
        </p:nvSpPr>
        <p:spPr>
          <a:xfrm>
            <a:off x="541283" y="5402317"/>
            <a:ext cx="9953297" cy="1143070"/>
          </a:xfrm>
          <a:prstGeom prst="rect">
            <a:avLst/>
          </a:prstGeom>
          <a:noFill/>
        </p:spPr>
        <p:txBody>
          <a:bodyPr wrap="square" rtlCol="0">
            <a:spAutoFit/>
          </a:bodyPr>
          <a:lstStyle/>
          <a:p>
            <a:pPr>
              <a:lnSpc>
                <a:spcPct val="150000"/>
              </a:lnSpc>
            </a:pPr>
            <a:r>
              <a:rPr lang="en-US" sz="2400" dirty="0">
                <a:latin typeface="Calibri" panose="020F0502020204030204" pitchFamily="34" charset="0"/>
                <a:cs typeface="Calibri" panose="020F0502020204030204" pitchFamily="34" charset="0"/>
              </a:rPr>
              <a:t>You can replace "Sustainable Living Tips and Practices | </a:t>
            </a:r>
            <a:r>
              <a:rPr lang="en-US" sz="2400" dirty="0" err="1">
                <a:latin typeface="Calibri" panose="020F0502020204030204" pitchFamily="34" charset="0"/>
                <a:cs typeface="Calibri" panose="020F0502020204030204" pitchFamily="34" charset="0"/>
              </a:rPr>
              <a:t>GreenGuide</a:t>
            </a:r>
            <a:r>
              <a:rPr lang="en-US" sz="2400" dirty="0">
                <a:latin typeface="Calibri" panose="020F0502020204030204" pitchFamily="34" charset="0"/>
                <a:cs typeface="Calibri" panose="020F0502020204030204" pitchFamily="34" charset="0"/>
              </a:rPr>
              <a:t>" with whatever fits your page content and purpose best!</a:t>
            </a:r>
            <a:endParaRPr lang="en-AU" sz="24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71023675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A5230270-7F81-82F2-2C64-CE04DA1E5D2C}"/>
              </a:ext>
            </a:extLst>
          </p:cNvPr>
          <p:cNvSpPr txBox="1"/>
          <p:nvPr/>
        </p:nvSpPr>
        <p:spPr>
          <a:xfrm>
            <a:off x="164306" y="1261241"/>
            <a:ext cx="12063084" cy="1630190"/>
          </a:xfrm>
          <a:prstGeom prst="rect">
            <a:avLst/>
          </a:prstGeom>
          <a:noFill/>
        </p:spPr>
        <p:txBody>
          <a:bodyPr wrap="square" rtlCol="0">
            <a:spAutoFit/>
          </a:bodyPr>
          <a:lstStyle/>
          <a:p>
            <a:pPr>
              <a:lnSpc>
                <a:spcPct val="150000"/>
              </a:lnSpc>
            </a:pPr>
            <a:r>
              <a:rPr lang="en-US" sz="2300" dirty="0">
                <a:latin typeface="Calibri" panose="020F0502020204030204" pitchFamily="34" charset="0"/>
                <a:cs typeface="Calibri" panose="020F0502020204030204" pitchFamily="34" charset="0"/>
              </a:rPr>
              <a:t>By following these steps and employing the mentioned documents, you should gain a solid understanding of both the practical and theoretical aspects of creating and styling a semantic wireframe for a webpage.</a:t>
            </a:r>
            <a:endParaRPr lang="en-AU" sz="23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04884228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45B1BC1F-E475-FF17-1B3D-D5A5E78ABE3F}"/>
              </a:ext>
            </a:extLst>
          </p:cNvPr>
          <p:cNvSpPr txBox="1"/>
          <p:nvPr/>
        </p:nvSpPr>
        <p:spPr>
          <a:xfrm>
            <a:off x="47296" y="615986"/>
            <a:ext cx="12097407" cy="547714"/>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en-US" sz="2200" b="1" dirty="0">
                <a:latin typeface="Calibri" panose="020F0502020204030204" pitchFamily="34" charset="0"/>
                <a:cs typeface="Calibri" panose="020F0502020204030204" pitchFamily="34" charset="0"/>
              </a:rPr>
              <a:t>Creating A Web Saver Using </a:t>
            </a:r>
            <a:r>
              <a:rPr lang="en-US" sz="2200" b="1" dirty="0" err="1">
                <a:latin typeface="Calibri" panose="020F0502020204030204" pitchFamily="34" charset="0"/>
                <a:cs typeface="Calibri" panose="020F0502020204030204" pitchFamily="34" charset="0"/>
              </a:rPr>
              <a:t>Xampp</a:t>
            </a:r>
            <a:r>
              <a:rPr lang="en-US" sz="2200" b="1" dirty="0">
                <a:latin typeface="Calibri" panose="020F0502020204030204" pitchFamily="34" charset="0"/>
                <a:cs typeface="Calibri" panose="020F0502020204030204" pitchFamily="34" charset="0"/>
              </a:rPr>
              <a:t> or </a:t>
            </a:r>
            <a:r>
              <a:rPr lang="en-US" sz="2200" b="1" dirty="0" err="1">
                <a:latin typeface="Calibri" panose="020F0502020204030204" pitchFamily="34" charset="0"/>
                <a:cs typeface="Calibri" panose="020F0502020204030204" pitchFamily="34" charset="0"/>
              </a:rPr>
              <a:t>Aptana</a:t>
            </a:r>
            <a:r>
              <a:rPr lang="en-US" sz="2200" b="1" dirty="0">
                <a:latin typeface="Calibri" panose="020F0502020204030204" pitchFamily="34" charset="0"/>
                <a:cs typeface="Calibri" panose="020F0502020204030204" pitchFamily="34" charset="0"/>
              </a:rPr>
              <a:t> Studio</a:t>
            </a:r>
          </a:p>
        </p:txBody>
      </p:sp>
      <p:sp>
        <p:nvSpPr>
          <p:cNvPr id="2" name="Title 1">
            <a:extLst>
              <a:ext uri="{FF2B5EF4-FFF2-40B4-BE49-F238E27FC236}">
                <a16:creationId xmlns:a16="http://schemas.microsoft.com/office/drawing/2014/main" id="{6F62F3E6-1508-F923-8585-0FD1A5092080}"/>
              </a:ext>
            </a:extLst>
          </p:cNvPr>
          <p:cNvSpPr txBox="1">
            <a:spLocks/>
          </p:cNvSpPr>
          <p:nvPr/>
        </p:nvSpPr>
        <p:spPr>
          <a:xfrm>
            <a:off x="237119" y="2855070"/>
            <a:ext cx="8206795" cy="114786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nSpc>
                <a:spcPct val="150000"/>
              </a:lnSpc>
              <a:spcAft>
                <a:spcPts val="800"/>
              </a:spcAft>
            </a:pPr>
            <a:r>
              <a:rPr lang="en-AU" sz="2200" dirty="0">
                <a:latin typeface="Calibri" panose="020F0502020204030204" pitchFamily="34" charset="0"/>
                <a:ea typeface="Calibri" panose="020F0502020204030204" pitchFamily="34" charset="0"/>
                <a:cs typeface="Arial" panose="020B0604020202020204" pitchFamily="34" charset="0"/>
              </a:rPr>
              <a:t>Install </a:t>
            </a:r>
            <a:r>
              <a:rPr lang="en-AU" sz="2200" dirty="0" err="1">
                <a:latin typeface="Calibri" panose="020F0502020204030204" pitchFamily="34" charset="0"/>
                <a:ea typeface="Calibri" panose="020F0502020204030204" pitchFamily="34" charset="0"/>
                <a:cs typeface="Arial" panose="020B0604020202020204" pitchFamily="34" charset="0"/>
              </a:rPr>
              <a:t>Xampp</a:t>
            </a:r>
            <a:r>
              <a:rPr lang="en-AU" sz="2200" dirty="0">
                <a:latin typeface="Calibri" panose="020F0502020204030204" pitchFamily="34" charset="0"/>
                <a:ea typeface="Calibri" panose="020F0502020204030204" pitchFamily="34" charset="0"/>
                <a:cs typeface="Arial" panose="020B0604020202020204" pitchFamily="34" charset="0"/>
              </a:rPr>
              <a:t> as the webserver on your systems and test it.</a:t>
            </a:r>
            <a:br>
              <a:rPr lang="en-AU" sz="2200" dirty="0">
                <a:latin typeface="Calibri" panose="020F0502020204030204" pitchFamily="34" charset="0"/>
                <a:ea typeface="Calibri" panose="020F0502020204030204" pitchFamily="34" charset="0"/>
                <a:cs typeface="Arial" panose="020B0604020202020204" pitchFamily="34" charset="0"/>
              </a:rPr>
            </a:br>
            <a:r>
              <a:rPr lang="en-AU" sz="2200" dirty="0">
                <a:latin typeface="Calibri" panose="020F0502020204030204" pitchFamily="34" charset="0"/>
                <a:ea typeface="Calibri" panose="020F0502020204030204" pitchFamily="34" charset="0"/>
                <a:cs typeface="Arial" panose="020B0604020202020204" pitchFamily="34" charset="0"/>
                <a:hlinkClick r:id="rId2"/>
              </a:rPr>
              <a:t>https://www.apachefriends.org/de/download.html</a:t>
            </a:r>
            <a:r>
              <a:rPr lang="en-AU" sz="2200" dirty="0">
                <a:latin typeface="Calibri" panose="020F0502020204030204" pitchFamily="34" charset="0"/>
                <a:ea typeface="Calibri" panose="020F0502020204030204" pitchFamily="34" charset="0"/>
                <a:cs typeface="Arial" panose="020B0604020202020204" pitchFamily="34" charset="0"/>
              </a:rPr>
              <a:t> </a:t>
            </a:r>
            <a:endParaRPr lang="en-US" sz="2200" dirty="0">
              <a:latin typeface="Calibri" panose="020F0502020204030204" pitchFamily="34" charset="0"/>
              <a:ea typeface="Calibri" panose="020F0502020204030204" pitchFamily="34" charset="0"/>
              <a:cs typeface="Arial" panose="020B0604020202020204" pitchFamily="34" charset="0"/>
            </a:endParaRPr>
          </a:p>
        </p:txBody>
      </p:sp>
      <p:pic>
        <p:nvPicPr>
          <p:cNvPr id="3" name="Picture 2">
            <a:extLst>
              <a:ext uri="{FF2B5EF4-FFF2-40B4-BE49-F238E27FC236}">
                <a16:creationId xmlns:a16="http://schemas.microsoft.com/office/drawing/2014/main" id="{67A93D38-10D0-CC69-B417-F24FADFD8132}"/>
              </a:ext>
            </a:extLst>
          </p:cNvPr>
          <p:cNvPicPr>
            <a:picLocks noChangeAspect="1"/>
          </p:cNvPicPr>
          <p:nvPr/>
        </p:nvPicPr>
        <p:blipFill>
          <a:blip r:embed="rId3"/>
          <a:stretch>
            <a:fillRect/>
          </a:stretch>
        </p:blipFill>
        <p:spPr>
          <a:xfrm>
            <a:off x="8586439" y="-1"/>
            <a:ext cx="3605561" cy="6873411"/>
          </a:xfrm>
          <a:prstGeom prst="rect">
            <a:avLst/>
          </a:prstGeom>
        </p:spPr>
      </p:pic>
    </p:spTree>
    <p:extLst>
      <p:ext uri="{BB962C8B-B14F-4D97-AF65-F5344CB8AC3E}">
        <p14:creationId xmlns:p14="http://schemas.microsoft.com/office/powerpoint/2010/main" val="387508931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48BF5A23-9A8B-F9DD-5CBD-E15B8F091A5F}"/>
              </a:ext>
            </a:extLst>
          </p:cNvPr>
          <p:cNvPicPr>
            <a:picLocks noChangeAspect="1"/>
          </p:cNvPicPr>
          <p:nvPr/>
        </p:nvPicPr>
        <p:blipFill>
          <a:blip r:embed="rId2"/>
          <a:stretch>
            <a:fillRect/>
          </a:stretch>
        </p:blipFill>
        <p:spPr>
          <a:xfrm>
            <a:off x="2827283" y="722973"/>
            <a:ext cx="6537434" cy="5412054"/>
          </a:xfrm>
          <a:prstGeom prst="rect">
            <a:avLst/>
          </a:prstGeom>
        </p:spPr>
      </p:pic>
    </p:spTree>
    <p:extLst>
      <p:ext uri="{BB962C8B-B14F-4D97-AF65-F5344CB8AC3E}">
        <p14:creationId xmlns:p14="http://schemas.microsoft.com/office/powerpoint/2010/main" val="254952418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2D2B5530-E686-8137-DC2E-E2DAD460640A}"/>
              </a:ext>
            </a:extLst>
          </p:cNvPr>
          <p:cNvPicPr>
            <a:picLocks noChangeAspect="1"/>
          </p:cNvPicPr>
          <p:nvPr/>
        </p:nvPicPr>
        <p:blipFill>
          <a:blip r:embed="rId2"/>
          <a:stretch>
            <a:fillRect/>
          </a:stretch>
        </p:blipFill>
        <p:spPr>
          <a:xfrm>
            <a:off x="6101345" y="1869333"/>
            <a:ext cx="4718553" cy="3891892"/>
          </a:xfrm>
          <a:prstGeom prst="rect">
            <a:avLst/>
          </a:prstGeom>
        </p:spPr>
      </p:pic>
      <p:pic>
        <p:nvPicPr>
          <p:cNvPr id="3" name="Picture 2">
            <a:extLst>
              <a:ext uri="{FF2B5EF4-FFF2-40B4-BE49-F238E27FC236}">
                <a16:creationId xmlns:a16="http://schemas.microsoft.com/office/drawing/2014/main" id="{E893B7C7-F99F-BB51-73AF-86DDD2142869}"/>
              </a:ext>
            </a:extLst>
          </p:cNvPr>
          <p:cNvPicPr>
            <a:picLocks noChangeAspect="1"/>
          </p:cNvPicPr>
          <p:nvPr/>
        </p:nvPicPr>
        <p:blipFill>
          <a:blip r:embed="rId3"/>
          <a:stretch>
            <a:fillRect/>
          </a:stretch>
        </p:blipFill>
        <p:spPr>
          <a:xfrm>
            <a:off x="989521" y="1832755"/>
            <a:ext cx="4733184" cy="3928470"/>
          </a:xfrm>
          <a:prstGeom prst="rect">
            <a:avLst/>
          </a:prstGeom>
        </p:spPr>
      </p:pic>
    </p:spTree>
    <p:extLst>
      <p:ext uri="{BB962C8B-B14F-4D97-AF65-F5344CB8AC3E}">
        <p14:creationId xmlns:p14="http://schemas.microsoft.com/office/powerpoint/2010/main" val="153813972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2EC6F07-B5CF-3E88-33B1-56C8E7DA0388}"/>
              </a:ext>
            </a:extLst>
          </p:cNvPr>
          <p:cNvPicPr>
            <a:picLocks noChangeAspect="1"/>
          </p:cNvPicPr>
          <p:nvPr/>
        </p:nvPicPr>
        <p:blipFill>
          <a:blip r:embed="rId2"/>
          <a:stretch>
            <a:fillRect/>
          </a:stretch>
        </p:blipFill>
        <p:spPr>
          <a:xfrm>
            <a:off x="2606566" y="543609"/>
            <a:ext cx="6978868" cy="5770782"/>
          </a:xfrm>
          <a:prstGeom prst="rect">
            <a:avLst/>
          </a:prstGeom>
        </p:spPr>
      </p:pic>
    </p:spTree>
    <p:extLst>
      <p:ext uri="{BB962C8B-B14F-4D97-AF65-F5344CB8AC3E}">
        <p14:creationId xmlns:p14="http://schemas.microsoft.com/office/powerpoint/2010/main" val="212609768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3D26C04A-24F8-FF05-E7AE-044AE385B508}"/>
              </a:ext>
            </a:extLst>
          </p:cNvPr>
          <p:cNvPicPr>
            <a:picLocks noChangeAspect="1"/>
          </p:cNvPicPr>
          <p:nvPr/>
        </p:nvPicPr>
        <p:blipFill>
          <a:blip r:embed="rId2"/>
          <a:stretch>
            <a:fillRect/>
          </a:stretch>
        </p:blipFill>
        <p:spPr>
          <a:xfrm>
            <a:off x="1951977" y="721701"/>
            <a:ext cx="8288046" cy="5414598"/>
          </a:xfrm>
          <a:prstGeom prst="rect">
            <a:avLst/>
          </a:prstGeom>
        </p:spPr>
      </p:pic>
    </p:spTree>
    <p:extLst>
      <p:ext uri="{BB962C8B-B14F-4D97-AF65-F5344CB8AC3E}">
        <p14:creationId xmlns:p14="http://schemas.microsoft.com/office/powerpoint/2010/main" val="323821613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F54838-63F6-D186-99C3-F2FBE2984E6A}"/>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BF0E5118-365C-A6D3-3558-6781232596CB}"/>
              </a:ext>
            </a:extLst>
          </p:cNvPr>
          <p:cNvSpPr txBox="1"/>
          <p:nvPr/>
        </p:nvSpPr>
        <p:spPr>
          <a:xfrm>
            <a:off x="47296" y="615986"/>
            <a:ext cx="10273863" cy="6129050"/>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en-US" sz="2400" dirty="0">
                <a:latin typeface="Calibri" panose="020F0502020204030204" pitchFamily="34" charset="0"/>
                <a:cs typeface="Calibri" panose="020F0502020204030204" pitchFamily="34" charset="0"/>
              </a:rPr>
              <a:t>The lecture 4 focuses on the essentials of using Cascading Style Sheets (CSS) for web design, emphasizing the separation of content from design to enhance flexibility and maintainability. The key topics covered include the definition and application of inline, embedded, and external stylesheets, each having its own order of precedence which determines how styles are applied when conflicts arise. The CSS box model is described in detail, showing how margins, borders, and padding are used to control layout and spacing. Practical elements such as floating images and styling lists were also discussed. Additionally, the lecture provided insights into using selectors for styling specific elements and the importance of validating CSS files to ensure they meet web standards.</a:t>
            </a:r>
          </a:p>
        </p:txBody>
      </p:sp>
      <p:sp>
        <p:nvSpPr>
          <p:cNvPr id="5" name="TextBox 4">
            <a:extLst>
              <a:ext uri="{FF2B5EF4-FFF2-40B4-BE49-F238E27FC236}">
                <a16:creationId xmlns:a16="http://schemas.microsoft.com/office/drawing/2014/main" id="{13560558-19F7-F9C5-C9B4-507613F29B9F}"/>
              </a:ext>
            </a:extLst>
          </p:cNvPr>
          <p:cNvSpPr txBox="1"/>
          <p:nvPr/>
        </p:nvSpPr>
        <p:spPr>
          <a:xfrm>
            <a:off x="94593" y="0"/>
            <a:ext cx="8976732" cy="492443"/>
          </a:xfrm>
          <a:prstGeom prst="rect">
            <a:avLst/>
          </a:prstGeom>
          <a:noFill/>
        </p:spPr>
        <p:txBody>
          <a:bodyPr wrap="square" rtlCol="0">
            <a:spAutoFit/>
          </a:bodyPr>
          <a:lstStyle/>
          <a:p>
            <a:r>
              <a:rPr lang="en-AU" sz="2600" b="1" dirty="0">
                <a:latin typeface="Calibri" panose="020F0502020204030204" pitchFamily="34" charset="0"/>
                <a:cs typeface="Calibri" panose="020F0502020204030204" pitchFamily="34" charset="0"/>
              </a:rPr>
              <a:t>Weeks 4 - 5 Tutorial</a:t>
            </a:r>
          </a:p>
        </p:txBody>
      </p:sp>
    </p:spTree>
    <p:extLst>
      <p:ext uri="{BB962C8B-B14F-4D97-AF65-F5344CB8AC3E}">
        <p14:creationId xmlns:p14="http://schemas.microsoft.com/office/powerpoint/2010/main" val="218600067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0EDA831C-3F59-8361-5C78-944EC8508F9C}"/>
              </a:ext>
            </a:extLst>
          </p:cNvPr>
          <p:cNvSpPr txBox="1"/>
          <p:nvPr/>
        </p:nvSpPr>
        <p:spPr>
          <a:xfrm>
            <a:off x="94592" y="0"/>
            <a:ext cx="9995339" cy="1230593"/>
          </a:xfrm>
          <a:prstGeom prst="rect">
            <a:avLst/>
          </a:prstGeom>
          <a:noFill/>
        </p:spPr>
        <p:txBody>
          <a:bodyPr wrap="square" rtlCol="0">
            <a:spAutoFit/>
          </a:bodyPr>
          <a:lstStyle/>
          <a:p>
            <a:pPr>
              <a:lnSpc>
                <a:spcPct val="150000"/>
              </a:lnSpc>
            </a:pPr>
            <a:r>
              <a:rPr lang="en-US" sz="2600" b="1" dirty="0">
                <a:latin typeface="Calibri" panose="020F0502020204030204" pitchFamily="34" charset="0"/>
                <a:cs typeface="Calibri" panose="020F0502020204030204" pitchFamily="34" charset="0"/>
              </a:rPr>
              <a:t>Practical Example: Creating a website for a community sports league in Sydney, Australia</a:t>
            </a:r>
          </a:p>
        </p:txBody>
      </p:sp>
      <p:sp>
        <p:nvSpPr>
          <p:cNvPr id="8" name="TextBox 7">
            <a:extLst>
              <a:ext uri="{FF2B5EF4-FFF2-40B4-BE49-F238E27FC236}">
                <a16:creationId xmlns:a16="http://schemas.microsoft.com/office/drawing/2014/main" id="{548339E8-BF84-DE95-F4BF-2C8581AEEC9E}"/>
              </a:ext>
            </a:extLst>
          </p:cNvPr>
          <p:cNvSpPr txBox="1"/>
          <p:nvPr/>
        </p:nvSpPr>
        <p:spPr>
          <a:xfrm>
            <a:off x="178676" y="1531531"/>
            <a:ext cx="6222124" cy="3086871"/>
          </a:xfrm>
          <a:prstGeom prst="rect">
            <a:avLst/>
          </a:prstGeom>
          <a:noFill/>
          <a:ln>
            <a:solidFill>
              <a:srgbClr val="FF0000"/>
            </a:solidFill>
          </a:ln>
        </p:spPr>
        <p:txBody>
          <a:bodyPr wrap="square" rtlCol="0">
            <a:spAutoFit/>
          </a:bodyPr>
          <a:lstStyle/>
          <a:p>
            <a:pPr>
              <a:lnSpc>
                <a:spcPct val="150000"/>
              </a:lnSpc>
            </a:pPr>
            <a:r>
              <a:rPr lang="en-US" sz="2200" dirty="0">
                <a:latin typeface="Calibri" panose="020F0502020204030204" pitchFamily="34" charset="0"/>
                <a:cs typeface="Calibri" panose="020F0502020204030204" pitchFamily="34" charset="0"/>
              </a:rPr>
              <a:t>Imagine a website for a community sports league in Sydney, Australia, which requires frequent updates and style changes to highlight different sports seasons. Using external stylesheets can make these updates more manageable. Below is a practical example of how CSS might be used in this context:</a:t>
            </a:r>
            <a:endParaRPr lang="en-AU" sz="2200" dirty="0">
              <a:latin typeface="Calibri" panose="020F0502020204030204" pitchFamily="34" charset="0"/>
              <a:cs typeface="Calibri" panose="020F0502020204030204" pitchFamily="34" charset="0"/>
            </a:endParaRPr>
          </a:p>
        </p:txBody>
      </p:sp>
      <p:sp>
        <p:nvSpPr>
          <p:cNvPr id="13" name="TextBox 12">
            <a:extLst>
              <a:ext uri="{FF2B5EF4-FFF2-40B4-BE49-F238E27FC236}">
                <a16:creationId xmlns:a16="http://schemas.microsoft.com/office/drawing/2014/main" id="{1FF2CFA7-5665-BFDC-A16C-25A72A480AD6}"/>
              </a:ext>
            </a:extLst>
          </p:cNvPr>
          <p:cNvSpPr txBox="1"/>
          <p:nvPr/>
        </p:nvSpPr>
        <p:spPr>
          <a:xfrm>
            <a:off x="178676" y="4618402"/>
            <a:ext cx="5369363" cy="369332"/>
          </a:xfrm>
          <a:prstGeom prst="rect">
            <a:avLst/>
          </a:prstGeom>
          <a:noFill/>
          <a:ln>
            <a:solidFill>
              <a:srgbClr val="C00000"/>
            </a:solidFill>
          </a:ln>
        </p:spPr>
        <p:txBody>
          <a:bodyPr wrap="square" rtlCol="0">
            <a:spAutoFit/>
          </a:bodyPr>
          <a:lstStyle/>
          <a:p>
            <a:r>
              <a:rPr lang="en-AU" dirty="0"/>
              <a:t>Change it and Save it in C:\\Xampp &gt;&gt; </a:t>
            </a:r>
            <a:r>
              <a:rPr lang="en-AU" dirty="0" err="1"/>
              <a:t>htdocs</a:t>
            </a:r>
            <a:endParaRPr lang="en-AU" dirty="0"/>
          </a:p>
        </p:txBody>
      </p:sp>
      <p:pic>
        <p:nvPicPr>
          <p:cNvPr id="7" name="Picture 6">
            <a:extLst>
              <a:ext uri="{FF2B5EF4-FFF2-40B4-BE49-F238E27FC236}">
                <a16:creationId xmlns:a16="http://schemas.microsoft.com/office/drawing/2014/main" id="{2F1D2C1B-ECB0-DC53-B3C4-89262B30A187}"/>
              </a:ext>
            </a:extLst>
          </p:cNvPr>
          <p:cNvPicPr>
            <a:picLocks noChangeAspect="1"/>
          </p:cNvPicPr>
          <p:nvPr/>
        </p:nvPicPr>
        <p:blipFill rotWithShape="1">
          <a:blip r:embed="rId2"/>
          <a:srcRect l="13190" t="24214" r="46896" b="54176"/>
          <a:stretch/>
        </p:blipFill>
        <p:spPr>
          <a:xfrm>
            <a:off x="6411310" y="1909300"/>
            <a:ext cx="5369362" cy="1635162"/>
          </a:xfrm>
          <a:prstGeom prst="rect">
            <a:avLst/>
          </a:prstGeom>
          <a:ln>
            <a:solidFill>
              <a:srgbClr val="FF0000"/>
            </a:solidFill>
          </a:ln>
        </p:spPr>
      </p:pic>
      <p:pic>
        <p:nvPicPr>
          <p:cNvPr id="11" name="Picture 10">
            <a:extLst>
              <a:ext uri="{FF2B5EF4-FFF2-40B4-BE49-F238E27FC236}">
                <a16:creationId xmlns:a16="http://schemas.microsoft.com/office/drawing/2014/main" id="{DBF9EB9E-7A50-0FD5-3751-ABFBC7405179}"/>
              </a:ext>
            </a:extLst>
          </p:cNvPr>
          <p:cNvPicPr>
            <a:picLocks noChangeAspect="1"/>
          </p:cNvPicPr>
          <p:nvPr/>
        </p:nvPicPr>
        <p:blipFill rotWithShape="1">
          <a:blip r:embed="rId3"/>
          <a:srcRect l="10604" r="63793" b="69086"/>
          <a:stretch/>
        </p:blipFill>
        <p:spPr>
          <a:xfrm>
            <a:off x="5548039" y="4625650"/>
            <a:ext cx="3121573" cy="2120111"/>
          </a:xfrm>
          <a:prstGeom prst="rect">
            <a:avLst/>
          </a:prstGeom>
          <a:ln>
            <a:solidFill>
              <a:srgbClr val="FF0000"/>
            </a:solidFill>
          </a:ln>
        </p:spPr>
      </p:pic>
    </p:spTree>
    <p:extLst>
      <p:ext uri="{BB962C8B-B14F-4D97-AF65-F5344CB8AC3E}">
        <p14:creationId xmlns:p14="http://schemas.microsoft.com/office/powerpoint/2010/main" val="121366320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0EDA831C-3F59-8361-5C78-944EC8508F9C}"/>
              </a:ext>
            </a:extLst>
          </p:cNvPr>
          <p:cNvSpPr txBox="1"/>
          <p:nvPr/>
        </p:nvSpPr>
        <p:spPr>
          <a:xfrm>
            <a:off x="94592" y="0"/>
            <a:ext cx="12097407" cy="1230593"/>
          </a:xfrm>
          <a:prstGeom prst="rect">
            <a:avLst/>
          </a:prstGeom>
          <a:noFill/>
        </p:spPr>
        <p:txBody>
          <a:bodyPr wrap="square" rtlCol="0">
            <a:spAutoFit/>
          </a:bodyPr>
          <a:lstStyle/>
          <a:p>
            <a:pPr>
              <a:lnSpc>
                <a:spcPct val="150000"/>
              </a:lnSpc>
            </a:pPr>
            <a:r>
              <a:rPr lang="en-US" sz="2600" b="1" dirty="0">
                <a:latin typeface="Calibri" panose="020F0502020204030204" pitchFamily="34" charset="0"/>
                <a:cs typeface="Calibri" panose="020F0502020204030204" pitchFamily="34" charset="0"/>
              </a:rPr>
              <a:t>Practical Example: Creating a website for a community sports league in Sydney, Australia</a:t>
            </a:r>
          </a:p>
        </p:txBody>
      </p:sp>
      <p:sp>
        <p:nvSpPr>
          <p:cNvPr id="8" name="TextBox 7">
            <a:extLst>
              <a:ext uri="{FF2B5EF4-FFF2-40B4-BE49-F238E27FC236}">
                <a16:creationId xmlns:a16="http://schemas.microsoft.com/office/drawing/2014/main" id="{548339E8-BF84-DE95-F4BF-2C8581AEEC9E}"/>
              </a:ext>
            </a:extLst>
          </p:cNvPr>
          <p:cNvSpPr txBox="1"/>
          <p:nvPr/>
        </p:nvSpPr>
        <p:spPr>
          <a:xfrm>
            <a:off x="6264166" y="714705"/>
            <a:ext cx="5927833" cy="6133859"/>
          </a:xfrm>
          <a:prstGeom prst="rect">
            <a:avLst/>
          </a:prstGeom>
          <a:noFill/>
          <a:ln>
            <a:solidFill>
              <a:srgbClr val="FF0000"/>
            </a:solidFill>
          </a:ln>
        </p:spPr>
        <p:txBody>
          <a:bodyPr wrap="square" rtlCol="0">
            <a:spAutoFit/>
          </a:bodyPr>
          <a:lstStyle/>
          <a:p>
            <a:pPr>
              <a:lnSpc>
                <a:spcPct val="150000"/>
              </a:lnSpc>
            </a:pPr>
            <a:r>
              <a:rPr lang="en-US" sz="2200" dirty="0">
                <a:latin typeface="Calibri" panose="020F0502020204030204" pitchFamily="34" charset="0"/>
                <a:cs typeface="Calibri" panose="020F0502020204030204" pitchFamily="34" charset="0"/>
              </a:rPr>
              <a:t>The title used within the &lt;title&gt; tag of your HTML is "Sydney Community Sports League," which is a very good choice because it precisely describes the main content and purpose of the webpage. It aligns with the primary focus of the content which revolves around the sports league based in Sydney, and it helps with SEO (Search Engine Optimization) as well as user orientation when they see the title in their browser tab. Hence, this title is well-suited for the HTML document and adequately reflects its contents and primary function.</a:t>
            </a:r>
            <a:endParaRPr lang="en-AU" sz="2200" dirty="0">
              <a:latin typeface="Calibri" panose="020F0502020204030204" pitchFamily="34" charset="0"/>
              <a:cs typeface="Calibri" panose="020F0502020204030204" pitchFamily="34" charset="0"/>
            </a:endParaRPr>
          </a:p>
        </p:txBody>
      </p:sp>
      <p:pic>
        <p:nvPicPr>
          <p:cNvPr id="9" name="Picture 8">
            <a:extLst>
              <a:ext uri="{FF2B5EF4-FFF2-40B4-BE49-F238E27FC236}">
                <a16:creationId xmlns:a16="http://schemas.microsoft.com/office/drawing/2014/main" id="{335E82C2-5676-4D4A-B934-6D41FCC6ADFE}"/>
              </a:ext>
            </a:extLst>
          </p:cNvPr>
          <p:cNvPicPr>
            <a:picLocks noChangeAspect="1"/>
          </p:cNvPicPr>
          <p:nvPr/>
        </p:nvPicPr>
        <p:blipFill rotWithShape="1">
          <a:blip r:embed="rId2"/>
          <a:srcRect t="-1226" r="36896" b="6514"/>
          <a:stretch/>
        </p:blipFill>
        <p:spPr>
          <a:xfrm>
            <a:off x="1" y="1576552"/>
            <a:ext cx="6255695" cy="5281448"/>
          </a:xfrm>
          <a:prstGeom prst="rect">
            <a:avLst/>
          </a:prstGeom>
        </p:spPr>
      </p:pic>
    </p:spTree>
    <p:extLst>
      <p:ext uri="{BB962C8B-B14F-4D97-AF65-F5344CB8AC3E}">
        <p14:creationId xmlns:p14="http://schemas.microsoft.com/office/powerpoint/2010/main" val="326442097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548339E8-BF84-DE95-F4BF-2C8581AEEC9E}"/>
              </a:ext>
            </a:extLst>
          </p:cNvPr>
          <p:cNvSpPr txBox="1"/>
          <p:nvPr/>
        </p:nvSpPr>
        <p:spPr>
          <a:xfrm>
            <a:off x="6264167" y="2342783"/>
            <a:ext cx="5927833" cy="3086871"/>
          </a:xfrm>
          <a:prstGeom prst="rect">
            <a:avLst/>
          </a:prstGeom>
          <a:noFill/>
          <a:ln>
            <a:solidFill>
              <a:srgbClr val="FF0000"/>
            </a:solidFill>
          </a:ln>
        </p:spPr>
        <p:txBody>
          <a:bodyPr wrap="square" rtlCol="0">
            <a:spAutoFit/>
          </a:bodyPr>
          <a:lstStyle/>
          <a:p>
            <a:pPr marL="342900" indent="-342900">
              <a:lnSpc>
                <a:spcPct val="150000"/>
              </a:lnSpc>
              <a:buFont typeface="Arial" panose="020B0604020202020204" pitchFamily="34" charset="0"/>
              <a:buChar char="•"/>
            </a:pPr>
            <a:r>
              <a:rPr lang="en-US" sz="2200" b="1" dirty="0">
                <a:latin typeface="Calibri" panose="020F0502020204030204" pitchFamily="34" charset="0"/>
                <a:cs typeface="Calibri" panose="020F0502020204030204" pitchFamily="34" charset="0"/>
              </a:rPr>
              <a:t>&lt;!DOCTYPE html&gt;: </a:t>
            </a:r>
            <a:r>
              <a:rPr lang="en-US" sz="2200" dirty="0">
                <a:latin typeface="Calibri" panose="020F0502020204030204" pitchFamily="34" charset="0"/>
                <a:cs typeface="Calibri" panose="020F0502020204030204" pitchFamily="34" charset="0"/>
              </a:rPr>
              <a:t>This declaration defines the document type and version of HTML. In this case, it specifies HTML5.</a:t>
            </a:r>
          </a:p>
          <a:p>
            <a:pPr marL="342900" indent="-342900">
              <a:lnSpc>
                <a:spcPct val="150000"/>
              </a:lnSpc>
              <a:buFont typeface="Arial" panose="020B0604020202020204" pitchFamily="34" charset="0"/>
              <a:buChar char="•"/>
            </a:pPr>
            <a:r>
              <a:rPr lang="en-US" sz="2200" b="1" dirty="0">
                <a:latin typeface="Calibri" panose="020F0502020204030204" pitchFamily="34" charset="0"/>
                <a:cs typeface="Calibri" panose="020F0502020204030204" pitchFamily="34" charset="0"/>
              </a:rPr>
              <a:t>&lt;html lang="</a:t>
            </a:r>
            <a:r>
              <a:rPr lang="en-US" sz="2200" b="1" dirty="0" err="1">
                <a:latin typeface="Calibri" panose="020F0502020204030204" pitchFamily="34" charset="0"/>
                <a:cs typeface="Calibri" panose="020F0502020204030204" pitchFamily="34" charset="0"/>
              </a:rPr>
              <a:t>en</a:t>
            </a:r>
            <a:r>
              <a:rPr lang="en-US" sz="2200" b="1" dirty="0">
                <a:latin typeface="Calibri" panose="020F0502020204030204" pitchFamily="34" charset="0"/>
                <a:cs typeface="Calibri" panose="020F0502020204030204" pitchFamily="34" charset="0"/>
              </a:rPr>
              <a:t>"&gt;: </a:t>
            </a:r>
            <a:r>
              <a:rPr lang="en-US" sz="2200" dirty="0">
                <a:latin typeface="Calibri" panose="020F0502020204030204" pitchFamily="34" charset="0"/>
                <a:cs typeface="Calibri" panose="020F0502020204030204" pitchFamily="34" charset="0"/>
              </a:rPr>
              <a:t>This is the root element of an HTML page, and </a:t>
            </a:r>
            <a:r>
              <a:rPr lang="en-US" sz="2200" b="1" dirty="0">
                <a:latin typeface="Calibri" panose="020F0502020204030204" pitchFamily="34" charset="0"/>
                <a:cs typeface="Calibri" panose="020F0502020204030204" pitchFamily="34" charset="0"/>
              </a:rPr>
              <a:t>lang="</a:t>
            </a:r>
            <a:r>
              <a:rPr lang="en-US" sz="2200" b="1" dirty="0" err="1">
                <a:latin typeface="Calibri" panose="020F0502020204030204" pitchFamily="34" charset="0"/>
                <a:cs typeface="Calibri" panose="020F0502020204030204" pitchFamily="34" charset="0"/>
              </a:rPr>
              <a:t>en</a:t>
            </a:r>
            <a:r>
              <a:rPr lang="en-US" sz="2200" b="1" dirty="0">
                <a:latin typeface="Calibri" panose="020F0502020204030204" pitchFamily="34" charset="0"/>
                <a:cs typeface="Calibri" panose="020F0502020204030204" pitchFamily="34" charset="0"/>
              </a:rPr>
              <a:t>" </a:t>
            </a:r>
            <a:r>
              <a:rPr lang="en-US" sz="2200" dirty="0">
                <a:latin typeface="Calibri" panose="020F0502020204030204" pitchFamily="34" charset="0"/>
                <a:cs typeface="Calibri" panose="020F0502020204030204" pitchFamily="34" charset="0"/>
              </a:rPr>
              <a:t>specifies that the content of the web page is in English.</a:t>
            </a:r>
            <a:endParaRPr lang="en-AU" sz="2200" b="1" dirty="0">
              <a:latin typeface="Calibri" panose="020F0502020204030204" pitchFamily="34" charset="0"/>
              <a:cs typeface="Calibri" panose="020F0502020204030204" pitchFamily="34" charset="0"/>
            </a:endParaRPr>
          </a:p>
        </p:txBody>
      </p:sp>
      <p:pic>
        <p:nvPicPr>
          <p:cNvPr id="6" name="Picture 5">
            <a:extLst>
              <a:ext uri="{FF2B5EF4-FFF2-40B4-BE49-F238E27FC236}">
                <a16:creationId xmlns:a16="http://schemas.microsoft.com/office/drawing/2014/main" id="{6E26BFE3-1261-AE18-AC52-D7CD1F9A622C}"/>
              </a:ext>
            </a:extLst>
          </p:cNvPr>
          <p:cNvPicPr>
            <a:picLocks noChangeAspect="1"/>
          </p:cNvPicPr>
          <p:nvPr/>
        </p:nvPicPr>
        <p:blipFill rotWithShape="1">
          <a:blip r:embed="rId2"/>
          <a:srcRect l="4741" t="11219" r="57586" b="13563"/>
          <a:stretch/>
        </p:blipFill>
        <p:spPr>
          <a:xfrm>
            <a:off x="0" y="2059"/>
            <a:ext cx="6096000" cy="6846505"/>
          </a:xfrm>
          <a:prstGeom prst="rect">
            <a:avLst/>
          </a:prstGeom>
        </p:spPr>
      </p:pic>
    </p:spTree>
    <p:extLst>
      <p:ext uri="{BB962C8B-B14F-4D97-AF65-F5344CB8AC3E}">
        <p14:creationId xmlns:p14="http://schemas.microsoft.com/office/powerpoint/2010/main" val="25957516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fade">
                                      <p:cBhvr>
                                        <p:cTn id="7" dur="1000"/>
                                        <p:tgtEl>
                                          <p:spTgt spid="8">
                                            <p:txEl>
                                              <p:pRg st="0" end="0"/>
                                            </p:txEl>
                                          </p:spTgt>
                                        </p:tgtEl>
                                      </p:cBhvr>
                                    </p:animEffect>
                                    <p:anim calcmode="lin" valueType="num">
                                      <p:cBhvr>
                                        <p:cTn id="8" dur="1000" fill="hold"/>
                                        <p:tgtEl>
                                          <p:spTgt spid="8">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8">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8">
                                            <p:txEl>
                                              <p:pRg st="1" end="1"/>
                                            </p:txEl>
                                          </p:spTgt>
                                        </p:tgtEl>
                                        <p:attrNameLst>
                                          <p:attrName>style.visibility</p:attrName>
                                        </p:attrNameLst>
                                      </p:cBhvr>
                                      <p:to>
                                        <p:strVal val="visible"/>
                                      </p:to>
                                    </p:set>
                                    <p:animEffect transition="in" filter="fade">
                                      <p:cBhvr>
                                        <p:cTn id="14" dur="1000"/>
                                        <p:tgtEl>
                                          <p:spTgt spid="8">
                                            <p:txEl>
                                              <p:pRg st="1" end="1"/>
                                            </p:txEl>
                                          </p:spTgt>
                                        </p:tgtEl>
                                      </p:cBhvr>
                                    </p:animEffect>
                                    <p:anim calcmode="lin" valueType="num">
                                      <p:cBhvr>
                                        <p:cTn id="15" dur="1000" fill="hold"/>
                                        <p:tgtEl>
                                          <p:spTgt spid="8">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8">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548339E8-BF84-DE95-F4BF-2C8581AEEC9E}"/>
              </a:ext>
            </a:extLst>
          </p:cNvPr>
          <p:cNvSpPr txBox="1"/>
          <p:nvPr/>
        </p:nvSpPr>
        <p:spPr>
          <a:xfrm>
            <a:off x="5999357" y="0"/>
            <a:ext cx="6192644" cy="6641690"/>
          </a:xfrm>
          <a:prstGeom prst="rect">
            <a:avLst/>
          </a:prstGeom>
          <a:noFill/>
          <a:ln>
            <a:solidFill>
              <a:srgbClr val="FF0000"/>
            </a:solidFill>
          </a:ln>
        </p:spPr>
        <p:txBody>
          <a:bodyPr wrap="square" rtlCol="0">
            <a:spAutoFit/>
          </a:bodyPr>
          <a:lstStyle/>
          <a:p>
            <a:pPr marL="342900" indent="-342900">
              <a:lnSpc>
                <a:spcPct val="150000"/>
              </a:lnSpc>
              <a:buFont typeface="Arial" panose="020B0604020202020204" pitchFamily="34" charset="0"/>
              <a:buChar char="•"/>
            </a:pPr>
            <a:r>
              <a:rPr lang="en-US" sz="2200" b="1" dirty="0">
                <a:latin typeface="Calibri" panose="020F0502020204030204" pitchFamily="34" charset="0"/>
                <a:cs typeface="Calibri" panose="020F0502020204030204" pitchFamily="34" charset="0"/>
              </a:rPr>
              <a:t>&lt;head&gt;: </a:t>
            </a:r>
            <a:r>
              <a:rPr lang="en-US" sz="2200" dirty="0">
                <a:latin typeface="Calibri" panose="020F0502020204030204" pitchFamily="34" charset="0"/>
                <a:cs typeface="Calibri" panose="020F0502020204030204" pitchFamily="34" charset="0"/>
              </a:rPr>
              <a:t>This section contains metadata and links to external resources needed for the document. It doesn't display content on the web page itself.</a:t>
            </a:r>
          </a:p>
          <a:p>
            <a:pPr marL="800100" lvl="1" indent="-342900">
              <a:lnSpc>
                <a:spcPct val="150000"/>
              </a:lnSpc>
              <a:buFont typeface="Arial" panose="020B0604020202020204" pitchFamily="34" charset="0"/>
              <a:buChar char="•"/>
            </a:pPr>
            <a:r>
              <a:rPr lang="en-US" sz="2200" b="1" dirty="0">
                <a:latin typeface="Calibri" panose="020F0502020204030204" pitchFamily="34" charset="0"/>
                <a:cs typeface="Calibri" panose="020F0502020204030204" pitchFamily="34" charset="0"/>
              </a:rPr>
              <a:t>&lt;meta charset="UTF-8"&gt;:</a:t>
            </a:r>
            <a:r>
              <a:rPr lang="en-US" sz="2200" dirty="0">
                <a:latin typeface="Calibri" panose="020F0502020204030204" pitchFamily="34" charset="0"/>
                <a:cs typeface="Calibri" panose="020F0502020204030204" pitchFamily="34" charset="0"/>
              </a:rPr>
              <a:t> This tag specifies the character encoding for the HTML document, set to UTF-8, which includes most characters from all human languages.</a:t>
            </a:r>
          </a:p>
          <a:p>
            <a:pPr marL="800100" lvl="1" indent="-342900">
              <a:lnSpc>
                <a:spcPct val="150000"/>
              </a:lnSpc>
              <a:buFont typeface="Arial" panose="020B0604020202020204" pitchFamily="34" charset="0"/>
              <a:buChar char="•"/>
            </a:pPr>
            <a:r>
              <a:rPr lang="en-US" sz="2200" b="1" dirty="0">
                <a:latin typeface="Calibri" panose="020F0502020204030204" pitchFamily="34" charset="0"/>
                <a:cs typeface="Calibri" panose="020F0502020204030204" pitchFamily="34" charset="0"/>
              </a:rPr>
              <a:t>&lt;title&gt;Sydney Community Sports League&lt;/title&gt;:</a:t>
            </a:r>
            <a:r>
              <a:rPr lang="en-US" sz="2200" dirty="0">
                <a:latin typeface="Calibri" panose="020F0502020204030204" pitchFamily="34" charset="0"/>
                <a:cs typeface="Calibri" panose="020F0502020204030204" pitchFamily="34" charset="0"/>
              </a:rPr>
              <a:t> This sets the title of the web page, which appears in the browser tab.</a:t>
            </a:r>
          </a:p>
          <a:p>
            <a:pPr marL="800100" lvl="1" indent="-342900">
              <a:lnSpc>
                <a:spcPct val="150000"/>
              </a:lnSpc>
              <a:buFont typeface="Arial" panose="020B0604020202020204" pitchFamily="34" charset="0"/>
              <a:buChar char="•"/>
            </a:pPr>
            <a:r>
              <a:rPr lang="en-US" sz="2200" b="1" dirty="0">
                <a:latin typeface="Calibri" panose="020F0502020204030204" pitchFamily="34" charset="0"/>
                <a:cs typeface="Calibri" panose="020F0502020204030204" pitchFamily="34" charset="0"/>
              </a:rPr>
              <a:t>&lt;link </a:t>
            </a:r>
            <a:r>
              <a:rPr lang="en-US" sz="2200" b="1" dirty="0" err="1">
                <a:latin typeface="Calibri" panose="020F0502020204030204" pitchFamily="34" charset="0"/>
                <a:cs typeface="Calibri" panose="020F0502020204030204" pitchFamily="34" charset="0"/>
              </a:rPr>
              <a:t>rel</a:t>
            </a:r>
            <a:r>
              <a:rPr lang="en-US" sz="2200" b="1" dirty="0">
                <a:latin typeface="Calibri" panose="020F0502020204030204" pitchFamily="34" charset="0"/>
                <a:cs typeface="Calibri" panose="020F0502020204030204" pitchFamily="34" charset="0"/>
              </a:rPr>
              <a:t>="stylesheet" </a:t>
            </a:r>
            <a:r>
              <a:rPr lang="en-US" sz="2200" b="1" dirty="0" err="1">
                <a:latin typeface="Calibri" panose="020F0502020204030204" pitchFamily="34" charset="0"/>
                <a:cs typeface="Calibri" panose="020F0502020204030204" pitchFamily="34" charset="0"/>
              </a:rPr>
              <a:t>href</a:t>
            </a:r>
            <a:r>
              <a:rPr lang="en-US" sz="2200" b="1" dirty="0">
                <a:latin typeface="Calibri" panose="020F0502020204030204" pitchFamily="34" charset="0"/>
                <a:cs typeface="Calibri" panose="020F0502020204030204" pitchFamily="34" charset="0"/>
              </a:rPr>
              <a:t>="</a:t>
            </a:r>
            <a:r>
              <a:rPr lang="en-US" sz="2200" b="1" dirty="0" err="1">
                <a:latin typeface="Calibri" panose="020F0502020204030204" pitchFamily="34" charset="0"/>
                <a:cs typeface="Calibri" panose="020F0502020204030204" pitchFamily="34" charset="0"/>
              </a:rPr>
              <a:t>css</a:t>
            </a:r>
            <a:r>
              <a:rPr lang="en-US" sz="2200" b="1" dirty="0">
                <a:latin typeface="Calibri" panose="020F0502020204030204" pitchFamily="34" charset="0"/>
                <a:cs typeface="Calibri" panose="020F0502020204030204" pitchFamily="34" charset="0"/>
              </a:rPr>
              <a:t>/sydney-sports-styles.css"&gt;:</a:t>
            </a:r>
            <a:r>
              <a:rPr lang="en-US" sz="2200" dirty="0">
                <a:latin typeface="Calibri" panose="020F0502020204030204" pitchFamily="34" charset="0"/>
                <a:cs typeface="Calibri" panose="020F0502020204030204" pitchFamily="34" charset="0"/>
              </a:rPr>
              <a:t> This links an external CSS file that controls the styling of the webpage.</a:t>
            </a:r>
            <a:endParaRPr lang="en-AU" sz="2200" dirty="0">
              <a:latin typeface="Calibri" panose="020F0502020204030204" pitchFamily="34" charset="0"/>
              <a:cs typeface="Calibri" panose="020F0502020204030204" pitchFamily="34" charset="0"/>
            </a:endParaRPr>
          </a:p>
        </p:txBody>
      </p:sp>
      <p:pic>
        <p:nvPicPr>
          <p:cNvPr id="6" name="Picture 5">
            <a:extLst>
              <a:ext uri="{FF2B5EF4-FFF2-40B4-BE49-F238E27FC236}">
                <a16:creationId xmlns:a16="http://schemas.microsoft.com/office/drawing/2014/main" id="{6E26BFE3-1261-AE18-AC52-D7CD1F9A622C}"/>
              </a:ext>
            </a:extLst>
          </p:cNvPr>
          <p:cNvPicPr>
            <a:picLocks noChangeAspect="1"/>
          </p:cNvPicPr>
          <p:nvPr/>
        </p:nvPicPr>
        <p:blipFill rotWithShape="1">
          <a:blip r:embed="rId2"/>
          <a:srcRect l="4741" t="11219" r="57586" b="13563"/>
          <a:stretch/>
        </p:blipFill>
        <p:spPr>
          <a:xfrm>
            <a:off x="0" y="2059"/>
            <a:ext cx="6096000" cy="6846505"/>
          </a:xfrm>
          <a:prstGeom prst="rect">
            <a:avLst/>
          </a:prstGeom>
        </p:spPr>
      </p:pic>
    </p:spTree>
    <p:extLst>
      <p:ext uri="{BB962C8B-B14F-4D97-AF65-F5344CB8AC3E}">
        <p14:creationId xmlns:p14="http://schemas.microsoft.com/office/powerpoint/2010/main" val="9205706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fade">
                                      <p:cBhvr>
                                        <p:cTn id="7" dur="1000"/>
                                        <p:tgtEl>
                                          <p:spTgt spid="8">
                                            <p:txEl>
                                              <p:pRg st="0" end="0"/>
                                            </p:txEl>
                                          </p:spTgt>
                                        </p:tgtEl>
                                      </p:cBhvr>
                                    </p:animEffect>
                                    <p:anim calcmode="lin" valueType="num">
                                      <p:cBhvr>
                                        <p:cTn id="8" dur="1000" fill="hold"/>
                                        <p:tgtEl>
                                          <p:spTgt spid="8">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8">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8">
                                            <p:txEl>
                                              <p:pRg st="1" end="1"/>
                                            </p:txEl>
                                          </p:spTgt>
                                        </p:tgtEl>
                                        <p:attrNameLst>
                                          <p:attrName>style.visibility</p:attrName>
                                        </p:attrNameLst>
                                      </p:cBhvr>
                                      <p:to>
                                        <p:strVal val="visible"/>
                                      </p:to>
                                    </p:set>
                                    <p:animEffect transition="in" filter="fade">
                                      <p:cBhvr>
                                        <p:cTn id="14" dur="1000"/>
                                        <p:tgtEl>
                                          <p:spTgt spid="8">
                                            <p:txEl>
                                              <p:pRg st="1" end="1"/>
                                            </p:txEl>
                                          </p:spTgt>
                                        </p:tgtEl>
                                      </p:cBhvr>
                                    </p:animEffect>
                                    <p:anim calcmode="lin" valueType="num">
                                      <p:cBhvr>
                                        <p:cTn id="15" dur="1000" fill="hold"/>
                                        <p:tgtEl>
                                          <p:spTgt spid="8">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8">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8">
                                            <p:txEl>
                                              <p:pRg st="2" end="2"/>
                                            </p:txEl>
                                          </p:spTgt>
                                        </p:tgtEl>
                                        <p:attrNameLst>
                                          <p:attrName>style.visibility</p:attrName>
                                        </p:attrNameLst>
                                      </p:cBhvr>
                                      <p:to>
                                        <p:strVal val="visible"/>
                                      </p:to>
                                    </p:set>
                                    <p:animEffect transition="in" filter="fade">
                                      <p:cBhvr>
                                        <p:cTn id="21" dur="1000"/>
                                        <p:tgtEl>
                                          <p:spTgt spid="8">
                                            <p:txEl>
                                              <p:pRg st="2" end="2"/>
                                            </p:txEl>
                                          </p:spTgt>
                                        </p:tgtEl>
                                      </p:cBhvr>
                                    </p:animEffect>
                                    <p:anim calcmode="lin" valueType="num">
                                      <p:cBhvr>
                                        <p:cTn id="22" dur="1000" fill="hold"/>
                                        <p:tgtEl>
                                          <p:spTgt spid="8">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8">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8">
                                            <p:txEl>
                                              <p:pRg st="3" end="3"/>
                                            </p:txEl>
                                          </p:spTgt>
                                        </p:tgtEl>
                                        <p:attrNameLst>
                                          <p:attrName>style.visibility</p:attrName>
                                        </p:attrNameLst>
                                      </p:cBhvr>
                                      <p:to>
                                        <p:strVal val="visible"/>
                                      </p:to>
                                    </p:set>
                                    <p:animEffect transition="in" filter="fade">
                                      <p:cBhvr>
                                        <p:cTn id="28" dur="1000"/>
                                        <p:tgtEl>
                                          <p:spTgt spid="8">
                                            <p:txEl>
                                              <p:pRg st="3" end="3"/>
                                            </p:txEl>
                                          </p:spTgt>
                                        </p:tgtEl>
                                      </p:cBhvr>
                                    </p:animEffect>
                                    <p:anim calcmode="lin" valueType="num">
                                      <p:cBhvr>
                                        <p:cTn id="29" dur="1000" fill="hold"/>
                                        <p:tgtEl>
                                          <p:spTgt spid="8">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8">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6E26BFE3-1261-AE18-AC52-D7CD1F9A622C}"/>
              </a:ext>
            </a:extLst>
          </p:cNvPr>
          <p:cNvPicPr>
            <a:picLocks noChangeAspect="1"/>
          </p:cNvPicPr>
          <p:nvPr/>
        </p:nvPicPr>
        <p:blipFill rotWithShape="1">
          <a:blip r:embed="rId2"/>
          <a:srcRect l="4741" t="11219" r="57586" b="13563"/>
          <a:stretch/>
        </p:blipFill>
        <p:spPr>
          <a:xfrm>
            <a:off x="-178420" y="0"/>
            <a:ext cx="6096000" cy="6846505"/>
          </a:xfrm>
          <a:prstGeom prst="rect">
            <a:avLst/>
          </a:prstGeom>
        </p:spPr>
      </p:pic>
      <p:sp>
        <p:nvSpPr>
          <p:cNvPr id="8" name="TextBox 7">
            <a:extLst>
              <a:ext uri="{FF2B5EF4-FFF2-40B4-BE49-F238E27FC236}">
                <a16:creationId xmlns:a16="http://schemas.microsoft.com/office/drawing/2014/main" id="{548339E8-BF84-DE95-F4BF-2C8581AEEC9E}"/>
              </a:ext>
            </a:extLst>
          </p:cNvPr>
          <p:cNvSpPr txBox="1"/>
          <p:nvPr/>
        </p:nvSpPr>
        <p:spPr>
          <a:xfrm>
            <a:off x="5519854" y="0"/>
            <a:ext cx="6672146" cy="6969600"/>
          </a:xfrm>
          <a:prstGeom prst="rect">
            <a:avLst/>
          </a:prstGeom>
          <a:noFill/>
          <a:ln>
            <a:noFill/>
          </a:ln>
        </p:spPr>
        <p:txBody>
          <a:bodyPr wrap="square" rtlCol="0">
            <a:spAutoFit/>
          </a:bodyPr>
          <a:lstStyle/>
          <a:p>
            <a:pPr marL="342900" indent="-342900">
              <a:lnSpc>
                <a:spcPct val="150000"/>
              </a:lnSpc>
              <a:buFont typeface="Arial" panose="020B0604020202020204" pitchFamily="34" charset="0"/>
              <a:buChar char="•"/>
            </a:pPr>
            <a:r>
              <a:rPr lang="en-US" sz="2000" b="1" dirty="0">
                <a:latin typeface="Calibri" panose="020F0502020204030204" pitchFamily="34" charset="0"/>
                <a:cs typeface="Calibri" panose="020F0502020204030204" pitchFamily="34" charset="0"/>
              </a:rPr>
              <a:t>&lt;body&gt;:</a:t>
            </a:r>
            <a:r>
              <a:rPr lang="en-US" sz="2000" dirty="0">
                <a:latin typeface="Calibri" panose="020F0502020204030204" pitchFamily="34" charset="0"/>
                <a:cs typeface="Calibri" panose="020F0502020204030204" pitchFamily="34" charset="0"/>
              </a:rPr>
              <a:t> This section contains all the contents of the HTML document that are visible to the user.</a:t>
            </a:r>
          </a:p>
          <a:p>
            <a:pPr marL="800100" lvl="1" indent="-342900">
              <a:lnSpc>
                <a:spcPct val="150000"/>
              </a:lnSpc>
              <a:buFont typeface="Arial" panose="020B0604020202020204" pitchFamily="34" charset="0"/>
              <a:buChar char="•"/>
            </a:pPr>
            <a:r>
              <a:rPr lang="en-US" sz="2000" b="1" dirty="0">
                <a:latin typeface="Calibri" panose="020F0502020204030204" pitchFamily="34" charset="0"/>
                <a:cs typeface="Calibri" panose="020F0502020204030204" pitchFamily="34" charset="0"/>
              </a:rPr>
              <a:t>&lt;header&gt;: </a:t>
            </a:r>
            <a:r>
              <a:rPr lang="en-US" sz="2000" dirty="0">
                <a:latin typeface="Calibri" panose="020F0502020204030204" pitchFamily="34" charset="0"/>
                <a:cs typeface="Calibri" panose="020F0502020204030204" pitchFamily="34" charset="0"/>
              </a:rPr>
              <a:t>This is the introductory content or navigational links for the page.</a:t>
            </a:r>
          </a:p>
          <a:p>
            <a:pPr marL="1257300" lvl="2" indent="-342900">
              <a:lnSpc>
                <a:spcPct val="150000"/>
              </a:lnSpc>
              <a:buFont typeface="Arial" panose="020B0604020202020204" pitchFamily="34" charset="0"/>
              <a:buChar char="•"/>
            </a:pPr>
            <a:r>
              <a:rPr lang="en-US" sz="2000" b="1" dirty="0">
                <a:latin typeface="Calibri" panose="020F0502020204030204" pitchFamily="34" charset="0"/>
                <a:cs typeface="Calibri" panose="020F0502020204030204" pitchFamily="34" charset="0"/>
              </a:rPr>
              <a:t>&lt;h1&gt;Sydney Community Sports League&lt;/h1&gt;</a:t>
            </a:r>
            <a:r>
              <a:rPr lang="en-US" sz="2000" dirty="0">
                <a:latin typeface="Calibri" panose="020F0502020204030204" pitchFamily="34" charset="0"/>
                <a:cs typeface="Calibri" panose="020F0502020204030204" pitchFamily="34" charset="0"/>
              </a:rPr>
              <a:t>: The main heading of the page, displayed prominently.</a:t>
            </a:r>
          </a:p>
          <a:p>
            <a:pPr marL="1257300" lvl="2" indent="-342900">
              <a:lnSpc>
                <a:spcPct val="150000"/>
              </a:lnSpc>
              <a:buFont typeface="Arial" panose="020B0604020202020204" pitchFamily="34" charset="0"/>
              <a:buChar char="•"/>
            </a:pPr>
            <a:r>
              <a:rPr lang="en-US" sz="2000" b="1" dirty="0">
                <a:latin typeface="Calibri" panose="020F0502020204030204" pitchFamily="34" charset="0"/>
                <a:cs typeface="Calibri" panose="020F0502020204030204" pitchFamily="34" charset="0"/>
              </a:rPr>
              <a:t>&lt;nav&gt;: </a:t>
            </a:r>
            <a:r>
              <a:rPr lang="en-US" sz="2000" dirty="0">
                <a:latin typeface="Calibri" panose="020F0502020204030204" pitchFamily="34" charset="0"/>
                <a:cs typeface="Calibri" panose="020F0502020204030204" pitchFamily="34" charset="0"/>
              </a:rPr>
              <a:t>This element is intended for navigation links.</a:t>
            </a:r>
          </a:p>
          <a:p>
            <a:pPr marL="1714500" lvl="3" indent="-342900">
              <a:lnSpc>
                <a:spcPct val="150000"/>
              </a:lnSpc>
              <a:buFont typeface="Arial" panose="020B0604020202020204" pitchFamily="34" charset="0"/>
              <a:buChar char="•"/>
            </a:pPr>
            <a:r>
              <a:rPr lang="en-US" sz="2000" b="1" dirty="0">
                <a:latin typeface="Calibri" panose="020F0502020204030204" pitchFamily="34" charset="0"/>
                <a:cs typeface="Calibri" panose="020F0502020204030204" pitchFamily="34" charset="0"/>
              </a:rPr>
              <a:t>&lt;</a:t>
            </a:r>
            <a:r>
              <a:rPr lang="en-US" sz="2000" b="1" dirty="0" err="1">
                <a:latin typeface="Calibri" panose="020F0502020204030204" pitchFamily="34" charset="0"/>
                <a:cs typeface="Calibri" panose="020F0502020204030204" pitchFamily="34" charset="0"/>
              </a:rPr>
              <a:t>ul</a:t>
            </a:r>
            <a:r>
              <a:rPr lang="en-US" sz="2000" b="1" dirty="0">
                <a:latin typeface="Calibri" panose="020F0502020204030204" pitchFamily="34" charset="0"/>
                <a:cs typeface="Calibri" panose="020F0502020204030204" pitchFamily="34" charset="0"/>
              </a:rPr>
              <a:t>&gt;: </a:t>
            </a:r>
            <a:r>
              <a:rPr lang="en-US" sz="2000" dirty="0">
                <a:latin typeface="Calibri" panose="020F0502020204030204" pitchFamily="34" charset="0"/>
                <a:cs typeface="Calibri" panose="020F0502020204030204" pitchFamily="34" charset="0"/>
              </a:rPr>
              <a:t>An unordered list that contains navigation items.</a:t>
            </a:r>
          </a:p>
          <a:p>
            <a:pPr marL="2171700" lvl="4" indent="-342900">
              <a:lnSpc>
                <a:spcPct val="150000"/>
              </a:lnSpc>
              <a:buFont typeface="Arial" panose="020B0604020202020204" pitchFamily="34" charset="0"/>
              <a:buChar char="•"/>
            </a:pPr>
            <a:r>
              <a:rPr lang="en-US" sz="2000" b="1" dirty="0">
                <a:latin typeface="Calibri" panose="020F0502020204030204" pitchFamily="34" charset="0"/>
                <a:cs typeface="Calibri" panose="020F0502020204030204" pitchFamily="34" charset="0"/>
              </a:rPr>
              <a:t>&lt;li&gt;&lt;a </a:t>
            </a:r>
            <a:r>
              <a:rPr lang="en-US" sz="2000" b="1" dirty="0" err="1">
                <a:latin typeface="Calibri" panose="020F0502020204030204" pitchFamily="34" charset="0"/>
                <a:cs typeface="Calibri" panose="020F0502020204030204" pitchFamily="34" charset="0"/>
              </a:rPr>
              <a:t>href</a:t>
            </a:r>
            <a:r>
              <a:rPr lang="en-US" sz="2000" b="1" dirty="0">
                <a:latin typeface="Calibri" panose="020F0502020204030204" pitchFamily="34" charset="0"/>
                <a:cs typeface="Calibri" panose="020F0502020204030204" pitchFamily="34" charset="0"/>
              </a:rPr>
              <a:t>="#"&gt;...&lt;/a&gt;&lt;/li&gt;: </a:t>
            </a:r>
            <a:r>
              <a:rPr lang="en-US" sz="2000" dirty="0">
                <a:latin typeface="Calibri" panose="020F0502020204030204" pitchFamily="34" charset="0"/>
                <a:cs typeface="Calibri" panose="020F0502020204030204" pitchFamily="34" charset="0"/>
              </a:rPr>
              <a:t>Each list item contains a hyperlink </a:t>
            </a:r>
            <a:r>
              <a:rPr lang="en-US" sz="2000" b="1" dirty="0">
                <a:latin typeface="Calibri" panose="020F0502020204030204" pitchFamily="34" charset="0"/>
                <a:cs typeface="Calibri" panose="020F0502020204030204" pitchFamily="34" charset="0"/>
              </a:rPr>
              <a:t>(&lt;a&gt;) </a:t>
            </a:r>
            <a:r>
              <a:rPr lang="en-US" sz="2000" dirty="0">
                <a:latin typeface="Calibri" panose="020F0502020204030204" pitchFamily="34" charset="0"/>
                <a:cs typeface="Calibri" panose="020F0502020204030204" pitchFamily="34" charset="0"/>
              </a:rPr>
              <a:t>that, in this example, doesn't lead anywhere </a:t>
            </a:r>
            <a:r>
              <a:rPr lang="en-US" sz="2000" b="1" dirty="0">
                <a:latin typeface="Calibri" panose="020F0502020204030204" pitchFamily="34" charset="0"/>
                <a:cs typeface="Calibri" panose="020F0502020204030204" pitchFamily="34" charset="0"/>
              </a:rPr>
              <a:t>(</a:t>
            </a:r>
            <a:r>
              <a:rPr lang="en-US" sz="2000" b="1" dirty="0" err="1">
                <a:latin typeface="Calibri" panose="020F0502020204030204" pitchFamily="34" charset="0"/>
                <a:cs typeface="Calibri" panose="020F0502020204030204" pitchFamily="34" charset="0"/>
              </a:rPr>
              <a:t>href</a:t>
            </a:r>
            <a:r>
              <a:rPr lang="en-US" sz="2000" b="1" dirty="0">
                <a:latin typeface="Calibri" panose="020F0502020204030204" pitchFamily="34" charset="0"/>
                <a:cs typeface="Calibri" panose="020F0502020204030204" pitchFamily="34" charset="0"/>
              </a:rPr>
              <a:t>="#").</a:t>
            </a:r>
            <a:endParaRPr lang="en-AU" sz="2000" b="1"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12378667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548339E8-BF84-DE95-F4BF-2C8581AEEC9E}"/>
              </a:ext>
            </a:extLst>
          </p:cNvPr>
          <p:cNvSpPr txBox="1"/>
          <p:nvPr/>
        </p:nvSpPr>
        <p:spPr>
          <a:xfrm>
            <a:off x="5832088" y="2018370"/>
            <a:ext cx="6359912" cy="4199611"/>
          </a:xfrm>
          <a:prstGeom prst="rect">
            <a:avLst/>
          </a:prstGeom>
          <a:noFill/>
          <a:ln>
            <a:noFill/>
          </a:ln>
        </p:spPr>
        <p:txBody>
          <a:bodyPr wrap="square" rtlCol="0">
            <a:spAutoFit/>
          </a:bodyPr>
          <a:lstStyle/>
          <a:p>
            <a:pPr marL="342900" indent="-342900">
              <a:lnSpc>
                <a:spcPct val="150000"/>
              </a:lnSpc>
              <a:buFont typeface="Arial" panose="020B0604020202020204" pitchFamily="34" charset="0"/>
              <a:buChar char="•"/>
            </a:pPr>
            <a:r>
              <a:rPr lang="en-US" sz="2000" b="1" dirty="0">
                <a:latin typeface="Calibri" panose="020F0502020204030204" pitchFamily="34" charset="0"/>
                <a:cs typeface="Calibri" panose="020F0502020204030204" pitchFamily="34" charset="0"/>
              </a:rPr>
              <a:t>&lt;main&gt;: </a:t>
            </a:r>
            <a:r>
              <a:rPr lang="en-US" sz="2000" dirty="0">
                <a:latin typeface="Calibri" panose="020F0502020204030204" pitchFamily="34" charset="0"/>
                <a:cs typeface="Calibri" panose="020F0502020204030204" pitchFamily="34" charset="0"/>
              </a:rPr>
              <a:t>The main content area of the document.</a:t>
            </a:r>
          </a:p>
          <a:p>
            <a:pPr marL="800100" lvl="1" indent="-342900">
              <a:lnSpc>
                <a:spcPct val="150000"/>
              </a:lnSpc>
              <a:buFont typeface="Arial" panose="020B0604020202020204" pitchFamily="34" charset="0"/>
              <a:buChar char="•"/>
            </a:pPr>
            <a:r>
              <a:rPr lang="en-US" sz="2000" b="1" dirty="0">
                <a:latin typeface="Calibri" panose="020F0502020204030204" pitchFamily="34" charset="0"/>
                <a:cs typeface="Calibri" panose="020F0502020204030204" pitchFamily="34" charset="0"/>
              </a:rPr>
              <a:t>&lt;section class="sports-news"&gt;:</a:t>
            </a:r>
            <a:r>
              <a:rPr lang="en-US" sz="2000" dirty="0">
                <a:latin typeface="Calibri" panose="020F0502020204030204" pitchFamily="34" charset="0"/>
                <a:cs typeface="Calibri" panose="020F0502020204030204" pitchFamily="34" charset="0"/>
              </a:rPr>
              <a:t> A section meant for grouping thematically related content, here identified by the class "sports-news".</a:t>
            </a:r>
          </a:p>
          <a:p>
            <a:pPr marL="1257300" lvl="2" indent="-342900">
              <a:lnSpc>
                <a:spcPct val="150000"/>
              </a:lnSpc>
              <a:buFont typeface="Arial" panose="020B0604020202020204" pitchFamily="34" charset="0"/>
              <a:buChar char="•"/>
            </a:pPr>
            <a:r>
              <a:rPr lang="en-US" sz="2000" b="1" dirty="0">
                <a:latin typeface="Calibri" panose="020F0502020204030204" pitchFamily="34" charset="0"/>
                <a:cs typeface="Calibri" panose="020F0502020204030204" pitchFamily="34" charset="0"/>
              </a:rPr>
              <a:t>&lt;h2&gt;Latest News&lt;/h2&gt;: </a:t>
            </a:r>
            <a:r>
              <a:rPr lang="en-US" sz="2000" dirty="0">
                <a:latin typeface="Calibri" panose="020F0502020204030204" pitchFamily="34" charset="0"/>
                <a:cs typeface="Calibri" panose="020F0502020204030204" pitchFamily="34" charset="0"/>
              </a:rPr>
              <a:t>A heading for the section.</a:t>
            </a:r>
          </a:p>
          <a:p>
            <a:pPr marL="1257300" lvl="2" indent="-342900">
              <a:lnSpc>
                <a:spcPct val="150000"/>
              </a:lnSpc>
              <a:buFont typeface="Arial" panose="020B0604020202020204" pitchFamily="34" charset="0"/>
              <a:buChar char="•"/>
            </a:pPr>
            <a:r>
              <a:rPr lang="en-US" sz="2000" b="1" dirty="0">
                <a:latin typeface="Calibri" panose="020F0502020204030204" pitchFamily="34" charset="0"/>
                <a:cs typeface="Calibri" panose="020F0502020204030204" pitchFamily="34" charset="0"/>
              </a:rPr>
              <a:t>&lt;p&gt;Exciting finals coming up this weekend!&lt;/p&gt;: </a:t>
            </a:r>
            <a:r>
              <a:rPr lang="en-US" sz="2000" dirty="0">
                <a:latin typeface="Calibri" panose="020F0502020204030204" pitchFamily="34" charset="0"/>
                <a:cs typeface="Calibri" panose="020F0502020204030204" pitchFamily="34" charset="0"/>
              </a:rPr>
              <a:t>A paragraph with some news content.</a:t>
            </a:r>
            <a:endParaRPr lang="en-AU" sz="2000" dirty="0">
              <a:latin typeface="Calibri" panose="020F0502020204030204" pitchFamily="34" charset="0"/>
              <a:cs typeface="Calibri" panose="020F0502020204030204" pitchFamily="34" charset="0"/>
            </a:endParaRPr>
          </a:p>
        </p:txBody>
      </p:sp>
      <p:pic>
        <p:nvPicPr>
          <p:cNvPr id="6" name="Picture 5">
            <a:extLst>
              <a:ext uri="{FF2B5EF4-FFF2-40B4-BE49-F238E27FC236}">
                <a16:creationId xmlns:a16="http://schemas.microsoft.com/office/drawing/2014/main" id="{6E26BFE3-1261-AE18-AC52-D7CD1F9A622C}"/>
              </a:ext>
            </a:extLst>
          </p:cNvPr>
          <p:cNvPicPr>
            <a:picLocks noChangeAspect="1"/>
          </p:cNvPicPr>
          <p:nvPr/>
        </p:nvPicPr>
        <p:blipFill rotWithShape="1">
          <a:blip r:embed="rId2"/>
          <a:srcRect l="4741" t="11219" r="57586" b="13563"/>
          <a:stretch/>
        </p:blipFill>
        <p:spPr>
          <a:xfrm>
            <a:off x="-178420" y="0"/>
            <a:ext cx="6096000" cy="6846505"/>
          </a:xfrm>
          <a:prstGeom prst="rect">
            <a:avLst/>
          </a:prstGeom>
        </p:spPr>
      </p:pic>
    </p:spTree>
    <p:extLst>
      <p:ext uri="{BB962C8B-B14F-4D97-AF65-F5344CB8AC3E}">
        <p14:creationId xmlns:p14="http://schemas.microsoft.com/office/powerpoint/2010/main" val="283557648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548339E8-BF84-DE95-F4BF-2C8581AEEC9E}"/>
              </a:ext>
            </a:extLst>
          </p:cNvPr>
          <p:cNvSpPr txBox="1"/>
          <p:nvPr/>
        </p:nvSpPr>
        <p:spPr>
          <a:xfrm>
            <a:off x="5832088" y="-67778"/>
            <a:ext cx="6359912" cy="3737946"/>
          </a:xfrm>
          <a:prstGeom prst="rect">
            <a:avLst/>
          </a:prstGeom>
          <a:noFill/>
          <a:ln>
            <a:noFill/>
          </a:ln>
        </p:spPr>
        <p:txBody>
          <a:bodyPr wrap="square" rtlCol="0">
            <a:spAutoFit/>
          </a:bodyPr>
          <a:lstStyle/>
          <a:p>
            <a:pPr marL="342900" indent="-342900">
              <a:lnSpc>
                <a:spcPct val="150000"/>
              </a:lnSpc>
              <a:buFont typeface="Arial" panose="020B0604020202020204" pitchFamily="34" charset="0"/>
              <a:buChar char="•"/>
            </a:pPr>
            <a:r>
              <a:rPr lang="en-US" sz="2000" b="1" dirty="0">
                <a:latin typeface="Calibri" panose="020F0502020204030204" pitchFamily="34" charset="0"/>
                <a:cs typeface="Calibri" panose="020F0502020204030204" pitchFamily="34" charset="0"/>
              </a:rPr>
              <a:t>&lt;aside class="upcoming-events"&gt;: </a:t>
            </a:r>
            <a:r>
              <a:rPr lang="en-US" sz="2000" dirty="0">
                <a:latin typeface="Calibri" panose="020F0502020204030204" pitchFamily="34" charset="0"/>
                <a:cs typeface="Calibri" panose="020F0502020204030204" pitchFamily="34" charset="0"/>
              </a:rPr>
              <a:t>This section is typically used for content tangentially related to the content around it (like sidebars), here identified by the class "upcoming-events".</a:t>
            </a:r>
          </a:p>
          <a:p>
            <a:pPr marL="800100" lvl="1" indent="-342900">
              <a:lnSpc>
                <a:spcPct val="150000"/>
              </a:lnSpc>
              <a:buFont typeface="Arial" panose="020B0604020202020204" pitchFamily="34" charset="0"/>
              <a:buChar char="•"/>
            </a:pPr>
            <a:r>
              <a:rPr lang="en-US" sz="2000" b="1" dirty="0">
                <a:latin typeface="Calibri" panose="020F0502020204030204" pitchFamily="34" charset="0"/>
                <a:cs typeface="Calibri" panose="020F0502020204030204" pitchFamily="34" charset="0"/>
              </a:rPr>
              <a:t>&lt;h2&gt;Upcoming Events&lt;/h2&gt;: </a:t>
            </a:r>
            <a:r>
              <a:rPr lang="en-US" sz="2000" dirty="0">
                <a:latin typeface="Calibri" panose="020F0502020204030204" pitchFamily="34" charset="0"/>
                <a:cs typeface="Calibri" panose="020F0502020204030204" pitchFamily="34" charset="0"/>
              </a:rPr>
              <a:t>Another heading, distinguishing this content's topic.</a:t>
            </a:r>
          </a:p>
          <a:p>
            <a:pPr marL="800100" lvl="1" indent="-342900">
              <a:lnSpc>
                <a:spcPct val="150000"/>
              </a:lnSpc>
              <a:buFont typeface="Arial" panose="020B0604020202020204" pitchFamily="34" charset="0"/>
              <a:buChar char="•"/>
            </a:pPr>
            <a:r>
              <a:rPr lang="en-US" sz="2000" b="1" dirty="0">
                <a:latin typeface="Calibri" panose="020F0502020204030204" pitchFamily="34" charset="0"/>
                <a:cs typeface="Calibri" panose="020F0502020204030204" pitchFamily="34" charset="0"/>
              </a:rPr>
              <a:t>&lt;</a:t>
            </a:r>
            <a:r>
              <a:rPr lang="en-US" sz="2000" b="1" dirty="0" err="1">
                <a:latin typeface="Calibri" panose="020F0502020204030204" pitchFamily="34" charset="0"/>
                <a:cs typeface="Calibri" panose="020F0502020204030204" pitchFamily="34" charset="0"/>
              </a:rPr>
              <a:t>ul</a:t>
            </a:r>
            <a:r>
              <a:rPr lang="en-US" sz="2000" b="1" dirty="0">
                <a:latin typeface="Calibri" panose="020F0502020204030204" pitchFamily="34" charset="0"/>
                <a:cs typeface="Calibri" panose="020F0502020204030204" pitchFamily="34" charset="0"/>
              </a:rPr>
              <a:t>&gt;: </a:t>
            </a:r>
            <a:r>
              <a:rPr lang="en-US" sz="2000" dirty="0">
                <a:latin typeface="Calibri" panose="020F0502020204030204" pitchFamily="34" charset="0"/>
                <a:cs typeface="Calibri" panose="020F0502020204030204" pitchFamily="34" charset="0"/>
              </a:rPr>
              <a:t>Another unordered list detailing events.</a:t>
            </a:r>
          </a:p>
          <a:p>
            <a:pPr marL="1257300" lvl="2" indent="-342900">
              <a:lnSpc>
                <a:spcPct val="150000"/>
              </a:lnSpc>
              <a:buFont typeface="Arial" panose="020B0604020202020204" pitchFamily="34" charset="0"/>
              <a:buChar char="•"/>
            </a:pPr>
            <a:r>
              <a:rPr lang="en-US" sz="2000" b="1" dirty="0">
                <a:latin typeface="Calibri" panose="020F0502020204030204" pitchFamily="34" charset="0"/>
                <a:cs typeface="Calibri" panose="020F0502020204030204" pitchFamily="34" charset="0"/>
              </a:rPr>
              <a:t>&lt;li&gt;...&lt;/li&gt;: </a:t>
            </a:r>
            <a:r>
              <a:rPr lang="en-US" sz="2000" dirty="0">
                <a:latin typeface="Calibri" panose="020F0502020204030204" pitchFamily="34" charset="0"/>
                <a:cs typeface="Calibri" panose="020F0502020204030204" pitchFamily="34" charset="0"/>
              </a:rPr>
              <a:t>List items with event details.</a:t>
            </a:r>
            <a:endParaRPr lang="en-AU" sz="2000" dirty="0">
              <a:latin typeface="Calibri" panose="020F0502020204030204" pitchFamily="34" charset="0"/>
              <a:cs typeface="Calibri" panose="020F0502020204030204" pitchFamily="34" charset="0"/>
            </a:endParaRPr>
          </a:p>
        </p:txBody>
      </p:sp>
      <p:pic>
        <p:nvPicPr>
          <p:cNvPr id="6" name="Picture 5">
            <a:extLst>
              <a:ext uri="{FF2B5EF4-FFF2-40B4-BE49-F238E27FC236}">
                <a16:creationId xmlns:a16="http://schemas.microsoft.com/office/drawing/2014/main" id="{6E26BFE3-1261-AE18-AC52-D7CD1F9A622C}"/>
              </a:ext>
            </a:extLst>
          </p:cNvPr>
          <p:cNvPicPr>
            <a:picLocks noChangeAspect="1"/>
          </p:cNvPicPr>
          <p:nvPr/>
        </p:nvPicPr>
        <p:blipFill rotWithShape="1">
          <a:blip r:embed="rId2"/>
          <a:srcRect l="4741" t="11219" r="57586" b="13563"/>
          <a:stretch/>
        </p:blipFill>
        <p:spPr>
          <a:xfrm>
            <a:off x="0" y="0"/>
            <a:ext cx="5371501" cy="6032810"/>
          </a:xfrm>
          <a:prstGeom prst="rect">
            <a:avLst/>
          </a:prstGeom>
        </p:spPr>
      </p:pic>
      <p:sp>
        <p:nvSpPr>
          <p:cNvPr id="2" name="TextBox 1">
            <a:extLst>
              <a:ext uri="{FF2B5EF4-FFF2-40B4-BE49-F238E27FC236}">
                <a16:creationId xmlns:a16="http://schemas.microsoft.com/office/drawing/2014/main" id="{EE1AB0CF-B490-5AAE-F1D3-9E7291D781F2}"/>
              </a:ext>
            </a:extLst>
          </p:cNvPr>
          <p:cNvSpPr txBox="1"/>
          <p:nvPr/>
        </p:nvSpPr>
        <p:spPr>
          <a:xfrm>
            <a:off x="5832088" y="3537091"/>
            <a:ext cx="6359912" cy="2352952"/>
          </a:xfrm>
          <a:prstGeom prst="rect">
            <a:avLst/>
          </a:prstGeom>
          <a:noFill/>
          <a:ln>
            <a:noFill/>
          </a:ln>
        </p:spPr>
        <p:txBody>
          <a:bodyPr wrap="square" rtlCol="0">
            <a:spAutoFit/>
          </a:bodyPr>
          <a:lstStyle/>
          <a:p>
            <a:pPr marL="342900" indent="-342900">
              <a:lnSpc>
                <a:spcPct val="150000"/>
              </a:lnSpc>
              <a:buFont typeface="Arial" panose="020B0604020202020204" pitchFamily="34" charset="0"/>
              <a:buChar char="•"/>
            </a:pPr>
            <a:r>
              <a:rPr lang="en-US" sz="2000" b="1" dirty="0">
                <a:latin typeface="Calibri" panose="020F0502020204030204" pitchFamily="34" charset="0"/>
                <a:cs typeface="Calibri" panose="020F0502020204030204" pitchFamily="34" charset="0"/>
              </a:rPr>
              <a:t>&lt;footer&gt;: </a:t>
            </a:r>
            <a:r>
              <a:rPr lang="en-US" sz="2000" dirty="0">
                <a:latin typeface="Calibri" panose="020F0502020204030204" pitchFamily="34" charset="0"/>
                <a:cs typeface="Calibri" panose="020F0502020204030204" pitchFamily="34" charset="0"/>
              </a:rPr>
              <a:t>This element typically contains information about the document, such as copyrights, links, or contact information.</a:t>
            </a:r>
          </a:p>
          <a:p>
            <a:pPr marL="800100" lvl="1" indent="-342900">
              <a:lnSpc>
                <a:spcPct val="150000"/>
              </a:lnSpc>
              <a:buFont typeface="Arial" panose="020B0604020202020204" pitchFamily="34" charset="0"/>
              <a:buChar char="•"/>
            </a:pPr>
            <a:r>
              <a:rPr lang="en-US" sz="2000" b="1" dirty="0">
                <a:latin typeface="Calibri" panose="020F0502020204030204" pitchFamily="34" charset="0"/>
                <a:cs typeface="Calibri" panose="020F0502020204030204" pitchFamily="34" charset="0"/>
              </a:rPr>
              <a:t>&lt;p&gt;© 2024 Sydney Community Sports League&lt;/p&gt;: </a:t>
            </a:r>
            <a:r>
              <a:rPr lang="en-US" sz="2000" dirty="0">
                <a:latin typeface="Calibri" panose="020F0502020204030204" pitchFamily="34" charset="0"/>
                <a:cs typeface="Calibri" panose="020F0502020204030204" pitchFamily="34" charset="0"/>
              </a:rPr>
              <a:t>A paragraph that provides copyright information.</a:t>
            </a:r>
            <a:endParaRPr lang="en-AU" sz="2000" dirty="0">
              <a:latin typeface="Calibri" panose="020F0502020204030204" pitchFamily="34" charset="0"/>
              <a:cs typeface="Calibri" panose="020F0502020204030204" pitchFamily="34" charset="0"/>
            </a:endParaRPr>
          </a:p>
        </p:txBody>
      </p:sp>
      <p:sp>
        <p:nvSpPr>
          <p:cNvPr id="3" name="TextBox 2">
            <a:extLst>
              <a:ext uri="{FF2B5EF4-FFF2-40B4-BE49-F238E27FC236}">
                <a16:creationId xmlns:a16="http://schemas.microsoft.com/office/drawing/2014/main" id="{A48A9BC6-4CA9-61E7-B1A3-F33B149E392C}"/>
              </a:ext>
            </a:extLst>
          </p:cNvPr>
          <p:cNvSpPr txBox="1"/>
          <p:nvPr/>
        </p:nvSpPr>
        <p:spPr>
          <a:xfrm>
            <a:off x="0" y="5890043"/>
            <a:ext cx="12192000" cy="967957"/>
          </a:xfrm>
          <a:prstGeom prst="rect">
            <a:avLst/>
          </a:prstGeom>
          <a:noFill/>
        </p:spPr>
        <p:txBody>
          <a:bodyPr wrap="square" rtlCol="0">
            <a:spAutoFit/>
          </a:bodyPr>
          <a:lstStyle/>
          <a:p>
            <a:pPr>
              <a:lnSpc>
                <a:spcPct val="150000"/>
              </a:lnSpc>
            </a:pPr>
            <a:r>
              <a:rPr lang="en-US" sz="2000" dirty="0">
                <a:latin typeface="Calibri" panose="020F0502020204030204" pitchFamily="34" charset="0"/>
                <a:cs typeface="Calibri" panose="020F0502020204030204" pitchFamily="34" charset="0"/>
              </a:rPr>
              <a:t>This structure ensures that the webpage is well-organized and semantically meaningful, which helps with accessibility and SEO (Search Engine Optimization).</a:t>
            </a:r>
            <a:endParaRPr lang="en-AU" sz="20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40034079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6626B9D8-BD9E-65A0-C2E3-A974E647E0AA}"/>
              </a:ext>
            </a:extLst>
          </p:cNvPr>
          <p:cNvSpPr txBox="1"/>
          <p:nvPr/>
        </p:nvSpPr>
        <p:spPr>
          <a:xfrm>
            <a:off x="5599053" y="3416018"/>
            <a:ext cx="6592947" cy="3435492"/>
          </a:xfrm>
          <a:prstGeom prst="rect">
            <a:avLst/>
          </a:prstGeom>
          <a:noFill/>
        </p:spPr>
        <p:txBody>
          <a:bodyPr wrap="square">
            <a:spAutoFit/>
          </a:bodyPr>
          <a:lstStyle/>
          <a:p>
            <a:pPr>
              <a:lnSpc>
                <a:spcPct val="150000"/>
              </a:lnSpc>
            </a:pPr>
            <a:r>
              <a:rPr lang="en-US" sz="2100" b="1" dirty="0">
                <a:latin typeface="Calibri" panose="020F0502020204030204" pitchFamily="34" charset="0"/>
                <a:cs typeface="Calibri" panose="020F0502020204030204" pitchFamily="34" charset="0"/>
              </a:rPr>
              <a:t>2. Header Styling:</a:t>
            </a:r>
          </a:p>
          <a:p>
            <a:pPr marL="342900" indent="-342900">
              <a:lnSpc>
                <a:spcPct val="150000"/>
              </a:lnSpc>
              <a:buFont typeface="Arial" panose="020B0604020202020204" pitchFamily="34" charset="0"/>
              <a:buChar char="•"/>
            </a:pPr>
            <a:r>
              <a:rPr lang="en-US" sz="2100" dirty="0">
                <a:latin typeface="Calibri" panose="020F0502020204030204" pitchFamily="34" charset="0"/>
                <a:cs typeface="Calibri" panose="020F0502020204030204" pitchFamily="34" charset="0"/>
              </a:rPr>
              <a:t>The background color is a deep blue (</a:t>
            </a:r>
            <a:r>
              <a:rPr lang="en-US" sz="2100" b="1" dirty="0">
                <a:latin typeface="Calibri" panose="020F0502020204030204" pitchFamily="34" charset="0"/>
                <a:cs typeface="Calibri" panose="020F0502020204030204" pitchFamily="34" charset="0"/>
              </a:rPr>
              <a:t>#003366</a:t>
            </a:r>
            <a:r>
              <a:rPr lang="en-US" sz="2100" dirty="0">
                <a:latin typeface="Calibri" panose="020F0502020204030204" pitchFamily="34" charset="0"/>
                <a:cs typeface="Calibri" panose="020F0502020204030204" pitchFamily="34" charset="0"/>
              </a:rPr>
              <a:t>), likely chosen to reflect an oceanic theme, possibly linked to Sydney.</a:t>
            </a:r>
          </a:p>
          <a:p>
            <a:pPr marL="342900" indent="-342900">
              <a:lnSpc>
                <a:spcPct val="150000"/>
              </a:lnSpc>
              <a:buFont typeface="Arial" panose="020B0604020202020204" pitchFamily="34" charset="0"/>
              <a:buChar char="•"/>
            </a:pPr>
            <a:r>
              <a:rPr lang="en-US" sz="2100" dirty="0">
                <a:latin typeface="Calibri" panose="020F0502020204030204" pitchFamily="34" charset="0"/>
                <a:cs typeface="Calibri" panose="020F0502020204030204" pitchFamily="34" charset="0"/>
              </a:rPr>
              <a:t>Text color is white (</a:t>
            </a:r>
            <a:r>
              <a:rPr lang="en-US" sz="2100" b="1" dirty="0">
                <a:latin typeface="Calibri" panose="020F0502020204030204" pitchFamily="34" charset="0"/>
                <a:cs typeface="Calibri" panose="020F0502020204030204" pitchFamily="34" charset="0"/>
              </a:rPr>
              <a:t>#ffffff</a:t>
            </a:r>
            <a:r>
              <a:rPr lang="en-US" sz="2100" dirty="0">
                <a:latin typeface="Calibri" panose="020F0502020204030204" pitchFamily="34" charset="0"/>
                <a:cs typeface="Calibri" panose="020F0502020204030204" pitchFamily="34" charset="0"/>
              </a:rPr>
              <a:t>).</a:t>
            </a:r>
          </a:p>
          <a:p>
            <a:pPr marL="342900" indent="-342900">
              <a:lnSpc>
                <a:spcPct val="150000"/>
              </a:lnSpc>
              <a:buFont typeface="Arial" panose="020B0604020202020204" pitchFamily="34" charset="0"/>
              <a:buChar char="•"/>
            </a:pPr>
            <a:r>
              <a:rPr lang="en-US" sz="2100" dirty="0">
                <a:latin typeface="Calibri" panose="020F0502020204030204" pitchFamily="34" charset="0"/>
                <a:cs typeface="Calibri" panose="020F0502020204030204" pitchFamily="34" charset="0"/>
              </a:rPr>
              <a:t>Padding is 10 pixels on the top and bottom.</a:t>
            </a:r>
          </a:p>
          <a:p>
            <a:pPr marL="342900" indent="-342900">
              <a:lnSpc>
                <a:spcPct val="150000"/>
              </a:lnSpc>
              <a:buFont typeface="Arial" panose="020B0604020202020204" pitchFamily="34" charset="0"/>
              <a:buChar char="•"/>
            </a:pPr>
            <a:r>
              <a:rPr lang="en-US" sz="2100" dirty="0">
                <a:latin typeface="Calibri" panose="020F0502020204030204" pitchFamily="34" charset="0"/>
                <a:cs typeface="Calibri" panose="020F0502020204030204" pitchFamily="34" charset="0"/>
              </a:rPr>
              <a:t>Text alignment is centered.</a:t>
            </a:r>
            <a:endParaRPr lang="en-AU" sz="2100" dirty="0">
              <a:latin typeface="Calibri" panose="020F0502020204030204" pitchFamily="34" charset="0"/>
              <a:cs typeface="Calibri" panose="020F0502020204030204" pitchFamily="34" charset="0"/>
            </a:endParaRPr>
          </a:p>
        </p:txBody>
      </p:sp>
      <p:pic>
        <p:nvPicPr>
          <p:cNvPr id="8" name="Picture 7">
            <a:extLst>
              <a:ext uri="{FF2B5EF4-FFF2-40B4-BE49-F238E27FC236}">
                <a16:creationId xmlns:a16="http://schemas.microsoft.com/office/drawing/2014/main" id="{F05A5BDE-E943-342C-D170-733EDE5F679B}"/>
              </a:ext>
            </a:extLst>
          </p:cNvPr>
          <p:cNvPicPr>
            <a:picLocks noChangeAspect="1"/>
          </p:cNvPicPr>
          <p:nvPr/>
        </p:nvPicPr>
        <p:blipFill rotWithShape="1">
          <a:blip r:embed="rId2"/>
          <a:srcRect l="3659" t="11058" r="62591" b="16097"/>
          <a:stretch/>
        </p:blipFill>
        <p:spPr>
          <a:xfrm>
            <a:off x="0" y="0"/>
            <a:ext cx="5648665" cy="6858001"/>
          </a:xfrm>
          <a:prstGeom prst="rect">
            <a:avLst/>
          </a:prstGeom>
        </p:spPr>
      </p:pic>
      <p:sp>
        <p:nvSpPr>
          <p:cNvPr id="9" name="TextBox 8">
            <a:extLst>
              <a:ext uri="{FF2B5EF4-FFF2-40B4-BE49-F238E27FC236}">
                <a16:creationId xmlns:a16="http://schemas.microsoft.com/office/drawing/2014/main" id="{42D455E4-5CFA-1589-D5BF-6BB4834B2479}"/>
              </a:ext>
            </a:extLst>
          </p:cNvPr>
          <p:cNvSpPr txBox="1"/>
          <p:nvPr/>
        </p:nvSpPr>
        <p:spPr>
          <a:xfrm>
            <a:off x="5599052" y="0"/>
            <a:ext cx="6592947" cy="3435492"/>
          </a:xfrm>
          <a:prstGeom prst="rect">
            <a:avLst/>
          </a:prstGeom>
          <a:noFill/>
        </p:spPr>
        <p:txBody>
          <a:bodyPr wrap="square">
            <a:spAutoFit/>
          </a:bodyPr>
          <a:lstStyle/>
          <a:p>
            <a:pPr>
              <a:lnSpc>
                <a:spcPct val="150000"/>
              </a:lnSpc>
            </a:pPr>
            <a:r>
              <a:rPr lang="en-US" sz="2100" b="1" dirty="0">
                <a:latin typeface="Calibri" panose="020F0502020204030204" pitchFamily="34" charset="0"/>
                <a:cs typeface="Calibri" panose="020F0502020204030204" pitchFamily="34" charset="0"/>
              </a:rPr>
              <a:t>1. Body Styling: (Repository&gt;&gt;sydney-sports-styles.css)</a:t>
            </a:r>
          </a:p>
          <a:p>
            <a:pPr marL="342900" indent="-342900">
              <a:lnSpc>
                <a:spcPct val="150000"/>
              </a:lnSpc>
              <a:buFont typeface="Arial" panose="020B0604020202020204" pitchFamily="34" charset="0"/>
              <a:buChar char="•"/>
            </a:pPr>
            <a:r>
              <a:rPr lang="en-US" sz="2100" dirty="0">
                <a:latin typeface="Calibri" panose="020F0502020204030204" pitchFamily="34" charset="0"/>
                <a:cs typeface="Calibri" panose="020F0502020204030204" pitchFamily="34" charset="0"/>
              </a:rPr>
              <a:t>Sets the font family to Arial with a fallback of any sans-serif typeface.</a:t>
            </a:r>
          </a:p>
          <a:p>
            <a:pPr marL="342900" indent="-342900">
              <a:lnSpc>
                <a:spcPct val="150000"/>
              </a:lnSpc>
              <a:buFont typeface="Arial" panose="020B0604020202020204" pitchFamily="34" charset="0"/>
              <a:buChar char="•"/>
            </a:pPr>
            <a:r>
              <a:rPr lang="en-US" sz="2100" dirty="0">
                <a:latin typeface="Calibri" panose="020F0502020204030204" pitchFamily="34" charset="0"/>
                <a:cs typeface="Calibri" panose="020F0502020204030204" pitchFamily="34" charset="0"/>
              </a:rPr>
              <a:t>Line height is set to 1.6 for better readability.</a:t>
            </a:r>
          </a:p>
          <a:p>
            <a:pPr marL="342900" indent="-342900">
              <a:lnSpc>
                <a:spcPct val="150000"/>
              </a:lnSpc>
              <a:buFont typeface="Arial" panose="020B0604020202020204" pitchFamily="34" charset="0"/>
              <a:buChar char="•"/>
            </a:pPr>
            <a:r>
              <a:rPr lang="en-US" sz="2100" dirty="0">
                <a:latin typeface="Calibri" panose="020F0502020204030204" pitchFamily="34" charset="0"/>
                <a:cs typeface="Calibri" panose="020F0502020204030204" pitchFamily="34" charset="0"/>
              </a:rPr>
              <a:t>Margin and padding are both set to 0 to remove default spacing.</a:t>
            </a:r>
          </a:p>
          <a:p>
            <a:pPr marL="342900" indent="-342900">
              <a:lnSpc>
                <a:spcPct val="150000"/>
              </a:lnSpc>
              <a:buFont typeface="Arial" panose="020B0604020202020204" pitchFamily="34" charset="0"/>
              <a:buChar char="•"/>
            </a:pPr>
            <a:r>
              <a:rPr lang="en-US" sz="2100" dirty="0">
                <a:latin typeface="Calibri" panose="020F0502020204030204" pitchFamily="34" charset="0"/>
                <a:cs typeface="Calibri" panose="020F0502020204030204" pitchFamily="34" charset="0"/>
              </a:rPr>
              <a:t>The background color is a light grey (</a:t>
            </a:r>
            <a:r>
              <a:rPr lang="en-US" sz="2100" b="1" dirty="0">
                <a:latin typeface="Calibri" panose="020F0502020204030204" pitchFamily="34" charset="0"/>
                <a:cs typeface="Calibri" panose="020F0502020204030204" pitchFamily="34" charset="0"/>
              </a:rPr>
              <a:t>#f4f4f4</a:t>
            </a:r>
            <a:r>
              <a:rPr lang="en-US" sz="2100" dirty="0">
                <a:latin typeface="Calibri" panose="020F0502020204030204" pitchFamily="34" charset="0"/>
                <a:cs typeface="Calibri" panose="020F0502020204030204" pitchFamily="34" charset="0"/>
              </a:rPr>
              <a:t>).</a:t>
            </a:r>
            <a:endParaRPr lang="en-AU" sz="21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56917945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F05A5BDE-E943-342C-D170-733EDE5F679B}"/>
              </a:ext>
            </a:extLst>
          </p:cNvPr>
          <p:cNvPicPr>
            <a:picLocks noChangeAspect="1"/>
          </p:cNvPicPr>
          <p:nvPr/>
        </p:nvPicPr>
        <p:blipFill rotWithShape="1">
          <a:blip r:embed="rId2"/>
          <a:srcRect l="3659" t="11058" r="62591" b="16097"/>
          <a:stretch/>
        </p:blipFill>
        <p:spPr>
          <a:xfrm>
            <a:off x="0" y="0"/>
            <a:ext cx="5648665" cy="6858001"/>
          </a:xfrm>
          <a:prstGeom prst="rect">
            <a:avLst/>
          </a:prstGeom>
        </p:spPr>
      </p:pic>
      <p:sp>
        <p:nvSpPr>
          <p:cNvPr id="9" name="TextBox 8">
            <a:extLst>
              <a:ext uri="{FF2B5EF4-FFF2-40B4-BE49-F238E27FC236}">
                <a16:creationId xmlns:a16="http://schemas.microsoft.com/office/drawing/2014/main" id="{42D455E4-5CFA-1589-D5BF-6BB4834B2479}"/>
              </a:ext>
            </a:extLst>
          </p:cNvPr>
          <p:cNvSpPr txBox="1"/>
          <p:nvPr/>
        </p:nvSpPr>
        <p:spPr>
          <a:xfrm>
            <a:off x="5599053" y="1377733"/>
            <a:ext cx="6592947" cy="4102533"/>
          </a:xfrm>
          <a:prstGeom prst="rect">
            <a:avLst/>
          </a:prstGeom>
          <a:noFill/>
        </p:spPr>
        <p:txBody>
          <a:bodyPr wrap="square">
            <a:spAutoFit/>
          </a:bodyPr>
          <a:lstStyle/>
          <a:p>
            <a:pPr>
              <a:lnSpc>
                <a:spcPct val="150000"/>
              </a:lnSpc>
            </a:pPr>
            <a:r>
              <a:rPr lang="en-US" sz="2200" b="1" dirty="0">
                <a:latin typeface="Calibri" panose="020F0502020204030204" pitchFamily="34" charset="0"/>
                <a:cs typeface="Calibri" panose="020F0502020204030204" pitchFamily="34" charset="0"/>
              </a:rPr>
              <a:t>3. Navigation Menu:</a:t>
            </a:r>
          </a:p>
          <a:p>
            <a:pPr marL="342900" indent="-342900">
              <a:lnSpc>
                <a:spcPct val="150000"/>
              </a:lnSpc>
              <a:buFont typeface="Arial" panose="020B0604020202020204" pitchFamily="34" charset="0"/>
              <a:buChar char="•"/>
            </a:pPr>
            <a:r>
              <a:rPr lang="en-US" sz="2200" dirty="0">
                <a:latin typeface="Calibri" panose="020F0502020204030204" pitchFamily="34" charset="0"/>
                <a:cs typeface="Calibri" panose="020F0502020204030204" pitchFamily="34" charset="0"/>
              </a:rPr>
              <a:t>The</a:t>
            </a:r>
            <a:r>
              <a:rPr lang="en-US" sz="2200" b="1" dirty="0">
                <a:latin typeface="Calibri" panose="020F0502020204030204" pitchFamily="34" charset="0"/>
                <a:cs typeface="Calibri" panose="020F0502020204030204" pitchFamily="34" charset="0"/>
              </a:rPr>
              <a:t> </a:t>
            </a:r>
            <a:r>
              <a:rPr lang="en-US" sz="2200" b="1" dirty="0" err="1">
                <a:latin typeface="Calibri" panose="020F0502020204030204" pitchFamily="34" charset="0"/>
                <a:cs typeface="Calibri" panose="020F0502020204030204" pitchFamily="34" charset="0"/>
              </a:rPr>
              <a:t>ul</a:t>
            </a:r>
            <a:r>
              <a:rPr lang="en-US" sz="2200" b="1" dirty="0">
                <a:latin typeface="Calibri" panose="020F0502020204030204" pitchFamily="34" charset="0"/>
                <a:cs typeface="Calibri" panose="020F0502020204030204" pitchFamily="34" charset="0"/>
              </a:rPr>
              <a:t> </a:t>
            </a:r>
            <a:r>
              <a:rPr lang="en-US" sz="2200" dirty="0">
                <a:latin typeface="Calibri" panose="020F0502020204030204" pitchFamily="34" charset="0"/>
                <a:cs typeface="Calibri" panose="020F0502020204030204" pitchFamily="34" charset="0"/>
              </a:rPr>
              <a:t>element has no list style and no padding to create a clean horizontal navigation bar.</a:t>
            </a:r>
          </a:p>
          <a:p>
            <a:pPr marL="342900" indent="-342900">
              <a:lnSpc>
                <a:spcPct val="150000"/>
              </a:lnSpc>
              <a:buFont typeface="Arial" panose="020B0604020202020204" pitchFamily="34" charset="0"/>
              <a:buChar char="•"/>
            </a:pPr>
            <a:r>
              <a:rPr lang="en-US" sz="2200" b="1" dirty="0">
                <a:latin typeface="Calibri" panose="020F0502020204030204" pitchFamily="34" charset="0"/>
                <a:cs typeface="Calibri" panose="020F0502020204030204" pitchFamily="34" charset="0"/>
              </a:rPr>
              <a:t>li</a:t>
            </a:r>
            <a:r>
              <a:rPr lang="en-US" sz="2200" dirty="0">
                <a:latin typeface="Calibri" panose="020F0502020204030204" pitchFamily="34" charset="0"/>
                <a:cs typeface="Calibri" panose="020F0502020204030204" pitchFamily="34" charset="0"/>
              </a:rPr>
              <a:t> elements are displayed inline and have a 20-pixel margin on the right to space out the links.</a:t>
            </a:r>
          </a:p>
          <a:p>
            <a:pPr marL="342900" indent="-342900">
              <a:lnSpc>
                <a:spcPct val="150000"/>
              </a:lnSpc>
              <a:buFont typeface="Arial" panose="020B0604020202020204" pitchFamily="34" charset="0"/>
              <a:buChar char="•"/>
            </a:pPr>
            <a:r>
              <a:rPr lang="en-US" sz="2200" dirty="0">
                <a:latin typeface="Calibri" panose="020F0502020204030204" pitchFamily="34" charset="0"/>
                <a:cs typeface="Calibri" panose="020F0502020204030204" pitchFamily="34" charset="0"/>
              </a:rPr>
              <a:t>The links (</a:t>
            </a:r>
            <a:r>
              <a:rPr lang="en-US" sz="2200" b="1" dirty="0">
                <a:latin typeface="Calibri" panose="020F0502020204030204" pitchFamily="34" charset="0"/>
                <a:cs typeface="Calibri" panose="020F0502020204030204" pitchFamily="34" charset="0"/>
              </a:rPr>
              <a:t>a</a:t>
            </a:r>
            <a:r>
              <a:rPr lang="en-US" sz="2200" dirty="0">
                <a:latin typeface="Calibri" panose="020F0502020204030204" pitchFamily="34" charset="0"/>
                <a:cs typeface="Calibri" panose="020F0502020204030204" pitchFamily="34" charset="0"/>
              </a:rPr>
              <a:t> elements) within the </a:t>
            </a:r>
            <a:r>
              <a:rPr lang="en-US" sz="2200" b="1" dirty="0">
                <a:latin typeface="Calibri" panose="020F0502020204030204" pitchFamily="34" charset="0"/>
                <a:cs typeface="Calibri" panose="020F0502020204030204" pitchFamily="34" charset="0"/>
              </a:rPr>
              <a:t>li</a:t>
            </a:r>
            <a:r>
              <a:rPr lang="en-US" sz="2200" dirty="0">
                <a:latin typeface="Calibri" panose="020F0502020204030204" pitchFamily="34" charset="0"/>
                <a:cs typeface="Calibri" panose="020F0502020204030204" pitchFamily="34" charset="0"/>
              </a:rPr>
              <a:t> have white text and no text decoration to maintain a clean and readable navigation bar.</a:t>
            </a:r>
            <a:endParaRPr lang="en-AU" sz="22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41488931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F05A5BDE-E943-342C-D170-733EDE5F679B}"/>
              </a:ext>
            </a:extLst>
          </p:cNvPr>
          <p:cNvPicPr>
            <a:picLocks noChangeAspect="1"/>
          </p:cNvPicPr>
          <p:nvPr/>
        </p:nvPicPr>
        <p:blipFill rotWithShape="1">
          <a:blip r:embed="rId2"/>
          <a:srcRect l="3659" t="11058" r="62591" b="16097"/>
          <a:stretch/>
        </p:blipFill>
        <p:spPr>
          <a:xfrm>
            <a:off x="0" y="0"/>
            <a:ext cx="5648665" cy="6858001"/>
          </a:xfrm>
          <a:prstGeom prst="rect">
            <a:avLst/>
          </a:prstGeom>
        </p:spPr>
      </p:pic>
      <p:sp>
        <p:nvSpPr>
          <p:cNvPr id="9" name="TextBox 8">
            <a:extLst>
              <a:ext uri="{FF2B5EF4-FFF2-40B4-BE49-F238E27FC236}">
                <a16:creationId xmlns:a16="http://schemas.microsoft.com/office/drawing/2014/main" id="{42D455E4-5CFA-1589-D5BF-6BB4834B2479}"/>
              </a:ext>
            </a:extLst>
          </p:cNvPr>
          <p:cNvSpPr txBox="1"/>
          <p:nvPr/>
        </p:nvSpPr>
        <p:spPr>
          <a:xfrm>
            <a:off x="5599052" y="0"/>
            <a:ext cx="6592947" cy="6492803"/>
          </a:xfrm>
          <a:prstGeom prst="rect">
            <a:avLst/>
          </a:prstGeom>
          <a:noFill/>
        </p:spPr>
        <p:txBody>
          <a:bodyPr wrap="square">
            <a:spAutoFit/>
          </a:bodyPr>
          <a:lstStyle/>
          <a:p>
            <a:pPr>
              <a:lnSpc>
                <a:spcPct val="150000"/>
              </a:lnSpc>
            </a:pPr>
            <a:r>
              <a:rPr lang="en-US" sz="2150" b="1" dirty="0">
                <a:latin typeface="Calibri" panose="020F0502020204030204" pitchFamily="34" charset="0"/>
                <a:cs typeface="Calibri" panose="020F0502020204030204" pitchFamily="34" charset="0"/>
              </a:rPr>
              <a:t>4. Main Content and Sidebar Styles:</a:t>
            </a:r>
          </a:p>
          <a:p>
            <a:pPr marL="342900" indent="-342900">
              <a:lnSpc>
                <a:spcPct val="150000"/>
              </a:lnSpc>
              <a:buFont typeface="Arial" panose="020B0604020202020204" pitchFamily="34" charset="0"/>
              <a:buChar char="•"/>
            </a:pPr>
            <a:r>
              <a:rPr lang="en-US" sz="2150" dirty="0">
                <a:latin typeface="Calibri" panose="020F0502020204030204" pitchFamily="34" charset="0"/>
                <a:cs typeface="Calibri" panose="020F0502020204030204" pitchFamily="34" charset="0"/>
              </a:rPr>
              <a:t>The </a:t>
            </a:r>
            <a:r>
              <a:rPr lang="en-US" sz="2150" b="1" dirty="0">
                <a:latin typeface="Calibri" panose="020F0502020204030204" pitchFamily="34" charset="0"/>
                <a:cs typeface="Calibri" panose="020F0502020204030204" pitchFamily="34" charset="0"/>
              </a:rPr>
              <a:t>main</a:t>
            </a:r>
            <a:r>
              <a:rPr lang="en-US" sz="2150" dirty="0">
                <a:latin typeface="Calibri" panose="020F0502020204030204" pitchFamily="34" charset="0"/>
                <a:cs typeface="Calibri" panose="020F0502020204030204" pitchFamily="34" charset="0"/>
              </a:rPr>
              <a:t> element uses a flexible box layout (</a:t>
            </a:r>
            <a:r>
              <a:rPr lang="en-US" sz="2150" b="1" dirty="0">
                <a:latin typeface="Calibri" panose="020F0502020204030204" pitchFamily="34" charset="0"/>
                <a:cs typeface="Calibri" panose="020F0502020204030204" pitchFamily="34" charset="0"/>
              </a:rPr>
              <a:t>display: flex</a:t>
            </a:r>
            <a:r>
              <a:rPr lang="en-US" sz="2150" dirty="0">
                <a:latin typeface="Calibri" panose="020F0502020204030204" pitchFamily="34" charset="0"/>
                <a:cs typeface="Calibri" panose="020F0502020204030204" pitchFamily="34" charset="0"/>
              </a:rPr>
              <a:t>) to organize content within it, spacing out children elements using </a:t>
            </a:r>
            <a:r>
              <a:rPr lang="en-US" sz="2150" b="1" dirty="0">
                <a:latin typeface="Calibri" panose="020F0502020204030204" pitchFamily="34" charset="0"/>
                <a:cs typeface="Calibri" panose="020F0502020204030204" pitchFamily="34" charset="0"/>
              </a:rPr>
              <a:t>justify-content: space-between</a:t>
            </a:r>
            <a:r>
              <a:rPr lang="en-US" sz="2150" dirty="0">
                <a:latin typeface="Calibri" panose="020F0502020204030204" pitchFamily="34" charset="0"/>
                <a:cs typeface="Calibri" panose="020F0502020204030204" pitchFamily="34" charset="0"/>
              </a:rPr>
              <a:t>.</a:t>
            </a:r>
          </a:p>
          <a:p>
            <a:pPr marL="342900" indent="-342900">
              <a:lnSpc>
                <a:spcPct val="150000"/>
              </a:lnSpc>
              <a:buFont typeface="Arial" panose="020B0604020202020204" pitchFamily="34" charset="0"/>
              <a:buChar char="•"/>
            </a:pPr>
            <a:r>
              <a:rPr lang="en-US" sz="2150" dirty="0">
                <a:latin typeface="Calibri" panose="020F0502020204030204" pitchFamily="34" charset="0"/>
                <a:cs typeface="Calibri" panose="020F0502020204030204" pitchFamily="34" charset="0"/>
              </a:rPr>
              <a:t>Padding is 20 pixels.</a:t>
            </a:r>
          </a:p>
          <a:p>
            <a:pPr marL="342900" indent="-342900">
              <a:lnSpc>
                <a:spcPct val="150000"/>
              </a:lnSpc>
              <a:buFont typeface="Arial" panose="020B0604020202020204" pitchFamily="34" charset="0"/>
              <a:buChar char="•"/>
            </a:pPr>
            <a:r>
              <a:rPr lang="en-US" sz="2150" dirty="0">
                <a:latin typeface="Calibri" panose="020F0502020204030204" pitchFamily="34" charset="0"/>
                <a:cs typeface="Calibri" panose="020F0502020204030204" pitchFamily="34" charset="0"/>
              </a:rPr>
              <a:t>Text color inside the main element is a dark grey (</a:t>
            </a:r>
            <a:r>
              <a:rPr lang="en-US" sz="2150" b="1" dirty="0">
                <a:latin typeface="Calibri" panose="020F0502020204030204" pitchFamily="34" charset="0"/>
                <a:cs typeface="Calibri" panose="020F0502020204030204" pitchFamily="34" charset="0"/>
              </a:rPr>
              <a:t>#333</a:t>
            </a:r>
            <a:r>
              <a:rPr lang="en-US" sz="2150" dirty="0">
                <a:latin typeface="Calibri" panose="020F0502020204030204" pitchFamily="34" charset="0"/>
                <a:cs typeface="Calibri" panose="020F0502020204030204" pitchFamily="34" charset="0"/>
              </a:rPr>
              <a:t>).</a:t>
            </a:r>
          </a:p>
          <a:p>
            <a:pPr marL="342900" indent="-342900">
              <a:lnSpc>
                <a:spcPct val="150000"/>
              </a:lnSpc>
              <a:buFont typeface="Arial" panose="020B0604020202020204" pitchFamily="34" charset="0"/>
              <a:buChar char="•"/>
            </a:pPr>
            <a:r>
              <a:rPr lang="en-US" sz="2150" dirty="0">
                <a:latin typeface="Calibri" panose="020F0502020204030204" pitchFamily="34" charset="0"/>
                <a:cs typeface="Calibri" panose="020F0502020204030204" pitchFamily="34" charset="0"/>
              </a:rPr>
              <a:t>The </a:t>
            </a:r>
            <a:r>
              <a:rPr lang="en-US" sz="2150" b="1" dirty="0">
                <a:latin typeface="Calibri" panose="020F0502020204030204" pitchFamily="34" charset="0"/>
                <a:cs typeface="Calibri" panose="020F0502020204030204" pitchFamily="34" charset="0"/>
              </a:rPr>
              <a:t>.sports-news </a:t>
            </a:r>
            <a:r>
              <a:rPr lang="en-US" sz="2150" dirty="0">
                <a:latin typeface="Calibri" panose="020F0502020204030204" pitchFamily="34" charset="0"/>
                <a:cs typeface="Calibri" panose="020F0502020204030204" pitchFamily="34" charset="0"/>
              </a:rPr>
              <a:t>class takes up 3 parts of the available space (</a:t>
            </a:r>
            <a:r>
              <a:rPr lang="en-US" sz="2150" b="1" dirty="0">
                <a:latin typeface="Calibri" panose="020F0502020204030204" pitchFamily="34" charset="0"/>
                <a:cs typeface="Calibri" panose="020F0502020204030204" pitchFamily="34" charset="0"/>
              </a:rPr>
              <a:t>flex: 3</a:t>
            </a:r>
            <a:r>
              <a:rPr lang="en-US" sz="2150" dirty="0">
                <a:latin typeface="Calibri" panose="020F0502020204030204" pitchFamily="34" charset="0"/>
                <a:cs typeface="Calibri" panose="020F0502020204030204" pitchFamily="34" charset="0"/>
              </a:rPr>
              <a:t>), making it the primary content area.</a:t>
            </a:r>
          </a:p>
          <a:p>
            <a:pPr marL="342900" indent="-342900">
              <a:lnSpc>
                <a:spcPct val="150000"/>
              </a:lnSpc>
              <a:buFont typeface="Arial" panose="020B0604020202020204" pitchFamily="34" charset="0"/>
              <a:buChar char="•"/>
            </a:pPr>
            <a:r>
              <a:rPr lang="en-US" sz="2150" dirty="0">
                <a:latin typeface="Calibri" panose="020F0502020204030204" pitchFamily="34" charset="0"/>
                <a:cs typeface="Calibri" panose="020F0502020204030204" pitchFamily="34" charset="0"/>
              </a:rPr>
              <a:t>The </a:t>
            </a:r>
            <a:r>
              <a:rPr lang="en-US" sz="2150" b="1" dirty="0">
                <a:latin typeface="Calibri" panose="020F0502020204030204" pitchFamily="34" charset="0"/>
                <a:cs typeface="Calibri" panose="020F0502020204030204" pitchFamily="34" charset="0"/>
              </a:rPr>
              <a:t>.upcoming-events</a:t>
            </a:r>
            <a:r>
              <a:rPr lang="en-US" sz="2150" dirty="0">
                <a:latin typeface="Calibri" panose="020F0502020204030204" pitchFamily="34" charset="0"/>
                <a:cs typeface="Calibri" panose="020F0502020204030204" pitchFamily="34" charset="0"/>
              </a:rPr>
              <a:t> class takes up 1 part of the available space (</a:t>
            </a:r>
            <a:r>
              <a:rPr lang="en-US" sz="2150" b="1" dirty="0">
                <a:latin typeface="Calibri" panose="020F0502020204030204" pitchFamily="34" charset="0"/>
                <a:cs typeface="Calibri" panose="020F0502020204030204" pitchFamily="34" charset="0"/>
              </a:rPr>
              <a:t>flex: 1</a:t>
            </a:r>
            <a:r>
              <a:rPr lang="en-US" sz="2150" dirty="0">
                <a:latin typeface="Calibri" panose="020F0502020204030204" pitchFamily="34" charset="0"/>
                <a:cs typeface="Calibri" panose="020F0502020204030204" pitchFamily="34" charset="0"/>
              </a:rPr>
              <a:t>), serves as a sidebar, and has a light grey background (</a:t>
            </a:r>
            <a:r>
              <a:rPr lang="en-US" sz="2150" b="1" dirty="0">
                <a:latin typeface="Calibri" panose="020F0502020204030204" pitchFamily="34" charset="0"/>
                <a:cs typeface="Calibri" panose="020F0502020204030204" pitchFamily="34" charset="0"/>
              </a:rPr>
              <a:t>#ccc</a:t>
            </a:r>
            <a:r>
              <a:rPr lang="en-US" sz="2150" dirty="0">
                <a:latin typeface="Calibri" panose="020F0502020204030204" pitchFamily="34" charset="0"/>
                <a:cs typeface="Calibri" panose="020F0502020204030204" pitchFamily="34" charset="0"/>
              </a:rPr>
              <a:t>) with 20 pixels of padding.</a:t>
            </a:r>
            <a:endParaRPr lang="en-AU" sz="215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62046591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F05A5BDE-E943-342C-D170-733EDE5F679B}"/>
              </a:ext>
            </a:extLst>
          </p:cNvPr>
          <p:cNvPicPr>
            <a:picLocks noChangeAspect="1"/>
          </p:cNvPicPr>
          <p:nvPr/>
        </p:nvPicPr>
        <p:blipFill rotWithShape="1">
          <a:blip r:embed="rId2"/>
          <a:srcRect l="3659" t="11058" r="62591" b="16097"/>
          <a:stretch/>
        </p:blipFill>
        <p:spPr>
          <a:xfrm>
            <a:off x="0" y="0"/>
            <a:ext cx="5648665" cy="6858001"/>
          </a:xfrm>
          <a:prstGeom prst="rect">
            <a:avLst/>
          </a:prstGeom>
        </p:spPr>
      </p:pic>
      <p:sp>
        <p:nvSpPr>
          <p:cNvPr id="9" name="TextBox 8">
            <a:extLst>
              <a:ext uri="{FF2B5EF4-FFF2-40B4-BE49-F238E27FC236}">
                <a16:creationId xmlns:a16="http://schemas.microsoft.com/office/drawing/2014/main" id="{42D455E4-5CFA-1589-D5BF-6BB4834B2479}"/>
              </a:ext>
            </a:extLst>
          </p:cNvPr>
          <p:cNvSpPr txBox="1"/>
          <p:nvPr/>
        </p:nvSpPr>
        <p:spPr>
          <a:xfrm>
            <a:off x="5623860" y="0"/>
            <a:ext cx="6592947" cy="2579039"/>
          </a:xfrm>
          <a:prstGeom prst="rect">
            <a:avLst/>
          </a:prstGeom>
          <a:noFill/>
        </p:spPr>
        <p:txBody>
          <a:bodyPr wrap="square">
            <a:spAutoFit/>
          </a:bodyPr>
          <a:lstStyle/>
          <a:p>
            <a:pPr>
              <a:lnSpc>
                <a:spcPct val="150000"/>
              </a:lnSpc>
            </a:pPr>
            <a:r>
              <a:rPr lang="en-US" sz="2200" b="1" dirty="0">
                <a:latin typeface="Calibri" panose="020F0502020204030204" pitchFamily="34" charset="0"/>
                <a:cs typeface="Calibri" panose="020F0502020204030204" pitchFamily="34" charset="0"/>
              </a:rPr>
              <a:t>5. Footer Styling:</a:t>
            </a:r>
          </a:p>
          <a:p>
            <a:pPr marL="342900" indent="-342900">
              <a:lnSpc>
                <a:spcPct val="150000"/>
              </a:lnSpc>
              <a:buFont typeface="Arial" panose="020B0604020202020204" pitchFamily="34" charset="0"/>
              <a:buChar char="•"/>
            </a:pPr>
            <a:r>
              <a:rPr lang="en-US" sz="2200" dirty="0">
                <a:latin typeface="Calibri" panose="020F0502020204030204" pitchFamily="34" charset="0"/>
                <a:cs typeface="Calibri" panose="020F0502020204030204" pitchFamily="34" charset="0"/>
              </a:rPr>
              <a:t>Background color is dark grey (</a:t>
            </a:r>
            <a:r>
              <a:rPr lang="en-US" sz="2200" b="1" dirty="0">
                <a:latin typeface="Calibri" panose="020F0502020204030204" pitchFamily="34" charset="0"/>
                <a:cs typeface="Calibri" panose="020F0502020204030204" pitchFamily="34" charset="0"/>
              </a:rPr>
              <a:t>#222</a:t>
            </a:r>
            <a:r>
              <a:rPr lang="en-US" sz="2200" dirty="0">
                <a:latin typeface="Calibri" panose="020F0502020204030204" pitchFamily="34" charset="0"/>
                <a:cs typeface="Calibri" panose="020F0502020204030204" pitchFamily="34" charset="0"/>
              </a:rPr>
              <a:t>).</a:t>
            </a:r>
          </a:p>
          <a:p>
            <a:pPr marL="342900" indent="-342900">
              <a:lnSpc>
                <a:spcPct val="150000"/>
              </a:lnSpc>
              <a:buFont typeface="Arial" panose="020B0604020202020204" pitchFamily="34" charset="0"/>
              <a:buChar char="•"/>
            </a:pPr>
            <a:r>
              <a:rPr lang="en-US" sz="2200" dirty="0">
                <a:latin typeface="Calibri" panose="020F0502020204030204" pitchFamily="34" charset="0"/>
                <a:cs typeface="Calibri" panose="020F0502020204030204" pitchFamily="34" charset="0"/>
              </a:rPr>
              <a:t>Text color is white </a:t>
            </a:r>
            <a:r>
              <a:rPr lang="en-US" sz="2200" b="1" dirty="0">
                <a:latin typeface="Calibri" panose="020F0502020204030204" pitchFamily="34" charset="0"/>
                <a:cs typeface="Calibri" panose="020F0502020204030204" pitchFamily="34" charset="0"/>
              </a:rPr>
              <a:t>(#ffffff</a:t>
            </a:r>
            <a:r>
              <a:rPr lang="en-US" sz="2200" dirty="0">
                <a:latin typeface="Calibri" panose="020F0502020204030204" pitchFamily="34" charset="0"/>
                <a:cs typeface="Calibri" panose="020F0502020204030204" pitchFamily="34" charset="0"/>
              </a:rPr>
              <a:t>).</a:t>
            </a:r>
          </a:p>
          <a:p>
            <a:pPr marL="342900" indent="-342900">
              <a:lnSpc>
                <a:spcPct val="150000"/>
              </a:lnSpc>
              <a:buFont typeface="Arial" panose="020B0604020202020204" pitchFamily="34" charset="0"/>
              <a:buChar char="•"/>
            </a:pPr>
            <a:r>
              <a:rPr lang="en-US" sz="2200" dirty="0">
                <a:latin typeface="Calibri" panose="020F0502020204030204" pitchFamily="34" charset="0"/>
                <a:cs typeface="Calibri" panose="020F0502020204030204" pitchFamily="34" charset="0"/>
              </a:rPr>
              <a:t>Text is centered.</a:t>
            </a:r>
          </a:p>
          <a:p>
            <a:pPr marL="342900" indent="-342900">
              <a:lnSpc>
                <a:spcPct val="150000"/>
              </a:lnSpc>
              <a:buFont typeface="Arial" panose="020B0604020202020204" pitchFamily="34" charset="0"/>
              <a:buChar char="•"/>
            </a:pPr>
            <a:r>
              <a:rPr lang="en-US" sz="2200" dirty="0">
                <a:latin typeface="Calibri" panose="020F0502020204030204" pitchFamily="34" charset="0"/>
                <a:cs typeface="Calibri" panose="020F0502020204030204" pitchFamily="34" charset="0"/>
              </a:rPr>
              <a:t>Padding is 10 pixels on the top and bottom.</a:t>
            </a:r>
            <a:endParaRPr lang="en-AU" sz="2200" dirty="0">
              <a:latin typeface="Calibri" panose="020F0502020204030204" pitchFamily="34" charset="0"/>
              <a:cs typeface="Calibri" panose="020F0502020204030204" pitchFamily="34" charset="0"/>
            </a:endParaRPr>
          </a:p>
        </p:txBody>
      </p:sp>
      <p:sp>
        <p:nvSpPr>
          <p:cNvPr id="2" name="TextBox 1">
            <a:extLst>
              <a:ext uri="{FF2B5EF4-FFF2-40B4-BE49-F238E27FC236}">
                <a16:creationId xmlns:a16="http://schemas.microsoft.com/office/drawing/2014/main" id="{9EFEA494-9967-909D-C5C9-58C7D02767EA}"/>
              </a:ext>
            </a:extLst>
          </p:cNvPr>
          <p:cNvSpPr txBox="1"/>
          <p:nvPr/>
        </p:nvSpPr>
        <p:spPr>
          <a:xfrm>
            <a:off x="2787805" y="2755467"/>
            <a:ext cx="2811246" cy="4102533"/>
          </a:xfrm>
          <a:prstGeom prst="rect">
            <a:avLst/>
          </a:prstGeom>
          <a:noFill/>
        </p:spPr>
        <p:txBody>
          <a:bodyPr wrap="square" rtlCol="0">
            <a:spAutoFit/>
          </a:bodyPr>
          <a:lstStyle/>
          <a:p>
            <a:pPr>
              <a:lnSpc>
                <a:spcPct val="150000"/>
              </a:lnSpc>
            </a:pPr>
            <a:r>
              <a:rPr lang="en-US" sz="2200" dirty="0">
                <a:latin typeface="Calibri" panose="020F0502020204030204" pitchFamily="34" charset="0"/>
                <a:cs typeface="Calibri" panose="020F0502020204030204" pitchFamily="34" charset="0"/>
              </a:rPr>
              <a:t>This setup ensures a visually balanced page with a clear distinction between different sections, such as the header, navigation, main content, sidebar, and footer.</a:t>
            </a:r>
            <a:endParaRPr lang="en-AU" sz="2200" dirty="0">
              <a:latin typeface="Calibri" panose="020F0502020204030204" pitchFamily="34" charset="0"/>
              <a:cs typeface="Calibri" panose="020F0502020204030204" pitchFamily="34" charset="0"/>
            </a:endParaRPr>
          </a:p>
        </p:txBody>
      </p:sp>
      <p:pic>
        <p:nvPicPr>
          <p:cNvPr id="4" name="Picture 3">
            <a:extLst>
              <a:ext uri="{FF2B5EF4-FFF2-40B4-BE49-F238E27FC236}">
                <a16:creationId xmlns:a16="http://schemas.microsoft.com/office/drawing/2014/main" id="{350CF16A-1AD7-B273-889E-61AA29054FE1}"/>
              </a:ext>
            </a:extLst>
          </p:cNvPr>
          <p:cNvPicPr>
            <a:picLocks noChangeAspect="1"/>
          </p:cNvPicPr>
          <p:nvPr/>
        </p:nvPicPr>
        <p:blipFill rotWithShape="1">
          <a:blip r:embed="rId3"/>
          <a:srcRect r="46331" b="48293"/>
          <a:stretch/>
        </p:blipFill>
        <p:spPr>
          <a:xfrm>
            <a:off x="5635047" y="2755466"/>
            <a:ext cx="6543337" cy="3546088"/>
          </a:xfrm>
          <a:prstGeom prst="rect">
            <a:avLst/>
          </a:prstGeom>
        </p:spPr>
      </p:pic>
    </p:spTree>
    <p:extLst>
      <p:ext uri="{BB962C8B-B14F-4D97-AF65-F5344CB8AC3E}">
        <p14:creationId xmlns:p14="http://schemas.microsoft.com/office/powerpoint/2010/main" val="157330640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421E0ABC-6938-C4DC-2938-BD8428D88951}"/>
              </a:ext>
            </a:extLst>
          </p:cNvPr>
          <p:cNvPicPr>
            <a:picLocks noChangeAspect="1"/>
          </p:cNvPicPr>
          <p:nvPr/>
        </p:nvPicPr>
        <p:blipFill rotWithShape="1">
          <a:blip r:embed="rId2"/>
          <a:srcRect t="-1226" r="36896" b="6514"/>
          <a:stretch/>
        </p:blipFill>
        <p:spPr>
          <a:xfrm>
            <a:off x="57576" y="334754"/>
            <a:ext cx="4538626" cy="3831791"/>
          </a:xfrm>
          <a:prstGeom prst="rect">
            <a:avLst/>
          </a:prstGeom>
        </p:spPr>
      </p:pic>
      <p:pic>
        <p:nvPicPr>
          <p:cNvPr id="6" name="Picture 5">
            <a:extLst>
              <a:ext uri="{FF2B5EF4-FFF2-40B4-BE49-F238E27FC236}">
                <a16:creationId xmlns:a16="http://schemas.microsoft.com/office/drawing/2014/main" id="{63DF9B12-4388-A1AD-8F9F-6DFAD7728173}"/>
              </a:ext>
            </a:extLst>
          </p:cNvPr>
          <p:cNvPicPr>
            <a:picLocks noChangeAspect="1"/>
          </p:cNvPicPr>
          <p:nvPr/>
        </p:nvPicPr>
        <p:blipFill rotWithShape="1">
          <a:blip r:embed="rId3"/>
          <a:srcRect b="5854"/>
          <a:stretch/>
        </p:blipFill>
        <p:spPr>
          <a:xfrm>
            <a:off x="3389970" y="2196682"/>
            <a:ext cx="8802030" cy="4661318"/>
          </a:xfrm>
          <a:prstGeom prst="rect">
            <a:avLst/>
          </a:prstGeom>
        </p:spPr>
      </p:pic>
      <p:sp>
        <p:nvSpPr>
          <p:cNvPr id="7" name="TextBox 6">
            <a:extLst>
              <a:ext uri="{FF2B5EF4-FFF2-40B4-BE49-F238E27FC236}">
                <a16:creationId xmlns:a16="http://schemas.microsoft.com/office/drawing/2014/main" id="{1717A642-B166-63C2-B781-4F7792CA1A1F}"/>
              </a:ext>
            </a:extLst>
          </p:cNvPr>
          <p:cNvSpPr txBox="1"/>
          <p:nvPr/>
        </p:nvSpPr>
        <p:spPr>
          <a:xfrm>
            <a:off x="5716858" y="1819762"/>
            <a:ext cx="4148253" cy="430887"/>
          </a:xfrm>
          <a:prstGeom prst="rect">
            <a:avLst/>
          </a:prstGeom>
          <a:noFill/>
        </p:spPr>
        <p:txBody>
          <a:bodyPr wrap="square" rtlCol="0">
            <a:spAutoFit/>
          </a:bodyPr>
          <a:lstStyle/>
          <a:p>
            <a:pPr algn="ctr"/>
            <a:r>
              <a:rPr lang="en-US" sz="2200" dirty="0">
                <a:latin typeface="Calibri" panose="020F0502020204030204" pitchFamily="34" charset="0"/>
                <a:cs typeface="Calibri" panose="020F0502020204030204" pitchFamily="34" charset="0"/>
              </a:rPr>
              <a:t>HTML &amp; CSS</a:t>
            </a:r>
            <a:endParaRPr lang="en-AU" sz="2200" dirty="0">
              <a:latin typeface="Calibri" panose="020F0502020204030204" pitchFamily="34" charset="0"/>
              <a:cs typeface="Calibri" panose="020F0502020204030204" pitchFamily="34" charset="0"/>
            </a:endParaRPr>
          </a:p>
        </p:txBody>
      </p:sp>
      <p:sp>
        <p:nvSpPr>
          <p:cNvPr id="8" name="TextBox 7">
            <a:extLst>
              <a:ext uri="{FF2B5EF4-FFF2-40B4-BE49-F238E27FC236}">
                <a16:creationId xmlns:a16="http://schemas.microsoft.com/office/drawing/2014/main" id="{F916C80E-0D0D-E513-B499-9830EFB3106D}"/>
              </a:ext>
            </a:extLst>
          </p:cNvPr>
          <p:cNvSpPr txBox="1"/>
          <p:nvPr/>
        </p:nvSpPr>
        <p:spPr>
          <a:xfrm>
            <a:off x="0" y="0"/>
            <a:ext cx="4148253" cy="430887"/>
          </a:xfrm>
          <a:prstGeom prst="rect">
            <a:avLst/>
          </a:prstGeom>
          <a:noFill/>
        </p:spPr>
        <p:txBody>
          <a:bodyPr wrap="square" rtlCol="0">
            <a:spAutoFit/>
          </a:bodyPr>
          <a:lstStyle/>
          <a:p>
            <a:r>
              <a:rPr lang="en-US" sz="2200" dirty="0">
                <a:latin typeface="Calibri" panose="020F0502020204030204" pitchFamily="34" charset="0"/>
                <a:cs typeface="Calibri" panose="020F0502020204030204" pitchFamily="34" charset="0"/>
              </a:rPr>
              <a:t>HTML</a:t>
            </a:r>
            <a:endParaRPr lang="en-AU" sz="22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0012708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ECE89BD9-6A70-5876-9D90-CCC471DF4D0E}"/>
              </a:ext>
            </a:extLst>
          </p:cNvPr>
          <p:cNvSpPr txBox="1"/>
          <p:nvPr/>
        </p:nvSpPr>
        <p:spPr>
          <a:xfrm>
            <a:off x="94592" y="0"/>
            <a:ext cx="12097407" cy="630429"/>
          </a:xfrm>
          <a:prstGeom prst="rect">
            <a:avLst/>
          </a:prstGeom>
          <a:noFill/>
        </p:spPr>
        <p:txBody>
          <a:bodyPr wrap="square" rtlCol="0">
            <a:spAutoFit/>
          </a:bodyPr>
          <a:lstStyle/>
          <a:p>
            <a:pPr>
              <a:lnSpc>
                <a:spcPct val="150000"/>
              </a:lnSpc>
            </a:pPr>
            <a:r>
              <a:rPr lang="en-US" sz="2600" b="1" dirty="0">
                <a:latin typeface="Calibri" panose="020F0502020204030204" pitchFamily="34" charset="0"/>
                <a:cs typeface="Calibri" panose="020F0502020204030204" pitchFamily="34" charset="0"/>
              </a:rPr>
              <a:t>9 Essential SEO Practices for Optimizing Title Tags</a:t>
            </a:r>
          </a:p>
        </p:txBody>
      </p:sp>
      <p:sp>
        <p:nvSpPr>
          <p:cNvPr id="6" name="TextBox 5">
            <a:extLst>
              <a:ext uri="{FF2B5EF4-FFF2-40B4-BE49-F238E27FC236}">
                <a16:creationId xmlns:a16="http://schemas.microsoft.com/office/drawing/2014/main" id="{9913B4B0-FDCF-D7A2-3BAC-5F413EE9ABFE}"/>
              </a:ext>
            </a:extLst>
          </p:cNvPr>
          <p:cNvSpPr txBox="1"/>
          <p:nvPr/>
        </p:nvSpPr>
        <p:spPr>
          <a:xfrm>
            <a:off x="94592" y="1438507"/>
            <a:ext cx="11915271" cy="3753848"/>
          </a:xfrm>
          <a:prstGeom prst="rect">
            <a:avLst/>
          </a:prstGeom>
          <a:noFill/>
        </p:spPr>
        <p:txBody>
          <a:bodyPr wrap="square" rtlCol="0">
            <a:spAutoFit/>
          </a:bodyPr>
          <a:lstStyle/>
          <a:p>
            <a:pPr>
              <a:lnSpc>
                <a:spcPct val="150000"/>
              </a:lnSpc>
            </a:pPr>
            <a:r>
              <a:rPr lang="en-US" sz="2300" dirty="0">
                <a:latin typeface="Calibri" panose="020F0502020204030204" pitchFamily="34" charset="0"/>
                <a:cs typeface="Calibri" panose="020F0502020204030204" pitchFamily="34" charset="0"/>
              </a:rPr>
              <a:t>The article from Search Engine Land discusses nine best practices for optimizing the </a:t>
            </a:r>
            <a:r>
              <a:rPr lang="en-US" sz="2300" b="1" dirty="0">
                <a:latin typeface="Calibri" panose="020F0502020204030204" pitchFamily="34" charset="0"/>
                <a:cs typeface="Calibri" panose="020F0502020204030204" pitchFamily="34" charset="0"/>
              </a:rPr>
              <a:t>&lt;title&gt;</a:t>
            </a:r>
            <a:r>
              <a:rPr lang="en-US" sz="2300" dirty="0">
                <a:latin typeface="Calibri" panose="020F0502020204030204" pitchFamily="34" charset="0"/>
                <a:cs typeface="Calibri" panose="020F0502020204030204" pitchFamily="34" charset="0"/>
              </a:rPr>
              <a:t> tags of webpages to enhance their SEO effectiveness. </a:t>
            </a:r>
            <a:r>
              <a:rPr lang="en-AU" sz="2300" dirty="0">
                <a:latin typeface="Calibri" panose="020F0502020204030204" pitchFamily="34" charset="0"/>
                <a:cs typeface="Calibri" panose="020F0502020204030204" pitchFamily="34" charset="0"/>
                <a:hlinkClick r:id="rId2"/>
              </a:rPr>
              <a:t>http://searchengineland.com/nine-best-practices-for-optimized-title-tags-111979</a:t>
            </a:r>
            <a:endParaRPr lang="en-AU" sz="2300" dirty="0">
              <a:latin typeface="Calibri" panose="020F0502020204030204" pitchFamily="34" charset="0"/>
              <a:cs typeface="Calibri" panose="020F0502020204030204" pitchFamily="34" charset="0"/>
            </a:endParaRPr>
          </a:p>
          <a:p>
            <a:pPr marL="457200" indent="-457200">
              <a:lnSpc>
                <a:spcPct val="150000"/>
              </a:lnSpc>
              <a:buFont typeface="+mj-lt"/>
              <a:buAutoNum type="arabicPeriod"/>
            </a:pPr>
            <a:r>
              <a:rPr lang="en-US" sz="2300" b="1" dirty="0">
                <a:latin typeface="Calibri" panose="020F0502020204030204" pitchFamily="34" charset="0"/>
                <a:cs typeface="Calibri" panose="020F0502020204030204" pitchFamily="34" charset="0"/>
              </a:rPr>
              <a:t>Single Use Per Page: </a:t>
            </a:r>
            <a:r>
              <a:rPr lang="en-US" sz="2300" dirty="0">
                <a:latin typeface="Calibri" panose="020F0502020204030204" pitchFamily="34" charset="0"/>
                <a:cs typeface="Calibri" panose="020F0502020204030204" pitchFamily="34" charset="0"/>
              </a:rPr>
              <a:t>There should only be one </a:t>
            </a:r>
            <a:r>
              <a:rPr lang="en-US" sz="2300" b="1" dirty="0">
                <a:latin typeface="Calibri" panose="020F0502020204030204" pitchFamily="34" charset="0"/>
                <a:cs typeface="Calibri" panose="020F0502020204030204" pitchFamily="34" charset="0"/>
              </a:rPr>
              <a:t>&lt;title&gt;</a:t>
            </a:r>
            <a:r>
              <a:rPr lang="en-US" sz="2300" dirty="0">
                <a:latin typeface="Calibri" panose="020F0502020204030204" pitchFamily="34" charset="0"/>
                <a:cs typeface="Calibri" panose="020F0502020204030204" pitchFamily="34" charset="0"/>
              </a:rPr>
              <a:t> tag per page, positioned within the </a:t>
            </a:r>
            <a:r>
              <a:rPr lang="en-US" sz="2300" b="1" dirty="0">
                <a:latin typeface="Calibri" panose="020F0502020204030204" pitchFamily="34" charset="0"/>
                <a:cs typeface="Calibri" panose="020F0502020204030204" pitchFamily="34" charset="0"/>
              </a:rPr>
              <a:t>&lt;head&gt; </a:t>
            </a:r>
            <a:r>
              <a:rPr lang="en-US" sz="2300" dirty="0">
                <a:latin typeface="Calibri" panose="020F0502020204030204" pitchFamily="34" charset="0"/>
                <a:cs typeface="Calibri" panose="020F0502020204030204" pitchFamily="34" charset="0"/>
              </a:rPr>
              <a:t>tag to ensure valid HTML and to maximize its SEO value.</a:t>
            </a:r>
          </a:p>
          <a:p>
            <a:pPr marL="457200" indent="-457200">
              <a:lnSpc>
                <a:spcPct val="150000"/>
              </a:lnSpc>
              <a:buFont typeface="+mj-lt"/>
              <a:buAutoNum type="arabicPeriod"/>
            </a:pPr>
            <a:r>
              <a:rPr lang="en-US" sz="2300" b="1" dirty="0">
                <a:latin typeface="Calibri" panose="020F0502020204030204" pitchFamily="34" charset="0"/>
                <a:cs typeface="Calibri" panose="020F0502020204030204" pitchFamily="34" charset="0"/>
              </a:rPr>
              <a:t>Keyword Placement: </a:t>
            </a:r>
            <a:r>
              <a:rPr lang="en-US" sz="2300" dirty="0">
                <a:latin typeface="Calibri" panose="020F0502020204030204" pitchFamily="34" charset="0"/>
                <a:cs typeface="Calibri" panose="020F0502020204030204" pitchFamily="34" charset="0"/>
              </a:rPr>
              <a:t>Place your most important keywords at the beginning of the </a:t>
            </a:r>
            <a:r>
              <a:rPr lang="en-US" sz="2300" b="1" dirty="0">
                <a:latin typeface="Calibri" panose="020F0502020204030204" pitchFamily="34" charset="0"/>
                <a:cs typeface="Calibri" panose="020F0502020204030204" pitchFamily="34" charset="0"/>
              </a:rPr>
              <a:t>&lt;title&gt; </a:t>
            </a:r>
            <a:r>
              <a:rPr lang="en-US" sz="2300" dirty="0">
                <a:latin typeface="Calibri" panose="020F0502020204030204" pitchFamily="34" charset="0"/>
                <a:cs typeface="Calibri" panose="020F0502020204030204" pitchFamily="34" charset="0"/>
              </a:rPr>
              <a:t>tag, as search engines assign the highest value to the first few words.</a:t>
            </a:r>
            <a:endParaRPr lang="en-AU" sz="23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63883947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ECE89BD9-6A70-5876-9D90-CCC471DF4D0E}"/>
              </a:ext>
            </a:extLst>
          </p:cNvPr>
          <p:cNvSpPr txBox="1"/>
          <p:nvPr/>
        </p:nvSpPr>
        <p:spPr>
          <a:xfrm>
            <a:off x="94592" y="0"/>
            <a:ext cx="12097407" cy="630429"/>
          </a:xfrm>
          <a:prstGeom prst="rect">
            <a:avLst/>
          </a:prstGeom>
          <a:noFill/>
        </p:spPr>
        <p:txBody>
          <a:bodyPr wrap="square" rtlCol="0">
            <a:spAutoFit/>
          </a:bodyPr>
          <a:lstStyle/>
          <a:p>
            <a:pPr>
              <a:lnSpc>
                <a:spcPct val="150000"/>
              </a:lnSpc>
            </a:pPr>
            <a:r>
              <a:rPr lang="en-US" sz="2600" b="1" dirty="0">
                <a:latin typeface="Calibri" panose="020F0502020204030204" pitchFamily="34" charset="0"/>
                <a:cs typeface="Calibri" panose="020F0502020204030204" pitchFamily="34" charset="0"/>
              </a:rPr>
              <a:t>9 Essential SEO Practices for Optimizing Title Tags</a:t>
            </a:r>
          </a:p>
        </p:txBody>
      </p:sp>
      <p:sp>
        <p:nvSpPr>
          <p:cNvPr id="6" name="TextBox 5">
            <a:extLst>
              <a:ext uri="{FF2B5EF4-FFF2-40B4-BE49-F238E27FC236}">
                <a16:creationId xmlns:a16="http://schemas.microsoft.com/office/drawing/2014/main" id="{9913B4B0-FDCF-D7A2-3BAC-5F413EE9ABFE}"/>
              </a:ext>
            </a:extLst>
          </p:cNvPr>
          <p:cNvSpPr txBox="1"/>
          <p:nvPr/>
        </p:nvSpPr>
        <p:spPr>
          <a:xfrm>
            <a:off x="94592" y="1438507"/>
            <a:ext cx="11915271" cy="4284763"/>
          </a:xfrm>
          <a:prstGeom prst="rect">
            <a:avLst/>
          </a:prstGeom>
          <a:noFill/>
        </p:spPr>
        <p:txBody>
          <a:bodyPr wrap="square" rtlCol="0">
            <a:spAutoFit/>
          </a:bodyPr>
          <a:lstStyle/>
          <a:p>
            <a:pPr>
              <a:lnSpc>
                <a:spcPct val="150000"/>
              </a:lnSpc>
            </a:pPr>
            <a:r>
              <a:rPr lang="en-US" sz="2300" b="1" dirty="0">
                <a:latin typeface="Calibri" panose="020F0502020204030204" pitchFamily="34" charset="0"/>
                <a:cs typeface="Calibri" panose="020F0502020204030204" pitchFamily="34" charset="0"/>
              </a:rPr>
              <a:t>3.  Include Branding at the End: </a:t>
            </a:r>
            <a:r>
              <a:rPr lang="en-US" sz="2300" dirty="0">
                <a:latin typeface="Calibri" panose="020F0502020204030204" pitchFamily="34" charset="0"/>
                <a:cs typeface="Calibri" panose="020F0502020204030204" pitchFamily="34" charset="0"/>
              </a:rPr>
              <a:t>If branding is less crucial than specific keywords, it should be placed at the end of the </a:t>
            </a:r>
            <a:r>
              <a:rPr lang="en-US" sz="2300" b="1" dirty="0">
                <a:latin typeface="Calibri" panose="020F0502020204030204" pitchFamily="34" charset="0"/>
                <a:cs typeface="Calibri" panose="020F0502020204030204" pitchFamily="34" charset="0"/>
              </a:rPr>
              <a:t>&lt;title&gt; </a:t>
            </a:r>
            <a:r>
              <a:rPr lang="en-US" sz="2300" dirty="0">
                <a:latin typeface="Calibri" panose="020F0502020204030204" pitchFamily="34" charset="0"/>
                <a:cs typeface="Calibri" panose="020F0502020204030204" pitchFamily="34" charset="0"/>
              </a:rPr>
              <a:t>tag to maintain keyword prominence.</a:t>
            </a:r>
          </a:p>
          <a:p>
            <a:pPr>
              <a:lnSpc>
                <a:spcPct val="150000"/>
              </a:lnSpc>
            </a:pPr>
            <a:r>
              <a:rPr lang="en-US" sz="2300" b="1" dirty="0">
                <a:latin typeface="Calibri" panose="020F0502020204030204" pitchFamily="34" charset="0"/>
                <a:cs typeface="Calibri" panose="020F0502020204030204" pitchFamily="34" charset="0"/>
              </a:rPr>
              <a:t>4.  Character Limit:</a:t>
            </a:r>
            <a:r>
              <a:rPr lang="en-US" sz="2300" dirty="0">
                <a:latin typeface="Calibri" panose="020F0502020204030204" pitchFamily="34" charset="0"/>
                <a:cs typeface="Calibri" panose="020F0502020204030204" pitchFamily="34" charset="0"/>
              </a:rPr>
              <a:t> Keep </a:t>
            </a:r>
            <a:r>
              <a:rPr lang="en-US" sz="2300" b="1" dirty="0">
                <a:latin typeface="Calibri" panose="020F0502020204030204" pitchFamily="34" charset="0"/>
                <a:cs typeface="Calibri" panose="020F0502020204030204" pitchFamily="34" charset="0"/>
              </a:rPr>
              <a:t>&lt;title&gt; </a:t>
            </a:r>
            <a:r>
              <a:rPr lang="en-US" sz="2300" dirty="0">
                <a:latin typeface="Calibri" panose="020F0502020204030204" pitchFamily="34" charset="0"/>
                <a:cs typeface="Calibri" panose="020F0502020204030204" pitchFamily="34" charset="0"/>
              </a:rPr>
              <a:t>tags under 70 characters to prevent truncation in search engine results pages (SERPs), ensuring all characters carry potential SEO benefit.</a:t>
            </a:r>
          </a:p>
          <a:p>
            <a:pPr>
              <a:lnSpc>
                <a:spcPct val="150000"/>
              </a:lnSpc>
            </a:pPr>
            <a:r>
              <a:rPr lang="en-US" sz="2300" b="1" dirty="0">
                <a:latin typeface="Calibri" panose="020F0502020204030204" pitchFamily="34" charset="0"/>
                <a:cs typeface="Calibri" panose="020F0502020204030204" pitchFamily="34" charset="0"/>
              </a:rPr>
              <a:t>5.   Avoid Stop Words:</a:t>
            </a:r>
            <a:r>
              <a:rPr lang="en-US" sz="2300" dirty="0">
                <a:latin typeface="Calibri" panose="020F0502020204030204" pitchFamily="34" charset="0"/>
                <a:cs typeface="Calibri" panose="020F0502020204030204" pitchFamily="34" charset="0"/>
              </a:rPr>
              <a:t> Minimize the use of stop words (like "and", "or", "but") that do not contribute to SEO, to keep the focus on more impactful keywords.</a:t>
            </a:r>
          </a:p>
          <a:p>
            <a:pPr>
              <a:lnSpc>
                <a:spcPct val="150000"/>
              </a:lnSpc>
            </a:pPr>
            <a:r>
              <a:rPr lang="en-US" sz="2300" b="1" dirty="0">
                <a:latin typeface="Calibri" panose="020F0502020204030204" pitchFamily="34" charset="0"/>
                <a:cs typeface="Calibri" panose="020F0502020204030204" pitchFamily="34" charset="0"/>
              </a:rPr>
              <a:t>6.   Reflect Body Text Keywords:</a:t>
            </a:r>
            <a:r>
              <a:rPr lang="en-US" sz="2300" dirty="0">
                <a:latin typeface="Calibri" panose="020F0502020204030204" pitchFamily="34" charset="0"/>
                <a:cs typeface="Calibri" panose="020F0502020204030204" pitchFamily="34" charset="0"/>
              </a:rPr>
              <a:t> Ensure the keywords in the </a:t>
            </a:r>
            <a:r>
              <a:rPr lang="en-US" sz="2300" b="1" dirty="0">
                <a:latin typeface="Calibri" panose="020F0502020204030204" pitchFamily="34" charset="0"/>
                <a:cs typeface="Calibri" panose="020F0502020204030204" pitchFamily="34" charset="0"/>
              </a:rPr>
              <a:t>&lt;title&gt; </a:t>
            </a:r>
            <a:r>
              <a:rPr lang="en-US" sz="2300" dirty="0">
                <a:latin typeface="Calibri" panose="020F0502020204030204" pitchFamily="34" charset="0"/>
                <a:cs typeface="Calibri" panose="020F0502020204030204" pitchFamily="34" charset="0"/>
              </a:rPr>
              <a:t>tag align with those used in the page’s body text, reinforcing the content’s theme for search engines.</a:t>
            </a:r>
            <a:endParaRPr lang="en-AU" sz="23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14479473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ECE89BD9-6A70-5876-9D90-CCC471DF4D0E}"/>
              </a:ext>
            </a:extLst>
          </p:cNvPr>
          <p:cNvSpPr txBox="1"/>
          <p:nvPr/>
        </p:nvSpPr>
        <p:spPr>
          <a:xfrm>
            <a:off x="94592" y="0"/>
            <a:ext cx="12097407" cy="630429"/>
          </a:xfrm>
          <a:prstGeom prst="rect">
            <a:avLst/>
          </a:prstGeom>
          <a:noFill/>
        </p:spPr>
        <p:txBody>
          <a:bodyPr wrap="square" rtlCol="0">
            <a:spAutoFit/>
          </a:bodyPr>
          <a:lstStyle/>
          <a:p>
            <a:pPr>
              <a:lnSpc>
                <a:spcPct val="150000"/>
              </a:lnSpc>
            </a:pPr>
            <a:r>
              <a:rPr lang="en-US" sz="2600" b="1" dirty="0">
                <a:latin typeface="Calibri" panose="020F0502020204030204" pitchFamily="34" charset="0"/>
                <a:cs typeface="Calibri" panose="020F0502020204030204" pitchFamily="34" charset="0"/>
              </a:rPr>
              <a:t>9 Essential SEO Practices for Optimizing Title Tags</a:t>
            </a:r>
          </a:p>
        </p:txBody>
      </p:sp>
      <p:sp>
        <p:nvSpPr>
          <p:cNvPr id="6" name="TextBox 5">
            <a:extLst>
              <a:ext uri="{FF2B5EF4-FFF2-40B4-BE49-F238E27FC236}">
                <a16:creationId xmlns:a16="http://schemas.microsoft.com/office/drawing/2014/main" id="{9913B4B0-FDCF-D7A2-3BAC-5F413EE9ABFE}"/>
              </a:ext>
            </a:extLst>
          </p:cNvPr>
          <p:cNvSpPr txBox="1"/>
          <p:nvPr/>
        </p:nvSpPr>
        <p:spPr>
          <a:xfrm>
            <a:off x="94592" y="1438507"/>
            <a:ext cx="11915271" cy="3222934"/>
          </a:xfrm>
          <a:prstGeom prst="rect">
            <a:avLst/>
          </a:prstGeom>
          <a:noFill/>
        </p:spPr>
        <p:txBody>
          <a:bodyPr wrap="square" rtlCol="0">
            <a:spAutoFit/>
          </a:bodyPr>
          <a:lstStyle/>
          <a:p>
            <a:pPr>
              <a:lnSpc>
                <a:spcPct val="150000"/>
              </a:lnSpc>
            </a:pPr>
            <a:r>
              <a:rPr lang="en-US" sz="2300" b="1" dirty="0">
                <a:latin typeface="Calibri" panose="020F0502020204030204" pitchFamily="34" charset="0"/>
                <a:cs typeface="Calibri" panose="020F0502020204030204" pitchFamily="34" charset="0"/>
              </a:rPr>
              <a:t>7.   Uniqueness Across Pages: </a:t>
            </a:r>
            <a:r>
              <a:rPr lang="en-US" sz="2300" dirty="0">
                <a:latin typeface="Calibri" panose="020F0502020204030204" pitchFamily="34" charset="0"/>
                <a:cs typeface="Calibri" panose="020F0502020204030204" pitchFamily="34" charset="0"/>
              </a:rPr>
              <a:t>Each page should have a unique </a:t>
            </a:r>
            <a:r>
              <a:rPr lang="en-US" sz="2300" b="1" dirty="0">
                <a:latin typeface="Calibri" panose="020F0502020204030204" pitchFamily="34" charset="0"/>
                <a:cs typeface="Calibri" panose="020F0502020204030204" pitchFamily="34" charset="0"/>
              </a:rPr>
              <a:t>&lt;title&gt; </a:t>
            </a:r>
            <a:r>
              <a:rPr lang="en-US" sz="2300" dirty="0">
                <a:latin typeface="Calibri" panose="020F0502020204030204" pitchFamily="34" charset="0"/>
                <a:cs typeface="Calibri" panose="020F0502020204030204" pitchFamily="34" charset="0"/>
              </a:rPr>
              <a:t>tag to avoid duplicate content issues and to accurately reflect the page’s content.</a:t>
            </a:r>
          </a:p>
          <a:p>
            <a:pPr>
              <a:lnSpc>
                <a:spcPct val="150000"/>
              </a:lnSpc>
            </a:pPr>
            <a:r>
              <a:rPr lang="en-US" sz="2300" b="1" dirty="0">
                <a:latin typeface="Calibri" panose="020F0502020204030204" pitchFamily="34" charset="0"/>
                <a:cs typeface="Calibri" panose="020F0502020204030204" pitchFamily="34" charset="0"/>
              </a:rPr>
              <a:t>8.   Avoid Duplication with &lt;h1&gt; Tags: </a:t>
            </a:r>
            <a:r>
              <a:rPr lang="en-US" sz="2300" dirty="0">
                <a:latin typeface="Calibri" panose="020F0502020204030204" pitchFamily="34" charset="0"/>
                <a:cs typeface="Calibri" panose="020F0502020204030204" pitchFamily="34" charset="0"/>
              </a:rPr>
              <a:t>The text in </a:t>
            </a:r>
            <a:r>
              <a:rPr lang="en-US" sz="2300" b="1" dirty="0">
                <a:latin typeface="Calibri" panose="020F0502020204030204" pitchFamily="34" charset="0"/>
                <a:cs typeface="Calibri" panose="020F0502020204030204" pitchFamily="34" charset="0"/>
              </a:rPr>
              <a:t>&lt;title&gt; </a:t>
            </a:r>
            <a:r>
              <a:rPr lang="en-US" sz="2300" dirty="0">
                <a:latin typeface="Calibri" panose="020F0502020204030204" pitchFamily="34" charset="0"/>
                <a:cs typeface="Calibri" panose="020F0502020204030204" pitchFamily="34" charset="0"/>
              </a:rPr>
              <a:t>tags should not simply repeat what’s in the </a:t>
            </a:r>
            <a:r>
              <a:rPr lang="en-US" sz="2300" b="1" dirty="0">
                <a:latin typeface="Calibri" panose="020F0502020204030204" pitchFamily="34" charset="0"/>
                <a:cs typeface="Calibri" panose="020F0502020204030204" pitchFamily="34" charset="0"/>
              </a:rPr>
              <a:t>&lt;h1&gt; </a:t>
            </a:r>
            <a:r>
              <a:rPr lang="en-US" sz="2300" dirty="0">
                <a:latin typeface="Calibri" panose="020F0502020204030204" pitchFamily="34" charset="0"/>
                <a:cs typeface="Calibri" panose="020F0502020204030204" pitchFamily="34" charset="0"/>
              </a:rPr>
              <a:t>tag, to optimize the use of different keywords.</a:t>
            </a:r>
          </a:p>
          <a:p>
            <a:pPr>
              <a:lnSpc>
                <a:spcPct val="150000"/>
              </a:lnSpc>
            </a:pPr>
            <a:r>
              <a:rPr lang="en-US" sz="2300" b="1" dirty="0">
                <a:latin typeface="Calibri" panose="020F0502020204030204" pitchFamily="34" charset="0"/>
                <a:cs typeface="Calibri" panose="020F0502020204030204" pitchFamily="34" charset="0"/>
              </a:rPr>
              <a:t>9.   No Keyword Stuffing: </a:t>
            </a:r>
            <a:r>
              <a:rPr lang="en-US" sz="2300" dirty="0">
                <a:latin typeface="Calibri" panose="020F0502020204030204" pitchFamily="34" charset="0"/>
                <a:cs typeface="Calibri" panose="020F0502020204030204" pitchFamily="34" charset="0"/>
              </a:rPr>
              <a:t>Overusing keywords in the </a:t>
            </a:r>
            <a:r>
              <a:rPr lang="en-US" sz="2300" b="1" dirty="0">
                <a:latin typeface="Calibri" panose="020F0502020204030204" pitchFamily="34" charset="0"/>
                <a:cs typeface="Calibri" panose="020F0502020204030204" pitchFamily="34" charset="0"/>
              </a:rPr>
              <a:t>&lt;title&gt; </a:t>
            </a:r>
            <a:r>
              <a:rPr lang="en-US" sz="2300" dirty="0">
                <a:latin typeface="Calibri" panose="020F0502020204030204" pitchFamily="34" charset="0"/>
                <a:cs typeface="Calibri" panose="020F0502020204030204" pitchFamily="34" charset="0"/>
              </a:rPr>
              <a:t>tag can be seen as spammy by search engines, potentially leading to penalties.</a:t>
            </a:r>
            <a:endParaRPr lang="en-AU" sz="2300" dirty="0">
              <a:latin typeface="Calibri" panose="020F0502020204030204" pitchFamily="34" charset="0"/>
              <a:cs typeface="Calibri" panose="020F0502020204030204" pitchFamily="34" charset="0"/>
            </a:endParaRPr>
          </a:p>
        </p:txBody>
      </p:sp>
      <p:sp>
        <p:nvSpPr>
          <p:cNvPr id="2" name="TextBox 1">
            <a:extLst>
              <a:ext uri="{FF2B5EF4-FFF2-40B4-BE49-F238E27FC236}">
                <a16:creationId xmlns:a16="http://schemas.microsoft.com/office/drawing/2014/main" id="{4B7F1183-26E4-F7ED-BEFC-794AE599E9E7}"/>
              </a:ext>
            </a:extLst>
          </p:cNvPr>
          <p:cNvSpPr txBox="1"/>
          <p:nvPr/>
        </p:nvSpPr>
        <p:spPr>
          <a:xfrm>
            <a:off x="0" y="4869355"/>
            <a:ext cx="11915271" cy="1630190"/>
          </a:xfrm>
          <a:prstGeom prst="rect">
            <a:avLst/>
          </a:prstGeom>
          <a:noFill/>
        </p:spPr>
        <p:txBody>
          <a:bodyPr wrap="square" rtlCol="0">
            <a:spAutoFit/>
          </a:bodyPr>
          <a:lstStyle/>
          <a:p>
            <a:pPr>
              <a:lnSpc>
                <a:spcPct val="150000"/>
              </a:lnSpc>
            </a:pPr>
            <a:r>
              <a:rPr lang="en-US" sz="2300" dirty="0">
                <a:latin typeface="Calibri" panose="020F0502020204030204" pitchFamily="34" charset="0"/>
                <a:cs typeface="Calibri" panose="020F0502020204030204" pitchFamily="34" charset="0"/>
              </a:rPr>
              <a:t>The article emphasizes the importance of crafting </a:t>
            </a:r>
            <a:r>
              <a:rPr lang="en-US" sz="2300" b="1" dirty="0">
                <a:latin typeface="Calibri" panose="020F0502020204030204" pitchFamily="34" charset="0"/>
                <a:cs typeface="Calibri" panose="020F0502020204030204" pitchFamily="34" charset="0"/>
              </a:rPr>
              <a:t>&lt;title&gt; </a:t>
            </a:r>
            <a:r>
              <a:rPr lang="en-US" sz="2300" dirty="0">
                <a:latin typeface="Calibri" panose="020F0502020204030204" pitchFamily="34" charset="0"/>
                <a:cs typeface="Calibri" panose="020F0502020204030204" pitchFamily="34" charset="0"/>
              </a:rPr>
              <a:t>tags thoughtfully to improve both search engine visibility and user engagement. These practices can significantly influence how webpages are perceived by search engines and by people browsing search results.</a:t>
            </a:r>
            <a:endParaRPr lang="en-AU" sz="23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4935749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
                                            <p:txEl>
                                              <p:pRg st="1" end="1"/>
                                            </p:txEl>
                                          </p:spTgt>
                                        </p:tgtEl>
                                        <p:attrNameLst>
                                          <p:attrName>style.visibility</p:attrName>
                                        </p:attrNameLst>
                                      </p:cBhvr>
                                      <p:to>
                                        <p:strVal val="visible"/>
                                      </p:to>
                                    </p:set>
                                    <p:anim calcmode="lin" valueType="num">
                                      <p:cBhvr additive="base">
                                        <p:cTn id="7" dur="500" fill="hold"/>
                                        <p:tgtEl>
                                          <p:spTgt spid="6">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6">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6">
                                            <p:txEl>
                                              <p:pRg st="2" end="2"/>
                                            </p:txEl>
                                          </p:spTgt>
                                        </p:tgtEl>
                                        <p:attrNameLst>
                                          <p:attrName>style.visibility</p:attrName>
                                        </p:attrNameLst>
                                      </p:cBhvr>
                                      <p:to>
                                        <p:strVal val="visible"/>
                                      </p:to>
                                    </p:set>
                                    <p:anim calcmode="lin" valueType="num">
                                      <p:cBhvr additive="base">
                                        <p:cTn id="13" dur="500" fill="hold"/>
                                        <p:tgtEl>
                                          <p:spTgt spid="6">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6">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2"/>
                                        </p:tgtEl>
                                        <p:attrNameLst>
                                          <p:attrName>style.visibility</p:attrName>
                                        </p:attrNameLst>
                                      </p:cBhvr>
                                      <p:to>
                                        <p:strVal val="visible"/>
                                      </p:to>
                                    </p:set>
                                    <p:animEffect transition="in" filter="fade">
                                      <p:cBhvr>
                                        <p:cTn id="19" dur="1000"/>
                                        <p:tgtEl>
                                          <p:spTgt spid="2"/>
                                        </p:tgtEl>
                                      </p:cBhvr>
                                    </p:animEffect>
                                    <p:anim calcmode="lin" valueType="num">
                                      <p:cBhvr>
                                        <p:cTn id="20" dur="1000" fill="hold"/>
                                        <p:tgtEl>
                                          <p:spTgt spid="2"/>
                                        </p:tgtEl>
                                        <p:attrNameLst>
                                          <p:attrName>ppt_x</p:attrName>
                                        </p:attrNameLst>
                                      </p:cBhvr>
                                      <p:tavLst>
                                        <p:tav tm="0">
                                          <p:val>
                                            <p:strVal val="#ppt_x"/>
                                          </p:val>
                                        </p:tav>
                                        <p:tav tm="100000">
                                          <p:val>
                                            <p:strVal val="#ppt_x"/>
                                          </p:val>
                                        </p:tav>
                                      </p:tavLst>
                                    </p:anim>
                                    <p:anim calcmode="lin" valueType="num">
                                      <p:cBhvr>
                                        <p:cTn id="21"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D9249E71-F581-66C1-FB7E-6F1B23394363}"/>
              </a:ext>
            </a:extLst>
          </p:cNvPr>
          <p:cNvSpPr txBox="1"/>
          <p:nvPr/>
        </p:nvSpPr>
        <p:spPr>
          <a:xfrm>
            <a:off x="57421" y="724141"/>
            <a:ext cx="5503193" cy="4102533"/>
          </a:xfrm>
          <a:prstGeom prst="rect">
            <a:avLst/>
          </a:prstGeom>
          <a:noFill/>
        </p:spPr>
        <p:txBody>
          <a:bodyPr wrap="square" rtlCol="0">
            <a:spAutoFit/>
          </a:bodyPr>
          <a:lstStyle/>
          <a:p>
            <a:pPr marL="457200" indent="-457200">
              <a:lnSpc>
                <a:spcPct val="150000"/>
              </a:lnSpc>
              <a:buFont typeface="+mj-lt"/>
              <a:buAutoNum type="arabicPeriod"/>
            </a:pPr>
            <a:r>
              <a:rPr lang="en-US" sz="2200" dirty="0">
                <a:latin typeface="Calibri" panose="020F0502020204030204" pitchFamily="34" charset="0"/>
                <a:cs typeface="Calibri" panose="020F0502020204030204" pitchFamily="34" charset="0"/>
              </a:rPr>
              <a:t>Given the project tasks and the template provided, let's begin constructing the template02.html document with the appropriate HTML structure and comments. Below is the code, including comments describing the purpose of each section, as asked in the project instructions:</a:t>
            </a:r>
            <a:endParaRPr lang="en-AU" sz="2200" dirty="0">
              <a:latin typeface="Calibri" panose="020F0502020204030204" pitchFamily="34" charset="0"/>
              <a:cs typeface="Calibri" panose="020F0502020204030204" pitchFamily="34" charset="0"/>
            </a:endParaRPr>
          </a:p>
        </p:txBody>
      </p:sp>
      <p:pic>
        <p:nvPicPr>
          <p:cNvPr id="14" name="Picture 13">
            <a:extLst>
              <a:ext uri="{FF2B5EF4-FFF2-40B4-BE49-F238E27FC236}">
                <a16:creationId xmlns:a16="http://schemas.microsoft.com/office/drawing/2014/main" id="{346EE188-A78D-62E9-F15E-C9678E1DA4CF}"/>
              </a:ext>
            </a:extLst>
          </p:cNvPr>
          <p:cNvPicPr>
            <a:picLocks noChangeAspect="1"/>
          </p:cNvPicPr>
          <p:nvPr/>
        </p:nvPicPr>
        <p:blipFill rotWithShape="1">
          <a:blip r:embed="rId2"/>
          <a:srcRect l="16189" t="10559" r="22713" b="6016"/>
          <a:stretch/>
        </p:blipFill>
        <p:spPr>
          <a:xfrm>
            <a:off x="5560614" y="425989"/>
            <a:ext cx="6315173" cy="4850411"/>
          </a:xfrm>
          <a:prstGeom prst="rect">
            <a:avLst/>
          </a:prstGeom>
        </p:spPr>
      </p:pic>
      <p:pic>
        <p:nvPicPr>
          <p:cNvPr id="16" name="Picture 15">
            <a:extLst>
              <a:ext uri="{FF2B5EF4-FFF2-40B4-BE49-F238E27FC236}">
                <a16:creationId xmlns:a16="http://schemas.microsoft.com/office/drawing/2014/main" id="{F0AD1F23-34FF-F141-F294-6F2DD90BB9F0}"/>
              </a:ext>
            </a:extLst>
          </p:cNvPr>
          <p:cNvPicPr>
            <a:picLocks noChangeAspect="1"/>
          </p:cNvPicPr>
          <p:nvPr/>
        </p:nvPicPr>
        <p:blipFill rotWithShape="1">
          <a:blip r:embed="rId3"/>
          <a:srcRect l="11891" t="25528" r="46768" b="54147"/>
          <a:stretch/>
        </p:blipFill>
        <p:spPr>
          <a:xfrm>
            <a:off x="6835567" y="5291253"/>
            <a:ext cx="5040220" cy="1393904"/>
          </a:xfrm>
          <a:prstGeom prst="rect">
            <a:avLst/>
          </a:prstGeom>
          <a:ln>
            <a:solidFill>
              <a:srgbClr val="FF0000"/>
            </a:solidFill>
          </a:ln>
        </p:spPr>
      </p:pic>
      <p:sp>
        <p:nvSpPr>
          <p:cNvPr id="17" name="Rectangle: Rounded Corners 16">
            <a:extLst>
              <a:ext uri="{FF2B5EF4-FFF2-40B4-BE49-F238E27FC236}">
                <a16:creationId xmlns:a16="http://schemas.microsoft.com/office/drawing/2014/main" id="{24BFB22F-2358-1B05-1C03-5A6BDC582AE7}"/>
              </a:ext>
            </a:extLst>
          </p:cNvPr>
          <p:cNvSpPr/>
          <p:nvPr/>
        </p:nvSpPr>
        <p:spPr>
          <a:xfrm>
            <a:off x="7357048" y="6166623"/>
            <a:ext cx="4262523" cy="312236"/>
          </a:xfrm>
          <a:prstGeom prst="round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8" name="TextBox 17">
            <a:extLst>
              <a:ext uri="{FF2B5EF4-FFF2-40B4-BE49-F238E27FC236}">
                <a16:creationId xmlns:a16="http://schemas.microsoft.com/office/drawing/2014/main" id="{18349BDC-9EE4-BA76-6AEE-12635CB3C429}"/>
              </a:ext>
            </a:extLst>
          </p:cNvPr>
          <p:cNvSpPr txBox="1"/>
          <p:nvPr/>
        </p:nvSpPr>
        <p:spPr>
          <a:xfrm>
            <a:off x="23969" y="4906537"/>
            <a:ext cx="6321075" cy="1563377"/>
          </a:xfrm>
          <a:prstGeom prst="rect">
            <a:avLst/>
          </a:prstGeom>
          <a:noFill/>
        </p:spPr>
        <p:txBody>
          <a:bodyPr wrap="square" rtlCol="0">
            <a:spAutoFit/>
          </a:bodyPr>
          <a:lstStyle/>
          <a:p>
            <a:pPr>
              <a:lnSpc>
                <a:spcPct val="150000"/>
              </a:lnSpc>
            </a:pPr>
            <a:r>
              <a:rPr lang="en-US" sz="2200" dirty="0">
                <a:latin typeface="Calibri" panose="020F0502020204030204" pitchFamily="34" charset="0"/>
                <a:cs typeface="Calibri" panose="020F0502020204030204" pitchFamily="34" charset="0"/>
              </a:rPr>
              <a:t>Now, you will need to replace the comments with your own research findings for each element, as instructed in steps 3 to 6.</a:t>
            </a:r>
            <a:endParaRPr lang="en-AU" sz="2200" dirty="0">
              <a:latin typeface="Calibri" panose="020F0502020204030204" pitchFamily="34" charset="0"/>
              <a:cs typeface="Calibri" panose="020F0502020204030204" pitchFamily="34" charset="0"/>
            </a:endParaRPr>
          </a:p>
        </p:txBody>
      </p:sp>
      <p:sp>
        <p:nvSpPr>
          <p:cNvPr id="20" name="TextBox 19">
            <a:extLst>
              <a:ext uri="{FF2B5EF4-FFF2-40B4-BE49-F238E27FC236}">
                <a16:creationId xmlns:a16="http://schemas.microsoft.com/office/drawing/2014/main" id="{35A4AF0A-DF0D-0F79-C94F-9BFDF55E0F33}"/>
              </a:ext>
            </a:extLst>
          </p:cNvPr>
          <p:cNvSpPr txBox="1"/>
          <p:nvPr/>
        </p:nvSpPr>
        <p:spPr>
          <a:xfrm>
            <a:off x="-2049" y="-80303"/>
            <a:ext cx="12194049" cy="671851"/>
          </a:xfrm>
          <a:prstGeom prst="rect">
            <a:avLst/>
          </a:prstGeom>
          <a:noFill/>
        </p:spPr>
        <p:txBody>
          <a:bodyPr wrap="square">
            <a:spAutoFit/>
          </a:bodyPr>
          <a:lstStyle/>
          <a:p>
            <a:pPr>
              <a:lnSpc>
                <a:spcPct val="150000"/>
              </a:lnSpc>
            </a:pPr>
            <a:r>
              <a:rPr lang="en-US" sz="2800" b="1" dirty="0">
                <a:latin typeface="Calibri" panose="020F0502020204030204" pitchFamily="34" charset="0"/>
                <a:cs typeface="Calibri" panose="020F0502020204030204" pitchFamily="34" charset="0"/>
              </a:rPr>
              <a:t>Project 1: Creating a Template with a Semantic Wireframe </a:t>
            </a:r>
            <a:endParaRPr lang="en-US" sz="1800" b="1"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5308198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3AEDF7CD-4B6B-041F-7811-78E1F4209310}"/>
              </a:ext>
            </a:extLst>
          </p:cNvPr>
          <p:cNvSpPr txBox="1"/>
          <p:nvPr/>
        </p:nvSpPr>
        <p:spPr>
          <a:xfrm>
            <a:off x="94592" y="0"/>
            <a:ext cx="12097407" cy="671851"/>
          </a:xfrm>
          <a:prstGeom prst="rect">
            <a:avLst/>
          </a:prstGeom>
          <a:noFill/>
        </p:spPr>
        <p:txBody>
          <a:bodyPr wrap="square" rtlCol="0">
            <a:spAutoFit/>
          </a:bodyPr>
          <a:lstStyle/>
          <a:p>
            <a:pPr>
              <a:lnSpc>
                <a:spcPct val="150000"/>
              </a:lnSpc>
            </a:pPr>
            <a:r>
              <a:rPr lang="en-US" sz="2800" b="1" dirty="0">
                <a:latin typeface="Calibri" panose="020F0502020204030204" pitchFamily="34" charset="0"/>
                <a:cs typeface="Calibri" panose="020F0502020204030204" pitchFamily="34" charset="0"/>
              </a:rPr>
              <a:t>Project 1: Creating a Template with a Semantic Wireframe </a:t>
            </a:r>
            <a:endParaRPr lang="en-US" sz="2400" b="1" dirty="0">
              <a:latin typeface="Calibri" panose="020F0502020204030204" pitchFamily="34" charset="0"/>
              <a:cs typeface="Calibri" panose="020F0502020204030204" pitchFamily="34" charset="0"/>
            </a:endParaRPr>
          </a:p>
        </p:txBody>
      </p:sp>
      <p:sp>
        <p:nvSpPr>
          <p:cNvPr id="7" name="TextBox 6">
            <a:extLst>
              <a:ext uri="{FF2B5EF4-FFF2-40B4-BE49-F238E27FC236}">
                <a16:creationId xmlns:a16="http://schemas.microsoft.com/office/drawing/2014/main" id="{D9249E71-F581-66C1-FB7E-6F1B23394363}"/>
              </a:ext>
            </a:extLst>
          </p:cNvPr>
          <p:cNvSpPr txBox="1"/>
          <p:nvPr/>
        </p:nvSpPr>
        <p:spPr>
          <a:xfrm>
            <a:off x="-11152" y="3762432"/>
            <a:ext cx="6445404" cy="3086871"/>
          </a:xfrm>
          <a:prstGeom prst="rect">
            <a:avLst/>
          </a:prstGeom>
          <a:noFill/>
        </p:spPr>
        <p:txBody>
          <a:bodyPr wrap="square" rtlCol="0">
            <a:spAutoFit/>
          </a:bodyPr>
          <a:lstStyle/>
          <a:p>
            <a:pPr marL="457200" indent="-457200">
              <a:lnSpc>
                <a:spcPct val="150000"/>
              </a:lnSpc>
              <a:buFont typeface="+mj-lt"/>
              <a:buAutoNum type="arabicPeriod"/>
            </a:pPr>
            <a:r>
              <a:rPr lang="en-US" sz="2200" dirty="0">
                <a:latin typeface="Calibri" panose="020F0502020204030204" pitchFamily="34" charset="0"/>
                <a:cs typeface="Calibri" panose="020F0502020204030204" pitchFamily="34" charset="0"/>
              </a:rPr>
              <a:t>Given the project tasks and the template provided, let's begin constructing the template02.html document with the appropriate HTML structure and comments. Below is the code, including comments describing the purpose of each section, as asked in the project instructions:</a:t>
            </a:r>
            <a:endParaRPr lang="en-AU" sz="2200" dirty="0">
              <a:latin typeface="Calibri" panose="020F0502020204030204" pitchFamily="34" charset="0"/>
              <a:cs typeface="Calibri" panose="020F0502020204030204" pitchFamily="34" charset="0"/>
            </a:endParaRPr>
          </a:p>
        </p:txBody>
      </p:sp>
      <p:pic>
        <p:nvPicPr>
          <p:cNvPr id="16" name="Picture 15">
            <a:extLst>
              <a:ext uri="{FF2B5EF4-FFF2-40B4-BE49-F238E27FC236}">
                <a16:creationId xmlns:a16="http://schemas.microsoft.com/office/drawing/2014/main" id="{F0AD1F23-34FF-F141-F294-6F2DD90BB9F0}"/>
              </a:ext>
            </a:extLst>
          </p:cNvPr>
          <p:cNvPicPr>
            <a:picLocks noChangeAspect="1"/>
          </p:cNvPicPr>
          <p:nvPr/>
        </p:nvPicPr>
        <p:blipFill rotWithShape="1">
          <a:blip r:embed="rId2"/>
          <a:srcRect l="11891" t="25528" r="46768" b="54147"/>
          <a:stretch/>
        </p:blipFill>
        <p:spPr>
          <a:xfrm>
            <a:off x="6835567" y="5291253"/>
            <a:ext cx="5040220" cy="1393904"/>
          </a:xfrm>
          <a:prstGeom prst="rect">
            <a:avLst/>
          </a:prstGeom>
          <a:ln>
            <a:solidFill>
              <a:srgbClr val="FF0000"/>
            </a:solidFill>
          </a:ln>
        </p:spPr>
      </p:pic>
      <p:sp>
        <p:nvSpPr>
          <p:cNvPr id="17" name="Rectangle: Rounded Corners 16">
            <a:extLst>
              <a:ext uri="{FF2B5EF4-FFF2-40B4-BE49-F238E27FC236}">
                <a16:creationId xmlns:a16="http://schemas.microsoft.com/office/drawing/2014/main" id="{24BFB22F-2358-1B05-1C03-5A6BDC582AE7}"/>
              </a:ext>
            </a:extLst>
          </p:cNvPr>
          <p:cNvSpPr/>
          <p:nvPr/>
        </p:nvSpPr>
        <p:spPr>
          <a:xfrm>
            <a:off x="7357048" y="6166623"/>
            <a:ext cx="4262523" cy="312236"/>
          </a:xfrm>
          <a:prstGeom prst="round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3" name="Picture 2">
            <a:extLst>
              <a:ext uri="{FF2B5EF4-FFF2-40B4-BE49-F238E27FC236}">
                <a16:creationId xmlns:a16="http://schemas.microsoft.com/office/drawing/2014/main" id="{2180E6BE-29E7-A18E-1710-E75B98EF2E87}"/>
              </a:ext>
            </a:extLst>
          </p:cNvPr>
          <p:cNvPicPr>
            <a:picLocks noChangeAspect="1"/>
          </p:cNvPicPr>
          <p:nvPr/>
        </p:nvPicPr>
        <p:blipFill rotWithShape="1">
          <a:blip r:embed="rId3"/>
          <a:srcRect l="3475" t="16748" r="53171" b="48487"/>
          <a:stretch/>
        </p:blipFill>
        <p:spPr>
          <a:xfrm>
            <a:off x="23969" y="653232"/>
            <a:ext cx="7167499" cy="3232968"/>
          </a:xfrm>
          <a:prstGeom prst="rect">
            <a:avLst/>
          </a:prstGeom>
        </p:spPr>
      </p:pic>
      <p:sp>
        <p:nvSpPr>
          <p:cNvPr id="4" name="Rectangle: Rounded Corners 3">
            <a:extLst>
              <a:ext uri="{FF2B5EF4-FFF2-40B4-BE49-F238E27FC236}">
                <a16:creationId xmlns:a16="http://schemas.microsoft.com/office/drawing/2014/main" id="{5C409636-17E4-1780-A42A-7E168486A7E5}"/>
              </a:ext>
            </a:extLst>
          </p:cNvPr>
          <p:cNvSpPr/>
          <p:nvPr/>
        </p:nvSpPr>
        <p:spPr>
          <a:xfrm>
            <a:off x="3866715" y="3403378"/>
            <a:ext cx="2500630" cy="231920"/>
          </a:xfrm>
          <a:prstGeom prst="round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14" name="Picture 13">
            <a:extLst>
              <a:ext uri="{FF2B5EF4-FFF2-40B4-BE49-F238E27FC236}">
                <a16:creationId xmlns:a16="http://schemas.microsoft.com/office/drawing/2014/main" id="{346EE188-A78D-62E9-F15E-C9678E1DA4CF}"/>
              </a:ext>
            </a:extLst>
          </p:cNvPr>
          <p:cNvPicPr>
            <a:picLocks noChangeAspect="1"/>
          </p:cNvPicPr>
          <p:nvPr/>
        </p:nvPicPr>
        <p:blipFill rotWithShape="1">
          <a:blip r:embed="rId4"/>
          <a:srcRect l="16189" t="10559" r="22713" b="6016"/>
          <a:stretch/>
        </p:blipFill>
        <p:spPr>
          <a:xfrm>
            <a:off x="6516569" y="723763"/>
            <a:ext cx="5678216" cy="4361192"/>
          </a:xfrm>
          <a:prstGeom prst="rect">
            <a:avLst/>
          </a:prstGeom>
        </p:spPr>
      </p:pic>
    </p:spTree>
    <p:extLst>
      <p:ext uri="{BB962C8B-B14F-4D97-AF65-F5344CB8AC3E}">
        <p14:creationId xmlns:p14="http://schemas.microsoft.com/office/powerpoint/2010/main" val="325108572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3AEDF7CD-4B6B-041F-7811-78E1F4209310}"/>
              </a:ext>
            </a:extLst>
          </p:cNvPr>
          <p:cNvSpPr txBox="1"/>
          <p:nvPr/>
        </p:nvSpPr>
        <p:spPr>
          <a:xfrm>
            <a:off x="94592" y="0"/>
            <a:ext cx="12097407" cy="671851"/>
          </a:xfrm>
          <a:prstGeom prst="rect">
            <a:avLst/>
          </a:prstGeom>
          <a:noFill/>
        </p:spPr>
        <p:txBody>
          <a:bodyPr wrap="square" rtlCol="0">
            <a:spAutoFit/>
          </a:bodyPr>
          <a:lstStyle/>
          <a:p>
            <a:pPr>
              <a:lnSpc>
                <a:spcPct val="150000"/>
              </a:lnSpc>
            </a:pPr>
            <a:r>
              <a:rPr lang="en-US" sz="2800" b="1" dirty="0">
                <a:latin typeface="Calibri" panose="020F0502020204030204" pitchFamily="34" charset="0"/>
                <a:cs typeface="Calibri" panose="020F0502020204030204" pitchFamily="34" charset="0"/>
              </a:rPr>
              <a:t>Project 1: Creating a Template with a Semantic Wireframe </a:t>
            </a:r>
            <a:endParaRPr lang="en-US" sz="2400" b="1" dirty="0">
              <a:latin typeface="Calibri" panose="020F0502020204030204" pitchFamily="34" charset="0"/>
              <a:cs typeface="Calibri" panose="020F0502020204030204" pitchFamily="34" charset="0"/>
            </a:endParaRPr>
          </a:p>
        </p:txBody>
      </p:sp>
      <p:pic>
        <p:nvPicPr>
          <p:cNvPr id="16" name="Picture 15">
            <a:extLst>
              <a:ext uri="{FF2B5EF4-FFF2-40B4-BE49-F238E27FC236}">
                <a16:creationId xmlns:a16="http://schemas.microsoft.com/office/drawing/2014/main" id="{F0AD1F23-34FF-F141-F294-6F2DD90BB9F0}"/>
              </a:ext>
            </a:extLst>
          </p:cNvPr>
          <p:cNvPicPr>
            <a:picLocks noChangeAspect="1"/>
          </p:cNvPicPr>
          <p:nvPr/>
        </p:nvPicPr>
        <p:blipFill rotWithShape="1">
          <a:blip r:embed="rId2"/>
          <a:srcRect l="11891" t="25528" r="46768" b="54147"/>
          <a:stretch/>
        </p:blipFill>
        <p:spPr>
          <a:xfrm>
            <a:off x="6882225" y="4856741"/>
            <a:ext cx="5040220" cy="1393904"/>
          </a:xfrm>
          <a:prstGeom prst="rect">
            <a:avLst/>
          </a:prstGeom>
          <a:ln>
            <a:solidFill>
              <a:srgbClr val="FF0000"/>
            </a:solidFill>
          </a:ln>
        </p:spPr>
      </p:pic>
      <p:sp>
        <p:nvSpPr>
          <p:cNvPr id="17" name="Rectangle: Rounded Corners 16">
            <a:extLst>
              <a:ext uri="{FF2B5EF4-FFF2-40B4-BE49-F238E27FC236}">
                <a16:creationId xmlns:a16="http://schemas.microsoft.com/office/drawing/2014/main" id="{24BFB22F-2358-1B05-1C03-5A6BDC582AE7}"/>
              </a:ext>
            </a:extLst>
          </p:cNvPr>
          <p:cNvSpPr/>
          <p:nvPr/>
        </p:nvSpPr>
        <p:spPr>
          <a:xfrm>
            <a:off x="7403706" y="5732111"/>
            <a:ext cx="4262523" cy="312236"/>
          </a:xfrm>
          <a:prstGeom prst="round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 name="TextBox 1">
            <a:extLst>
              <a:ext uri="{FF2B5EF4-FFF2-40B4-BE49-F238E27FC236}">
                <a16:creationId xmlns:a16="http://schemas.microsoft.com/office/drawing/2014/main" id="{18349BDC-9EE4-BA76-6AEE-12635CB3C429}"/>
              </a:ext>
            </a:extLst>
          </p:cNvPr>
          <p:cNvSpPr txBox="1"/>
          <p:nvPr/>
        </p:nvSpPr>
        <p:spPr>
          <a:xfrm>
            <a:off x="94592" y="630429"/>
            <a:ext cx="4911323" cy="2071208"/>
          </a:xfrm>
          <a:prstGeom prst="rect">
            <a:avLst/>
          </a:prstGeom>
          <a:noFill/>
        </p:spPr>
        <p:txBody>
          <a:bodyPr wrap="square" rtlCol="0">
            <a:spAutoFit/>
          </a:bodyPr>
          <a:lstStyle/>
          <a:p>
            <a:pPr>
              <a:lnSpc>
                <a:spcPct val="150000"/>
              </a:lnSpc>
            </a:pPr>
            <a:r>
              <a:rPr lang="en-US" sz="2200" dirty="0">
                <a:latin typeface="Calibri" panose="020F0502020204030204" pitchFamily="34" charset="0"/>
                <a:cs typeface="Calibri" panose="020F0502020204030204" pitchFamily="34" charset="0"/>
              </a:rPr>
              <a:t>Now, you will need to replace the comments with your own research findings for each element, as instructed in steps 3 to 6.</a:t>
            </a:r>
            <a:endParaRPr lang="en-AU" sz="2200" dirty="0">
              <a:latin typeface="Calibri" panose="020F0502020204030204" pitchFamily="34" charset="0"/>
              <a:cs typeface="Calibri" panose="020F0502020204030204" pitchFamily="34" charset="0"/>
            </a:endParaRPr>
          </a:p>
        </p:txBody>
      </p:sp>
      <p:pic>
        <p:nvPicPr>
          <p:cNvPr id="5" name="Picture 4">
            <a:extLst>
              <a:ext uri="{FF2B5EF4-FFF2-40B4-BE49-F238E27FC236}">
                <a16:creationId xmlns:a16="http://schemas.microsoft.com/office/drawing/2014/main" id="{F9479DA8-FC37-A13A-6B48-D3C749D89D4F}"/>
              </a:ext>
            </a:extLst>
          </p:cNvPr>
          <p:cNvPicPr>
            <a:picLocks noChangeAspect="1"/>
          </p:cNvPicPr>
          <p:nvPr/>
        </p:nvPicPr>
        <p:blipFill rotWithShape="1">
          <a:blip r:embed="rId3"/>
          <a:srcRect l="3475" t="16748" r="53171" b="48487"/>
          <a:stretch/>
        </p:blipFill>
        <p:spPr>
          <a:xfrm>
            <a:off x="5043085" y="630429"/>
            <a:ext cx="7167499" cy="3232968"/>
          </a:xfrm>
          <a:prstGeom prst="rect">
            <a:avLst/>
          </a:prstGeom>
        </p:spPr>
      </p:pic>
      <p:sp>
        <p:nvSpPr>
          <p:cNvPr id="8" name="Rectangle: Rounded Corners 7">
            <a:extLst>
              <a:ext uri="{FF2B5EF4-FFF2-40B4-BE49-F238E27FC236}">
                <a16:creationId xmlns:a16="http://schemas.microsoft.com/office/drawing/2014/main" id="{BBF5C442-33B5-4C65-0A04-4797FD390060}"/>
              </a:ext>
            </a:extLst>
          </p:cNvPr>
          <p:cNvSpPr/>
          <p:nvPr/>
        </p:nvSpPr>
        <p:spPr>
          <a:xfrm>
            <a:off x="8885831" y="3380575"/>
            <a:ext cx="2500630" cy="231920"/>
          </a:xfrm>
          <a:prstGeom prst="round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10" name="Picture 9">
            <a:extLst>
              <a:ext uri="{FF2B5EF4-FFF2-40B4-BE49-F238E27FC236}">
                <a16:creationId xmlns:a16="http://schemas.microsoft.com/office/drawing/2014/main" id="{4D37F5BA-FB99-1F94-BA43-BBE550260AFC}"/>
              </a:ext>
            </a:extLst>
          </p:cNvPr>
          <p:cNvPicPr>
            <a:picLocks noChangeAspect="1"/>
          </p:cNvPicPr>
          <p:nvPr/>
        </p:nvPicPr>
        <p:blipFill rotWithShape="1">
          <a:blip r:embed="rId4"/>
          <a:srcRect l="4115" t="8856" r="11739" b="23902"/>
          <a:stretch/>
        </p:blipFill>
        <p:spPr>
          <a:xfrm>
            <a:off x="-1" y="3863397"/>
            <a:ext cx="6626009" cy="2978353"/>
          </a:xfrm>
          <a:prstGeom prst="rect">
            <a:avLst/>
          </a:prstGeom>
        </p:spPr>
      </p:pic>
    </p:spTree>
    <p:extLst>
      <p:ext uri="{BB962C8B-B14F-4D97-AF65-F5344CB8AC3E}">
        <p14:creationId xmlns:p14="http://schemas.microsoft.com/office/powerpoint/2010/main" val="140716750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3AEDF7CD-4B6B-041F-7811-78E1F4209310}"/>
              </a:ext>
            </a:extLst>
          </p:cNvPr>
          <p:cNvSpPr txBox="1"/>
          <p:nvPr/>
        </p:nvSpPr>
        <p:spPr>
          <a:xfrm>
            <a:off x="94592" y="0"/>
            <a:ext cx="12097407" cy="671851"/>
          </a:xfrm>
          <a:prstGeom prst="rect">
            <a:avLst/>
          </a:prstGeom>
          <a:noFill/>
        </p:spPr>
        <p:txBody>
          <a:bodyPr wrap="square" rtlCol="0">
            <a:spAutoFit/>
          </a:bodyPr>
          <a:lstStyle/>
          <a:p>
            <a:pPr>
              <a:lnSpc>
                <a:spcPct val="150000"/>
              </a:lnSpc>
            </a:pPr>
            <a:r>
              <a:rPr lang="en-US" sz="2800" b="1" dirty="0">
                <a:latin typeface="Calibri" panose="020F0502020204030204" pitchFamily="34" charset="0"/>
                <a:cs typeface="Calibri" panose="020F0502020204030204" pitchFamily="34" charset="0"/>
              </a:rPr>
              <a:t>Project 1: Creating a Template with a Semantic Wireframe </a:t>
            </a:r>
            <a:endParaRPr lang="en-US" sz="2400" b="1" dirty="0">
              <a:latin typeface="Calibri" panose="020F0502020204030204" pitchFamily="34" charset="0"/>
              <a:cs typeface="Calibri" panose="020F0502020204030204" pitchFamily="34" charset="0"/>
            </a:endParaRPr>
          </a:p>
        </p:txBody>
      </p:sp>
      <p:sp>
        <p:nvSpPr>
          <p:cNvPr id="2" name="TextBox 1">
            <a:extLst>
              <a:ext uri="{FF2B5EF4-FFF2-40B4-BE49-F238E27FC236}">
                <a16:creationId xmlns:a16="http://schemas.microsoft.com/office/drawing/2014/main" id="{18349BDC-9EE4-BA76-6AEE-12635CB3C429}"/>
              </a:ext>
            </a:extLst>
          </p:cNvPr>
          <p:cNvSpPr txBox="1"/>
          <p:nvPr/>
        </p:nvSpPr>
        <p:spPr>
          <a:xfrm>
            <a:off x="94592" y="630429"/>
            <a:ext cx="4473419" cy="2579039"/>
          </a:xfrm>
          <a:prstGeom prst="rect">
            <a:avLst/>
          </a:prstGeom>
          <a:noFill/>
        </p:spPr>
        <p:txBody>
          <a:bodyPr wrap="square" rtlCol="0">
            <a:spAutoFit/>
          </a:bodyPr>
          <a:lstStyle/>
          <a:p>
            <a:pPr>
              <a:lnSpc>
                <a:spcPct val="150000"/>
              </a:lnSpc>
            </a:pPr>
            <a:r>
              <a:rPr lang="en-US" sz="2200" dirty="0">
                <a:latin typeface="Calibri" panose="020F0502020204030204" pitchFamily="34" charset="0"/>
                <a:cs typeface="Calibri" panose="020F0502020204030204" pitchFamily="34" charset="0"/>
              </a:rPr>
              <a:t>For step 5, you would copy the addresses of the websites you used to research the title element and paste them into the table provided in the Word document.</a:t>
            </a:r>
            <a:endParaRPr lang="en-AU" sz="2200" dirty="0">
              <a:latin typeface="Calibri" panose="020F0502020204030204" pitchFamily="34" charset="0"/>
              <a:cs typeface="Calibri" panose="020F0502020204030204" pitchFamily="34" charset="0"/>
            </a:endParaRPr>
          </a:p>
        </p:txBody>
      </p:sp>
      <p:pic>
        <p:nvPicPr>
          <p:cNvPr id="4" name="Picture 3">
            <a:extLst>
              <a:ext uri="{FF2B5EF4-FFF2-40B4-BE49-F238E27FC236}">
                <a16:creationId xmlns:a16="http://schemas.microsoft.com/office/drawing/2014/main" id="{2230E487-54AB-19D7-477A-CC0BBF8880F9}"/>
              </a:ext>
            </a:extLst>
          </p:cNvPr>
          <p:cNvPicPr>
            <a:picLocks noChangeAspect="1"/>
          </p:cNvPicPr>
          <p:nvPr/>
        </p:nvPicPr>
        <p:blipFill rotWithShape="1">
          <a:blip r:embed="rId2"/>
          <a:srcRect l="25427" t="39600" r="25427" b="40080"/>
          <a:stretch/>
        </p:blipFill>
        <p:spPr>
          <a:xfrm>
            <a:off x="4568012" y="1242762"/>
            <a:ext cx="7623988" cy="1773044"/>
          </a:xfrm>
          <a:prstGeom prst="rect">
            <a:avLst/>
          </a:prstGeom>
        </p:spPr>
      </p:pic>
      <p:sp>
        <p:nvSpPr>
          <p:cNvPr id="8" name="Rectangle: Rounded Corners 7">
            <a:extLst>
              <a:ext uri="{FF2B5EF4-FFF2-40B4-BE49-F238E27FC236}">
                <a16:creationId xmlns:a16="http://schemas.microsoft.com/office/drawing/2014/main" id="{BBF5C442-33B5-4C65-0A04-4797FD390060}"/>
              </a:ext>
            </a:extLst>
          </p:cNvPr>
          <p:cNvSpPr/>
          <p:nvPr/>
        </p:nvSpPr>
        <p:spPr>
          <a:xfrm>
            <a:off x="5839470" y="2376719"/>
            <a:ext cx="6136938" cy="229961"/>
          </a:xfrm>
          <a:prstGeom prst="round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Tree>
    <p:extLst>
      <p:ext uri="{BB962C8B-B14F-4D97-AF65-F5344CB8AC3E}">
        <p14:creationId xmlns:p14="http://schemas.microsoft.com/office/powerpoint/2010/main" val="72561607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3AEDF7CD-4B6B-041F-7811-78E1F4209310}"/>
              </a:ext>
            </a:extLst>
          </p:cNvPr>
          <p:cNvSpPr txBox="1"/>
          <p:nvPr/>
        </p:nvSpPr>
        <p:spPr>
          <a:xfrm>
            <a:off x="94592" y="0"/>
            <a:ext cx="12097407" cy="671851"/>
          </a:xfrm>
          <a:prstGeom prst="rect">
            <a:avLst/>
          </a:prstGeom>
          <a:noFill/>
        </p:spPr>
        <p:txBody>
          <a:bodyPr wrap="square" rtlCol="0">
            <a:spAutoFit/>
          </a:bodyPr>
          <a:lstStyle/>
          <a:p>
            <a:pPr>
              <a:lnSpc>
                <a:spcPct val="150000"/>
              </a:lnSpc>
            </a:pPr>
            <a:r>
              <a:rPr lang="en-US" sz="2800" b="1" dirty="0">
                <a:latin typeface="Calibri" panose="020F0502020204030204" pitchFamily="34" charset="0"/>
                <a:cs typeface="Calibri" panose="020F0502020204030204" pitchFamily="34" charset="0"/>
              </a:rPr>
              <a:t>Project 1: Creating a Template with a Semantic Wireframe </a:t>
            </a:r>
            <a:endParaRPr lang="en-US" sz="2400" b="1" dirty="0">
              <a:latin typeface="Calibri" panose="020F0502020204030204" pitchFamily="34" charset="0"/>
              <a:cs typeface="Calibri" panose="020F0502020204030204" pitchFamily="34" charset="0"/>
            </a:endParaRPr>
          </a:p>
        </p:txBody>
      </p:sp>
      <p:sp>
        <p:nvSpPr>
          <p:cNvPr id="7" name="TextBox 6">
            <a:extLst>
              <a:ext uri="{FF2B5EF4-FFF2-40B4-BE49-F238E27FC236}">
                <a16:creationId xmlns:a16="http://schemas.microsoft.com/office/drawing/2014/main" id="{A03E890B-70FB-DB54-010E-DADA50350492}"/>
              </a:ext>
            </a:extLst>
          </p:cNvPr>
          <p:cNvSpPr txBox="1"/>
          <p:nvPr/>
        </p:nvSpPr>
        <p:spPr>
          <a:xfrm>
            <a:off x="94592" y="548375"/>
            <a:ext cx="5142978" cy="2579039"/>
          </a:xfrm>
          <a:prstGeom prst="rect">
            <a:avLst/>
          </a:prstGeom>
          <a:noFill/>
        </p:spPr>
        <p:txBody>
          <a:bodyPr wrap="square" rtlCol="0">
            <a:spAutoFit/>
          </a:bodyPr>
          <a:lstStyle/>
          <a:p>
            <a:pPr>
              <a:lnSpc>
                <a:spcPct val="150000"/>
              </a:lnSpc>
            </a:pPr>
            <a:r>
              <a:rPr lang="en-US" sz="2200" dirty="0">
                <a:latin typeface="Calibri" panose="020F0502020204030204" pitchFamily="34" charset="0"/>
                <a:cs typeface="Calibri" panose="020F0502020204030204" pitchFamily="34" charset="0"/>
              </a:rPr>
              <a:t>For steps 9 and 10, we'll need to validate our HTML using the W3C validator and conduct further research on semantic HTML. Here are the answers for steps 10a-d:</a:t>
            </a:r>
            <a:endParaRPr lang="en-AU" sz="2200" dirty="0">
              <a:latin typeface="Calibri" panose="020F0502020204030204" pitchFamily="34" charset="0"/>
              <a:cs typeface="Calibri" panose="020F0502020204030204" pitchFamily="34" charset="0"/>
            </a:endParaRPr>
          </a:p>
        </p:txBody>
      </p:sp>
      <p:pic>
        <p:nvPicPr>
          <p:cNvPr id="11" name="Picture 10">
            <a:extLst>
              <a:ext uri="{FF2B5EF4-FFF2-40B4-BE49-F238E27FC236}">
                <a16:creationId xmlns:a16="http://schemas.microsoft.com/office/drawing/2014/main" id="{99194CF7-017F-4F4B-6FFF-053F9AA39B5C}"/>
              </a:ext>
            </a:extLst>
          </p:cNvPr>
          <p:cNvPicPr>
            <a:picLocks noChangeAspect="1"/>
          </p:cNvPicPr>
          <p:nvPr/>
        </p:nvPicPr>
        <p:blipFill rotWithShape="1">
          <a:blip r:embed="rId2"/>
          <a:srcRect r="28842" b="18861"/>
          <a:stretch/>
        </p:blipFill>
        <p:spPr>
          <a:xfrm>
            <a:off x="6143295" y="1466385"/>
            <a:ext cx="6119895" cy="3925229"/>
          </a:xfrm>
          <a:prstGeom prst="rect">
            <a:avLst/>
          </a:prstGeom>
        </p:spPr>
      </p:pic>
      <p:sp>
        <p:nvSpPr>
          <p:cNvPr id="9" name="TextBox 8">
            <a:extLst>
              <a:ext uri="{FF2B5EF4-FFF2-40B4-BE49-F238E27FC236}">
                <a16:creationId xmlns:a16="http://schemas.microsoft.com/office/drawing/2014/main" id="{F7482D57-F12D-A266-A360-FBE764D5917A}"/>
              </a:ext>
            </a:extLst>
          </p:cNvPr>
          <p:cNvSpPr txBox="1"/>
          <p:nvPr/>
        </p:nvSpPr>
        <p:spPr>
          <a:xfrm>
            <a:off x="94592" y="3127414"/>
            <a:ext cx="6205847" cy="3594702"/>
          </a:xfrm>
          <a:prstGeom prst="rect">
            <a:avLst/>
          </a:prstGeom>
          <a:noFill/>
        </p:spPr>
        <p:txBody>
          <a:bodyPr wrap="square" rtlCol="0">
            <a:spAutoFit/>
          </a:bodyPr>
          <a:lstStyle/>
          <a:p>
            <a:pPr>
              <a:lnSpc>
                <a:spcPct val="150000"/>
              </a:lnSpc>
            </a:pPr>
            <a:r>
              <a:rPr lang="en-US" sz="2200" b="1" dirty="0">
                <a:latin typeface="Calibri" panose="020F0502020204030204" pitchFamily="34" charset="0"/>
                <a:cs typeface="Calibri" panose="020F0502020204030204" pitchFamily="34" charset="0"/>
              </a:rPr>
              <a:t>a. Semantic HTML: </a:t>
            </a:r>
            <a:r>
              <a:rPr lang="en-US" sz="2200" dirty="0">
                <a:latin typeface="Calibri" panose="020F0502020204030204" pitchFamily="34" charset="0"/>
                <a:cs typeface="Calibri" panose="020F0502020204030204" pitchFamily="34" charset="0"/>
              </a:rPr>
              <a:t>Semantic HTML or semantic markup is HTML that introduces meaning to the web page rather than just presentation. For example, a </a:t>
            </a:r>
            <a:r>
              <a:rPr lang="en-US" sz="2200" b="1" dirty="0">
                <a:latin typeface="Calibri" panose="020F0502020204030204" pitchFamily="34" charset="0"/>
                <a:cs typeface="Calibri" panose="020F0502020204030204" pitchFamily="34" charset="0"/>
              </a:rPr>
              <a:t>&lt;p&gt; </a:t>
            </a:r>
            <a:r>
              <a:rPr lang="en-US" sz="2200" dirty="0">
                <a:latin typeface="Calibri" panose="020F0502020204030204" pitchFamily="34" charset="0"/>
                <a:cs typeface="Calibri" panose="020F0502020204030204" pitchFamily="34" charset="0"/>
              </a:rPr>
              <a:t>tag indicates that the enclosed text is a paragraph. This is both semantic and presentational because people know what paragraphs are, and browsers know how to display them.</a:t>
            </a:r>
            <a:endParaRPr lang="en-AU" sz="22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04058412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A03E890B-70FB-DB54-010E-DADA50350492}"/>
              </a:ext>
            </a:extLst>
          </p:cNvPr>
          <p:cNvSpPr txBox="1"/>
          <p:nvPr/>
        </p:nvSpPr>
        <p:spPr>
          <a:xfrm>
            <a:off x="94592" y="849961"/>
            <a:ext cx="6001408" cy="2579039"/>
          </a:xfrm>
          <a:prstGeom prst="rect">
            <a:avLst/>
          </a:prstGeom>
          <a:noFill/>
        </p:spPr>
        <p:txBody>
          <a:bodyPr wrap="square" rtlCol="0">
            <a:spAutoFit/>
          </a:bodyPr>
          <a:lstStyle/>
          <a:p>
            <a:pPr>
              <a:lnSpc>
                <a:spcPct val="150000"/>
              </a:lnSpc>
            </a:pPr>
            <a:r>
              <a:rPr lang="en-US" sz="2200" b="1" dirty="0">
                <a:latin typeface="Calibri" panose="020F0502020204030204" pitchFamily="34" charset="0"/>
                <a:cs typeface="Calibri" panose="020F0502020204030204" pitchFamily="34" charset="0"/>
              </a:rPr>
              <a:t>b. Benefits of Semantic HTML: </a:t>
            </a:r>
            <a:r>
              <a:rPr lang="en-US" sz="2200" dirty="0">
                <a:latin typeface="Calibri" panose="020F0502020204030204" pitchFamily="34" charset="0"/>
                <a:cs typeface="Calibri" panose="020F0502020204030204" pitchFamily="34" charset="0"/>
              </a:rPr>
              <a:t>Semantic HTML leads to better accessibility, greater visibility to search engines, more flexible and maintainable code, and it can also aid in the development of better user interfaces.</a:t>
            </a:r>
            <a:endParaRPr lang="en-AU" sz="2200" dirty="0">
              <a:latin typeface="Calibri" panose="020F0502020204030204" pitchFamily="34" charset="0"/>
              <a:cs typeface="Calibri" panose="020F0502020204030204" pitchFamily="34" charset="0"/>
            </a:endParaRPr>
          </a:p>
        </p:txBody>
      </p:sp>
      <p:pic>
        <p:nvPicPr>
          <p:cNvPr id="11" name="Picture 10">
            <a:extLst>
              <a:ext uri="{FF2B5EF4-FFF2-40B4-BE49-F238E27FC236}">
                <a16:creationId xmlns:a16="http://schemas.microsoft.com/office/drawing/2014/main" id="{99194CF7-017F-4F4B-6FFF-053F9AA39B5C}"/>
              </a:ext>
            </a:extLst>
          </p:cNvPr>
          <p:cNvPicPr>
            <a:picLocks noChangeAspect="1"/>
          </p:cNvPicPr>
          <p:nvPr/>
        </p:nvPicPr>
        <p:blipFill rotWithShape="1">
          <a:blip r:embed="rId2"/>
          <a:srcRect r="28842" b="18861"/>
          <a:stretch/>
        </p:blipFill>
        <p:spPr>
          <a:xfrm>
            <a:off x="6072105" y="1857089"/>
            <a:ext cx="6119895" cy="3925229"/>
          </a:xfrm>
          <a:prstGeom prst="rect">
            <a:avLst/>
          </a:prstGeom>
        </p:spPr>
      </p:pic>
      <p:sp>
        <p:nvSpPr>
          <p:cNvPr id="2" name="TextBox 1">
            <a:extLst>
              <a:ext uri="{FF2B5EF4-FFF2-40B4-BE49-F238E27FC236}">
                <a16:creationId xmlns:a16="http://schemas.microsoft.com/office/drawing/2014/main" id="{73C390C6-C568-39DE-A8A5-4B32F6B6F279}"/>
              </a:ext>
            </a:extLst>
          </p:cNvPr>
          <p:cNvSpPr txBox="1"/>
          <p:nvPr/>
        </p:nvSpPr>
        <p:spPr>
          <a:xfrm>
            <a:off x="70697" y="3598508"/>
            <a:ext cx="6001408" cy="2579039"/>
          </a:xfrm>
          <a:prstGeom prst="rect">
            <a:avLst/>
          </a:prstGeom>
          <a:noFill/>
        </p:spPr>
        <p:txBody>
          <a:bodyPr wrap="square" rtlCol="0">
            <a:spAutoFit/>
          </a:bodyPr>
          <a:lstStyle/>
          <a:p>
            <a:pPr>
              <a:lnSpc>
                <a:spcPct val="150000"/>
              </a:lnSpc>
            </a:pPr>
            <a:r>
              <a:rPr lang="en-US" sz="2200" b="1" dirty="0">
                <a:latin typeface="Calibri" panose="020F0502020204030204" pitchFamily="34" charset="0"/>
                <a:cs typeface="Calibri" panose="020F0502020204030204" pitchFamily="34" charset="0"/>
              </a:rPr>
              <a:t>c. New HTML5 Semantic Elements: </a:t>
            </a:r>
            <a:r>
              <a:rPr lang="en-US" sz="2200" dirty="0">
                <a:latin typeface="Calibri" panose="020F0502020204030204" pitchFamily="34" charset="0"/>
                <a:cs typeface="Calibri" panose="020F0502020204030204" pitchFamily="34" charset="0"/>
              </a:rPr>
              <a:t>Some of the new HTML5 semantic elements include</a:t>
            </a:r>
            <a:r>
              <a:rPr lang="en-US" sz="2200" b="1" dirty="0">
                <a:latin typeface="Calibri" panose="020F0502020204030204" pitchFamily="34" charset="0"/>
                <a:cs typeface="Calibri" panose="020F0502020204030204" pitchFamily="34" charset="0"/>
              </a:rPr>
              <a:t> &lt;article&gt;, &lt;aside&gt;, &lt;details&gt;, &lt;</a:t>
            </a:r>
            <a:r>
              <a:rPr lang="en-US" sz="2200" b="1" dirty="0" err="1">
                <a:latin typeface="Calibri" panose="020F0502020204030204" pitchFamily="34" charset="0"/>
                <a:cs typeface="Calibri" panose="020F0502020204030204" pitchFamily="34" charset="0"/>
              </a:rPr>
              <a:t>figcaption</a:t>
            </a:r>
            <a:r>
              <a:rPr lang="en-US" sz="2200" b="1" dirty="0">
                <a:latin typeface="Calibri" panose="020F0502020204030204" pitchFamily="34" charset="0"/>
                <a:cs typeface="Calibri" panose="020F0502020204030204" pitchFamily="34" charset="0"/>
              </a:rPr>
              <a:t>&gt;, &lt;figure&gt;, &lt;footer&gt;, &lt;header&gt;, &lt;main&gt;, &lt;mark&gt;, &lt;nav&gt;, &lt;section&gt;, &lt;summary&gt;, and &lt;time&gt;.</a:t>
            </a:r>
            <a:endParaRPr lang="en-AU" sz="2200" dirty="0">
              <a:latin typeface="Calibri" panose="020F0502020204030204" pitchFamily="34" charset="0"/>
              <a:cs typeface="Calibri" panose="020F0502020204030204" pitchFamily="34" charset="0"/>
            </a:endParaRPr>
          </a:p>
        </p:txBody>
      </p:sp>
      <p:sp>
        <p:nvSpPr>
          <p:cNvPr id="4" name="TextBox 3">
            <a:extLst>
              <a:ext uri="{FF2B5EF4-FFF2-40B4-BE49-F238E27FC236}">
                <a16:creationId xmlns:a16="http://schemas.microsoft.com/office/drawing/2014/main" id="{3F9757F5-9CA9-E2E3-01E2-A140048E1E04}"/>
              </a:ext>
            </a:extLst>
          </p:cNvPr>
          <p:cNvSpPr txBox="1"/>
          <p:nvPr/>
        </p:nvSpPr>
        <p:spPr>
          <a:xfrm>
            <a:off x="-22036" y="8602"/>
            <a:ext cx="12214035" cy="671851"/>
          </a:xfrm>
          <a:prstGeom prst="rect">
            <a:avLst/>
          </a:prstGeom>
          <a:noFill/>
        </p:spPr>
        <p:txBody>
          <a:bodyPr wrap="square">
            <a:spAutoFit/>
          </a:bodyPr>
          <a:lstStyle/>
          <a:p>
            <a:pPr>
              <a:lnSpc>
                <a:spcPct val="150000"/>
              </a:lnSpc>
            </a:pPr>
            <a:r>
              <a:rPr lang="en-US" sz="2800" b="1" dirty="0">
                <a:latin typeface="Calibri" panose="020F0502020204030204" pitchFamily="34" charset="0"/>
                <a:cs typeface="Calibri" panose="020F0502020204030204" pitchFamily="34" charset="0"/>
              </a:rPr>
              <a:t>Project 1: Creating a Template with a Semantic Wireframe </a:t>
            </a:r>
            <a:endParaRPr lang="en-US" sz="2200" b="1"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436385822"/>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3AEDF7CD-4B6B-041F-7811-78E1F4209310}"/>
              </a:ext>
            </a:extLst>
          </p:cNvPr>
          <p:cNvSpPr txBox="1"/>
          <p:nvPr/>
        </p:nvSpPr>
        <p:spPr>
          <a:xfrm>
            <a:off x="94592" y="0"/>
            <a:ext cx="12097407" cy="671851"/>
          </a:xfrm>
          <a:prstGeom prst="rect">
            <a:avLst/>
          </a:prstGeom>
          <a:noFill/>
        </p:spPr>
        <p:txBody>
          <a:bodyPr wrap="square" rtlCol="0">
            <a:spAutoFit/>
          </a:bodyPr>
          <a:lstStyle/>
          <a:p>
            <a:pPr>
              <a:lnSpc>
                <a:spcPct val="150000"/>
              </a:lnSpc>
            </a:pPr>
            <a:r>
              <a:rPr lang="en-US" sz="2800" b="1" dirty="0">
                <a:latin typeface="Calibri" panose="020F0502020204030204" pitchFamily="34" charset="0"/>
                <a:cs typeface="Calibri" panose="020F0502020204030204" pitchFamily="34" charset="0"/>
              </a:rPr>
              <a:t>Project 1: Creating a Template with a Semantic Wireframe </a:t>
            </a:r>
            <a:endParaRPr lang="en-US" sz="2400" b="1" dirty="0">
              <a:latin typeface="Calibri" panose="020F0502020204030204" pitchFamily="34" charset="0"/>
              <a:cs typeface="Calibri" panose="020F0502020204030204" pitchFamily="34" charset="0"/>
            </a:endParaRPr>
          </a:p>
        </p:txBody>
      </p:sp>
      <p:pic>
        <p:nvPicPr>
          <p:cNvPr id="11" name="Picture 10">
            <a:extLst>
              <a:ext uri="{FF2B5EF4-FFF2-40B4-BE49-F238E27FC236}">
                <a16:creationId xmlns:a16="http://schemas.microsoft.com/office/drawing/2014/main" id="{99194CF7-017F-4F4B-6FFF-053F9AA39B5C}"/>
              </a:ext>
            </a:extLst>
          </p:cNvPr>
          <p:cNvPicPr>
            <a:picLocks noChangeAspect="1"/>
          </p:cNvPicPr>
          <p:nvPr/>
        </p:nvPicPr>
        <p:blipFill rotWithShape="1">
          <a:blip r:embed="rId2"/>
          <a:srcRect r="28842" b="18861"/>
          <a:stretch/>
        </p:blipFill>
        <p:spPr>
          <a:xfrm>
            <a:off x="6072104" y="1230431"/>
            <a:ext cx="6119895" cy="3925229"/>
          </a:xfrm>
          <a:prstGeom prst="rect">
            <a:avLst/>
          </a:prstGeom>
        </p:spPr>
      </p:pic>
      <p:sp>
        <p:nvSpPr>
          <p:cNvPr id="3" name="TextBox 2">
            <a:extLst>
              <a:ext uri="{FF2B5EF4-FFF2-40B4-BE49-F238E27FC236}">
                <a16:creationId xmlns:a16="http://schemas.microsoft.com/office/drawing/2014/main" id="{A03E890B-70FB-DB54-010E-DADA50350492}"/>
              </a:ext>
            </a:extLst>
          </p:cNvPr>
          <p:cNvSpPr txBox="1"/>
          <p:nvPr/>
        </p:nvSpPr>
        <p:spPr>
          <a:xfrm>
            <a:off x="94592" y="615986"/>
            <a:ext cx="6001408" cy="5118196"/>
          </a:xfrm>
          <a:prstGeom prst="rect">
            <a:avLst/>
          </a:prstGeom>
          <a:noFill/>
        </p:spPr>
        <p:txBody>
          <a:bodyPr wrap="square" rtlCol="0">
            <a:spAutoFit/>
          </a:bodyPr>
          <a:lstStyle/>
          <a:p>
            <a:pPr>
              <a:lnSpc>
                <a:spcPct val="150000"/>
              </a:lnSpc>
            </a:pPr>
            <a:r>
              <a:rPr lang="en-US" sz="2200" b="1" dirty="0">
                <a:latin typeface="Calibri" panose="020F0502020204030204" pitchFamily="34" charset="0"/>
                <a:cs typeface="Calibri" panose="020F0502020204030204" pitchFamily="34" charset="0"/>
              </a:rPr>
              <a:t>d. &lt;main&gt; vs. &lt;div id="main"&gt;:</a:t>
            </a:r>
          </a:p>
          <a:p>
            <a:pPr marL="800100" lvl="1" indent="-342900">
              <a:lnSpc>
                <a:spcPct val="150000"/>
              </a:lnSpc>
              <a:buFont typeface="Arial" panose="020B0604020202020204" pitchFamily="34" charset="0"/>
              <a:buChar char="•"/>
            </a:pPr>
            <a:r>
              <a:rPr lang="en-US" sz="2200" dirty="0">
                <a:latin typeface="Calibri" panose="020F0502020204030204" pitchFamily="34" charset="0"/>
                <a:cs typeface="Calibri" panose="020F0502020204030204" pitchFamily="34" charset="0"/>
              </a:rPr>
              <a:t>Primary advantage: The </a:t>
            </a:r>
            <a:r>
              <a:rPr lang="en-US" sz="2200" b="1" dirty="0">
                <a:latin typeface="Calibri" panose="020F0502020204030204" pitchFamily="34" charset="0"/>
                <a:cs typeface="Calibri" panose="020F0502020204030204" pitchFamily="34" charset="0"/>
              </a:rPr>
              <a:t>&lt;main&gt;</a:t>
            </a:r>
            <a:r>
              <a:rPr lang="en-US" sz="2200" dirty="0">
                <a:latin typeface="Calibri" panose="020F0502020204030204" pitchFamily="34" charset="0"/>
                <a:cs typeface="Calibri" panose="020F0502020204030204" pitchFamily="34" charset="0"/>
              </a:rPr>
              <a:t> element is more semantically meaningful than </a:t>
            </a:r>
            <a:r>
              <a:rPr lang="en-US" sz="2200" b="1" dirty="0">
                <a:latin typeface="Calibri" panose="020F0502020204030204" pitchFamily="34" charset="0"/>
                <a:cs typeface="Calibri" panose="020F0502020204030204" pitchFamily="34" charset="0"/>
              </a:rPr>
              <a:t>&lt;div&gt;</a:t>
            </a:r>
            <a:r>
              <a:rPr lang="en-US" sz="2200" dirty="0">
                <a:latin typeface="Calibri" panose="020F0502020204030204" pitchFamily="34" charset="0"/>
                <a:cs typeface="Calibri" panose="020F0502020204030204" pitchFamily="34" charset="0"/>
              </a:rPr>
              <a:t>. It conveys to the browser, developers, and assistive technologies that this is the main content area of the page.</a:t>
            </a:r>
          </a:p>
          <a:p>
            <a:pPr marL="800100" lvl="1" indent="-342900">
              <a:lnSpc>
                <a:spcPct val="150000"/>
              </a:lnSpc>
              <a:buFont typeface="Arial" panose="020B0604020202020204" pitchFamily="34" charset="0"/>
              <a:buChar char="•"/>
            </a:pPr>
            <a:r>
              <a:rPr lang="en-US" sz="2200" dirty="0">
                <a:latin typeface="Calibri" panose="020F0502020204030204" pitchFamily="34" charset="0"/>
                <a:cs typeface="Calibri" panose="020F0502020204030204" pitchFamily="34" charset="0"/>
              </a:rPr>
              <a:t>Primary disadvantage: The </a:t>
            </a:r>
            <a:r>
              <a:rPr lang="en-US" sz="2200" b="1" dirty="0">
                <a:latin typeface="Calibri" panose="020F0502020204030204" pitchFamily="34" charset="0"/>
                <a:cs typeface="Calibri" panose="020F0502020204030204" pitchFamily="34" charset="0"/>
              </a:rPr>
              <a:t>&lt;main&gt;</a:t>
            </a:r>
            <a:r>
              <a:rPr lang="en-US" sz="2200" dirty="0">
                <a:latin typeface="Calibri" panose="020F0502020204030204" pitchFamily="34" charset="0"/>
                <a:cs typeface="Calibri" panose="020F0502020204030204" pitchFamily="34" charset="0"/>
              </a:rPr>
              <a:t> element is not supported in Internet Explorer 11 and older versions, whereas a </a:t>
            </a:r>
            <a:r>
              <a:rPr lang="en-US" sz="2200" b="1" dirty="0">
                <a:latin typeface="Calibri" panose="020F0502020204030204" pitchFamily="34" charset="0"/>
                <a:cs typeface="Calibri" panose="020F0502020204030204" pitchFamily="34" charset="0"/>
              </a:rPr>
              <a:t>&lt;div&gt; </a:t>
            </a:r>
            <a:r>
              <a:rPr lang="en-US" sz="2200" dirty="0">
                <a:latin typeface="Calibri" panose="020F0502020204030204" pitchFamily="34" charset="0"/>
                <a:cs typeface="Calibri" panose="020F0502020204030204" pitchFamily="34" charset="0"/>
              </a:rPr>
              <a:t>with an ID is supported across all browsers.</a:t>
            </a:r>
            <a:endParaRPr lang="en-AU" sz="2200" dirty="0">
              <a:latin typeface="Calibri" panose="020F0502020204030204" pitchFamily="34" charset="0"/>
              <a:cs typeface="Calibri" panose="020F0502020204030204" pitchFamily="34" charset="0"/>
            </a:endParaRPr>
          </a:p>
        </p:txBody>
      </p:sp>
      <p:sp>
        <p:nvSpPr>
          <p:cNvPr id="4" name="TextBox 3">
            <a:extLst>
              <a:ext uri="{FF2B5EF4-FFF2-40B4-BE49-F238E27FC236}">
                <a16:creationId xmlns:a16="http://schemas.microsoft.com/office/drawing/2014/main" id="{6959FB3E-7438-5975-0760-F202D288759C}"/>
              </a:ext>
            </a:extLst>
          </p:cNvPr>
          <p:cNvSpPr txBox="1"/>
          <p:nvPr/>
        </p:nvSpPr>
        <p:spPr>
          <a:xfrm>
            <a:off x="94592" y="5714241"/>
            <a:ext cx="11764536" cy="1055545"/>
          </a:xfrm>
          <a:prstGeom prst="rect">
            <a:avLst/>
          </a:prstGeom>
          <a:noFill/>
        </p:spPr>
        <p:txBody>
          <a:bodyPr wrap="square" rtlCol="0">
            <a:spAutoFit/>
          </a:bodyPr>
          <a:lstStyle/>
          <a:p>
            <a:pPr>
              <a:lnSpc>
                <a:spcPct val="150000"/>
              </a:lnSpc>
            </a:pPr>
            <a:r>
              <a:rPr lang="en-US" sz="2200" dirty="0">
                <a:latin typeface="Calibri" panose="020F0502020204030204" pitchFamily="34" charset="0"/>
                <a:cs typeface="Calibri" panose="020F0502020204030204" pitchFamily="34" charset="0"/>
              </a:rPr>
              <a:t>Remember to cite the websites where you found these answers in your apply02.docx document, as per project instructions.</a:t>
            </a:r>
            <a:endParaRPr lang="en-AU" sz="22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74368856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8F8700D-6F45-98EA-C292-D33F106DEF45}"/>
              </a:ext>
            </a:extLst>
          </p:cNvPr>
          <p:cNvSpPr txBox="1"/>
          <p:nvPr/>
        </p:nvSpPr>
        <p:spPr>
          <a:xfrm>
            <a:off x="94592" y="0"/>
            <a:ext cx="12097407" cy="671851"/>
          </a:xfrm>
          <a:prstGeom prst="rect">
            <a:avLst/>
          </a:prstGeom>
          <a:noFill/>
        </p:spPr>
        <p:txBody>
          <a:bodyPr wrap="square" rtlCol="0">
            <a:spAutoFit/>
          </a:bodyPr>
          <a:lstStyle/>
          <a:p>
            <a:pPr>
              <a:lnSpc>
                <a:spcPct val="150000"/>
              </a:lnSpc>
            </a:pPr>
            <a:r>
              <a:rPr lang="en-US" sz="2800" b="1" dirty="0">
                <a:latin typeface="Calibri" panose="020F0502020204030204" pitchFamily="34" charset="0"/>
                <a:cs typeface="Calibri" panose="020F0502020204030204" pitchFamily="34" charset="0"/>
              </a:rPr>
              <a:t>Project 1: Creating a Template with a Semantic Wireframe </a:t>
            </a:r>
            <a:endParaRPr lang="en-US" sz="2400" b="1" dirty="0">
              <a:latin typeface="Calibri" panose="020F0502020204030204" pitchFamily="34" charset="0"/>
              <a:cs typeface="Calibri" panose="020F0502020204030204" pitchFamily="34" charset="0"/>
            </a:endParaRPr>
          </a:p>
        </p:txBody>
      </p:sp>
      <p:pic>
        <p:nvPicPr>
          <p:cNvPr id="8" name="Picture 7">
            <a:extLst>
              <a:ext uri="{FF2B5EF4-FFF2-40B4-BE49-F238E27FC236}">
                <a16:creationId xmlns:a16="http://schemas.microsoft.com/office/drawing/2014/main" id="{81FE7059-DC11-3A3D-F3BE-DC07C68EBB90}"/>
              </a:ext>
            </a:extLst>
          </p:cNvPr>
          <p:cNvPicPr>
            <a:picLocks noChangeAspect="1"/>
          </p:cNvPicPr>
          <p:nvPr/>
        </p:nvPicPr>
        <p:blipFill rotWithShape="1">
          <a:blip r:embed="rId2"/>
          <a:srcRect l="3018" r="4970" b="6666"/>
          <a:stretch/>
        </p:blipFill>
        <p:spPr>
          <a:xfrm>
            <a:off x="750777" y="630429"/>
            <a:ext cx="10690445" cy="6099717"/>
          </a:xfrm>
          <a:prstGeom prst="rect">
            <a:avLst/>
          </a:prstGeom>
        </p:spPr>
      </p:pic>
    </p:spTree>
    <p:extLst>
      <p:ext uri="{BB962C8B-B14F-4D97-AF65-F5344CB8AC3E}">
        <p14:creationId xmlns:p14="http://schemas.microsoft.com/office/powerpoint/2010/main" val="329063146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E4EC6AB-77CA-374D-0DDE-1463CB17A546}"/>
              </a:ext>
            </a:extLst>
          </p:cNvPr>
          <p:cNvSpPr txBox="1"/>
          <p:nvPr/>
        </p:nvSpPr>
        <p:spPr>
          <a:xfrm>
            <a:off x="-1" y="1225043"/>
            <a:ext cx="12192000" cy="4102533"/>
          </a:xfrm>
          <a:prstGeom prst="rect">
            <a:avLst/>
          </a:prstGeom>
          <a:noFill/>
        </p:spPr>
        <p:txBody>
          <a:bodyPr wrap="square" rtlCol="0">
            <a:spAutoFit/>
          </a:bodyPr>
          <a:lstStyle/>
          <a:p>
            <a:pPr>
              <a:lnSpc>
                <a:spcPct val="150000"/>
              </a:lnSpc>
            </a:pPr>
            <a:r>
              <a:rPr lang="en-US" sz="2200" b="1" dirty="0">
                <a:latin typeface="Calibri" panose="020F0502020204030204" pitchFamily="34" charset="0"/>
                <a:cs typeface="Calibri" panose="020F0502020204030204" pitchFamily="34" charset="0"/>
              </a:rPr>
              <a:t>1. Language Attribute Warning: </a:t>
            </a:r>
            <a:r>
              <a:rPr lang="en-US" sz="2200" dirty="0">
                <a:latin typeface="Calibri" panose="020F0502020204030204" pitchFamily="34" charset="0"/>
                <a:cs typeface="Calibri" panose="020F0502020204030204" pitchFamily="34" charset="0"/>
              </a:rPr>
              <a:t>The warning suggests that a </a:t>
            </a:r>
            <a:r>
              <a:rPr lang="en-US" sz="2200" b="1" dirty="0">
                <a:latin typeface="Calibri" panose="020F0502020204030204" pitchFamily="34" charset="0"/>
                <a:cs typeface="Calibri" panose="020F0502020204030204" pitchFamily="34" charset="0"/>
              </a:rPr>
              <a:t>lang</a:t>
            </a:r>
            <a:r>
              <a:rPr lang="en-US" sz="2200" dirty="0">
                <a:latin typeface="Calibri" panose="020F0502020204030204" pitchFamily="34" charset="0"/>
                <a:cs typeface="Calibri" panose="020F0502020204030204" pitchFamily="34" charset="0"/>
              </a:rPr>
              <a:t> attribute should be added to the </a:t>
            </a:r>
            <a:r>
              <a:rPr lang="en-US" sz="2200" b="1" dirty="0">
                <a:latin typeface="Calibri" panose="020F0502020204030204" pitchFamily="34" charset="0"/>
                <a:cs typeface="Calibri" panose="020F0502020204030204" pitchFamily="34" charset="0"/>
              </a:rPr>
              <a:t>html</a:t>
            </a:r>
            <a:r>
              <a:rPr lang="en-US" sz="2200" dirty="0">
                <a:latin typeface="Calibri" panose="020F0502020204030204" pitchFamily="34" charset="0"/>
                <a:cs typeface="Calibri" panose="020F0502020204030204" pitchFamily="34" charset="0"/>
              </a:rPr>
              <a:t> tag to declare the language of the document. It seems we've already addressed this issue in our code by adding </a:t>
            </a:r>
            <a:r>
              <a:rPr lang="en-US" sz="2200" b="1" dirty="0">
                <a:latin typeface="Calibri" panose="020F0502020204030204" pitchFamily="34" charset="0"/>
                <a:cs typeface="Calibri" panose="020F0502020204030204" pitchFamily="34" charset="0"/>
              </a:rPr>
              <a:t>lang="</a:t>
            </a:r>
            <a:r>
              <a:rPr lang="en-US" sz="2200" b="1" dirty="0" err="1">
                <a:latin typeface="Calibri" panose="020F0502020204030204" pitchFamily="34" charset="0"/>
                <a:cs typeface="Calibri" panose="020F0502020204030204" pitchFamily="34" charset="0"/>
              </a:rPr>
              <a:t>en</a:t>
            </a:r>
            <a:r>
              <a:rPr lang="en-US" sz="2200" b="1" dirty="0">
                <a:latin typeface="Calibri" panose="020F0502020204030204" pitchFamily="34" charset="0"/>
                <a:cs typeface="Calibri" panose="020F0502020204030204" pitchFamily="34" charset="0"/>
              </a:rPr>
              <a:t>" </a:t>
            </a:r>
            <a:r>
              <a:rPr lang="en-US" sz="2200" dirty="0">
                <a:latin typeface="Calibri" panose="020F0502020204030204" pitchFamily="34" charset="0"/>
                <a:cs typeface="Calibri" panose="020F0502020204030204" pitchFamily="34" charset="0"/>
              </a:rPr>
              <a:t>to the </a:t>
            </a:r>
            <a:r>
              <a:rPr lang="en-US" sz="2200" b="1" dirty="0">
                <a:latin typeface="Calibri" panose="020F0502020204030204" pitchFamily="34" charset="0"/>
                <a:cs typeface="Calibri" panose="020F0502020204030204" pitchFamily="34" charset="0"/>
              </a:rPr>
              <a:t>html</a:t>
            </a:r>
            <a:r>
              <a:rPr lang="en-US" sz="2200" dirty="0">
                <a:latin typeface="Calibri" panose="020F0502020204030204" pitchFamily="34" charset="0"/>
                <a:cs typeface="Calibri" panose="020F0502020204030204" pitchFamily="34" charset="0"/>
              </a:rPr>
              <a:t> tag.</a:t>
            </a:r>
          </a:p>
          <a:p>
            <a:pPr>
              <a:lnSpc>
                <a:spcPct val="150000"/>
              </a:lnSpc>
            </a:pPr>
            <a:r>
              <a:rPr lang="en-US" sz="2200" b="1" dirty="0">
                <a:latin typeface="Calibri" panose="020F0502020204030204" pitchFamily="34" charset="0"/>
                <a:cs typeface="Calibri" panose="020F0502020204030204" pitchFamily="34" charset="0"/>
              </a:rPr>
              <a:t>2. Character Encoding Declaration: </a:t>
            </a:r>
            <a:r>
              <a:rPr lang="en-US" sz="2200" dirty="0">
                <a:latin typeface="Calibri" panose="020F0502020204030204" pitchFamily="34" charset="0"/>
                <a:cs typeface="Calibri" panose="020F0502020204030204" pitchFamily="34" charset="0"/>
              </a:rPr>
              <a:t>This error indicates that the character encoding wasn't declared. However, looking at our provided code, </a:t>
            </a:r>
            <a:r>
              <a:rPr lang="en-US" sz="2200" b="1" dirty="0">
                <a:latin typeface="Calibri" panose="020F0502020204030204" pitchFamily="34" charset="0"/>
                <a:cs typeface="Calibri" panose="020F0502020204030204" pitchFamily="34" charset="0"/>
              </a:rPr>
              <a:t>&lt;meta charset="UTF-8"&gt; </a:t>
            </a:r>
            <a:r>
              <a:rPr lang="en-US" sz="2200" dirty="0">
                <a:latin typeface="Calibri" panose="020F0502020204030204" pitchFamily="34" charset="0"/>
                <a:cs typeface="Calibri" panose="020F0502020204030204" pitchFamily="34" charset="0"/>
              </a:rPr>
              <a:t>in the </a:t>
            </a:r>
            <a:r>
              <a:rPr lang="en-US" sz="2200" b="1" dirty="0">
                <a:latin typeface="Calibri" panose="020F0502020204030204" pitchFamily="34" charset="0"/>
                <a:cs typeface="Calibri" panose="020F0502020204030204" pitchFamily="34" charset="0"/>
              </a:rPr>
              <a:t>head</a:t>
            </a:r>
            <a:r>
              <a:rPr lang="en-US" sz="2200" dirty="0">
                <a:latin typeface="Calibri" panose="020F0502020204030204" pitchFamily="34" charset="0"/>
                <a:cs typeface="Calibri" panose="020F0502020204030204" pitchFamily="34" charset="0"/>
              </a:rPr>
              <a:t> tag, which correctly declares the character encoding.</a:t>
            </a:r>
          </a:p>
          <a:p>
            <a:pPr>
              <a:lnSpc>
                <a:spcPct val="150000"/>
              </a:lnSpc>
            </a:pPr>
            <a:r>
              <a:rPr lang="en-US" sz="2200" b="1" dirty="0">
                <a:latin typeface="Calibri" panose="020F0502020204030204" pitchFamily="34" charset="0"/>
                <a:cs typeface="Calibri" panose="020F0502020204030204" pitchFamily="34" charset="0"/>
              </a:rPr>
              <a:t>3. Missing Title Content: </a:t>
            </a:r>
            <a:r>
              <a:rPr lang="en-US" sz="2200" dirty="0">
                <a:latin typeface="Calibri" panose="020F0502020204030204" pitchFamily="34" charset="0"/>
                <a:cs typeface="Calibri" panose="020F0502020204030204" pitchFamily="34" charset="0"/>
              </a:rPr>
              <a:t>The error reports that the </a:t>
            </a:r>
            <a:r>
              <a:rPr lang="en-US" sz="2200" b="1" dirty="0">
                <a:latin typeface="Calibri" panose="020F0502020204030204" pitchFamily="34" charset="0"/>
                <a:cs typeface="Calibri" panose="020F0502020204030204" pitchFamily="34" charset="0"/>
              </a:rPr>
              <a:t>title</a:t>
            </a:r>
            <a:r>
              <a:rPr lang="en-US" sz="2200" dirty="0">
                <a:latin typeface="Calibri" panose="020F0502020204030204" pitchFamily="34" charset="0"/>
                <a:cs typeface="Calibri" panose="020F0502020204030204" pitchFamily="34" charset="0"/>
              </a:rPr>
              <a:t> tag is present but missing actual text content. The </a:t>
            </a:r>
            <a:r>
              <a:rPr lang="en-US" sz="2200" b="1" dirty="0">
                <a:latin typeface="Calibri" panose="020F0502020204030204" pitchFamily="34" charset="0"/>
                <a:cs typeface="Calibri" panose="020F0502020204030204" pitchFamily="34" charset="0"/>
              </a:rPr>
              <a:t>title</a:t>
            </a:r>
            <a:r>
              <a:rPr lang="en-US" sz="2200" dirty="0">
                <a:latin typeface="Calibri" panose="020F0502020204030204" pitchFamily="34" charset="0"/>
                <a:cs typeface="Calibri" panose="020F0502020204030204" pitchFamily="34" charset="0"/>
              </a:rPr>
              <a:t> tag in our code is empty and only contains a comment placeholder.</a:t>
            </a:r>
            <a:endParaRPr lang="en-AU" sz="2200" dirty="0">
              <a:latin typeface="Calibri" panose="020F0502020204030204" pitchFamily="34" charset="0"/>
              <a:cs typeface="Calibri" panose="020F0502020204030204" pitchFamily="34" charset="0"/>
            </a:endParaRPr>
          </a:p>
        </p:txBody>
      </p:sp>
      <p:sp>
        <p:nvSpPr>
          <p:cNvPr id="4" name="TextBox 3">
            <a:extLst>
              <a:ext uri="{FF2B5EF4-FFF2-40B4-BE49-F238E27FC236}">
                <a16:creationId xmlns:a16="http://schemas.microsoft.com/office/drawing/2014/main" id="{32A99583-643B-538F-7DDA-A140667942C0}"/>
              </a:ext>
            </a:extLst>
          </p:cNvPr>
          <p:cNvSpPr txBox="1"/>
          <p:nvPr/>
        </p:nvSpPr>
        <p:spPr>
          <a:xfrm>
            <a:off x="94592" y="0"/>
            <a:ext cx="12097407" cy="671851"/>
          </a:xfrm>
          <a:prstGeom prst="rect">
            <a:avLst/>
          </a:prstGeom>
          <a:noFill/>
        </p:spPr>
        <p:txBody>
          <a:bodyPr wrap="square" rtlCol="0">
            <a:spAutoFit/>
          </a:bodyPr>
          <a:lstStyle/>
          <a:p>
            <a:pPr>
              <a:lnSpc>
                <a:spcPct val="150000"/>
              </a:lnSpc>
            </a:pPr>
            <a:r>
              <a:rPr lang="en-US" sz="2800" b="1" dirty="0">
                <a:latin typeface="Calibri" panose="020F0502020204030204" pitchFamily="34" charset="0"/>
                <a:cs typeface="Calibri" panose="020F0502020204030204" pitchFamily="34" charset="0"/>
              </a:rPr>
              <a:t>Project 1: Creating a Template with a Semantic Wireframe </a:t>
            </a:r>
          </a:p>
        </p:txBody>
      </p:sp>
      <p:sp>
        <p:nvSpPr>
          <p:cNvPr id="6" name="TextBox 5">
            <a:extLst>
              <a:ext uri="{FF2B5EF4-FFF2-40B4-BE49-F238E27FC236}">
                <a16:creationId xmlns:a16="http://schemas.microsoft.com/office/drawing/2014/main" id="{A910532D-B8EF-4FCF-ABD1-2A99914ED53B}"/>
              </a:ext>
            </a:extLst>
          </p:cNvPr>
          <p:cNvSpPr txBox="1"/>
          <p:nvPr/>
        </p:nvSpPr>
        <p:spPr>
          <a:xfrm>
            <a:off x="-1" y="5327576"/>
            <a:ext cx="12192000" cy="1055545"/>
          </a:xfrm>
          <a:prstGeom prst="rect">
            <a:avLst/>
          </a:prstGeom>
          <a:noFill/>
        </p:spPr>
        <p:txBody>
          <a:bodyPr wrap="square" rtlCol="0">
            <a:spAutoFit/>
          </a:bodyPr>
          <a:lstStyle/>
          <a:p>
            <a:pPr>
              <a:lnSpc>
                <a:spcPct val="150000"/>
              </a:lnSpc>
            </a:pPr>
            <a:r>
              <a:rPr lang="en-US" sz="2200" dirty="0">
                <a:latin typeface="Calibri" panose="020F0502020204030204" pitchFamily="34" charset="0"/>
                <a:cs typeface="Calibri" panose="020F0502020204030204" pitchFamily="34" charset="0"/>
              </a:rPr>
              <a:t>To fix these issues based on your current code, you should provide actual text content within the </a:t>
            </a:r>
            <a:r>
              <a:rPr lang="en-US" sz="2200" b="1" dirty="0">
                <a:latin typeface="Calibri" panose="020F0502020204030204" pitchFamily="34" charset="0"/>
                <a:cs typeface="Calibri" panose="020F0502020204030204" pitchFamily="34" charset="0"/>
              </a:rPr>
              <a:t>title</a:t>
            </a:r>
            <a:r>
              <a:rPr lang="en-US" sz="2200" dirty="0">
                <a:latin typeface="Calibri" panose="020F0502020204030204" pitchFamily="34" charset="0"/>
                <a:cs typeface="Calibri" panose="020F0502020204030204" pitchFamily="34" charset="0"/>
              </a:rPr>
              <a:t> tag. Here's how we can modify the relevant part of our template code:</a:t>
            </a:r>
            <a:endParaRPr lang="en-AU" sz="22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921958840"/>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32A99583-643B-538F-7DDA-A140667942C0}"/>
              </a:ext>
            </a:extLst>
          </p:cNvPr>
          <p:cNvSpPr txBox="1"/>
          <p:nvPr/>
        </p:nvSpPr>
        <p:spPr>
          <a:xfrm>
            <a:off x="94592" y="0"/>
            <a:ext cx="4235799" cy="1964512"/>
          </a:xfrm>
          <a:prstGeom prst="rect">
            <a:avLst/>
          </a:prstGeom>
          <a:noFill/>
        </p:spPr>
        <p:txBody>
          <a:bodyPr wrap="square" rtlCol="0">
            <a:spAutoFit/>
          </a:bodyPr>
          <a:lstStyle/>
          <a:p>
            <a:pPr>
              <a:lnSpc>
                <a:spcPct val="150000"/>
              </a:lnSpc>
            </a:pPr>
            <a:r>
              <a:rPr lang="en-US" sz="2800" b="1" dirty="0">
                <a:latin typeface="Calibri" panose="020F0502020204030204" pitchFamily="34" charset="0"/>
                <a:cs typeface="Calibri" panose="020F0502020204030204" pitchFamily="34" charset="0"/>
              </a:rPr>
              <a:t>Project 1: Creating a Template with a Semantic Wireframe </a:t>
            </a:r>
            <a:endParaRPr lang="en-US" sz="2400" b="1" dirty="0">
              <a:latin typeface="Calibri" panose="020F0502020204030204" pitchFamily="34" charset="0"/>
              <a:cs typeface="Calibri" panose="020F0502020204030204" pitchFamily="34" charset="0"/>
            </a:endParaRPr>
          </a:p>
        </p:txBody>
      </p:sp>
      <p:pic>
        <p:nvPicPr>
          <p:cNvPr id="10" name="Picture 9">
            <a:extLst>
              <a:ext uri="{FF2B5EF4-FFF2-40B4-BE49-F238E27FC236}">
                <a16:creationId xmlns:a16="http://schemas.microsoft.com/office/drawing/2014/main" id="{E1E9465D-FA0D-E85A-AC32-A5D08E3715AE}"/>
              </a:ext>
            </a:extLst>
          </p:cNvPr>
          <p:cNvPicPr>
            <a:picLocks noChangeAspect="1"/>
          </p:cNvPicPr>
          <p:nvPr/>
        </p:nvPicPr>
        <p:blipFill rotWithShape="1">
          <a:blip r:embed="rId2"/>
          <a:srcRect l="3568" r="31950" b="31544"/>
          <a:stretch/>
        </p:blipFill>
        <p:spPr>
          <a:xfrm>
            <a:off x="0" y="2163337"/>
            <a:ext cx="7861609" cy="4694663"/>
          </a:xfrm>
          <a:prstGeom prst="rect">
            <a:avLst/>
          </a:prstGeom>
        </p:spPr>
      </p:pic>
      <p:pic>
        <p:nvPicPr>
          <p:cNvPr id="8" name="Picture 7">
            <a:extLst>
              <a:ext uri="{FF2B5EF4-FFF2-40B4-BE49-F238E27FC236}">
                <a16:creationId xmlns:a16="http://schemas.microsoft.com/office/drawing/2014/main" id="{D0B4C908-9088-0941-5B79-5F8F055A833E}"/>
              </a:ext>
            </a:extLst>
          </p:cNvPr>
          <p:cNvPicPr>
            <a:picLocks noChangeAspect="1"/>
          </p:cNvPicPr>
          <p:nvPr/>
        </p:nvPicPr>
        <p:blipFill rotWithShape="1">
          <a:blip r:embed="rId3"/>
          <a:srcRect l="4939" t="7805" r="19328" b="14147"/>
          <a:stretch/>
        </p:blipFill>
        <p:spPr>
          <a:xfrm>
            <a:off x="4330391" y="-44605"/>
            <a:ext cx="7861609" cy="4557453"/>
          </a:xfrm>
          <a:prstGeom prst="rect">
            <a:avLst/>
          </a:prstGeom>
        </p:spPr>
      </p:pic>
      <p:sp>
        <p:nvSpPr>
          <p:cNvPr id="11" name="TextBox 10">
            <a:extLst>
              <a:ext uri="{FF2B5EF4-FFF2-40B4-BE49-F238E27FC236}">
                <a16:creationId xmlns:a16="http://schemas.microsoft.com/office/drawing/2014/main" id="{8E4C1336-4E40-50A8-66B4-1246919F862F}"/>
              </a:ext>
            </a:extLst>
          </p:cNvPr>
          <p:cNvSpPr txBox="1"/>
          <p:nvPr/>
        </p:nvSpPr>
        <p:spPr>
          <a:xfrm>
            <a:off x="4330391" y="4510668"/>
            <a:ext cx="7861609" cy="2352952"/>
          </a:xfrm>
          <a:prstGeom prst="rect">
            <a:avLst/>
          </a:prstGeom>
          <a:solidFill>
            <a:schemeClr val="bg1"/>
          </a:solidFill>
          <a:ln>
            <a:solidFill>
              <a:srgbClr val="FF0000"/>
            </a:solidFill>
          </a:ln>
        </p:spPr>
        <p:txBody>
          <a:bodyPr wrap="square" rtlCol="0">
            <a:spAutoFit/>
          </a:bodyPr>
          <a:lstStyle/>
          <a:p>
            <a:pPr>
              <a:lnSpc>
                <a:spcPct val="150000"/>
              </a:lnSpc>
            </a:pPr>
            <a:r>
              <a:rPr lang="en-US" sz="2000" dirty="0">
                <a:latin typeface="Calibri" panose="020F0502020204030204" pitchFamily="34" charset="0"/>
                <a:cs typeface="Calibri" panose="020F0502020204030204" pitchFamily="34" charset="0"/>
              </a:rPr>
              <a:t>In this correction, we've replaced the comment within the title tag with "Your Page Title". We should replace "Your Page Title" with the actual title of our webpage, which briefly describes the topic or purpose of the document. This should clear the error regarding the missing title content. All other elements seem to be appropriately addressed in your code.</a:t>
            </a:r>
            <a:endParaRPr lang="en-AU" sz="20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31709424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1B12159-AA55-FCB9-11A3-9D118C699F02}"/>
              </a:ext>
            </a:extLst>
          </p:cNvPr>
          <p:cNvPicPr>
            <a:picLocks noChangeAspect="1"/>
          </p:cNvPicPr>
          <p:nvPr/>
        </p:nvPicPr>
        <p:blipFill rotWithShape="1">
          <a:blip r:embed="rId2"/>
          <a:srcRect l="16372" t="12520" r="22439" b="12520"/>
          <a:stretch/>
        </p:blipFill>
        <p:spPr>
          <a:xfrm>
            <a:off x="6835567" y="0"/>
            <a:ext cx="5356433" cy="3691054"/>
          </a:xfrm>
          <a:prstGeom prst="rect">
            <a:avLst/>
          </a:prstGeom>
        </p:spPr>
      </p:pic>
      <p:sp>
        <p:nvSpPr>
          <p:cNvPr id="6" name="TextBox 5">
            <a:extLst>
              <a:ext uri="{FF2B5EF4-FFF2-40B4-BE49-F238E27FC236}">
                <a16:creationId xmlns:a16="http://schemas.microsoft.com/office/drawing/2014/main" id="{3AEDF7CD-4B6B-041F-7811-78E1F4209310}"/>
              </a:ext>
            </a:extLst>
          </p:cNvPr>
          <p:cNvSpPr txBox="1"/>
          <p:nvPr/>
        </p:nvSpPr>
        <p:spPr>
          <a:xfrm>
            <a:off x="94592" y="0"/>
            <a:ext cx="12097407" cy="589072"/>
          </a:xfrm>
          <a:prstGeom prst="rect">
            <a:avLst/>
          </a:prstGeom>
          <a:noFill/>
        </p:spPr>
        <p:txBody>
          <a:bodyPr wrap="square" rtlCol="0">
            <a:spAutoFit/>
          </a:bodyPr>
          <a:lstStyle/>
          <a:p>
            <a:pPr>
              <a:lnSpc>
                <a:spcPct val="150000"/>
              </a:lnSpc>
            </a:pPr>
            <a:r>
              <a:rPr lang="en-AU" sz="2400" b="1" dirty="0">
                <a:latin typeface="Calibri" panose="020F0502020204030204" pitchFamily="34" charset="0"/>
                <a:cs typeface="Calibri" panose="020F0502020204030204" pitchFamily="34" charset="0"/>
              </a:rPr>
              <a:t>Challenge 1</a:t>
            </a:r>
            <a:endParaRPr lang="en-US" sz="2400" b="1" dirty="0">
              <a:latin typeface="Calibri" panose="020F0502020204030204" pitchFamily="34" charset="0"/>
              <a:cs typeface="Calibri" panose="020F0502020204030204" pitchFamily="34" charset="0"/>
            </a:endParaRPr>
          </a:p>
        </p:txBody>
      </p:sp>
      <p:sp>
        <p:nvSpPr>
          <p:cNvPr id="7" name="TextBox 6">
            <a:extLst>
              <a:ext uri="{FF2B5EF4-FFF2-40B4-BE49-F238E27FC236}">
                <a16:creationId xmlns:a16="http://schemas.microsoft.com/office/drawing/2014/main" id="{D9249E71-F581-66C1-FB7E-6F1B23394363}"/>
              </a:ext>
            </a:extLst>
          </p:cNvPr>
          <p:cNvSpPr txBox="1"/>
          <p:nvPr/>
        </p:nvSpPr>
        <p:spPr>
          <a:xfrm>
            <a:off x="57421" y="724141"/>
            <a:ext cx="6934394" cy="6133859"/>
          </a:xfrm>
          <a:prstGeom prst="rect">
            <a:avLst/>
          </a:prstGeom>
          <a:noFill/>
        </p:spPr>
        <p:txBody>
          <a:bodyPr wrap="square" rtlCol="0">
            <a:spAutoFit/>
          </a:bodyPr>
          <a:lstStyle/>
          <a:p>
            <a:pPr marL="457200" indent="-457200">
              <a:lnSpc>
                <a:spcPct val="150000"/>
              </a:lnSpc>
              <a:buFont typeface="+mj-lt"/>
              <a:buAutoNum type="arabicPeriod"/>
            </a:pPr>
            <a:r>
              <a:rPr lang="en-US" sz="2200" dirty="0">
                <a:latin typeface="Calibri" panose="020F0502020204030204" pitchFamily="34" charset="0"/>
                <a:cs typeface="Calibri" panose="020F0502020204030204" pitchFamily="34" charset="0"/>
              </a:rPr>
              <a:t>Open </a:t>
            </a:r>
            <a:r>
              <a:rPr lang="en-US" sz="2200" b="1" dirty="0">
                <a:latin typeface="Calibri" panose="020F0502020204030204" pitchFamily="34" charset="0"/>
                <a:cs typeface="Calibri" panose="020F0502020204030204" pitchFamily="34" charset="0"/>
              </a:rPr>
              <a:t>cityfarmer.html</a:t>
            </a:r>
            <a:r>
              <a:rPr lang="en-US" sz="2200" dirty="0">
                <a:latin typeface="Calibri" panose="020F0502020204030204" pitchFamily="34" charset="0"/>
                <a:cs typeface="Calibri" panose="020F0502020204030204" pitchFamily="34" charset="0"/>
              </a:rPr>
              <a:t>, save as </a:t>
            </a:r>
            <a:r>
              <a:rPr lang="en-US" sz="2200" b="1" dirty="0">
                <a:latin typeface="Calibri" panose="020F0502020204030204" pitchFamily="34" charset="0"/>
                <a:cs typeface="Calibri" panose="020F0502020204030204" pitchFamily="34" charset="0"/>
              </a:rPr>
              <a:t>cityfarmer2.html</a:t>
            </a:r>
            <a:r>
              <a:rPr lang="en-US" sz="2200" dirty="0">
                <a:latin typeface="Calibri" panose="020F0502020204030204" pitchFamily="34" charset="0"/>
                <a:cs typeface="Calibri" panose="020F0502020204030204" pitchFamily="34" charset="0"/>
              </a:rPr>
              <a:t>. Here's the template for how the HTML file might look after you open it and make the necessary changes.</a:t>
            </a:r>
          </a:p>
          <a:p>
            <a:pPr marL="342900" indent="-342900">
              <a:lnSpc>
                <a:spcPct val="150000"/>
              </a:lnSpc>
              <a:buFont typeface="Arial" panose="020B0604020202020204" pitchFamily="34" charset="0"/>
              <a:buChar char="•"/>
            </a:pPr>
            <a:r>
              <a:rPr lang="en-US" sz="2200" dirty="0">
                <a:latin typeface="Calibri" panose="020F0502020204030204" pitchFamily="34" charset="0"/>
                <a:cs typeface="Calibri" panose="020F0502020204030204" pitchFamily="34" charset="0"/>
              </a:rPr>
              <a:t>You might choose this title </a:t>
            </a:r>
            <a:r>
              <a:rPr lang="en-US" sz="2200" b="1" dirty="0">
                <a:latin typeface="Calibri" panose="020F0502020204030204" pitchFamily="34" charset="0"/>
                <a:cs typeface="Calibri" panose="020F0502020204030204" pitchFamily="34" charset="0"/>
              </a:rPr>
              <a:t>City Farmer: Today's Urban Cowboy </a:t>
            </a:r>
            <a:r>
              <a:rPr lang="en-US" sz="2200" dirty="0">
                <a:latin typeface="Calibri" panose="020F0502020204030204" pitchFamily="34" charset="0"/>
                <a:cs typeface="Calibri" panose="020F0502020204030204" pitchFamily="34" charset="0"/>
              </a:rPr>
              <a:t>which captures the essence of the content and theme presented in the HTML, linking the main focus of the webpage—urban farming—with a catchy and memorable phrase, "today's urban cowboy," which also appears in the header of the HTML. This title would be effective for both search engine optimization (SEO) and giving visitors a clear idea of the website's theme at first glance.</a:t>
            </a:r>
            <a:endParaRPr lang="en-AU" sz="2200" dirty="0">
              <a:latin typeface="Calibri" panose="020F0502020204030204" pitchFamily="34" charset="0"/>
              <a:cs typeface="Calibri" panose="020F0502020204030204" pitchFamily="34" charset="0"/>
            </a:endParaRPr>
          </a:p>
        </p:txBody>
      </p:sp>
      <p:pic>
        <p:nvPicPr>
          <p:cNvPr id="10" name="Picture 9">
            <a:extLst>
              <a:ext uri="{FF2B5EF4-FFF2-40B4-BE49-F238E27FC236}">
                <a16:creationId xmlns:a16="http://schemas.microsoft.com/office/drawing/2014/main" id="{1C56F9E2-3FC0-2B5A-0795-9FA157B1872B}"/>
              </a:ext>
            </a:extLst>
          </p:cNvPr>
          <p:cNvPicPr>
            <a:picLocks noChangeAspect="1"/>
          </p:cNvPicPr>
          <p:nvPr/>
        </p:nvPicPr>
        <p:blipFill rotWithShape="1">
          <a:blip r:embed="rId3"/>
          <a:srcRect l="12988" t="26179" r="46128" b="54472"/>
          <a:stretch/>
        </p:blipFill>
        <p:spPr>
          <a:xfrm>
            <a:off x="6957236" y="4117436"/>
            <a:ext cx="5113094" cy="1361204"/>
          </a:xfrm>
          <a:prstGeom prst="rect">
            <a:avLst/>
          </a:prstGeom>
        </p:spPr>
      </p:pic>
      <p:sp>
        <p:nvSpPr>
          <p:cNvPr id="11" name="Rectangle: Rounded Corners 10">
            <a:extLst>
              <a:ext uri="{FF2B5EF4-FFF2-40B4-BE49-F238E27FC236}">
                <a16:creationId xmlns:a16="http://schemas.microsoft.com/office/drawing/2014/main" id="{22F04250-5AB9-EABA-2426-3F880630DE18}"/>
              </a:ext>
            </a:extLst>
          </p:cNvPr>
          <p:cNvSpPr/>
          <p:nvPr/>
        </p:nvSpPr>
        <p:spPr>
          <a:xfrm>
            <a:off x="345688" y="2352907"/>
            <a:ext cx="6489879" cy="914400"/>
          </a:xfrm>
          <a:prstGeom prst="round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2" name="Rectangle: Rounded Corners 11">
            <a:extLst>
              <a:ext uri="{FF2B5EF4-FFF2-40B4-BE49-F238E27FC236}">
                <a16:creationId xmlns:a16="http://schemas.microsoft.com/office/drawing/2014/main" id="{F3CA3068-E3CB-0F9C-20D6-6999BABA1E39}"/>
              </a:ext>
            </a:extLst>
          </p:cNvPr>
          <p:cNvSpPr/>
          <p:nvPr/>
        </p:nvSpPr>
        <p:spPr>
          <a:xfrm>
            <a:off x="6957236" y="4114799"/>
            <a:ext cx="5234763" cy="1361203"/>
          </a:xfrm>
          <a:prstGeom prst="round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Tree>
    <p:extLst>
      <p:ext uri="{BB962C8B-B14F-4D97-AF65-F5344CB8AC3E}">
        <p14:creationId xmlns:p14="http://schemas.microsoft.com/office/powerpoint/2010/main" val="397500153"/>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D9249E71-F581-66C1-FB7E-6F1B23394363}"/>
              </a:ext>
            </a:extLst>
          </p:cNvPr>
          <p:cNvSpPr txBox="1"/>
          <p:nvPr/>
        </p:nvSpPr>
        <p:spPr>
          <a:xfrm>
            <a:off x="0" y="11694"/>
            <a:ext cx="5073805" cy="3594702"/>
          </a:xfrm>
          <a:prstGeom prst="rect">
            <a:avLst/>
          </a:prstGeom>
          <a:noFill/>
        </p:spPr>
        <p:txBody>
          <a:bodyPr wrap="square" rtlCol="0">
            <a:spAutoFit/>
          </a:bodyPr>
          <a:lstStyle/>
          <a:p>
            <a:pPr>
              <a:lnSpc>
                <a:spcPct val="150000"/>
              </a:lnSpc>
            </a:pPr>
            <a:r>
              <a:rPr lang="en-US" sz="2200" dirty="0">
                <a:latin typeface="Calibri" panose="020F0502020204030204" pitchFamily="34" charset="0"/>
                <a:cs typeface="Calibri" panose="020F0502020204030204" pitchFamily="34" charset="0"/>
              </a:rPr>
              <a:t>2.    The title tag is included above within the </a:t>
            </a:r>
            <a:r>
              <a:rPr lang="en-US" sz="2200" b="1" dirty="0">
                <a:latin typeface="Calibri" panose="020F0502020204030204" pitchFamily="34" charset="0"/>
                <a:cs typeface="Calibri" panose="020F0502020204030204" pitchFamily="34" charset="0"/>
              </a:rPr>
              <a:t>&lt;head&gt; </a:t>
            </a:r>
            <a:r>
              <a:rPr lang="en-US" sz="2200" dirty="0">
                <a:latin typeface="Calibri" panose="020F0502020204030204" pitchFamily="34" charset="0"/>
                <a:cs typeface="Calibri" panose="020F0502020204030204" pitchFamily="34" charset="0"/>
              </a:rPr>
              <a:t>tags.</a:t>
            </a:r>
          </a:p>
          <a:p>
            <a:pPr>
              <a:lnSpc>
                <a:spcPct val="150000"/>
              </a:lnSpc>
            </a:pPr>
            <a:r>
              <a:rPr lang="en-US" sz="2200" dirty="0">
                <a:latin typeface="Calibri" panose="020F0502020204030204" pitchFamily="34" charset="0"/>
                <a:cs typeface="Calibri" panose="020F0502020204030204" pitchFamily="34" charset="0"/>
              </a:rPr>
              <a:t>3.    The existing content within the </a:t>
            </a:r>
            <a:r>
              <a:rPr lang="en-US" sz="2200" b="1" dirty="0">
                <a:latin typeface="Calibri" panose="020F0502020204030204" pitchFamily="34" charset="0"/>
                <a:cs typeface="Calibri" panose="020F0502020204030204" pitchFamily="34" charset="0"/>
              </a:rPr>
              <a:t>&lt;body&gt; </a:t>
            </a:r>
            <a:r>
              <a:rPr lang="en-US" sz="2200" dirty="0">
                <a:latin typeface="Calibri" panose="020F0502020204030204" pitchFamily="34" charset="0"/>
                <a:cs typeface="Calibri" panose="020F0502020204030204" pitchFamily="34" charset="0"/>
              </a:rPr>
              <a:t>tag has been replaced with the new content as per your instructions.</a:t>
            </a:r>
          </a:p>
          <a:p>
            <a:pPr>
              <a:lnSpc>
                <a:spcPct val="150000"/>
              </a:lnSpc>
            </a:pPr>
            <a:r>
              <a:rPr lang="en-US" sz="2200" dirty="0">
                <a:latin typeface="Calibri" panose="020F0502020204030204" pitchFamily="34" charset="0"/>
                <a:cs typeface="Calibri" panose="020F0502020204030204" pitchFamily="34" charset="0"/>
              </a:rPr>
              <a:t>4.    Code indentation has been handled for readability.</a:t>
            </a:r>
          </a:p>
        </p:txBody>
      </p:sp>
      <p:pic>
        <p:nvPicPr>
          <p:cNvPr id="3" name="Picture 2">
            <a:extLst>
              <a:ext uri="{FF2B5EF4-FFF2-40B4-BE49-F238E27FC236}">
                <a16:creationId xmlns:a16="http://schemas.microsoft.com/office/drawing/2014/main" id="{E8E03C36-AAB4-CFDC-9513-DDED7C69035E}"/>
              </a:ext>
            </a:extLst>
          </p:cNvPr>
          <p:cNvPicPr>
            <a:picLocks noChangeAspect="1"/>
          </p:cNvPicPr>
          <p:nvPr/>
        </p:nvPicPr>
        <p:blipFill rotWithShape="1">
          <a:blip r:embed="rId2"/>
          <a:srcRect b="8944"/>
          <a:stretch/>
        </p:blipFill>
        <p:spPr>
          <a:xfrm>
            <a:off x="5073805" y="11694"/>
            <a:ext cx="7118195" cy="3645905"/>
          </a:xfrm>
          <a:prstGeom prst="rect">
            <a:avLst/>
          </a:prstGeom>
        </p:spPr>
      </p:pic>
      <p:sp>
        <p:nvSpPr>
          <p:cNvPr id="4" name="TextBox 3">
            <a:extLst>
              <a:ext uri="{FF2B5EF4-FFF2-40B4-BE49-F238E27FC236}">
                <a16:creationId xmlns:a16="http://schemas.microsoft.com/office/drawing/2014/main" id="{8286C5B4-3D82-B408-22E2-2B5244966877}"/>
              </a:ext>
            </a:extLst>
          </p:cNvPr>
          <p:cNvSpPr txBox="1"/>
          <p:nvPr/>
        </p:nvSpPr>
        <p:spPr>
          <a:xfrm>
            <a:off x="0" y="3657599"/>
            <a:ext cx="12192000" cy="3089692"/>
          </a:xfrm>
          <a:prstGeom prst="rect">
            <a:avLst/>
          </a:prstGeom>
          <a:noFill/>
        </p:spPr>
        <p:txBody>
          <a:bodyPr wrap="square" rtlCol="0">
            <a:spAutoFit/>
          </a:bodyPr>
          <a:lstStyle/>
          <a:p>
            <a:pPr>
              <a:lnSpc>
                <a:spcPct val="150000"/>
              </a:lnSpc>
            </a:pPr>
            <a:r>
              <a:rPr lang="en-US" sz="2200" dirty="0">
                <a:latin typeface="Calibri" panose="020F0502020204030204" pitchFamily="34" charset="0"/>
                <a:cs typeface="Calibri" panose="020F0502020204030204" pitchFamily="34" charset="0"/>
              </a:rPr>
              <a:t>5.    Comment after </a:t>
            </a:r>
            <a:r>
              <a:rPr lang="en-US" sz="2200" b="1" dirty="0">
                <a:latin typeface="Calibri" panose="020F0502020204030204" pitchFamily="34" charset="0"/>
                <a:cs typeface="Calibri" panose="020F0502020204030204" pitchFamily="34" charset="0"/>
              </a:rPr>
              <a:t>&lt;!DOCTYPE html&gt; </a:t>
            </a:r>
            <a:r>
              <a:rPr lang="en-US" sz="2200" dirty="0">
                <a:latin typeface="Calibri" panose="020F0502020204030204" pitchFamily="34" charset="0"/>
                <a:cs typeface="Calibri" panose="020F0502020204030204" pitchFamily="34" charset="0"/>
              </a:rPr>
              <a:t>has been added to include your name and the current date.</a:t>
            </a:r>
          </a:p>
          <a:p>
            <a:pPr>
              <a:lnSpc>
                <a:spcPct val="150000"/>
              </a:lnSpc>
            </a:pPr>
            <a:r>
              <a:rPr lang="en-US" sz="2200" dirty="0">
                <a:latin typeface="Calibri" panose="020F0502020204030204" pitchFamily="34" charset="0"/>
                <a:cs typeface="Calibri" panose="020F0502020204030204" pitchFamily="34" charset="0"/>
              </a:rPr>
              <a:t>6.    To validate your code, you would use a service like the W3C Markup Validation Service. </a:t>
            </a:r>
            <a:r>
              <a:rPr lang="en-US" sz="2200" dirty="0">
                <a:latin typeface="Calibri" panose="020F0502020204030204" pitchFamily="34" charset="0"/>
                <a:cs typeface="Calibri" panose="020F0502020204030204" pitchFamily="34" charset="0"/>
                <a:hlinkClick r:id="rId3"/>
              </a:rPr>
              <a:t>https://validator.w3.org/</a:t>
            </a:r>
            <a:r>
              <a:rPr lang="en-US" sz="2200" dirty="0">
                <a:latin typeface="Calibri" panose="020F0502020204030204" pitchFamily="34" charset="0"/>
                <a:cs typeface="Calibri" panose="020F0502020204030204" pitchFamily="34" charset="0"/>
              </a:rPr>
              <a:t> </a:t>
            </a:r>
          </a:p>
          <a:p>
            <a:pPr>
              <a:lnSpc>
                <a:spcPct val="150000"/>
              </a:lnSpc>
            </a:pPr>
            <a:r>
              <a:rPr lang="en-US" sz="2200" dirty="0">
                <a:latin typeface="Calibri" panose="020F0502020204030204" pitchFamily="34" charset="0"/>
                <a:cs typeface="Calibri" panose="020F0502020204030204" pitchFamily="34" charset="0"/>
              </a:rPr>
              <a:t>7.     Ensure that the spelling of the text in your actual code matches that shown in the figure.</a:t>
            </a:r>
          </a:p>
          <a:p>
            <a:pPr>
              <a:lnSpc>
                <a:spcPct val="150000"/>
              </a:lnSpc>
            </a:pPr>
            <a:r>
              <a:rPr lang="en-US" sz="2200" dirty="0">
                <a:latin typeface="Calibri" panose="020F0502020204030204" pitchFamily="34" charset="0"/>
                <a:cs typeface="Calibri" panose="020F0502020204030204" pitchFamily="34" charset="0"/>
              </a:rPr>
              <a:t>8.     To view your HTML file in a browser, you would open the saved </a:t>
            </a:r>
            <a:r>
              <a:rPr lang="en-US" sz="2200" b="1" dirty="0">
                <a:latin typeface="Calibri" panose="020F0502020204030204" pitchFamily="34" charset="0"/>
                <a:cs typeface="Calibri" panose="020F0502020204030204" pitchFamily="34" charset="0"/>
              </a:rPr>
              <a:t>cityfarmer2.html </a:t>
            </a:r>
            <a:r>
              <a:rPr lang="en-US" sz="2200" dirty="0">
                <a:latin typeface="Calibri" panose="020F0502020204030204" pitchFamily="34" charset="0"/>
                <a:cs typeface="Calibri" panose="020F0502020204030204" pitchFamily="34" charset="0"/>
              </a:rPr>
              <a:t>file in any web browser to see the result.</a:t>
            </a:r>
            <a:endParaRPr lang="en-AU" sz="2200" dirty="0"/>
          </a:p>
        </p:txBody>
      </p:sp>
    </p:spTree>
    <p:extLst>
      <p:ext uri="{BB962C8B-B14F-4D97-AF65-F5344CB8AC3E}">
        <p14:creationId xmlns:p14="http://schemas.microsoft.com/office/powerpoint/2010/main" val="666122357"/>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7E2E4B2-8100-D6B4-F4C6-7C4C1BC85663}"/>
              </a:ext>
            </a:extLst>
          </p:cNvPr>
          <p:cNvSpPr txBox="1"/>
          <p:nvPr/>
        </p:nvSpPr>
        <p:spPr>
          <a:xfrm>
            <a:off x="0" y="0"/>
            <a:ext cx="12192000" cy="6939336"/>
          </a:xfrm>
          <a:prstGeom prst="rect">
            <a:avLst/>
          </a:prstGeom>
          <a:noFill/>
        </p:spPr>
        <p:txBody>
          <a:bodyPr wrap="square" rtlCol="0">
            <a:spAutoFit/>
          </a:bodyPr>
          <a:lstStyle/>
          <a:p>
            <a:pPr>
              <a:lnSpc>
                <a:spcPct val="150000"/>
              </a:lnSpc>
            </a:pPr>
            <a:r>
              <a:rPr lang="en-US" sz="2300" dirty="0">
                <a:latin typeface="Calibri" panose="020F0502020204030204" pitchFamily="34" charset="0"/>
                <a:cs typeface="Calibri" panose="020F0502020204030204" pitchFamily="34" charset="0"/>
              </a:rPr>
              <a:t>Now for the second part of your question, the benefits of entering the wireframe HTML elements such as </a:t>
            </a:r>
            <a:r>
              <a:rPr lang="en-US" sz="2300" b="1" dirty="0">
                <a:latin typeface="Calibri" panose="020F0502020204030204" pitchFamily="34" charset="0"/>
                <a:cs typeface="Calibri" panose="020F0502020204030204" pitchFamily="34" charset="0"/>
              </a:rPr>
              <a:t>&lt;header&gt;</a:t>
            </a:r>
            <a:r>
              <a:rPr lang="en-US" sz="2300" dirty="0">
                <a:latin typeface="Calibri" panose="020F0502020204030204" pitchFamily="34" charset="0"/>
                <a:cs typeface="Calibri" panose="020F0502020204030204" pitchFamily="34" charset="0"/>
              </a:rPr>
              <a:t>, </a:t>
            </a:r>
            <a:r>
              <a:rPr lang="en-US" sz="2300" b="1" dirty="0">
                <a:latin typeface="Calibri" panose="020F0502020204030204" pitchFamily="34" charset="0"/>
                <a:cs typeface="Calibri" panose="020F0502020204030204" pitchFamily="34" charset="0"/>
              </a:rPr>
              <a:t>&lt;nav&gt;</a:t>
            </a:r>
            <a:r>
              <a:rPr lang="en-US" sz="2300" dirty="0">
                <a:latin typeface="Calibri" panose="020F0502020204030204" pitchFamily="34" charset="0"/>
                <a:cs typeface="Calibri" panose="020F0502020204030204" pitchFamily="34" charset="0"/>
              </a:rPr>
              <a:t>, </a:t>
            </a:r>
            <a:r>
              <a:rPr lang="en-US" sz="2300" b="1" dirty="0">
                <a:latin typeface="Calibri" panose="020F0502020204030204" pitchFamily="34" charset="0"/>
                <a:cs typeface="Calibri" panose="020F0502020204030204" pitchFamily="34" charset="0"/>
              </a:rPr>
              <a:t>&lt;div id="main"&gt;</a:t>
            </a:r>
            <a:r>
              <a:rPr lang="en-US" sz="2300" dirty="0">
                <a:latin typeface="Calibri" panose="020F0502020204030204" pitchFamily="34" charset="0"/>
                <a:cs typeface="Calibri" panose="020F0502020204030204" pitchFamily="34" charset="0"/>
              </a:rPr>
              <a:t>, and </a:t>
            </a:r>
            <a:r>
              <a:rPr lang="en-US" sz="2300" b="1" dirty="0">
                <a:latin typeface="Calibri" panose="020F0502020204030204" pitchFamily="34" charset="0"/>
                <a:cs typeface="Calibri" panose="020F0502020204030204" pitchFamily="34" charset="0"/>
              </a:rPr>
              <a:t>&lt;footer&gt;</a:t>
            </a:r>
            <a:r>
              <a:rPr lang="en-US" sz="2300" dirty="0">
                <a:latin typeface="Calibri" panose="020F0502020204030204" pitchFamily="34" charset="0"/>
                <a:cs typeface="Calibri" panose="020F0502020204030204" pitchFamily="34" charset="0"/>
              </a:rPr>
              <a:t> before entering the textual content are as follows:</a:t>
            </a:r>
          </a:p>
          <a:p>
            <a:pPr>
              <a:lnSpc>
                <a:spcPct val="150000"/>
              </a:lnSpc>
            </a:pPr>
            <a:r>
              <a:rPr lang="en-US" sz="2300" b="1" dirty="0">
                <a:latin typeface="Calibri" panose="020F0502020204030204" pitchFamily="34" charset="0"/>
                <a:cs typeface="Calibri" panose="020F0502020204030204" pitchFamily="34" charset="0"/>
              </a:rPr>
              <a:t>What are the benefits of entering the wireframe HTML elements such as header, nav, &lt;div id="main"&gt;, and footer before entering the textual content for the webpage?</a:t>
            </a:r>
          </a:p>
          <a:p>
            <a:pPr marL="342900" indent="-342900">
              <a:lnSpc>
                <a:spcPct val="150000"/>
              </a:lnSpc>
              <a:buFont typeface="Arial" panose="020B0604020202020204" pitchFamily="34" charset="0"/>
              <a:buChar char="•"/>
            </a:pPr>
            <a:r>
              <a:rPr lang="en-US" sz="2300" dirty="0">
                <a:latin typeface="Calibri" panose="020F0502020204030204" pitchFamily="34" charset="0"/>
                <a:cs typeface="Calibri" panose="020F0502020204030204" pitchFamily="34" charset="0"/>
              </a:rPr>
              <a:t>It helps establish the basic structure of the page before you get into the details.</a:t>
            </a:r>
          </a:p>
          <a:p>
            <a:pPr marL="342900" indent="-342900">
              <a:lnSpc>
                <a:spcPct val="150000"/>
              </a:lnSpc>
              <a:buFont typeface="Arial" panose="020B0604020202020204" pitchFamily="34" charset="0"/>
              <a:buChar char="•"/>
            </a:pPr>
            <a:r>
              <a:rPr lang="en-US" sz="2300" dirty="0">
                <a:latin typeface="Calibri" panose="020F0502020204030204" pitchFamily="34" charset="0"/>
                <a:cs typeface="Calibri" panose="020F0502020204030204" pitchFamily="34" charset="0"/>
              </a:rPr>
              <a:t>It allows you to visualize the layout and ensure that all parts of the page are accounted for.</a:t>
            </a:r>
          </a:p>
          <a:p>
            <a:pPr marL="342900" indent="-342900">
              <a:lnSpc>
                <a:spcPct val="150000"/>
              </a:lnSpc>
              <a:buFont typeface="Arial" panose="020B0604020202020204" pitchFamily="34" charset="0"/>
              <a:buChar char="•"/>
            </a:pPr>
            <a:r>
              <a:rPr lang="en-US" sz="2300" dirty="0">
                <a:latin typeface="Calibri" panose="020F0502020204030204" pitchFamily="34" charset="0"/>
                <a:cs typeface="Calibri" panose="020F0502020204030204" pitchFamily="34" charset="0"/>
              </a:rPr>
              <a:t>It can help with organization and planning, especially if multiple people are working on the content and design.</a:t>
            </a:r>
          </a:p>
          <a:p>
            <a:pPr marL="342900" indent="-342900">
              <a:lnSpc>
                <a:spcPct val="150000"/>
              </a:lnSpc>
              <a:buFont typeface="Arial" panose="020B0604020202020204" pitchFamily="34" charset="0"/>
              <a:buChar char="•"/>
            </a:pPr>
            <a:r>
              <a:rPr lang="en-US" sz="2300" dirty="0">
                <a:latin typeface="Calibri" panose="020F0502020204030204" pitchFamily="34" charset="0"/>
                <a:cs typeface="Calibri" panose="020F0502020204030204" pitchFamily="34" charset="0"/>
              </a:rPr>
              <a:t>It allows you to style these elements with CSS simultaneously while adding content, making the development process more efficient.</a:t>
            </a:r>
          </a:p>
          <a:p>
            <a:pPr marL="342900" indent="-342900">
              <a:lnSpc>
                <a:spcPct val="150000"/>
              </a:lnSpc>
              <a:buFont typeface="Arial" panose="020B0604020202020204" pitchFamily="34" charset="0"/>
              <a:buChar char="•"/>
            </a:pPr>
            <a:r>
              <a:rPr lang="en-US" sz="2300" dirty="0">
                <a:latin typeface="Calibri" panose="020F0502020204030204" pitchFamily="34" charset="0"/>
                <a:cs typeface="Calibri" panose="020F0502020204030204" pitchFamily="34" charset="0"/>
              </a:rPr>
              <a:t>It's easier to troubleshoot and debug the structure before content is added, as errors can be more readily identified and fixed.</a:t>
            </a:r>
            <a:endParaRPr lang="en-AU" sz="23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858594892"/>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298D0B0D-BA55-0C51-2295-E2BFCD9675BF}"/>
              </a:ext>
            </a:extLst>
          </p:cNvPr>
          <p:cNvSpPr txBox="1"/>
          <p:nvPr/>
        </p:nvSpPr>
        <p:spPr>
          <a:xfrm>
            <a:off x="265963" y="929774"/>
            <a:ext cx="11151476" cy="1630190"/>
          </a:xfrm>
          <a:prstGeom prst="rect">
            <a:avLst/>
          </a:prstGeom>
          <a:noFill/>
        </p:spPr>
        <p:txBody>
          <a:bodyPr wrap="square" rtlCol="0">
            <a:spAutoFit/>
          </a:bodyPr>
          <a:lstStyle/>
          <a:p>
            <a:pPr>
              <a:lnSpc>
                <a:spcPct val="150000"/>
              </a:lnSpc>
            </a:pPr>
            <a:r>
              <a:rPr lang="en-US" altLang="en-US" sz="2300" dirty="0">
                <a:solidFill>
                  <a:srgbClr val="0D0D0D"/>
                </a:solidFill>
                <a:latin typeface="Calibri" panose="020F0502020204030204" pitchFamily="34" charset="0"/>
                <a:cs typeface="Calibri" panose="020F0502020204030204" pitchFamily="34" charset="0"/>
              </a:rPr>
              <a:t>To complete Challenge 2 as outlined in the task description, you'll need to create an external stylesheet and update the HTML file with the specified changes. Below are the step-by-step instructions to complete this challenge.</a:t>
            </a:r>
            <a:endParaRPr lang="en-AU" sz="2300" dirty="0">
              <a:highlight>
                <a:srgbClr val="00FF00"/>
              </a:highlight>
              <a:latin typeface="Calibri" panose="020F0502020204030204" pitchFamily="34" charset="0"/>
              <a:cs typeface="Calibri" panose="020F0502020204030204" pitchFamily="34" charset="0"/>
            </a:endParaRPr>
          </a:p>
        </p:txBody>
      </p:sp>
      <p:sp>
        <p:nvSpPr>
          <p:cNvPr id="5" name="Rectangle 1">
            <a:extLst>
              <a:ext uri="{FF2B5EF4-FFF2-40B4-BE49-F238E27FC236}">
                <a16:creationId xmlns:a16="http://schemas.microsoft.com/office/drawing/2014/main" id="{CB1693F2-5AEE-7DB3-BD87-EADE811E6000}"/>
              </a:ext>
            </a:extLst>
          </p:cNvPr>
          <p:cNvSpPr>
            <a:spLocks noChangeArrowheads="1"/>
          </p:cNvSpPr>
          <p:nvPr/>
        </p:nvSpPr>
        <p:spPr bwMode="auto">
          <a:xfrm>
            <a:off x="0" y="-138499"/>
            <a:ext cx="65" cy="27699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2" name="TextBox 1">
            <a:extLst>
              <a:ext uri="{FF2B5EF4-FFF2-40B4-BE49-F238E27FC236}">
                <a16:creationId xmlns:a16="http://schemas.microsoft.com/office/drawing/2014/main" id="{D56D5ECD-9EFB-16EB-2852-CD1BF12F9951}"/>
              </a:ext>
            </a:extLst>
          </p:cNvPr>
          <p:cNvSpPr txBox="1"/>
          <p:nvPr/>
        </p:nvSpPr>
        <p:spPr>
          <a:xfrm>
            <a:off x="94592" y="0"/>
            <a:ext cx="12097407" cy="671851"/>
          </a:xfrm>
          <a:prstGeom prst="rect">
            <a:avLst/>
          </a:prstGeom>
          <a:noFill/>
        </p:spPr>
        <p:txBody>
          <a:bodyPr wrap="square" rtlCol="0">
            <a:spAutoFit/>
          </a:bodyPr>
          <a:lstStyle/>
          <a:p>
            <a:pPr>
              <a:lnSpc>
                <a:spcPct val="150000"/>
              </a:lnSpc>
            </a:pPr>
            <a:r>
              <a:rPr lang="en-AU" sz="2800" b="1" dirty="0">
                <a:latin typeface="Calibri" panose="020F0502020204030204" pitchFamily="34" charset="0"/>
                <a:cs typeface="Calibri" panose="020F0502020204030204" pitchFamily="34" charset="0"/>
              </a:rPr>
              <a:t>Challenge 2 - </a:t>
            </a:r>
            <a:r>
              <a:rPr lang="en-US" sz="2800" b="1" dirty="0">
                <a:latin typeface="Calibri" panose="020F0502020204030204" pitchFamily="34" charset="0"/>
                <a:cs typeface="Calibri" panose="020F0502020204030204" pitchFamily="34" charset="0"/>
              </a:rPr>
              <a:t>Creating an External Style Sheet for City Farmer</a:t>
            </a:r>
          </a:p>
        </p:txBody>
      </p:sp>
      <p:sp>
        <p:nvSpPr>
          <p:cNvPr id="3" name="TextBox 2">
            <a:extLst>
              <a:ext uri="{FF2B5EF4-FFF2-40B4-BE49-F238E27FC236}">
                <a16:creationId xmlns:a16="http://schemas.microsoft.com/office/drawing/2014/main" id="{0AFB49A8-4E12-CD9C-49A7-F4CFAA05DDC2}"/>
              </a:ext>
            </a:extLst>
          </p:cNvPr>
          <p:cNvSpPr txBox="1"/>
          <p:nvPr/>
        </p:nvSpPr>
        <p:spPr>
          <a:xfrm>
            <a:off x="265963" y="2667847"/>
            <a:ext cx="11151476" cy="2161104"/>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en-US" altLang="en-US" sz="2300" dirty="0">
                <a:solidFill>
                  <a:srgbClr val="0D0D0D"/>
                </a:solidFill>
                <a:latin typeface="Calibri" panose="020F0502020204030204" pitchFamily="34" charset="0"/>
                <a:cs typeface="Calibri" panose="020F0502020204030204" pitchFamily="34" charset="0"/>
              </a:rPr>
              <a:t>First, here is the updated HTML code, saved as cityfarmer04.html, with the modifications as instructed, including comments with your name and today's date (the date has been left generic for you to fill in). Note that the image tags will be updated in step 13:</a:t>
            </a:r>
          </a:p>
          <a:p>
            <a:pPr marL="342900" indent="-342900">
              <a:lnSpc>
                <a:spcPct val="150000"/>
              </a:lnSpc>
              <a:buFont typeface="Arial" panose="020B0604020202020204" pitchFamily="34" charset="0"/>
              <a:buChar char="•"/>
            </a:pPr>
            <a:r>
              <a:rPr lang="en-AU" sz="2300" dirty="0">
                <a:highlight>
                  <a:srgbClr val="00FF00"/>
                </a:highlight>
                <a:latin typeface="Calibri" panose="020F0502020204030204" pitchFamily="34" charset="0"/>
                <a:cs typeface="Calibri" panose="020F0502020204030204" pitchFamily="34" charset="0"/>
              </a:rPr>
              <a:t>‘</a:t>
            </a:r>
            <a:r>
              <a:rPr lang="en-AU" sz="2300" b="1" dirty="0">
                <a:highlight>
                  <a:srgbClr val="00FF00"/>
                </a:highlight>
                <a:latin typeface="Calibri" panose="020F0502020204030204" pitchFamily="34" charset="0"/>
                <a:cs typeface="Calibri" panose="020F0502020204030204" pitchFamily="34" charset="0"/>
              </a:rPr>
              <a:t>Index</a:t>
            </a:r>
            <a:r>
              <a:rPr lang="en-AU" sz="2300" dirty="0">
                <a:highlight>
                  <a:srgbClr val="00FF00"/>
                </a:highlight>
                <a:latin typeface="Calibri" panose="020F0502020204030204" pitchFamily="34" charset="0"/>
                <a:cs typeface="Calibri" panose="020F0502020204030204" pitchFamily="34" charset="0"/>
              </a:rPr>
              <a:t>’ or ‘</a:t>
            </a:r>
            <a:r>
              <a:rPr lang="en-AU" sz="2300" b="1" dirty="0">
                <a:highlight>
                  <a:srgbClr val="00FF00"/>
                </a:highlight>
                <a:latin typeface="Calibri" panose="020F0502020204030204" pitchFamily="34" charset="0"/>
                <a:cs typeface="Calibri" panose="020F0502020204030204" pitchFamily="34" charset="0"/>
              </a:rPr>
              <a:t>home</a:t>
            </a:r>
            <a:r>
              <a:rPr lang="en-AU" sz="2300" dirty="0">
                <a:highlight>
                  <a:srgbClr val="00FF00"/>
                </a:highlight>
                <a:latin typeface="Calibri" panose="020F0502020204030204" pitchFamily="34" charset="0"/>
                <a:cs typeface="Calibri" panose="020F0502020204030204" pitchFamily="34" charset="0"/>
              </a:rPr>
              <a:t>’ file names are common for the main page</a:t>
            </a:r>
          </a:p>
        </p:txBody>
      </p:sp>
      <p:pic>
        <p:nvPicPr>
          <p:cNvPr id="7" name="Picture 6">
            <a:extLst>
              <a:ext uri="{FF2B5EF4-FFF2-40B4-BE49-F238E27FC236}">
                <a16:creationId xmlns:a16="http://schemas.microsoft.com/office/drawing/2014/main" id="{6A2AFD28-EB5C-845A-B75D-B7013357100F}"/>
              </a:ext>
            </a:extLst>
          </p:cNvPr>
          <p:cNvPicPr>
            <a:picLocks noChangeAspect="1"/>
          </p:cNvPicPr>
          <p:nvPr/>
        </p:nvPicPr>
        <p:blipFill rotWithShape="1">
          <a:blip r:embed="rId2"/>
          <a:srcRect l="12713" t="24878" r="35519" b="54959"/>
          <a:stretch/>
        </p:blipFill>
        <p:spPr>
          <a:xfrm>
            <a:off x="579864" y="5118409"/>
            <a:ext cx="6311590" cy="1382751"/>
          </a:xfrm>
          <a:prstGeom prst="rect">
            <a:avLst/>
          </a:prstGeom>
          <a:ln>
            <a:solidFill>
              <a:srgbClr val="FF0000"/>
            </a:solidFill>
          </a:ln>
        </p:spPr>
      </p:pic>
    </p:spTree>
    <p:extLst>
      <p:ext uri="{BB962C8B-B14F-4D97-AF65-F5344CB8AC3E}">
        <p14:creationId xmlns:p14="http://schemas.microsoft.com/office/powerpoint/2010/main" val="3466981197"/>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56D5ECD-9EFB-16EB-2852-CD1BF12F9951}"/>
              </a:ext>
            </a:extLst>
          </p:cNvPr>
          <p:cNvSpPr txBox="1"/>
          <p:nvPr/>
        </p:nvSpPr>
        <p:spPr>
          <a:xfrm>
            <a:off x="94592" y="0"/>
            <a:ext cx="12097407" cy="671851"/>
          </a:xfrm>
          <a:prstGeom prst="rect">
            <a:avLst/>
          </a:prstGeom>
          <a:noFill/>
        </p:spPr>
        <p:txBody>
          <a:bodyPr wrap="square" rtlCol="0">
            <a:spAutoFit/>
          </a:bodyPr>
          <a:lstStyle/>
          <a:p>
            <a:pPr>
              <a:lnSpc>
                <a:spcPct val="150000"/>
              </a:lnSpc>
            </a:pPr>
            <a:r>
              <a:rPr lang="en-AU" sz="2800" b="1" dirty="0">
                <a:latin typeface="Calibri" panose="020F0502020204030204" pitchFamily="34" charset="0"/>
                <a:cs typeface="Calibri" panose="020F0502020204030204" pitchFamily="34" charset="0"/>
              </a:rPr>
              <a:t>Challenge 2 - </a:t>
            </a:r>
            <a:r>
              <a:rPr lang="en-US" sz="2800" b="1" dirty="0">
                <a:latin typeface="Calibri" panose="020F0502020204030204" pitchFamily="34" charset="0"/>
                <a:cs typeface="Calibri" panose="020F0502020204030204" pitchFamily="34" charset="0"/>
              </a:rPr>
              <a:t>Creating an External Style Sheet for City Farmer</a:t>
            </a:r>
          </a:p>
        </p:txBody>
      </p:sp>
      <p:pic>
        <p:nvPicPr>
          <p:cNvPr id="8" name="Picture 7">
            <a:extLst>
              <a:ext uri="{FF2B5EF4-FFF2-40B4-BE49-F238E27FC236}">
                <a16:creationId xmlns:a16="http://schemas.microsoft.com/office/drawing/2014/main" id="{06332A5D-30DB-89AA-CFB5-8752699F7FE0}"/>
              </a:ext>
            </a:extLst>
          </p:cNvPr>
          <p:cNvPicPr>
            <a:picLocks noChangeAspect="1"/>
          </p:cNvPicPr>
          <p:nvPr/>
        </p:nvPicPr>
        <p:blipFill rotWithShape="1">
          <a:blip r:embed="rId2"/>
          <a:srcRect r="13201" b="13171"/>
          <a:stretch/>
        </p:blipFill>
        <p:spPr>
          <a:xfrm>
            <a:off x="1282390" y="671851"/>
            <a:ext cx="10909610" cy="6138810"/>
          </a:xfrm>
          <a:prstGeom prst="rect">
            <a:avLst/>
          </a:prstGeom>
        </p:spPr>
      </p:pic>
      <p:sp>
        <p:nvSpPr>
          <p:cNvPr id="9" name="TextBox 8">
            <a:extLst>
              <a:ext uri="{FF2B5EF4-FFF2-40B4-BE49-F238E27FC236}">
                <a16:creationId xmlns:a16="http://schemas.microsoft.com/office/drawing/2014/main" id="{4BF7F2A8-2C64-6490-2960-2C6D65FFD61C}"/>
              </a:ext>
            </a:extLst>
          </p:cNvPr>
          <p:cNvSpPr txBox="1"/>
          <p:nvPr/>
        </p:nvSpPr>
        <p:spPr>
          <a:xfrm>
            <a:off x="8095785" y="2074127"/>
            <a:ext cx="3412274" cy="1200329"/>
          </a:xfrm>
          <a:prstGeom prst="rect">
            <a:avLst/>
          </a:prstGeom>
          <a:noFill/>
          <a:ln>
            <a:solidFill>
              <a:srgbClr val="FF0000"/>
            </a:solidFill>
          </a:ln>
        </p:spPr>
        <p:txBody>
          <a:bodyPr wrap="square" rtlCol="0">
            <a:spAutoFit/>
          </a:bodyPr>
          <a:lstStyle/>
          <a:p>
            <a:r>
              <a:rPr lang="en-US" sz="2400" dirty="0">
                <a:latin typeface="Calibri" panose="020F0502020204030204" pitchFamily="34" charset="0"/>
                <a:cs typeface="Calibri" panose="020F0502020204030204" pitchFamily="34" charset="0"/>
              </a:rPr>
              <a:t>This HTML code is available on </a:t>
            </a:r>
            <a:r>
              <a:rPr lang="en-US" sz="2400" dirty="0" err="1">
                <a:latin typeface="Calibri" panose="020F0502020204030204" pitchFamily="34" charset="0"/>
                <a:cs typeface="Calibri" panose="020F0502020204030204" pitchFamily="34" charset="0"/>
              </a:rPr>
              <a:t>Github</a:t>
            </a:r>
            <a:endParaRPr lang="en-US" sz="2400" dirty="0">
              <a:latin typeface="Calibri" panose="020F0502020204030204" pitchFamily="34" charset="0"/>
              <a:cs typeface="Calibri" panose="020F0502020204030204" pitchFamily="34" charset="0"/>
            </a:endParaRPr>
          </a:p>
          <a:p>
            <a:r>
              <a:rPr lang="en-US" sz="2400" dirty="0">
                <a:latin typeface="Calibri" panose="020F0502020204030204" pitchFamily="34" charset="0"/>
                <a:cs typeface="Calibri" panose="020F0502020204030204" pitchFamily="34" charset="0"/>
              </a:rPr>
              <a:t>City-Farmer-Index.HTML</a:t>
            </a:r>
            <a:endParaRPr lang="en-AU" sz="2400" dirty="0">
              <a:latin typeface="Calibri" panose="020F0502020204030204" pitchFamily="34" charset="0"/>
              <a:cs typeface="Calibri" panose="020F0502020204030204" pitchFamily="34" charset="0"/>
            </a:endParaRPr>
          </a:p>
        </p:txBody>
      </p:sp>
      <p:sp>
        <p:nvSpPr>
          <p:cNvPr id="3" name="TextBox 2">
            <a:extLst>
              <a:ext uri="{FF2B5EF4-FFF2-40B4-BE49-F238E27FC236}">
                <a16:creationId xmlns:a16="http://schemas.microsoft.com/office/drawing/2014/main" id="{3F530BC6-EFAA-4FFF-8F0C-5FCE84E006E9}"/>
              </a:ext>
            </a:extLst>
          </p:cNvPr>
          <p:cNvSpPr txBox="1"/>
          <p:nvPr/>
        </p:nvSpPr>
        <p:spPr>
          <a:xfrm>
            <a:off x="4634751" y="2379586"/>
            <a:ext cx="2402541" cy="230832"/>
          </a:xfrm>
          <a:prstGeom prst="rect">
            <a:avLst/>
          </a:prstGeom>
          <a:solidFill>
            <a:schemeClr val="bg1"/>
          </a:solidFill>
        </p:spPr>
        <p:txBody>
          <a:bodyPr wrap="square" rtlCol="0">
            <a:spAutoFit/>
          </a:bodyPr>
          <a:lstStyle/>
          <a:p>
            <a:r>
              <a:rPr lang="en-US" sz="900" dirty="0">
                <a:solidFill>
                  <a:srgbClr val="7030A0"/>
                </a:solidFill>
                <a:latin typeface="Arial" panose="020B0604020202020204" pitchFamily="34" charset="0"/>
                <a:cs typeface="Arial" panose="020B0604020202020204" pitchFamily="34" charset="0"/>
              </a:rPr>
              <a:t>“City-Farmer-Style.css”&gt;</a:t>
            </a:r>
            <a:endParaRPr lang="en-AU" sz="900" dirty="0">
              <a:solidFill>
                <a:srgbClr val="7030A0"/>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982919849"/>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56D5ECD-9EFB-16EB-2852-CD1BF12F9951}"/>
              </a:ext>
            </a:extLst>
          </p:cNvPr>
          <p:cNvSpPr txBox="1"/>
          <p:nvPr/>
        </p:nvSpPr>
        <p:spPr>
          <a:xfrm>
            <a:off x="94592" y="0"/>
            <a:ext cx="12097407" cy="671851"/>
          </a:xfrm>
          <a:prstGeom prst="rect">
            <a:avLst/>
          </a:prstGeom>
          <a:noFill/>
        </p:spPr>
        <p:txBody>
          <a:bodyPr wrap="square" rtlCol="0">
            <a:spAutoFit/>
          </a:bodyPr>
          <a:lstStyle/>
          <a:p>
            <a:pPr>
              <a:lnSpc>
                <a:spcPct val="150000"/>
              </a:lnSpc>
            </a:pPr>
            <a:r>
              <a:rPr lang="en-US" sz="2800" b="1" dirty="0">
                <a:latin typeface="Calibri" panose="020F0502020204030204" pitchFamily="34" charset="0"/>
                <a:cs typeface="Calibri" panose="020F0502020204030204" pitchFamily="34" charset="0"/>
              </a:rPr>
              <a:t>Challenge 2 - Creating an External Style Sheet for City Farmer</a:t>
            </a:r>
            <a:endParaRPr lang="en-US" sz="2600" b="1" dirty="0">
              <a:latin typeface="Calibri" panose="020F0502020204030204" pitchFamily="34" charset="0"/>
              <a:cs typeface="Calibri" panose="020F0502020204030204" pitchFamily="34" charset="0"/>
            </a:endParaRPr>
          </a:p>
        </p:txBody>
      </p:sp>
      <p:sp>
        <p:nvSpPr>
          <p:cNvPr id="3" name="TextBox 2">
            <a:extLst>
              <a:ext uri="{FF2B5EF4-FFF2-40B4-BE49-F238E27FC236}">
                <a16:creationId xmlns:a16="http://schemas.microsoft.com/office/drawing/2014/main" id="{02D6C3CB-4896-2986-FE42-C07502073E3F}"/>
              </a:ext>
            </a:extLst>
          </p:cNvPr>
          <p:cNvSpPr txBox="1"/>
          <p:nvPr/>
        </p:nvSpPr>
        <p:spPr>
          <a:xfrm>
            <a:off x="94592" y="847493"/>
            <a:ext cx="3260897" cy="5963427"/>
          </a:xfrm>
          <a:prstGeom prst="rect">
            <a:avLst/>
          </a:prstGeom>
          <a:noFill/>
        </p:spPr>
        <p:txBody>
          <a:bodyPr wrap="square" rtlCol="0">
            <a:spAutoFit/>
          </a:bodyPr>
          <a:lstStyle/>
          <a:p>
            <a:pPr>
              <a:lnSpc>
                <a:spcPct val="150000"/>
              </a:lnSpc>
            </a:pPr>
            <a:r>
              <a:rPr lang="en-US" sz="1600" dirty="0">
                <a:latin typeface="Calibri" panose="020F0502020204030204" pitchFamily="34" charset="0"/>
                <a:cs typeface="Calibri" panose="020F0502020204030204" pitchFamily="34" charset="0"/>
              </a:rPr>
              <a:t>Regarding step 19, using classes like </a:t>
            </a:r>
            <a:r>
              <a:rPr lang="en-US" sz="1600" b="1" dirty="0">
                <a:latin typeface="Calibri" panose="020F0502020204030204" pitchFamily="34" charset="0"/>
                <a:cs typeface="Calibri" panose="020F0502020204030204" pitchFamily="34" charset="0"/>
              </a:rPr>
              <a:t>class="</a:t>
            </a:r>
            <a:r>
              <a:rPr lang="en-US" sz="1600" b="1" dirty="0" err="1">
                <a:latin typeface="Calibri" panose="020F0502020204030204" pitchFamily="34" charset="0"/>
                <a:cs typeface="Calibri" panose="020F0502020204030204" pitchFamily="34" charset="0"/>
              </a:rPr>
              <a:t>floatleft</a:t>
            </a:r>
            <a:r>
              <a:rPr lang="en-US" sz="1600" dirty="0">
                <a:latin typeface="Calibri" panose="020F0502020204030204" pitchFamily="34" charset="0"/>
                <a:cs typeface="Calibri" panose="020F0502020204030204" pitchFamily="34" charset="0"/>
              </a:rPr>
              <a:t>" and </a:t>
            </a:r>
            <a:r>
              <a:rPr lang="en-US" sz="1600" b="1" dirty="0">
                <a:latin typeface="Calibri" panose="020F0502020204030204" pitchFamily="34" charset="0"/>
                <a:cs typeface="Calibri" panose="020F0502020204030204" pitchFamily="34" charset="0"/>
              </a:rPr>
              <a:t>class="</a:t>
            </a:r>
            <a:r>
              <a:rPr lang="en-US" sz="1600" b="1" dirty="0" err="1">
                <a:latin typeface="Calibri" panose="020F0502020204030204" pitchFamily="34" charset="0"/>
                <a:cs typeface="Calibri" panose="020F0502020204030204" pitchFamily="34" charset="0"/>
              </a:rPr>
              <a:t>floatright</a:t>
            </a:r>
            <a:r>
              <a:rPr lang="en-US" sz="1600" dirty="0">
                <a:latin typeface="Calibri" panose="020F0502020204030204" pitchFamily="34" charset="0"/>
                <a:cs typeface="Calibri" panose="020F0502020204030204" pitchFamily="34" charset="0"/>
              </a:rPr>
              <a:t>" instead of IDs is considered a better practice when the styles are not unique and may be reused. Classes allow for the same styling to be applied to multiple elements, whereas IDs are intended to be unique within the page. This means if you want to float another image to the right or left, you can simply apply the same class without duplicating the style rules. Classes are generally more flexible and can help keep your stylesheets cleaner and more manageable.</a:t>
            </a:r>
            <a:endParaRPr lang="en-AU" sz="1600" dirty="0">
              <a:latin typeface="Calibri" panose="020F0502020204030204" pitchFamily="34" charset="0"/>
              <a:cs typeface="Calibri" panose="020F0502020204030204" pitchFamily="34" charset="0"/>
            </a:endParaRPr>
          </a:p>
        </p:txBody>
      </p:sp>
      <p:pic>
        <p:nvPicPr>
          <p:cNvPr id="5" name="Picture 4">
            <a:extLst>
              <a:ext uri="{FF2B5EF4-FFF2-40B4-BE49-F238E27FC236}">
                <a16:creationId xmlns:a16="http://schemas.microsoft.com/office/drawing/2014/main" id="{7EC56579-194D-55D0-649E-FB4CC4753DDA}"/>
              </a:ext>
            </a:extLst>
          </p:cNvPr>
          <p:cNvPicPr>
            <a:picLocks noChangeAspect="1"/>
          </p:cNvPicPr>
          <p:nvPr/>
        </p:nvPicPr>
        <p:blipFill rotWithShape="1">
          <a:blip r:embed="rId2"/>
          <a:srcRect l="3476" t="11219" r="63415" b="16261"/>
          <a:stretch/>
        </p:blipFill>
        <p:spPr>
          <a:xfrm>
            <a:off x="3355489" y="991535"/>
            <a:ext cx="4761571" cy="5866465"/>
          </a:xfrm>
          <a:prstGeom prst="rect">
            <a:avLst/>
          </a:prstGeom>
        </p:spPr>
      </p:pic>
      <p:sp>
        <p:nvSpPr>
          <p:cNvPr id="9" name="TextBox 8">
            <a:extLst>
              <a:ext uri="{FF2B5EF4-FFF2-40B4-BE49-F238E27FC236}">
                <a16:creationId xmlns:a16="http://schemas.microsoft.com/office/drawing/2014/main" id="{4BF7F2A8-2C64-6490-2960-2C6D65FFD61C}"/>
              </a:ext>
            </a:extLst>
          </p:cNvPr>
          <p:cNvSpPr txBox="1"/>
          <p:nvPr/>
        </p:nvSpPr>
        <p:spPr>
          <a:xfrm>
            <a:off x="8424592" y="2170081"/>
            <a:ext cx="3412274" cy="1938992"/>
          </a:xfrm>
          <a:prstGeom prst="rect">
            <a:avLst/>
          </a:prstGeom>
          <a:noFill/>
          <a:ln>
            <a:solidFill>
              <a:srgbClr val="FF0000"/>
            </a:solidFill>
          </a:ln>
        </p:spPr>
        <p:txBody>
          <a:bodyPr wrap="square" rtlCol="0">
            <a:spAutoFit/>
          </a:bodyPr>
          <a:lstStyle/>
          <a:p>
            <a:r>
              <a:rPr lang="en-US" sz="2400" dirty="0">
                <a:latin typeface="Calibri" panose="020F0502020204030204" pitchFamily="34" charset="0"/>
                <a:cs typeface="Calibri" panose="020F0502020204030204" pitchFamily="34" charset="0"/>
              </a:rPr>
              <a:t>Use Notepad ++ and type this code, then save it as Cascade Style Sheets File</a:t>
            </a:r>
          </a:p>
          <a:p>
            <a:endParaRPr lang="en-US" sz="2400" dirty="0">
              <a:latin typeface="Calibri" panose="020F0502020204030204" pitchFamily="34" charset="0"/>
              <a:cs typeface="Calibri" panose="020F0502020204030204" pitchFamily="34" charset="0"/>
            </a:endParaRPr>
          </a:p>
          <a:p>
            <a:r>
              <a:rPr lang="en-US" sz="2400" dirty="0">
                <a:latin typeface="Calibri" panose="020F0502020204030204" pitchFamily="34" charset="0"/>
                <a:cs typeface="Calibri" panose="020F0502020204030204" pitchFamily="34" charset="0"/>
              </a:rPr>
              <a:t>City-Farmer-Style.CSS</a:t>
            </a:r>
            <a:endParaRPr lang="en-AU" sz="24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671283163"/>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2012E78F-73EB-9863-D627-C111117A1394}"/>
              </a:ext>
            </a:extLst>
          </p:cNvPr>
          <p:cNvPicPr>
            <a:picLocks noChangeAspect="1"/>
          </p:cNvPicPr>
          <p:nvPr/>
        </p:nvPicPr>
        <p:blipFill rotWithShape="1">
          <a:blip r:embed="rId2"/>
          <a:srcRect b="10244"/>
          <a:stretch/>
        </p:blipFill>
        <p:spPr>
          <a:xfrm>
            <a:off x="0" y="702527"/>
            <a:ext cx="12192000" cy="6155473"/>
          </a:xfrm>
          <a:prstGeom prst="rect">
            <a:avLst/>
          </a:prstGeom>
        </p:spPr>
      </p:pic>
      <p:sp>
        <p:nvSpPr>
          <p:cNvPr id="6" name="TextBox 5">
            <a:extLst>
              <a:ext uri="{FF2B5EF4-FFF2-40B4-BE49-F238E27FC236}">
                <a16:creationId xmlns:a16="http://schemas.microsoft.com/office/drawing/2014/main" id="{50CD7E13-C997-C2FE-F62B-DB40E1D769C6}"/>
              </a:ext>
            </a:extLst>
          </p:cNvPr>
          <p:cNvSpPr txBox="1"/>
          <p:nvPr/>
        </p:nvSpPr>
        <p:spPr>
          <a:xfrm>
            <a:off x="94592" y="0"/>
            <a:ext cx="12097407" cy="671851"/>
          </a:xfrm>
          <a:prstGeom prst="rect">
            <a:avLst/>
          </a:prstGeom>
          <a:noFill/>
        </p:spPr>
        <p:txBody>
          <a:bodyPr wrap="square" rtlCol="0">
            <a:spAutoFit/>
          </a:bodyPr>
          <a:lstStyle/>
          <a:p>
            <a:pPr>
              <a:lnSpc>
                <a:spcPct val="150000"/>
              </a:lnSpc>
            </a:pPr>
            <a:r>
              <a:rPr lang="en-US" sz="2800" b="1" dirty="0">
                <a:latin typeface="Calibri" panose="020F0502020204030204" pitchFamily="34" charset="0"/>
                <a:cs typeface="Calibri" panose="020F0502020204030204" pitchFamily="34" charset="0"/>
              </a:rPr>
              <a:t>Challenge 2 - Creating an External Style Sheet for City Farmer</a:t>
            </a:r>
            <a:endParaRPr lang="en-US" sz="2600" b="1" dirty="0">
              <a:latin typeface="Calibri" panose="020F0502020204030204" pitchFamily="34" charset="0"/>
              <a:cs typeface="Calibri" panose="020F0502020204030204" pitchFamily="34" charset="0"/>
            </a:endParaRPr>
          </a:p>
        </p:txBody>
      </p:sp>
      <p:pic>
        <p:nvPicPr>
          <p:cNvPr id="14" name="Picture 13">
            <a:extLst>
              <a:ext uri="{FF2B5EF4-FFF2-40B4-BE49-F238E27FC236}">
                <a16:creationId xmlns:a16="http://schemas.microsoft.com/office/drawing/2014/main" id="{F01E30E3-F85A-212E-6BB6-60EB8B46C6AC}"/>
              </a:ext>
            </a:extLst>
          </p:cNvPr>
          <p:cNvPicPr>
            <a:picLocks noChangeAspect="1"/>
          </p:cNvPicPr>
          <p:nvPr/>
        </p:nvPicPr>
        <p:blipFill rotWithShape="1">
          <a:blip r:embed="rId3"/>
          <a:srcRect l="11555" t="24716" r="42927" b="39024"/>
          <a:stretch/>
        </p:blipFill>
        <p:spPr>
          <a:xfrm>
            <a:off x="7761249" y="3321095"/>
            <a:ext cx="4430750" cy="1761891"/>
          </a:xfrm>
          <a:prstGeom prst="rect">
            <a:avLst/>
          </a:prstGeom>
        </p:spPr>
      </p:pic>
      <p:sp>
        <p:nvSpPr>
          <p:cNvPr id="10" name="TextBox 9">
            <a:extLst>
              <a:ext uri="{FF2B5EF4-FFF2-40B4-BE49-F238E27FC236}">
                <a16:creationId xmlns:a16="http://schemas.microsoft.com/office/drawing/2014/main" id="{35A078A8-42C8-446B-96D9-9CF04B9485A2}"/>
              </a:ext>
            </a:extLst>
          </p:cNvPr>
          <p:cNvSpPr txBox="1"/>
          <p:nvPr/>
        </p:nvSpPr>
        <p:spPr>
          <a:xfrm>
            <a:off x="4831976" y="2503839"/>
            <a:ext cx="7004890" cy="461665"/>
          </a:xfrm>
          <a:prstGeom prst="rect">
            <a:avLst/>
          </a:prstGeom>
          <a:noFill/>
          <a:ln>
            <a:solidFill>
              <a:srgbClr val="FF0000"/>
            </a:solidFill>
          </a:ln>
        </p:spPr>
        <p:txBody>
          <a:bodyPr wrap="square" rtlCol="0">
            <a:spAutoFit/>
          </a:bodyPr>
          <a:lstStyle/>
          <a:p>
            <a:r>
              <a:rPr lang="en-US" sz="2400" dirty="0">
                <a:latin typeface="Calibri" panose="020F0502020204030204" pitchFamily="34" charset="0"/>
                <a:cs typeface="Calibri" panose="020F0502020204030204" pitchFamily="34" charset="0"/>
              </a:rPr>
              <a:t>Download the jpg file from GitHub</a:t>
            </a:r>
            <a:endParaRPr lang="en-AU" sz="2400" dirty="0">
              <a:latin typeface="Calibri" panose="020F0502020204030204" pitchFamily="34" charset="0"/>
              <a:cs typeface="Calibri" panose="020F0502020204030204" pitchFamily="34" charset="0"/>
            </a:endParaRPr>
          </a:p>
        </p:txBody>
      </p:sp>
      <p:sp>
        <p:nvSpPr>
          <p:cNvPr id="9" name="Rectangle: Rounded Corners 8">
            <a:extLst>
              <a:ext uri="{FF2B5EF4-FFF2-40B4-BE49-F238E27FC236}">
                <a16:creationId xmlns:a16="http://schemas.microsoft.com/office/drawing/2014/main" id="{1F388CC3-C94D-E87C-D0D9-422E888CD16E}"/>
              </a:ext>
            </a:extLst>
          </p:cNvPr>
          <p:cNvSpPr/>
          <p:nvPr/>
        </p:nvSpPr>
        <p:spPr>
          <a:xfrm>
            <a:off x="8256494" y="4643495"/>
            <a:ext cx="3334872" cy="179516"/>
          </a:xfrm>
          <a:prstGeom prst="round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Tree>
    <p:extLst>
      <p:ext uri="{BB962C8B-B14F-4D97-AF65-F5344CB8AC3E}">
        <p14:creationId xmlns:p14="http://schemas.microsoft.com/office/powerpoint/2010/main" val="3056811567"/>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D96F091D-06A6-2222-D196-62F71E8E8E51}"/>
              </a:ext>
            </a:extLst>
          </p:cNvPr>
          <p:cNvSpPr txBox="1"/>
          <p:nvPr/>
        </p:nvSpPr>
        <p:spPr>
          <a:xfrm>
            <a:off x="115229" y="89647"/>
            <a:ext cx="6259390" cy="4284763"/>
          </a:xfrm>
          <a:prstGeom prst="rect">
            <a:avLst/>
          </a:prstGeom>
          <a:noFill/>
        </p:spPr>
        <p:txBody>
          <a:bodyPr wrap="square" rtlCol="0">
            <a:spAutoFit/>
          </a:bodyPr>
          <a:lstStyle/>
          <a:p>
            <a:pPr>
              <a:lnSpc>
                <a:spcPct val="150000"/>
              </a:lnSpc>
            </a:pPr>
            <a:r>
              <a:rPr lang="en-US" sz="2300" b="1" dirty="0">
                <a:latin typeface="Calibri" panose="020F0502020204030204" pitchFamily="34" charset="0"/>
                <a:cs typeface="Calibri" panose="020F0502020204030204" pitchFamily="34" charset="0"/>
              </a:rPr>
              <a:t>Sidebar Project:</a:t>
            </a:r>
          </a:p>
          <a:p>
            <a:pPr>
              <a:lnSpc>
                <a:spcPct val="150000"/>
              </a:lnSpc>
            </a:pPr>
            <a:r>
              <a:rPr lang="en-US" sz="2300" dirty="0">
                <a:latin typeface="Calibri" panose="020F0502020204030204" pitchFamily="34" charset="0"/>
                <a:cs typeface="Calibri" panose="020F0502020204030204" pitchFamily="34" charset="0"/>
              </a:rPr>
              <a:t>This code creates a layout with a sidebar and a main content area side by side using flexbox. The logo and menu are in the sidebar, and the title and subtitle are in the main content area. Adjust the values of flex-basis, margin, padding, and other properties as necessary to fit the specific design you're aiming for.</a:t>
            </a:r>
            <a:endParaRPr lang="en-AU" sz="2300" dirty="0">
              <a:latin typeface="Calibri" panose="020F0502020204030204" pitchFamily="34" charset="0"/>
              <a:cs typeface="Calibri" panose="020F0502020204030204" pitchFamily="34" charset="0"/>
            </a:endParaRPr>
          </a:p>
        </p:txBody>
      </p:sp>
      <p:pic>
        <p:nvPicPr>
          <p:cNvPr id="11" name="Picture 10">
            <a:extLst>
              <a:ext uri="{FF2B5EF4-FFF2-40B4-BE49-F238E27FC236}">
                <a16:creationId xmlns:a16="http://schemas.microsoft.com/office/drawing/2014/main" id="{251912C0-8F99-475E-D1E4-637B08A6279A}"/>
              </a:ext>
            </a:extLst>
          </p:cNvPr>
          <p:cNvPicPr>
            <a:picLocks noChangeAspect="1"/>
          </p:cNvPicPr>
          <p:nvPr/>
        </p:nvPicPr>
        <p:blipFill rotWithShape="1">
          <a:blip r:embed="rId2"/>
          <a:srcRect t="8380" r="50000" b="13659"/>
          <a:stretch/>
        </p:blipFill>
        <p:spPr>
          <a:xfrm>
            <a:off x="6374619" y="1"/>
            <a:ext cx="5768552" cy="5059399"/>
          </a:xfrm>
          <a:prstGeom prst="rect">
            <a:avLst/>
          </a:prstGeom>
          <a:ln>
            <a:solidFill>
              <a:srgbClr val="FF0000"/>
            </a:solidFill>
          </a:ln>
        </p:spPr>
      </p:pic>
      <p:pic>
        <p:nvPicPr>
          <p:cNvPr id="13" name="Picture 12">
            <a:extLst>
              <a:ext uri="{FF2B5EF4-FFF2-40B4-BE49-F238E27FC236}">
                <a16:creationId xmlns:a16="http://schemas.microsoft.com/office/drawing/2014/main" id="{DB4E30CB-4E1A-E785-29A5-CD76BA360818}"/>
              </a:ext>
            </a:extLst>
          </p:cNvPr>
          <p:cNvPicPr>
            <a:picLocks noChangeAspect="1"/>
          </p:cNvPicPr>
          <p:nvPr/>
        </p:nvPicPr>
        <p:blipFill rotWithShape="1">
          <a:blip r:embed="rId3"/>
          <a:srcRect l="9908" t="21464" r="28750" b="53008"/>
          <a:stretch/>
        </p:blipFill>
        <p:spPr>
          <a:xfrm>
            <a:off x="4393580" y="5059400"/>
            <a:ext cx="7749591" cy="1798600"/>
          </a:xfrm>
          <a:prstGeom prst="rect">
            <a:avLst/>
          </a:prstGeom>
          <a:ln>
            <a:solidFill>
              <a:srgbClr val="FF0000"/>
            </a:solidFill>
          </a:ln>
        </p:spPr>
      </p:pic>
    </p:spTree>
    <p:extLst>
      <p:ext uri="{BB962C8B-B14F-4D97-AF65-F5344CB8AC3E}">
        <p14:creationId xmlns:p14="http://schemas.microsoft.com/office/powerpoint/2010/main" val="2467703410"/>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D96F091D-06A6-2222-D196-62F71E8E8E51}"/>
              </a:ext>
            </a:extLst>
          </p:cNvPr>
          <p:cNvSpPr txBox="1"/>
          <p:nvPr/>
        </p:nvSpPr>
        <p:spPr>
          <a:xfrm>
            <a:off x="1" y="0"/>
            <a:ext cx="6467708" cy="6641690"/>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en-US" sz="2200" b="1" dirty="0">
                <a:latin typeface="Calibri" panose="020F0502020204030204" pitchFamily="34" charset="0"/>
                <a:cs typeface="Calibri" panose="020F0502020204030204" pitchFamily="34" charset="0"/>
              </a:rPr>
              <a:t>flex-basis: 250px</a:t>
            </a:r>
            <a:r>
              <a:rPr lang="en-US" sz="2200" dirty="0">
                <a:latin typeface="Calibri" panose="020F0502020204030204" pitchFamily="34" charset="0"/>
                <a:cs typeface="Calibri" panose="020F0502020204030204" pitchFamily="34" charset="0"/>
              </a:rPr>
              <a:t>;: This sets the default size of the sidebar. When using a flexbox layout, </a:t>
            </a:r>
            <a:r>
              <a:rPr lang="en-US" sz="2200" b="1" dirty="0">
                <a:latin typeface="Calibri" panose="020F0502020204030204" pitchFamily="34" charset="0"/>
                <a:cs typeface="Calibri" panose="020F0502020204030204" pitchFamily="34" charset="0"/>
              </a:rPr>
              <a:t>flex-basis</a:t>
            </a:r>
            <a:r>
              <a:rPr lang="en-US" sz="2200" dirty="0">
                <a:latin typeface="Calibri" panose="020F0502020204030204" pitchFamily="34" charset="0"/>
                <a:cs typeface="Calibri" panose="020F0502020204030204" pitchFamily="34" charset="0"/>
              </a:rPr>
              <a:t> is used to define the ideal size of a flex item before it's adjusted by </a:t>
            </a:r>
            <a:r>
              <a:rPr lang="en-US" sz="2200" b="1" dirty="0">
                <a:latin typeface="Calibri" panose="020F0502020204030204" pitchFamily="34" charset="0"/>
                <a:cs typeface="Calibri" panose="020F0502020204030204" pitchFamily="34" charset="0"/>
              </a:rPr>
              <a:t>flex-grow</a:t>
            </a:r>
            <a:r>
              <a:rPr lang="en-US" sz="2200" dirty="0">
                <a:latin typeface="Calibri" panose="020F0502020204030204" pitchFamily="34" charset="0"/>
                <a:cs typeface="Calibri" panose="020F0502020204030204" pitchFamily="34" charset="0"/>
              </a:rPr>
              <a:t> or </a:t>
            </a:r>
            <a:r>
              <a:rPr lang="en-US" sz="2200" b="1" dirty="0">
                <a:latin typeface="Calibri" panose="020F0502020204030204" pitchFamily="34" charset="0"/>
                <a:cs typeface="Calibri" panose="020F0502020204030204" pitchFamily="34" charset="0"/>
              </a:rPr>
              <a:t>flex-shrink</a:t>
            </a:r>
            <a:r>
              <a:rPr lang="en-US" sz="2200" dirty="0">
                <a:latin typeface="Calibri" panose="020F0502020204030204" pitchFamily="34" charset="0"/>
                <a:cs typeface="Calibri" panose="020F0502020204030204" pitchFamily="34" charset="0"/>
              </a:rPr>
              <a:t>. Here, it means that the sidebar will try to be 250 pixels wide.</a:t>
            </a:r>
          </a:p>
          <a:p>
            <a:pPr marL="342900" indent="-342900">
              <a:lnSpc>
                <a:spcPct val="150000"/>
              </a:lnSpc>
              <a:buFont typeface="Arial" panose="020B0604020202020204" pitchFamily="34" charset="0"/>
              <a:buChar char="•"/>
            </a:pPr>
            <a:r>
              <a:rPr lang="en-US" sz="2200" b="1" dirty="0">
                <a:latin typeface="Calibri" panose="020F0502020204030204" pitchFamily="34" charset="0"/>
                <a:cs typeface="Calibri" panose="020F0502020204030204" pitchFamily="34" charset="0"/>
              </a:rPr>
              <a:t>background-color: #f0f0f0</a:t>
            </a:r>
            <a:r>
              <a:rPr lang="en-US" sz="2200" dirty="0">
                <a:latin typeface="Calibri" panose="020F0502020204030204" pitchFamily="34" charset="0"/>
                <a:cs typeface="Calibri" panose="020F0502020204030204" pitchFamily="34" charset="0"/>
              </a:rPr>
              <a:t>;: This sets the background color of the sidebar. The color </a:t>
            </a:r>
            <a:r>
              <a:rPr lang="en-US" sz="2200" b="1" dirty="0">
                <a:latin typeface="Calibri" panose="020F0502020204030204" pitchFamily="34" charset="0"/>
                <a:cs typeface="Calibri" panose="020F0502020204030204" pitchFamily="34" charset="0"/>
              </a:rPr>
              <a:t>#f0f0f0 </a:t>
            </a:r>
            <a:r>
              <a:rPr lang="en-US" sz="2200" dirty="0">
                <a:latin typeface="Calibri" panose="020F0502020204030204" pitchFamily="34" charset="0"/>
                <a:cs typeface="Calibri" panose="020F0502020204030204" pitchFamily="34" charset="0"/>
              </a:rPr>
              <a:t>is a very light grey, providing a subtle contrast with other elements.</a:t>
            </a:r>
          </a:p>
          <a:p>
            <a:pPr marL="342900" indent="-342900">
              <a:lnSpc>
                <a:spcPct val="150000"/>
              </a:lnSpc>
              <a:buFont typeface="Arial" panose="020B0604020202020204" pitchFamily="34" charset="0"/>
              <a:buChar char="•"/>
              <a:tabLst>
                <a:tab pos="1160463" algn="l"/>
              </a:tabLst>
            </a:pPr>
            <a:r>
              <a:rPr lang="en-US" sz="2200" b="1" dirty="0">
                <a:latin typeface="Calibri" panose="020F0502020204030204" pitchFamily="34" charset="0"/>
                <a:cs typeface="Calibri" panose="020F0502020204030204" pitchFamily="34" charset="0"/>
              </a:rPr>
              <a:t>padding: 20px;: </a:t>
            </a:r>
            <a:r>
              <a:rPr lang="en-US" sz="2200" dirty="0">
                <a:latin typeface="Calibri" panose="020F0502020204030204" pitchFamily="34" charset="0"/>
                <a:cs typeface="Calibri" panose="020F0502020204030204" pitchFamily="34" charset="0"/>
              </a:rPr>
              <a:t>This adds space inside the sidebar, between the border of the sidebar and its content. This means all the content inside the sidebar will have a 20-pixel space from its edges.</a:t>
            </a:r>
            <a:endParaRPr lang="en-AU" sz="2200" dirty="0">
              <a:latin typeface="Calibri" panose="020F0502020204030204" pitchFamily="34" charset="0"/>
              <a:cs typeface="Calibri" panose="020F0502020204030204" pitchFamily="34" charset="0"/>
            </a:endParaRPr>
          </a:p>
        </p:txBody>
      </p:sp>
      <p:pic>
        <p:nvPicPr>
          <p:cNvPr id="3" name="Picture 2">
            <a:extLst>
              <a:ext uri="{FF2B5EF4-FFF2-40B4-BE49-F238E27FC236}">
                <a16:creationId xmlns:a16="http://schemas.microsoft.com/office/drawing/2014/main" id="{F0D5D5E1-9CFE-FC2A-95F1-980DEBD10BC3}"/>
              </a:ext>
            </a:extLst>
          </p:cNvPr>
          <p:cNvPicPr>
            <a:picLocks noChangeAspect="1"/>
          </p:cNvPicPr>
          <p:nvPr/>
        </p:nvPicPr>
        <p:blipFill rotWithShape="1">
          <a:blip r:embed="rId2"/>
          <a:srcRect l="4299" t="10894" r="65610" b="8130"/>
          <a:stretch/>
        </p:blipFill>
        <p:spPr>
          <a:xfrm>
            <a:off x="6467709" y="12513"/>
            <a:ext cx="4133772" cy="6257196"/>
          </a:xfrm>
          <a:prstGeom prst="rect">
            <a:avLst/>
          </a:prstGeom>
        </p:spPr>
      </p:pic>
      <p:pic>
        <p:nvPicPr>
          <p:cNvPr id="5" name="Picture 4">
            <a:extLst>
              <a:ext uri="{FF2B5EF4-FFF2-40B4-BE49-F238E27FC236}">
                <a16:creationId xmlns:a16="http://schemas.microsoft.com/office/drawing/2014/main" id="{ABC03102-1BDD-3D01-A14E-C2C3385AD95F}"/>
              </a:ext>
            </a:extLst>
          </p:cNvPr>
          <p:cNvPicPr>
            <a:picLocks noChangeAspect="1"/>
          </p:cNvPicPr>
          <p:nvPr/>
        </p:nvPicPr>
        <p:blipFill rotWithShape="1">
          <a:blip r:embed="rId3"/>
          <a:srcRect t="8380" r="50000" b="13659"/>
          <a:stretch/>
        </p:blipFill>
        <p:spPr>
          <a:xfrm>
            <a:off x="9140583" y="4169194"/>
            <a:ext cx="3051417" cy="2676293"/>
          </a:xfrm>
          <a:prstGeom prst="rect">
            <a:avLst/>
          </a:prstGeom>
          <a:ln>
            <a:solidFill>
              <a:srgbClr val="FF0000"/>
            </a:solidFill>
          </a:ln>
        </p:spPr>
      </p:pic>
    </p:spTree>
    <p:extLst>
      <p:ext uri="{BB962C8B-B14F-4D97-AF65-F5344CB8AC3E}">
        <p14:creationId xmlns:p14="http://schemas.microsoft.com/office/powerpoint/2010/main" val="21318291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 calcmode="lin" valueType="num">
                                      <p:cBhvr additive="base">
                                        <p:cTn id="7" dur="500" fill="hold"/>
                                        <p:tgtEl>
                                          <p:spTgt spid="6">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6">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6">
                                            <p:txEl>
                                              <p:pRg st="1" end="1"/>
                                            </p:txEl>
                                          </p:spTgt>
                                        </p:tgtEl>
                                        <p:attrNameLst>
                                          <p:attrName>style.visibility</p:attrName>
                                        </p:attrNameLst>
                                      </p:cBhvr>
                                      <p:to>
                                        <p:strVal val="visible"/>
                                      </p:to>
                                    </p:set>
                                    <p:anim calcmode="lin" valueType="num">
                                      <p:cBhvr additive="base">
                                        <p:cTn id="13" dur="500" fill="hold"/>
                                        <p:tgtEl>
                                          <p:spTgt spid="6">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6">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6">
                                            <p:txEl>
                                              <p:pRg st="2" end="2"/>
                                            </p:txEl>
                                          </p:spTgt>
                                        </p:tgtEl>
                                        <p:attrNameLst>
                                          <p:attrName>style.visibility</p:attrName>
                                        </p:attrNameLst>
                                      </p:cBhvr>
                                      <p:to>
                                        <p:strVal val="visible"/>
                                      </p:to>
                                    </p:set>
                                    <p:anim calcmode="lin" valueType="num">
                                      <p:cBhvr additive="base">
                                        <p:cTn id="19" dur="500" fill="hold"/>
                                        <p:tgtEl>
                                          <p:spTgt spid="6">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6">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D96F091D-06A6-2222-D196-62F71E8E8E51}"/>
              </a:ext>
            </a:extLst>
          </p:cNvPr>
          <p:cNvSpPr txBox="1"/>
          <p:nvPr/>
        </p:nvSpPr>
        <p:spPr>
          <a:xfrm>
            <a:off x="0" y="0"/>
            <a:ext cx="8058229" cy="4815677"/>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en-US" sz="2300" dirty="0">
                <a:latin typeface="Calibri" panose="020F0502020204030204" pitchFamily="34" charset="0"/>
                <a:cs typeface="Calibri" panose="020F0502020204030204" pitchFamily="34" charset="0"/>
              </a:rPr>
              <a:t>This CSS class is a part of the flexbox layout defined by the </a:t>
            </a:r>
            <a:r>
              <a:rPr lang="en-US" sz="2300" b="1" dirty="0">
                <a:latin typeface="Calibri" panose="020F0502020204030204" pitchFamily="34" charset="0"/>
                <a:cs typeface="Calibri" panose="020F0502020204030204" pitchFamily="34" charset="0"/>
              </a:rPr>
              <a:t>display: flex</a:t>
            </a:r>
            <a:r>
              <a:rPr lang="en-US" sz="2300" dirty="0">
                <a:latin typeface="Calibri" panose="020F0502020204030204" pitchFamily="34" charset="0"/>
                <a:cs typeface="Calibri" panose="020F0502020204030204" pitchFamily="34" charset="0"/>
              </a:rPr>
              <a:t>; property in the </a:t>
            </a:r>
            <a:r>
              <a:rPr lang="en-US" sz="2300" b="1" dirty="0">
                <a:latin typeface="Calibri" panose="020F0502020204030204" pitchFamily="34" charset="0"/>
                <a:cs typeface="Calibri" panose="020F0502020204030204" pitchFamily="34" charset="0"/>
              </a:rPr>
              <a:t>body</a:t>
            </a:r>
            <a:r>
              <a:rPr lang="en-US" sz="2300" dirty="0">
                <a:latin typeface="Calibri" panose="020F0502020204030204" pitchFamily="34" charset="0"/>
                <a:cs typeface="Calibri" panose="020F0502020204030204" pitchFamily="34" charset="0"/>
              </a:rPr>
              <a:t> rule. The sidebar will be a flex item alongside any other flex items within the body. In this layout, the sidebar will have a fixed starting width of 250 pixels and will contain whatever content is designated within the sidebar division in the HTML, such as a logo and a navigation menu. The padding inside ensures that this content is not flush against the sides of the sidebar, providing a nicer visual presentation.</a:t>
            </a:r>
            <a:endParaRPr lang="en-AU" sz="2300" dirty="0">
              <a:latin typeface="Calibri" panose="020F0502020204030204" pitchFamily="34" charset="0"/>
              <a:cs typeface="Calibri" panose="020F0502020204030204" pitchFamily="34" charset="0"/>
            </a:endParaRPr>
          </a:p>
        </p:txBody>
      </p:sp>
      <p:pic>
        <p:nvPicPr>
          <p:cNvPr id="3" name="Picture 2">
            <a:extLst>
              <a:ext uri="{FF2B5EF4-FFF2-40B4-BE49-F238E27FC236}">
                <a16:creationId xmlns:a16="http://schemas.microsoft.com/office/drawing/2014/main" id="{F0D5D5E1-9CFE-FC2A-95F1-980DEBD10BC3}"/>
              </a:ext>
            </a:extLst>
          </p:cNvPr>
          <p:cNvPicPr>
            <a:picLocks noChangeAspect="1"/>
          </p:cNvPicPr>
          <p:nvPr/>
        </p:nvPicPr>
        <p:blipFill rotWithShape="1">
          <a:blip r:embed="rId2"/>
          <a:srcRect l="4299" t="10894" r="65610" b="8130"/>
          <a:stretch/>
        </p:blipFill>
        <p:spPr>
          <a:xfrm>
            <a:off x="8058228" y="600804"/>
            <a:ext cx="4133772" cy="6257196"/>
          </a:xfrm>
          <a:prstGeom prst="rect">
            <a:avLst/>
          </a:prstGeom>
        </p:spPr>
      </p:pic>
      <p:pic>
        <p:nvPicPr>
          <p:cNvPr id="2" name="Picture 1">
            <a:extLst>
              <a:ext uri="{FF2B5EF4-FFF2-40B4-BE49-F238E27FC236}">
                <a16:creationId xmlns:a16="http://schemas.microsoft.com/office/drawing/2014/main" id="{02F47DD4-E2E2-D297-467B-710576077458}"/>
              </a:ext>
            </a:extLst>
          </p:cNvPr>
          <p:cNvPicPr>
            <a:picLocks noChangeAspect="1"/>
          </p:cNvPicPr>
          <p:nvPr/>
        </p:nvPicPr>
        <p:blipFill rotWithShape="1">
          <a:blip r:embed="rId3"/>
          <a:srcRect t="8380" r="50000" b="13659"/>
          <a:stretch/>
        </p:blipFill>
        <p:spPr>
          <a:xfrm>
            <a:off x="5006811" y="4181706"/>
            <a:ext cx="3051417" cy="2676293"/>
          </a:xfrm>
          <a:prstGeom prst="rect">
            <a:avLst/>
          </a:prstGeom>
          <a:ln>
            <a:solidFill>
              <a:srgbClr val="FF0000"/>
            </a:solidFill>
          </a:ln>
        </p:spPr>
      </p:pic>
    </p:spTree>
    <p:extLst>
      <p:ext uri="{BB962C8B-B14F-4D97-AF65-F5344CB8AC3E}">
        <p14:creationId xmlns:p14="http://schemas.microsoft.com/office/powerpoint/2010/main" val="26693548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 calcmode="lin" valueType="num">
                                      <p:cBhvr additive="base">
                                        <p:cTn id="7" dur="500" fill="hold"/>
                                        <p:tgtEl>
                                          <p:spTgt spid="6">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6">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C58328E7-B314-6C89-A2F9-AC735A214E7E}"/>
              </a:ext>
            </a:extLst>
          </p:cNvPr>
          <p:cNvPicPr>
            <a:picLocks noChangeAspect="1"/>
          </p:cNvPicPr>
          <p:nvPr/>
        </p:nvPicPr>
        <p:blipFill rotWithShape="1">
          <a:blip r:embed="rId2"/>
          <a:srcRect l="776" t="9798" r="1494" b="10406"/>
          <a:stretch/>
        </p:blipFill>
        <p:spPr>
          <a:xfrm>
            <a:off x="0" y="692764"/>
            <a:ext cx="11915271" cy="5472472"/>
          </a:xfrm>
          <a:prstGeom prst="rect">
            <a:avLst/>
          </a:prstGeom>
        </p:spPr>
      </p:pic>
      <p:pic>
        <p:nvPicPr>
          <p:cNvPr id="8" name="Picture 7">
            <a:extLst>
              <a:ext uri="{FF2B5EF4-FFF2-40B4-BE49-F238E27FC236}">
                <a16:creationId xmlns:a16="http://schemas.microsoft.com/office/drawing/2014/main" id="{E93879F3-2C00-69C8-917B-241CF5E2D90B}"/>
              </a:ext>
            </a:extLst>
          </p:cNvPr>
          <p:cNvPicPr>
            <a:picLocks noChangeAspect="1"/>
          </p:cNvPicPr>
          <p:nvPr/>
        </p:nvPicPr>
        <p:blipFill rotWithShape="1">
          <a:blip r:embed="rId3"/>
          <a:srcRect l="776" t="9797" r="33872" b="50000"/>
          <a:stretch/>
        </p:blipFill>
        <p:spPr>
          <a:xfrm>
            <a:off x="2159426" y="3939157"/>
            <a:ext cx="7967740" cy="2757149"/>
          </a:xfrm>
          <a:prstGeom prst="rect">
            <a:avLst/>
          </a:prstGeom>
        </p:spPr>
      </p:pic>
    </p:spTree>
    <p:extLst>
      <p:ext uri="{BB962C8B-B14F-4D97-AF65-F5344CB8AC3E}">
        <p14:creationId xmlns:p14="http://schemas.microsoft.com/office/powerpoint/2010/main" val="3225160775"/>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8394A2E2-B8BF-C3AF-FF3C-C85052255AC1}"/>
              </a:ext>
            </a:extLst>
          </p:cNvPr>
          <p:cNvPicPr>
            <a:picLocks noChangeAspect="1"/>
          </p:cNvPicPr>
          <p:nvPr/>
        </p:nvPicPr>
        <p:blipFill rotWithShape="1">
          <a:blip r:embed="rId2"/>
          <a:srcRect t="7479" b="9594"/>
          <a:stretch/>
        </p:blipFill>
        <p:spPr>
          <a:xfrm>
            <a:off x="0" y="512956"/>
            <a:ext cx="12192000" cy="5687122"/>
          </a:xfrm>
          <a:prstGeom prst="rect">
            <a:avLst/>
          </a:prstGeom>
        </p:spPr>
      </p:pic>
    </p:spTree>
    <p:extLst>
      <p:ext uri="{BB962C8B-B14F-4D97-AF65-F5344CB8AC3E}">
        <p14:creationId xmlns:p14="http://schemas.microsoft.com/office/powerpoint/2010/main" val="3756283324"/>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929EB9B-D519-7E6C-DA20-CA4C34477968}"/>
              </a:ext>
            </a:extLst>
          </p:cNvPr>
          <p:cNvPicPr>
            <a:picLocks noChangeAspect="1"/>
          </p:cNvPicPr>
          <p:nvPr/>
        </p:nvPicPr>
        <p:blipFill>
          <a:blip r:embed="rId2"/>
          <a:stretch>
            <a:fillRect/>
          </a:stretch>
        </p:blipFill>
        <p:spPr>
          <a:xfrm>
            <a:off x="0" y="815066"/>
            <a:ext cx="12192000" cy="6042934"/>
          </a:xfrm>
          <a:prstGeom prst="rect">
            <a:avLst/>
          </a:prstGeom>
        </p:spPr>
      </p:pic>
    </p:spTree>
    <p:extLst>
      <p:ext uri="{BB962C8B-B14F-4D97-AF65-F5344CB8AC3E}">
        <p14:creationId xmlns:p14="http://schemas.microsoft.com/office/powerpoint/2010/main" val="234675483"/>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D7D9968B-F413-6058-7873-920E1CED8AA5}"/>
              </a:ext>
            </a:extLst>
          </p:cNvPr>
          <p:cNvSpPr txBox="1"/>
          <p:nvPr/>
        </p:nvSpPr>
        <p:spPr>
          <a:xfrm>
            <a:off x="94592" y="0"/>
            <a:ext cx="12097407" cy="589072"/>
          </a:xfrm>
          <a:prstGeom prst="rect">
            <a:avLst/>
          </a:prstGeom>
          <a:noFill/>
        </p:spPr>
        <p:txBody>
          <a:bodyPr wrap="square" rtlCol="0">
            <a:spAutoFit/>
          </a:bodyPr>
          <a:lstStyle/>
          <a:p>
            <a:pPr>
              <a:lnSpc>
                <a:spcPct val="150000"/>
              </a:lnSpc>
            </a:pPr>
            <a:r>
              <a:rPr lang="en-AU" sz="2400" b="1" dirty="0">
                <a:latin typeface="Calibri" panose="020F0502020204030204" pitchFamily="34" charset="0"/>
                <a:cs typeface="Calibri" panose="020F0502020204030204" pitchFamily="34" charset="0"/>
              </a:rPr>
              <a:t>Project 2 – Styling a Webpage</a:t>
            </a:r>
            <a:endParaRPr lang="en-US" sz="2400" b="1" dirty="0">
              <a:latin typeface="Calibri" panose="020F0502020204030204" pitchFamily="34" charset="0"/>
              <a:cs typeface="Calibri" panose="020F0502020204030204" pitchFamily="34" charset="0"/>
            </a:endParaRPr>
          </a:p>
        </p:txBody>
      </p:sp>
      <p:pic>
        <p:nvPicPr>
          <p:cNvPr id="8" name="Picture 7">
            <a:extLst>
              <a:ext uri="{FF2B5EF4-FFF2-40B4-BE49-F238E27FC236}">
                <a16:creationId xmlns:a16="http://schemas.microsoft.com/office/drawing/2014/main" id="{655296B4-E5F0-8CC8-382D-1B2D9AAB6E99}"/>
              </a:ext>
            </a:extLst>
          </p:cNvPr>
          <p:cNvPicPr>
            <a:picLocks noChangeAspect="1"/>
          </p:cNvPicPr>
          <p:nvPr/>
        </p:nvPicPr>
        <p:blipFill rotWithShape="1">
          <a:blip r:embed="rId2"/>
          <a:srcRect l="25335" t="15936" r="25335" b="7967"/>
          <a:stretch/>
        </p:blipFill>
        <p:spPr>
          <a:xfrm>
            <a:off x="6096000" y="819615"/>
            <a:ext cx="6014224" cy="5218770"/>
          </a:xfrm>
          <a:prstGeom prst="rect">
            <a:avLst/>
          </a:prstGeom>
        </p:spPr>
      </p:pic>
      <p:sp>
        <p:nvSpPr>
          <p:cNvPr id="9" name="TextBox 8">
            <a:extLst>
              <a:ext uri="{FF2B5EF4-FFF2-40B4-BE49-F238E27FC236}">
                <a16:creationId xmlns:a16="http://schemas.microsoft.com/office/drawing/2014/main" id="{C1E42027-9221-910F-DECC-F7138D0262BD}"/>
              </a:ext>
            </a:extLst>
          </p:cNvPr>
          <p:cNvSpPr txBox="1"/>
          <p:nvPr/>
        </p:nvSpPr>
        <p:spPr>
          <a:xfrm>
            <a:off x="200722" y="869795"/>
            <a:ext cx="5542156" cy="4102533"/>
          </a:xfrm>
          <a:prstGeom prst="rect">
            <a:avLst/>
          </a:prstGeom>
          <a:noFill/>
        </p:spPr>
        <p:txBody>
          <a:bodyPr wrap="square" rtlCol="0">
            <a:spAutoFit/>
          </a:bodyPr>
          <a:lstStyle/>
          <a:p>
            <a:pPr>
              <a:lnSpc>
                <a:spcPct val="150000"/>
              </a:lnSpc>
            </a:pPr>
            <a:r>
              <a:rPr lang="en-US" sz="2200" dirty="0">
                <a:latin typeface="Calibri" panose="020F0502020204030204" pitchFamily="34" charset="0"/>
                <a:cs typeface="Calibri" panose="020F0502020204030204" pitchFamily="34" charset="0"/>
              </a:rPr>
              <a:t>This project outlines a common task in web development which is creating a responsive and well-styled webpage. We explore the necessary HTML and CSS code according to the instructions provided in project 2.</a:t>
            </a:r>
          </a:p>
          <a:p>
            <a:pPr marL="342900" indent="-342900">
              <a:lnSpc>
                <a:spcPct val="150000"/>
              </a:lnSpc>
              <a:buFont typeface="Arial" panose="020B0604020202020204" pitchFamily="34" charset="0"/>
              <a:buChar char="•"/>
            </a:pPr>
            <a:r>
              <a:rPr lang="en-US" sz="2200" dirty="0">
                <a:latin typeface="Calibri" panose="020F0502020204030204" pitchFamily="34" charset="0"/>
                <a:cs typeface="Calibri" panose="020F0502020204030204" pitchFamily="34" charset="0"/>
              </a:rPr>
              <a:t>Use Notepad++ or Visual Studio or online platform </a:t>
            </a:r>
            <a:r>
              <a:rPr lang="en-US" sz="2200" dirty="0">
                <a:latin typeface="Calibri" panose="020F0502020204030204" pitchFamily="34" charset="0"/>
                <a:cs typeface="Calibri" panose="020F0502020204030204" pitchFamily="34" charset="0"/>
                <a:hlinkClick r:id="rId3"/>
              </a:rPr>
              <a:t>https://w3schools.com/</a:t>
            </a:r>
            <a:r>
              <a:rPr lang="en-US" sz="2200" dirty="0">
                <a:latin typeface="Calibri" panose="020F0502020204030204" pitchFamily="34" charset="0"/>
                <a:cs typeface="Calibri" panose="020F0502020204030204" pitchFamily="34" charset="0"/>
              </a:rPr>
              <a:t> as for your text editor</a:t>
            </a:r>
            <a:endParaRPr lang="en-AU" sz="22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536749038"/>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Picture 17">
            <a:extLst>
              <a:ext uri="{FF2B5EF4-FFF2-40B4-BE49-F238E27FC236}">
                <a16:creationId xmlns:a16="http://schemas.microsoft.com/office/drawing/2014/main" id="{3CC0B070-E837-0063-CE14-6018FACC97EB}"/>
              </a:ext>
            </a:extLst>
          </p:cNvPr>
          <p:cNvPicPr>
            <a:picLocks noChangeAspect="1"/>
          </p:cNvPicPr>
          <p:nvPr/>
        </p:nvPicPr>
        <p:blipFill rotWithShape="1">
          <a:blip r:embed="rId2"/>
          <a:srcRect t="7642" r="776" b="10743"/>
          <a:stretch/>
        </p:blipFill>
        <p:spPr>
          <a:xfrm>
            <a:off x="0" y="524107"/>
            <a:ext cx="9757317" cy="4514446"/>
          </a:xfrm>
          <a:prstGeom prst="rect">
            <a:avLst/>
          </a:prstGeom>
        </p:spPr>
      </p:pic>
      <p:sp>
        <p:nvSpPr>
          <p:cNvPr id="4" name="TextBox 3">
            <a:extLst>
              <a:ext uri="{FF2B5EF4-FFF2-40B4-BE49-F238E27FC236}">
                <a16:creationId xmlns:a16="http://schemas.microsoft.com/office/drawing/2014/main" id="{D7D9968B-F413-6058-7873-920E1CED8AA5}"/>
              </a:ext>
            </a:extLst>
          </p:cNvPr>
          <p:cNvSpPr txBox="1"/>
          <p:nvPr/>
        </p:nvSpPr>
        <p:spPr>
          <a:xfrm>
            <a:off x="94592" y="-122661"/>
            <a:ext cx="12097407" cy="589072"/>
          </a:xfrm>
          <a:prstGeom prst="rect">
            <a:avLst/>
          </a:prstGeom>
          <a:noFill/>
        </p:spPr>
        <p:txBody>
          <a:bodyPr wrap="square" rtlCol="0">
            <a:spAutoFit/>
          </a:bodyPr>
          <a:lstStyle/>
          <a:p>
            <a:pPr>
              <a:lnSpc>
                <a:spcPct val="150000"/>
              </a:lnSpc>
            </a:pPr>
            <a:r>
              <a:rPr lang="en-AU" sz="2400" b="1" dirty="0">
                <a:latin typeface="Calibri" panose="020F0502020204030204" pitchFamily="34" charset="0"/>
                <a:cs typeface="Calibri" panose="020F0502020204030204" pitchFamily="34" charset="0"/>
              </a:rPr>
              <a:t>Project 2 – Styling a Webpage</a:t>
            </a:r>
            <a:endParaRPr lang="en-US" sz="2400" b="1" dirty="0">
              <a:latin typeface="Calibri" panose="020F0502020204030204" pitchFamily="34" charset="0"/>
              <a:cs typeface="Calibri" panose="020F0502020204030204" pitchFamily="34" charset="0"/>
            </a:endParaRPr>
          </a:p>
        </p:txBody>
      </p:sp>
      <p:sp>
        <p:nvSpPr>
          <p:cNvPr id="13" name="Rectangle: Rounded Corners 12">
            <a:extLst>
              <a:ext uri="{FF2B5EF4-FFF2-40B4-BE49-F238E27FC236}">
                <a16:creationId xmlns:a16="http://schemas.microsoft.com/office/drawing/2014/main" id="{301973AE-3FF4-DD8F-B6C1-839A72140297}"/>
              </a:ext>
            </a:extLst>
          </p:cNvPr>
          <p:cNvSpPr/>
          <p:nvPr/>
        </p:nvSpPr>
        <p:spPr>
          <a:xfrm>
            <a:off x="613317" y="736751"/>
            <a:ext cx="6568068" cy="222254"/>
          </a:xfrm>
          <a:prstGeom prst="round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6" name="TextBox 15">
            <a:extLst>
              <a:ext uri="{FF2B5EF4-FFF2-40B4-BE49-F238E27FC236}">
                <a16:creationId xmlns:a16="http://schemas.microsoft.com/office/drawing/2014/main" id="{4045C4A7-6767-5DC6-2484-A34588A50414}"/>
              </a:ext>
            </a:extLst>
          </p:cNvPr>
          <p:cNvSpPr txBox="1"/>
          <p:nvPr/>
        </p:nvSpPr>
        <p:spPr>
          <a:xfrm>
            <a:off x="94592" y="5062654"/>
            <a:ext cx="12004481" cy="1563377"/>
          </a:xfrm>
          <a:prstGeom prst="rect">
            <a:avLst/>
          </a:prstGeom>
          <a:noFill/>
        </p:spPr>
        <p:txBody>
          <a:bodyPr wrap="square" rtlCol="0">
            <a:spAutoFit/>
          </a:bodyPr>
          <a:lstStyle/>
          <a:p>
            <a:pPr>
              <a:lnSpc>
                <a:spcPct val="150000"/>
              </a:lnSpc>
            </a:pPr>
            <a:r>
              <a:rPr lang="en-US" sz="2200" b="1" dirty="0">
                <a:latin typeface="Calibri" panose="020F0502020204030204" pitchFamily="34" charset="0"/>
                <a:cs typeface="Calibri" panose="020F0502020204030204" pitchFamily="34" charset="0"/>
              </a:rPr>
              <a:t>For Steps 15, 16, 17, and 18: </a:t>
            </a:r>
            <a:r>
              <a:rPr lang="en-US" sz="2200" dirty="0">
                <a:latin typeface="Calibri" panose="020F0502020204030204" pitchFamily="34" charset="0"/>
                <a:cs typeface="Calibri" panose="020F0502020204030204" pitchFamily="34" charset="0"/>
              </a:rPr>
              <a:t>We would manually wrap the text "Smoky quartz" and "Soulmate Crystal" in </a:t>
            </a:r>
            <a:r>
              <a:rPr lang="en-US" sz="2200" b="1" dirty="0">
                <a:latin typeface="Calibri" panose="020F0502020204030204" pitchFamily="34" charset="0"/>
                <a:cs typeface="Calibri" panose="020F0502020204030204" pitchFamily="34" charset="0"/>
              </a:rPr>
              <a:t>&lt;span&gt; </a:t>
            </a:r>
            <a:r>
              <a:rPr lang="en-US" sz="2200" dirty="0">
                <a:latin typeface="Calibri" panose="020F0502020204030204" pitchFamily="34" charset="0"/>
                <a:cs typeface="Calibri" panose="020F0502020204030204" pitchFamily="34" charset="0"/>
              </a:rPr>
              <a:t>tags with inline styles, validate our HTML and CSS using the W3C validators, and adjust our CSS formatting to be clean and professional.</a:t>
            </a:r>
            <a:endParaRPr lang="en-AU" sz="2200" dirty="0">
              <a:latin typeface="Calibri" panose="020F0502020204030204" pitchFamily="34" charset="0"/>
              <a:cs typeface="Calibri" panose="020F0502020204030204" pitchFamily="34" charset="0"/>
            </a:endParaRPr>
          </a:p>
        </p:txBody>
      </p:sp>
      <p:pic>
        <p:nvPicPr>
          <p:cNvPr id="20" name="Picture 19">
            <a:extLst>
              <a:ext uri="{FF2B5EF4-FFF2-40B4-BE49-F238E27FC236}">
                <a16:creationId xmlns:a16="http://schemas.microsoft.com/office/drawing/2014/main" id="{CEA3B544-6604-71C5-8A23-FE228CAC4C7C}"/>
              </a:ext>
            </a:extLst>
          </p:cNvPr>
          <p:cNvPicPr>
            <a:picLocks noChangeAspect="1"/>
          </p:cNvPicPr>
          <p:nvPr/>
        </p:nvPicPr>
        <p:blipFill rotWithShape="1">
          <a:blip r:embed="rId3"/>
          <a:srcRect l="12621" t="25691" r="46129" b="54634"/>
          <a:stretch/>
        </p:blipFill>
        <p:spPr>
          <a:xfrm>
            <a:off x="6317078" y="2245420"/>
            <a:ext cx="5874921" cy="1576198"/>
          </a:xfrm>
          <a:prstGeom prst="rect">
            <a:avLst/>
          </a:prstGeom>
          <a:ln>
            <a:solidFill>
              <a:srgbClr val="FF0000"/>
            </a:solidFill>
          </a:ln>
        </p:spPr>
      </p:pic>
      <p:sp>
        <p:nvSpPr>
          <p:cNvPr id="21" name="Rectangle: Rounded Corners 20">
            <a:extLst>
              <a:ext uri="{FF2B5EF4-FFF2-40B4-BE49-F238E27FC236}">
                <a16:creationId xmlns:a16="http://schemas.microsoft.com/office/drawing/2014/main" id="{AA961343-DD25-AAC5-D31B-A1B053759B5B}"/>
              </a:ext>
            </a:extLst>
          </p:cNvPr>
          <p:cNvSpPr/>
          <p:nvPr/>
        </p:nvSpPr>
        <p:spPr>
          <a:xfrm>
            <a:off x="6869151" y="3289610"/>
            <a:ext cx="4884234" cy="312234"/>
          </a:xfrm>
          <a:prstGeom prst="round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Tree>
    <p:extLst>
      <p:ext uri="{BB962C8B-B14F-4D97-AF65-F5344CB8AC3E}">
        <p14:creationId xmlns:p14="http://schemas.microsoft.com/office/powerpoint/2010/main" val="607934614"/>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2BB801A4-FA64-739A-4F74-40C7085B527B}"/>
              </a:ext>
            </a:extLst>
          </p:cNvPr>
          <p:cNvPicPr>
            <a:picLocks noChangeAspect="1"/>
          </p:cNvPicPr>
          <p:nvPr/>
        </p:nvPicPr>
        <p:blipFill rotWithShape="1">
          <a:blip r:embed="rId2"/>
          <a:srcRect l="2316" t="29403" r="10732" b="24979"/>
          <a:stretch/>
        </p:blipFill>
        <p:spPr>
          <a:xfrm>
            <a:off x="0" y="3679835"/>
            <a:ext cx="10601092" cy="3128428"/>
          </a:xfrm>
          <a:prstGeom prst="rect">
            <a:avLst/>
          </a:prstGeom>
        </p:spPr>
      </p:pic>
      <p:sp>
        <p:nvSpPr>
          <p:cNvPr id="16" name="TextBox 15">
            <a:extLst>
              <a:ext uri="{FF2B5EF4-FFF2-40B4-BE49-F238E27FC236}">
                <a16:creationId xmlns:a16="http://schemas.microsoft.com/office/drawing/2014/main" id="{4045C4A7-6767-5DC6-2484-A34588A50414}"/>
              </a:ext>
            </a:extLst>
          </p:cNvPr>
          <p:cNvSpPr txBox="1"/>
          <p:nvPr/>
        </p:nvSpPr>
        <p:spPr>
          <a:xfrm>
            <a:off x="9199757" y="-30346"/>
            <a:ext cx="2804724" cy="5346592"/>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en-US" sz="2300" dirty="0">
                <a:latin typeface="Calibri" panose="020F0502020204030204" pitchFamily="34" charset="0"/>
                <a:cs typeface="Calibri" panose="020F0502020204030204" pitchFamily="34" charset="0"/>
              </a:rPr>
              <a:t>Validate our HTML and CSS using the W3C validators and adjust our CSS formatting to be clean and professional.</a:t>
            </a:r>
          </a:p>
          <a:p>
            <a:pPr marL="342900" indent="-342900">
              <a:lnSpc>
                <a:spcPct val="150000"/>
              </a:lnSpc>
              <a:buFont typeface="Arial" panose="020B0604020202020204" pitchFamily="34" charset="0"/>
              <a:buChar char="•"/>
            </a:pPr>
            <a:r>
              <a:rPr lang="en-US" sz="2300" b="1" dirty="0">
                <a:latin typeface="Calibri" panose="020F0502020204030204" pitchFamily="34" charset="0"/>
                <a:cs typeface="Calibri" panose="020F0502020204030204" pitchFamily="34" charset="0"/>
              </a:rPr>
              <a:t>Step 19: </a:t>
            </a:r>
            <a:r>
              <a:rPr lang="en-US" sz="2300" dirty="0">
                <a:latin typeface="Calibri" panose="020F0502020204030204" pitchFamily="34" charset="0"/>
                <a:cs typeface="Calibri" panose="020F0502020204030204" pitchFamily="34" charset="0"/>
              </a:rPr>
              <a:t>You will submit the </a:t>
            </a:r>
            <a:r>
              <a:rPr lang="en-US" sz="2300" b="1" dirty="0">
                <a:latin typeface="Calibri" panose="020F0502020204030204" pitchFamily="34" charset="0"/>
                <a:cs typeface="Calibri" panose="020F0502020204030204" pitchFamily="34" charset="0"/>
              </a:rPr>
              <a:t>html</a:t>
            </a:r>
            <a:r>
              <a:rPr lang="en-US" sz="2300" dirty="0">
                <a:latin typeface="Calibri" panose="020F0502020204030204" pitchFamily="34" charset="0"/>
                <a:cs typeface="Calibri" panose="020F0502020204030204" pitchFamily="34" charset="0"/>
              </a:rPr>
              <a:t> and </a:t>
            </a:r>
            <a:r>
              <a:rPr lang="en-US" sz="2300" b="1" dirty="0" err="1">
                <a:latin typeface="Calibri" panose="020F0502020204030204" pitchFamily="34" charset="0"/>
                <a:cs typeface="Calibri" panose="020F0502020204030204" pitchFamily="34" charset="0"/>
              </a:rPr>
              <a:t>css</a:t>
            </a:r>
            <a:r>
              <a:rPr lang="en-US" sz="2300" dirty="0">
                <a:latin typeface="Calibri" panose="020F0502020204030204" pitchFamily="34" charset="0"/>
                <a:cs typeface="Calibri" panose="020F0502020204030204" pitchFamily="34" charset="0"/>
              </a:rPr>
              <a:t> files.</a:t>
            </a:r>
            <a:endParaRPr lang="en-AU" sz="2300" dirty="0">
              <a:latin typeface="Calibri" panose="020F0502020204030204" pitchFamily="34" charset="0"/>
              <a:cs typeface="Calibri" panose="020F0502020204030204" pitchFamily="34" charset="0"/>
            </a:endParaRPr>
          </a:p>
        </p:txBody>
      </p:sp>
      <p:pic>
        <p:nvPicPr>
          <p:cNvPr id="3" name="Picture 2">
            <a:extLst>
              <a:ext uri="{FF2B5EF4-FFF2-40B4-BE49-F238E27FC236}">
                <a16:creationId xmlns:a16="http://schemas.microsoft.com/office/drawing/2014/main" id="{D809C8B2-BAEA-5060-30DC-91D89412E48A}"/>
              </a:ext>
            </a:extLst>
          </p:cNvPr>
          <p:cNvPicPr>
            <a:picLocks noChangeAspect="1"/>
          </p:cNvPicPr>
          <p:nvPr/>
        </p:nvPicPr>
        <p:blipFill rotWithShape="1">
          <a:blip r:embed="rId3"/>
          <a:srcRect l="1646" t="6504" r="6982" b="27805"/>
          <a:stretch/>
        </p:blipFill>
        <p:spPr>
          <a:xfrm>
            <a:off x="0" y="0"/>
            <a:ext cx="9099395" cy="3679835"/>
          </a:xfrm>
          <a:prstGeom prst="rect">
            <a:avLst/>
          </a:prstGeom>
        </p:spPr>
      </p:pic>
      <p:sp>
        <p:nvSpPr>
          <p:cNvPr id="5" name="Rectangle: Rounded Corners 4">
            <a:extLst>
              <a:ext uri="{FF2B5EF4-FFF2-40B4-BE49-F238E27FC236}">
                <a16:creationId xmlns:a16="http://schemas.microsoft.com/office/drawing/2014/main" id="{05401262-5073-2FF1-86B1-0E590A9A43B1}"/>
              </a:ext>
            </a:extLst>
          </p:cNvPr>
          <p:cNvSpPr/>
          <p:nvPr/>
        </p:nvSpPr>
        <p:spPr>
          <a:xfrm>
            <a:off x="100362" y="1313379"/>
            <a:ext cx="5068423" cy="256091"/>
          </a:xfrm>
          <a:prstGeom prst="round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8" name="Rectangle: Rounded Corners 7">
            <a:extLst>
              <a:ext uri="{FF2B5EF4-FFF2-40B4-BE49-F238E27FC236}">
                <a16:creationId xmlns:a16="http://schemas.microsoft.com/office/drawing/2014/main" id="{63755FDA-BB09-0BED-7943-CEB073FCE571}"/>
              </a:ext>
            </a:extLst>
          </p:cNvPr>
          <p:cNvSpPr/>
          <p:nvPr/>
        </p:nvSpPr>
        <p:spPr>
          <a:xfrm>
            <a:off x="100361" y="3776439"/>
            <a:ext cx="5068423" cy="282605"/>
          </a:xfrm>
          <a:prstGeom prst="round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Tree>
    <p:extLst>
      <p:ext uri="{BB962C8B-B14F-4D97-AF65-F5344CB8AC3E}">
        <p14:creationId xmlns:p14="http://schemas.microsoft.com/office/powerpoint/2010/main" val="2676624425"/>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Box 15">
            <a:extLst>
              <a:ext uri="{FF2B5EF4-FFF2-40B4-BE49-F238E27FC236}">
                <a16:creationId xmlns:a16="http://schemas.microsoft.com/office/drawing/2014/main" id="{4045C4A7-6767-5DC6-2484-A34588A50414}"/>
              </a:ext>
            </a:extLst>
          </p:cNvPr>
          <p:cNvSpPr txBox="1"/>
          <p:nvPr/>
        </p:nvSpPr>
        <p:spPr>
          <a:xfrm>
            <a:off x="-100361" y="-30346"/>
            <a:ext cx="12104842" cy="6408421"/>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en-US" sz="2300" b="1" dirty="0">
                <a:latin typeface="Calibri" panose="020F0502020204030204" pitchFamily="34" charset="0"/>
                <a:cs typeface="Calibri" panose="020F0502020204030204" pitchFamily="34" charset="0"/>
              </a:rPr>
              <a:t>Step 20a: </a:t>
            </a:r>
            <a:r>
              <a:rPr lang="en-US" sz="2300" dirty="0">
                <a:latin typeface="Calibri" panose="020F0502020204030204" pitchFamily="34" charset="0"/>
                <a:cs typeface="Calibri" panose="020F0502020204030204" pitchFamily="34" charset="0"/>
              </a:rPr>
              <a:t>Comments like </a:t>
            </a:r>
            <a:r>
              <a:rPr lang="en-US" sz="2300" b="1" dirty="0">
                <a:latin typeface="Calibri" panose="020F0502020204030204" pitchFamily="34" charset="0"/>
                <a:cs typeface="Calibri" panose="020F0502020204030204" pitchFamily="34" charset="0"/>
              </a:rPr>
              <a:t>&lt;!--close the </a:t>
            </a:r>
            <a:r>
              <a:rPr lang="en-US" sz="2300" b="1" dirty="0" err="1">
                <a:latin typeface="Calibri" panose="020F0502020204030204" pitchFamily="34" charset="0"/>
                <a:cs typeface="Calibri" panose="020F0502020204030204" pitchFamily="34" charset="0"/>
              </a:rPr>
              <a:t>outerwrapper</a:t>
            </a:r>
            <a:r>
              <a:rPr lang="en-US" sz="2300" b="1" dirty="0">
                <a:latin typeface="Calibri" panose="020F0502020204030204" pitchFamily="34" charset="0"/>
                <a:cs typeface="Calibri" panose="020F0502020204030204" pitchFamily="34" charset="0"/>
              </a:rPr>
              <a:t>--&gt; </a:t>
            </a:r>
            <a:r>
              <a:rPr lang="en-US" sz="2300" dirty="0">
                <a:latin typeface="Calibri" panose="020F0502020204030204" pitchFamily="34" charset="0"/>
                <a:cs typeface="Calibri" panose="020F0502020204030204" pitchFamily="34" charset="0"/>
              </a:rPr>
              <a:t>are especially useful for clarifying which </a:t>
            </a:r>
            <a:r>
              <a:rPr lang="en-US" sz="2300" b="1" dirty="0">
                <a:latin typeface="Calibri" panose="020F0502020204030204" pitchFamily="34" charset="0"/>
                <a:cs typeface="Calibri" panose="020F0502020204030204" pitchFamily="34" charset="0"/>
              </a:rPr>
              <a:t>&lt;div&gt; </a:t>
            </a:r>
            <a:r>
              <a:rPr lang="en-US" sz="2300" dirty="0">
                <a:latin typeface="Calibri" panose="020F0502020204030204" pitchFamily="34" charset="0"/>
                <a:cs typeface="Calibri" panose="020F0502020204030204" pitchFamily="34" charset="0"/>
              </a:rPr>
              <a:t>tag is being closed, as </a:t>
            </a:r>
            <a:r>
              <a:rPr lang="en-US" sz="2300" b="1" dirty="0">
                <a:latin typeface="Calibri" panose="020F0502020204030204" pitchFamily="34" charset="0"/>
                <a:cs typeface="Calibri" panose="020F0502020204030204" pitchFamily="34" charset="0"/>
              </a:rPr>
              <a:t>&lt;div&gt; </a:t>
            </a:r>
            <a:r>
              <a:rPr lang="en-US" sz="2300" dirty="0">
                <a:latin typeface="Calibri" panose="020F0502020204030204" pitchFamily="34" charset="0"/>
                <a:cs typeface="Calibri" panose="020F0502020204030204" pitchFamily="34" charset="0"/>
              </a:rPr>
              <a:t>elements often nest within each other and it can be challenging to track them without comments.</a:t>
            </a:r>
          </a:p>
          <a:p>
            <a:pPr marL="342900" indent="-342900">
              <a:lnSpc>
                <a:spcPct val="150000"/>
              </a:lnSpc>
              <a:buFont typeface="Arial" panose="020B0604020202020204" pitchFamily="34" charset="0"/>
              <a:buChar char="•"/>
            </a:pPr>
            <a:endParaRPr lang="en-US" sz="2300" dirty="0">
              <a:latin typeface="Calibri" panose="020F0502020204030204" pitchFamily="34" charset="0"/>
              <a:cs typeface="Calibri" panose="020F0502020204030204" pitchFamily="34" charset="0"/>
            </a:endParaRPr>
          </a:p>
          <a:p>
            <a:pPr marL="342900" indent="-342900">
              <a:lnSpc>
                <a:spcPct val="150000"/>
              </a:lnSpc>
              <a:buFont typeface="Arial" panose="020B0604020202020204" pitchFamily="34" charset="0"/>
              <a:buChar char="•"/>
            </a:pPr>
            <a:r>
              <a:rPr lang="en-US" sz="2300" b="1" dirty="0">
                <a:latin typeface="Calibri" panose="020F0502020204030204" pitchFamily="34" charset="0"/>
                <a:cs typeface="Calibri" panose="020F0502020204030204" pitchFamily="34" charset="0"/>
              </a:rPr>
              <a:t>Step 20b: </a:t>
            </a:r>
            <a:r>
              <a:rPr lang="en-US" sz="2300" dirty="0">
                <a:latin typeface="Calibri" panose="020F0502020204030204" pitchFamily="34" charset="0"/>
                <a:cs typeface="Calibri" panose="020F0502020204030204" pitchFamily="34" charset="0"/>
              </a:rPr>
              <a:t>The primary advantage of using an external stylesheet is maintainability and reusability. You can apply the same styles across multiple pages which makes it easier to keep a consistent look throughout a site, and if you need to make a change, you can do it in one place rather than editing each page individually.</a:t>
            </a:r>
          </a:p>
          <a:p>
            <a:pPr marL="342900" indent="-342900">
              <a:lnSpc>
                <a:spcPct val="150000"/>
              </a:lnSpc>
              <a:buFont typeface="Arial" panose="020B0604020202020204" pitchFamily="34" charset="0"/>
              <a:buChar char="•"/>
            </a:pPr>
            <a:endParaRPr lang="en-US" sz="2300" dirty="0">
              <a:latin typeface="Calibri" panose="020F0502020204030204" pitchFamily="34" charset="0"/>
              <a:cs typeface="Calibri" panose="020F0502020204030204" pitchFamily="34" charset="0"/>
            </a:endParaRPr>
          </a:p>
          <a:p>
            <a:pPr marL="342900" indent="-342900">
              <a:lnSpc>
                <a:spcPct val="150000"/>
              </a:lnSpc>
              <a:buFont typeface="Arial" panose="020B0604020202020204" pitchFamily="34" charset="0"/>
              <a:buChar char="•"/>
            </a:pPr>
            <a:r>
              <a:rPr lang="en-US" sz="2300" b="1" dirty="0">
                <a:latin typeface="Calibri" panose="020F0502020204030204" pitchFamily="34" charset="0"/>
                <a:cs typeface="Calibri" panose="020F0502020204030204" pitchFamily="34" charset="0"/>
              </a:rPr>
              <a:t>Step 20c: </a:t>
            </a:r>
            <a:r>
              <a:rPr lang="en-US" sz="2300" dirty="0">
                <a:latin typeface="Calibri" panose="020F0502020204030204" pitchFamily="34" charset="0"/>
                <a:cs typeface="Calibri" panose="020F0502020204030204" pitchFamily="34" charset="0"/>
              </a:rPr>
              <a:t>Inline styles are useful for one-off style changes that don't merit a class by themselves or to override other styles. However, they can become hard to manage in large documents, hence they're typically used sparingly.</a:t>
            </a:r>
            <a:endParaRPr lang="en-AU" sz="23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030926605"/>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1">
            <a:extLst>
              <a:ext uri="{FF2B5EF4-FFF2-40B4-BE49-F238E27FC236}">
                <a16:creationId xmlns:a16="http://schemas.microsoft.com/office/drawing/2014/main" id="{CB1693F2-5AEE-7DB3-BD87-EADE811E6000}"/>
              </a:ext>
            </a:extLst>
          </p:cNvPr>
          <p:cNvSpPr>
            <a:spLocks noChangeArrowheads="1"/>
          </p:cNvSpPr>
          <p:nvPr/>
        </p:nvSpPr>
        <p:spPr bwMode="auto">
          <a:xfrm>
            <a:off x="0" y="-138499"/>
            <a:ext cx="65" cy="27699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2" name="TextBox 1">
            <a:extLst>
              <a:ext uri="{FF2B5EF4-FFF2-40B4-BE49-F238E27FC236}">
                <a16:creationId xmlns:a16="http://schemas.microsoft.com/office/drawing/2014/main" id="{D56D5ECD-9EFB-16EB-2852-CD1BF12F9951}"/>
              </a:ext>
            </a:extLst>
          </p:cNvPr>
          <p:cNvSpPr txBox="1"/>
          <p:nvPr/>
        </p:nvSpPr>
        <p:spPr>
          <a:xfrm>
            <a:off x="94592" y="0"/>
            <a:ext cx="12097407" cy="630429"/>
          </a:xfrm>
          <a:prstGeom prst="rect">
            <a:avLst/>
          </a:prstGeom>
          <a:noFill/>
        </p:spPr>
        <p:txBody>
          <a:bodyPr wrap="square" rtlCol="0">
            <a:spAutoFit/>
          </a:bodyPr>
          <a:lstStyle/>
          <a:p>
            <a:pPr>
              <a:lnSpc>
                <a:spcPct val="150000"/>
              </a:lnSpc>
            </a:pPr>
            <a:r>
              <a:rPr lang="en-US" sz="2600" b="1" dirty="0">
                <a:latin typeface="Calibri" panose="020F0502020204030204" pitchFamily="34" charset="0"/>
                <a:cs typeface="Calibri" panose="020F0502020204030204" pitchFamily="34" charset="0"/>
              </a:rPr>
              <a:t>Project 2: Styling a Webpage</a:t>
            </a:r>
          </a:p>
        </p:txBody>
      </p:sp>
      <p:pic>
        <p:nvPicPr>
          <p:cNvPr id="6" name="Picture 5">
            <a:extLst>
              <a:ext uri="{FF2B5EF4-FFF2-40B4-BE49-F238E27FC236}">
                <a16:creationId xmlns:a16="http://schemas.microsoft.com/office/drawing/2014/main" id="{3C3F6B69-0B87-CCCF-6FCE-A47BF46936E4}"/>
              </a:ext>
            </a:extLst>
          </p:cNvPr>
          <p:cNvPicPr>
            <a:picLocks noChangeAspect="1"/>
          </p:cNvPicPr>
          <p:nvPr/>
        </p:nvPicPr>
        <p:blipFill rotWithShape="1">
          <a:blip r:embed="rId2"/>
          <a:srcRect t="7805" r="37257" b="10732"/>
          <a:stretch/>
        </p:blipFill>
        <p:spPr>
          <a:xfrm>
            <a:off x="3664970" y="630429"/>
            <a:ext cx="8527029" cy="6227571"/>
          </a:xfrm>
          <a:prstGeom prst="rect">
            <a:avLst/>
          </a:prstGeom>
        </p:spPr>
      </p:pic>
      <p:sp>
        <p:nvSpPr>
          <p:cNvPr id="7" name="TextBox 6">
            <a:extLst>
              <a:ext uri="{FF2B5EF4-FFF2-40B4-BE49-F238E27FC236}">
                <a16:creationId xmlns:a16="http://schemas.microsoft.com/office/drawing/2014/main" id="{86AF58D6-DA6C-0CE9-7EAB-C378FC65EFD3}"/>
              </a:ext>
            </a:extLst>
          </p:cNvPr>
          <p:cNvSpPr txBox="1"/>
          <p:nvPr/>
        </p:nvSpPr>
        <p:spPr>
          <a:xfrm>
            <a:off x="94592" y="836341"/>
            <a:ext cx="3351135" cy="1630190"/>
          </a:xfrm>
          <a:prstGeom prst="rect">
            <a:avLst/>
          </a:prstGeom>
          <a:noFill/>
        </p:spPr>
        <p:txBody>
          <a:bodyPr wrap="square" rtlCol="0">
            <a:spAutoFit/>
          </a:bodyPr>
          <a:lstStyle/>
          <a:p>
            <a:pPr>
              <a:lnSpc>
                <a:spcPct val="150000"/>
              </a:lnSpc>
            </a:pPr>
            <a:r>
              <a:rPr lang="en-US" sz="2300" dirty="0">
                <a:latin typeface="Calibri" panose="020F0502020204030204" pitchFamily="34" charset="0"/>
                <a:cs typeface="Calibri" panose="020F0502020204030204" pitchFamily="34" charset="0"/>
              </a:rPr>
              <a:t>The title ‘</a:t>
            </a:r>
            <a:r>
              <a:rPr lang="en-US" sz="2300" b="1" dirty="0">
                <a:latin typeface="Calibri" panose="020F0502020204030204" pitchFamily="34" charset="0"/>
                <a:cs typeface="Calibri" panose="020F0502020204030204" pitchFamily="34" charset="0"/>
              </a:rPr>
              <a:t>Durango Jewelry and Gem Shop</a:t>
            </a:r>
            <a:r>
              <a:rPr lang="en-US" sz="2300" dirty="0">
                <a:latin typeface="Calibri" panose="020F0502020204030204" pitchFamily="34" charset="0"/>
                <a:cs typeface="Calibri" panose="020F0502020204030204" pitchFamily="34" charset="0"/>
              </a:rPr>
              <a:t>’ is clear and descriptive</a:t>
            </a:r>
            <a:endParaRPr lang="en-AU" sz="2300" dirty="0">
              <a:latin typeface="Calibri" panose="020F0502020204030204" pitchFamily="34" charset="0"/>
              <a:cs typeface="Calibri" panose="020F0502020204030204" pitchFamily="34" charset="0"/>
            </a:endParaRPr>
          </a:p>
        </p:txBody>
      </p:sp>
      <p:sp>
        <p:nvSpPr>
          <p:cNvPr id="8" name="TextBox 7">
            <a:extLst>
              <a:ext uri="{FF2B5EF4-FFF2-40B4-BE49-F238E27FC236}">
                <a16:creationId xmlns:a16="http://schemas.microsoft.com/office/drawing/2014/main" id="{663B7541-E3E2-8AF8-D1A0-FD70E3539EE6}"/>
              </a:ext>
            </a:extLst>
          </p:cNvPr>
          <p:cNvSpPr txBox="1"/>
          <p:nvPr/>
        </p:nvSpPr>
        <p:spPr>
          <a:xfrm>
            <a:off x="10247971" y="1170878"/>
            <a:ext cx="1048214" cy="446276"/>
          </a:xfrm>
          <a:prstGeom prst="rect">
            <a:avLst/>
          </a:prstGeom>
          <a:noFill/>
          <a:ln>
            <a:solidFill>
              <a:srgbClr val="FF0000"/>
            </a:solidFill>
          </a:ln>
        </p:spPr>
        <p:txBody>
          <a:bodyPr wrap="square" rtlCol="0">
            <a:spAutoFit/>
          </a:bodyPr>
          <a:lstStyle/>
          <a:p>
            <a:pPr algn="ctr"/>
            <a:r>
              <a:rPr lang="en-US" sz="2300" dirty="0">
                <a:latin typeface="Calibri" panose="020F0502020204030204" pitchFamily="34" charset="0"/>
                <a:cs typeface="Calibri" panose="020F0502020204030204" pitchFamily="34" charset="0"/>
              </a:rPr>
              <a:t>HTML</a:t>
            </a:r>
            <a:endParaRPr lang="en-AU" sz="2300" dirty="0">
              <a:latin typeface="Calibri" panose="020F0502020204030204" pitchFamily="34" charset="0"/>
              <a:cs typeface="Calibri" panose="020F0502020204030204" pitchFamily="34" charset="0"/>
            </a:endParaRPr>
          </a:p>
        </p:txBody>
      </p:sp>
      <p:pic>
        <p:nvPicPr>
          <p:cNvPr id="12" name="Picture 11">
            <a:extLst>
              <a:ext uri="{FF2B5EF4-FFF2-40B4-BE49-F238E27FC236}">
                <a16:creationId xmlns:a16="http://schemas.microsoft.com/office/drawing/2014/main" id="{74349235-F4EF-AD7B-9AD1-F02DDBC9211E}"/>
              </a:ext>
            </a:extLst>
          </p:cNvPr>
          <p:cNvPicPr>
            <a:picLocks noChangeAspect="1"/>
          </p:cNvPicPr>
          <p:nvPr/>
        </p:nvPicPr>
        <p:blipFill rotWithShape="1">
          <a:blip r:embed="rId3"/>
          <a:srcRect l="11706" t="25041" r="53356" b="55610"/>
          <a:stretch/>
        </p:blipFill>
        <p:spPr>
          <a:xfrm>
            <a:off x="-65" y="2466531"/>
            <a:ext cx="4259636" cy="1326995"/>
          </a:xfrm>
          <a:prstGeom prst="rect">
            <a:avLst/>
          </a:prstGeom>
          <a:ln>
            <a:solidFill>
              <a:srgbClr val="FF0000"/>
            </a:solidFill>
          </a:ln>
        </p:spPr>
      </p:pic>
      <p:cxnSp>
        <p:nvCxnSpPr>
          <p:cNvPr id="14" name="Straight Connector 13">
            <a:extLst>
              <a:ext uri="{FF2B5EF4-FFF2-40B4-BE49-F238E27FC236}">
                <a16:creationId xmlns:a16="http://schemas.microsoft.com/office/drawing/2014/main" id="{5FDE51ED-DE1E-B6F6-309A-DA8DA645A999}"/>
              </a:ext>
            </a:extLst>
          </p:cNvPr>
          <p:cNvCxnSpPr/>
          <p:nvPr/>
        </p:nvCxnSpPr>
        <p:spPr>
          <a:xfrm>
            <a:off x="6579220" y="1906859"/>
            <a:ext cx="1382751" cy="0"/>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911475906"/>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1">
            <a:extLst>
              <a:ext uri="{FF2B5EF4-FFF2-40B4-BE49-F238E27FC236}">
                <a16:creationId xmlns:a16="http://schemas.microsoft.com/office/drawing/2014/main" id="{CB1693F2-5AEE-7DB3-BD87-EADE811E6000}"/>
              </a:ext>
            </a:extLst>
          </p:cNvPr>
          <p:cNvSpPr>
            <a:spLocks noChangeArrowheads="1"/>
          </p:cNvSpPr>
          <p:nvPr/>
        </p:nvSpPr>
        <p:spPr bwMode="auto">
          <a:xfrm>
            <a:off x="0" y="-138499"/>
            <a:ext cx="65" cy="27699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2" name="TextBox 1">
            <a:extLst>
              <a:ext uri="{FF2B5EF4-FFF2-40B4-BE49-F238E27FC236}">
                <a16:creationId xmlns:a16="http://schemas.microsoft.com/office/drawing/2014/main" id="{D56D5ECD-9EFB-16EB-2852-CD1BF12F9951}"/>
              </a:ext>
            </a:extLst>
          </p:cNvPr>
          <p:cNvSpPr txBox="1"/>
          <p:nvPr/>
        </p:nvSpPr>
        <p:spPr>
          <a:xfrm>
            <a:off x="94592" y="-100359"/>
            <a:ext cx="12097407" cy="630429"/>
          </a:xfrm>
          <a:prstGeom prst="rect">
            <a:avLst/>
          </a:prstGeom>
          <a:noFill/>
        </p:spPr>
        <p:txBody>
          <a:bodyPr wrap="square" rtlCol="0">
            <a:spAutoFit/>
          </a:bodyPr>
          <a:lstStyle/>
          <a:p>
            <a:pPr>
              <a:lnSpc>
                <a:spcPct val="150000"/>
              </a:lnSpc>
            </a:pPr>
            <a:r>
              <a:rPr lang="en-US" sz="2600" b="1" dirty="0">
                <a:latin typeface="Calibri" panose="020F0502020204030204" pitchFamily="34" charset="0"/>
                <a:cs typeface="Calibri" panose="020F0502020204030204" pitchFamily="34" charset="0"/>
              </a:rPr>
              <a:t>Project 2: Styling a Webpage</a:t>
            </a:r>
          </a:p>
        </p:txBody>
      </p:sp>
      <p:pic>
        <p:nvPicPr>
          <p:cNvPr id="10" name="Picture 9">
            <a:extLst>
              <a:ext uri="{FF2B5EF4-FFF2-40B4-BE49-F238E27FC236}">
                <a16:creationId xmlns:a16="http://schemas.microsoft.com/office/drawing/2014/main" id="{C56E8939-9750-CBD9-6D21-A5E9DF65DF63}"/>
              </a:ext>
            </a:extLst>
          </p:cNvPr>
          <p:cNvPicPr>
            <a:picLocks noChangeAspect="1"/>
          </p:cNvPicPr>
          <p:nvPr/>
        </p:nvPicPr>
        <p:blipFill rotWithShape="1">
          <a:blip r:embed="rId2"/>
          <a:srcRect r="10274" b="12195"/>
          <a:stretch/>
        </p:blipFill>
        <p:spPr>
          <a:xfrm>
            <a:off x="724829" y="545797"/>
            <a:ext cx="11467169" cy="6312204"/>
          </a:xfrm>
          <a:prstGeom prst="rect">
            <a:avLst/>
          </a:prstGeom>
        </p:spPr>
      </p:pic>
      <p:sp>
        <p:nvSpPr>
          <p:cNvPr id="3" name="TextBox 2">
            <a:extLst>
              <a:ext uri="{FF2B5EF4-FFF2-40B4-BE49-F238E27FC236}">
                <a16:creationId xmlns:a16="http://schemas.microsoft.com/office/drawing/2014/main" id="{BE21B2BE-C849-560D-7F74-AA83F7E25D8E}"/>
              </a:ext>
            </a:extLst>
          </p:cNvPr>
          <p:cNvSpPr txBox="1"/>
          <p:nvPr/>
        </p:nvSpPr>
        <p:spPr>
          <a:xfrm>
            <a:off x="7415561" y="2598234"/>
            <a:ext cx="3646450" cy="1154162"/>
          </a:xfrm>
          <a:prstGeom prst="rect">
            <a:avLst/>
          </a:prstGeom>
          <a:noFill/>
          <a:ln>
            <a:solidFill>
              <a:srgbClr val="FF0000"/>
            </a:solidFill>
          </a:ln>
        </p:spPr>
        <p:txBody>
          <a:bodyPr wrap="square" rtlCol="0">
            <a:spAutoFit/>
          </a:bodyPr>
          <a:lstStyle/>
          <a:p>
            <a:pPr algn="ctr"/>
            <a:r>
              <a:rPr lang="en-US" sz="2300" dirty="0">
                <a:latin typeface="Calibri" panose="020F0502020204030204" pitchFamily="34" charset="0"/>
                <a:cs typeface="Calibri" panose="020F0502020204030204" pitchFamily="34" charset="0"/>
              </a:rPr>
              <a:t>HTML completed!</a:t>
            </a:r>
          </a:p>
          <a:p>
            <a:pPr algn="ctr"/>
            <a:r>
              <a:rPr lang="en-US" sz="2300" dirty="0">
                <a:latin typeface="Calibri" panose="020F0502020204030204" pitchFamily="34" charset="0"/>
                <a:cs typeface="Calibri" panose="020F0502020204030204" pitchFamily="34" charset="0"/>
              </a:rPr>
              <a:t>We need to change the style file</a:t>
            </a:r>
            <a:endParaRPr lang="en-AU" sz="23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260994839"/>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1">
            <a:extLst>
              <a:ext uri="{FF2B5EF4-FFF2-40B4-BE49-F238E27FC236}">
                <a16:creationId xmlns:a16="http://schemas.microsoft.com/office/drawing/2014/main" id="{CB1693F2-5AEE-7DB3-BD87-EADE811E6000}"/>
              </a:ext>
            </a:extLst>
          </p:cNvPr>
          <p:cNvSpPr>
            <a:spLocks noChangeArrowheads="1"/>
          </p:cNvSpPr>
          <p:nvPr/>
        </p:nvSpPr>
        <p:spPr bwMode="auto">
          <a:xfrm>
            <a:off x="0" y="-138499"/>
            <a:ext cx="65" cy="27699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2" name="TextBox 1">
            <a:extLst>
              <a:ext uri="{FF2B5EF4-FFF2-40B4-BE49-F238E27FC236}">
                <a16:creationId xmlns:a16="http://schemas.microsoft.com/office/drawing/2014/main" id="{D56D5ECD-9EFB-16EB-2852-CD1BF12F9951}"/>
              </a:ext>
            </a:extLst>
          </p:cNvPr>
          <p:cNvSpPr txBox="1"/>
          <p:nvPr/>
        </p:nvSpPr>
        <p:spPr>
          <a:xfrm>
            <a:off x="94592" y="0"/>
            <a:ext cx="12097407" cy="630429"/>
          </a:xfrm>
          <a:prstGeom prst="rect">
            <a:avLst/>
          </a:prstGeom>
          <a:noFill/>
        </p:spPr>
        <p:txBody>
          <a:bodyPr wrap="square" rtlCol="0">
            <a:spAutoFit/>
          </a:bodyPr>
          <a:lstStyle/>
          <a:p>
            <a:pPr>
              <a:lnSpc>
                <a:spcPct val="150000"/>
              </a:lnSpc>
            </a:pPr>
            <a:r>
              <a:rPr lang="en-US" sz="2600" b="1" dirty="0">
                <a:latin typeface="Calibri" panose="020F0502020204030204" pitchFamily="34" charset="0"/>
                <a:cs typeface="Calibri" panose="020F0502020204030204" pitchFamily="34" charset="0"/>
              </a:rPr>
              <a:t>Project 2: Styling a Webpage</a:t>
            </a:r>
          </a:p>
        </p:txBody>
      </p:sp>
      <p:pic>
        <p:nvPicPr>
          <p:cNvPr id="6" name="Picture 5">
            <a:extLst>
              <a:ext uri="{FF2B5EF4-FFF2-40B4-BE49-F238E27FC236}">
                <a16:creationId xmlns:a16="http://schemas.microsoft.com/office/drawing/2014/main" id="{CF60C108-F55F-85D1-9A1F-B18F063BAACE}"/>
              </a:ext>
            </a:extLst>
          </p:cNvPr>
          <p:cNvPicPr>
            <a:picLocks noChangeAspect="1"/>
          </p:cNvPicPr>
          <p:nvPr/>
        </p:nvPicPr>
        <p:blipFill rotWithShape="1">
          <a:blip r:embed="rId2"/>
          <a:srcRect r="61312" b="8455"/>
          <a:stretch/>
        </p:blipFill>
        <p:spPr>
          <a:xfrm>
            <a:off x="7380572" y="579863"/>
            <a:ext cx="4716836" cy="6278137"/>
          </a:xfrm>
          <a:prstGeom prst="rect">
            <a:avLst/>
          </a:prstGeom>
        </p:spPr>
      </p:pic>
      <p:sp>
        <p:nvSpPr>
          <p:cNvPr id="7" name="TextBox 6">
            <a:extLst>
              <a:ext uri="{FF2B5EF4-FFF2-40B4-BE49-F238E27FC236}">
                <a16:creationId xmlns:a16="http://schemas.microsoft.com/office/drawing/2014/main" id="{72D8E573-B6CE-FDD9-0862-946C4C8492AD}"/>
              </a:ext>
            </a:extLst>
          </p:cNvPr>
          <p:cNvSpPr txBox="1"/>
          <p:nvPr/>
        </p:nvSpPr>
        <p:spPr>
          <a:xfrm>
            <a:off x="94592" y="1003610"/>
            <a:ext cx="7220608" cy="3753848"/>
          </a:xfrm>
          <a:prstGeom prst="rect">
            <a:avLst/>
          </a:prstGeom>
          <a:noFill/>
        </p:spPr>
        <p:txBody>
          <a:bodyPr wrap="square" rtlCol="0">
            <a:spAutoFit/>
          </a:bodyPr>
          <a:lstStyle/>
          <a:p>
            <a:pPr>
              <a:lnSpc>
                <a:spcPct val="150000"/>
              </a:lnSpc>
            </a:pPr>
            <a:r>
              <a:rPr lang="en-US" sz="2300" dirty="0">
                <a:latin typeface="Calibri" panose="020F0502020204030204" pitchFamily="34" charset="0"/>
                <a:cs typeface="Calibri" panose="020F0502020204030204" pitchFamily="34" charset="0"/>
              </a:rPr>
              <a:t>In the HTML file, you should replace </a:t>
            </a:r>
            <a:r>
              <a:rPr lang="en-US" sz="2300" b="1" dirty="0">
                <a:latin typeface="Calibri" panose="020F0502020204030204" pitchFamily="34" charset="0"/>
                <a:cs typeface="Calibri" panose="020F0502020204030204" pitchFamily="34" charset="0"/>
              </a:rPr>
              <a:t>[Your Name] </a:t>
            </a:r>
            <a:r>
              <a:rPr lang="en-US" sz="2300" dirty="0">
                <a:latin typeface="Calibri" panose="020F0502020204030204" pitchFamily="34" charset="0"/>
                <a:cs typeface="Calibri" panose="020F0502020204030204" pitchFamily="34" charset="0"/>
              </a:rPr>
              <a:t>with your name, </a:t>
            </a:r>
            <a:r>
              <a:rPr lang="en-US" sz="2300" b="1" dirty="0">
                <a:latin typeface="Calibri" panose="020F0502020204030204" pitchFamily="34" charset="0"/>
                <a:cs typeface="Calibri" panose="020F0502020204030204" pitchFamily="34" charset="0"/>
              </a:rPr>
              <a:t>[Today's Date] </a:t>
            </a:r>
            <a:r>
              <a:rPr lang="en-US" sz="2300" dirty="0">
                <a:latin typeface="Calibri" panose="020F0502020204030204" pitchFamily="34" charset="0"/>
                <a:cs typeface="Calibri" panose="020F0502020204030204" pitchFamily="34" charset="0"/>
              </a:rPr>
              <a:t>with the current date, and </a:t>
            </a:r>
            <a:r>
              <a:rPr lang="en-US" sz="2300" b="1" dirty="0">
                <a:latin typeface="Calibri" panose="020F0502020204030204" pitchFamily="34" charset="0"/>
                <a:cs typeface="Calibri" panose="020F0502020204030204" pitchFamily="34" charset="0"/>
              </a:rPr>
              <a:t>[email] </a:t>
            </a:r>
            <a:r>
              <a:rPr lang="en-US" sz="2300" dirty="0">
                <a:latin typeface="Calibri" panose="020F0502020204030204" pitchFamily="34" charset="0"/>
                <a:cs typeface="Calibri" panose="020F0502020204030204" pitchFamily="34" charset="0"/>
              </a:rPr>
              <a:t>with the actual contact email. The image source </a:t>
            </a:r>
            <a:r>
              <a:rPr lang="en-US" sz="2300" b="1" dirty="0">
                <a:latin typeface="Calibri" panose="020F0502020204030204" pitchFamily="34" charset="0"/>
                <a:cs typeface="Calibri" panose="020F0502020204030204" pitchFamily="34" charset="0"/>
              </a:rPr>
              <a:t>image.jpg </a:t>
            </a:r>
            <a:r>
              <a:rPr lang="en-US" sz="2300" dirty="0">
                <a:latin typeface="Calibri" panose="020F0502020204030204" pitchFamily="34" charset="0"/>
                <a:cs typeface="Calibri" panose="020F0502020204030204" pitchFamily="34" charset="0"/>
              </a:rPr>
              <a:t>should be the path to the image provided. In the CSS file, replace </a:t>
            </a:r>
            <a:r>
              <a:rPr lang="en-US" sz="2300" b="1" dirty="0">
                <a:latin typeface="Calibri" panose="020F0502020204030204" pitchFamily="34" charset="0"/>
                <a:cs typeface="Calibri" panose="020F0502020204030204" pitchFamily="34" charset="0"/>
              </a:rPr>
              <a:t>#DAE5D0 </a:t>
            </a:r>
            <a:r>
              <a:rPr lang="en-US" sz="2300" dirty="0">
                <a:latin typeface="Calibri" panose="020F0502020204030204" pitchFamily="34" charset="0"/>
                <a:cs typeface="Calibri" panose="020F0502020204030204" pitchFamily="34" charset="0"/>
              </a:rPr>
              <a:t>with the actual background color you desire, and adjust other styles as needed to match the design you're aiming for.</a:t>
            </a:r>
            <a:endParaRPr lang="en-AU" sz="23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329337902"/>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1">
            <a:extLst>
              <a:ext uri="{FF2B5EF4-FFF2-40B4-BE49-F238E27FC236}">
                <a16:creationId xmlns:a16="http://schemas.microsoft.com/office/drawing/2014/main" id="{CB1693F2-5AEE-7DB3-BD87-EADE811E6000}"/>
              </a:ext>
            </a:extLst>
          </p:cNvPr>
          <p:cNvSpPr>
            <a:spLocks noChangeArrowheads="1"/>
          </p:cNvSpPr>
          <p:nvPr/>
        </p:nvSpPr>
        <p:spPr bwMode="auto">
          <a:xfrm>
            <a:off x="0" y="-138499"/>
            <a:ext cx="65" cy="27699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4" name="Picture 3">
            <a:extLst>
              <a:ext uri="{FF2B5EF4-FFF2-40B4-BE49-F238E27FC236}">
                <a16:creationId xmlns:a16="http://schemas.microsoft.com/office/drawing/2014/main" id="{8ED3825A-C504-0A47-B615-EF60FEAE2FF6}"/>
              </a:ext>
            </a:extLst>
          </p:cNvPr>
          <p:cNvPicPr>
            <a:picLocks noChangeAspect="1"/>
          </p:cNvPicPr>
          <p:nvPr/>
        </p:nvPicPr>
        <p:blipFill rotWithShape="1">
          <a:blip r:embed="rId2"/>
          <a:srcRect l="4938" r="25183" b="8455"/>
          <a:stretch/>
        </p:blipFill>
        <p:spPr>
          <a:xfrm>
            <a:off x="2910468" y="-5559"/>
            <a:ext cx="9313959" cy="6863559"/>
          </a:xfrm>
          <a:prstGeom prst="rect">
            <a:avLst/>
          </a:prstGeom>
        </p:spPr>
      </p:pic>
    </p:spTree>
    <p:extLst>
      <p:ext uri="{BB962C8B-B14F-4D97-AF65-F5344CB8AC3E}">
        <p14:creationId xmlns:p14="http://schemas.microsoft.com/office/powerpoint/2010/main" val="2123270193"/>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93A0C606-8177-F64B-A6B6-7ED7C2042F53}"/>
              </a:ext>
            </a:extLst>
          </p:cNvPr>
          <p:cNvPicPr>
            <a:picLocks noChangeAspect="1"/>
          </p:cNvPicPr>
          <p:nvPr/>
        </p:nvPicPr>
        <p:blipFill rotWithShape="1">
          <a:blip r:embed="rId2"/>
          <a:srcRect l="13080" t="26505" r="45674" b="54959"/>
          <a:stretch/>
        </p:blipFill>
        <p:spPr>
          <a:xfrm>
            <a:off x="0" y="2751514"/>
            <a:ext cx="7767290" cy="1963504"/>
          </a:xfrm>
          <a:prstGeom prst="rect">
            <a:avLst/>
          </a:prstGeom>
        </p:spPr>
      </p:pic>
      <p:pic>
        <p:nvPicPr>
          <p:cNvPr id="12" name="Picture 11">
            <a:extLst>
              <a:ext uri="{FF2B5EF4-FFF2-40B4-BE49-F238E27FC236}">
                <a16:creationId xmlns:a16="http://schemas.microsoft.com/office/drawing/2014/main" id="{638D0EB3-95D4-87E8-39BD-2050045C13C2}"/>
              </a:ext>
            </a:extLst>
          </p:cNvPr>
          <p:cNvPicPr>
            <a:picLocks noChangeAspect="1"/>
          </p:cNvPicPr>
          <p:nvPr/>
        </p:nvPicPr>
        <p:blipFill rotWithShape="1">
          <a:blip r:embed="rId3"/>
          <a:srcRect l="11981" t="25203" r="46136" b="56586"/>
          <a:stretch/>
        </p:blipFill>
        <p:spPr>
          <a:xfrm>
            <a:off x="0" y="4986988"/>
            <a:ext cx="7649738" cy="1871012"/>
          </a:xfrm>
          <a:prstGeom prst="rect">
            <a:avLst/>
          </a:prstGeom>
          <a:ln>
            <a:noFill/>
          </a:ln>
        </p:spPr>
      </p:pic>
      <p:sp>
        <p:nvSpPr>
          <p:cNvPr id="2" name="TextBox 1">
            <a:extLst>
              <a:ext uri="{FF2B5EF4-FFF2-40B4-BE49-F238E27FC236}">
                <a16:creationId xmlns:a16="http://schemas.microsoft.com/office/drawing/2014/main" id="{E65AA3C2-9E37-8530-E410-C520D056B4B6}"/>
              </a:ext>
            </a:extLst>
          </p:cNvPr>
          <p:cNvSpPr txBox="1"/>
          <p:nvPr/>
        </p:nvSpPr>
        <p:spPr>
          <a:xfrm>
            <a:off x="94592" y="0"/>
            <a:ext cx="12097407" cy="671851"/>
          </a:xfrm>
          <a:prstGeom prst="rect">
            <a:avLst/>
          </a:prstGeom>
          <a:noFill/>
        </p:spPr>
        <p:txBody>
          <a:bodyPr wrap="square" rtlCol="0">
            <a:spAutoFit/>
          </a:bodyPr>
          <a:lstStyle/>
          <a:p>
            <a:pPr>
              <a:lnSpc>
                <a:spcPct val="150000"/>
              </a:lnSpc>
            </a:pPr>
            <a:r>
              <a:rPr lang="en-US" sz="2800" b="1" dirty="0">
                <a:latin typeface="Calibri" panose="020F0502020204030204" pitchFamily="34" charset="0"/>
                <a:cs typeface="Calibri" panose="020F0502020204030204" pitchFamily="34" charset="0"/>
              </a:rPr>
              <a:t>Styling a Webpage</a:t>
            </a:r>
          </a:p>
        </p:txBody>
      </p:sp>
    </p:spTree>
    <p:extLst>
      <p:ext uri="{BB962C8B-B14F-4D97-AF65-F5344CB8AC3E}">
        <p14:creationId xmlns:p14="http://schemas.microsoft.com/office/powerpoint/2010/main" val="822202037"/>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ED1316-58E5-6692-E5F1-304E91BD5F5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3D5BADBF-C723-F08C-5EBF-47B878C25F6D}"/>
              </a:ext>
            </a:extLst>
          </p:cNvPr>
          <p:cNvSpPr txBox="1"/>
          <p:nvPr/>
        </p:nvSpPr>
        <p:spPr>
          <a:xfrm>
            <a:off x="0" y="0"/>
            <a:ext cx="8976732" cy="584775"/>
          </a:xfrm>
          <a:prstGeom prst="rect">
            <a:avLst/>
          </a:prstGeom>
          <a:noFill/>
        </p:spPr>
        <p:txBody>
          <a:bodyPr wrap="square" rtlCol="0">
            <a:spAutoFit/>
          </a:bodyPr>
          <a:lstStyle/>
          <a:p>
            <a:pPr lvl="0">
              <a:defRPr/>
            </a:pPr>
            <a:r>
              <a:rPr lang="en-US" sz="3200" b="1" dirty="0">
                <a:solidFill>
                  <a:prstClr val="black"/>
                </a:solidFill>
                <a:latin typeface="Calibri" panose="020F0502020204030204" pitchFamily="34" charset="0"/>
                <a:cs typeface="Calibri" panose="020F0502020204030204" pitchFamily="34" charset="0"/>
              </a:rPr>
              <a:t>Lab 2 Test (Week 4 &amp; 5)</a:t>
            </a:r>
            <a:endParaRPr kumimoji="0" lang="en-US" sz="32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sp>
        <p:nvSpPr>
          <p:cNvPr id="5" name="TextBox 4">
            <a:extLst>
              <a:ext uri="{FF2B5EF4-FFF2-40B4-BE49-F238E27FC236}">
                <a16:creationId xmlns:a16="http://schemas.microsoft.com/office/drawing/2014/main" id="{ECAA6F32-ABA9-642A-CBE4-04BDD1729280}"/>
              </a:ext>
            </a:extLst>
          </p:cNvPr>
          <p:cNvSpPr txBox="1"/>
          <p:nvPr/>
        </p:nvSpPr>
        <p:spPr>
          <a:xfrm>
            <a:off x="0" y="642938"/>
            <a:ext cx="12192000" cy="4549835"/>
          </a:xfrm>
          <a:prstGeom prst="rect">
            <a:avLst/>
          </a:prstGeom>
          <a:noFill/>
        </p:spPr>
        <p:txBody>
          <a:bodyPr wrap="square">
            <a:spAutoFit/>
          </a:bodyPr>
          <a:lstStyle/>
          <a:p>
            <a:pPr>
              <a:lnSpc>
                <a:spcPct val="150000"/>
              </a:lnSpc>
              <a:buNone/>
            </a:pPr>
            <a:r>
              <a:rPr lang="en-US" sz="2800" b="1" dirty="0">
                <a:latin typeface="Calibir"/>
              </a:rPr>
              <a:t>Question 1</a:t>
            </a:r>
          </a:p>
          <a:p>
            <a:pPr>
              <a:lnSpc>
                <a:spcPct val="150000"/>
              </a:lnSpc>
              <a:buNone/>
            </a:pPr>
            <a:r>
              <a:rPr lang="en-US" sz="2800" b="1" dirty="0">
                <a:latin typeface="Calibir"/>
              </a:rPr>
              <a:t>What is the filename you must save your template as in Project 1?</a:t>
            </a:r>
            <a:endParaRPr lang="en-US" sz="2800" dirty="0">
              <a:latin typeface="Calibir"/>
            </a:endParaRPr>
          </a:p>
          <a:p>
            <a:pPr>
              <a:lnSpc>
                <a:spcPct val="150000"/>
              </a:lnSpc>
              <a:buNone/>
            </a:pPr>
            <a:r>
              <a:rPr lang="en-US" sz="2800" dirty="0">
                <a:latin typeface="Calibir"/>
              </a:rPr>
              <a:t>A. template02.html</a:t>
            </a:r>
            <a:br>
              <a:rPr lang="en-US" sz="2800" dirty="0">
                <a:latin typeface="Calibir"/>
              </a:rPr>
            </a:br>
            <a:r>
              <a:rPr lang="en-US" sz="2800" dirty="0">
                <a:latin typeface="Calibir"/>
              </a:rPr>
              <a:t>B. template01.html</a:t>
            </a:r>
            <a:br>
              <a:rPr lang="en-US" sz="2800" dirty="0">
                <a:latin typeface="Calibir"/>
              </a:rPr>
            </a:br>
            <a:r>
              <a:rPr lang="en-US" sz="2800" dirty="0">
                <a:latin typeface="Calibir"/>
              </a:rPr>
              <a:t>C. wireframe.html</a:t>
            </a:r>
            <a:br>
              <a:rPr lang="en-US" sz="2800" dirty="0">
                <a:latin typeface="Calibir"/>
              </a:rPr>
            </a:br>
            <a:r>
              <a:rPr lang="en-US" sz="2800" dirty="0">
                <a:latin typeface="Calibir"/>
              </a:rPr>
              <a:t>D. mainpage.html</a:t>
            </a:r>
          </a:p>
          <a:p>
            <a:pPr>
              <a:lnSpc>
                <a:spcPct val="150000"/>
              </a:lnSpc>
              <a:buNone/>
            </a:pPr>
            <a:r>
              <a:rPr lang="en-US" sz="2800" dirty="0">
                <a:latin typeface="Calibir"/>
              </a:rPr>
              <a:t>A. template02.html</a:t>
            </a:r>
          </a:p>
        </p:txBody>
      </p:sp>
      <p:sp>
        <p:nvSpPr>
          <p:cNvPr id="8" name="TextBox 7">
            <a:extLst>
              <a:ext uri="{FF2B5EF4-FFF2-40B4-BE49-F238E27FC236}">
                <a16:creationId xmlns:a16="http://schemas.microsoft.com/office/drawing/2014/main" id="{9AA029DD-F3EA-5EA2-FE38-304214E7EEDA}"/>
              </a:ext>
            </a:extLst>
          </p:cNvPr>
          <p:cNvSpPr txBox="1"/>
          <p:nvPr/>
        </p:nvSpPr>
        <p:spPr>
          <a:xfrm>
            <a:off x="5109567" y="2477457"/>
            <a:ext cx="6175772" cy="2610843"/>
          </a:xfrm>
          <a:prstGeom prst="rect">
            <a:avLst/>
          </a:prstGeom>
          <a:noFill/>
        </p:spPr>
        <p:txBody>
          <a:bodyPr wrap="square">
            <a:spAutoFit/>
          </a:bodyPr>
          <a:lstStyle/>
          <a:p>
            <a:pPr>
              <a:lnSpc>
                <a:spcPct val="150000"/>
              </a:lnSpc>
              <a:buNone/>
            </a:pPr>
            <a:r>
              <a:rPr lang="en-US" sz="2800" dirty="0">
                <a:latin typeface="Calibir"/>
              </a:rPr>
              <a:t>The project instructions say the template file must be saved as template02.html so the correct file can be identified and submitted.</a:t>
            </a:r>
          </a:p>
        </p:txBody>
      </p:sp>
      <p:sp>
        <p:nvSpPr>
          <p:cNvPr id="9" name="Rectangle: Rounded Corners 8">
            <a:extLst>
              <a:ext uri="{FF2B5EF4-FFF2-40B4-BE49-F238E27FC236}">
                <a16:creationId xmlns:a16="http://schemas.microsoft.com/office/drawing/2014/main" id="{3601FF6E-D8A2-5441-3A99-3DC4DB266CBA}"/>
              </a:ext>
            </a:extLst>
          </p:cNvPr>
          <p:cNvSpPr/>
          <p:nvPr/>
        </p:nvSpPr>
        <p:spPr>
          <a:xfrm>
            <a:off x="0" y="2078831"/>
            <a:ext cx="3193256" cy="514350"/>
          </a:xfrm>
          <a:prstGeom prst="round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Tree>
    <p:extLst>
      <p:ext uri="{BB962C8B-B14F-4D97-AF65-F5344CB8AC3E}">
        <p14:creationId xmlns:p14="http://schemas.microsoft.com/office/powerpoint/2010/main" val="5463090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1000"/>
                                        <p:tgtEl>
                                          <p:spTgt spid="9"/>
                                        </p:tgtEl>
                                      </p:cBhvr>
                                    </p:animEffect>
                                    <p:anim calcmode="lin" valueType="num">
                                      <p:cBhvr>
                                        <p:cTn id="8" dur="1000" fill="hold"/>
                                        <p:tgtEl>
                                          <p:spTgt spid="9"/>
                                        </p:tgtEl>
                                        <p:attrNameLst>
                                          <p:attrName>ppt_x</p:attrName>
                                        </p:attrNameLst>
                                      </p:cBhvr>
                                      <p:tavLst>
                                        <p:tav tm="0">
                                          <p:val>
                                            <p:strVal val="#ppt_x"/>
                                          </p:val>
                                        </p:tav>
                                        <p:tav tm="100000">
                                          <p:val>
                                            <p:strVal val="#ppt_x"/>
                                          </p:val>
                                        </p:tav>
                                      </p:tavLst>
                                    </p:anim>
                                    <p:anim calcmode="lin" valueType="num">
                                      <p:cBhvr>
                                        <p:cTn id="9" dur="1000" fill="hold"/>
                                        <p:tgtEl>
                                          <p:spTgt spid="9"/>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1000"/>
                                        <p:tgtEl>
                                          <p:spTgt spid="8"/>
                                        </p:tgtEl>
                                      </p:cBhvr>
                                    </p:animEffect>
                                    <p:anim calcmode="lin" valueType="num">
                                      <p:cBhvr>
                                        <p:cTn id="13" dur="1000" fill="hold"/>
                                        <p:tgtEl>
                                          <p:spTgt spid="8"/>
                                        </p:tgtEl>
                                        <p:attrNameLst>
                                          <p:attrName>ppt_x</p:attrName>
                                        </p:attrNameLst>
                                      </p:cBhvr>
                                      <p:tavLst>
                                        <p:tav tm="0">
                                          <p:val>
                                            <p:strVal val="#ppt_x"/>
                                          </p:val>
                                        </p:tav>
                                        <p:tav tm="100000">
                                          <p:val>
                                            <p:strVal val="#ppt_x"/>
                                          </p:val>
                                        </p:tav>
                                      </p:tavLst>
                                    </p:anim>
                                    <p:anim calcmode="lin" valueType="num">
                                      <p:cBhvr>
                                        <p:cTn id="14"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animBg="1"/>
    </p:bld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E3C2DE-0377-BA40-5D00-41822CC38921}"/>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89702BAE-485E-B7ED-50DC-C6A9460014E7}"/>
              </a:ext>
            </a:extLst>
          </p:cNvPr>
          <p:cNvSpPr txBox="1"/>
          <p:nvPr/>
        </p:nvSpPr>
        <p:spPr>
          <a:xfrm>
            <a:off x="0" y="0"/>
            <a:ext cx="8976732" cy="584775"/>
          </a:xfrm>
          <a:prstGeom prst="rect">
            <a:avLst/>
          </a:prstGeom>
          <a:noFill/>
        </p:spPr>
        <p:txBody>
          <a:bodyPr wrap="square" rtlCol="0">
            <a:spAutoFit/>
          </a:bodyPr>
          <a:lstStyle/>
          <a:p>
            <a:pPr lvl="0">
              <a:defRPr/>
            </a:pPr>
            <a:r>
              <a:rPr lang="en-US" sz="3200" b="1" dirty="0">
                <a:solidFill>
                  <a:prstClr val="black"/>
                </a:solidFill>
                <a:latin typeface="Calibri" panose="020F0502020204030204" pitchFamily="34" charset="0"/>
                <a:cs typeface="Calibri" panose="020F0502020204030204" pitchFamily="34" charset="0"/>
              </a:rPr>
              <a:t>Lab 2 Test (Week 4 &amp; 5)</a:t>
            </a:r>
            <a:endParaRPr kumimoji="0" lang="en-US" sz="32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sp>
        <p:nvSpPr>
          <p:cNvPr id="5" name="TextBox 4">
            <a:extLst>
              <a:ext uri="{FF2B5EF4-FFF2-40B4-BE49-F238E27FC236}">
                <a16:creationId xmlns:a16="http://schemas.microsoft.com/office/drawing/2014/main" id="{D10D4D53-B456-17C0-995E-6801C02ECDBA}"/>
              </a:ext>
            </a:extLst>
          </p:cNvPr>
          <p:cNvSpPr txBox="1"/>
          <p:nvPr/>
        </p:nvSpPr>
        <p:spPr>
          <a:xfrm>
            <a:off x="0" y="642938"/>
            <a:ext cx="12192000" cy="4549835"/>
          </a:xfrm>
          <a:prstGeom prst="rect">
            <a:avLst/>
          </a:prstGeom>
          <a:noFill/>
        </p:spPr>
        <p:txBody>
          <a:bodyPr wrap="square">
            <a:spAutoFit/>
          </a:bodyPr>
          <a:lstStyle/>
          <a:p>
            <a:pPr>
              <a:lnSpc>
                <a:spcPct val="150000"/>
              </a:lnSpc>
            </a:pPr>
            <a:r>
              <a:rPr lang="en-US" sz="2800" b="1" dirty="0">
                <a:latin typeface="Calibir"/>
              </a:rPr>
              <a:t>Question 2</a:t>
            </a:r>
          </a:p>
          <a:p>
            <a:pPr>
              <a:lnSpc>
                <a:spcPct val="150000"/>
              </a:lnSpc>
            </a:pPr>
            <a:r>
              <a:rPr lang="en-US" sz="2800" b="1" dirty="0">
                <a:latin typeface="Calibir"/>
              </a:rPr>
              <a:t>What HTML element contains the comment questions you must replace with research answers?</a:t>
            </a:r>
            <a:endParaRPr lang="en-US" sz="2800" dirty="0">
              <a:latin typeface="Calibir"/>
            </a:endParaRPr>
          </a:p>
          <a:p>
            <a:pPr>
              <a:lnSpc>
                <a:spcPct val="150000"/>
              </a:lnSpc>
            </a:pPr>
            <a:r>
              <a:rPr lang="en-US" sz="2800" dirty="0">
                <a:latin typeface="Calibir"/>
              </a:rPr>
              <a:t>A. title</a:t>
            </a:r>
            <a:br>
              <a:rPr lang="en-US" sz="2800" dirty="0">
                <a:latin typeface="Calibir"/>
              </a:rPr>
            </a:br>
            <a:r>
              <a:rPr lang="en-US" sz="2800" dirty="0">
                <a:latin typeface="Calibir"/>
              </a:rPr>
              <a:t>B. body</a:t>
            </a:r>
            <a:br>
              <a:rPr lang="en-US" sz="2800" dirty="0">
                <a:latin typeface="Calibir"/>
              </a:rPr>
            </a:br>
            <a:r>
              <a:rPr lang="en-US" sz="2800" dirty="0">
                <a:latin typeface="Calibir"/>
              </a:rPr>
              <a:t>C. div</a:t>
            </a:r>
            <a:br>
              <a:rPr lang="en-US" sz="2800" dirty="0">
                <a:latin typeface="Calibir"/>
              </a:rPr>
            </a:br>
            <a:r>
              <a:rPr lang="en-US" sz="2800" dirty="0">
                <a:latin typeface="Calibir"/>
              </a:rPr>
              <a:t>D. footer</a:t>
            </a:r>
          </a:p>
        </p:txBody>
      </p:sp>
      <p:sp>
        <p:nvSpPr>
          <p:cNvPr id="8" name="TextBox 7">
            <a:extLst>
              <a:ext uri="{FF2B5EF4-FFF2-40B4-BE49-F238E27FC236}">
                <a16:creationId xmlns:a16="http://schemas.microsoft.com/office/drawing/2014/main" id="{38BE154C-C619-75F6-F2FC-767D57E805F7}"/>
              </a:ext>
            </a:extLst>
          </p:cNvPr>
          <p:cNvSpPr txBox="1"/>
          <p:nvPr/>
        </p:nvSpPr>
        <p:spPr>
          <a:xfrm>
            <a:off x="5109567" y="2477457"/>
            <a:ext cx="6175772" cy="1964512"/>
          </a:xfrm>
          <a:prstGeom prst="rect">
            <a:avLst/>
          </a:prstGeom>
          <a:noFill/>
        </p:spPr>
        <p:txBody>
          <a:bodyPr wrap="square">
            <a:spAutoFit/>
          </a:bodyPr>
          <a:lstStyle/>
          <a:p>
            <a:pPr>
              <a:lnSpc>
                <a:spcPct val="150000"/>
              </a:lnSpc>
            </a:pPr>
            <a:r>
              <a:rPr lang="en-US" sz="2800" dirty="0">
                <a:latin typeface="Calibir"/>
              </a:rPr>
              <a:t>The title element contains the comment questions that need to be replaced with research answers.</a:t>
            </a:r>
          </a:p>
        </p:txBody>
      </p:sp>
      <p:sp>
        <p:nvSpPr>
          <p:cNvPr id="9" name="Rectangle: Rounded Corners 8">
            <a:extLst>
              <a:ext uri="{FF2B5EF4-FFF2-40B4-BE49-F238E27FC236}">
                <a16:creationId xmlns:a16="http://schemas.microsoft.com/office/drawing/2014/main" id="{F5DC3117-2E39-C870-B514-60EBACA838F0}"/>
              </a:ext>
            </a:extLst>
          </p:cNvPr>
          <p:cNvSpPr/>
          <p:nvPr/>
        </p:nvSpPr>
        <p:spPr>
          <a:xfrm>
            <a:off x="0" y="2721768"/>
            <a:ext cx="3193256" cy="514350"/>
          </a:xfrm>
          <a:prstGeom prst="round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Tree>
    <p:extLst>
      <p:ext uri="{BB962C8B-B14F-4D97-AF65-F5344CB8AC3E}">
        <p14:creationId xmlns:p14="http://schemas.microsoft.com/office/powerpoint/2010/main" val="6692035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1000"/>
                                        <p:tgtEl>
                                          <p:spTgt spid="9"/>
                                        </p:tgtEl>
                                      </p:cBhvr>
                                    </p:animEffect>
                                    <p:anim calcmode="lin" valueType="num">
                                      <p:cBhvr>
                                        <p:cTn id="8" dur="1000" fill="hold"/>
                                        <p:tgtEl>
                                          <p:spTgt spid="9"/>
                                        </p:tgtEl>
                                        <p:attrNameLst>
                                          <p:attrName>ppt_x</p:attrName>
                                        </p:attrNameLst>
                                      </p:cBhvr>
                                      <p:tavLst>
                                        <p:tav tm="0">
                                          <p:val>
                                            <p:strVal val="#ppt_x"/>
                                          </p:val>
                                        </p:tav>
                                        <p:tav tm="100000">
                                          <p:val>
                                            <p:strVal val="#ppt_x"/>
                                          </p:val>
                                        </p:tav>
                                      </p:tavLst>
                                    </p:anim>
                                    <p:anim calcmode="lin" valueType="num">
                                      <p:cBhvr>
                                        <p:cTn id="9" dur="1000" fill="hold"/>
                                        <p:tgtEl>
                                          <p:spTgt spid="9"/>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1000"/>
                                        <p:tgtEl>
                                          <p:spTgt spid="8"/>
                                        </p:tgtEl>
                                      </p:cBhvr>
                                    </p:animEffect>
                                    <p:anim calcmode="lin" valueType="num">
                                      <p:cBhvr>
                                        <p:cTn id="13" dur="1000" fill="hold"/>
                                        <p:tgtEl>
                                          <p:spTgt spid="8"/>
                                        </p:tgtEl>
                                        <p:attrNameLst>
                                          <p:attrName>ppt_x</p:attrName>
                                        </p:attrNameLst>
                                      </p:cBhvr>
                                      <p:tavLst>
                                        <p:tav tm="0">
                                          <p:val>
                                            <p:strVal val="#ppt_x"/>
                                          </p:val>
                                        </p:tav>
                                        <p:tav tm="100000">
                                          <p:val>
                                            <p:strVal val="#ppt_x"/>
                                          </p:val>
                                        </p:tav>
                                      </p:tavLst>
                                    </p:anim>
                                    <p:anim calcmode="lin" valueType="num">
                                      <p:cBhvr>
                                        <p:cTn id="14"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animBg="1"/>
    </p:bld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0E2630-0E04-5617-EC6B-9B125B882A90}"/>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F929C7BA-10C5-D2A0-B0DF-A6205C857F32}"/>
              </a:ext>
            </a:extLst>
          </p:cNvPr>
          <p:cNvSpPr txBox="1"/>
          <p:nvPr/>
        </p:nvSpPr>
        <p:spPr>
          <a:xfrm>
            <a:off x="0" y="0"/>
            <a:ext cx="8976732" cy="584775"/>
          </a:xfrm>
          <a:prstGeom prst="rect">
            <a:avLst/>
          </a:prstGeom>
          <a:noFill/>
        </p:spPr>
        <p:txBody>
          <a:bodyPr wrap="square" rtlCol="0">
            <a:spAutoFit/>
          </a:bodyPr>
          <a:lstStyle/>
          <a:p>
            <a:pPr lvl="0">
              <a:defRPr/>
            </a:pPr>
            <a:r>
              <a:rPr lang="en-US" sz="3200" b="1" dirty="0">
                <a:solidFill>
                  <a:prstClr val="black"/>
                </a:solidFill>
                <a:latin typeface="Calibri" panose="020F0502020204030204" pitchFamily="34" charset="0"/>
                <a:cs typeface="Calibri" panose="020F0502020204030204" pitchFamily="34" charset="0"/>
              </a:rPr>
              <a:t>Lab 2 Test (Week 4 &amp; 5)</a:t>
            </a:r>
            <a:endParaRPr kumimoji="0" lang="en-US" sz="32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sp>
        <p:nvSpPr>
          <p:cNvPr id="5" name="TextBox 4">
            <a:extLst>
              <a:ext uri="{FF2B5EF4-FFF2-40B4-BE49-F238E27FC236}">
                <a16:creationId xmlns:a16="http://schemas.microsoft.com/office/drawing/2014/main" id="{B6D7E3F1-A6BC-A68F-EFFA-714D4E90D185}"/>
              </a:ext>
            </a:extLst>
          </p:cNvPr>
          <p:cNvSpPr txBox="1"/>
          <p:nvPr/>
        </p:nvSpPr>
        <p:spPr>
          <a:xfrm>
            <a:off x="0" y="642938"/>
            <a:ext cx="12192000" cy="3903504"/>
          </a:xfrm>
          <a:prstGeom prst="rect">
            <a:avLst/>
          </a:prstGeom>
          <a:noFill/>
        </p:spPr>
        <p:txBody>
          <a:bodyPr wrap="square">
            <a:spAutoFit/>
          </a:bodyPr>
          <a:lstStyle/>
          <a:p>
            <a:pPr>
              <a:lnSpc>
                <a:spcPct val="150000"/>
              </a:lnSpc>
            </a:pPr>
            <a:r>
              <a:rPr lang="en-US" sz="2800" b="1" dirty="0">
                <a:latin typeface="Calibir"/>
              </a:rPr>
              <a:t>Question 3</a:t>
            </a:r>
          </a:p>
          <a:p>
            <a:pPr>
              <a:lnSpc>
                <a:spcPct val="150000"/>
              </a:lnSpc>
            </a:pPr>
            <a:r>
              <a:rPr lang="en-US" sz="2800" b="1" dirty="0">
                <a:latin typeface="Calibir"/>
              </a:rPr>
              <a:t>Where should the research website addresses be recorded?</a:t>
            </a:r>
            <a:endParaRPr lang="en-US" sz="2800" dirty="0">
              <a:latin typeface="Calibir"/>
            </a:endParaRPr>
          </a:p>
          <a:p>
            <a:pPr>
              <a:lnSpc>
                <a:spcPct val="150000"/>
              </a:lnSpc>
            </a:pPr>
            <a:r>
              <a:rPr lang="en-US" sz="2800" dirty="0">
                <a:latin typeface="Calibir"/>
              </a:rPr>
              <a:t>A. apply02.docx</a:t>
            </a:r>
            <a:br>
              <a:rPr lang="en-US" sz="2800" dirty="0">
                <a:latin typeface="Calibir"/>
              </a:rPr>
            </a:br>
            <a:r>
              <a:rPr lang="en-US" sz="2800" dirty="0">
                <a:latin typeface="Calibir"/>
              </a:rPr>
              <a:t>B. webpublishing.docx</a:t>
            </a:r>
            <a:br>
              <a:rPr lang="en-US" sz="2800" dirty="0">
                <a:latin typeface="Calibir"/>
              </a:rPr>
            </a:br>
            <a:r>
              <a:rPr lang="en-US" sz="2800" dirty="0">
                <a:latin typeface="Calibir"/>
              </a:rPr>
              <a:t>C. portfolio.docx</a:t>
            </a:r>
            <a:br>
              <a:rPr lang="en-US" sz="2800" dirty="0">
                <a:latin typeface="Calibir"/>
              </a:rPr>
            </a:br>
            <a:r>
              <a:rPr lang="en-US" sz="2800" dirty="0">
                <a:latin typeface="Calibir"/>
              </a:rPr>
              <a:t>D. wireframe02.docx</a:t>
            </a:r>
          </a:p>
        </p:txBody>
      </p:sp>
      <p:sp>
        <p:nvSpPr>
          <p:cNvPr id="8" name="TextBox 7">
            <a:extLst>
              <a:ext uri="{FF2B5EF4-FFF2-40B4-BE49-F238E27FC236}">
                <a16:creationId xmlns:a16="http://schemas.microsoft.com/office/drawing/2014/main" id="{2D643B29-B5F8-9509-7FA8-580973E4B500}"/>
              </a:ext>
            </a:extLst>
          </p:cNvPr>
          <p:cNvSpPr txBox="1"/>
          <p:nvPr/>
        </p:nvSpPr>
        <p:spPr>
          <a:xfrm>
            <a:off x="5109567" y="2477457"/>
            <a:ext cx="6175772" cy="1318181"/>
          </a:xfrm>
          <a:prstGeom prst="rect">
            <a:avLst/>
          </a:prstGeom>
          <a:noFill/>
        </p:spPr>
        <p:txBody>
          <a:bodyPr wrap="square">
            <a:spAutoFit/>
          </a:bodyPr>
          <a:lstStyle/>
          <a:p>
            <a:pPr>
              <a:lnSpc>
                <a:spcPct val="150000"/>
              </a:lnSpc>
            </a:pPr>
            <a:r>
              <a:rPr lang="en-US" sz="2800" dirty="0">
                <a:latin typeface="Calibir"/>
              </a:rPr>
              <a:t>All website links and research references must be saved in apply02.docx.</a:t>
            </a:r>
          </a:p>
        </p:txBody>
      </p:sp>
      <p:sp>
        <p:nvSpPr>
          <p:cNvPr id="9" name="Rectangle: Rounded Corners 8">
            <a:extLst>
              <a:ext uri="{FF2B5EF4-FFF2-40B4-BE49-F238E27FC236}">
                <a16:creationId xmlns:a16="http://schemas.microsoft.com/office/drawing/2014/main" id="{BCBEB680-EDD1-7569-D00C-2D181E725619}"/>
              </a:ext>
            </a:extLst>
          </p:cNvPr>
          <p:cNvSpPr/>
          <p:nvPr/>
        </p:nvSpPr>
        <p:spPr>
          <a:xfrm>
            <a:off x="0" y="2114549"/>
            <a:ext cx="3193256" cy="514350"/>
          </a:xfrm>
          <a:prstGeom prst="round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Tree>
    <p:extLst>
      <p:ext uri="{BB962C8B-B14F-4D97-AF65-F5344CB8AC3E}">
        <p14:creationId xmlns:p14="http://schemas.microsoft.com/office/powerpoint/2010/main" val="17052586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1000"/>
                                        <p:tgtEl>
                                          <p:spTgt spid="9"/>
                                        </p:tgtEl>
                                      </p:cBhvr>
                                    </p:animEffect>
                                    <p:anim calcmode="lin" valueType="num">
                                      <p:cBhvr>
                                        <p:cTn id="8" dur="1000" fill="hold"/>
                                        <p:tgtEl>
                                          <p:spTgt spid="9"/>
                                        </p:tgtEl>
                                        <p:attrNameLst>
                                          <p:attrName>ppt_x</p:attrName>
                                        </p:attrNameLst>
                                      </p:cBhvr>
                                      <p:tavLst>
                                        <p:tav tm="0">
                                          <p:val>
                                            <p:strVal val="#ppt_x"/>
                                          </p:val>
                                        </p:tav>
                                        <p:tav tm="100000">
                                          <p:val>
                                            <p:strVal val="#ppt_x"/>
                                          </p:val>
                                        </p:tav>
                                      </p:tavLst>
                                    </p:anim>
                                    <p:anim calcmode="lin" valueType="num">
                                      <p:cBhvr>
                                        <p:cTn id="9" dur="1000" fill="hold"/>
                                        <p:tgtEl>
                                          <p:spTgt spid="9"/>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1000"/>
                                        <p:tgtEl>
                                          <p:spTgt spid="8"/>
                                        </p:tgtEl>
                                      </p:cBhvr>
                                    </p:animEffect>
                                    <p:anim calcmode="lin" valueType="num">
                                      <p:cBhvr>
                                        <p:cTn id="13" dur="1000" fill="hold"/>
                                        <p:tgtEl>
                                          <p:spTgt spid="8"/>
                                        </p:tgtEl>
                                        <p:attrNameLst>
                                          <p:attrName>ppt_x</p:attrName>
                                        </p:attrNameLst>
                                      </p:cBhvr>
                                      <p:tavLst>
                                        <p:tav tm="0">
                                          <p:val>
                                            <p:strVal val="#ppt_x"/>
                                          </p:val>
                                        </p:tav>
                                        <p:tav tm="100000">
                                          <p:val>
                                            <p:strVal val="#ppt_x"/>
                                          </p:val>
                                        </p:tav>
                                      </p:tavLst>
                                    </p:anim>
                                    <p:anim calcmode="lin" valueType="num">
                                      <p:cBhvr>
                                        <p:cTn id="14"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animBg="1"/>
    </p:bld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6CD074-7133-4185-61A4-A09AD96A032E}"/>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D598D740-11A8-0D13-DBD6-F0C33250C271}"/>
              </a:ext>
            </a:extLst>
          </p:cNvPr>
          <p:cNvSpPr txBox="1"/>
          <p:nvPr/>
        </p:nvSpPr>
        <p:spPr>
          <a:xfrm>
            <a:off x="0" y="0"/>
            <a:ext cx="8976732" cy="584775"/>
          </a:xfrm>
          <a:prstGeom prst="rect">
            <a:avLst/>
          </a:prstGeom>
          <a:noFill/>
        </p:spPr>
        <p:txBody>
          <a:bodyPr wrap="square" rtlCol="0">
            <a:spAutoFit/>
          </a:bodyPr>
          <a:lstStyle/>
          <a:p>
            <a:pPr lvl="0">
              <a:defRPr/>
            </a:pPr>
            <a:r>
              <a:rPr lang="en-US" sz="3200" b="1" dirty="0">
                <a:solidFill>
                  <a:prstClr val="black"/>
                </a:solidFill>
                <a:latin typeface="Calibri" panose="020F0502020204030204" pitchFamily="34" charset="0"/>
                <a:cs typeface="Calibri" panose="020F0502020204030204" pitchFamily="34" charset="0"/>
              </a:rPr>
              <a:t>Lab 2 Test (Week 4 &amp; 5)</a:t>
            </a:r>
            <a:endParaRPr kumimoji="0" lang="en-US" sz="32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sp>
        <p:nvSpPr>
          <p:cNvPr id="5" name="TextBox 4">
            <a:extLst>
              <a:ext uri="{FF2B5EF4-FFF2-40B4-BE49-F238E27FC236}">
                <a16:creationId xmlns:a16="http://schemas.microsoft.com/office/drawing/2014/main" id="{65397CD9-9140-40DC-AAE8-B156E0EE9CA0}"/>
              </a:ext>
            </a:extLst>
          </p:cNvPr>
          <p:cNvSpPr txBox="1"/>
          <p:nvPr/>
        </p:nvSpPr>
        <p:spPr>
          <a:xfrm>
            <a:off x="0" y="642938"/>
            <a:ext cx="12192000" cy="3903504"/>
          </a:xfrm>
          <a:prstGeom prst="rect">
            <a:avLst/>
          </a:prstGeom>
          <a:noFill/>
        </p:spPr>
        <p:txBody>
          <a:bodyPr wrap="square">
            <a:spAutoFit/>
          </a:bodyPr>
          <a:lstStyle/>
          <a:p>
            <a:pPr>
              <a:lnSpc>
                <a:spcPct val="150000"/>
              </a:lnSpc>
            </a:pPr>
            <a:r>
              <a:rPr lang="en-US" sz="2800" b="1" dirty="0">
                <a:latin typeface="Calibir"/>
              </a:rPr>
              <a:t>Question 4</a:t>
            </a:r>
          </a:p>
          <a:p>
            <a:pPr>
              <a:lnSpc>
                <a:spcPct val="150000"/>
              </a:lnSpc>
            </a:pPr>
            <a:r>
              <a:rPr lang="en-US" sz="2800" b="1" dirty="0">
                <a:latin typeface="Calibir"/>
              </a:rPr>
              <a:t>Which semantic element is </a:t>
            </a:r>
            <a:r>
              <a:rPr lang="en-US" sz="2800" b="1" i="1" dirty="0">
                <a:latin typeface="Calibir"/>
              </a:rPr>
              <a:t>not</a:t>
            </a:r>
            <a:r>
              <a:rPr lang="en-US" sz="2800" b="1" dirty="0">
                <a:latin typeface="Calibir"/>
              </a:rPr>
              <a:t> listed as part of the wireframe to be researched?</a:t>
            </a:r>
            <a:endParaRPr lang="en-US" sz="2800" dirty="0">
              <a:latin typeface="Calibir"/>
            </a:endParaRPr>
          </a:p>
          <a:p>
            <a:pPr>
              <a:lnSpc>
                <a:spcPct val="150000"/>
              </a:lnSpc>
            </a:pPr>
            <a:r>
              <a:rPr lang="en-US" sz="2800" dirty="0">
                <a:latin typeface="Calibir"/>
              </a:rPr>
              <a:t>A. header</a:t>
            </a:r>
            <a:br>
              <a:rPr lang="en-US" sz="2800" dirty="0">
                <a:latin typeface="Calibir"/>
              </a:rPr>
            </a:br>
            <a:r>
              <a:rPr lang="en-US" sz="2800" dirty="0">
                <a:latin typeface="Calibir"/>
              </a:rPr>
              <a:t>B. aside</a:t>
            </a:r>
          </a:p>
          <a:p>
            <a:pPr>
              <a:lnSpc>
                <a:spcPct val="150000"/>
              </a:lnSpc>
            </a:pPr>
            <a:r>
              <a:rPr lang="en-US" sz="2800" dirty="0">
                <a:latin typeface="Calibir"/>
              </a:rPr>
              <a:t>C. nav</a:t>
            </a:r>
            <a:br>
              <a:rPr lang="en-US" sz="2800" dirty="0">
                <a:latin typeface="Calibir"/>
              </a:rPr>
            </a:br>
            <a:r>
              <a:rPr lang="en-US" sz="2800" dirty="0">
                <a:latin typeface="Calibir"/>
              </a:rPr>
              <a:t>D. main</a:t>
            </a:r>
          </a:p>
        </p:txBody>
      </p:sp>
      <p:sp>
        <p:nvSpPr>
          <p:cNvPr id="8" name="TextBox 7">
            <a:extLst>
              <a:ext uri="{FF2B5EF4-FFF2-40B4-BE49-F238E27FC236}">
                <a16:creationId xmlns:a16="http://schemas.microsoft.com/office/drawing/2014/main" id="{7E27D053-BDDD-B5C0-2619-00DE7DDC7138}"/>
              </a:ext>
            </a:extLst>
          </p:cNvPr>
          <p:cNvSpPr txBox="1"/>
          <p:nvPr/>
        </p:nvSpPr>
        <p:spPr>
          <a:xfrm>
            <a:off x="5109567" y="2477457"/>
            <a:ext cx="6175772" cy="1318181"/>
          </a:xfrm>
          <a:prstGeom prst="rect">
            <a:avLst/>
          </a:prstGeom>
          <a:noFill/>
        </p:spPr>
        <p:txBody>
          <a:bodyPr wrap="square">
            <a:spAutoFit/>
          </a:bodyPr>
          <a:lstStyle/>
          <a:p>
            <a:pPr>
              <a:lnSpc>
                <a:spcPct val="150000"/>
              </a:lnSpc>
            </a:pPr>
            <a:r>
              <a:rPr lang="en-US" sz="2800" dirty="0">
                <a:latin typeface="Calibir"/>
              </a:rPr>
              <a:t>The wireframe research includes header, nav, and main, but not aside.</a:t>
            </a:r>
          </a:p>
        </p:txBody>
      </p:sp>
      <p:sp>
        <p:nvSpPr>
          <p:cNvPr id="9" name="Rectangle: Rounded Corners 8">
            <a:extLst>
              <a:ext uri="{FF2B5EF4-FFF2-40B4-BE49-F238E27FC236}">
                <a16:creationId xmlns:a16="http://schemas.microsoft.com/office/drawing/2014/main" id="{0C76DE1A-41C5-869A-60EA-58247CDB6F29}"/>
              </a:ext>
            </a:extLst>
          </p:cNvPr>
          <p:cNvSpPr/>
          <p:nvPr/>
        </p:nvSpPr>
        <p:spPr>
          <a:xfrm>
            <a:off x="0" y="2707480"/>
            <a:ext cx="3193256" cy="514350"/>
          </a:xfrm>
          <a:prstGeom prst="round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Tree>
    <p:extLst>
      <p:ext uri="{BB962C8B-B14F-4D97-AF65-F5344CB8AC3E}">
        <p14:creationId xmlns:p14="http://schemas.microsoft.com/office/powerpoint/2010/main" val="12999595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1000"/>
                                        <p:tgtEl>
                                          <p:spTgt spid="9"/>
                                        </p:tgtEl>
                                      </p:cBhvr>
                                    </p:animEffect>
                                    <p:anim calcmode="lin" valueType="num">
                                      <p:cBhvr>
                                        <p:cTn id="8" dur="1000" fill="hold"/>
                                        <p:tgtEl>
                                          <p:spTgt spid="9"/>
                                        </p:tgtEl>
                                        <p:attrNameLst>
                                          <p:attrName>ppt_x</p:attrName>
                                        </p:attrNameLst>
                                      </p:cBhvr>
                                      <p:tavLst>
                                        <p:tav tm="0">
                                          <p:val>
                                            <p:strVal val="#ppt_x"/>
                                          </p:val>
                                        </p:tav>
                                        <p:tav tm="100000">
                                          <p:val>
                                            <p:strVal val="#ppt_x"/>
                                          </p:val>
                                        </p:tav>
                                      </p:tavLst>
                                    </p:anim>
                                    <p:anim calcmode="lin" valueType="num">
                                      <p:cBhvr>
                                        <p:cTn id="9" dur="1000" fill="hold"/>
                                        <p:tgtEl>
                                          <p:spTgt spid="9"/>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1000"/>
                                        <p:tgtEl>
                                          <p:spTgt spid="8"/>
                                        </p:tgtEl>
                                      </p:cBhvr>
                                    </p:animEffect>
                                    <p:anim calcmode="lin" valueType="num">
                                      <p:cBhvr>
                                        <p:cTn id="13" dur="1000" fill="hold"/>
                                        <p:tgtEl>
                                          <p:spTgt spid="8"/>
                                        </p:tgtEl>
                                        <p:attrNameLst>
                                          <p:attrName>ppt_x</p:attrName>
                                        </p:attrNameLst>
                                      </p:cBhvr>
                                      <p:tavLst>
                                        <p:tav tm="0">
                                          <p:val>
                                            <p:strVal val="#ppt_x"/>
                                          </p:val>
                                        </p:tav>
                                        <p:tav tm="100000">
                                          <p:val>
                                            <p:strVal val="#ppt_x"/>
                                          </p:val>
                                        </p:tav>
                                      </p:tavLst>
                                    </p:anim>
                                    <p:anim calcmode="lin" valueType="num">
                                      <p:cBhvr>
                                        <p:cTn id="14"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animBg="1"/>
    </p:bld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D57519-BA8F-318C-EF2C-ED92B160307B}"/>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A92F332-E8F4-B1D1-F352-03176B6875E4}"/>
              </a:ext>
            </a:extLst>
          </p:cNvPr>
          <p:cNvSpPr txBox="1"/>
          <p:nvPr/>
        </p:nvSpPr>
        <p:spPr>
          <a:xfrm>
            <a:off x="0" y="0"/>
            <a:ext cx="8976732" cy="584775"/>
          </a:xfrm>
          <a:prstGeom prst="rect">
            <a:avLst/>
          </a:prstGeom>
          <a:noFill/>
        </p:spPr>
        <p:txBody>
          <a:bodyPr wrap="square" rtlCol="0">
            <a:spAutoFit/>
          </a:bodyPr>
          <a:lstStyle/>
          <a:p>
            <a:pPr lvl="0">
              <a:defRPr/>
            </a:pPr>
            <a:r>
              <a:rPr lang="en-US" sz="3200" b="1" dirty="0">
                <a:solidFill>
                  <a:prstClr val="black"/>
                </a:solidFill>
                <a:latin typeface="Calibri" panose="020F0502020204030204" pitchFamily="34" charset="0"/>
                <a:cs typeface="Calibri" panose="020F0502020204030204" pitchFamily="34" charset="0"/>
              </a:rPr>
              <a:t>Lab 2 Test (Week 4 &amp; 5)</a:t>
            </a:r>
            <a:endParaRPr kumimoji="0" lang="en-US" sz="32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sp>
        <p:nvSpPr>
          <p:cNvPr id="5" name="TextBox 4">
            <a:extLst>
              <a:ext uri="{FF2B5EF4-FFF2-40B4-BE49-F238E27FC236}">
                <a16:creationId xmlns:a16="http://schemas.microsoft.com/office/drawing/2014/main" id="{AD467617-50CB-0703-28F4-4AE7FD7B0AB7}"/>
              </a:ext>
            </a:extLst>
          </p:cNvPr>
          <p:cNvSpPr txBox="1"/>
          <p:nvPr/>
        </p:nvSpPr>
        <p:spPr>
          <a:xfrm>
            <a:off x="0" y="642938"/>
            <a:ext cx="12192000" cy="3903504"/>
          </a:xfrm>
          <a:prstGeom prst="rect">
            <a:avLst/>
          </a:prstGeom>
          <a:noFill/>
        </p:spPr>
        <p:txBody>
          <a:bodyPr wrap="square">
            <a:spAutoFit/>
          </a:bodyPr>
          <a:lstStyle/>
          <a:p>
            <a:pPr>
              <a:lnSpc>
                <a:spcPct val="150000"/>
              </a:lnSpc>
            </a:pPr>
            <a:r>
              <a:rPr lang="en-US" sz="2800" b="1" dirty="0">
                <a:latin typeface="Calibir"/>
              </a:rPr>
              <a:t>Question 5</a:t>
            </a:r>
          </a:p>
          <a:p>
            <a:pPr>
              <a:lnSpc>
                <a:spcPct val="150000"/>
              </a:lnSpc>
            </a:pPr>
            <a:r>
              <a:rPr lang="en-US" sz="2800" b="1" dirty="0">
                <a:latin typeface="Calibir"/>
              </a:rPr>
              <a:t>What message must the W3C validator show after successful validation?</a:t>
            </a:r>
            <a:endParaRPr lang="en-US" sz="2800" dirty="0">
              <a:latin typeface="Calibir"/>
            </a:endParaRPr>
          </a:p>
          <a:p>
            <a:pPr>
              <a:lnSpc>
                <a:spcPct val="150000"/>
              </a:lnSpc>
            </a:pPr>
            <a:r>
              <a:rPr lang="en-US" sz="2800" dirty="0">
                <a:latin typeface="Calibir"/>
              </a:rPr>
              <a:t>A. No warnings found</a:t>
            </a:r>
            <a:br>
              <a:rPr lang="en-US" sz="2800" dirty="0">
                <a:latin typeface="Calibir"/>
              </a:rPr>
            </a:br>
            <a:r>
              <a:rPr lang="en-US" sz="2800" dirty="0">
                <a:latin typeface="Calibir"/>
              </a:rPr>
              <a:t>B. Validation passed</a:t>
            </a:r>
            <a:br>
              <a:rPr lang="en-US" sz="2800" dirty="0">
                <a:latin typeface="Calibir"/>
              </a:rPr>
            </a:br>
            <a:r>
              <a:rPr lang="en-US" sz="2800" dirty="0">
                <a:latin typeface="Calibir"/>
              </a:rPr>
              <a:t>C. This document was successfully checked as HTML5!</a:t>
            </a:r>
            <a:br>
              <a:rPr lang="en-US" sz="2800" dirty="0">
                <a:latin typeface="Calibir"/>
              </a:rPr>
            </a:br>
            <a:r>
              <a:rPr lang="en-US" sz="2800" dirty="0">
                <a:latin typeface="Calibir"/>
              </a:rPr>
              <a:t>D. HTML verified</a:t>
            </a:r>
          </a:p>
        </p:txBody>
      </p:sp>
      <p:sp>
        <p:nvSpPr>
          <p:cNvPr id="8" name="TextBox 7">
            <a:extLst>
              <a:ext uri="{FF2B5EF4-FFF2-40B4-BE49-F238E27FC236}">
                <a16:creationId xmlns:a16="http://schemas.microsoft.com/office/drawing/2014/main" id="{64AB2CBA-8D30-7EFC-DAF5-63FDC60C906A}"/>
              </a:ext>
            </a:extLst>
          </p:cNvPr>
          <p:cNvSpPr txBox="1"/>
          <p:nvPr/>
        </p:nvSpPr>
        <p:spPr>
          <a:xfrm>
            <a:off x="5095279" y="3970500"/>
            <a:ext cx="6175772" cy="1964512"/>
          </a:xfrm>
          <a:prstGeom prst="rect">
            <a:avLst/>
          </a:prstGeom>
          <a:noFill/>
        </p:spPr>
        <p:txBody>
          <a:bodyPr wrap="square">
            <a:spAutoFit/>
          </a:bodyPr>
          <a:lstStyle/>
          <a:p>
            <a:pPr>
              <a:lnSpc>
                <a:spcPct val="150000"/>
              </a:lnSpc>
            </a:pPr>
            <a:r>
              <a:rPr lang="en-US" sz="2800" dirty="0">
                <a:latin typeface="Calibir"/>
              </a:rPr>
              <a:t>This message confirms that the HTML code is correct and follows HTML5 standards.</a:t>
            </a:r>
          </a:p>
        </p:txBody>
      </p:sp>
      <p:sp>
        <p:nvSpPr>
          <p:cNvPr id="9" name="Rectangle: Rounded Corners 8">
            <a:extLst>
              <a:ext uri="{FF2B5EF4-FFF2-40B4-BE49-F238E27FC236}">
                <a16:creationId xmlns:a16="http://schemas.microsoft.com/office/drawing/2014/main" id="{DA41EE25-0DBB-8E8D-599F-35992F042D01}"/>
              </a:ext>
            </a:extLst>
          </p:cNvPr>
          <p:cNvSpPr/>
          <p:nvPr/>
        </p:nvSpPr>
        <p:spPr>
          <a:xfrm>
            <a:off x="0" y="3343274"/>
            <a:ext cx="8629650" cy="514350"/>
          </a:xfrm>
          <a:prstGeom prst="round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Tree>
    <p:extLst>
      <p:ext uri="{BB962C8B-B14F-4D97-AF65-F5344CB8AC3E}">
        <p14:creationId xmlns:p14="http://schemas.microsoft.com/office/powerpoint/2010/main" val="9044454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1000"/>
                                        <p:tgtEl>
                                          <p:spTgt spid="9"/>
                                        </p:tgtEl>
                                      </p:cBhvr>
                                    </p:animEffect>
                                    <p:anim calcmode="lin" valueType="num">
                                      <p:cBhvr>
                                        <p:cTn id="8" dur="1000" fill="hold"/>
                                        <p:tgtEl>
                                          <p:spTgt spid="9"/>
                                        </p:tgtEl>
                                        <p:attrNameLst>
                                          <p:attrName>ppt_x</p:attrName>
                                        </p:attrNameLst>
                                      </p:cBhvr>
                                      <p:tavLst>
                                        <p:tav tm="0">
                                          <p:val>
                                            <p:strVal val="#ppt_x"/>
                                          </p:val>
                                        </p:tav>
                                        <p:tav tm="100000">
                                          <p:val>
                                            <p:strVal val="#ppt_x"/>
                                          </p:val>
                                        </p:tav>
                                      </p:tavLst>
                                    </p:anim>
                                    <p:anim calcmode="lin" valueType="num">
                                      <p:cBhvr>
                                        <p:cTn id="9" dur="1000" fill="hold"/>
                                        <p:tgtEl>
                                          <p:spTgt spid="9"/>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1000"/>
                                        <p:tgtEl>
                                          <p:spTgt spid="8"/>
                                        </p:tgtEl>
                                      </p:cBhvr>
                                    </p:animEffect>
                                    <p:anim calcmode="lin" valueType="num">
                                      <p:cBhvr>
                                        <p:cTn id="13" dur="1000" fill="hold"/>
                                        <p:tgtEl>
                                          <p:spTgt spid="8"/>
                                        </p:tgtEl>
                                        <p:attrNameLst>
                                          <p:attrName>ppt_x</p:attrName>
                                        </p:attrNameLst>
                                      </p:cBhvr>
                                      <p:tavLst>
                                        <p:tav tm="0">
                                          <p:val>
                                            <p:strVal val="#ppt_x"/>
                                          </p:val>
                                        </p:tav>
                                        <p:tav tm="100000">
                                          <p:val>
                                            <p:strVal val="#ppt_x"/>
                                          </p:val>
                                        </p:tav>
                                      </p:tavLst>
                                    </p:anim>
                                    <p:anim calcmode="lin" valueType="num">
                                      <p:cBhvr>
                                        <p:cTn id="14"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animBg="1"/>
    </p:bld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F3CDE8-9AF6-4551-7B29-A23E961A5B1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7992E16E-E989-4DB7-D67A-4FFEB9E3C6ED}"/>
              </a:ext>
            </a:extLst>
          </p:cNvPr>
          <p:cNvSpPr txBox="1"/>
          <p:nvPr/>
        </p:nvSpPr>
        <p:spPr>
          <a:xfrm>
            <a:off x="0" y="0"/>
            <a:ext cx="8976732" cy="584775"/>
          </a:xfrm>
          <a:prstGeom prst="rect">
            <a:avLst/>
          </a:prstGeom>
          <a:noFill/>
        </p:spPr>
        <p:txBody>
          <a:bodyPr wrap="square" rtlCol="0">
            <a:spAutoFit/>
          </a:bodyPr>
          <a:lstStyle/>
          <a:p>
            <a:pPr lvl="0">
              <a:defRPr/>
            </a:pPr>
            <a:r>
              <a:rPr lang="en-US" sz="3200" b="1" dirty="0">
                <a:solidFill>
                  <a:prstClr val="black"/>
                </a:solidFill>
                <a:latin typeface="Calibri" panose="020F0502020204030204" pitchFamily="34" charset="0"/>
                <a:cs typeface="Calibri" panose="020F0502020204030204" pitchFamily="34" charset="0"/>
              </a:rPr>
              <a:t>Lab 2 Test (Week 4 &amp; 5)</a:t>
            </a:r>
            <a:endParaRPr kumimoji="0" lang="en-US" sz="32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sp>
        <p:nvSpPr>
          <p:cNvPr id="5" name="TextBox 4">
            <a:extLst>
              <a:ext uri="{FF2B5EF4-FFF2-40B4-BE49-F238E27FC236}">
                <a16:creationId xmlns:a16="http://schemas.microsoft.com/office/drawing/2014/main" id="{BE85C828-0175-B49F-D869-3A9C6F342658}"/>
              </a:ext>
            </a:extLst>
          </p:cNvPr>
          <p:cNvSpPr txBox="1"/>
          <p:nvPr/>
        </p:nvSpPr>
        <p:spPr>
          <a:xfrm>
            <a:off x="0" y="642938"/>
            <a:ext cx="12192000" cy="3903504"/>
          </a:xfrm>
          <a:prstGeom prst="rect">
            <a:avLst/>
          </a:prstGeom>
          <a:noFill/>
        </p:spPr>
        <p:txBody>
          <a:bodyPr wrap="square">
            <a:spAutoFit/>
          </a:bodyPr>
          <a:lstStyle/>
          <a:p>
            <a:pPr>
              <a:lnSpc>
                <a:spcPct val="150000"/>
              </a:lnSpc>
            </a:pPr>
            <a:r>
              <a:rPr lang="en-US" sz="2800" b="1" dirty="0">
                <a:latin typeface="Calibir"/>
              </a:rPr>
              <a:t>Question 6</a:t>
            </a:r>
          </a:p>
          <a:p>
            <a:pPr>
              <a:lnSpc>
                <a:spcPct val="150000"/>
              </a:lnSpc>
            </a:pPr>
            <a:r>
              <a:rPr lang="en-US" sz="2800" b="1" dirty="0">
                <a:latin typeface="Calibir"/>
              </a:rPr>
              <a:t>What is the definition the lab asks you to research in step 10(a)?</a:t>
            </a:r>
            <a:endParaRPr lang="en-US" sz="2800" dirty="0">
              <a:latin typeface="Calibir"/>
            </a:endParaRPr>
          </a:p>
          <a:p>
            <a:pPr>
              <a:lnSpc>
                <a:spcPct val="150000"/>
              </a:lnSpc>
            </a:pPr>
            <a:r>
              <a:rPr lang="en-US" sz="2800" dirty="0">
                <a:latin typeface="Calibir"/>
              </a:rPr>
              <a:t>A. responsive HTML</a:t>
            </a:r>
            <a:br>
              <a:rPr lang="en-US" sz="2800" dirty="0">
                <a:latin typeface="Calibir"/>
              </a:rPr>
            </a:br>
            <a:r>
              <a:rPr lang="en-US" sz="2800" dirty="0">
                <a:latin typeface="Calibir"/>
              </a:rPr>
              <a:t>B. structural CSS</a:t>
            </a:r>
            <a:br>
              <a:rPr lang="en-US" sz="2800" dirty="0">
                <a:latin typeface="Calibir"/>
              </a:rPr>
            </a:br>
            <a:r>
              <a:rPr lang="en-US" sz="2800" dirty="0">
                <a:latin typeface="Calibir"/>
              </a:rPr>
              <a:t>C. inline elements</a:t>
            </a:r>
          </a:p>
          <a:p>
            <a:pPr>
              <a:lnSpc>
                <a:spcPct val="150000"/>
              </a:lnSpc>
            </a:pPr>
            <a:r>
              <a:rPr lang="en-US" sz="2800" dirty="0">
                <a:latin typeface="Calibir"/>
              </a:rPr>
              <a:t>D. semantic HTML</a:t>
            </a:r>
          </a:p>
        </p:txBody>
      </p:sp>
      <p:sp>
        <p:nvSpPr>
          <p:cNvPr id="8" name="TextBox 7">
            <a:extLst>
              <a:ext uri="{FF2B5EF4-FFF2-40B4-BE49-F238E27FC236}">
                <a16:creationId xmlns:a16="http://schemas.microsoft.com/office/drawing/2014/main" id="{A1DB996C-DC03-91C4-D547-C3CBBA9207D5}"/>
              </a:ext>
            </a:extLst>
          </p:cNvPr>
          <p:cNvSpPr txBox="1"/>
          <p:nvPr/>
        </p:nvSpPr>
        <p:spPr>
          <a:xfrm>
            <a:off x="5095279" y="3970500"/>
            <a:ext cx="6175772" cy="1964512"/>
          </a:xfrm>
          <a:prstGeom prst="rect">
            <a:avLst/>
          </a:prstGeom>
          <a:noFill/>
        </p:spPr>
        <p:txBody>
          <a:bodyPr wrap="square">
            <a:spAutoFit/>
          </a:bodyPr>
          <a:lstStyle/>
          <a:p>
            <a:pPr>
              <a:lnSpc>
                <a:spcPct val="150000"/>
              </a:lnSpc>
            </a:pPr>
            <a:r>
              <a:rPr lang="en-US" sz="2800" dirty="0">
                <a:latin typeface="Calibir"/>
              </a:rPr>
              <a:t>Semantic HTML uses meaningful tags like &lt;header&gt; and &lt;footer&gt; to </a:t>
            </a:r>
            <a:r>
              <a:rPr lang="en-US" sz="2800" dirty="0" err="1">
                <a:latin typeface="Calibir"/>
              </a:rPr>
              <a:t>organise</a:t>
            </a:r>
            <a:r>
              <a:rPr lang="en-US" sz="2800" dirty="0">
                <a:latin typeface="Calibir"/>
              </a:rPr>
              <a:t> webpage content clearly.</a:t>
            </a:r>
          </a:p>
        </p:txBody>
      </p:sp>
      <p:sp>
        <p:nvSpPr>
          <p:cNvPr id="9" name="Rectangle: Rounded Corners 8">
            <a:extLst>
              <a:ext uri="{FF2B5EF4-FFF2-40B4-BE49-F238E27FC236}">
                <a16:creationId xmlns:a16="http://schemas.microsoft.com/office/drawing/2014/main" id="{6484FF32-055F-7B1D-AD2F-F1BBFC4DBC62}"/>
              </a:ext>
            </a:extLst>
          </p:cNvPr>
          <p:cNvSpPr/>
          <p:nvPr/>
        </p:nvSpPr>
        <p:spPr>
          <a:xfrm>
            <a:off x="0" y="3970500"/>
            <a:ext cx="3871913" cy="514350"/>
          </a:xfrm>
          <a:prstGeom prst="round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Tree>
    <p:extLst>
      <p:ext uri="{BB962C8B-B14F-4D97-AF65-F5344CB8AC3E}">
        <p14:creationId xmlns:p14="http://schemas.microsoft.com/office/powerpoint/2010/main" val="26701932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1000"/>
                                        <p:tgtEl>
                                          <p:spTgt spid="9"/>
                                        </p:tgtEl>
                                      </p:cBhvr>
                                    </p:animEffect>
                                    <p:anim calcmode="lin" valueType="num">
                                      <p:cBhvr>
                                        <p:cTn id="8" dur="1000" fill="hold"/>
                                        <p:tgtEl>
                                          <p:spTgt spid="9"/>
                                        </p:tgtEl>
                                        <p:attrNameLst>
                                          <p:attrName>ppt_x</p:attrName>
                                        </p:attrNameLst>
                                      </p:cBhvr>
                                      <p:tavLst>
                                        <p:tav tm="0">
                                          <p:val>
                                            <p:strVal val="#ppt_x"/>
                                          </p:val>
                                        </p:tav>
                                        <p:tav tm="100000">
                                          <p:val>
                                            <p:strVal val="#ppt_x"/>
                                          </p:val>
                                        </p:tav>
                                      </p:tavLst>
                                    </p:anim>
                                    <p:anim calcmode="lin" valueType="num">
                                      <p:cBhvr>
                                        <p:cTn id="9" dur="1000" fill="hold"/>
                                        <p:tgtEl>
                                          <p:spTgt spid="9"/>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1000"/>
                                        <p:tgtEl>
                                          <p:spTgt spid="8"/>
                                        </p:tgtEl>
                                      </p:cBhvr>
                                    </p:animEffect>
                                    <p:anim calcmode="lin" valueType="num">
                                      <p:cBhvr>
                                        <p:cTn id="13" dur="1000" fill="hold"/>
                                        <p:tgtEl>
                                          <p:spTgt spid="8"/>
                                        </p:tgtEl>
                                        <p:attrNameLst>
                                          <p:attrName>ppt_x</p:attrName>
                                        </p:attrNameLst>
                                      </p:cBhvr>
                                      <p:tavLst>
                                        <p:tav tm="0">
                                          <p:val>
                                            <p:strVal val="#ppt_x"/>
                                          </p:val>
                                        </p:tav>
                                        <p:tav tm="100000">
                                          <p:val>
                                            <p:strVal val="#ppt_x"/>
                                          </p:val>
                                        </p:tav>
                                      </p:tavLst>
                                    </p:anim>
                                    <p:anim calcmode="lin" valueType="num">
                                      <p:cBhvr>
                                        <p:cTn id="14"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animBg="1"/>
    </p:bld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CB7BE8-A48E-1348-C1BA-1550CB759C4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96D77794-A420-0FD9-9F8F-FC8DCE0ABBEB}"/>
              </a:ext>
            </a:extLst>
          </p:cNvPr>
          <p:cNvSpPr txBox="1"/>
          <p:nvPr/>
        </p:nvSpPr>
        <p:spPr>
          <a:xfrm>
            <a:off x="0" y="0"/>
            <a:ext cx="8976732" cy="584775"/>
          </a:xfrm>
          <a:prstGeom prst="rect">
            <a:avLst/>
          </a:prstGeom>
          <a:noFill/>
        </p:spPr>
        <p:txBody>
          <a:bodyPr wrap="square" rtlCol="0">
            <a:spAutoFit/>
          </a:bodyPr>
          <a:lstStyle/>
          <a:p>
            <a:pPr lvl="0">
              <a:defRPr/>
            </a:pPr>
            <a:r>
              <a:rPr lang="en-US" sz="3200" b="1" dirty="0">
                <a:solidFill>
                  <a:prstClr val="black"/>
                </a:solidFill>
                <a:latin typeface="Calibri" panose="020F0502020204030204" pitchFamily="34" charset="0"/>
                <a:cs typeface="Calibri" panose="020F0502020204030204" pitchFamily="34" charset="0"/>
              </a:rPr>
              <a:t>Lab 2 Test (Week 4 &amp; 5)</a:t>
            </a:r>
            <a:endParaRPr kumimoji="0" lang="en-US" sz="32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sp>
        <p:nvSpPr>
          <p:cNvPr id="5" name="TextBox 4">
            <a:extLst>
              <a:ext uri="{FF2B5EF4-FFF2-40B4-BE49-F238E27FC236}">
                <a16:creationId xmlns:a16="http://schemas.microsoft.com/office/drawing/2014/main" id="{AB50E309-2522-DE1E-C9BE-91C512139499}"/>
              </a:ext>
            </a:extLst>
          </p:cNvPr>
          <p:cNvSpPr txBox="1"/>
          <p:nvPr/>
        </p:nvSpPr>
        <p:spPr>
          <a:xfrm>
            <a:off x="0" y="642938"/>
            <a:ext cx="12192000" cy="3903504"/>
          </a:xfrm>
          <a:prstGeom prst="rect">
            <a:avLst/>
          </a:prstGeom>
          <a:noFill/>
        </p:spPr>
        <p:txBody>
          <a:bodyPr wrap="square">
            <a:spAutoFit/>
          </a:bodyPr>
          <a:lstStyle/>
          <a:p>
            <a:pPr>
              <a:lnSpc>
                <a:spcPct val="150000"/>
              </a:lnSpc>
            </a:pPr>
            <a:r>
              <a:rPr lang="en-US" sz="2800" b="1" dirty="0">
                <a:latin typeface="Calibir"/>
              </a:rPr>
              <a:t>Question 7</a:t>
            </a:r>
          </a:p>
          <a:p>
            <a:pPr>
              <a:lnSpc>
                <a:spcPct val="150000"/>
              </a:lnSpc>
            </a:pPr>
            <a:r>
              <a:rPr lang="en-US" sz="2800" b="1" dirty="0">
                <a:latin typeface="Calibir"/>
              </a:rPr>
              <a:t>Which City Farmer file must you open and resave for Challenge 1?</a:t>
            </a:r>
            <a:endParaRPr lang="en-US" sz="2800" dirty="0">
              <a:latin typeface="Calibir"/>
            </a:endParaRPr>
          </a:p>
          <a:p>
            <a:pPr>
              <a:lnSpc>
                <a:spcPct val="150000"/>
              </a:lnSpc>
            </a:pPr>
            <a:r>
              <a:rPr lang="en-US" sz="2800" dirty="0">
                <a:latin typeface="Calibir"/>
              </a:rPr>
              <a:t>A. index.html</a:t>
            </a:r>
            <a:br>
              <a:rPr lang="en-US" sz="2800" dirty="0">
                <a:latin typeface="Calibir"/>
              </a:rPr>
            </a:br>
            <a:r>
              <a:rPr lang="en-US" sz="2800" dirty="0">
                <a:latin typeface="Calibir"/>
              </a:rPr>
              <a:t>B. apply02.html</a:t>
            </a:r>
          </a:p>
          <a:p>
            <a:pPr>
              <a:lnSpc>
                <a:spcPct val="150000"/>
              </a:lnSpc>
            </a:pPr>
            <a:r>
              <a:rPr lang="en-US" sz="2800" dirty="0">
                <a:latin typeface="Calibir"/>
              </a:rPr>
              <a:t>C. cityfarmer.html</a:t>
            </a:r>
            <a:br>
              <a:rPr lang="en-US" sz="2800" dirty="0">
                <a:latin typeface="Calibir"/>
              </a:rPr>
            </a:br>
            <a:r>
              <a:rPr lang="en-US" sz="2800" dirty="0">
                <a:latin typeface="Calibir"/>
              </a:rPr>
              <a:t>D. template02.html</a:t>
            </a:r>
          </a:p>
        </p:txBody>
      </p:sp>
      <p:sp>
        <p:nvSpPr>
          <p:cNvPr id="8" name="TextBox 7">
            <a:extLst>
              <a:ext uri="{FF2B5EF4-FFF2-40B4-BE49-F238E27FC236}">
                <a16:creationId xmlns:a16="http://schemas.microsoft.com/office/drawing/2014/main" id="{614E9E5C-9FDE-BF5C-7FC7-C63B8551F177}"/>
              </a:ext>
            </a:extLst>
          </p:cNvPr>
          <p:cNvSpPr txBox="1"/>
          <p:nvPr/>
        </p:nvSpPr>
        <p:spPr>
          <a:xfrm>
            <a:off x="5095279" y="3970500"/>
            <a:ext cx="6175772" cy="1321772"/>
          </a:xfrm>
          <a:prstGeom prst="rect">
            <a:avLst/>
          </a:prstGeom>
          <a:noFill/>
        </p:spPr>
        <p:txBody>
          <a:bodyPr wrap="square">
            <a:spAutoFit/>
          </a:bodyPr>
          <a:lstStyle/>
          <a:p>
            <a:pPr>
              <a:lnSpc>
                <a:spcPct val="150000"/>
              </a:lnSpc>
            </a:pPr>
            <a:r>
              <a:rPr lang="en-US" sz="2800" dirty="0">
                <a:latin typeface="Calibir"/>
              </a:rPr>
              <a:t>The task instructions require opening and saving the file cityfarmer.html.</a:t>
            </a:r>
          </a:p>
        </p:txBody>
      </p:sp>
      <p:sp>
        <p:nvSpPr>
          <p:cNvPr id="9" name="Rectangle: Rounded Corners 8">
            <a:extLst>
              <a:ext uri="{FF2B5EF4-FFF2-40B4-BE49-F238E27FC236}">
                <a16:creationId xmlns:a16="http://schemas.microsoft.com/office/drawing/2014/main" id="{B5C5DB0B-AEA6-1B59-ACE2-80770D0566C2}"/>
              </a:ext>
            </a:extLst>
          </p:cNvPr>
          <p:cNvSpPr/>
          <p:nvPr/>
        </p:nvSpPr>
        <p:spPr>
          <a:xfrm>
            <a:off x="0" y="3420431"/>
            <a:ext cx="3871913" cy="514350"/>
          </a:xfrm>
          <a:prstGeom prst="round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Tree>
    <p:extLst>
      <p:ext uri="{BB962C8B-B14F-4D97-AF65-F5344CB8AC3E}">
        <p14:creationId xmlns:p14="http://schemas.microsoft.com/office/powerpoint/2010/main" val="41715237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1000"/>
                                        <p:tgtEl>
                                          <p:spTgt spid="9"/>
                                        </p:tgtEl>
                                      </p:cBhvr>
                                    </p:animEffect>
                                    <p:anim calcmode="lin" valueType="num">
                                      <p:cBhvr>
                                        <p:cTn id="8" dur="1000" fill="hold"/>
                                        <p:tgtEl>
                                          <p:spTgt spid="9"/>
                                        </p:tgtEl>
                                        <p:attrNameLst>
                                          <p:attrName>ppt_x</p:attrName>
                                        </p:attrNameLst>
                                      </p:cBhvr>
                                      <p:tavLst>
                                        <p:tav tm="0">
                                          <p:val>
                                            <p:strVal val="#ppt_x"/>
                                          </p:val>
                                        </p:tav>
                                        <p:tav tm="100000">
                                          <p:val>
                                            <p:strVal val="#ppt_x"/>
                                          </p:val>
                                        </p:tav>
                                      </p:tavLst>
                                    </p:anim>
                                    <p:anim calcmode="lin" valueType="num">
                                      <p:cBhvr>
                                        <p:cTn id="9" dur="1000" fill="hold"/>
                                        <p:tgtEl>
                                          <p:spTgt spid="9"/>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1000"/>
                                        <p:tgtEl>
                                          <p:spTgt spid="8"/>
                                        </p:tgtEl>
                                      </p:cBhvr>
                                    </p:animEffect>
                                    <p:anim calcmode="lin" valueType="num">
                                      <p:cBhvr>
                                        <p:cTn id="13" dur="1000" fill="hold"/>
                                        <p:tgtEl>
                                          <p:spTgt spid="8"/>
                                        </p:tgtEl>
                                        <p:attrNameLst>
                                          <p:attrName>ppt_x</p:attrName>
                                        </p:attrNameLst>
                                      </p:cBhvr>
                                      <p:tavLst>
                                        <p:tav tm="0">
                                          <p:val>
                                            <p:strVal val="#ppt_x"/>
                                          </p:val>
                                        </p:tav>
                                        <p:tav tm="100000">
                                          <p:val>
                                            <p:strVal val="#ppt_x"/>
                                          </p:val>
                                        </p:tav>
                                      </p:tavLst>
                                    </p:anim>
                                    <p:anim calcmode="lin" valueType="num">
                                      <p:cBhvr>
                                        <p:cTn id="14"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animBg="1"/>
    </p:bld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47D72E-18C1-97C9-F405-B0AFD987F397}"/>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F0B05081-8FB8-7269-A4C2-0A6668AF17F6}"/>
              </a:ext>
            </a:extLst>
          </p:cNvPr>
          <p:cNvSpPr txBox="1"/>
          <p:nvPr/>
        </p:nvSpPr>
        <p:spPr>
          <a:xfrm>
            <a:off x="0" y="0"/>
            <a:ext cx="8976732" cy="584775"/>
          </a:xfrm>
          <a:prstGeom prst="rect">
            <a:avLst/>
          </a:prstGeom>
          <a:noFill/>
        </p:spPr>
        <p:txBody>
          <a:bodyPr wrap="square" rtlCol="0">
            <a:spAutoFit/>
          </a:bodyPr>
          <a:lstStyle/>
          <a:p>
            <a:pPr lvl="0">
              <a:defRPr/>
            </a:pPr>
            <a:r>
              <a:rPr lang="en-US" sz="3200" b="1" dirty="0">
                <a:solidFill>
                  <a:prstClr val="black"/>
                </a:solidFill>
                <a:latin typeface="Calibri" panose="020F0502020204030204" pitchFamily="34" charset="0"/>
                <a:cs typeface="Calibri" panose="020F0502020204030204" pitchFamily="34" charset="0"/>
              </a:rPr>
              <a:t>Lab 2 Test (Week 4 &amp; 5)</a:t>
            </a:r>
            <a:endParaRPr kumimoji="0" lang="en-US" sz="32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sp>
        <p:nvSpPr>
          <p:cNvPr id="5" name="TextBox 4">
            <a:extLst>
              <a:ext uri="{FF2B5EF4-FFF2-40B4-BE49-F238E27FC236}">
                <a16:creationId xmlns:a16="http://schemas.microsoft.com/office/drawing/2014/main" id="{5E27DF1E-DCBF-7B8A-9DA6-9629B0AFE4EB}"/>
              </a:ext>
            </a:extLst>
          </p:cNvPr>
          <p:cNvSpPr txBox="1"/>
          <p:nvPr/>
        </p:nvSpPr>
        <p:spPr>
          <a:xfrm>
            <a:off x="0" y="642938"/>
            <a:ext cx="12192000" cy="3908186"/>
          </a:xfrm>
          <a:prstGeom prst="rect">
            <a:avLst/>
          </a:prstGeom>
          <a:noFill/>
        </p:spPr>
        <p:txBody>
          <a:bodyPr wrap="square">
            <a:spAutoFit/>
          </a:bodyPr>
          <a:lstStyle/>
          <a:p>
            <a:pPr>
              <a:lnSpc>
                <a:spcPct val="150000"/>
              </a:lnSpc>
            </a:pPr>
            <a:r>
              <a:rPr lang="en-US" sz="2800" b="1" dirty="0">
                <a:latin typeface="Calibir"/>
              </a:rPr>
              <a:t>Question 8</a:t>
            </a:r>
          </a:p>
          <a:p>
            <a:pPr>
              <a:lnSpc>
                <a:spcPct val="150000"/>
              </a:lnSpc>
            </a:pPr>
            <a:r>
              <a:rPr lang="en-US" sz="2800" b="1" dirty="0">
                <a:latin typeface="Calibir"/>
              </a:rPr>
              <a:t>What text must be placed inside the element for City Farmer pages?</a:t>
            </a:r>
            <a:endParaRPr lang="en-US" sz="2800" dirty="0">
              <a:latin typeface="Calibir"/>
            </a:endParaRPr>
          </a:p>
          <a:p>
            <a:pPr>
              <a:lnSpc>
                <a:spcPct val="150000"/>
              </a:lnSpc>
            </a:pPr>
            <a:r>
              <a:rPr lang="en-US" sz="2800" dirty="0">
                <a:latin typeface="Calibir"/>
              </a:rPr>
              <a:t>A. City Farmer Home Page </a:t>
            </a:r>
            <a:br>
              <a:rPr lang="en-US" sz="2800" dirty="0">
                <a:latin typeface="Calibir"/>
              </a:rPr>
            </a:br>
            <a:r>
              <a:rPr lang="en-US" sz="2800" dirty="0">
                <a:latin typeface="Calibir"/>
              </a:rPr>
              <a:t>B. City Farmer Website</a:t>
            </a:r>
            <a:br>
              <a:rPr lang="en-US" sz="2800" dirty="0">
                <a:latin typeface="Calibir"/>
              </a:rPr>
            </a:br>
            <a:r>
              <a:rPr lang="en-US" sz="2800" dirty="0">
                <a:latin typeface="Calibir"/>
              </a:rPr>
              <a:t>C. City Farmer Products</a:t>
            </a:r>
            <a:br>
              <a:rPr lang="en-US" sz="2800" dirty="0">
                <a:latin typeface="Calibir"/>
              </a:rPr>
            </a:br>
            <a:r>
              <a:rPr lang="en-US" sz="2800" dirty="0">
                <a:latin typeface="Calibir"/>
              </a:rPr>
              <a:t>D. City Farmer Main</a:t>
            </a:r>
          </a:p>
        </p:txBody>
      </p:sp>
      <p:sp>
        <p:nvSpPr>
          <p:cNvPr id="8" name="TextBox 7">
            <a:extLst>
              <a:ext uri="{FF2B5EF4-FFF2-40B4-BE49-F238E27FC236}">
                <a16:creationId xmlns:a16="http://schemas.microsoft.com/office/drawing/2014/main" id="{8BB8C999-7A2E-E939-2B55-79F41D353F9C}"/>
              </a:ext>
            </a:extLst>
          </p:cNvPr>
          <p:cNvSpPr txBox="1"/>
          <p:nvPr/>
        </p:nvSpPr>
        <p:spPr>
          <a:xfrm>
            <a:off x="5095279" y="3970500"/>
            <a:ext cx="6175772" cy="1321772"/>
          </a:xfrm>
          <a:prstGeom prst="rect">
            <a:avLst/>
          </a:prstGeom>
          <a:noFill/>
        </p:spPr>
        <p:txBody>
          <a:bodyPr wrap="square">
            <a:spAutoFit/>
          </a:bodyPr>
          <a:lstStyle/>
          <a:p>
            <a:pPr>
              <a:lnSpc>
                <a:spcPct val="150000"/>
              </a:lnSpc>
            </a:pPr>
            <a:r>
              <a:rPr lang="en-US" sz="2800" dirty="0">
                <a:latin typeface="Calibir"/>
              </a:rPr>
              <a:t>This text is used as the heading or title for the City Farmer homepage.</a:t>
            </a:r>
          </a:p>
        </p:txBody>
      </p:sp>
      <p:sp>
        <p:nvSpPr>
          <p:cNvPr id="9" name="Rectangle: Rounded Corners 8">
            <a:extLst>
              <a:ext uri="{FF2B5EF4-FFF2-40B4-BE49-F238E27FC236}">
                <a16:creationId xmlns:a16="http://schemas.microsoft.com/office/drawing/2014/main" id="{451CE67E-93EC-865E-B5BA-6572564A87C1}"/>
              </a:ext>
            </a:extLst>
          </p:cNvPr>
          <p:cNvSpPr/>
          <p:nvPr/>
        </p:nvSpPr>
        <p:spPr>
          <a:xfrm>
            <a:off x="0" y="2082681"/>
            <a:ext cx="3871913" cy="514350"/>
          </a:xfrm>
          <a:prstGeom prst="round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Tree>
    <p:extLst>
      <p:ext uri="{BB962C8B-B14F-4D97-AF65-F5344CB8AC3E}">
        <p14:creationId xmlns:p14="http://schemas.microsoft.com/office/powerpoint/2010/main" val="33179523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1000"/>
                                        <p:tgtEl>
                                          <p:spTgt spid="9"/>
                                        </p:tgtEl>
                                      </p:cBhvr>
                                    </p:animEffect>
                                    <p:anim calcmode="lin" valueType="num">
                                      <p:cBhvr>
                                        <p:cTn id="8" dur="1000" fill="hold"/>
                                        <p:tgtEl>
                                          <p:spTgt spid="9"/>
                                        </p:tgtEl>
                                        <p:attrNameLst>
                                          <p:attrName>ppt_x</p:attrName>
                                        </p:attrNameLst>
                                      </p:cBhvr>
                                      <p:tavLst>
                                        <p:tav tm="0">
                                          <p:val>
                                            <p:strVal val="#ppt_x"/>
                                          </p:val>
                                        </p:tav>
                                        <p:tav tm="100000">
                                          <p:val>
                                            <p:strVal val="#ppt_x"/>
                                          </p:val>
                                        </p:tav>
                                      </p:tavLst>
                                    </p:anim>
                                    <p:anim calcmode="lin" valueType="num">
                                      <p:cBhvr>
                                        <p:cTn id="9" dur="1000" fill="hold"/>
                                        <p:tgtEl>
                                          <p:spTgt spid="9"/>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1000"/>
                                        <p:tgtEl>
                                          <p:spTgt spid="8"/>
                                        </p:tgtEl>
                                      </p:cBhvr>
                                    </p:animEffect>
                                    <p:anim calcmode="lin" valueType="num">
                                      <p:cBhvr>
                                        <p:cTn id="13" dur="1000" fill="hold"/>
                                        <p:tgtEl>
                                          <p:spTgt spid="8"/>
                                        </p:tgtEl>
                                        <p:attrNameLst>
                                          <p:attrName>ppt_x</p:attrName>
                                        </p:attrNameLst>
                                      </p:cBhvr>
                                      <p:tavLst>
                                        <p:tav tm="0">
                                          <p:val>
                                            <p:strVal val="#ppt_x"/>
                                          </p:val>
                                        </p:tav>
                                        <p:tav tm="100000">
                                          <p:val>
                                            <p:strVal val="#ppt_x"/>
                                          </p:val>
                                        </p:tav>
                                      </p:tavLst>
                                    </p:anim>
                                    <p:anim calcmode="lin" valueType="num">
                                      <p:cBhvr>
                                        <p:cTn id="14"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animBg="1"/>
    </p:bld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4CDD2C-679C-B2EF-79E0-00D14BC1102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0EA44F26-F6FF-1CA7-4687-2245F5EE69E2}"/>
              </a:ext>
            </a:extLst>
          </p:cNvPr>
          <p:cNvSpPr txBox="1"/>
          <p:nvPr/>
        </p:nvSpPr>
        <p:spPr>
          <a:xfrm>
            <a:off x="0" y="0"/>
            <a:ext cx="8976732" cy="584775"/>
          </a:xfrm>
          <a:prstGeom prst="rect">
            <a:avLst/>
          </a:prstGeom>
          <a:noFill/>
        </p:spPr>
        <p:txBody>
          <a:bodyPr wrap="square" rtlCol="0">
            <a:spAutoFit/>
          </a:bodyPr>
          <a:lstStyle/>
          <a:p>
            <a:pPr lvl="0">
              <a:defRPr/>
            </a:pPr>
            <a:r>
              <a:rPr lang="en-US" sz="3200" b="1" dirty="0">
                <a:solidFill>
                  <a:prstClr val="black"/>
                </a:solidFill>
                <a:latin typeface="Calibri" panose="020F0502020204030204" pitchFamily="34" charset="0"/>
                <a:cs typeface="Calibri" panose="020F0502020204030204" pitchFamily="34" charset="0"/>
              </a:rPr>
              <a:t>Lab 2 Test (Week 4 &amp; 5)</a:t>
            </a:r>
            <a:endParaRPr kumimoji="0" lang="en-US" sz="32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sp>
        <p:nvSpPr>
          <p:cNvPr id="5" name="TextBox 4">
            <a:extLst>
              <a:ext uri="{FF2B5EF4-FFF2-40B4-BE49-F238E27FC236}">
                <a16:creationId xmlns:a16="http://schemas.microsoft.com/office/drawing/2014/main" id="{BAED7B8E-A96A-EBD3-71AB-F6A4E195C12F}"/>
              </a:ext>
            </a:extLst>
          </p:cNvPr>
          <p:cNvSpPr txBox="1"/>
          <p:nvPr/>
        </p:nvSpPr>
        <p:spPr>
          <a:xfrm>
            <a:off x="0" y="642938"/>
            <a:ext cx="12192000" cy="3903504"/>
          </a:xfrm>
          <a:prstGeom prst="rect">
            <a:avLst/>
          </a:prstGeom>
          <a:noFill/>
        </p:spPr>
        <p:txBody>
          <a:bodyPr wrap="square">
            <a:spAutoFit/>
          </a:bodyPr>
          <a:lstStyle/>
          <a:p>
            <a:pPr>
              <a:lnSpc>
                <a:spcPct val="150000"/>
              </a:lnSpc>
            </a:pPr>
            <a:r>
              <a:rPr lang="en-US" sz="2800" b="1" dirty="0">
                <a:latin typeface="Calibir"/>
              </a:rPr>
              <a:t>Question 9</a:t>
            </a:r>
          </a:p>
          <a:p>
            <a:pPr>
              <a:lnSpc>
                <a:spcPct val="150000"/>
              </a:lnSpc>
            </a:pPr>
            <a:r>
              <a:rPr lang="en-US" sz="2800" b="1" dirty="0">
                <a:latin typeface="Calibir"/>
              </a:rPr>
              <a:t>Which sections must be added to cityfarmer2.html in Challenge 1?</a:t>
            </a:r>
            <a:endParaRPr lang="en-US" sz="2800" dirty="0">
              <a:latin typeface="Calibir"/>
            </a:endParaRPr>
          </a:p>
          <a:p>
            <a:pPr>
              <a:lnSpc>
                <a:spcPct val="150000"/>
              </a:lnSpc>
            </a:pPr>
            <a:r>
              <a:rPr lang="en-US" sz="2800" dirty="0">
                <a:latin typeface="Calibir"/>
              </a:rPr>
              <a:t>A. header, aside, article, footer</a:t>
            </a:r>
            <a:br>
              <a:rPr lang="en-US" sz="2800" dirty="0">
                <a:latin typeface="Calibir"/>
              </a:rPr>
            </a:br>
            <a:r>
              <a:rPr lang="en-US" sz="2800" dirty="0">
                <a:latin typeface="Calibir"/>
              </a:rPr>
              <a:t>B. header, nav, div id="main", footer </a:t>
            </a:r>
          </a:p>
          <a:p>
            <a:pPr>
              <a:lnSpc>
                <a:spcPct val="150000"/>
              </a:lnSpc>
            </a:pPr>
            <a:r>
              <a:rPr lang="en-US" sz="2800" dirty="0">
                <a:latin typeface="Calibir"/>
              </a:rPr>
              <a:t>C. header, body, main, aside</a:t>
            </a:r>
            <a:br>
              <a:rPr lang="en-US" sz="2800" dirty="0">
                <a:latin typeface="Calibir"/>
              </a:rPr>
            </a:br>
            <a:r>
              <a:rPr lang="en-US" sz="2800" dirty="0">
                <a:latin typeface="Calibir"/>
              </a:rPr>
              <a:t>D. nav, article, footer, section</a:t>
            </a:r>
          </a:p>
        </p:txBody>
      </p:sp>
      <p:sp>
        <p:nvSpPr>
          <p:cNvPr id="8" name="TextBox 7">
            <a:extLst>
              <a:ext uri="{FF2B5EF4-FFF2-40B4-BE49-F238E27FC236}">
                <a16:creationId xmlns:a16="http://schemas.microsoft.com/office/drawing/2014/main" id="{DF8C60DD-8FEA-94D7-0608-7712B7E5EAC3}"/>
              </a:ext>
            </a:extLst>
          </p:cNvPr>
          <p:cNvSpPr txBox="1"/>
          <p:nvPr/>
        </p:nvSpPr>
        <p:spPr>
          <a:xfrm>
            <a:off x="5095279" y="3970500"/>
            <a:ext cx="6175772" cy="1968103"/>
          </a:xfrm>
          <a:prstGeom prst="rect">
            <a:avLst/>
          </a:prstGeom>
          <a:noFill/>
        </p:spPr>
        <p:txBody>
          <a:bodyPr wrap="square">
            <a:spAutoFit/>
          </a:bodyPr>
          <a:lstStyle/>
          <a:p>
            <a:pPr>
              <a:lnSpc>
                <a:spcPct val="150000"/>
              </a:lnSpc>
            </a:pPr>
            <a:r>
              <a:rPr lang="en-US" sz="2800" dirty="0">
                <a:latin typeface="Calibir"/>
              </a:rPr>
              <a:t>These sections </a:t>
            </a:r>
            <a:r>
              <a:rPr lang="en-US" sz="2800" dirty="0" err="1">
                <a:latin typeface="Calibir"/>
              </a:rPr>
              <a:t>organise</a:t>
            </a:r>
            <a:r>
              <a:rPr lang="en-US" sz="2800" dirty="0">
                <a:latin typeface="Calibir"/>
              </a:rPr>
              <a:t> the webpage into header, navigation, main content, and footer areas.</a:t>
            </a:r>
          </a:p>
        </p:txBody>
      </p:sp>
      <p:sp>
        <p:nvSpPr>
          <p:cNvPr id="9" name="Rectangle: Rounded Corners 8">
            <a:extLst>
              <a:ext uri="{FF2B5EF4-FFF2-40B4-BE49-F238E27FC236}">
                <a16:creationId xmlns:a16="http://schemas.microsoft.com/office/drawing/2014/main" id="{58E75EAD-3152-97B7-A347-D47A5C0F63C5}"/>
              </a:ext>
            </a:extLst>
          </p:cNvPr>
          <p:cNvSpPr/>
          <p:nvPr/>
        </p:nvSpPr>
        <p:spPr>
          <a:xfrm>
            <a:off x="0" y="2682756"/>
            <a:ext cx="5472113" cy="514350"/>
          </a:xfrm>
          <a:prstGeom prst="round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Tree>
    <p:extLst>
      <p:ext uri="{BB962C8B-B14F-4D97-AF65-F5344CB8AC3E}">
        <p14:creationId xmlns:p14="http://schemas.microsoft.com/office/powerpoint/2010/main" val="4949803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1000"/>
                                        <p:tgtEl>
                                          <p:spTgt spid="9"/>
                                        </p:tgtEl>
                                      </p:cBhvr>
                                    </p:animEffect>
                                    <p:anim calcmode="lin" valueType="num">
                                      <p:cBhvr>
                                        <p:cTn id="8" dur="1000" fill="hold"/>
                                        <p:tgtEl>
                                          <p:spTgt spid="9"/>
                                        </p:tgtEl>
                                        <p:attrNameLst>
                                          <p:attrName>ppt_x</p:attrName>
                                        </p:attrNameLst>
                                      </p:cBhvr>
                                      <p:tavLst>
                                        <p:tav tm="0">
                                          <p:val>
                                            <p:strVal val="#ppt_x"/>
                                          </p:val>
                                        </p:tav>
                                        <p:tav tm="100000">
                                          <p:val>
                                            <p:strVal val="#ppt_x"/>
                                          </p:val>
                                        </p:tav>
                                      </p:tavLst>
                                    </p:anim>
                                    <p:anim calcmode="lin" valueType="num">
                                      <p:cBhvr>
                                        <p:cTn id="9" dur="1000" fill="hold"/>
                                        <p:tgtEl>
                                          <p:spTgt spid="9"/>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1000"/>
                                        <p:tgtEl>
                                          <p:spTgt spid="8"/>
                                        </p:tgtEl>
                                      </p:cBhvr>
                                    </p:animEffect>
                                    <p:anim calcmode="lin" valueType="num">
                                      <p:cBhvr>
                                        <p:cTn id="13" dur="1000" fill="hold"/>
                                        <p:tgtEl>
                                          <p:spTgt spid="8"/>
                                        </p:tgtEl>
                                        <p:attrNameLst>
                                          <p:attrName>ppt_x</p:attrName>
                                        </p:attrNameLst>
                                      </p:cBhvr>
                                      <p:tavLst>
                                        <p:tav tm="0">
                                          <p:val>
                                            <p:strVal val="#ppt_x"/>
                                          </p:val>
                                        </p:tav>
                                        <p:tav tm="100000">
                                          <p:val>
                                            <p:strVal val="#ppt_x"/>
                                          </p:val>
                                        </p:tav>
                                      </p:tavLst>
                                    </p:anim>
                                    <p:anim calcmode="lin" valueType="num">
                                      <p:cBhvr>
                                        <p:cTn id="14"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animBg="1"/>
    </p:bld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386BE4-9DB2-A9E9-8D1C-7D9DE2DE5827}"/>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73BCB458-D3C6-C0EB-ABE6-A9BC546FB86B}"/>
              </a:ext>
            </a:extLst>
          </p:cNvPr>
          <p:cNvSpPr txBox="1"/>
          <p:nvPr/>
        </p:nvSpPr>
        <p:spPr>
          <a:xfrm>
            <a:off x="0" y="0"/>
            <a:ext cx="8976732" cy="584775"/>
          </a:xfrm>
          <a:prstGeom prst="rect">
            <a:avLst/>
          </a:prstGeom>
          <a:noFill/>
        </p:spPr>
        <p:txBody>
          <a:bodyPr wrap="square" rtlCol="0">
            <a:spAutoFit/>
          </a:bodyPr>
          <a:lstStyle/>
          <a:p>
            <a:pPr lvl="0">
              <a:defRPr/>
            </a:pPr>
            <a:r>
              <a:rPr lang="en-US" sz="3200" b="1" dirty="0">
                <a:solidFill>
                  <a:prstClr val="black"/>
                </a:solidFill>
                <a:latin typeface="Calibri" panose="020F0502020204030204" pitchFamily="34" charset="0"/>
                <a:cs typeface="Calibri" panose="020F0502020204030204" pitchFamily="34" charset="0"/>
              </a:rPr>
              <a:t>Lab 2 Test (Week 4 &amp; 5)</a:t>
            </a:r>
            <a:endParaRPr kumimoji="0" lang="en-US" sz="32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sp>
        <p:nvSpPr>
          <p:cNvPr id="5" name="TextBox 4">
            <a:extLst>
              <a:ext uri="{FF2B5EF4-FFF2-40B4-BE49-F238E27FC236}">
                <a16:creationId xmlns:a16="http://schemas.microsoft.com/office/drawing/2014/main" id="{83B16183-288D-4B04-9DF4-A5BB83876A70}"/>
              </a:ext>
            </a:extLst>
          </p:cNvPr>
          <p:cNvSpPr txBox="1"/>
          <p:nvPr/>
        </p:nvSpPr>
        <p:spPr>
          <a:xfrm>
            <a:off x="0" y="642938"/>
            <a:ext cx="12192000" cy="3903504"/>
          </a:xfrm>
          <a:prstGeom prst="rect">
            <a:avLst/>
          </a:prstGeom>
          <a:noFill/>
        </p:spPr>
        <p:txBody>
          <a:bodyPr wrap="square">
            <a:spAutoFit/>
          </a:bodyPr>
          <a:lstStyle/>
          <a:p>
            <a:pPr>
              <a:lnSpc>
                <a:spcPct val="150000"/>
              </a:lnSpc>
            </a:pPr>
            <a:r>
              <a:rPr lang="en-US" sz="2800" b="1" dirty="0">
                <a:latin typeface="Calibir"/>
              </a:rPr>
              <a:t>Question 10</a:t>
            </a:r>
          </a:p>
          <a:p>
            <a:pPr>
              <a:lnSpc>
                <a:spcPct val="150000"/>
              </a:lnSpc>
            </a:pPr>
            <a:r>
              <a:rPr lang="en-US" sz="2800" b="1" dirty="0">
                <a:latin typeface="Calibir"/>
              </a:rPr>
              <a:t>What must you add after the opening in City Farmer pages?</a:t>
            </a:r>
            <a:endParaRPr lang="en-US" sz="2800" dirty="0">
              <a:latin typeface="Calibir"/>
            </a:endParaRPr>
          </a:p>
          <a:p>
            <a:pPr>
              <a:lnSpc>
                <a:spcPct val="150000"/>
              </a:lnSpc>
            </a:pPr>
            <a:r>
              <a:rPr lang="en-US" sz="2800" dirty="0">
                <a:latin typeface="Calibir"/>
              </a:rPr>
              <a:t>A. A comment with your name and the current date</a:t>
            </a:r>
            <a:br>
              <a:rPr lang="en-US" sz="2800" dirty="0">
                <a:latin typeface="Calibir"/>
              </a:rPr>
            </a:br>
            <a:r>
              <a:rPr lang="en-US" sz="2800" dirty="0">
                <a:latin typeface="Calibir"/>
              </a:rPr>
              <a:t>B. A title tag</a:t>
            </a:r>
            <a:br>
              <a:rPr lang="en-US" sz="2800" dirty="0">
                <a:latin typeface="Calibir"/>
              </a:rPr>
            </a:br>
            <a:r>
              <a:rPr lang="en-US" sz="2800" dirty="0">
                <a:latin typeface="Calibir"/>
              </a:rPr>
              <a:t>C. A CSS link</a:t>
            </a:r>
            <a:br>
              <a:rPr lang="en-US" sz="2800" dirty="0">
                <a:latin typeface="Calibir"/>
              </a:rPr>
            </a:br>
            <a:r>
              <a:rPr lang="en-US" sz="2800" dirty="0">
                <a:latin typeface="Calibir"/>
              </a:rPr>
              <a:t>D. A JavaScript tag</a:t>
            </a:r>
          </a:p>
        </p:txBody>
      </p:sp>
      <p:sp>
        <p:nvSpPr>
          <p:cNvPr id="8" name="TextBox 7">
            <a:extLst>
              <a:ext uri="{FF2B5EF4-FFF2-40B4-BE49-F238E27FC236}">
                <a16:creationId xmlns:a16="http://schemas.microsoft.com/office/drawing/2014/main" id="{2AD13E5F-4CBC-FEB3-46AA-31D79C32F9A1}"/>
              </a:ext>
            </a:extLst>
          </p:cNvPr>
          <p:cNvSpPr txBox="1"/>
          <p:nvPr/>
        </p:nvSpPr>
        <p:spPr>
          <a:xfrm>
            <a:off x="5095279" y="3970500"/>
            <a:ext cx="6175772" cy="1321772"/>
          </a:xfrm>
          <a:prstGeom prst="rect">
            <a:avLst/>
          </a:prstGeom>
          <a:noFill/>
        </p:spPr>
        <p:txBody>
          <a:bodyPr wrap="square">
            <a:spAutoFit/>
          </a:bodyPr>
          <a:lstStyle/>
          <a:p>
            <a:pPr>
              <a:lnSpc>
                <a:spcPct val="150000"/>
              </a:lnSpc>
            </a:pPr>
            <a:r>
              <a:rPr lang="en-US" sz="2800" dirty="0">
                <a:latin typeface="Calibir"/>
              </a:rPr>
              <a:t>The comment shows who edited the page and when it was updated.</a:t>
            </a:r>
          </a:p>
        </p:txBody>
      </p:sp>
      <p:sp>
        <p:nvSpPr>
          <p:cNvPr id="9" name="Rectangle: Rounded Corners 8">
            <a:extLst>
              <a:ext uri="{FF2B5EF4-FFF2-40B4-BE49-F238E27FC236}">
                <a16:creationId xmlns:a16="http://schemas.microsoft.com/office/drawing/2014/main" id="{71D57E2A-C507-67C8-07DA-2AF89FE27408}"/>
              </a:ext>
            </a:extLst>
          </p:cNvPr>
          <p:cNvSpPr/>
          <p:nvPr/>
        </p:nvSpPr>
        <p:spPr>
          <a:xfrm>
            <a:off x="0" y="2139831"/>
            <a:ext cx="7886700" cy="514350"/>
          </a:xfrm>
          <a:prstGeom prst="round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Tree>
    <p:extLst>
      <p:ext uri="{BB962C8B-B14F-4D97-AF65-F5344CB8AC3E}">
        <p14:creationId xmlns:p14="http://schemas.microsoft.com/office/powerpoint/2010/main" val="8117297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1000"/>
                                        <p:tgtEl>
                                          <p:spTgt spid="9"/>
                                        </p:tgtEl>
                                      </p:cBhvr>
                                    </p:animEffect>
                                    <p:anim calcmode="lin" valueType="num">
                                      <p:cBhvr>
                                        <p:cTn id="8" dur="1000" fill="hold"/>
                                        <p:tgtEl>
                                          <p:spTgt spid="9"/>
                                        </p:tgtEl>
                                        <p:attrNameLst>
                                          <p:attrName>ppt_x</p:attrName>
                                        </p:attrNameLst>
                                      </p:cBhvr>
                                      <p:tavLst>
                                        <p:tav tm="0">
                                          <p:val>
                                            <p:strVal val="#ppt_x"/>
                                          </p:val>
                                        </p:tav>
                                        <p:tav tm="100000">
                                          <p:val>
                                            <p:strVal val="#ppt_x"/>
                                          </p:val>
                                        </p:tav>
                                      </p:tavLst>
                                    </p:anim>
                                    <p:anim calcmode="lin" valueType="num">
                                      <p:cBhvr>
                                        <p:cTn id="9" dur="1000" fill="hold"/>
                                        <p:tgtEl>
                                          <p:spTgt spid="9"/>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1000"/>
                                        <p:tgtEl>
                                          <p:spTgt spid="8"/>
                                        </p:tgtEl>
                                      </p:cBhvr>
                                    </p:animEffect>
                                    <p:anim calcmode="lin" valueType="num">
                                      <p:cBhvr>
                                        <p:cTn id="13" dur="1000" fill="hold"/>
                                        <p:tgtEl>
                                          <p:spTgt spid="8"/>
                                        </p:tgtEl>
                                        <p:attrNameLst>
                                          <p:attrName>ppt_x</p:attrName>
                                        </p:attrNameLst>
                                      </p:cBhvr>
                                      <p:tavLst>
                                        <p:tav tm="0">
                                          <p:val>
                                            <p:strVal val="#ppt_x"/>
                                          </p:val>
                                        </p:tav>
                                        <p:tav tm="100000">
                                          <p:val>
                                            <p:strVal val="#ppt_x"/>
                                          </p:val>
                                        </p:tav>
                                      </p:tavLst>
                                    </p:anim>
                                    <p:anim calcmode="lin" valueType="num">
                                      <p:cBhvr>
                                        <p:cTn id="14"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animBg="1"/>
    </p:bld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7C1FD1-ADF8-4509-55E6-ED4ADB39C5D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0DBA40D5-65C1-508C-C6A7-52A295442197}"/>
              </a:ext>
            </a:extLst>
          </p:cNvPr>
          <p:cNvSpPr txBox="1"/>
          <p:nvPr/>
        </p:nvSpPr>
        <p:spPr>
          <a:xfrm>
            <a:off x="0" y="0"/>
            <a:ext cx="8976732" cy="584775"/>
          </a:xfrm>
          <a:prstGeom prst="rect">
            <a:avLst/>
          </a:prstGeom>
          <a:noFill/>
        </p:spPr>
        <p:txBody>
          <a:bodyPr wrap="square" rtlCol="0">
            <a:spAutoFit/>
          </a:bodyPr>
          <a:lstStyle/>
          <a:p>
            <a:pPr lvl="0">
              <a:defRPr/>
            </a:pPr>
            <a:r>
              <a:rPr lang="en-US" sz="3200" b="1" dirty="0">
                <a:solidFill>
                  <a:prstClr val="black"/>
                </a:solidFill>
                <a:latin typeface="Calibri" panose="020F0502020204030204" pitchFamily="34" charset="0"/>
                <a:cs typeface="Calibri" panose="020F0502020204030204" pitchFamily="34" charset="0"/>
              </a:rPr>
              <a:t>Lab 2 Test (Week 4 &amp; 5)</a:t>
            </a:r>
            <a:endParaRPr kumimoji="0" lang="en-US" sz="32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sp>
        <p:nvSpPr>
          <p:cNvPr id="5" name="TextBox 4">
            <a:extLst>
              <a:ext uri="{FF2B5EF4-FFF2-40B4-BE49-F238E27FC236}">
                <a16:creationId xmlns:a16="http://schemas.microsoft.com/office/drawing/2014/main" id="{41ADEDD9-E601-FB9E-048B-2F87B1C2F522}"/>
              </a:ext>
            </a:extLst>
          </p:cNvPr>
          <p:cNvSpPr txBox="1"/>
          <p:nvPr/>
        </p:nvSpPr>
        <p:spPr>
          <a:xfrm>
            <a:off x="0" y="642938"/>
            <a:ext cx="12192000" cy="3900620"/>
          </a:xfrm>
          <a:prstGeom prst="rect">
            <a:avLst/>
          </a:prstGeom>
          <a:noFill/>
        </p:spPr>
        <p:txBody>
          <a:bodyPr wrap="square">
            <a:spAutoFit/>
          </a:bodyPr>
          <a:lstStyle/>
          <a:p>
            <a:pPr>
              <a:lnSpc>
                <a:spcPct val="150000"/>
              </a:lnSpc>
            </a:pPr>
            <a:r>
              <a:rPr lang="en-US" sz="2800" b="1" dirty="0">
                <a:latin typeface="Calibir"/>
              </a:rPr>
              <a:t>Question 11</a:t>
            </a:r>
          </a:p>
          <a:p>
            <a:pPr>
              <a:lnSpc>
                <a:spcPct val="150000"/>
              </a:lnSpc>
            </a:pPr>
            <a:r>
              <a:rPr lang="en-US" sz="2800" b="1" dirty="0">
                <a:latin typeface="Calibir"/>
              </a:rPr>
              <a:t>Which browser view is shown in Figure 3b?</a:t>
            </a:r>
            <a:endParaRPr lang="en-US" sz="2800" dirty="0">
              <a:latin typeface="Calibir"/>
            </a:endParaRPr>
          </a:p>
          <a:p>
            <a:pPr>
              <a:lnSpc>
                <a:spcPct val="150000"/>
              </a:lnSpc>
            </a:pPr>
            <a:r>
              <a:rPr lang="en-US" sz="2800" dirty="0">
                <a:latin typeface="Calibir"/>
              </a:rPr>
              <a:t>A. template02.html preview</a:t>
            </a:r>
            <a:br>
              <a:rPr lang="en-US" sz="2800" dirty="0">
                <a:latin typeface="Calibir"/>
              </a:rPr>
            </a:br>
            <a:r>
              <a:rPr lang="en-US" sz="2800" dirty="0">
                <a:latin typeface="Calibir"/>
              </a:rPr>
              <a:t>B. apply02.html preview</a:t>
            </a:r>
            <a:br>
              <a:rPr lang="en-US" sz="2800" dirty="0">
                <a:latin typeface="Calibir"/>
              </a:rPr>
            </a:br>
            <a:r>
              <a:rPr lang="en-US" sz="2800" dirty="0">
                <a:latin typeface="Calibir"/>
              </a:rPr>
              <a:t>C. styles page</a:t>
            </a:r>
          </a:p>
          <a:p>
            <a:pPr>
              <a:lnSpc>
                <a:spcPct val="150000"/>
              </a:lnSpc>
            </a:pPr>
            <a:r>
              <a:rPr lang="en-US" sz="2800" dirty="0">
                <a:latin typeface="Calibir"/>
              </a:rPr>
              <a:t>D. cityfarmer02.html displayed in a browser </a:t>
            </a:r>
          </a:p>
        </p:txBody>
      </p:sp>
      <p:sp>
        <p:nvSpPr>
          <p:cNvPr id="8" name="TextBox 7">
            <a:extLst>
              <a:ext uri="{FF2B5EF4-FFF2-40B4-BE49-F238E27FC236}">
                <a16:creationId xmlns:a16="http://schemas.microsoft.com/office/drawing/2014/main" id="{26A20D8C-75A3-2982-0EFA-84AB998E64D4}"/>
              </a:ext>
            </a:extLst>
          </p:cNvPr>
          <p:cNvSpPr txBox="1"/>
          <p:nvPr/>
        </p:nvSpPr>
        <p:spPr>
          <a:xfrm>
            <a:off x="5173860" y="4827360"/>
            <a:ext cx="6175772" cy="1321772"/>
          </a:xfrm>
          <a:prstGeom prst="rect">
            <a:avLst/>
          </a:prstGeom>
          <a:noFill/>
        </p:spPr>
        <p:txBody>
          <a:bodyPr wrap="square">
            <a:spAutoFit/>
          </a:bodyPr>
          <a:lstStyle/>
          <a:p>
            <a:pPr>
              <a:lnSpc>
                <a:spcPct val="150000"/>
              </a:lnSpc>
            </a:pPr>
            <a:r>
              <a:rPr lang="en-US" sz="2800" dirty="0">
                <a:latin typeface="Calibir"/>
              </a:rPr>
              <a:t>Figure 3b shows the completed webpage opened inside a browser.</a:t>
            </a:r>
          </a:p>
        </p:txBody>
      </p:sp>
      <p:sp>
        <p:nvSpPr>
          <p:cNvPr id="9" name="Rectangle: Rounded Corners 8">
            <a:extLst>
              <a:ext uri="{FF2B5EF4-FFF2-40B4-BE49-F238E27FC236}">
                <a16:creationId xmlns:a16="http://schemas.microsoft.com/office/drawing/2014/main" id="{30DFBCFC-D2F3-EF23-F29B-898569A5F010}"/>
              </a:ext>
            </a:extLst>
          </p:cNvPr>
          <p:cNvSpPr/>
          <p:nvPr/>
        </p:nvSpPr>
        <p:spPr>
          <a:xfrm>
            <a:off x="0" y="4025914"/>
            <a:ext cx="7886700" cy="514350"/>
          </a:xfrm>
          <a:prstGeom prst="round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Tree>
    <p:extLst>
      <p:ext uri="{BB962C8B-B14F-4D97-AF65-F5344CB8AC3E}">
        <p14:creationId xmlns:p14="http://schemas.microsoft.com/office/powerpoint/2010/main" val="3102400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1000"/>
                                        <p:tgtEl>
                                          <p:spTgt spid="9"/>
                                        </p:tgtEl>
                                      </p:cBhvr>
                                    </p:animEffect>
                                    <p:anim calcmode="lin" valueType="num">
                                      <p:cBhvr>
                                        <p:cTn id="8" dur="1000" fill="hold"/>
                                        <p:tgtEl>
                                          <p:spTgt spid="9"/>
                                        </p:tgtEl>
                                        <p:attrNameLst>
                                          <p:attrName>ppt_x</p:attrName>
                                        </p:attrNameLst>
                                      </p:cBhvr>
                                      <p:tavLst>
                                        <p:tav tm="0">
                                          <p:val>
                                            <p:strVal val="#ppt_x"/>
                                          </p:val>
                                        </p:tav>
                                        <p:tav tm="100000">
                                          <p:val>
                                            <p:strVal val="#ppt_x"/>
                                          </p:val>
                                        </p:tav>
                                      </p:tavLst>
                                    </p:anim>
                                    <p:anim calcmode="lin" valueType="num">
                                      <p:cBhvr>
                                        <p:cTn id="9" dur="1000" fill="hold"/>
                                        <p:tgtEl>
                                          <p:spTgt spid="9"/>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1000"/>
                                        <p:tgtEl>
                                          <p:spTgt spid="8"/>
                                        </p:tgtEl>
                                      </p:cBhvr>
                                    </p:animEffect>
                                    <p:anim calcmode="lin" valueType="num">
                                      <p:cBhvr>
                                        <p:cTn id="13" dur="1000" fill="hold"/>
                                        <p:tgtEl>
                                          <p:spTgt spid="8"/>
                                        </p:tgtEl>
                                        <p:attrNameLst>
                                          <p:attrName>ppt_x</p:attrName>
                                        </p:attrNameLst>
                                      </p:cBhvr>
                                      <p:tavLst>
                                        <p:tav tm="0">
                                          <p:val>
                                            <p:strVal val="#ppt_x"/>
                                          </p:val>
                                        </p:tav>
                                        <p:tav tm="100000">
                                          <p:val>
                                            <p:strVal val="#ppt_x"/>
                                          </p:val>
                                        </p:tav>
                                      </p:tavLst>
                                    </p:anim>
                                    <p:anim calcmode="lin" valueType="num">
                                      <p:cBhvr>
                                        <p:cTn id="14"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animBg="1"/>
    </p:bld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A56E82-5AAE-D6D9-D8B2-68540EECD9E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035E8D75-E128-DE03-06D0-DD6241EE9AD7}"/>
              </a:ext>
            </a:extLst>
          </p:cNvPr>
          <p:cNvSpPr txBox="1"/>
          <p:nvPr/>
        </p:nvSpPr>
        <p:spPr>
          <a:xfrm>
            <a:off x="0" y="0"/>
            <a:ext cx="8976732" cy="584775"/>
          </a:xfrm>
          <a:prstGeom prst="rect">
            <a:avLst/>
          </a:prstGeom>
          <a:noFill/>
        </p:spPr>
        <p:txBody>
          <a:bodyPr wrap="square" rtlCol="0">
            <a:spAutoFit/>
          </a:bodyPr>
          <a:lstStyle/>
          <a:p>
            <a:pPr lvl="0">
              <a:defRPr/>
            </a:pPr>
            <a:r>
              <a:rPr lang="en-US" sz="3200" b="1" dirty="0">
                <a:solidFill>
                  <a:prstClr val="black"/>
                </a:solidFill>
                <a:latin typeface="Calibri" panose="020F0502020204030204" pitchFamily="34" charset="0"/>
                <a:cs typeface="Calibri" panose="020F0502020204030204" pitchFamily="34" charset="0"/>
              </a:rPr>
              <a:t>Lab 2 Test (Week 4 &amp; 5)</a:t>
            </a:r>
            <a:endParaRPr kumimoji="0" lang="en-US" sz="32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sp>
        <p:nvSpPr>
          <p:cNvPr id="5" name="TextBox 4">
            <a:extLst>
              <a:ext uri="{FF2B5EF4-FFF2-40B4-BE49-F238E27FC236}">
                <a16:creationId xmlns:a16="http://schemas.microsoft.com/office/drawing/2014/main" id="{1F9D3999-961F-746D-D427-90FE5FB7175F}"/>
              </a:ext>
            </a:extLst>
          </p:cNvPr>
          <p:cNvSpPr txBox="1"/>
          <p:nvPr/>
        </p:nvSpPr>
        <p:spPr>
          <a:xfrm>
            <a:off x="0" y="642938"/>
            <a:ext cx="12192000" cy="3903504"/>
          </a:xfrm>
          <a:prstGeom prst="rect">
            <a:avLst/>
          </a:prstGeom>
          <a:noFill/>
        </p:spPr>
        <p:txBody>
          <a:bodyPr wrap="square">
            <a:spAutoFit/>
          </a:bodyPr>
          <a:lstStyle/>
          <a:p>
            <a:pPr>
              <a:lnSpc>
                <a:spcPct val="150000"/>
              </a:lnSpc>
            </a:pPr>
            <a:r>
              <a:rPr lang="en-US" sz="2800" b="1" dirty="0">
                <a:latin typeface="Calibir"/>
              </a:rPr>
              <a:t>Question 12</a:t>
            </a:r>
          </a:p>
          <a:p>
            <a:pPr>
              <a:lnSpc>
                <a:spcPct val="150000"/>
              </a:lnSpc>
            </a:pPr>
            <a:r>
              <a:rPr lang="en-US" sz="2800" b="1" dirty="0">
                <a:latin typeface="Calibir"/>
              </a:rPr>
              <a:t>In Project 2, what is the name of the external stylesheet you must create?</a:t>
            </a:r>
            <a:endParaRPr lang="en-US" sz="2800" dirty="0">
              <a:latin typeface="Calibir"/>
            </a:endParaRPr>
          </a:p>
          <a:p>
            <a:pPr>
              <a:lnSpc>
                <a:spcPct val="150000"/>
              </a:lnSpc>
            </a:pPr>
            <a:r>
              <a:rPr lang="en-US" sz="2800" dirty="0">
                <a:latin typeface="Calibir"/>
              </a:rPr>
              <a:t>A. stylesheet.css</a:t>
            </a:r>
            <a:br>
              <a:rPr lang="en-US" sz="2800" dirty="0">
                <a:latin typeface="Calibir"/>
              </a:rPr>
            </a:br>
            <a:r>
              <a:rPr lang="en-US" sz="2800" dirty="0">
                <a:latin typeface="Calibir"/>
              </a:rPr>
              <a:t>B. styles04.css</a:t>
            </a:r>
          </a:p>
          <a:p>
            <a:pPr>
              <a:lnSpc>
                <a:spcPct val="150000"/>
              </a:lnSpc>
            </a:pPr>
            <a:r>
              <a:rPr lang="en-US" sz="2800" dirty="0">
                <a:latin typeface="Calibir"/>
              </a:rPr>
              <a:t>C. main.css</a:t>
            </a:r>
            <a:br>
              <a:rPr lang="en-US" sz="2800" dirty="0">
                <a:latin typeface="Calibir"/>
              </a:rPr>
            </a:br>
            <a:r>
              <a:rPr lang="en-US" sz="2800" dirty="0">
                <a:latin typeface="Calibir"/>
              </a:rPr>
              <a:t>D. design04.css</a:t>
            </a:r>
          </a:p>
        </p:txBody>
      </p:sp>
      <p:sp>
        <p:nvSpPr>
          <p:cNvPr id="8" name="TextBox 7">
            <a:extLst>
              <a:ext uri="{FF2B5EF4-FFF2-40B4-BE49-F238E27FC236}">
                <a16:creationId xmlns:a16="http://schemas.microsoft.com/office/drawing/2014/main" id="{85893DAA-5AA9-A30E-277F-CA92A7BDB85E}"/>
              </a:ext>
            </a:extLst>
          </p:cNvPr>
          <p:cNvSpPr txBox="1"/>
          <p:nvPr/>
        </p:nvSpPr>
        <p:spPr>
          <a:xfrm>
            <a:off x="5173860" y="4827360"/>
            <a:ext cx="6175772" cy="1321772"/>
          </a:xfrm>
          <a:prstGeom prst="rect">
            <a:avLst/>
          </a:prstGeom>
          <a:noFill/>
        </p:spPr>
        <p:txBody>
          <a:bodyPr wrap="square">
            <a:spAutoFit/>
          </a:bodyPr>
          <a:lstStyle/>
          <a:p>
            <a:pPr>
              <a:lnSpc>
                <a:spcPct val="150000"/>
              </a:lnSpc>
            </a:pPr>
            <a:r>
              <a:rPr lang="en-US" sz="2800" dirty="0">
                <a:latin typeface="Calibir"/>
              </a:rPr>
              <a:t>The file styles04.css stores the CSS design rules for Project 2.</a:t>
            </a:r>
          </a:p>
        </p:txBody>
      </p:sp>
      <p:sp>
        <p:nvSpPr>
          <p:cNvPr id="9" name="Rectangle: Rounded Corners 8">
            <a:extLst>
              <a:ext uri="{FF2B5EF4-FFF2-40B4-BE49-F238E27FC236}">
                <a16:creationId xmlns:a16="http://schemas.microsoft.com/office/drawing/2014/main" id="{7A8EEA7B-F42E-7D56-9AB9-8DDFA629D6BC}"/>
              </a:ext>
            </a:extLst>
          </p:cNvPr>
          <p:cNvSpPr/>
          <p:nvPr/>
        </p:nvSpPr>
        <p:spPr>
          <a:xfrm>
            <a:off x="0" y="2711464"/>
            <a:ext cx="7886700" cy="514350"/>
          </a:xfrm>
          <a:prstGeom prst="round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Tree>
    <p:extLst>
      <p:ext uri="{BB962C8B-B14F-4D97-AF65-F5344CB8AC3E}">
        <p14:creationId xmlns:p14="http://schemas.microsoft.com/office/powerpoint/2010/main" val="14360728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1000"/>
                                        <p:tgtEl>
                                          <p:spTgt spid="9"/>
                                        </p:tgtEl>
                                      </p:cBhvr>
                                    </p:animEffect>
                                    <p:anim calcmode="lin" valueType="num">
                                      <p:cBhvr>
                                        <p:cTn id="8" dur="1000" fill="hold"/>
                                        <p:tgtEl>
                                          <p:spTgt spid="9"/>
                                        </p:tgtEl>
                                        <p:attrNameLst>
                                          <p:attrName>ppt_x</p:attrName>
                                        </p:attrNameLst>
                                      </p:cBhvr>
                                      <p:tavLst>
                                        <p:tav tm="0">
                                          <p:val>
                                            <p:strVal val="#ppt_x"/>
                                          </p:val>
                                        </p:tav>
                                        <p:tav tm="100000">
                                          <p:val>
                                            <p:strVal val="#ppt_x"/>
                                          </p:val>
                                        </p:tav>
                                      </p:tavLst>
                                    </p:anim>
                                    <p:anim calcmode="lin" valueType="num">
                                      <p:cBhvr>
                                        <p:cTn id="9" dur="1000" fill="hold"/>
                                        <p:tgtEl>
                                          <p:spTgt spid="9"/>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1000"/>
                                        <p:tgtEl>
                                          <p:spTgt spid="8"/>
                                        </p:tgtEl>
                                      </p:cBhvr>
                                    </p:animEffect>
                                    <p:anim calcmode="lin" valueType="num">
                                      <p:cBhvr>
                                        <p:cTn id="13" dur="1000" fill="hold"/>
                                        <p:tgtEl>
                                          <p:spTgt spid="8"/>
                                        </p:tgtEl>
                                        <p:attrNameLst>
                                          <p:attrName>ppt_x</p:attrName>
                                        </p:attrNameLst>
                                      </p:cBhvr>
                                      <p:tavLst>
                                        <p:tav tm="0">
                                          <p:val>
                                            <p:strVal val="#ppt_x"/>
                                          </p:val>
                                        </p:tav>
                                        <p:tav tm="100000">
                                          <p:val>
                                            <p:strVal val="#ppt_x"/>
                                          </p:val>
                                        </p:tav>
                                      </p:tavLst>
                                    </p:anim>
                                    <p:anim calcmode="lin" valueType="num">
                                      <p:cBhvr>
                                        <p:cTn id="14"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animBg="1"/>
    </p:bld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582271-1DB6-62B8-2E29-D2CBBEC61D62}"/>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EAF47BBF-3A75-BE5F-3F45-5E64F12FA989}"/>
              </a:ext>
            </a:extLst>
          </p:cNvPr>
          <p:cNvSpPr txBox="1"/>
          <p:nvPr/>
        </p:nvSpPr>
        <p:spPr>
          <a:xfrm>
            <a:off x="0" y="0"/>
            <a:ext cx="8976732" cy="584775"/>
          </a:xfrm>
          <a:prstGeom prst="rect">
            <a:avLst/>
          </a:prstGeom>
          <a:noFill/>
        </p:spPr>
        <p:txBody>
          <a:bodyPr wrap="square" rtlCol="0">
            <a:spAutoFit/>
          </a:bodyPr>
          <a:lstStyle/>
          <a:p>
            <a:pPr lvl="0">
              <a:defRPr/>
            </a:pPr>
            <a:r>
              <a:rPr lang="en-US" sz="3200" b="1" dirty="0">
                <a:solidFill>
                  <a:prstClr val="black"/>
                </a:solidFill>
                <a:latin typeface="Calibri" panose="020F0502020204030204" pitchFamily="34" charset="0"/>
                <a:cs typeface="Calibri" panose="020F0502020204030204" pitchFamily="34" charset="0"/>
              </a:rPr>
              <a:t>Lab 2 Test (Week 4 &amp; 5)</a:t>
            </a:r>
            <a:endParaRPr kumimoji="0" lang="en-US" sz="32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sp>
        <p:nvSpPr>
          <p:cNvPr id="5" name="TextBox 4">
            <a:extLst>
              <a:ext uri="{FF2B5EF4-FFF2-40B4-BE49-F238E27FC236}">
                <a16:creationId xmlns:a16="http://schemas.microsoft.com/office/drawing/2014/main" id="{1CFA6551-C6F1-F2E8-54A1-6D35E02EB11A}"/>
              </a:ext>
            </a:extLst>
          </p:cNvPr>
          <p:cNvSpPr txBox="1"/>
          <p:nvPr/>
        </p:nvSpPr>
        <p:spPr>
          <a:xfrm>
            <a:off x="0" y="642938"/>
            <a:ext cx="12192000" cy="4549835"/>
          </a:xfrm>
          <a:prstGeom prst="rect">
            <a:avLst/>
          </a:prstGeom>
          <a:noFill/>
        </p:spPr>
        <p:txBody>
          <a:bodyPr wrap="square">
            <a:spAutoFit/>
          </a:bodyPr>
          <a:lstStyle/>
          <a:p>
            <a:pPr>
              <a:lnSpc>
                <a:spcPct val="150000"/>
              </a:lnSpc>
            </a:pPr>
            <a:r>
              <a:rPr lang="en-US" sz="2800" b="1" dirty="0">
                <a:latin typeface="Calibir"/>
              </a:rPr>
              <a:t>Question 13</a:t>
            </a:r>
          </a:p>
          <a:p>
            <a:pPr>
              <a:lnSpc>
                <a:spcPct val="150000"/>
              </a:lnSpc>
            </a:pPr>
            <a:r>
              <a:rPr lang="en-US" sz="2800" b="1" dirty="0">
                <a:latin typeface="Calibir"/>
              </a:rPr>
              <a:t>What selector is used to apply the black text and light-green background in Project 2?</a:t>
            </a:r>
            <a:endParaRPr lang="en-US" sz="2800" dirty="0">
              <a:latin typeface="Calibir"/>
            </a:endParaRPr>
          </a:p>
          <a:p>
            <a:pPr>
              <a:lnSpc>
                <a:spcPct val="150000"/>
              </a:lnSpc>
            </a:pPr>
            <a:r>
              <a:rPr lang="en-US" sz="2800" dirty="0">
                <a:latin typeface="Calibir"/>
              </a:rPr>
              <a:t>A. body</a:t>
            </a:r>
            <a:br>
              <a:rPr lang="en-US" sz="2800" dirty="0">
                <a:latin typeface="Calibir"/>
              </a:rPr>
            </a:br>
            <a:r>
              <a:rPr lang="en-US" sz="2800" dirty="0">
                <a:latin typeface="Calibir"/>
              </a:rPr>
              <a:t>B. html</a:t>
            </a:r>
            <a:br>
              <a:rPr lang="en-US" sz="2800" dirty="0">
                <a:latin typeface="Calibir"/>
              </a:rPr>
            </a:br>
            <a:r>
              <a:rPr lang="en-US" sz="2800" dirty="0">
                <a:latin typeface="Calibir"/>
              </a:rPr>
              <a:t>C. main</a:t>
            </a:r>
            <a:br>
              <a:rPr lang="en-US" sz="2800" dirty="0">
                <a:latin typeface="Calibir"/>
              </a:rPr>
            </a:br>
            <a:r>
              <a:rPr lang="en-US" sz="2800" dirty="0">
                <a:latin typeface="Calibir"/>
              </a:rPr>
              <a:t>D. div</a:t>
            </a:r>
          </a:p>
        </p:txBody>
      </p:sp>
      <p:sp>
        <p:nvSpPr>
          <p:cNvPr id="8" name="TextBox 7">
            <a:extLst>
              <a:ext uri="{FF2B5EF4-FFF2-40B4-BE49-F238E27FC236}">
                <a16:creationId xmlns:a16="http://schemas.microsoft.com/office/drawing/2014/main" id="{C1EBCDD7-2365-1902-8BF0-0176698082E9}"/>
              </a:ext>
            </a:extLst>
          </p:cNvPr>
          <p:cNvSpPr txBox="1"/>
          <p:nvPr/>
        </p:nvSpPr>
        <p:spPr>
          <a:xfrm>
            <a:off x="5173860" y="4827360"/>
            <a:ext cx="6175772" cy="1321772"/>
          </a:xfrm>
          <a:prstGeom prst="rect">
            <a:avLst/>
          </a:prstGeom>
          <a:noFill/>
        </p:spPr>
        <p:txBody>
          <a:bodyPr wrap="square">
            <a:spAutoFit/>
          </a:bodyPr>
          <a:lstStyle/>
          <a:p>
            <a:pPr>
              <a:lnSpc>
                <a:spcPct val="150000"/>
              </a:lnSpc>
            </a:pPr>
            <a:r>
              <a:rPr lang="en-US" sz="2800" dirty="0">
                <a:latin typeface="Calibir"/>
              </a:rPr>
              <a:t>The body selector styles the main page background and text </a:t>
            </a:r>
            <a:r>
              <a:rPr lang="en-US" sz="2800" dirty="0" err="1">
                <a:latin typeface="Calibir"/>
              </a:rPr>
              <a:t>colour</a:t>
            </a:r>
            <a:r>
              <a:rPr lang="en-US" sz="2800" dirty="0">
                <a:latin typeface="Calibir"/>
              </a:rPr>
              <a:t>.</a:t>
            </a:r>
          </a:p>
        </p:txBody>
      </p:sp>
      <p:sp>
        <p:nvSpPr>
          <p:cNvPr id="9" name="Rectangle: Rounded Corners 8">
            <a:extLst>
              <a:ext uri="{FF2B5EF4-FFF2-40B4-BE49-F238E27FC236}">
                <a16:creationId xmlns:a16="http://schemas.microsoft.com/office/drawing/2014/main" id="{68CAB824-2666-9C73-FDB0-6B318A870042}"/>
              </a:ext>
            </a:extLst>
          </p:cNvPr>
          <p:cNvSpPr/>
          <p:nvPr/>
        </p:nvSpPr>
        <p:spPr>
          <a:xfrm>
            <a:off x="0" y="2711464"/>
            <a:ext cx="7886700" cy="514350"/>
          </a:xfrm>
          <a:prstGeom prst="round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Tree>
    <p:extLst>
      <p:ext uri="{BB962C8B-B14F-4D97-AF65-F5344CB8AC3E}">
        <p14:creationId xmlns:p14="http://schemas.microsoft.com/office/powerpoint/2010/main" val="5146243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1000"/>
                                        <p:tgtEl>
                                          <p:spTgt spid="9"/>
                                        </p:tgtEl>
                                      </p:cBhvr>
                                    </p:animEffect>
                                    <p:anim calcmode="lin" valueType="num">
                                      <p:cBhvr>
                                        <p:cTn id="8" dur="1000" fill="hold"/>
                                        <p:tgtEl>
                                          <p:spTgt spid="9"/>
                                        </p:tgtEl>
                                        <p:attrNameLst>
                                          <p:attrName>ppt_x</p:attrName>
                                        </p:attrNameLst>
                                      </p:cBhvr>
                                      <p:tavLst>
                                        <p:tav tm="0">
                                          <p:val>
                                            <p:strVal val="#ppt_x"/>
                                          </p:val>
                                        </p:tav>
                                        <p:tav tm="100000">
                                          <p:val>
                                            <p:strVal val="#ppt_x"/>
                                          </p:val>
                                        </p:tav>
                                      </p:tavLst>
                                    </p:anim>
                                    <p:anim calcmode="lin" valueType="num">
                                      <p:cBhvr>
                                        <p:cTn id="9" dur="1000" fill="hold"/>
                                        <p:tgtEl>
                                          <p:spTgt spid="9"/>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1000"/>
                                        <p:tgtEl>
                                          <p:spTgt spid="8"/>
                                        </p:tgtEl>
                                      </p:cBhvr>
                                    </p:animEffect>
                                    <p:anim calcmode="lin" valueType="num">
                                      <p:cBhvr>
                                        <p:cTn id="13" dur="1000" fill="hold"/>
                                        <p:tgtEl>
                                          <p:spTgt spid="8"/>
                                        </p:tgtEl>
                                        <p:attrNameLst>
                                          <p:attrName>ppt_x</p:attrName>
                                        </p:attrNameLst>
                                      </p:cBhvr>
                                      <p:tavLst>
                                        <p:tav tm="0">
                                          <p:val>
                                            <p:strVal val="#ppt_x"/>
                                          </p:val>
                                        </p:tav>
                                        <p:tav tm="100000">
                                          <p:val>
                                            <p:strVal val="#ppt_x"/>
                                          </p:val>
                                        </p:tav>
                                      </p:tavLst>
                                    </p:anim>
                                    <p:anim calcmode="lin" valueType="num">
                                      <p:cBhvr>
                                        <p:cTn id="14"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animBg="1"/>
    </p:bld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D4140E-08E7-936A-434A-09F419C0A8CE}"/>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C3B7D49-66FD-3593-D551-02C29AD167AD}"/>
              </a:ext>
            </a:extLst>
          </p:cNvPr>
          <p:cNvSpPr txBox="1"/>
          <p:nvPr/>
        </p:nvSpPr>
        <p:spPr>
          <a:xfrm>
            <a:off x="0" y="0"/>
            <a:ext cx="8976732" cy="584775"/>
          </a:xfrm>
          <a:prstGeom prst="rect">
            <a:avLst/>
          </a:prstGeom>
          <a:noFill/>
        </p:spPr>
        <p:txBody>
          <a:bodyPr wrap="square" rtlCol="0">
            <a:spAutoFit/>
          </a:bodyPr>
          <a:lstStyle/>
          <a:p>
            <a:pPr lvl="0">
              <a:defRPr/>
            </a:pPr>
            <a:r>
              <a:rPr lang="en-US" sz="3200" b="1" dirty="0">
                <a:solidFill>
                  <a:prstClr val="black"/>
                </a:solidFill>
                <a:latin typeface="Calibri" panose="020F0502020204030204" pitchFamily="34" charset="0"/>
                <a:cs typeface="Calibri" panose="020F0502020204030204" pitchFamily="34" charset="0"/>
              </a:rPr>
              <a:t>Lab 2 Test (Week 4 &amp; 5)</a:t>
            </a:r>
            <a:endParaRPr kumimoji="0" lang="en-US" sz="32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sp>
        <p:nvSpPr>
          <p:cNvPr id="5" name="TextBox 4">
            <a:extLst>
              <a:ext uri="{FF2B5EF4-FFF2-40B4-BE49-F238E27FC236}">
                <a16:creationId xmlns:a16="http://schemas.microsoft.com/office/drawing/2014/main" id="{543D1A5B-24AA-1D27-DC82-FF4C9BE316D2}"/>
              </a:ext>
            </a:extLst>
          </p:cNvPr>
          <p:cNvSpPr txBox="1"/>
          <p:nvPr/>
        </p:nvSpPr>
        <p:spPr>
          <a:xfrm>
            <a:off x="0" y="642938"/>
            <a:ext cx="12192000" cy="3903504"/>
          </a:xfrm>
          <a:prstGeom prst="rect">
            <a:avLst/>
          </a:prstGeom>
          <a:noFill/>
        </p:spPr>
        <p:txBody>
          <a:bodyPr wrap="square">
            <a:spAutoFit/>
          </a:bodyPr>
          <a:lstStyle/>
          <a:p>
            <a:pPr>
              <a:lnSpc>
                <a:spcPct val="150000"/>
              </a:lnSpc>
            </a:pPr>
            <a:r>
              <a:rPr lang="en-US" sz="2800" b="1" dirty="0">
                <a:latin typeface="Calibir"/>
              </a:rPr>
              <a:t>Question 14</a:t>
            </a:r>
          </a:p>
          <a:p>
            <a:pPr>
              <a:lnSpc>
                <a:spcPct val="150000"/>
              </a:lnSpc>
            </a:pPr>
            <a:r>
              <a:rPr lang="en-US" sz="2800" b="1" dirty="0">
                <a:latin typeface="Calibir"/>
              </a:rPr>
              <a:t>What ID is assigned to the wrapper in Project 2?</a:t>
            </a:r>
            <a:endParaRPr lang="en-US" sz="2800" dirty="0">
              <a:latin typeface="Calibir"/>
            </a:endParaRPr>
          </a:p>
          <a:p>
            <a:pPr>
              <a:lnSpc>
                <a:spcPct val="150000"/>
              </a:lnSpc>
            </a:pPr>
            <a:r>
              <a:rPr lang="en-US" sz="2800" dirty="0">
                <a:latin typeface="Calibir"/>
              </a:rPr>
              <a:t>A. </a:t>
            </a:r>
            <a:r>
              <a:rPr lang="en-US" sz="2800" dirty="0" err="1">
                <a:latin typeface="Calibir"/>
              </a:rPr>
              <a:t>outerwrapper</a:t>
            </a:r>
            <a:br>
              <a:rPr lang="en-US" sz="2800" dirty="0">
                <a:latin typeface="Calibir"/>
              </a:rPr>
            </a:br>
            <a:r>
              <a:rPr lang="en-US" sz="2800" dirty="0">
                <a:latin typeface="Calibir"/>
              </a:rPr>
              <a:t>B. wrapper</a:t>
            </a:r>
            <a:br>
              <a:rPr lang="en-US" sz="2800" dirty="0">
                <a:latin typeface="Calibir"/>
              </a:rPr>
            </a:br>
            <a:r>
              <a:rPr lang="en-US" sz="2800" dirty="0">
                <a:latin typeface="Calibir"/>
              </a:rPr>
              <a:t>C. container</a:t>
            </a:r>
            <a:br>
              <a:rPr lang="en-US" sz="2800" dirty="0">
                <a:latin typeface="Calibir"/>
              </a:rPr>
            </a:br>
            <a:r>
              <a:rPr lang="en-US" sz="2800" dirty="0">
                <a:latin typeface="Calibir"/>
              </a:rPr>
              <a:t>D. </a:t>
            </a:r>
            <a:r>
              <a:rPr lang="en-US" sz="2800" dirty="0" err="1">
                <a:latin typeface="Calibir"/>
              </a:rPr>
              <a:t>mainwrapper</a:t>
            </a:r>
            <a:endParaRPr lang="en-US" sz="2800" dirty="0">
              <a:latin typeface="Calibir"/>
            </a:endParaRPr>
          </a:p>
        </p:txBody>
      </p:sp>
      <p:sp>
        <p:nvSpPr>
          <p:cNvPr id="8" name="TextBox 7">
            <a:extLst>
              <a:ext uri="{FF2B5EF4-FFF2-40B4-BE49-F238E27FC236}">
                <a16:creationId xmlns:a16="http://schemas.microsoft.com/office/drawing/2014/main" id="{D665873C-815C-64B2-C2C8-6E960F9ACC06}"/>
              </a:ext>
            </a:extLst>
          </p:cNvPr>
          <p:cNvSpPr txBox="1"/>
          <p:nvPr/>
        </p:nvSpPr>
        <p:spPr>
          <a:xfrm>
            <a:off x="5173860" y="4827360"/>
            <a:ext cx="6175772" cy="1318181"/>
          </a:xfrm>
          <a:prstGeom prst="rect">
            <a:avLst/>
          </a:prstGeom>
          <a:noFill/>
        </p:spPr>
        <p:txBody>
          <a:bodyPr wrap="square">
            <a:spAutoFit/>
          </a:bodyPr>
          <a:lstStyle/>
          <a:p>
            <a:pPr>
              <a:lnSpc>
                <a:spcPct val="150000"/>
              </a:lnSpc>
            </a:pPr>
            <a:r>
              <a:rPr lang="en-US" sz="2800" dirty="0">
                <a:latin typeface="Calibir"/>
              </a:rPr>
              <a:t>The ID </a:t>
            </a:r>
            <a:r>
              <a:rPr lang="en-US" sz="2800" dirty="0" err="1">
                <a:latin typeface="Calibir"/>
              </a:rPr>
              <a:t>outerwrapper</a:t>
            </a:r>
            <a:r>
              <a:rPr lang="en-US" sz="2800" dirty="0">
                <a:latin typeface="Calibir"/>
              </a:rPr>
              <a:t> identifies the main container section of the webpage.</a:t>
            </a:r>
          </a:p>
        </p:txBody>
      </p:sp>
      <p:sp>
        <p:nvSpPr>
          <p:cNvPr id="9" name="Rectangle: Rounded Corners 8">
            <a:extLst>
              <a:ext uri="{FF2B5EF4-FFF2-40B4-BE49-F238E27FC236}">
                <a16:creationId xmlns:a16="http://schemas.microsoft.com/office/drawing/2014/main" id="{0ACBF341-70D8-2E94-21C2-177AB37B15AD}"/>
              </a:ext>
            </a:extLst>
          </p:cNvPr>
          <p:cNvSpPr/>
          <p:nvPr/>
        </p:nvSpPr>
        <p:spPr>
          <a:xfrm>
            <a:off x="0" y="2084323"/>
            <a:ext cx="7886700" cy="514350"/>
          </a:xfrm>
          <a:prstGeom prst="round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Tree>
    <p:extLst>
      <p:ext uri="{BB962C8B-B14F-4D97-AF65-F5344CB8AC3E}">
        <p14:creationId xmlns:p14="http://schemas.microsoft.com/office/powerpoint/2010/main" val="29302639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1000"/>
                                        <p:tgtEl>
                                          <p:spTgt spid="9"/>
                                        </p:tgtEl>
                                      </p:cBhvr>
                                    </p:animEffect>
                                    <p:anim calcmode="lin" valueType="num">
                                      <p:cBhvr>
                                        <p:cTn id="8" dur="1000" fill="hold"/>
                                        <p:tgtEl>
                                          <p:spTgt spid="9"/>
                                        </p:tgtEl>
                                        <p:attrNameLst>
                                          <p:attrName>ppt_x</p:attrName>
                                        </p:attrNameLst>
                                      </p:cBhvr>
                                      <p:tavLst>
                                        <p:tav tm="0">
                                          <p:val>
                                            <p:strVal val="#ppt_x"/>
                                          </p:val>
                                        </p:tav>
                                        <p:tav tm="100000">
                                          <p:val>
                                            <p:strVal val="#ppt_x"/>
                                          </p:val>
                                        </p:tav>
                                      </p:tavLst>
                                    </p:anim>
                                    <p:anim calcmode="lin" valueType="num">
                                      <p:cBhvr>
                                        <p:cTn id="9" dur="1000" fill="hold"/>
                                        <p:tgtEl>
                                          <p:spTgt spid="9"/>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1000"/>
                                        <p:tgtEl>
                                          <p:spTgt spid="8"/>
                                        </p:tgtEl>
                                      </p:cBhvr>
                                    </p:animEffect>
                                    <p:anim calcmode="lin" valueType="num">
                                      <p:cBhvr>
                                        <p:cTn id="13" dur="1000" fill="hold"/>
                                        <p:tgtEl>
                                          <p:spTgt spid="8"/>
                                        </p:tgtEl>
                                        <p:attrNameLst>
                                          <p:attrName>ppt_x</p:attrName>
                                        </p:attrNameLst>
                                      </p:cBhvr>
                                      <p:tavLst>
                                        <p:tav tm="0">
                                          <p:val>
                                            <p:strVal val="#ppt_x"/>
                                          </p:val>
                                        </p:tav>
                                        <p:tav tm="100000">
                                          <p:val>
                                            <p:strVal val="#ppt_x"/>
                                          </p:val>
                                        </p:tav>
                                      </p:tavLst>
                                    </p:anim>
                                    <p:anim calcmode="lin" valueType="num">
                                      <p:cBhvr>
                                        <p:cTn id="14"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animBg="1"/>
    </p:bld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46B170-48FE-8EE9-56CA-829641E42429}"/>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25AD74F7-1E32-FC06-B6EA-36B460AF121C}"/>
              </a:ext>
            </a:extLst>
          </p:cNvPr>
          <p:cNvSpPr txBox="1"/>
          <p:nvPr/>
        </p:nvSpPr>
        <p:spPr>
          <a:xfrm>
            <a:off x="0" y="0"/>
            <a:ext cx="8976732" cy="584775"/>
          </a:xfrm>
          <a:prstGeom prst="rect">
            <a:avLst/>
          </a:prstGeom>
          <a:noFill/>
        </p:spPr>
        <p:txBody>
          <a:bodyPr wrap="square" rtlCol="0">
            <a:spAutoFit/>
          </a:bodyPr>
          <a:lstStyle/>
          <a:p>
            <a:pPr lvl="0">
              <a:defRPr/>
            </a:pPr>
            <a:r>
              <a:rPr lang="en-US" sz="3200" b="1" dirty="0">
                <a:solidFill>
                  <a:prstClr val="black"/>
                </a:solidFill>
                <a:latin typeface="Calibri" panose="020F0502020204030204" pitchFamily="34" charset="0"/>
                <a:cs typeface="Calibri" panose="020F0502020204030204" pitchFamily="34" charset="0"/>
              </a:rPr>
              <a:t>Lab 2 Test (Week 4 &amp; 5)</a:t>
            </a:r>
            <a:endParaRPr kumimoji="0" lang="en-US" sz="32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sp>
        <p:nvSpPr>
          <p:cNvPr id="5" name="TextBox 4">
            <a:extLst>
              <a:ext uri="{FF2B5EF4-FFF2-40B4-BE49-F238E27FC236}">
                <a16:creationId xmlns:a16="http://schemas.microsoft.com/office/drawing/2014/main" id="{DFBAC634-4E21-0A7B-A0B6-E58FE0334D2B}"/>
              </a:ext>
            </a:extLst>
          </p:cNvPr>
          <p:cNvSpPr txBox="1"/>
          <p:nvPr/>
        </p:nvSpPr>
        <p:spPr>
          <a:xfrm>
            <a:off x="0" y="642938"/>
            <a:ext cx="12192000" cy="3903504"/>
          </a:xfrm>
          <a:prstGeom prst="rect">
            <a:avLst/>
          </a:prstGeom>
          <a:noFill/>
        </p:spPr>
        <p:txBody>
          <a:bodyPr wrap="square">
            <a:spAutoFit/>
          </a:bodyPr>
          <a:lstStyle/>
          <a:p>
            <a:pPr>
              <a:lnSpc>
                <a:spcPct val="150000"/>
              </a:lnSpc>
            </a:pPr>
            <a:r>
              <a:rPr lang="en-US" sz="2800" b="1" dirty="0">
                <a:latin typeface="Calibir"/>
              </a:rPr>
              <a:t>Question 15</a:t>
            </a:r>
          </a:p>
          <a:p>
            <a:pPr>
              <a:lnSpc>
                <a:spcPct val="150000"/>
              </a:lnSpc>
            </a:pPr>
            <a:r>
              <a:rPr lang="en-US" sz="2800" b="1" dirty="0">
                <a:latin typeface="Calibir"/>
              </a:rPr>
              <a:t>Which CSS properties are used to center the </a:t>
            </a:r>
            <a:r>
              <a:rPr lang="en-US" sz="2800" b="1" dirty="0" err="1">
                <a:latin typeface="Calibir"/>
              </a:rPr>
              <a:t>outerwrapper</a:t>
            </a:r>
            <a:r>
              <a:rPr lang="en-US" sz="2800" b="1" dirty="0">
                <a:latin typeface="Calibir"/>
              </a:rPr>
              <a:t>?</a:t>
            </a:r>
            <a:endParaRPr lang="en-US" sz="2800" dirty="0">
              <a:latin typeface="Calibir"/>
            </a:endParaRPr>
          </a:p>
          <a:p>
            <a:pPr>
              <a:lnSpc>
                <a:spcPct val="150000"/>
              </a:lnSpc>
            </a:pPr>
            <a:r>
              <a:rPr lang="en-US" sz="2800" dirty="0">
                <a:latin typeface="Calibir"/>
              </a:rPr>
              <a:t>A. padding and float</a:t>
            </a:r>
            <a:br>
              <a:rPr lang="en-US" sz="2800" dirty="0">
                <a:latin typeface="Calibir"/>
              </a:rPr>
            </a:br>
            <a:r>
              <a:rPr lang="en-US" sz="2800" dirty="0">
                <a:latin typeface="Calibir"/>
              </a:rPr>
              <a:t>B. width and margin </a:t>
            </a:r>
          </a:p>
          <a:p>
            <a:pPr>
              <a:lnSpc>
                <a:spcPct val="150000"/>
              </a:lnSpc>
            </a:pPr>
            <a:r>
              <a:rPr lang="en-US" sz="2800" dirty="0">
                <a:latin typeface="Calibir"/>
              </a:rPr>
              <a:t>C. left and right</a:t>
            </a:r>
            <a:br>
              <a:rPr lang="en-US" sz="2800" dirty="0">
                <a:latin typeface="Calibir"/>
              </a:rPr>
            </a:br>
            <a:r>
              <a:rPr lang="en-US" sz="2800" dirty="0">
                <a:latin typeface="Calibir"/>
              </a:rPr>
              <a:t>D. border and display</a:t>
            </a:r>
          </a:p>
        </p:txBody>
      </p:sp>
      <p:sp>
        <p:nvSpPr>
          <p:cNvPr id="8" name="TextBox 7">
            <a:extLst>
              <a:ext uri="{FF2B5EF4-FFF2-40B4-BE49-F238E27FC236}">
                <a16:creationId xmlns:a16="http://schemas.microsoft.com/office/drawing/2014/main" id="{D7D2D264-B88F-3B02-5C08-DCBA71EA258C}"/>
              </a:ext>
            </a:extLst>
          </p:cNvPr>
          <p:cNvSpPr txBox="1"/>
          <p:nvPr/>
        </p:nvSpPr>
        <p:spPr>
          <a:xfrm>
            <a:off x="4786313" y="4827360"/>
            <a:ext cx="6563319" cy="1318181"/>
          </a:xfrm>
          <a:prstGeom prst="rect">
            <a:avLst/>
          </a:prstGeom>
          <a:noFill/>
        </p:spPr>
        <p:txBody>
          <a:bodyPr wrap="square">
            <a:spAutoFit/>
          </a:bodyPr>
          <a:lstStyle/>
          <a:p>
            <a:pPr>
              <a:lnSpc>
                <a:spcPct val="150000"/>
              </a:lnSpc>
            </a:pPr>
            <a:r>
              <a:rPr lang="en-US" sz="2800" dirty="0">
                <a:latin typeface="Calibir"/>
              </a:rPr>
              <a:t>The width sets the size, and the margin property centers the wrapper on the page.</a:t>
            </a:r>
          </a:p>
        </p:txBody>
      </p:sp>
      <p:sp>
        <p:nvSpPr>
          <p:cNvPr id="9" name="Rectangle: Rounded Corners 8">
            <a:extLst>
              <a:ext uri="{FF2B5EF4-FFF2-40B4-BE49-F238E27FC236}">
                <a16:creationId xmlns:a16="http://schemas.microsoft.com/office/drawing/2014/main" id="{1FD1FDE2-23A1-F9E5-AD2D-349CEC7E96E8}"/>
              </a:ext>
            </a:extLst>
          </p:cNvPr>
          <p:cNvSpPr/>
          <p:nvPr/>
        </p:nvSpPr>
        <p:spPr>
          <a:xfrm>
            <a:off x="0" y="2662966"/>
            <a:ext cx="7886700" cy="514350"/>
          </a:xfrm>
          <a:prstGeom prst="round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Tree>
    <p:extLst>
      <p:ext uri="{BB962C8B-B14F-4D97-AF65-F5344CB8AC3E}">
        <p14:creationId xmlns:p14="http://schemas.microsoft.com/office/powerpoint/2010/main" val="26018518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1000"/>
                                        <p:tgtEl>
                                          <p:spTgt spid="9"/>
                                        </p:tgtEl>
                                      </p:cBhvr>
                                    </p:animEffect>
                                    <p:anim calcmode="lin" valueType="num">
                                      <p:cBhvr>
                                        <p:cTn id="8" dur="1000" fill="hold"/>
                                        <p:tgtEl>
                                          <p:spTgt spid="9"/>
                                        </p:tgtEl>
                                        <p:attrNameLst>
                                          <p:attrName>ppt_x</p:attrName>
                                        </p:attrNameLst>
                                      </p:cBhvr>
                                      <p:tavLst>
                                        <p:tav tm="0">
                                          <p:val>
                                            <p:strVal val="#ppt_x"/>
                                          </p:val>
                                        </p:tav>
                                        <p:tav tm="100000">
                                          <p:val>
                                            <p:strVal val="#ppt_x"/>
                                          </p:val>
                                        </p:tav>
                                      </p:tavLst>
                                    </p:anim>
                                    <p:anim calcmode="lin" valueType="num">
                                      <p:cBhvr>
                                        <p:cTn id="9" dur="1000" fill="hold"/>
                                        <p:tgtEl>
                                          <p:spTgt spid="9"/>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1000"/>
                                        <p:tgtEl>
                                          <p:spTgt spid="8"/>
                                        </p:tgtEl>
                                      </p:cBhvr>
                                    </p:animEffect>
                                    <p:anim calcmode="lin" valueType="num">
                                      <p:cBhvr>
                                        <p:cTn id="13" dur="1000" fill="hold"/>
                                        <p:tgtEl>
                                          <p:spTgt spid="8"/>
                                        </p:tgtEl>
                                        <p:attrNameLst>
                                          <p:attrName>ppt_x</p:attrName>
                                        </p:attrNameLst>
                                      </p:cBhvr>
                                      <p:tavLst>
                                        <p:tav tm="0">
                                          <p:val>
                                            <p:strVal val="#ppt_x"/>
                                          </p:val>
                                        </p:tav>
                                        <p:tav tm="100000">
                                          <p:val>
                                            <p:strVal val="#ppt_x"/>
                                          </p:val>
                                        </p:tav>
                                      </p:tavLst>
                                    </p:anim>
                                    <p:anim calcmode="lin" valueType="num">
                                      <p:cBhvr>
                                        <p:cTn id="14"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animBg="1"/>
    </p:bld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45F973-9D58-8A17-4BBE-CFBA1CFA62B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95FE4840-515A-6CB7-3372-EF33EC966ADE}"/>
              </a:ext>
            </a:extLst>
          </p:cNvPr>
          <p:cNvSpPr txBox="1"/>
          <p:nvPr/>
        </p:nvSpPr>
        <p:spPr>
          <a:xfrm>
            <a:off x="0" y="0"/>
            <a:ext cx="8976732" cy="584775"/>
          </a:xfrm>
          <a:prstGeom prst="rect">
            <a:avLst/>
          </a:prstGeom>
          <a:noFill/>
        </p:spPr>
        <p:txBody>
          <a:bodyPr wrap="square" rtlCol="0">
            <a:spAutoFit/>
          </a:bodyPr>
          <a:lstStyle/>
          <a:p>
            <a:pPr lvl="0">
              <a:defRPr/>
            </a:pPr>
            <a:r>
              <a:rPr lang="en-US" sz="3200" b="1" dirty="0">
                <a:solidFill>
                  <a:prstClr val="black"/>
                </a:solidFill>
                <a:latin typeface="Calibri" panose="020F0502020204030204" pitchFamily="34" charset="0"/>
                <a:cs typeface="Calibri" panose="020F0502020204030204" pitchFamily="34" charset="0"/>
              </a:rPr>
              <a:t>Lab 2 Test (Week 4 &amp; 5)</a:t>
            </a:r>
            <a:endParaRPr kumimoji="0" lang="en-US" sz="32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sp>
        <p:nvSpPr>
          <p:cNvPr id="5" name="TextBox 4">
            <a:extLst>
              <a:ext uri="{FF2B5EF4-FFF2-40B4-BE49-F238E27FC236}">
                <a16:creationId xmlns:a16="http://schemas.microsoft.com/office/drawing/2014/main" id="{A344117C-919B-077C-A544-5916BD312051}"/>
              </a:ext>
            </a:extLst>
          </p:cNvPr>
          <p:cNvSpPr txBox="1"/>
          <p:nvPr/>
        </p:nvSpPr>
        <p:spPr>
          <a:xfrm>
            <a:off x="0" y="642938"/>
            <a:ext cx="12192000" cy="3903504"/>
          </a:xfrm>
          <a:prstGeom prst="rect">
            <a:avLst/>
          </a:prstGeom>
          <a:noFill/>
        </p:spPr>
        <p:txBody>
          <a:bodyPr wrap="square">
            <a:spAutoFit/>
          </a:bodyPr>
          <a:lstStyle/>
          <a:p>
            <a:pPr>
              <a:lnSpc>
                <a:spcPct val="150000"/>
              </a:lnSpc>
            </a:pPr>
            <a:r>
              <a:rPr lang="en-US" sz="2800" b="1" dirty="0">
                <a:latin typeface="Calibir"/>
              </a:rPr>
              <a:t>Question 16</a:t>
            </a:r>
          </a:p>
          <a:p>
            <a:pPr>
              <a:lnSpc>
                <a:spcPct val="150000"/>
              </a:lnSpc>
            </a:pPr>
            <a:r>
              <a:rPr lang="en-US" sz="2800" b="1" dirty="0">
                <a:latin typeface="Calibir"/>
              </a:rPr>
              <a:t>Which font family is applied to header, nav, and footer in Project 2?</a:t>
            </a:r>
            <a:endParaRPr lang="en-US" sz="2800" dirty="0">
              <a:latin typeface="Calibir"/>
            </a:endParaRPr>
          </a:p>
          <a:p>
            <a:pPr>
              <a:lnSpc>
                <a:spcPct val="150000"/>
              </a:lnSpc>
            </a:pPr>
            <a:r>
              <a:rPr lang="en-US" sz="2800" dirty="0">
                <a:latin typeface="Calibir"/>
              </a:rPr>
              <a:t>A. Tahoma, serif</a:t>
            </a:r>
            <a:br>
              <a:rPr lang="en-US" sz="2800" dirty="0">
                <a:latin typeface="Calibir"/>
              </a:rPr>
            </a:br>
            <a:r>
              <a:rPr lang="en-US" sz="2800" dirty="0">
                <a:latin typeface="Calibir"/>
              </a:rPr>
              <a:t>B. Verdana, Calibri</a:t>
            </a:r>
            <a:br>
              <a:rPr lang="en-US" sz="2800" dirty="0">
                <a:latin typeface="Calibir"/>
              </a:rPr>
            </a:br>
            <a:r>
              <a:rPr lang="en-US" sz="2800" dirty="0">
                <a:latin typeface="Calibir"/>
              </a:rPr>
              <a:t>C. Garamond, serif</a:t>
            </a:r>
          </a:p>
          <a:p>
            <a:pPr>
              <a:lnSpc>
                <a:spcPct val="150000"/>
              </a:lnSpc>
            </a:pPr>
            <a:r>
              <a:rPr lang="en-US" sz="2800" dirty="0">
                <a:latin typeface="Calibir"/>
              </a:rPr>
              <a:t>D. Calibri, Arial, sans-serif</a:t>
            </a:r>
          </a:p>
        </p:txBody>
      </p:sp>
      <p:sp>
        <p:nvSpPr>
          <p:cNvPr id="8" name="TextBox 7">
            <a:extLst>
              <a:ext uri="{FF2B5EF4-FFF2-40B4-BE49-F238E27FC236}">
                <a16:creationId xmlns:a16="http://schemas.microsoft.com/office/drawing/2014/main" id="{D75373AD-96F2-B556-52CF-C8B431AB9761}"/>
              </a:ext>
            </a:extLst>
          </p:cNvPr>
          <p:cNvSpPr txBox="1"/>
          <p:nvPr/>
        </p:nvSpPr>
        <p:spPr>
          <a:xfrm>
            <a:off x="4786313" y="4827360"/>
            <a:ext cx="6563319" cy="1321772"/>
          </a:xfrm>
          <a:prstGeom prst="rect">
            <a:avLst/>
          </a:prstGeom>
          <a:noFill/>
        </p:spPr>
        <p:txBody>
          <a:bodyPr wrap="square">
            <a:spAutoFit/>
          </a:bodyPr>
          <a:lstStyle/>
          <a:p>
            <a:pPr>
              <a:lnSpc>
                <a:spcPct val="150000"/>
              </a:lnSpc>
            </a:pPr>
            <a:r>
              <a:rPr lang="en-US" sz="2800" dirty="0">
                <a:latin typeface="Calibir"/>
              </a:rPr>
              <a:t>These fonts are used because they are clean and easy to read.</a:t>
            </a:r>
          </a:p>
        </p:txBody>
      </p:sp>
      <p:sp>
        <p:nvSpPr>
          <p:cNvPr id="9" name="Rectangle: Rounded Corners 8">
            <a:extLst>
              <a:ext uri="{FF2B5EF4-FFF2-40B4-BE49-F238E27FC236}">
                <a16:creationId xmlns:a16="http://schemas.microsoft.com/office/drawing/2014/main" id="{1501A679-CAC8-0D8D-0151-79BC7C735EDF}"/>
              </a:ext>
            </a:extLst>
          </p:cNvPr>
          <p:cNvSpPr/>
          <p:nvPr/>
        </p:nvSpPr>
        <p:spPr>
          <a:xfrm>
            <a:off x="0" y="3972528"/>
            <a:ext cx="7886700" cy="514350"/>
          </a:xfrm>
          <a:prstGeom prst="round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Tree>
    <p:extLst>
      <p:ext uri="{BB962C8B-B14F-4D97-AF65-F5344CB8AC3E}">
        <p14:creationId xmlns:p14="http://schemas.microsoft.com/office/powerpoint/2010/main" val="1496745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1000"/>
                                        <p:tgtEl>
                                          <p:spTgt spid="9"/>
                                        </p:tgtEl>
                                      </p:cBhvr>
                                    </p:animEffect>
                                    <p:anim calcmode="lin" valueType="num">
                                      <p:cBhvr>
                                        <p:cTn id="8" dur="1000" fill="hold"/>
                                        <p:tgtEl>
                                          <p:spTgt spid="9"/>
                                        </p:tgtEl>
                                        <p:attrNameLst>
                                          <p:attrName>ppt_x</p:attrName>
                                        </p:attrNameLst>
                                      </p:cBhvr>
                                      <p:tavLst>
                                        <p:tav tm="0">
                                          <p:val>
                                            <p:strVal val="#ppt_x"/>
                                          </p:val>
                                        </p:tav>
                                        <p:tav tm="100000">
                                          <p:val>
                                            <p:strVal val="#ppt_x"/>
                                          </p:val>
                                        </p:tav>
                                      </p:tavLst>
                                    </p:anim>
                                    <p:anim calcmode="lin" valueType="num">
                                      <p:cBhvr>
                                        <p:cTn id="9" dur="1000" fill="hold"/>
                                        <p:tgtEl>
                                          <p:spTgt spid="9"/>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1000"/>
                                        <p:tgtEl>
                                          <p:spTgt spid="8"/>
                                        </p:tgtEl>
                                      </p:cBhvr>
                                    </p:animEffect>
                                    <p:anim calcmode="lin" valueType="num">
                                      <p:cBhvr>
                                        <p:cTn id="13" dur="1000" fill="hold"/>
                                        <p:tgtEl>
                                          <p:spTgt spid="8"/>
                                        </p:tgtEl>
                                        <p:attrNameLst>
                                          <p:attrName>ppt_x</p:attrName>
                                        </p:attrNameLst>
                                      </p:cBhvr>
                                      <p:tavLst>
                                        <p:tav tm="0">
                                          <p:val>
                                            <p:strVal val="#ppt_x"/>
                                          </p:val>
                                        </p:tav>
                                        <p:tav tm="100000">
                                          <p:val>
                                            <p:strVal val="#ppt_x"/>
                                          </p:val>
                                        </p:tav>
                                      </p:tavLst>
                                    </p:anim>
                                    <p:anim calcmode="lin" valueType="num">
                                      <p:cBhvr>
                                        <p:cTn id="14"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animBg="1"/>
    </p:bld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2A2459-4F77-2B8B-F26A-69EEEFAE397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BD714C28-2165-16AA-1297-916CDC576F25}"/>
              </a:ext>
            </a:extLst>
          </p:cNvPr>
          <p:cNvSpPr txBox="1"/>
          <p:nvPr/>
        </p:nvSpPr>
        <p:spPr>
          <a:xfrm>
            <a:off x="0" y="0"/>
            <a:ext cx="8976732" cy="584775"/>
          </a:xfrm>
          <a:prstGeom prst="rect">
            <a:avLst/>
          </a:prstGeom>
          <a:noFill/>
        </p:spPr>
        <p:txBody>
          <a:bodyPr wrap="square" rtlCol="0">
            <a:spAutoFit/>
          </a:bodyPr>
          <a:lstStyle/>
          <a:p>
            <a:pPr lvl="0">
              <a:defRPr/>
            </a:pPr>
            <a:r>
              <a:rPr lang="en-US" sz="3200" b="1" dirty="0">
                <a:solidFill>
                  <a:prstClr val="black"/>
                </a:solidFill>
                <a:latin typeface="Calibri" panose="020F0502020204030204" pitchFamily="34" charset="0"/>
                <a:cs typeface="Calibri" panose="020F0502020204030204" pitchFamily="34" charset="0"/>
              </a:rPr>
              <a:t>Lab 2 Test (Week 4 &amp; 5)</a:t>
            </a:r>
            <a:endParaRPr kumimoji="0" lang="en-US" sz="32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sp>
        <p:nvSpPr>
          <p:cNvPr id="5" name="TextBox 4">
            <a:extLst>
              <a:ext uri="{FF2B5EF4-FFF2-40B4-BE49-F238E27FC236}">
                <a16:creationId xmlns:a16="http://schemas.microsoft.com/office/drawing/2014/main" id="{2F0FAEED-704F-98CC-B1E4-49199F7A31CB}"/>
              </a:ext>
            </a:extLst>
          </p:cNvPr>
          <p:cNvSpPr txBox="1"/>
          <p:nvPr/>
        </p:nvSpPr>
        <p:spPr>
          <a:xfrm>
            <a:off x="0" y="642938"/>
            <a:ext cx="12192000" cy="3903504"/>
          </a:xfrm>
          <a:prstGeom prst="rect">
            <a:avLst/>
          </a:prstGeom>
          <a:noFill/>
        </p:spPr>
        <p:txBody>
          <a:bodyPr wrap="square">
            <a:spAutoFit/>
          </a:bodyPr>
          <a:lstStyle/>
          <a:p>
            <a:pPr>
              <a:lnSpc>
                <a:spcPct val="150000"/>
              </a:lnSpc>
            </a:pPr>
            <a:r>
              <a:rPr lang="en-US" sz="2800" b="1" dirty="0">
                <a:latin typeface="Calibir"/>
              </a:rPr>
              <a:t>Question 17</a:t>
            </a:r>
          </a:p>
          <a:p>
            <a:pPr>
              <a:lnSpc>
                <a:spcPct val="150000"/>
              </a:lnSpc>
            </a:pPr>
            <a:r>
              <a:rPr lang="en-US" sz="2800" b="1" dirty="0">
                <a:latin typeface="Calibir"/>
              </a:rPr>
              <a:t>Which selector applies the lighter background and 10px padding in Project 2?</a:t>
            </a:r>
            <a:endParaRPr lang="en-US" sz="2800" dirty="0">
              <a:latin typeface="Calibir"/>
            </a:endParaRPr>
          </a:p>
          <a:p>
            <a:pPr>
              <a:lnSpc>
                <a:spcPct val="150000"/>
              </a:lnSpc>
            </a:pPr>
            <a:r>
              <a:rPr lang="en-US" sz="2800" dirty="0">
                <a:latin typeface="Calibir"/>
              </a:rPr>
              <a:t>A. #main</a:t>
            </a:r>
            <a:br>
              <a:rPr lang="en-US" sz="2800" dirty="0">
                <a:latin typeface="Calibir"/>
              </a:rPr>
            </a:br>
            <a:r>
              <a:rPr lang="en-US" sz="2800" dirty="0">
                <a:latin typeface="Calibir"/>
              </a:rPr>
              <a:t>B. .body</a:t>
            </a:r>
            <a:br>
              <a:rPr lang="en-US" sz="2800" dirty="0">
                <a:latin typeface="Calibir"/>
              </a:rPr>
            </a:br>
            <a:r>
              <a:rPr lang="en-US" sz="2800" dirty="0">
                <a:latin typeface="Calibir"/>
              </a:rPr>
              <a:t>C. #wrapper</a:t>
            </a:r>
            <a:br>
              <a:rPr lang="en-US" sz="2800" dirty="0">
                <a:latin typeface="Calibir"/>
              </a:rPr>
            </a:br>
            <a:r>
              <a:rPr lang="en-US" sz="2800" dirty="0">
                <a:latin typeface="Calibir"/>
              </a:rPr>
              <a:t>D. .content</a:t>
            </a:r>
          </a:p>
        </p:txBody>
      </p:sp>
      <p:sp>
        <p:nvSpPr>
          <p:cNvPr id="8" name="TextBox 7">
            <a:extLst>
              <a:ext uri="{FF2B5EF4-FFF2-40B4-BE49-F238E27FC236}">
                <a16:creationId xmlns:a16="http://schemas.microsoft.com/office/drawing/2014/main" id="{74D1380B-EFFE-192A-6346-5003E3CE5EA1}"/>
              </a:ext>
            </a:extLst>
          </p:cNvPr>
          <p:cNvSpPr txBox="1"/>
          <p:nvPr/>
        </p:nvSpPr>
        <p:spPr>
          <a:xfrm>
            <a:off x="4786313" y="4827360"/>
            <a:ext cx="6563319" cy="1318181"/>
          </a:xfrm>
          <a:prstGeom prst="rect">
            <a:avLst/>
          </a:prstGeom>
          <a:noFill/>
        </p:spPr>
        <p:txBody>
          <a:bodyPr wrap="square">
            <a:spAutoFit/>
          </a:bodyPr>
          <a:lstStyle/>
          <a:p>
            <a:pPr>
              <a:lnSpc>
                <a:spcPct val="150000"/>
              </a:lnSpc>
            </a:pPr>
            <a:r>
              <a:rPr lang="en-US" sz="2800" dirty="0">
                <a:latin typeface="Calibir"/>
              </a:rPr>
              <a:t>The #main selector styles the main content area with background </a:t>
            </a:r>
            <a:r>
              <a:rPr lang="en-US" sz="2800" dirty="0" err="1">
                <a:latin typeface="Calibir"/>
              </a:rPr>
              <a:t>colour</a:t>
            </a:r>
            <a:r>
              <a:rPr lang="en-US" sz="2800" dirty="0">
                <a:latin typeface="Calibir"/>
              </a:rPr>
              <a:t> and padding.</a:t>
            </a:r>
          </a:p>
        </p:txBody>
      </p:sp>
      <p:sp>
        <p:nvSpPr>
          <p:cNvPr id="9" name="Rectangle: Rounded Corners 8">
            <a:extLst>
              <a:ext uri="{FF2B5EF4-FFF2-40B4-BE49-F238E27FC236}">
                <a16:creationId xmlns:a16="http://schemas.microsoft.com/office/drawing/2014/main" id="{9482F12F-97A4-533F-514B-44323D91AC9B}"/>
              </a:ext>
            </a:extLst>
          </p:cNvPr>
          <p:cNvSpPr/>
          <p:nvPr/>
        </p:nvSpPr>
        <p:spPr>
          <a:xfrm>
            <a:off x="0" y="2080943"/>
            <a:ext cx="7886700" cy="514350"/>
          </a:xfrm>
          <a:prstGeom prst="round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Tree>
    <p:extLst>
      <p:ext uri="{BB962C8B-B14F-4D97-AF65-F5344CB8AC3E}">
        <p14:creationId xmlns:p14="http://schemas.microsoft.com/office/powerpoint/2010/main" val="17251228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1000"/>
                                        <p:tgtEl>
                                          <p:spTgt spid="9"/>
                                        </p:tgtEl>
                                      </p:cBhvr>
                                    </p:animEffect>
                                    <p:anim calcmode="lin" valueType="num">
                                      <p:cBhvr>
                                        <p:cTn id="8" dur="1000" fill="hold"/>
                                        <p:tgtEl>
                                          <p:spTgt spid="9"/>
                                        </p:tgtEl>
                                        <p:attrNameLst>
                                          <p:attrName>ppt_x</p:attrName>
                                        </p:attrNameLst>
                                      </p:cBhvr>
                                      <p:tavLst>
                                        <p:tav tm="0">
                                          <p:val>
                                            <p:strVal val="#ppt_x"/>
                                          </p:val>
                                        </p:tav>
                                        <p:tav tm="100000">
                                          <p:val>
                                            <p:strVal val="#ppt_x"/>
                                          </p:val>
                                        </p:tav>
                                      </p:tavLst>
                                    </p:anim>
                                    <p:anim calcmode="lin" valueType="num">
                                      <p:cBhvr>
                                        <p:cTn id="9" dur="1000" fill="hold"/>
                                        <p:tgtEl>
                                          <p:spTgt spid="9"/>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1000"/>
                                        <p:tgtEl>
                                          <p:spTgt spid="8"/>
                                        </p:tgtEl>
                                      </p:cBhvr>
                                    </p:animEffect>
                                    <p:anim calcmode="lin" valueType="num">
                                      <p:cBhvr>
                                        <p:cTn id="13" dur="1000" fill="hold"/>
                                        <p:tgtEl>
                                          <p:spTgt spid="8"/>
                                        </p:tgtEl>
                                        <p:attrNameLst>
                                          <p:attrName>ppt_x</p:attrName>
                                        </p:attrNameLst>
                                      </p:cBhvr>
                                      <p:tavLst>
                                        <p:tav tm="0">
                                          <p:val>
                                            <p:strVal val="#ppt_x"/>
                                          </p:val>
                                        </p:tav>
                                        <p:tav tm="100000">
                                          <p:val>
                                            <p:strVal val="#ppt_x"/>
                                          </p:val>
                                        </p:tav>
                                      </p:tavLst>
                                    </p:anim>
                                    <p:anim calcmode="lin" valueType="num">
                                      <p:cBhvr>
                                        <p:cTn id="14"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animBg="1"/>
    </p:bld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6AB802-8086-7891-C816-B3804D63DE6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B7BCE530-D335-7459-3924-E28993460633}"/>
              </a:ext>
            </a:extLst>
          </p:cNvPr>
          <p:cNvSpPr txBox="1"/>
          <p:nvPr/>
        </p:nvSpPr>
        <p:spPr>
          <a:xfrm>
            <a:off x="0" y="0"/>
            <a:ext cx="8976732" cy="584775"/>
          </a:xfrm>
          <a:prstGeom prst="rect">
            <a:avLst/>
          </a:prstGeom>
          <a:noFill/>
        </p:spPr>
        <p:txBody>
          <a:bodyPr wrap="square" rtlCol="0">
            <a:spAutoFit/>
          </a:bodyPr>
          <a:lstStyle/>
          <a:p>
            <a:pPr lvl="0">
              <a:defRPr/>
            </a:pPr>
            <a:r>
              <a:rPr lang="en-US" sz="3200" b="1" dirty="0">
                <a:solidFill>
                  <a:prstClr val="black"/>
                </a:solidFill>
                <a:latin typeface="Calibri" panose="020F0502020204030204" pitchFamily="34" charset="0"/>
                <a:cs typeface="Calibri" panose="020F0502020204030204" pitchFamily="34" charset="0"/>
              </a:rPr>
              <a:t>Lab 2 Test (Week 4 &amp; 5)</a:t>
            </a:r>
            <a:endParaRPr kumimoji="0" lang="en-US" sz="32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sp>
        <p:nvSpPr>
          <p:cNvPr id="5" name="TextBox 4">
            <a:extLst>
              <a:ext uri="{FF2B5EF4-FFF2-40B4-BE49-F238E27FC236}">
                <a16:creationId xmlns:a16="http://schemas.microsoft.com/office/drawing/2014/main" id="{475CCDAD-1597-C21F-3010-7F2E7CDEC674}"/>
              </a:ext>
            </a:extLst>
          </p:cNvPr>
          <p:cNvSpPr txBox="1"/>
          <p:nvPr/>
        </p:nvSpPr>
        <p:spPr>
          <a:xfrm>
            <a:off x="0" y="642938"/>
            <a:ext cx="12192000" cy="3903504"/>
          </a:xfrm>
          <a:prstGeom prst="rect">
            <a:avLst/>
          </a:prstGeom>
          <a:noFill/>
        </p:spPr>
        <p:txBody>
          <a:bodyPr wrap="square">
            <a:spAutoFit/>
          </a:bodyPr>
          <a:lstStyle/>
          <a:p>
            <a:pPr>
              <a:lnSpc>
                <a:spcPct val="150000"/>
              </a:lnSpc>
            </a:pPr>
            <a:r>
              <a:rPr lang="en-US" sz="2800" b="1" dirty="0">
                <a:latin typeface="Calibir"/>
              </a:rPr>
              <a:t>Question 18</a:t>
            </a:r>
          </a:p>
          <a:p>
            <a:pPr>
              <a:lnSpc>
                <a:spcPct val="150000"/>
              </a:lnSpc>
            </a:pPr>
            <a:r>
              <a:rPr lang="en-US" sz="2800" b="1" dirty="0">
                <a:latin typeface="Calibir"/>
              </a:rPr>
              <a:t>What does the </a:t>
            </a:r>
            <a:r>
              <a:rPr lang="en-US" sz="2800" b="1" dirty="0" err="1">
                <a:latin typeface="Calibir"/>
              </a:rPr>
              <a:t>img</a:t>
            </a:r>
            <a:r>
              <a:rPr lang="en-US" sz="2800" b="1" dirty="0">
                <a:latin typeface="Calibir"/>
              </a:rPr>
              <a:t> selector do in Project 2?</a:t>
            </a:r>
            <a:endParaRPr lang="en-US" sz="2800" dirty="0">
              <a:latin typeface="Calibir"/>
            </a:endParaRPr>
          </a:p>
          <a:p>
            <a:pPr>
              <a:lnSpc>
                <a:spcPct val="150000"/>
              </a:lnSpc>
            </a:pPr>
            <a:r>
              <a:rPr lang="en-US" sz="2800" dirty="0">
                <a:latin typeface="Calibir"/>
              </a:rPr>
              <a:t>A. Adds border radius</a:t>
            </a:r>
            <a:br>
              <a:rPr lang="en-US" sz="2800" dirty="0">
                <a:latin typeface="Calibir"/>
              </a:rPr>
            </a:br>
            <a:r>
              <a:rPr lang="en-US" sz="2800" dirty="0">
                <a:latin typeface="Calibir"/>
              </a:rPr>
              <a:t>B. Centers the image</a:t>
            </a:r>
            <a:br>
              <a:rPr lang="en-US" sz="2800" dirty="0">
                <a:latin typeface="Calibir"/>
              </a:rPr>
            </a:br>
            <a:r>
              <a:rPr lang="en-US" sz="2800" dirty="0">
                <a:latin typeface="Calibir"/>
              </a:rPr>
              <a:t>C. Adds a drop shadow</a:t>
            </a:r>
          </a:p>
          <a:p>
            <a:pPr>
              <a:lnSpc>
                <a:spcPct val="150000"/>
              </a:lnSpc>
            </a:pPr>
            <a:r>
              <a:rPr lang="en-US" sz="2800" dirty="0">
                <a:latin typeface="Calibir"/>
              </a:rPr>
              <a:t>D. Floats the image to the left</a:t>
            </a:r>
          </a:p>
        </p:txBody>
      </p:sp>
      <p:sp>
        <p:nvSpPr>
          <p:cNvPr id="8" name="TextBox 7">
            <a:extLst>
              <a:ext uri="{FF2B5EF4-FFF2-40B4-BE49-F238E27FC236}">
                <a16:creationId xmlns:a16="http://schemas.microsoft.com/office/drawing/2014/main" id="{CD451849-3F16-1BF7-5982-5BD3EA9C5602}"/>
              </a:ext>
            </a:extLst>
          </p:cNvPr>
          <p:cNvSpPr txBox="1"/>
          <p:nvPr/>
        </p:nvSpPr>
        <p:spPr>
          <a:xfrm>
            <a:off x="4786313" y="4827360"/>
            <a:ext cx="6563319" cy="1321772"/>
          </a:xfrm>
          <a:prstGeom prst="rect">
            <a:avLst/>
          </a:prstGeom>
          <a:noFill/>
        </p:spPr>
        <p:txBody>
          <a:bodyPr wrap="square">
            <a:spAutoFit/>
          </a:bodyPr>
          <a:lstStyle/>
          <a:p>
            <a:pPr>
              <a:lnSpc>
                <a:spcPct val="150000"/>
              </a:lnSpc>
            </a:pPr>
            <a:r>
              <a:rPr lang="en-US" sz="2800" dirty="0">
                <a:latin typeface="Calibir"/>
              </a:rPr>
              <a:t>The image is moved to the left so text can wrap around it.</a:t>
            </a:r>
          </a:p>
        </p:txBody>
      </p:sp>
      <p:sp>
        <p:nvSpPr>
          <p:cNvPr id="9" name="Rectangle: Rounded Corners 8">
            <a:extLst>
              <a:ext uri="{FF2B5EF4-FFF2-40B4-BE49-F238E27FC236}">
                <a16:creationId xmlns:a16="http://schemas.microsoft.com/office/drawing/2014/main" id="{A2BCFA7B-2402-7E20-8B46-3AE09FA20EDF}"/>
              </a:ext>
            </a:extLst>
          </p:cNvPr>
          <p:cNvSpPr/>
          <p:nvPr/>
        </p:nvSpPr>
        <p:spPr>
          <a:xfrm>
            <a:off x="0" y="4032092"/>
            <a:ext cx="7886700" cy="514350"/>
          </a:xfrm>
          <a:prstGeom prst="round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Tree>
    <p:extLst>
      <p:ext uri="{BB962C8B-B14F-4D97-AF65-F5344CB8AC3E}">
        <p14:creationId xmlns:p14="http://schemas.microsoft.com/office/powerpoint/2010/main" val="20333731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1000"/>
                                        <p:tgtEl>
                                          <p:spTgt spid="9"/>
                                        </p:tgtEl>
                                      </p:cBhvr>
                                    </p:animEffect>
                                    <p:anim calcmode="lin" valueType="num">
                                      <p:cBhvr>
                                        <p:cTn id="8" dur="1000" fill="hold"/>
                                        <p:tgtEl>
                                          <p:spTgt spid="9"/>
                                        </p:tgtEl>
                                        <p:attrNameLst>
                                          <p:attrName>ppt_x</p:attrName>
                                        </p:attrNameLst>
                                      </p:cBhvr>
                                      <p:tavLst>
                                        <p:tav tm="0">
                                          <p:val>
                                            <p:strVal val="#ppt_x"/>
                                          </p:val>
                                        </p:tav>
                                        <p:tav tm="100000">
                                          <p:val>
                                            <p:strVal val="#ppt_x"/>
                                          </p:val>
                                        </p:tav>
                                      </p:tavLst>
                                    </p:anim>
                                    <p:anim calcmode="lin" valueType="num">
                                      <p:cBhvr>
                                        <p:cTn id="9" dur="1000" fill="hold"/>
                                        <p:tgtEl>
                                          <p:spTgt spid="9"/>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1000"/>
                                        <p:tgtEl>
                                          <p:spTgt spid="8"/>
                                        </p:tgtEl>
                                      </p:cBhvr>
                                    </p:animEffect>
                                    <p:anim calcmode="lin" valueType="num">
                                      <p:cBhvr>
                                        <p:cTn id="13" dur="1000" fill="hold"/>
                                        <p:tgtEl>
                                          <p:spTgt spid="8"/>
                                        </p:tgtEl>
                                        <p:attrNameLst>
                                          <p:attrName>ppt_x</p:attrName>
                                        </p:attrNameLst>
                                      </p:cBhvr>
                                      <p:tavLst>
                                        <p:tav tm="0">
                                          <p:val>
                                            <p:strVal val="#ppt_x"/>
                                          </p:val>
                                        </p:tav>
                                        <p:tav tm="100000">
                                          <p:val>
                                            <p:strVal val="#ppt_x"/>
                                          </p:val>
                                        </p:tav>
                                      </p:tavLst>
                                    </p:anim>
                                    <p:anim calcmode="lin" valueType="num">
                                      <p:cBhvr>
                                        <p:cTn id="14"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animBg="1"/>
    </p:bld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BE05D0-47F0-DDDA-72F4-F14840BBCD38}"/>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BB970A11-891F-4932-696B-4A77D9E28341}"/>
              </a:ext>
            </a:extLst>
          </p:cNvPr>
          <p:cNvSpPr txBox="1"/>
          <p:nvPr/>
        </p:nvSpPr>
        <p:spPr>
          <a:xfrm>
            <a:off x="0" y="0"/>
            <a:ext cx="8976732" cy="584775"/>
          </a:xfrm>
          <a:prstGeom prst="rect">
            <a:avLst/>
          </a:prstGeom>
          <a:noFill/>
        </p:spPr>
        <p:txBody>
          <a:bodyPr wrap="square" rtlCol="0">
            <a:spAutoFit/>
          </a:bodyPr>
          <a:lstStyle/>
          <a:p>
            <a:pPr lvl="0">
              <a:defRPr/>
            </a:pPr>
            <a:r>
              <a:rPr lang="en-US" sz="3200" b="1" dirty="0">
                <a:solidFill>
                  <a:prstClr val="black"/>
                </a:solidFill>
                <a:latin typeface="Calibri" panose="020F0502020204030204" pitchFamily="34" charset="0"/>
                <a:cs typeface="Calibri" panose="020F0502020204030204" pitchFamily="34" charset="0"/>
              </a:rPr>
              <a:t>Lab 2 Test (Week 4 &amp; 5)</a:t>
            </a:r>
            <a:endParaRPr kumimoji="0" lang="en-US" sz="32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sp>
        <p:nvSpPr>
          <p:cNvPr id="5" name="TextBox 4">
            <a:extLst>
              <a:ext uri="{FF2B5EF4-FFF2-40B4-BE49-F238E27FC236}">
                <a16:creationId xmlns:a16="http://schemas.microsoft.com/office/drawing/2014/main" id="{DEE5B647-EBC6-1D2E-C128-C2136A78B4B7}"/>
              </a:ext>
            </a:extLst>
          </p:cNvPr>
          <p:cNvSpPr txBox="1"/>
          <p:nvPr/>
        </p:nvSpPr>
        <p:spPr>
          <a:xfrm>
            <a:off x="0" y="642938"/>
            <a:ext cx="12192000" cy="3903504"/>
          </a:xfrm>
          <a:prstGeom prst="rect">
            <a:avLst/>
          </a:prstGeom>
          <a:noFill/>
        </p:spPr>
        <p:txBody>
          <a:bodyPr wrap="square">
            <a:spAutoFit/>
          </a:bodyPr>
          <a:lstStyle/>
          <a:p>
            <a:pPr>
              <a:lnSpc>
                <a:spcPct val="150000"/>
              </a:lnSpc>
            </a:pPr>
            <a:r>
              <a:rPr lang="en-US" sz="2800" b="1" dirty="0">
                <a:latin typeface="Calibir"/>
              </a:rPr>
              <a:t>Question 19</a:t>
            </a:r>
          </a:p>
          <a:p>
            <a:pPr>
              <a:lnSpc>
                <a:spcPct val="150000"/>
              </a:lnSpc>
            </a:pPr>
            <a:r>
              <a:rPr lang="en-US" sz="2800" b="1" dirty="0">
                <a:latin typeface="Calibir"/>
              </a:rPr>
              <a:t>Which element is cleared using nav { clear: both; }?</a:t>
            </a:r>
            <a:endParaRPr lang="en-US" sz="2800" dirty="0">
              <a:latin typeface="Calibir"/>
            </a:endParaRPr>
          </a:p>
          <a:p>
            <a:pPr>
              <a:lnSpc>
                <a:spcPct val="150000"/>
              </a:lnSpc>
            </a:pPr>
            <a:r>
              <a:rPr lang="en-US" sz="2800" dirty="0">
                <a:latin typeface="Calibir"/>
              </a:rPr>
              <a:t>A. The footer only</a:t>
            </a:r>
            <a:br>
              <a:rPr lang="en-US" sz="2800" dirty="0">
                <a:latin typeface="Calibir"/>
              </a:rPr>
            </a:br>
            <a:r>
              <a:rPr lang="en-US" sz="2800" dirty="0">
                <a:latin typeface="Calibir"/>
              </a:rPr>
              <a:t>B. The floated image </a:t>
            </a:r>
          </a:p>
          <a:p>
            <a:pPr>
              <a:lnSpc>
                <a:spcPct val="150000"/>
              </a:lnSpc>
            </a:pPr>
            <a:r>
              <a:rPr lang="en-US" sz="2800" dirty="0">
                <a:latin typeface="Calibir"/>
              </a:rPr>
              <a:t>C. The header</a:t>
            </a:r>
            <a:br>
              <a:rPr lang="en-US" sz="2800" dirty="0">
                <a:latin typeface="Calibir"/>
              </a:rPr>
            </a:br>
            <a:r>
              <a:rPr lang="en-US" sz="2800" dirty="0">
                <a:latin typeface="Calibir"/>
              </a:rPr>
              <a:t>D. The title</a:t>
            </a:r>
          </a:p>
        </p:txBody>
      </p:sp>
      <p:sp>
        <p:nvSpPr>
          <p:cNvPr id="8" name="TextBox 7">
            <a:extLst>
              <a:ext uri="{FF2B5EF4-FFF2-40B4-BE49-F238E27FC236}">
                <a16:creationId xmlns:a16="http://schemas.microsoft.com/office/drawing/2014/main" id="{B9DA29AA-EA11-E2EA-1951-745747A61AB0}"/>
              </a:ext>
            </a:extLst>
          </p:cNvPr>
          <p:cNvSpPr txBox="1"/>
          <p:nvPr/>
        </p:nvSpPr>
        <p:spPr>
          <a:xfrm>
            <a:off x="4786313" y="4827360"/>
            <a:ext cx="6563319" cy="1968103"/>
          </a:xfrm>
          <a:prstGeom prst="rect">
            <a:avLst/>
          </a:prstGeom>
          <a:noFill/>
        </p:spPr>
        <p:txBody>
          <a:bodyPr wrap="square">
            <a:spAutoFit/>
          </a:bodyPr>
          <a:lstStyle/>
          <a:p>
            <a:pPr>
              <a:lnSpc>
                <a:spcPct val="150000"/>
              </a:lnSpc>
            </a:pPr>
            <a:r>
              <a:rPr lang="en-US" sz="2800" dirty="0">
                <a:latin typeface="Calibir"/>
              </a:rPr>
              <a:t>The clear property prevents the navigation section from wrapping around floated images.</a:t>
            </a:r>
          </a:p>
        </p:txBody>
      </p:sp>
      <p:sp>
        <p:nvSpPr>
          <p:cNvPr id="9" name="Rectangle: Rounded Corners 8">
            <a:extLst>
              <a:ext uri="{FF2B5EF4-FFF2-40B4-BE49-F238E27FC236}">
                <a16:creationId xmlns:a16="http://schemas.microsoft.com/office/drawing/2014/main" id="{221BCF57-1383-5463-EED3-60F53267494B}"/>
              </a:ext>
            </a:extLst>
          </p:cNvPr>
          <p:cNvSpPr/>
          <p:nvPr/>
        </p:nvSpPr>
        <p:spPr>
          <a:xfrm>
            <a:off x="0" y="2697720"/>
            <a:ext cx="7886700" cy="514350"/>
          </a:xfrm>
          <a:prstGeom prst="round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Tree>
    <p:extLst>
      <p:ext uri="{BB962C8B-B14F-4D97-AF65-F5344CB8AC3E}">
        <p14:creationId xmlns:p14="http://schemas.microsoft.com/office/powerpoint/2010/main" val="33717887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1000"/>
                                        <p:tgtEl>
                                          <p:spTgt spid="9"/>
                                        </p:tgtEl>
                                      </p:cBhvr>
                                    </p:animEffect>
                                    <p:anim calcmode="lin" valueType="num">
                                      <p:cBhvr>
                                        <p:cTn id="8" dur="1000" fill="hold"/>
                                        <p:tgtEl>
                                          <p:spTgt spid="9"/>
                                        </p:tgtEl>
                                        <p:attrNameLst>
                                          <p:attrName>ppt_x</p:attrName>
                                        </p:attrNameLst>
                                      </p:cBhvr>
                                      <p:tavLst>
                                        <p:tav tm="0">
                                          <p:val>
                                            <p:strVal val="#ppt_x"/>
                                          </p:val>
                                        </p:tav>
                                        <p:tav tm="100000">
                                          <p:val>
                                            <p:strVal val="#ppt_x"/>
                                          </p:val>
                                        </p:tav>
                                      </p:tavLst>
                                    </p:anim>
                                    <p:anim calcmode="lin" valueType="num">
                                      <p:cBhvr>
                                        <p:cTn id="9" dur="1000" fill="hold"/>
                                        <p:tgtEl>
                                          <p:spTgt spid="9"/>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1000"/>
                                        <p:tgtEl>
                                          <p:spTgt spid="8"/>
                                        </p:tgtEl>
                                      </p:cBhvr>
                                    </p:animEffect>
                                    <p:anim calcmode="lin" valueType="num">
                                      <p:cBhvr>
                                        <p:cTn id="13" dur="1000" fill="hold"/>
                                        <p:tgtEl>
                                          <p:spTgt spid="8"/>
                                        </p:tgtEl>
                                        <p:attrNameLst>
                                          <p:attrName>ppt_x</p:attrName>
                                        </p:attrNameLst>
                                      </p:cBhvr>
                                      <p:tavLst>
                                        <p:tav tm="0">
                                          <p:val>
                                            <p:strVal val="#ppt_x"/>
                                          </p:val>
                                        </p:tav>
                                        <p:tav tm="100000">
                                          <p:val>
                                            <p:strVal val="#ppt_x"/>
                                          </p:val>
                                        </p:tav>
                                      </p:tavLst>
                                    </p:anim>
                                    <p:anim calcmode="lin" valueType="num">
                                      <p:cBhvr>
                                        <p:cTn id="14"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animBg="1"/>
    </p:bld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56A2F0-7058-B2B0-9F5A-BA1D14ADB146}"/>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DDBBC89A-E3C8-A723-7339-778EF6220319}"/>
              </a:ext>
            </a:extLst>
          </p:cNvPr>
          <p:cNvSpPr txBox="1"/>
          <p:nvPr/>
        </p:nvSpPr>
        <p:spPr>
          <a:xfrm>
            <a:off x="0" y="0"/>
            <a:ext cx="8976732" cy="584775"/>
          </a:xfrm>
          <a:prstGeom prst="rect">
            <a:avLst/>
          </a:prstGeom>
          <a:noFill/>
        </p:spPr>
        <p:txBody>
          <a:bodyPr wrap="square" rtlCol="0">
            <a:spAutoFit/>
          </a:bodyPr>
          <a:lstStyle/>
          <a:p>
            <a:pPr lvl="0">
              <a:defRPr/>
            </a:pPr>
            <a:r>
              <a:rPr lang="en-US" sz="3200" b="1" dirty="0">
                <a:solidFill>
                  <a:prstClr val="black"/>
                </a:solidFill>
                <a:latin typeface="Calibri" panose="020F0502020204030204" pitchFamily="34" charset="0"/>
                <a:cs typeface="Calibri" panose="020F0502020204030204" pitchFamily="34" charset="0"/>
              </a:rPr>
              <a:t>Lab 2 Test (Week 4 &amp; 5)</a:t>
            </a:r>
            <a:endParaRPr kumimoji="0" lang="en-US" sz="32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sp>
        <p:nvSpPr>
          <p:cNvPr id="5" name="TextBox 4">
            <a:extLst>
              <a:ext uri="{FF2B5EF4-FFF2-40B4-BE49-F238E27FC236}">
                <a16:creationId xmlns:a16="http://schemas.microsoft.com/office/drawing/2014/main" id="{AE75AA38-8363-DD73-0652-A68E10C6CD23}"/>
              </a:ext>
            </a:extLst>
          </p:cNvPr>
          <p:cNvSpPr txBox="1"/>
          <p:nvPr/>
        </p:nvSpPr>
        <p:spPr>
          <a:xfrm>
            <a:off x="0" y="642938"/>
            <a:ext cx="12192000" cy="3903504"/>
          </a:xfrm>
          <a:prstGeom prst="rect">
            <a:avLst/>
          </a:prstGeom>
          <a:noFill/>
        </p:spPr>
        <p:txBody>
          <a:bodyPr wrap="square">
            <a:spAutoFit/>
          </a:bodyPr>
          <a:lstStyle/>
          <a:p>
            <a:pPr>
              <a:lnSpc>
                <a:spcPct val="150000"/>
              </a:lnSpc>
            </a:pPr>
            <a:r>
              <a:rPr lang="en-US" sz="2800" b="1" dirty="0">
                <a:latin typeface="Calibir"/>
              </a:rPr>
              <a:t>Question 20</a:t>
            </a:r>
          </a:p>
          <a:p>
            <a:pPr>
              <a:lnSpc>
                <a:spcPct val="150000"/>
              </a:lnSpc>
            </a:pPr>
            <a:r>
              <a:rPr lang="en-US" sz="2800" b="1" dirty="0">
                <a:latin typeface="Calibir"/>
              </a:rPr>
              <a:t>Which class is added to increase right margin next to the image?</a:t>
            </a:r>
            <a:endParaRPr lang="en-US" sz="2800" dirty="0">
              <a:latin typeface="Calibir"/>
            </a:endParaRPr>
          </a:p>
          <a:p>
            <a:pPr>
              <a:lnSpc>
                <a:spcPct val="150000"/>
              </a:lnSpc>
            </a:pPr>
            <a:r>
              <a:rPr lang="en-US" sz="2800" dirty="0">
                <a:latin typeface="Calibir"/>
              </a:rPr>
              <a:t>A. </a:t>
            </a:r>
            <a:r>
              <a:rPr lang="en-US" sz="2800" dirty="0" err="1">
                <a:latin typeface="Calibir"/>
              </a:rPr>
              <a:t>addrightmargin</a:t>
            </a:r>
            <a:br>
              <a:rPr lang="en-US" sz="2800" dirty="0">
                <a:latin typeface="Calibir"/>
              </a:rPr>
            </a:br>
            <a:r>
              <a:rPr lang="en-US" sz="2800" dirty="0">
                <a:latin typeface="Calibir"/>
              </a:rPr>
              <a:t>B. </a:t>
            </a:r>
            <a:r>
              <a:rPr lang="en-US" sz="2800" dirty="0" err="1">
                <a:latin typeface="Calibir"/>
              </a:rPr>
              <a:t>floatright</a:t>
            </a:r>
            <a:br>
              <a:rPr lang="en-US" sz="2800" dirty="0">
                <a:latin typeface="Calibir"/>
              </a:rPr>
            </a:br>
            <a:r>
              <a:rPr lang="en-US" sz="2800" dirty="0">
                <a:latin typeface="Calibir"/>
              </a:rPr>
              <a:t>C. </a:t>
            </a:r>
            <a:r>
              <a:rPr lang="en-US" sz="2800" dirty="0" err="1">
                <a:latin typeface="Calibir"/>
              </a:rPr>
              <a:t>mainmargin</a:t>
            </a:r>
            <a:br>
              <a:rPr lang="en-US" sz="2800" dirty="0">
                <a:latin typeface="Calibir"/>
              </a:rPr>
            </a:br>
            <a:r>
              <a:rPr lang="en-US" sz="2800" dirty="0">
                <a:latin typeface="Calibir"/>
              </a:rPr>
              <a:t>D. </a:t>
            </a:r>
            <a:r>
              <a:rPr lang="en-US" sz="2800" dirty="0" err="1">
                <a:latin typeface="Calibir"/>
              </a:rPr>
              <a:t>indentcontent</a:t>
            </a:r>
            <a:endParaRPr lang="en-US" sz="2800" dirty="0">
              <a:latin typeface="Calibir"/>
            </a:endParaRPr>
          </a:p>
        </p:txBody>
      </p:sp>
      <p:sp>
        <p:nvSpPr>
          <p:cNvPr id="8" name="TextBox 7">
            <a:extLst>
              <a:ext uri="{FF2B5EF4-FFF2-40B4-BE49-F238E27FC236}">
                <a16:creationId xmlns:a16="http://schemas.microsoft.com/office/drawing/2014/main" id="{46C9E401-3B4C-5C5E-8D8E-0D0ECAD7BEA3}"/>
              </a:ext>
            </a:extLst>
          </p:cNvPr>
          <p:cNvSpPr txBox="1"/>
          <p:nvPr/>
        </p:nvSpPr>
        <p:spPr>
          <a:xfrm>
            <a:off x="4786313" y="4827360"/>
            <a:ext cx="6563319" cy="1321772"/>
          </a:xfrm>
          <a:prstGeom prst="rect">
            <a:avLst/>
          </a:prstGeom>
          <a:noFill/>
        </p:spPr>
        <p:txBody>
          <a:bodyPr wrap="square">
            <a:spAutoFit/>
          </a:bodyPr>
          <a:lstStyle/>
          <a:p>
            <a:pPr>
              <a:lnSpc>
                <a:spcPct val="150000"/>
              </a:lnSpc>
            </a:pPr>
            <a:r>
              <a:rPr lang="en-US" sz="2800" dirty="0">
                <a:latin typeface="Calibir"/>
              </a:rPr>
              <a:t>This class adds extra spacing to the right side of the image.</a:t>
            </a:r>
          </a:p>
        </p:txBody>
      </p:sp>
      <p:sp>
        <p:nvSpPr>
          <p:cNvPr id="9" name="Rectangle: Rounded Corners 8">
            <a:extLst>
              <a:ext uri="{FF2B5EF4-FFF2-40B4-BE49-F238E27FC236}">
                <a16:creationId xmlns:a16="http://schemas.microsoft.com/office/drawing/2014/main" id="{D3E3AC04-6D9E-01C3-4913-C5A809FE157A}"/>
              </a:ext>
            </a:extLst>
          </p:cNvPr>
          <p:cNvSpPr/>
          <p:nvPr/>
        </p:nvSpPr>
        <p:spPr>
          <a:xfrm>
            <a:off x="0" y="2063435"/>
            <a:ext cx="7886700" cy="514350"/>
          </a:xfrm>
          <a:prstGeom prst="round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Tree>
    <p:extLst>
      <p:ext uri="{BB962C8B-B14F-4D97-AF65-F5344CB8AC3E}">
        <p14:creationId xmlns:p14="http://schemas.microsoft.com/office/powerpoint/2010/main" val="42586421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1000"/>
                                        <p:tgtEl>
                                          <p:spTgt spid="9"/>
                                        </p:tgtEl>
                                      </p:cBhvr>
                                    </p:animEffect>
                                    <p:anim calcmode="lin" valueType="num">
                                      <p:cBhvr>
                                        <p:cTn id="8" dur="1000" fill="hold"/>
                                        <p:tgtEl>
                                          <p:spTgt spid="9"/>
                                        </p:tgtEl>
                                        <p:attrNameLst>
                                          <p:attrName>ppt_x</p:attrName>
                                        </p:attrNameLst>
                                      </p:cBhvr>
                                      <p:tavLst>
                                        <p:tav tm="0">
                                          <p:val>
                                            <p:strVal val="#ppt_x"/>
                                          </p:val>
                                        </p:tav>
                                        <p:tav tm="100000">
                                          <p:val>
                                            <p:strVal val="#ppt_x"/>
                                          </p:val>
                                        </p:tav>
                                      </p:tavLst>
                                    </p:anim>
                                    <p:anim calcmode="lin" valueType="num">
                                      <p:cBhvr>
                                        <p:cTn id="9" dur="1000" fill="hold"/>
                                        <p:tgtEl>
                                          <p:spTgt spid="9"/>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1000"/>
                                        <p:tgtEl>
                                          <p:spTgt spid="8"/>
                                        </p:tgtEl>
                                      </p:cBhvr>
                                    </p:animEffect>
                                    <p:anim calcmode="lin" valueType="num">
                                      <p:cBhvr>
                                        <p:cTn id="13" dur="1000" fill="hold"/>
                                        <p:tgtEl>
                                          <p:spTgt spid="8"/>
                                        </p:tgtEl>
                                        <p:attrNameLst>
                                          <p:attrName>ppt_x</p:attrName>
                                        </p:attrNameLst>
                                      </p:cBhvr>
                                      <p:tavLst>
                                        <p:tav tm="0">
                                          <p:val>
                                            <p:strVal val="#ppt_x"/>
                                          </p:val>
                                        </p:tav>
                                        <p:tav tm="100000">
                                          <p:val>
                                            <p:strVal val="#ppt_x"/>
                                          </p:val>
                                        </p:tav>
                                      </p:tavLst>
                                    </p:anim>
                                    <p:anim calcmode="lin" valueType="num">
                                      <p:cBhvr>
                                        <p:cTn id="14"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animBg="1"/>
    </p:bld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8A7A3B-617F-ADF9-99F7-4235496C3149}"/>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8C439FCB-D5DD-EC7A-24A3-6A16DBB39751}"/>
              </a:ext>
            </a:extLst>
          </p:cNvPr>
          <p:cNvSpPr txBox="1"/>
          <p:nvPr/>
        </p:nvSpPr>
        <p:spPr>
          <a:xfrm>
            <a:off x="0" y="0"/>
            <a:ext cx="8976732" cy="584775"/>
          </a:xfrm>
          <a:prstGeom prst="rect">
            <a:avLst/>
          </a:prstGeom>
          <a:noFill/>
        </p:spPr>
        <p:txBody>
          <a:bodyPr wrap="square" rtlCol="0">
            <a:spAutoFit/>
          </a:bodyPr>
          <a:lstStyle/>
          <a:p>
            <a:pPr lvl="0">
              <a:defRPr/>
            </a:pPr>
            <a:r>
              <a:rPr lang="en-US" sz="3200" b="1" dirty="0">
                <a:solidFill>
                  <a:prstClr val="black"/>
                </a:solidFill>
                <a:latin typeface="Calibri" panose="020F0502020204030204" pitchFamily="34" charset="0"/>
                <a:cs typeface="Calibri" panose="020F0502020204030204" pitchFamily="34" charset="0"/>
              </a:rPr>
              <a:t>Lab 2 Test (Week 4 &amp; 5)</a:t>
            </a:r>
            <a:endParaRPr kumimoji="0" lang="en-US" sz="32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sp>
        <p:nvSpPr>
          <p:cNvPr id="5" name="TextBox 4">
            <a:extLst>
              <a:ext uri="{FF2B5EF4-FFF2-40B4-BE49-F238E27FC236}">
                <a16:creationId xmlns:a16="http://schemas.microsoft.com/office/drawing/2014/main" id="{53B068B9-2667-68BC-58C7-7636F1B8BA62}"/>
              </a:ext>
            </a:extLst>
          </p:cNvPr>
          <p:cNvSpPr txBox="1"/>
          <p:nvPr/>
        </p:nvSpPr>
        <p:spPr>
          <a:xfrm>
            <a:off x="0" y="642938"/>
            <a:ext cx="12192000" cy="3903504"/>
          </a:xfrm>
          <a:prstGeom prst="rect">
            <a:avLst/>
          </a:prstGeom>
          <a:noFill/>
        </p:spPr>
        <p:txBody>
          <a:bodyPr wrap="square">
            <a:spAutoFit/>
          </a:bodyPr>
          <a:lstStyle/>
          <a:p>
            <a:pPr>
              <a:lnSpc>
                <a:spcPct val="150000"/>
              </a:lnSpc>
            </a:pPr>
            <a:r>
              <a:rPr lang="en-US" sz="2800" b="1" dirty="0">
                <a:latin typeface="Calibir"/>
              </a:rPr>
              <a:t>Question 21</a:t>
            </a:r>
          </a:p>
          <a:p>
            <a:pPr>
              <a:lnSpc>
                <a:spcPct val="150000"/>
              </a:lnSpc>
            </a:pPr>
            <a:r>
              <a:rPr lang="en-US" sz="2800" b="1" dirty="0">
                <a:latin typeface="Calibir"/>
              </a:rPr>
              <a:t>What is the embedded style added to the in Project 2 used for?</a:t>
            </a:r>
            <a:endParaRPr lang="en-US" sz="2800" dirty="0">
              <a:latin typeface="Calibir"/>
            </a:endParaRPr>
          </a:p>
          <a:p>
            <a:pPr>
              <a:lnSpc>
                <a:spcPct val="150000"/>
              </a:lnSpc>
            </a:pPr>
            <a:r>
              <a:rPr lang="en-US" sz="2800" dirty="0">
                <a:latin typeface="Calibir"/>
              </a:rPr>
              <a:t>A. Adding a rounded border to #main</a:t>
            </a:r>
            <a:br>
              <a:rPr lang="en-US" sz="2800" dirty="0">
                <a:latin typeface="Calibir"/>
              </a:rPr>
            </a:br>
            <a:r>
              <a:rPr lang="en-US" sz="2800" dirty="0">
                <a:latin typeface="Calibir"/>
              </a:rPr>
              <a:t>B. Adding a drop shadow to #main</a:t>
            </a:r>
            <a:br>
              <a:rPr lang="en-US" sz="2800" dirty="0">
                <a:latin typeface="Calibir"/>
              </a:rPr>
            </a:br>
            <a:r>
              <a:rPr lang="en-US" sz="2800" dirty="0">
                <a:latin typeface="Calibir"/>
              </a:rPr>
              <a:t>C. Changing the font color</a:t>
            </a:r>
            <a:br>
              <a:rPr lang="en-US" sz="2800" dirty="0">
                <a:latin typeface="Calibir"/>
              </a:rPr>
            </a:br>
            <a:r>
              <a:rPr lang="en-US" sz="2800" dirty="0">
                <a:latin typeface="Calibir"/>
              </a:rPr>
              <a:t>D. Centering text</a:t>
            </a:r>
          </a:p>
        </p:txBody>
      </p:sp>
      <p:sp>
        <p:nvSpPr>
          <p:cNvPr id="8" name="TextBox 7">
            <a:extLst>
              <a:ext uri="{FF2B5EF4-FFF2-40B4-BE49-F238E27FC236}">
                <a16:creationId xmlns:a16="http://schemas.microsoft.com/office/drawing/2014/main" id="{32B18D73-6195-5575-D6FD-BB5F8E784C2D}"/>
              </a:ext>
            </a:extLst>
          </p:cNvPr>
          <p:cNvSpPr txBox="1"/>
          <p:nvPr/>
        </p:nvSpPr>
        <p:spPr>
          <a:xfrm>
            <a:off x="4786313" y="4827360"/>
            <a:ext cx="6563319" cy="1321772"/>
          </a:xfrm>
          <a:prstGeom prst="rect">
            <a:avLst/>
          </a:prstGeom>
          <a:noFill/>
        </p:spPr>
        <p:txBody>
          <a:bodyPr wrap="square">
            <a:spAutoFit/>
          </a:bodyPr>
          <a:lstStyle/>
          <a:p>
            <a:pPr>
              <a:lnSpc>
                <a:spcPct val="150000"/>
              </a:lnSpc>
            </a:pPr>
            <a:r>
              <a:rPr lang="en-US" sz="2800" dirty="0">
                <a:latin typeface="Calibir"/>
              </a:rPr>
              <a:t>The embedded style gives the #main section rounded corners.</a:t>
            </a:r>
          </a:p>
        </p:txBody>
      </p:sp>
      <p:sp>
        <p:nvSpPr>
          <p:cNvPr id="9" name="Rectangle: Rounded Corners 8">
            <a:extLst>
              <a:ext uri="{FF2B5EF4-FFF2-40B4-BE49-F238E27FC236}">
                <a16:creationId xmlns:a16="http://schemas.microsoft.com/office/drawing/2014/main" id="{AAFF3D36-4C40-1022-53F6-800D75125ABD}"/>
              </a:ext>
            </a:extLst>
          </p:cNvPr>
          <p:cNvSpPr/>
          <p:nvPr/>
        </p:nvSpPr>
        <p:spPr>
          <a:xfrm>
            <a:off x="0" y="2063435"/>
            <a:ext cx="7886700" cy="514350"/>
          </a:xfrm>
          <a:prstGeom prst="round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Tree>
    <p:extLst>
      <p:ext uri="{BB962C8B-B14F-4D97-AF65-F5344CB8AC3E}">
        <p14:creationId xmlns:p14="http://schemas.microsoft.com/office/powerpoint/2010/main" val="24908762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1000"/>
                                        <p:tgtEl>
                                          <p:spTgt spid="9"/>
                                        </p:tgtEl>
                                      </p:cBhvr>
                                    </p:animEffect>
                                    <p:anim calcmode="lin" valueType="num">
                                      <p:cBhvr>
                                        <p:cTn id="8" dur="1000" fill="hold"/>
                                        <p:tgtEl>
                                          <p:spTgt spid="9"/>
                                        </p:tgtEl>
                                        <p:attrNameLst>
                                          <p:attrName>ppt_x</p:attrName>
                                        </p:attrNameLst>
                                      </p:cBhvr>
                                      <p:tavLst>
                                        <p:tav tm="0">
                                          <p:val>
                                            <p:strVal val="#ppt_x"/>
                                          </p:val>
                                        </p:tav>
                                        <p:tav tm="100000">
                                          <p:val>
                                            <p:strVal val="#ppt_x"/>
                                          </p:val>
                                        </p:tav>
                                      </p:tavLst>
                                    </p:anim>
                                    <p:anim calcmode="lin" valueType="num">
                                      <p:cBhvr>
                                        <p:cTn id="9" dur="1000" fill="hold"/>
                                        <p:tgtEl>
                                          <p:spTgt spid="9"/>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1000"/>
                                        <p:tgtEl>
                                          <p:spTgt spid="8"/>
                                        </p:tgtEl>
                                      </p:cBhvr>
                                    </p:animEffect>
                                    <p:anim calcmode="lin" valueType="num">
                                      <p:cBhvr>
                                        <p:cTn id="13" dur="1000" fill="hold"/>
                                        <p:tgtEl>
                                          <p:spTgt spid="8"/>
                                        </p:tgtEl>
                                        <p:attrNameLst>
                                          <p:attrName>ppt_x</p:attrName>
                                        </p:attrNameLst>
                                      </p:cBhvr>
                                      <p:tavLst>
                                        <p:tav tm="0">
                                          <p:val>
                                            <p:strVal val="#ppt_x"/>
                                          </p:val>
                                        </p:tav>
                                        <p:tav tm="100000">
                                          <p:val>
                                            <p:strVal val="#ppt_x"/>
                                          </p:val>
                                        </p:tav>
                                      </p:tavLst>
                                    </p:anim>
                                    <p:anim calcmode="lin" valueType="num">
                                      <p:cBhvr>
                                        <p:cTn id="14"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animBg="1"/>
    </p:bld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090D0D-6E2F-B96E-1B73-F3BB38FCF0A5}"/>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58270064-98E5-1BEB-4470-C7AD6AB4D647}"/>
              </a:ext>
            </a:extLst>
          </p:cNvPr>
          <p:cNvSpPr txBox="1"/>
          <p:nvPr/>
        </p:nvSpPr>
        <p:spPr>
          <a:xfrm>
            <a:off x="0" y="0"/>
            <a:ext cx="8976732" cy="584775"/>
          </a:xfrm>
          <a:prstGeom prst="rect">
            <a:avLst/>
          </a:prstGeom>
          <a:noFill/>
        </p:spPr>
        <p:txBody>
          <a:bodyPr wrap="square" rtlCol="0">
            <a:spAutoFit/>
          </a:bodyPr>
          <a:lstStyle/>
          <a:p>
            <a:pPr lvl="0">
              <a:defRPr/>
            </a:pPr>
            <a:r>
              <a:rPr lang="en-US" sz="3200" b="1" dirty="0">
                <a:solidFill>
                  <a:prstClr val="black"/>
                </a:solidFill>
                <a:latin typeface="Calibri" panose="020F0502020204030204" pitchFamily="34" charset="0"/>
                <a:cs typeface="Calibri" panose="020F0502020204030204" pitchFamily="34" charset="0"/>
              </a:rPr>
              <a:t>Lab 2 Test (Week 4 &amp; 5)</a:t>
            </a:r>
            <a:endParaRPr kumimoji="0" lang="en-US" sz="32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sp>
        <p:nvSpPr>
          <p:cNvPr id="5" name="TextBox 4">
            <a:extLst>
              <a:ext uri="{FF2B5EF4-FFF2-40B4-BE49-F238E27FC236}">
                <a16:creationId xmlns:a16="http://schemas.microsoft.com/office/drawing/2014/main" id="{5EEAD8DB-4796-74E9-2E8A-08661FF2206B}"/>
              </a:ext>
            </a:extLst>
          </p:cNvPr>
          <p:cNvSpPr txBox="1"/>
          <p:nvPr/>
        </p:nvSpPr>
        <p:spPr>
          <a:xfrm>
            <a:off x="0" y="642938"/>
            <a:ext cx="12192000" cy="3903504"/>
          </a:xfrm>
          <a:prstGeom prst="rect">
            <a:avLst/>
          </a:prstGeom>
          <a:noFill/>
        </p:spPr>
        <p:txBody>
          <a:bodyPr wrap="square">
            <a:spAutoFit/>
          </a:bodyPr>
          <a:lstStyle/>
          <a:p>
            <a:pPr>
              <a:lnSpc>
                <a:spcPct val="150000"/>
              </a:lnSpc>
            </a:pPr>
            <a:r>
              <a:rPr lang="en-US" sz="2800" b="1" dirty="0">
                <a:latin typeface="Calibir"/>
              </a:rPr>
              <a:t>Question 22</a:t>
            </a:r>
          </a:p>
          <a:p>
            <a:pPr>
              <a:lnSpc>
                <a:spcPct val="150000"/>
              </a:lnSpc>
            </a:pPr>
            <a:r>
              <a:rPr lang="en-US" sz="2800" b="1" dirty="0">
                <a:latin typeface="Calibir"/>
              </a:rPr>
              <a:t>Which tags receive inline styles in step 15 of Challenge 1?</a:t>
            </a:r>
            <a:endParaRPr lang="en-US" sz="2800" dirty="0">
              <a:latin typeface="Calibir"/>
            </a:endParaRPr>
          </a:p>
          <a:p>
            <a:pPr>
              <a:lnSpc>
                <a:spcPct val="150000"/>
              </a:lnSpc>
            </a:pPr>
            <a:r>
              <a:rPr lang="en-US" sz="2800" dirty="0">
                <a:latin typeface="Calibir"/>
              </a:rPr>
              <a:t>A. &lt;p&gt;</a:t>
            </a:r>
            <a:br>
              <a:rPr lang="en-US" sz="2800" dirty="0">
                <a:latin typeface="Calibir"/>
              </a:rPr>
            </a:br>
            <a:r>
              <a:rPr lang="en-US" sz="2800" dirty="0">
                <a:latin typeface="Calibir"/>
              </a:rPr>
              <a:t>B. &lt;div&gt;</a:t>
            </a:r>
            <a:br>
              <a:rPr lang="en-US" sz="2800" dirty="0">
                <a:latin typeface="Calibir"/>
              </a:rPr>
            </a:br>
            <a:r>
              <a:rPr lang="en-US" sz="2800" dirty="0">
                <a:latin typeface="Calibir"/>
              </a:rPr>
              <a:t>C. &lt;span&gt;</a:t>
            </a:r>
            <a:br>
              <a:rPr lang="en-US" sz="2800" dirty="0">
                <a:latin typeface="Calibir"/>
              </a:rPr>
            </a:br>
            <a:r>
              <a:rPr lang="en-US" sz="2800" dirty="0">
                <a:latin typeface="Calibir"/>
              </a:rPr>
              <a:t>D. &lt;</a:t>
            </a:r>
            <a:r>
              <a:rPr lang="en-US" sz="2800" dirty="0" err="1">
                <a:latin typeface="Calibir"/>
              </a:rPr>
              <a:t>url</a:t>
            </a:r>
            <a:r>
              <a:rPr lang="en-US" sz="2800" dirty="0">
                <a:latin typeface="Calibir"/>
              </a:rPr>
              <a:t>&gt;</a:t>
            </a:r>
          </a:p>
        </p:txBody>
      </p:sp>
      <p:sp>
        <p:nvSpPr>
          <p:cNvPr id="8" name="TextBox 7">
            <a:extLst>
              <a:ext uri="{FF2B5EF4-FFF2-40B4-BE49-F238E27FC236}">
                <a16:creationId xmlns:a16="http://schemas.microsoft.com/office/drawing/2014/main" id="{0E7ADC01-51FA-6009-E55A-E391BA13AEDB}"/>
              </a:ext>
            </a:extLst>
          </p:cNvPr>
          <p:cNvSpPr txBox="1"/>
          <p:nvPr/>
        </p:nvSpPr>
        <p:spPr>
          <a:xfrm>
            <a:off x="4786313" y="4827360"/>
            <a:ext cx="6563319" cy="1321772"/>
          </a:xfrm>
          <a:prstGeom prst="rect">
            <a:avLst/>
          </a:prstGeom>
          <a:noFill/>
        </p:spPr>
        <p:txBody>
          <a:bodyPr wrap="square">
            <a:spAutoFit/>
          </a:bodyPr>
          <a:lstStyle/>
          <a:p>
            <a:pPr>
              <a:lnSpc>
                <a:spcPct val="150000"/>
              </a:lnSpc>
            </a:pPr>
            <a:r>
              <a:rPr lang="en-US" sz="2800" dirty="0">
                <a:latin typeface="Calibir"/>
              </a:rPr>
              <a:t>The &lt;span&gt; tag is used for applying styles to small sections of text.</a:t>
            </a:r>
          </a:p>
        </p:txBody>
      </p:sp>
      <p:sp>
        <p:nvSpPr>
          <p:cNvPr id="9" name="Rectangle: Rounded Corners 8">
            <a:extLst>
              <a:ext uri="{FF2B5EF4-FFF2-40B4-BE49-F238E27FC236}">
                <a16:creationId xmlns:a16="http://schemas.microsoft.com/office/drawing/2014/main" id="{5B67FBA5-814B-075C-32FF-9E494717BB13}"/>
              </a:ext>
            </a:extLst>
          </p:cNvPr>
          <p:cNvSpPr/>
          <p:nvPr/>
        </p:nvSpPr>
        <p:spPr>
          <a:xfrm>
            <a:off x="0" y="3335023"/>
            <a:ext cx="7886700" cy="514350"/>
          </a:xfrm>
          <a:prstGeom prst="round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Tree>
    <p:extLst>
      <p:ext uri="{BB962C8B-B14F-4D97-AF65-F5344CB8AC3E}">
        <p14:creationId xmlns:p14="http://schemas.microsoft.com/office/powerpoint/2010/main" val="18093610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1000"/>
                                        <p:tgtEl>
                                          <p:spTgt spid="9"/>
                                        </p:tgtEl>
                                      </p:cBhvr>
                                    </p:animEffect>
                                    <p:anim calcmode="lin" valueType="num">
                                      <p:cBhvr>
                                        <p:cTn id="8" dur="1000" fill="hold"/>
                                        <p:tgtEl>
                                          <p:spTgt spid="9"/>
                                        </p:tgtEl>
                                        <p:attrNameLst>
                                          <p:attrName>ppt_x</p:attrName>
                                        </p:attrNameLst>
                                      </p:cBhvr>
                                      <p:tavLst>
                                        <p:tav tm="0">
                                          <p:val>
                                            <p:strVal val="#ppt_x"/>
                                          </p:val>
                                        </p:tav>
                                        <p:tav tm="100000">
                                          <p:val>
                                            <p:strVal val="#ppt_x"/>
                                          </p:val>
                                        </p:tav>
                                      </p:tavLst>
                                    </p:anim>
                                    <p:anim calcmode="lin" valueType="num">
                                      <p:cBhvr>
                                        <p:cTn id="9" dur="1000" fill="hold"/>
                                        <p:tgtEl>
                                          <p:spTgt spid="9"/>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1000"/>
                                        <p:tgtEl>
                                          <p:spTgt spid="8"/>
                                        </p:tgtEl>
                                      </p:cBhvr>
                                    </p:animEffect>
                                    <p:anim calcmode="lin" valueType="num">
                                      <p:cBhvr>
                                        <p:cTn id="13" dur="1000" fill="hold"/>
                                        <p:tgtEl>
                                          <p:spTgt spid="8"/>
                                        </p:tgtEl>
                                        <p:attrNameLst>
                                          <p:attrName>ppt_x</p:attrName>
                                        </p:attrNameLst>
                                      </p:cBhvr>
                                      <p:tavLst>
                                        <p:tav tm="0">
                                          <p:val>
                                            <p:strVal val="#ppt_x"/>
                                          </p:val>
                                        </p:tav>
                                        <p:tav tm="100000">
                                          <p:val>
                                            <p:strVal val="#ppt_x"/>
                                          </p:val>
                                        </p:tav>
                                      </p:tavLst>
                                    </p:anim>
                                    <p:anim calcmode="lin" valueType="num">
                                      <p:cBhvr>
                                        <p:cTn id="14"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animBg="1"/>
    </p:bld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6DB4DE-0AA8-0CAE-C9E0-5E1B3374F1E2}"/>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E882C5F7-AA60-BF1F-8C3D-AEC5BBD264F7}"/>
              </a:ext>
            </a:extLst>
          </p:cNvPr>
          <p:cNvSpPr txBox="1"/>
          <p:nvPr/>
        </p:nvSpPr>
        <p:spPr>
          <a:xfrm>
            <a:off x="0" y="0"/>
            <a:ext cx="8976732" cy="584775"/>
          </a:xfrm>
          <a:prstGeom prst="rect">
            <a:avLst/>
          </a:prstGeom>
          <a:noFill/>
        </p:spPr>
        <p:txBody>
          <a:bodyPr wrap="square" rtlCol="0">
            <a:spAutoFit/>
          </a:bodyPr>
          <a:lstStyle/>
          <a:p>
            <a:pPr lvl="0">
              <a:defRPr/>
            </a:pPr>
            <a:r>
              <a:rPr lang="en-US" sz="3200" b="1" dirty="0">
                <a:solidFill>
                  <a:prstClr val="black"/>
                </a:solidFill>
                <a:latin typeface="Calibri" panose="020F0502020204030204" pitchFamily="34" charset="0"/>
                <a:cs typeface="Calibri" panose="020F0502020204030204" pitchFamily="34" charset="0"/>
              </a:rPr>
              <a:t>Lab 2 Test (Week 4 &amp; 5)</a:t>
            </a:r>
            <a:endParaRPr kumimoji="0" lang="en-US" sz="32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sp>
        <p:nvSpPr>
          <p:cNvPr id="5" name="TextBox 4">
            <a:extLst>
              <a:ext uri="{FF2B5EF4-FFF2-40B4-BE49-F238E27FC236}">
                <a16:creationId xmlns:a16="http://schemas.microsoft.com/office/drawing/2014/main" id="{418FC6FD-82B4-AA25-35F3-FCAE9BCFA6D1}"/>
              </a:ext>
            </a:extLst>
          </p:cNvPr>
          <p:cNvSpPr txBox="1"/>
          <p:nvPr/>
        </p:nvSpPr>
        <p:spPr>
          <a:xfrm>
            <a:off x="0" y="642938"/>
            <a:ext cx="12192000" cy="3903504"/>
          </a:xfrm>
          <a:prstGeom prst="rect">
            <a:avLst/>
          </a:prstGeom>
          <a:noFill/>
        </p:spPr>
        <p:txBody>
          <a:bodyPr wrap="square">
            <a:spAutoFit/>
          </a:bodyPr>
          <a:lstStyle/>
          <a:p>
            <a:pPr>
              <a:lnSpc>
                <a:spcPct val="150000"/>
              </a:lnSpc>
            </a:pPr>
            <a:r>
              <a:rPr lang="en-US" sz="2800" b="1" dirty="0">
                <a:latin typeface="Calibir"/>
              </a:rPr>
              <a:t>Question 23</a:t>
            </a:r>
          </a:p>
          <a:p>
            <a:pPr>
              <a:lnSpc>
                <a:spcPct val="150000"/>
              </a:lnSpc>
            </a:pPr>
            <a:r>
              <a:rPr lang="en-US" sz="2800" b="1" dirty="0">
                <a:latin typeface="Calibir"/>
              </a:rPr>
              <a:t>Which CSS validator message indicates success?</a:t>
            </a:r>
            <a:endParaRPr lang="en-US" sz="2800" dirty="0">
              <a:latin typeface="Calibir"/>
            </a:endParaRPr>
          </a:p>
          <a:p>
            <a:pPr>
              <a:lnSpc>
                <a:spcPct val="150000"/>
              </a:lnSpc>
            </a:pPr>
            <a:r>
              <a:rPr lang="en-US" sz="2800" dirty="0">
                <a:latin typeface="Calibir"/>
              </a:rPr>
              <a:t>A. Congratulations! No Error Found.</a:t>
            </a:r>
            <a:br>
              <a:rPr lang="en-US" sz="2800" dirty="0">
                <a:latin typeface="Calibir"/>
              </a:rPr>
            </a:br>
            <a:r>
              <a:rPr lang="en-US" sz="2800" dirty="0">
                <a:latin typeface="Calibir"/>
              </a:rPr>
              <a:t>B. CSS Validated</a:t>
            </a:r>
            <a:br>
              <a:rPr lang="en-US" sz="2800" dirty="0">
                <a:latin typeface="Calibir"/>
              </a:rPr>
            </a:br>
            <a:r>
              <a:rPr lang="en-US" sz="2800" dirty="0">
                <a:latin typeface="Calibir"/>
              </a:rPr>
              <a:t>C. Checked and approved</a:t>
            </a:r>
            <a:br>
              <a:rPr lang="en-US" sz="2800" dirty="0">
                <a:latin typeface="Calibir"/>
              </a:rPr>
            </a:br>
            <a:r>
              <a:rPr lang="en-US" sz="2800" dirty="0">
                <a:latin typeface="Calibir"/>
              </a:rPr>
              <a:t>D. Success: 0 warnings</a:t>
            </a:r>
          </a:p>
        </p:txBody>
      </p:sp>
      <p:sp>
        <p:nvSpPr>
          <p:cNvPr id="8" name="TextBox 7">
            <a:extLst>
              <a:ext uri="{FF2B5EF4-FFF2-40B4-BE49-F238E27FC236}">
                <a16:creationId xmlns:a16="http://schemas.microsoft.com/office/drawing/2014/main" id="{29393E32-0CA7-C1AF-EAE2-0440A48D7B46}"/>
              </a:ext>
            </a:extLst>
          </p:cNvPr>
          <p:cNvSpPr txBox="1"/>
          <p:nvPr/>
        </p:nvSpPr>
        <p:spPr>
          <a:xfrm>
            <a:off x="4786313" y="4827360"/>
            <a:ext cx="6563319" cy="1321772"/>
          </a:xfrm>
          <a:prstGeom prst="rect">
            <a:avLst/>
          </a:prstGeom>
          <a:noFill/>
        </p:spPr>
        <p:txBody>
          <a:bodyPr wrap="square">
            <a:spAutoFit/>
          </a:bodyPr>
          <a:lstStyle/>
          <a:p>
            <a:pPr>
              <a:lnSpc>
                <a:spcPct val="150000"/>
              </a:lnSpc>
            </a:pPr>
            <a:r>
              <a:rPr lang="en-US" sz="2800" dirty="0">
                <a:latin typeface="Calibir"/>
              </a:rPr>
              <a:t>This message means the CSS code has no validation errors.</a:t>
            </a:r>
          </a:p>
        </p:txBody>
      </p:sp>
      <p:sp>
        <p:nvSpPr>
          <p:cNvPr id="9" name="Rectangle: Rounded Corners 8">
            <a:extLst>
              <a:ext uri="{FF2B5EF4-FFF2-40B4-BE49-F238E27FC236}">
                <a16:creationId xmlns:a16="http://schemas.microsoft.com/office/drawing/2014/main" id="{FFCC5E09-3581-D1B6-F0CF-2E89082A2144}"/>
              </a:ext>
            </a:extLst>
          </p:cNvPr>
          <p:cNvSpPr/>
          <p:nvPr/>
        </p:nvSpPr>
        <p:spPr>
          <a:xfrm>
            <a:off x="0" y="2080340"/>
            <a:ext cx="7886700" cy="514350"/>
          </a:xfrm>
          <a:prstGeom prst="round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Tree>
    <p:extLst>
      <p:ext uri="{BB962C8B-B14F-4D97-AF65-F5344CB8AC3E}">
        <p14:creationId xmlns:p14="http://schemas.microsoft.com/office/powerpoint/2010/main" val="831892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1000"/>
                                        <p:tgtEl>
                                          <p:spTgt spid="9"/>
                                        </p:tgtEl>
                                      </p:cBhvr>
                                    </p:animEffect>
                                    <p:anim calcmode="lin" valueType="num">
                                      <p:cBhvr>
                                        <p:cTn id="8" dur="1000" fill="hold"/>
                                        <p:tgtEl>
                                          <p:spTgt spid="9"/>
                                        </p:tgtEl>
                                        <p:attrNameLst>
                                          <p:attrName>ppt_x</p:attrName>
                                        </p:attrNameLst>
                                      </p:cBhvr>
                                      <p:tavLst>
                                        <p:tav tm="0">
                                          <p:val>
                                            <p:strVal val="#ppt_x"/>
                                          </p:val>
                                        </p:tav>
                                        <p:tav tm="100000">
                                          <p:val>
                                            <p:strVal val="#ppt_x"/>
                                          </p:val>
                                        </p:tav>
                                      </p:tavLst>
                                    </p:anim>
                                    <p:anim calcmode="lin" valueType="num">
                                      <p:cBhvr>
                                        <p:cTn id="9" dur="1000" fill="hold"/>
                                        <p:tgtEl>
                                          <p:spTgt spid="9"/>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1000"/>
                                        <p:tgtEl>
                                          <p:spTgt spid="8"/>
                                        </p:tgtEl>
                                      </p:cBhvr>
                                    </p:animEffect>
                                    <p:anim calcmode="lin" valueType="num">
                                      <p:cBhvr>
                                        <p:cTn id="13" dur="1000" fill="hold"/>
                                        <p:tgtEl>
                                          <p:spTgt spid="8"/>
                                        </p:tgtEl>
                                        <p:attrNameLst>
                                          <p:attrName>ppt_x</p:attrName>
                                        </p:attrNameLst>
                                      </p:cBhvr>
                                      <p:tavLst>
                                        <p:tav tm="0">
                                          <p:val>
                                            <p:strVal val="#ppt_x"/>
                                          </p:val>
                                        </p:tav>
                                        <p:tav tm="100000">
                                          <p:val>
                                            <p:strVal val="#ppt_x"/>
                                          </p:val>
                                        </p:tav>
                                      </p:tavLst>
                                    </p:anim>
                                    <p:anim calcmode="lin" valueType="num">
                                      <p:cBhvr>
                                        <p:cTn id="14"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animBg="1"/>
    </p:bld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D5B376-CC2C-F9C7-6146-E093BED9C6A2}"/>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F3737479-072C-7626-E710-601971501859}"/>
              </a:ext>
            </a:extLst>
          </p:cNvPr>
          <p:cNvSpPr txBox="1"/>
          <p:nvPr/>
        </p:nvSpPr>
        <p:spPr>
          <a:xfrm>
            <a:off x="0" y="0"/>
            <a:ext cx="8976732" cy="584775"/>
          </a:xfrm>
          <a:prstGeom prst="rect">
            <a:avLst/>
          </a:prstGeom>
          <a:noFill/>
        </p:spPr>
        <p:txBody>
          <a:bodyPr wrap="square" rtlCol="0">
            <a:spAutoFit/>
          </a:bodyPr>
          <a:lstStyle/>
          <a:p>
            <a:pPr lvl="0">
              <a:defRPr/>
            </a:pPr>
            <a:r>
              <a:rPr lang="en-US" sz="3200" b="1" dirty="0">
                <a:solidFill>
                  <a:prstClr val="black"/>
                </a:solidFill>
                <a:latin typeface="Calibri" panose="020F0502020204030204" pitchFamily="34" charset="0"/>
                <a:cs typeface="Calibri" panose="020F0502020204030204" pitchFamily="34" charset="0"/>
              </a:rPr>
              <a:t>Lab 2 Test (Week 4 &amp; 5)</a:t>
            </a:r>
            <a:endParaRPr kumimoji="0" lang="en-US" sz="32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sp>
        <p:nvSpPr>
          <p:cNvPr id="5" name="TextBox 4">
            <a:extLst>
              <a:ext uri="{FF2B5EF4-FFF2-40B4-BE49-F238E27FC236}">
                <a16:creationId xmlns:a16="http://schemas.microsoft.com/office/drawing/2014/main" id="{8843C085-A6D8-E307-F715-8B545313FA15}"/>
              </a:ext>
            </a:extLst>
          </p:cNvPr>
          <p:cNvSpPr txBox="1"/>
          <p:nvPr/>
        </p:nvSpPr>
        <p:spPr>
          <a:xfrm>
            <a:off x="0" y="642938"/>
            <a:ext cx="12192000" cy="3903504"/>
          </a:xfrm>
          <a:prstGeom prst="rect">
            <a:avLst/>
          </a:prstGeom>
          <a:noFill/>
        </p:spPr>
        <p:txBody>
          <a:bodyPr wrap="square">
            <a:spAutoFit/>
          </a:bodyPr>
          <a:lstStyle/>
          <a:p>
            <a:pPr>
              <a:lnSpc>
                <a:spcPct val="150000"/>
              </a:lnSpc>
            </a:pPr>
            <a:r>
              <a:rPr lang="en-US" sz="2800" b="1" dirty="0">
                <a:latin typeface="Calibir"/>
              </a:rPr>
              <a:t>Question 24</a:t>
            </a:r>
          </a:p>
          <a:p>
            <a:pPr>
              <a:lnSpc>
                <a:spcPct val="150000"/>
              </a:lnSpc>
            </a:pPr>
            <a:r>
              <a:rPr lang="en-US" sz="2800" b="1" dirty="0">
                <a:latin typeface="Calibir"/>
              </a:rPr>
              <a:t>In Challenge 2, what is the name of the required external stylesheet?</a:t>
            </a:r>
            <a:endParaRPr lang="en-US" sz="2800" dirty="0">
              <a:latin typeface="Calibir"/>
            </a:endParaRPr>
          </a:p>
          <a:p>
            <a:pPr>
              <a:lnSpc>
                <a:spcPct val="150000"/>
              </a:lnSpc>
            </a:pPr>
            <a:r>
              <a:rPr lang="en-US" sz="2800" dirty="0">
                <a:latin typeface="Calibir"/>
              </a:rPr>
              <a:t>A. styles04.css</a:t>
            </a:r>
            <a:br>
              <a:rPr lang="en-US" sz="2800" dirty="0">
                <a:latin typeface="Calibir"/>
              </a:rPr>
            </a:br>
            <a:r>
              <a:rPr lang="en-US" sz="2800" dirty="0">
                <a:latin typeface="Calibir"/>
              </a:rPr>
              <a:t>B. farmerstyles04.css </a:t>
            </a:r>
          </a:p>
          <a:p>
            <a:pPr>
              <a:lnSpc>
                <a:spcPct val="150000"/>
              </a:lnSpc>
            </a:pPr>
            <a:r>
              <a:rPr lang="en-US" sz="2800" dirty="0">
                <a:latin typeface="Calibir"/>
              </a:rPr>
              <a:t>C. cityfarm.css</a:t>
            </a:r>
            <a:br>
              <a:rPr lang="en-US" sz="2800" dirty="0">
                <a:latin typeface="Calibir"/>
              </a:rPr>
            </a:br>
            <a:r>
              <a:rPr lang="en-US" sz="2800" dirty="0">
                <a:latin typeface="Calibir"/>
              </a:rPr>
              <a:t>D. farmer.css</a:t>
            </a:r>
          </a:p>
        </p:txBody>
      </p:sp>
      <p:sp>
        <p:nvSpPr>
          <p:cNvPr id="8" name="TextBox 7">
            <a:extLst>
              <a:ext uri="{FF2B5EF4-FFF2-40B4-BE49-F238E27FC236}">
                <a16:creationId xmlns:a16="http://schemas.microsoft.com/office/drawing/2014/main" id="{5C943F5D-D083-0A72-E408-75BE2717DF31}"/>
              </a:ext>
            </a:extLst>
          </p:cNvPr>
          <p:cNvSpPr txBox="1"/>
          <p:nvPr/>
        </p:nvSpPr>
        <p:spPr>
          <a:xfrm>
            <a:off x="4786313" y="4827360"/>
            <a:ext cx="6563319" cy="1321772"/>
          </a:xfrm>
          <a:prstGeom prst="rect">
            <a:avLst/>
          </a:prstGeom>
          <a:noFill/>
        </p:spPr>
        <p:txBody>
          <a:bodyPr wrap="square">
            <a:spAutoFit/>
          </a:bodyPr>
          <a:lstStyle/>
          <a:p>
            <a:pPr>
              <a:lnSpc>
                <a:spcPct val="150000"/>
              </a:lnSpc>
            </a:pPr>
            <a:r>
              <a:rPr lang="en-US" sz="2800" dirty="0">
                <a:latin typeface="Calibir"/>
              </a:rPr>
              <a:t>This stylesheet file contains the CSS formatting rules for Challenge 2.</a:t>
            </a:r>
          </a:p>
        </p:txBody>
      </p:sp>
      <p:sp>
        <p:nvSpPr>
          <p:cNvPr id="9" name="Rectangle: Rounded Corners 8">
            <a:extLst>
              <a:ext uri="{FF2B5EF4-FFF2-40B4-BE49-F238E27FC236}">
                <a16:creationId xmlns:a16="http://schemas.microsoft.com/office/drawing/2014/main" id="{357A468C-8A6F-EE3D-61D5-36F7BDE2AA70}"/>
              </a:ext>
            </a:extLst>
          </p:cNvPr>
          <p:cNvSpPr/>
          <p:nvPr/>
        </p:nvSpPr>
        <p:spPr>
          <a:xfrm>
            <a:off x="0" y="2701847"/>
            <a:ext cx="7886700" cy="514350"/>
          </a:xfrm>
          <a:prstGeom prst="round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Tree>
    <p:extLst>
      <p:ext uri="{BB962C8B-B14F-4D97-AF65-F5344CB8AC3E}">
        <p14:creationId xmlns:p14="http://schemas.microsoft.com/office/powerpoint/2010/main" val="40939437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1000"/>
                                        <p:tgtEl>
                                          <p:spTgt spid="9"/>
                                        </p:tgtEl>
                                      </p:cBhvr>
                                    </p:animEffect>
                                    <p:anim calcmode="lin" valueType="num">
                                      <p:cBhvr>
                                        <p:cTn id="8" dur="1000" fill="hold"/>
                                        <p:tgtEl>
                                          <p:spTgt spid="9"/>
                                        </p:tgtEl>
                                        <p:attrNameLst>
                                          <p:attrName>ppt_x</p:attrName>
                                        </p:attrNameLst>
                                      </p:cBhvr>
                                      <p:tavLst>
                                        <p:tav tm="0">
                                          <p:val>
                                            <p:strVal val="#ppt_x"/>
                                          </p:val>
                                        </p:tav>
                                        <p:tav tm="100000">
                                          <p:val>
                                            <p:strVal val="#ppt_x"/>
                                          </p:val>
                                        </p:tav>
                                      </p:tavLst>
                                    </p:anim>
                                    <p:anim calcmode="lin" valueType="num">
                                      <p:cBhvr>
                                        <p:cTn id="9" dur="1000" fill="hold"/>
                                        <p:tgtEl>
                                          <p:spTgt spid="9"/>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1000"/>
                                        <p:tgtEl>
                                          <p:spTgt spid="8"/>
                                        </p:tgtEl>
                                      </p:cBhvr>
                                    </p:animEffect>
                                    <p:anim calcmode="lin" valueType="num">
                                      <p:cBhvr>
                                        <p:cTn id="13" dur="1000" fill="hold"/>
                                        <p:tgtEl>
                                          <p:spTgt spid="8"/>
                                        </p:tgtEl>
                                        <p:attrNameLst>
                                          <p:attrName>ppt_x</p:attrName>
                                        </p:attrNameLst>
                                      </p:cBhvr>
                                      <p:tavLst>
                                        <p:tav tm="0">
                                          <p:val>
                                            <p:strVal val="#ppt_x"/>
                                          </p:val>
                                        </p:tav>
                                        <p:tav tm="100000">
                                          <p:val>
                                            <p:strVal val="#ppt_x"/>
                                          </p:val>
                                        </p:tav>
                                      </p:tavLst>
                                    </p:anim>
                                    <p:anim calcmode="lin" valueType="num">
                                      <p:cBhvr>
                                        <p:cTn id="14"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animBg="1"/>
    </p:bld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B7EBCE-50E3-81AF-5D73-92070A6C6419}"/>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3B92A9D-3B64-F38A-9072-C78C495904AF}"/>
              </a:ext>
            </a:extLst>
          </p:cNvPr>
          <p:cNvSpPr txBox="1"/>
          <p:nvPr/>
        </p:nvSpPr>
        <p:spPr>
          <a:xfrm>
            <a:off x="0" y="0"/>
            <a:ext cx="8976732" cy="584775"/>
          </a:xfrm>
          <a:prstGeom prst="rect">
            <a:avLst/>
          </a:prstGeom>
          <a:noFill/>
        </p:spPr>
        <p:txBody>
          <a:bodyPr wrap="square" rtlCol="0">
            <a:spAutoFit/>
          </a:bodyPr>
          <a:lstStyle/>
          <a:p>
            <a:pPr lvl="0">
              <a:defRPr/>
            </a:pPr>
            <a:r>
              <a:rPr lang="en-US" sz="3200" b="1" dirty="0">
                <a:solidFill>
                  <a:prstClr val="black"/>
                </a:solidFill>
                <a:latin typeface="Calibri" panose="020F0502020204030204" pitchFamily="34" charset="0"/>
                <a:cs typeface="Calibri" panose="020F0502020204030204" pitchFamily="34" charset="0"/>
              </a:rPr>
              <a:t>Lab 2 Test (Week 4 &amp; 5)</a:t>
            </a:r>
            <a:endParaRPr kumimoji="0" lang="en-US" sz="32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sp>
        <p:nvSpPr>
          <p:cNvPr id="5" name="TextBox 4">
            <a:extLst>
              <a:ext uri="{FF2B5EF4-FFF2-40B4-BE49-F238E27FC236}">
                <a16:creationId xmlns:a16="http://schemas.microsoft.com/office/drawing/2014/main" id="{85BF3D3B-51F4-8F43-3105-F38B2338B915}"/>
              </a:ext>
            </a:extLst>
          </p:cNvPr>
          <p:cNvSpPr txBox="1"/>
          <p:nvPr/>
        </p:nvSpPr>
        <p:spPr>
          <a:xfrm>
            <a:off x="0" y="642938"/>
            <a:ext cx="12192000" cy="3903504"/>
          </a:xfrm>
          <a:prstGeom prst="rect">
            <a:avLst/>
          </a:prstGeom>
          <a:noFill/>
        </p:spPr>
        <p:txBody>
          <a:bodyPr wrap="square">
            <a:spAutoFit/>
          </a:bodyPr>
          <a:lstStyle/>
          <a:p>
            <a:pPr>
              <a:lnSpc>
                <a:spcPct val="150000"/>
              </a:lnSpc>
            </a:pPr>
            <a:r>
              <a:rPr lang="en-US" sz="2800" b="1" dirty="0">
                <a:latin typeface="Calibir"/>
              </a:rPr>
              <a:t>Question 25</a:t>
            </a:r>
          </a:p>
          <a:p>
            <a:pPr>
              <a:lnSpc>
                <a:spcPct val="150000"/>
              </a:lnSpc>
            </a:pPr>
            <a:r>
              <a:rPr lang="en-US" sz="2800" b="1" dirty="0">
                <a:latin typeface="Calibir"/>
              </a:rPr>
              <a:t>Why are class attributes used for </a:t>
            </a:r>
            <a:r>
              <a:rPr lang="en-US" sz="2800" b="1" dirty="0" err="1">
                <a:latin typeface="Calibir"/>
              </a:rPr>
              <a:t>floatleft</a:t>
            </a:r>
            <a:r>
              <a:rPr lang="en-US" sz="2800" b="1" dirty="0">
                <a:latin typeface="Calibir"/>
              </a:rPr>
              <a:t> and </a:t>
            </a:r>
            <a:r>
              <a:rPr lang="en-US" sz="2800" b="1" dirty="0" err="1">
                <a:latin typeface="Calibir"/>
              </a:rPr>
              <a:t>floatright</a:t>
            </a:r>
            <a:r>
              <a:rPr lang="en-US" sz="2800" b="1" dirty="0">
                <a:latin typeface="Calibir"/>
              </a:rPr>
              <a:t> instead of IDs?</a:t>
            </a:r>
            <a:endParaRPr lang="en-US" sz="2800" dirty="0">
              <a:latin typeface="Calibir"/>
            </a:endParaRPr>
          </a:p>
          <a:p>
            <a:pPr>
              <a:lnSpc>
                <a:spcPct val="150000"/>
              </a:lnSpc>
            </a:pPr>
            <a:r>
              <a:rPr lang="en-US" sz="2800" dirty="0">
                <a:latin typeface="Calibir"/>
              </a:rPr>
              <a:t>A. Classes allow reuse on multiple elements</a:t>
            </a:r>
            <a:br>
              <a:rPr lang="en-US" sz="2800" dirty="0">
                <a:latin typeface="Calibir"/>
              </a:rPr>
            </a:br>
            <a:r>
              <a:rPr lang="en-US" sz="2800" dirty="0">
                <a:latin typeface="Calibir"/>
              </a:rPr>
              <a:t>B. IDs make CSS invalid</a:t>
            </a:r>
            <a:br>
              <a:rPr lang="en-US" sz="2800" dirty="0">
                <a:latin typeface="Calibir"/>
              </a:rPr>
            </a:br>
            <a:r>
              <a:rPr lang="en-US" sz="2800" dirty="0">
                <a:latin typeface="Calibir"/>
              </a:rPr>
              <a:t>C. Classes prevent validation errors</a:t>
            </a:r>
            <a:br>
              <a:rPr lang="en-US" sz="2800" dirty="0">
                <a:latin typeface="Calibir"/>
              </a:rPr>
            </a:br>
            <a:r>
              <a:rPr lang="en-US" sz="2800" dirty="0">
                <a:latin typeface="Calibir"/>
              </a:rPr>
              <a:t>D. IDs cannot float images</a:t>
            </a:r>
          </a:p>
        </p:txBody>
      </p:sp>
      <p:sp>
        <p:nvSpPr>
          <p:cNvPr id="8" name="TextBox 7">
            <a:extLst>
              <a:ext uri="{FF2B5EF4-FFF2-40B4-BE49-F238E27FC236}">
                <a16:creationId xmlns:a16="http://schemas.microsoft.com/office/drawing/2014/main" id="{2A3976C1-5565-23B4-0854-81CEA5C38F06}"/>
              </a:ext>
            </a:extLst>
          </p:cNvPr>
          <p:cNvSpPr txBox="1"/>
          <p:nvPr/>
        </p:nvSpPr>
        <p:spPr>
          <a:xfrm>
            <a:off x="4786313" y="5170260"/>
            <a:ext cx="7405687" cy="1318181"/>
          </a:xfrm>
          <a:prstGeom prst="rect">
            <a:avLst/>
          </a:prstGeom>
          <a:noFill/>
        </p:spPr>
        <p:txBody>
          <a:bodyPr wrap="square">
            <a:spAutoFit/>
          </a:bodyPr>
          <a:lstStyle/>
          <a:p>
            <a:pPr>
              <a:lnSpc>
                <a:spcPct val="150000"/>
              </a:lnSpc>
            </a:pPr>
            <a:r>
              <a:rPr lang="en-US" sz="2800" dirty="0">
                <a:latin typeface="Calibir"/>
              </a:rPr>
              <a:t>Classes can be used many times on a webpage, while IDs should only be used once.</a:t>
            </a:r>
          </a:p>
        </p:txBody>
      </p:sp>
      <p:sp>
        <p:nvSpPr>
          <p:cNvPr id="9" name="Rectangle: Rounded Corners 8">
            <a:extLst>
              <a:ext uri="{FF2B5EF4-FFF2-40B4-BE49-F238E27FC236}">
                <a16:creationId xmlns:a16="http://schemas.microsoft.com/office/drawing/2014/main" id="{86B27B26-EADA-1F1B-33A5-202A9BB0F6D0}"/>
              </a:ext>
            </a:extLst>
          </p:cNvPr>
          <p:cNvSpPr/>
          <p:nvPr/>
        </p:nvSpPr>
        <p:spPr>
          <a:xfrm>
            <a:off x="0" y="2080340"/>
            <a:ext cx="7886700" cy="514350"/>
          </a:xfrm>
          <a:prstGeom prst="round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Tree>
    <p:extLst>
      <p:ext uri="{BB962C8B-B14F-4D97-AF65-F5344CB8AC3E}">
        <p14:creationId xmlns:p14="http://schemas.microsoft.com/office/powerpoint/2010/main" val="36258021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1000"/>
                                        <p:tgtEl>
                                          <p:spTgt spid="9"/>
                                        </p:tgtEl>
                                      </p:cBhvr>
                                    </p:animEffect>
                                    <p:anim calcmode="lin" valueType="num">
                                      <p:cBhvr>
                                        <p:cTn id="8" dur="1000" fill="hold"/>
                                        <p:tgtEl>
                                          <p:spTgt spid="9"/>
                                        </p:tgtEl>
                                        <p:attrNameLst>
                                          <p:attrName>ppt_x</p:attrName>
                                        </p:attrNameLst>
                                      </p:cBhvr>
                                      <p:tavLst>
                                        <p:tav tm="0">
                                          <p:val>
                                            <p:strVal val="#ppt_x"/>
                                          </p:val>
                                        </p:tav>
                                        <p:tav tm="100000">
                                          <p:val>
                                            <p:strVal val="#ppt_x"/>
                                          </p:val>
                                        </p:tav>
                                      </p:tavLst>
                                    </p:anim>
                                    <p:anim calcmode="lin" valueType="num">
                                      <p:cBhvr>
                                        <p:cTn id="9" dur="1000" fill="hold"/>
                                        <p:tgtEl>
                                          <p:spTgt spid="9"/>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1000"/>
                                        <p:tgtEl>
                                          <p:spTgt spid="8"/>
                                        </p:tgtEl>
                                      </p:cBhvr>
                                    </p:animEffect>
                                    <p:anim calcmode="lin" valueType="num">
                                      <p:cBhvr>
                                        <p:cTn id="13" dur="1000" fill="hold"/>
                                        <p:tgtEl>
                                          <p:spTgt spid="8"/>
                                        </p:tgtEl>
                                        <p:attrNameLst>
                                          <p:attrName>ppt_x</p:attrName>
                                        </p:attrNameLst>
                                      </p:cBhvr>
                                      <p:tavLst>
                                        <p:tav tm="0">
                                          <p:val>
                                            <p:strVal val="#ppt_x"/>
                                          </p:val>
                                        </p:tav>
                                        <p:tav tm="100000">
                                          <p:val>
                                            <p:strVal val="#ppt_x"/>
                                          </p:val>
                                        </p:tav>
                                      </p:tavLst>
                                    </p:anim>
                                    <p:anim calcmode="lin" valueType="num">
                                      <p:cBhvr>
                                        <p:cTn id="14"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animBg="1"/>
    </p:bld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8FB26E-E4E6-9277-F546-F5A9A65F4D52}"/>
            </a:ext>
          </a:extLst>
        </p:cNvPr>
        <p:cNvGrpSpPr/>
        <p:nvPr/>
      </p:nvGrpSpPr>
      <p:grpSpPr>
        <a:xfrm>
          <a:off x="0" y="0"/>
          <a:ext cx="0" cy="0"/>
          <a:chOff x="0" y="0"/>
          <a:chExt cx="0" cy="0"/>
        </a:xfrm>
      </p:grpSpPr>
      <p:sp>
        <p:nvSpPr>
          <p:cNvPr id="15" name="Title 1">
            <a:extLst>
              <a:ext uri="{FF2B5EF4-FFF2-40B4-BE49-F238E27FC236}">
                <a16:creationId xmlns:a16="http://schemas.microsoft.com/office/drawing/2014/main" id="{AF2B1819-398A-6A16-1BAD-7C6C9AEEF432}"/>
              </a:ext>
            </a:extLst>
          </p:cNvPr>
          <p:cNvSpPr>
            <a:spLocks noGrp="1"/>
          </p:cNvSpPr>
          <p:nvPr>
            <p:ph type="title"/>
          </p:nvPr>
        </p:nvSpPr>
        <p:spPr>
          <a:xfrm>
            <a:off x="2895600" y="171826"/>
            <a:ext cx="9144000" cy="577517"/>
          </a:xfrm>
        </p:spPr>
        <p:txBody>
          <a:bodyPr>
            <a:noAutofit/>
          </a:bodyPr>
          <a:lstStyle/>
          <a:p>
            <a:r>
              <a:rPr lang="en-US" sz="3500" dirty="0">
                <a:solidFill>
                  <a:schemeClr val="bg1"/>
                </a:solidFill>
                <a:latin typeface="Calibri" panose="020F0502020204030204" pitchFamily="34" charset="0"/>
                <a:cs typeface="Calibri" panose="020F0502020204030204" pitchFamily="34" charset="0"/>
              </a:rPr>
              <a:t>Let’s Answer Your Questions</a:t>
            </a:r>
            <a:endParaRPr lang="en-AU" sz="3500" dirty="0">
              <a:solidFill>
                <a:schemeClr val="bg1"/>
              </a:solidFill>
              <a:latin typeface="Calibri" panose="020F0502020204030204" pitchFamily="34" charset="0"/>
              <a:cs typeface="Calibri" panose="020F0502020204030204" pitchFamily="34" charset="0"/>
            </a:endParaRPr>
          </a:p>
        </p:txBody>
      </p:sp>
      <p:pic>
        <p:nvPicPr>
          <p:cNvPr id="1028" name="Picture 4" descr="Answering Questions In Complete Sentences">
            <a:extLst>
              <a:ext uri="{FF2B5EF4-FFF2-40B4-BE49-F238E27FC236}">
                <a16:creationId xmlns:a16="http://schemas.microsoft.com/office/drawing/2014/main" id="{F3F39DD1-1664-A2BF-97E5-6BA3145EE9BD}"/>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403245" y="1340457"/>
            <a:ext cx="3385511" cy="2115944"/>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7F84D911-33A5-B864-56FB-887C30BDEF0D}"/>
              </a:ext>
            </a:extLst>
          </p:cNvPr>
          <p:cNvSpPr txBox="1"/>
          <p:nvPr/>
        </p:nvSpPr>
        <p:spPr>
          <a:xfrm>
            <a:off x="169011" y="3293269"/>
            <a:ext cx="11853978" cy="2610843"/>
          </a:xfrm>
          <a:prstGeom prst="rect">
            <a:avLst/>
          </a:prstGeom>
          <a:noFill/>
        </p:spPr>
        <p:txBody>
          <a:bodyPr wrap="square" rtlCol="0">
            <a:spAutoFit/>
          </a:bodyPr>
          <a:lstStyle/>
          <a:p>
            <a:pPr marL="385763" marR="0" lvl="0" indent="-385763" algn="l" defTabSz="685800" rtl="0" eaLnBrk="0" fontAlgn="base" latinLnBrk="0" hangingPunct="0">
              <a:lnSpc>
                <a:spcPct val="150000"/>
              </a:lnSpc>
              <a:spcBef>
                <a:spcPct val="0"/>
              </a:spcBef>
              <a:spcAft>
                <a:spcPct val="0"/>
              </a:spcAft>
              <a:buClrTx/>
              <a:buSzTx/>
              <a:buFont typeface="+mj-lt"/>
              <a:buAutoNum type="arabicPeriod"/>
              <a:tabLst/>
              <a:defRPr/>
            </a:pPr>
            <a:r>
              <a:rPr kumimoji="0" lang="en-US" altLang="en-US" sz="28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Live during class</a:t>
            </a:r>
            <a:r>
              <a:rPr kumimoji="0" lang="en-US" altLang="en-US" sz="28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 – Ask directly during sessions.</a:t>
            </a:r>
          </a:p>
          <a:p>
            <a:pPr marL="385763" marR="0" lvl="0" indent="-385763" algn="l" defTabSz="685800" rtl="0" eaLnBrk="0" fontAlgn="base" latinLnBrk="0" hangingPunct="0">
              <a:lnSpc>
                <a:spcPct val="150000"/>
              </a:lnSpc>
              <a:spcBef>
                <a:spcPct val="0"/>
              </a:spcBef>
              <a:spcAft>
                <a:spcPct val="0"/>
              </a:spcAft>
              <a:buClrTx/>
              <a:buSzTx/>
              <a:buFont typeface="+mj-lt"/>
              <a:buAutoNum type="arabicPeriod"/>
              <a:tabLst/>
              <a:defRPr/>
            </a:pPr>
            <a:r>
              <a:rPr kumimoji="0" lang="en-US" altLang="en-US" sz="28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Blackboard Inbox</a:t>
            </a:r>
            <a:r>
              <a:rPr kumimoji="0" lang="en-US" altLang="en-US" sz="28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 – For structured academic queries.</a:t>
            </a:r>
          </a:p>
          <a:p>
            <a:pPr marL="385763" marR="0" lvl="0" indent="-385763" algn="l" defTabSz="685800" rtl="0" eaLnBrk="0" fontAlgn="base" latinLnBrk="0" hangingPunct="0">
              <a:lnSpc>
                <a:spcPct val="150000"/>
              </a:lnSpc>
              <a:spcBef>
                <a:spcPct val="0"/>
              </a:spcBef>
              <a:spcAft>
                <a:spcPct val="0"/>
              </a:spcAft>
              <a:buClrTx/>
              <a:buSzTx/>
              <a:buFont typeface="+mj-lt"/>
              <a:buAutoNum type="arabicPeriod"/>
              <a:tabLst/>
              <a:defRPr/>
            </a:pPr>
            <a:r>
              <a:rPr kumimoji="0" lang="en-US" altLang="en-US" sz="28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Email</a:t>
            </a:r>
            <a:r>
              <a:rPr kumimoji="0" lang="en-US" altLang="en-US" sz="28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 – For formal communications or attachments.</a:t>
            </a:r>
          </a:p>
          <a:p>
            <a:pPr marL="385763" marR="0" lvl="0" indent="-385763" algn="l" defTabSz="685800" rtl="0" eaLnBrk="0" fontAlgn="base" latinLnBrk="0" hangingPunct="0">
              <a:lnSpc>
                <a:spcPct val="150000"/>
              </a:lnSpc>
              <a:spcBef>
                <a:spcPct val="0"/>
              </a:spcBef>
              <a:spcAft>
                <a:spcPct val="0"/>
              </a:spcAft>
              <a:buClrTx/>
              <a:buSzTx/>
              <a:buFont typeface="+mj-lt"/>
              <a:buAutoNum type="arabicPeriod"/>
              <a:tabLst/>
              <a:defRPr/>
            </a:pPr>
            <a:r>
              <a:rPr kumimoji="0" lang="en-US" altLang="en-US" sz="28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Discussion Forum </a:t>
            </a:r>
            <a:r>
              <a:rPr kumimoji="0" lang="en-US" altLang="en-US" sz="28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 Everyone can see and learn from your question.</a:t>
            </a:r>
          </a:p>
        </p:txBody>
      </p:sp>
    </p:spTree>
    <p:extLst>
      <p:ext uri="{BB962C8B-B14F-4D97-AF65-F5344CB8AC3E}">
        <p14:creationId xmlns:p14="http://schemas.microsoft.com/office/powerpoint/2010/main" val="2475363991"/>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0C101F-C65F-1D84-0824-C2471518F032}"/>
            </a:ext>
          </a:extLst>
        </p:cNvPr>
        <p:cNvGrpSpPr/>
        <p:nvPr/>
      </p:nvGrpSpPr>
      <p:grpSpPr>
        <a:xfrm>
          <a:off x="0" y="0"/>
          <a:ext cx="0" cy="0"/>
          <a:chOff x="0" y="0"/>
          <a:chExt cx="0" cy="0"/>
        </a:xfrm>
      </p:grpSpPr>
      <p:pic>
        <p:nvPicPr>
          <p:cNvPr id="19" name="Picture 18" descr="Tying a bow in an arrangment of presents">
            <a:extLst>
              <a:ext uri="{FF2B5EF4-FFF2-40B4-BE49-F238E27FC236}">
                <a16:creationId xmlns:a16="http://schemas.microsoft.com/office/drawing/2014/main" id="{E6D721DE-1453-5AA6-9447-209B227E2123}"/>
              </a:ext>
            </a:extLst>
          </p:cNvPr>
          <p:cNvPicPr>
            <a:picLocks noChangeAspect="1"/>
          </p:cNvPicPr>
          <p:nvPr/>
        </p:nvPicPr>
        <p:blipFill rotWithShape="1">
          <a:blip r:embed="rId2"/>
          <a:srcRect l="17081" r="16168" b="-2"/>
          <a:stretch/>
        </p:blipFill>
        <p:spPr>
          <a:xfrm>
            <a:off x="1730930" y="1420349"/>
            <a:ext cx="4306642" cy="4306642"/>
          </a:xfrm>
          <a:custGeom>
            <a:avLst/>
            <a:gdLst/>
            <a:ahLst/>
            <a:cxnLst/>
            <a:rect l="l" t="t" r="r" b="b"/>
            <a:pathLst>
              <a:path w="1838528" h="1838528">
                <a:moveTo>
                  <a:pt x="919264" y="0"/>
                </a:moveTo>
                <a:cubicBezTo>
                  <a:pt x="1426959" y="0"/>
                  <a:pt x="1838528" y="411569"/>
                  <a:pt x="1838528" y="919264"/>
                </a:cubicBezTo>
                <a:cubicBezTo>
                  <a:pt x="1838528" y="1426959"/>
                  <a:pt x="1426959" y="1838528"/>
                  <a:pt x="919264" y="1838528"/>
                </a:cubicBezTo>
                <a:cubicBezTo>
                  <a:pt x="411569" y="1838528"/>
                  <a:pt x="0" y="1426959"/>
                  <a:pt x="0" y="919264"/>
                </a:cubicBezTo>
                <a:cubicBezTo>
                  <a:pt x="0" y="411569"/>
                  <a:pt x="411569" y="0"/>
                  <a:pt x="919264" y="0"/>
                </a:cubicBezTo>
                <a:close/>
              </a:path>
            </a:pathLst>
          </a:custGeom>
        </p:spPr>
      </p:pic>
      <p:sp>
        <p:nvSpPr>
          <p:cNvPr id="3" name="TextBox 2">
            <a:extLst>
              <a:ext uri="{FF2B5EF4-FFF2-40B4-BE49-F238E27FC236}">
                <a16:creationId xmlns:a16="http://schemas.microsoft.com/office/drawing/2014/main" id="{84845029-98A4-9C92-04B4-320B6AFDD1B8}"/>
              </a:ext>
            </a:extLst>
          </p:cNvPr>
          <p:cNvSpPr txBox="1"/>
          <p:nvPr/>
        </p:nvSpPr>
        <p:spPr>
          <a:xfrm>
            <a:off x="6154430" y="1594466"/>
            <a:ext cx="4513571" cy="4543576"/>
          </a:xfrm>
          <a:prstGeom prst="rect">
            <a:avLst/>
          </a:prstGeom>
        </p:spPr>
        <p:txBody>
          <a:bodyPr vert="horz" lIns="68580" tIns="34290" rIns="68580" bIns="34290" rtlCol="0" anchor="t">
            <a:noAutofit/>
          </a:bodyPr>
          <a:lstStyle/>
          <a:p>
            <a:pPr marL="0" marR="0" lvl="0" indent="0" algn="l" defTabSz="685800" rtl="0" eaLnBrk="1" fontAlgn="auto" latinLnBrk="0" hangingPunct="1">
              <a:lnSpc>
                <a:spcPct val="150000"/>
              </a:lnSpc>
              <a:spcBef>
                <a:spcPts val="0"/>
              </a:spcBef>
              <a:spcAft>
                <a:spcPts val="450"/>
              </a:spcAft>
              <a:buClrTx/>
              <a:buSzTx/>
              <a:buFontTx/>
              <a:buNone/>
              <a:tabLst/>
              <a:defRPr/>
            </a:pPr>
            <a:r>
              <a:rPr kumimoji="0" lang="en-US" sz="2400" b="0" i="0" u="none" strike="noStrike" kern="0" cap="none" spc="-20" normalizeH="0" baseline="0" noProof="0" dirty="0">
                <a:ln>
                  <a:noFill/>
                </a:ln>
                <a:solidFill>
                  <a:sysClr val="windowText" lastClr="000000"/>
                </a:solidFill>
                <a:effectLst/>
                <a:uLnTx/>
                <a:uFillTx/>
                <a:latin typeface="Calibri" panose="020F0502020204030204" pitchFamily="34" charset="0"/>
                <a:ea typeface="+mn-ea"/>
                <a:cs typeface="Calibri" panose="020F0502020204030204" pitchFamily="34" charset="0"/>
              </a:rPr>
              <a:t>Happy Learning and Bright Futures Ahead!</a:t>
            </a:r>
          </a:p>
          <a:p>
            <a:pPr marL="0" marR="0" lvl="0" indent="0" algn="l" defTabSz="685800" rtl="0" eaLnBrk="1" fontAlgn="auto" latinLnBrk="0" hangingPunct="1">
              <a:lnSpc>
                <a:spcPct val="150000"/>
              </a:lnSpc>
              <a:spcBef>
                <a:spcPts val="0"/>
              </a:spcBef>
              <a:spcAft>
                <a:spcPts val="450"/>
              </a:spcAft>
              <a:buClrTx/>
              <a:buSzTx/>
              <a:buFontTx/>
              <a:buNone/>
              <a:tabLst/>
              <a:defRPr/>
            </a:pPr>
            <a:r>
              <a:rPr kumimoji="0" lang="en-US" sz="2400" b="1" i="0" u="none" strike="noStrike" kern="1200" cap="none" spc="0" normalizeH="0" baseline="0" noProof="0" dirty="0">
                <a:ln>
                  <a:noFill/>
                </a:ln>
                <a:solidFill>
                  <a:prstClr val="black">
                    <a:alpha val="80000"/>
                  </a:prstClr>
                </a:solidFill>
                <a:effectLst/>
                <a:uLnTx/>
                <a:uFillTx/>
                <a:latin typeface="Calibri" panose="020F0502020204030204" pitchFamily="34" charset="0"/>
                <a:ea typeface="+mn-ea"/>
                <a:cs typeface="Calibri" panose="020F0502020204030204" pitchFamily="34" charset="0"/>
              </a:rPr>
              <a:t>Stay Connected:</a:t>
            </a:r>
            <a:br>
              <a:rPr kumimoji="0" lang="en-US" sz="2400" b="0" i="0" u="none" strike="noStrike" kern="1200" cap="none" spc="0" normalizeH="0" baseline="0" noProof="0" dirty="0">
                <a:ln>
                  <a:noFill/>
                </a:ln>
                <a:solidFill>
                  <a:prstClr val="black">
                    <a:alpha val="80000"/>
                  </a:prstClr>
                </a:solidFill>
                <a:effectLst/>
                <a:uLnTx/>
                <a:uFillTx/>
                <a:latin typeface="Calibri" panose="020F0502020204030204" pitchFamily="34" charset="0"/>
                <a:ea typeface="+mn-ea"/>
                <a:cs typeface="Calibri" panose="020F0502020204030204" pitchFamily="34" charset="0"/>
              </a:rPr>
            </a:br>
            <a:r>
              <a:rPr kumimoji="0" lang="en-US" sz="2400" b="0" i="0" u="none" strike="noStrike" kern="1200" cap="none" spc="0" normalizeH="0" baseline="0" noProof="0" dirty="0">
                <a:ln>
                  <a:noFill/>
                </a:ln>
                <a:solidFill>
                  <a:prstClr val="black">
                    <a:alpha val="80000"/>
                  </a:prstClr>
                </a:solidFill>
                <a:effectLst/>
                <a:uLnTx/>
                <a:uFillTx/>
                <a:latin typeface="Calibri" panose="020F0502020204030204" pitchFamily="34" charset="0"/>
                <a:ea typeface="+mn-ea"/>
                <a:cs typeface="Calibri" panose="020F0502020204030204" pitchFamily="34" charset="0"/>
                <a:hlinkClick r:id="rId3"/>
              </a:rPr>
              <a:t>linkedin.com/in/farshid-keivanian</a:t>
            </a:r>
            <a:r>
              <a:rPr kumimoji="0" lang="en-US" sz="2400" b="0" i="0" u="none" strike="noStrike" kern="1200" cap="none" spc="0" normalizeH="0" baseline="0" noProof="0" dirty="0">
                <a:ln>
                  <a:noFill/>
                </a:ln>
                <a:solidFill>
                  <a:prstClr val="black">
                    <a:alpha val="80000"/>
                  </a:prstClr>
                </a:solidFill>
                <a:effectLst/>
                <a:uLnTx/>
                <a:uFillTx/>
                <a:latin typeface="Calibri" panose="020F0502020204030204" pitchFamily="34" charset="0"/>
                <a:ea typeface="+mn-ea"/>
                <a:cs typeface="Calibri" panose="020F0502020204030204" pitchFamily="34" charset="0"/>
              </a:rPr>
              <a:t> </a:t>
            </a:r>
            <a:br>
              <a:rPr kumimoji="0" lang="en-US" sz="2400" b="0" i="0" u="none" strike="noStrike" kern="1200" cap="none" spc="0" normalizeH="0" baseline="0" noProof="0" dirty="0">
                <a:ln>
                  <a:noFill/>
                </a:ln>
                <a:solidFill>
                  <a:prstClr val="black">
                    <a:alpha val="80000"/>
                  </a:prstClr>
                </a:solidFill>
                <a:effectLst/>
                <a:uLnTx/>
                <a:uFillTx/>
                <a:latin typeface="Calibri" panose="020F0502020204030204" pitchFamily="34" charset="0"/>
                <a:ea typeface="+mn-ea"/>
                <a:cs typeface="Calibri" panose="020F0502020204030204" pitchFamily="34" charset="0"/>
              </a:rPr>
            </a:br>
            <a:r>
              <a:rPr kumimoji="0" lang="en-US" sz="2400" b="0" i="0" u="none" strike="noStrike" kern="1200" cap="none" spc="0" normalizeH="0" baseline="0" noProof="0" dirty="0">
                <a:ln>
                  <a:noFill/>
                </a:ln>
                <a:solidFill>
                  <a:prstClr val="black">
                    <a:alpha val="80000"/>
                  </a:prstClr>
                </a:solidFill>
                <a:effectLst/>
                <a:uLnTx/>
                <a:uFillTx/>
                <a:latin typeface="Calibri" panose="020F0502020204030204" pitchFamily="34" charset="0"/>
                <a:ea typeface="+mn-ea"/>
                <a:cs typeface="Calibri" panose="020F0502020204030204" pitchFamily="34" charset="0"/>
                <a:hlinkClick r:id="rId4"/>
              </a:rPr>
              <a:t>github.com/FarshidKeivanian</a:t>
            </a:r>
            <a:r>
              <a:rPr kumimoji="0" lang="en-US" sz="2400" b="0" i="0" u="none" strike="noStrike" kern="1200" cap="none" spc="0" normalizeH="0" baseline="0" noProof="0" dirty="0">
                <a:ln>
                  <a:noFill/>
                </a:ln>
                <a:solidFill>
                  <a:prstClr val="black">
                    <a:alpha val="80000"/>
                  </a:prstClr>
                </a:solidFill>
                <a:effectLst/>
                <a:uLnTx/>
                <a:uFillTx/>
                <a:latin typeface="Calibri" panose="020F0502020204030204" pitchFamily="34" charset="0"/>
                <a:ea typeface="+mn-ea"/>
                <a:cs typeface="Calibri" panose="020F0502020204030204" pitchFamily="34" charset="0"/>
              </a:rPr>
              <a:t> </a:t>
            </a:r>
          </a:p>
          <a:p>
            <a:pPr marL="0" marR="0" lvl="0" indent="-171450" algn="l" defTabSz="685800" rtl="0" eaLnBrk="1" fontAlgn="auto" latinLnBrk="0" hangingPunct="1">
              <a:lnSpc>
                <a:spcPct val="150000"/>
              </a:lnSpc>
              <a:spcBef>
                <a:spcPts val="0"/>
              </a:spcBef>
              <a:spcAft>
                <a:spcPts val="450"/>
              </a:spcAft>
              <a:buClrTx/>
              <a:buSzTx/>
              <a:buFont typeface="Arial" panose="020B0604020202020204" pitchFamily="34" charset="0"/>
              <a:buChar char="•"/>
              <a:tabLst/>
              <a:defRPr/>
            </a:pPr>
            <a:r>
              <a:rPr kumimoji="0" lang="en-US" sz="2400" b="0" i="1" u="none" strike="noStrike" kern="1200" cap="none" spc="0" normalizeH="0" baseline="0" noProof="0" dirty="0">
                <a:ln>
                  <a:noFill/>
                </a:ln>
                <a:solidFill>
                  <a:prstClr val="black">
                    <a:alpha val="80000"/>
                  </a:prstClr>
                </a:solidFill>
                <a:effectLst/>
                <a:uLnTx/>
                <a:uFillTx/>
                <a:latin typeface="Calibri" panose="020F0502020204030204" pitchFamily="34" charset="0"/>
                <a:ea typeface="+mn-ea"/>
                <a:cs typeface="Calibri" panose="020F0502020204030204" pitchFamily="34" charset="0"/>
              </a:rPr>
              <a:t>Education is the most powerful weapon you can use to change the world. </a:t>
            </a:r>
            <a:r>
              <a:rPr kumimoji="0" lang="en-US" sz="2400" b="0" i="0" u="none" strike="noStrike" kern="1200" cap="none" spc="0" normalizeH="0" baseline="0" noProof="0" dirty="0">
                <a:ln>
                  <a:noFill/>
                </a:ln>
                <a:solidFill>
                  <a:prstClr val="black">
                    <a:alpha val="80000"/>
                  </a:prstClr>
                </a:solidFill>
                <a:effectLst/>
                <a:uLnTx/>
                <a:uFillTx/>
                <a:latin typeface="Calibri" panose="020F0502020204030204" pitchFamily="34" charset="0"/>
                <a:ea typeface="+mn-ea"/>
                <a:cs typeface="Calibri" panose="020F0502020204030204" pitchFamily="34" charset="0"/>
              </a:rPr>
              <a:t>— Nelson Mandela</a:t>
            </a:r>
          </a:p>
        </p:txBody>
      </p:sp>
      <p:sp>
        <p:nvSpPr>
          <p:cNvPr id="2" name="object 2">
            <a:extLst>
              <a:ext uri="{FF2B5EF4-FFF2-40B4-BE49-F238E27FC236}">
                <a16:creationId xmlns:a16="http://schemas.microsoft.com/office/drawing/2014/main" id="{92EB8C87-8395-5CF8-FB02-8B57ECDD50A8}"/>
              </a:ext>
            </a:extLst>
          </p:cNvPr>
          <p:cNvSpPr txBox="1">
            <a:spLocks noGrp="1"/>
          </p:cNvSpPr>
          <p:nvPr>
            <p:ph type="title"/>
          </p:nvPr>
        </p:nvSpPr>
        <p:spPr>
          <a:xfrm>
            <a:off x="2895600" y="-152400"/>
            <a:ext cx="6920865" cy="800732"/>
          </a:xfrm>
          <a:prstGeom prst="rect">
            <a:avLst/>
          </a:prstGeom>
        </p:spPr>
        <p:txBody>
          <a:bodyPr vert="horz" wrap="square" lIns="0" tIns="259588" rIns="0" bIns="0" rtlCol="0">
            <a:spAutoFit/>
          </a:bodyPr>
          <a:lstStyle/>
          <a:p>
            <a:pPr marL="123825">
              <a:spcBef>
                <a:spcPts val="100"/>
              </a:spcBef>
            </a:pPr>
            <a:r>
              <a:rPr lang="en-US" sz="3500" spc="-20" dirty="0">
                <a:solidFill>
                  <a:schemeClr val="bg1"/>
                </a:solidFill>
                <a:latin typeface="Calibri" panose="020F0502020204030204" pitchFamily="34" charset="0"/>
                <a:cs typeface="Calibri" panose="020F0502020204030204" pitchFamily="34" charset="0"/>
              </a:rPr>
              <a:t>Thank You</a:t>
            </a:r>
            <a:endParaRPr sz="3500" spc="-20" dirty="0">
              <a:solidFill>
                <a:schemeClr val="bg1"/>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38215110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1606</TotalTime>
  <Words>7971</Words>
  <Application>Microsoft Office PowerPoint</Application>
  <PresentationFormat>Widescreen</PresentationFormat>
  <Paragraphs>427</Paragraphs>
  <Slides>107</Slides>
  <Notes>0</Notes>
  <HiddenSlides>0</HiddenSlides>
  <MMClips>0</MMClips>
  <ScaleCrop>false</ScaleCrop>
  <HeadingPairs>
    <vt:vector size="6" baseType="variant">
      <vt:variant>
        <vt:lpstr>Fonts Used</vt:lpstr>
      </vt:variant>
      <vt:variant>
        <vt:i4>8</vt:i4>
      </vt:variant>
      <vt:variant>
        <vt:lpstr>Theme</vt:lpstr>
      </vt:variant>
      <vt:variant>
        <vt:i4>2</vt:i4>
      </vt:variant>
      <vt:variant>
        <vt:lpstr>Slide Titles</vt:lpstr>
      </vt:variant>
      <vt:variant>
        <vt:i4>107</vt:i4>
      </vt:variant>
    </vt:vector>
  </HeadingPairs>
  <TitlesOfParts>
    <vt:vector size="117" baseType="lpstr">
      <vt:lpstr>Aptos</vt:lpstr>
      <vt:lpstr>Aptos Display</vt:lpstr>
      <vt:lpstr>Arial</vt:lpstr>
      <vt:lpstr>Calibir</vt:lpstr>
      <vt:lpstr>Calibri</vt:lpstr>
      <vt:lpstr>Söhne</vt:lpstr>
      <vt:lpstr>Söhne Mono</vt:lpstr>
      <vt:lpstr>Tahoma</vt:lpstr>
      <vt:lpstr>Office Theme</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Let’s Answer Your Questions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Farshid Keivanian</dc:creator>
  <cp:lastModifiedBy>Sydney Classroom</cp:lastModifiedBy>
  <cp:revision>332</cp:revision>
  <dcterms:created xsi:type="dcterms:W3CDTF">2024-04-02T03:16:29Z</dcterms:created>
  <dcterms:modified xsi:type="dcterms:W3CDTF">2026-05-21T06:44:23Z</dcterms:modified>
</cp:coreProperties>
</file>
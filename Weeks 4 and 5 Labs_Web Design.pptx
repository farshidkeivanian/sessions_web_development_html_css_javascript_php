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9"/>
  </p:notesMasterIdLst>
  <p:sldIdLst>
    <p:sldId id="287" r:id="rId3"/>
    <p:sldId id="262" r:id="rId4"/>
    <p:sldId id="389" r:id="rId5"/>
    <p:sldId id="390" r:id="rId6"/>
    <p:sldId id="393" r:id="rId7"/>
    <p:sldId id="391" r:id="rId8"/>
    <p:sldId id="392" r:id="rId9"/>
    <p:sldId id="394" r:id="rId10"/>
    <p:sldId id="413" r:id="rId11"/>
    <p:sldId id="416" r:id="rId12"/>
    <p:sldId id="414" r:id="rId13"/>
    <p:sldId id="418" r:id="rId14"/>
    <p:sldId id="421" r:id="rId15"/>
    <p:sldId id="422" r:id="rId16"/>
    <p:sldId id="419" r:id="rId17"/>
    <p:sldId id="415" r:id="rId18"/>
    <p:sldId id="1880" r:id="rId19"/>
    <p:sldId id="408" r:id="rId20"/>
    <p:sldId id="409" r:id="rId21"/>
    <p:sldId id="410" r:id="rId22"/>
    <p:sldId id="411" r:id="rId23"/>
    <p:sldId id="412" r:id="rId24"/>
    <p:sldId id="1881" r:id="rId25"/>
    <p:sldId id="1882" r:id="rId26"/>
    <p:sldId id="404" r:id="rId27"/>
    <p:sldId id="405" r:id="rId28"/>
    <p:sldId id="407" r:id="rId29"/>
    <p:sldId id="423" r:id="rId30"/>
    <p:sldId id="1887" r:id="rId31"/>
    <p:sldId id="1888" r:id="rId32"/>
    <p:sldId id="1889" r:id="rId33"/>
    <p:sldId id="1320" r:id="rId34"/>
    <p:sldId id="1886" r:id="rId35"/>
    <p:sldId id="1883" r:id="rId36"/>
    <p:sldId id="1884" r:id="rId37"/>
    <p:sldId id="1885" r:id="rId38"/>
    <p:sldId id="359" r:id="rId39"/>
    <p:sldId id="360" r:id="rId40"/>
    <p:sldId id="361" r:id="rId41"/>
    <p:sldId id="362" r:id="rId42"/>
    <p:sldId id="363" r:id="rId43"/>
    <p:sldId id="1854" r:id="rId44"/>
    <p:sldId id="1852" r:id="rId45"/>
    <p:sldId id="424" r:id="rId46"/>
    <p:sldId id="426" r:id="rId47"/>
    <p:sldId id="427" r:id="rId48"/>
    <p:sldId id="428" r:id="rId49"/>
    <p:sldId id="429" r:id="rId50"/>
    <p:sldId id="430" r:id="rId51"/>
    <p:sldId id="425" r:id="rId52"/>
    <p:sldId id="433" r:id="rId53"/>
    <p:sldId id="434" r:id="rId54"/>
    <p:sldId id="435" r:id="rId55"/>
    <p:sldId id="436" r:id="rId56"/>
    <p:sldId id="437" r:id="rId57"/>
    <p:sldId id="438" r:id="rId58"/>
    <p:sldId id="439" r:id="rId59"/>
    <p:sldId id="447" r:id="rId60"/>
    <p:sldId id="448" r:id="rId61"/>
    <p:sldId id="1890" r:id="rId62"/>
    <p:sldId id="452" r:id="rId63"/>
    <p:sldId id="453" r:id="rId64"/>
    <p:sldId id="449" r:id="rId65"/>
    <p:sldId id="450" r:id="rId66"/>
    <p:sldId id="451" r:id="rId67"/>
    <p:sldId id="444" r:id="rId68"/>
    <p:sldId id="441" r:id="rId69"/>
    <p:sldId id="1891" r:id="rId70"/>
    <p:sldId id="442" r:id="rId71"/>
    <p:sldId id="458" r:id="rId72"/>
    <p:sldId id="463" r:id="rId73"/>
    <p:sldId id="465" r:id="rId74"/>
    <p:sldId id="457" r:id="rId75"/>
    <p:sldId id="472" r:id="rId76"/>
    <p:sldId id="474" r:id="rId77"/>
    <p:sldId id="475" r:id="rId78"/>
    <p:sldId id="478" r:id="rId79"/>
    <p:sldId id="473" r:id="rId80"/>
    <p:sldId id="479" r:id="rId81"/>
    <p:sldId id="443" r:id="rId82"/>
    <p:sldId id="454" r:id="rId83"/>
    <p:sldId id="455" r:id="rId84"/>
    <p:sldId id="456" r:id="rId85"/>
    <p:sldId id="1853" r:id="rId86"/>
    <p:sldId id="459" r:id="rId87"/>
    <p:sldId id="460" r:id="rId88"/>
    <p:sldId id="461" r:id="rId89"/>
    <p:sldId id="462" r:id="rId90"/>
    <p:sldId id="1892" r:id="rId91"/>
    <p:sldId id="1855" r:id="rId92"/>
    <p:sldId id="1856" r:id="rId93"/>
    <p:sldId id="1857" r:id="rId94"/>
    <p:sldId id="1858" r:id="rId95"/>
    <p:sldId id="1859" r:id="rId96"/>
    <p:sldId id="1860" r:id="rId97"/>
    <p:sldId id="1861" r:id="rId98"/>
    <p:sldId id="1862" r:id="rId99"/>
    <p:sldId id="1863" r:id="rId100"/>
    <p:sldId id="1864" r:id="rId101"/>
    <p:sldId id="1865" r:id="rId102"/>
    <p:sldId id="1866" r:id="rId103"/>
    <p:sldId id="1867" r:id="rId104"/>
    <p:sldId id="1868" r:id="rId105"/>
    <p:sldId id="1869" r:id="rId106"/>
    <p:sldId id="1870" r:id="rId107"/>
    <p:sldId id="1871" r:id="rId108"/>
    <p:sldId id="1872" r:id="rId109"/>
    <p:sldId id="1873" r:id="rId110"/>
    <p:sldId id="1874" r:id="rId111"/>
    <p:sldId id="1875" r:id="rId112"/>
    <p:sldId id="1876" r:id="rId113"/>
    <p:sldId id="1877" r:id="rId114"/>
    <p:sldId id="1878" r:id="rId115"/>
    <p:sldId id="1879" r:id="rId116"/>
    <p:sldId id="1817" r:id="rId117"/>
    <p:sldId id="1850" r:id="rId1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7" d="100"/>
          <a:sy n="107" d="100"/>
        </p:scale>
        <p:origin x="75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tableStyles" Target="tableStyle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notesMaster" Target="notesMasters/notesMaster1.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viewProps" Target="view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22/05/2026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106507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9873832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3682213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1528514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962578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5/22/2026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3613616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22/05/2026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5/22/2026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290653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w3schools.com/"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www.apachefriends.org/de/download.html"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hyperlink" Target="http://searchengineland.com/nine-best-practices-for-optimized-title-tags-111979" TargetMode="Externa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hyperlink" Target="https://validator.w3.org/" TargetMode="External"/><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w3schools.com/" TargetMode="External"/><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78.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532880" y="838200"/>
            <a:ext cx="4889226"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latin typeface="Calibir"/>
                <a:ea typeface="+mj-ea"/>
                <a:cs typeface="+mj-cs"/>
              </a:rPr>
              <a:t>HS1021: Web Design</a:t>
            </a:r>
            <a:br>
              <a:rPr lang="en-US" sz="3800" b="1" dirty="0">
                <a:latin typeface="Calibir"/>
                <a:ea typeface="+mj-ea"/>
                <a:cs typeface="+mj-cs"/>
              </a:rPr>
            </a:b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Weeks 4 – 5 </a:t>
            </a:r>
            <a:r>
              <a:rPr lang="en-US" sz="3800" b="1">
                <a:latin typeface="Calibir"/>
                <a:ea typeface="+mj-ea"/>
                <a:cs typeface="+mj-cs"/>
              </a:rPr>
              <a:t>Tutorial and</a:t>
            </a:r>
            <a:endParaRPr lang="en-US" sz="3800" b="1" dirty="0">
              <a:latin typeface="Calibir"/>
              <a:ea typeface="+mj-ea"/>
              <a:cs typeface="+mj-cs"/>
            </a:endParaRPr>
          </a:p>
          <a:p>
            <a:pPr algn="ctr">
              <a:lnSpc>
                <a:spcPct val="90000"/>
              </a:lnSpc>
              <a:spcBef>
                <a:spcPct val="0"/>
              </a:spcBef>
              <a:spcAft>
                <a:spcPts val="338"/>
              </a:spcAft>
            </a:pPr>
            <a:r>
              <a:rPr lang="en-US" sz="3800" b="1">
                <a:latin typeface="Calibir"/>
                <a:ea typeface="+mj-ea"/>
                <a:cs typeface="+mj-cs"/>
              </a:rPr>
              <a:t>Lab </a:t>
            </a:r>
            <a:r>
              <a:rPr lang="en-US" sz="3800" b="1" dirty="0">
                <a:latin typeface="Calibir"/>
                <a:ea typeface="+mj-ea"/>
                <a:cs typeface="+mj-cs"/>
              </a:rPr>
              <a:t>2 Test Practice</a:t>
            </a:r>
          </a:p>
          <a:p>
            <a:pPr algn="ctr">
              <a:lnSpc>
                <a:spcPct val="90000"/>
              </a:lnSpc>
              <a:spcBef>
                <a:spcPct val="0"/>
              </a:spcBef>
              <a:spcAft>
                <a:spcPts val="338"/>
              </a:spcAft>
            </a:pP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7" y="615986"/>
            <a:ext cx="9811078" cy="5118196"/>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Lecture 3, titled "Web Design Basics," covered the essential aspects of HTML and webpage design. The key objectives were to manage website files effectively, utilize HTML5 semantic elements, and construct the structural design of a webpage. The lecture also emphasized designing a semantic wireframe, creating and validating webpage templates, and adding unique content tailored to specific needs. It discussed the importance of understanding a website's purpose, its target audience, and ensuring an optimal viewing experience across different devices. Practical examples included creating a basic site map, organizing files within a website, and incorporating static and dynamic content to enhance the user experience.</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pic>
        <p:nvPicPr>
          <p:cNvPr id="2" name="Picture 1">
            <a:extLst>
              <a:ext uri="{FF2B5EF4-FFF2-40B4-BE49-F238E27FC236}">
                <a16:creationId xmlns:a16="http://schemas.microsoft.com/office/drawing/2014/main" id="{8CE4333C-5558-3790-F793-3CA41C5A772A}"/>
              </a:ext>
            </a:extLst>
          </p:cNvPr>
          <p:cNvPicPr>
            <a:picLocks noChangeAspect="1"/>
          </p:cNvPicPr>
          <p:nvPr/>
        </p:nvPicPr>
        <p:blipFill>
          <a:blip r:embed="rId2"/>
          <a:stretch>
            <a:fillRect/>
          </a:stretch>
        </p:blipFill>
        <p:spPr>
          <a:xfrm>
            <a:off x="10260685" y="7144"/>
            <a:ext cx="1931315" cy="1902052"/>
          </a:xfrm>
          <a:prstGeom prst="rect">
            <a:avLst/>
          </a:prstGeom>
        </p:spPr>
      </p:pic>
    </p:spTree>
    <p:extLst>
      <p:ext uri="{BB962C8B-B14F-4D97-AF65-F5344CB8AC3E}">
        <p14:creationId xmlns:p14="http://schemas.microsoft.com/office/powerpoint/2010/main" val="2350389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94593" y="416982"/>
            <a:ext cx="12097407" cy="1055545"/>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A simple example of an HTML page for a fitness center based in Australia, following the guidelines from the lecture:</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Practical Example: Creating an HTML Page for an Australian Fitness Center</a:t>
            </a:r>
            <a:endParaRPr lang="en-AU" sz="2200" b="1"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A06D5311-E94F-5975-C65E-817FA5523FB6}"/>
              </a:ext>
            </a:extLst>
          </p:cNvPr>
          <p:cNvPicPr>
            <a:picLocks noChangeAspect="1"/>
          </p:cNvPicPr>
          <p:nvPr/>
        </p:nvPicPr>
        <p:blipFill rotWithShape="1">
          <a:blip r:embed="rId2"/>
          <a:srcRect l="3895" r="1689"/>
          <a:stretch/>
        </p:blipFill>
        <p:spPr>
          <a:xfrm>
            <a:off x="357350" y="1744719"/>
            <a:ext cx="6369271" cy="2744346"/>
          </a:xfrm>
          <a:prstGeom prst="rect">
            <a:avLst/>
          </a:prstGeom>
          <a:ln>
            <a:solidFill>
              <a:srgbClr val="FF0000"/>
            </a:solidFill>
          </a:ln>
        </p:spPr>
      </p:pic>
      <p:sp>
        <p:nvSpPr>
          <p:cNvPr id="8" name="TextBox 7">
            <a:extLst>
              <a:ext uri="{FF2B5EF4-FFF2-40B4-BE49-F238E27FC236}">
                <a16:creationId xmlns:a16="http://schemas.microsoft.com/office/drawing/2014/main" id="{548339E8-BF84-DE95-F4BF-2C8581AEEC9E}"/>
              </a:ext>
            </a:extLst>
          </p:cNvPr>
          <p:cNvSpPr txBox="1"/>
          <p:nvPr/>
        </p:nvSpPr>
        <p:spPr>
          <a:xfrm>
            <a:off x="6726622" y="1744719"/>
            <a:ext cx="5465378" cy="5118196"/>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HTML template uses semantic elements like &lt;header&gt;, &lt;nav&gt;, &lt;main&gt;, and &lt;footer&gt; to structure the webpage effectively. Each section is clearly defined, making the content accessible and the page easier to navigate, aligning with the best practices discussed in the lecture. This structure also aids in SEO and ensures compatibility across various devices, catering to the needs of a diverse Australian audience.</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FF2CFA7-5665-BFDC-A16C-25A72A480AD6}"/>
              </a:ext>
            </a:extLst>
          </p:cNvPr>
          <p:cNvSpPr txBox="1"/>
          <p:nvPr/>
        </p:nvSpPr>
        <p:spPr>
          <a:xfrm>
            <a:off x="357350" y="4628911"/>
            <a:ext cx="5369363" cy="369332"/>
          </a:xfrm>
          <a:prstGeom prst="rect">
            <a:avLst/>
          </a:prstGeom>
          <a:noFill/>
          <a:ln>
            <a:solidFill>
              <a:srgbClr val="C00000"/>
            </a:solidFill>
          </a:ln>
        </p:spPr>
        <p:txBody>
          <a:bodyPr wrap="square" rtlCol="0">
            <a:spAutoFit/>
          </a:bodyPr>
          <a:lstStyle/>
          <a:p>
            <a:r>
              <a:rPr lang="en-AU" dirty="0"/>
              <a:t>Change it and Save it in C:\\Xampp &gt;&gt; </a:t>
            </a:r>
            <a:r>
              <a:rPr lang="en-AU" dirty="0" err="1"/>
              <a:t>htdocs</a:t>
            </a:r>
            <a:endParaRPr lang="en-AU" dirty="0"/>
          </a:p>
        </p:txBody>
      </p:sp>
      <p:pic>
        <p:nvPicPr>
          <p:cNvPr id="12" name="Picture 11">
            <a:extLst>
              <a:ext uri="{FF2B5EF4-FFF2-40B4-BE49-F238E27FC236}">
                <a16:creationId xmlns:a16="http://schemas.microsoft.com/office/drawing/2014/main" id="{4DF9E134-3900-0EEE-37FC-5E8BB17A14C7}"/>
              </a:ext>
            </a:extLst>
          </p:cNvPr>
          <p:cNvPicPr>
            <a:picLocks noChangeAspect="1"/>
          </p:cNvPicPr>
          <p:nvPr/>
        </p:nvPicPr>
        <p:blipFill rotWithShape="1">
          <a:blip r:embed="rId3"/>
          <a:srcRect t="10654" r="41927"/>
          <a:stretch/>
        </p:blipFill>
        <p:spPr>
          <a:xfrm>
            <a:off x="355927" y="5173557"/>
            <a:ext cx="5369363" cy="1614809"/>
          </a:xfrm>
          <a:prstGeom prst="rect">
            <a:avLst/>
          </a:prstGeom>
          <a:ln>
            <a:solidFill>
              <a:srgbClr val="C00000"/>
            </a:solidFill>
          </a:ln>
        </p:spPr>
      </p:pic>
    </p:spTree>
    <p:extLst>
      <p:ext uri="{BB962C8B-B14F-4D97-AF65-F5344CB8AC3E}">
        <p14:creationId xmlns:p14="http://schemas.microsoft.com/office/powerpoint/2010/main" val="36121558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4BD2CCD-D910-45C7-84AA-E9D9A1AB5536}"/>
              </a:ext>
            </a:extLst>
          </p:cNvPr>
          <p:cNvPicPr>
            <a:picLocks noChangeAspect="1"/>
          </p:cNvPicPr>
          <p:nvPr/>
        </p:nvPicPr>
        <p:blipFill>
          <a:blip r:embed="rId2"/>
          <a:stretch>
            <a:fillRect/>
          </a:stretch>
        </p:blipFill>
        <p:spPr>
          <a:xfrm>
            <a:off x="0" y="687846"/>
            <a:ext cx="12192000" cy="5482308"/>
          </a:xfrm>
          <a:prstGeom prst="rect">
            <a:avLst/>
          </a:prstGeom>
        </p:spPr>
      </p:pic>
      <p:sp>
        <p:nvSpPr>
          <p:cNvPr id="7" name="TextBox 6">
            <a:extLst>
              <a:ext uri="{FF2B5EF4-FFF2-40B4-BE49-F238E27FC236}">
                <a16:creationId xmlns:a16="http://schemas.microsoft.com/office/drawing/2014/main" id="{184A2A8C-2FCE-98DE-E2C6-60825D0F901E}"/>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Practical Example</a:t>
            </a:r>
          </a:p>
        </p:txBody>
      </p:sp>
      <p:pic>
        <p:nvPicPr>
          <p:cNvPr id="9" name="Picture 8">
            <a:extLst>
              <a:ext uri="{FF2B5EF4-FFF2-40B4-BE49-F238E27FC236}">
                <a16:creationId xmlns:a16="http://schemas.microsoft.com/office/drawing/2014/main" id="{3FAA53D9-DF13-982F-9A62-C0059F8A89C0}"/>
              </a:ext>
            </a:extLst>
          </p:cNvPr>
          <p:cNvPicPr>
            <a:picLocks noChangeAspect="1"/>
          </p:cNvPicPr>
          <p:nvPr/>
        </p:nvPicPr>
        <p:blipFill>
          <a:blip r:embed="rId3"/>
          <a:stretch>
            <a:fillRect/>
          </a:stretch>
        </p:blipFill>
        <p:spPr>
          <a:xfrm>
            <a:off x="5307724" y="0"/>
            <a:ext cx="6884276" cy="3363777"/>
          </a:xfrm>
          <a:prstGeom prst="rect">
            <a:avLst/>
          </a:prstGeom>
          <a:ln>
            <a:solidFill>
              <a:srgbClr val="C00000"/>
            </a:solidFill>
          </a:ln>
        </p:spPr>
      </p:pic>
      <p:pic>
        <p:nvPicPr>
          <p:cNvPr id="2" name="Picture 1">
            <a:extLst>
              <a:ext uri="{FF2B5EF4-FFF2-40B4-BE49-F238E27FC236}">
                <a16:creationId xmlns:a16="http://schemas.microsoft.com/office/drawing/2014/main" id="{2E5C9CF7-86A5-9902-E1A9-3D4C0ED6D2A4}"/>
              </a:ext>
            </a:extLst>
          </p:cNvPr>
          <p:cNvPicPr>
            <a:picLocks noChangeAspect="1"/>
          </p:cNvPicPr>
          <p:nvPr/>
        </p:nvPicPr>
        <p:blipFill rotWithShape="1">
          <a:blip r:embed="rId4"/>
          <a:srcRect l="3895" r="8856" b="19191"/>
          <a:stretch/>
        </p:blipFill>
        <p:spPr>
          <a:xfrm>
            <a:off x="7143045" y="4955628"/>
            <a:ext cx="5048955" cy="1902372"/>
          </a:xfrm>
          <a:prstGeom prst="rect">
            <a:avLst/>
          </a:prstGeom>
          <a:ln>
            <a:solidFill>
              <a:srgbClr val="FF0000"/>
            </a:solidFill>
          </a:ln>
        </p:spPr>
      </p:pic>
      <p:sp>
        <p:nvSpPr>
          <p:cNvPr id="3" name="TextBox 2">
            <a:extLst>
              <a:ext uri="{FF2B5EF4-FFF2-40B4-BE49-F238E27FC236}">
                <a16:creationId xmlns:a16="http://schemas.microsoft.com/office/drawing/2014/main" id="{1818720D-03C2-FF26-8CE1-A3C9E02AA216}"/>
              </a:ext>
            </a:extLst>
          </p:cNvPr>
          <p:cNvSpPr txBox="1"/>
          <p:nvPr/>
        </p:nvSpPr>
        <p:spPr>
          <a:xfrm>
            <a:off x="1912883" y="6310286"/>
            <a:ext cx="5219652" cy="547714"/>
          </a:xfrm>
          <a:prstGeom prst="rect">
            <a:avLst/>
          </a:prstGeom>
          <a:noFill/>
          <a:ln>
            <a:solidFill>
              <a:srgbClr val="FF0000"/>
            </a:solidFill>
          </a:ln>
        </p:spPr>
        <p:txBody>
          <a:bodyPr wrap="square" rtlCol="0">
            <a:spAutoFit/>
          </a:bodyPr>
          <a:lstStyle/>
          <a:p>
            <a:pPr>
              <a:lnSpc>
                <a:spcPct val="150000"/>
              </a:lnSpc>
            </a:pPr>
            <a:r>
              <a:rPr lang="en-AU" sz="2200" dirty="0">
                <a:latin typeface="Calibri" panose="020F0502020204030204" pitchFamily="34" charset="0"/>
                <a:cs typeface="Calibri" panose="020F0502020204030204" pitchFamily="34" charset="0"/>
              </a:rPr>
              <a:t>The code is available online for my students!</a:t>
            </a:r>
          </a:p>
        </p:txBody>
      </p:sp>
    </p:spTree>
    <p:extLst>
      <p:ext uri="{BB962C8B-B14F-4D97-AF65-F5344CB8AC3E}">
        <p14:creationId xmlns:p14="http://schemas.microsoft.com/office/powerpoint/2010/main" val="10050987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FE2496-7E1C-C846-B206-D15BB3A7F9A7}"/>
              </a:ext>
            </a:extLst>
          </p:cNvPr>
          <p:cNvSpPr txBox="1"/>
          <p:nvPr/>
        </p:nvSpPr>
        <p:spPr>
          <a:xfrm>
            <a:off x="47296" y="430887"/>
            <a:ext cx="12097407" cy="2071208"/>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purpose of the tutorial as detailed in the provided documents is to practice and understand the application of semantic HTML5 elements within the structure of a web page, and to apply CSS styling techniques to enhance the presentation of the content. This assignment ties into the overall learning goals of web design in several ways:</a:t>
            </a:r>
          </a:p>
        </p:txBody>
      </p:sp>
      <p:sp>
        <p:nvSpPr>
          <p:cNvPr id="3" name="TextBox 2">
            <a:extLst>
              <a:ext uri="{FF2B5EF4-FFF2-40B4-BE49-F238E27FC236}">
                <a16:creationId xmlns:a16="http://schemas.microsoft.com/office/drawing/2014/main" id="{75D024B9-B036-F4C5-8848-3FDC554962DE}"/>
              </a:ext>
            </a:extLst>
          </p:cNvPr>
          <p:cNvSpPr txBox="1"/>
          <p:nvPr/>
        </p:nvSpPr>
        <p:spPr>
          <a:xfrm>
            <a:off x="94593" y="2680101"/>
            <a:ext cx="12097407" cy="3594702"/>
          </a:xfrm>
          <a:prstGeom prst="rect">
            <a:avLst/>
          </a:prstGeom>
          <a:noFill/>
        </p:spPr>
        <p:txBody>
          <a:bodyPr wrap="square" rtlCol="0">
            <a:spAutoFit/>
          </a:bodyPr>
          <a:lstStyle/>
          <a:p>
            <a:pPr marL="457200" indent="-457200">
              <a:lnSpc>
                <a:spcPct val="150000"/>
              </a:lnSpc>
              <a:buFont typeface="+mj-lt"/>
              <a:buAutoNum type="arabicPeriod"/>
            </a:pPr>
            <a:r>
              <a:rPr lang="en-US" sz="2200" b="1" dirty="0">
                <a:latin typeface="Calibri" panose="020F0502020204030204" pitchFamily="34" charset="0"/>
                <a:cs typeface="Calibri" panose="020F0502020204030204" pitchFamily="34" charset="0"/>
              </a:rPr>
              <a:t>Understanding Semantic HTML: </a:t>
            </a:r>
            <a:r>
              <a:rPr lang="en-US" sz="2200" dirty="0">
                <a:latin typeface="Calibri" panose="020F0502020204030204" pitchFamily="34" charset="0"/>
                <a:cs typeface="Calibri" panose="020F0502020204030204" pitchFamily="34" charset="0"/>
              </a:rPr>
              <a:t>By creating a template with semantic wireframe elements like </a:t>
            </a:r>
            <a:r>
              <a:rPr lang="en-US" sz="2200" b="1" dirty="0">
                <a:latin typeface="Calibri" panose="020F0502020204030204" pitchFamily="34" charset="0"/>
                <a:cs typeface="Calibri" panose="020F0502020204030204" pitchFamily="34" charset="0"/>
              </a:rPr>
              <a:t>header</a:t>
            </a:r>
            <a:r>
              <a:rPr lang="en-US" sz="2200" dirty="0">
                <a:latin typeface="Calibri" panose="020F0502020204030204" pitchFamily="34" charset="0"/>
                <a:cs typeface="Calibri" panose="020F0502020204030204" pitchFamily="34" charset="0"/>
              </a:rPr>
              <a:t>, </a:t>
            </a:r>
            <a:r>
              <a:rPr lang="en-US" sz="2200" b="1" dirty="0">
                <a:latin typeface="Calibri" panose="020F0502020204030204" pitchFamily="34" charset="0"/>
                <a:cs typeface="Calibri" panose="020F0502020204030204" pitchFamily="34" charset="0"/>
              </a:rPr>
              <a:t>nav</a:t>
            </a:r>
            <a:r>
              <a:rPr lang="en-US" sz="2200" dirty="0">
                <a:latin typeface="Calibri" panose="020F0502020204030204" pitchFamily="34" charset="0"/>
                <a:cs typeface="Calibri" panose="020F0502020204030204" pitchFamily="34" charset="0"/>
              </a:rPr>
              <a:t>, </a:t>
            </a:r>
            <a:r>
              <a:rPr lang="en-US" sz="2200" b="1" dirty="0">
                <a:latin typeface="Calibri" panose="020F0502020204030204" pitchFamily="34" charset="0"/>
                <a:cs typeface="Calibri" panose="020F0502020204030204" pitchFamily="34" charset="0"/>
              </a:rPr>
              <a:t>main</a:t>
            </a:r>
            <a:r>
              <a:rPr lang="en-US" sz="2200" dirty="0">
                <a:latin typeface="Calibri" panose="020F0502020204030204" pitchFamily="34" charset="0"/>
                <a:cs typeface="Calibri" panose="020F0502020204030204" pitchFamily="34" charset="0"/>
              </a:rPr>
              <a:t>, and </a:t>
            </a:r>
            <a:r>
              <a:rPr lang="en-US" sz="2200" b="1" dirty="0">
                <a:latin typeface="Calibri" panose="020F0502020204030204" pitchFamily="34" charset="0"/>
                <a:cs typeface="Calibri" panose="020F0502020204030204" pitchFamily="34" charset="0"/>
              </a:rPr>
              <a:t>footer</a:t>
            </a:r>
            <a:r>
              <a:rPr lang="en-US" sz="2200" dirty="0">
                <a:latin typeface="Calibri" panose="020F0502020204030204" pitchFamily="34" charset="0"/>
                <a:cs typeface="Calibri" panose="020F0502020204030204" pitchFamily="34" charset="0"/>
              </a:rPr>
              <a:t>, you learn the importance of semantic HTML in web design. Semantic HTML5 elements convey meaning about the type of content they contain, not just its appearance, which is crucial for accessibility and search engine optimization (SEO).</a:t>
            </a:r>
          </a:p>
          <a:p>
            <a:pPr marL="457200" indent="-457200">
              <a:lnSpc>
                <a:spcPct val="150000"/>
              </a:lnSpc>
              <a:buFont typeface="+mj-lt"/>
              <a:buAutoNum type="arabicPeriod"/>
            </a:pPr>
            <a:r>
              <a:rPr lang="en-US" sz="2200" b="1" dirty="0">
                <a:latin typeface="Calibri" panose="020F0502020204030204" pitchFamily="34" charset="0"/>
                <a:cs typeface="Calibri" panose="020F0502020204030204" pitchFamily="34" charset="0"/>
              </a:rPr>
              <a:t>Practical Application: </a:t>
            </a:r>
            <a:r>
              <a:rPr lang="en-US" sz="2200" dirty="0">
                <a:latin typeface="Calibri" panose="020F0502020204030204" pitchFamily="34" charset="0"/>
                <a:cs typeface="Calibri" panose="020F0502020204030204" pitchFamily="34" charset="0"/>
              </a:rPr>
              <a:t>The tasks require you to apply the concepts learned in lectures by creating a webpage template and styling it using CSS. This solidifies your theoretical knowledge through practical application.</a:t>
            </a:r>
          </a:p>
        </p:txBody>
      </p:sp>
      <p:sp>
        <p:nvSpPr>
          <p:cNvPr id="7" name="TextBox 6">
            <a:extLst>
              <a:ext uri="{FF2B5EF4-FFF2-40B4-BE49-F238E27FC236}">
                <a16:creationId xmlns:a16="http://schemas.microsoft.com/office/drawing/2014/main" id="{50AE2931-D5C2-2859-DCFD-B7DC3C1BB676}"/>
              </a:ext>
            </a:extLst>
          </p:cNvPr>
          <p:cNvSpPr txBox="1"/>
          <p:nvPr/>
        </p:nvSpPr>
        <p:spPr>
          <a:xfrm>
            <a:off x="94593" y="7144"/>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Tree>
    <p:extLst>
      <p:ext uri="{BB962C8B-B14F-4D97-AF65-F5344CB8AC3E}">
        <p14:creationId xmlns:p14="http://schemas.microsoft.com/office/powerpoint/2010/main" val="2932045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75D024B9-B036-F4C5-8848-3FDC554962DE}"/>
              </a:ext>
            </a:extLst>
          </p:cNvPr>
          <p:cNvSpPr txBox="1"/>
          <p:nvPr/>
        </p:nvSpPr>
        <p:spPr>
          <a:xfrm>
            <a:off x="47296" y="683136"/>
            <a:ext cx="12097407" cy="4610365"/>
          </a:xfrm>
          <a:prstGeom prst="rect">
            <a:avLst/>
          </a:prstGeom>
          <a:noFill/>
        </p:spPr>
        <p:txBody>
          <a:bodyPr wrap="square" rtlCol="0">
            <a:spAutoFit/>
          </a:bodyPr>
          <a:lstStyle/>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Research and Documentation: </a:t>
            </a:r>
            <a:r>
              <a:rPr lang="en-US" sz="2200" dirty="0">
                <a:latin typeface="Calibri" panose="020F0502020204030204" pitchFamily="34" charset="0"/>
                <a:cs typeface="Calibri" panose="020F0502020204030204" pitchFamily="34" charset="0"/>
              </a:rPr>
              <a:t>The assignment asks you to research various HTML elements and document your findings as comments in the code, promoting the skill of self-learning and the importance of code documentation for future reference.</a:t>
            </a:r>
          </a:p>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Webpage Validation: </a:t>
            </a:r>
            <a:r>
              <a:rPr lang="en-US" sz="2200" dirty="0">
                <a:latin typeface="Calibri" panose="020F0502020204030204" pitchFamily="34" charset="0"/>
                <a:cs typeface="Calibri" panose="020F0502020204030204" pitchFamily="34" charset="0"/>
              </a:rPr>
              <a:t>By validating the webpage using the W3C validator, you ensure that the HTML and CSS code adheres to web standards, which is important for cross-browser compatibility and long-term maintainability of the code.</a:t>
            </a:r>
          </a:p>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Styling with CSS: </a:t>
            </a:r>
            <a:r>
              <a:rPr lang="en-US" sz="2200" dirty="0">
                <a:latin typeface="Calibri" panose="020F0502020204030204" pitchFamily="34" charset="0"/>
                <a:cs typeface="Calibri" panose="020F0502020204030204" pitchFamily="34" charset="0"/>
              </a:rPr>
              <a:t>The project requires the use of external, embedded, and inline CSS to style the webpage, giving you hands-on experience with different methods of applying styles, and understanding the advantages and best use-cases for each method.</a:t>
            </a:r>
          </a:p>
        </p:txBody>
      </p:sp>
    </p:spTree>
    <p:extLst>
      <p:ext uri="{BB962C8B-B14F-4D97-AF65-F5344CB8AC3E}">
        <p14:creationId xmlns:p14="http://schemas.microsoft.com/office/powerpoint/2010/main" val="862219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75D024B9-B036-F4C5-8848-3FDC554962DE}"/>
              </a:ext>
            </a:extLst>
          </p:cNvPr>
          <p:cNvSpPr txBox="1"/>
          <p:nvPr/>
        </p:nvSpPr>
        <p:spPr>
          <a:xfrm>
            <a:off x="0" y="641094"/>
            <a:ext cx="12097407" cy="2071208"/>
          </a:xfrm>
          <a:prstGeom prst="rect">
            <a:avLst/>
          </a:prstGeom>
          <a:noFill/>
        </p:spPr>
        <p:txBody>
          <a:bodyPr wrap="square" rtlCol="0">
            <a:spAutoFit/>
          </a:bodyPr>
          <a:lstStyle/>
          <a:p>
            <a:pPr marL="452438" indent="-452438">
              <a:lnSpc>
                <a:spcPct val="150000"/>
              </a:lnSpc>
            </a:pPr>
            <a:r>
              <a:rPr lang="en-US" sz="2200" b="1" dirty="0">
                <a:latin typeface="Calibri" panose="020F0502020204030204" pitchFamily="34" charset="0"/>
                <a:cs typeface="Calibri" panose="020F0502020204030204" pitchFamily="34" charset="0"/>
              </a:rPr>
              <a:t>6.    CSS Layout Techniques: </a:t>
            </a:r>
            <a:r>
              <a:rPr lang="en-US" sz="2200" dirty="0">
                <a:latin typeface="Calibri" panose="020F0502020204030204" pitchFamily="34" charset="0"/>
                <a:cs typeface="Calibri" panose="020F0502020204030204" pitchFamily="34" charset="0"/>
              </a:rPr>
              <a:t>You will practice CSS layout techniques such as using the float property and the margin property to align elements, which are essential skills for creating visually appealing and well-structured web pages.</a:t>
            </a:r>
          </a:p>
          <a:p>
            <a:pPr marL="452438" indent="-452438">
              <a:lnSpc>
                <a:spcPct val="150000"/>
              </a:lnSpc>
            </a:pPr>
            <a:r>
              <a:rPr lang="en-US" sz="2200" b="1" dirty="0">
                <a:latin typeface="Calibri" panose="020F0502020204030204" pitchFamily="34" charset="0"/>
                <a:cs typeface="Calibri" panose="020F0502020204030204" pitchFamily="34" charset="0"/>
              </a:rPr>
              <a:t>7.    Problem Solving and Debugging: </a:t>
            </a:r>
            <a:endParaRPr lang="en-US"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C1E860A5-C787-D510-5B7D-5D71237BAFC6}"/>
              </a:ext>
            </a:extLst>
          </p:cNvPr>
          <p:cNvSpPr txBox="1"/>
          <p:nvPr/>
        </p:nvSpPr>
        <p:spPr>
          <a:xfrm>
            <a:off x="84082" y="2922509"/>
            <a:ext cx="11929241" cy="2074029"/>
          </a:xfrm>
          <a:prstGeom prst="rect">
            <a:avLst/>
          </a:prstGeom>
          <a:noFill/>
        </p:spPr>
        <p:txBody>
          <a:bodyPr wrap="square">
            <a:spAutoFit/>
          </a:bodyPr>
          <a:lstStyle/>
          <a:p>
            <a:pPr>
              <a:lnSpc>
                <a:spcPct val="150000"/>
              </a:lnSpc>
            </a:pPr>
            <a:r>
              <a:rPr lang="en-US" sz="2200" dirty="0">
                <a:latin typeface="Calibri" panose="020F0502020204030204" pitchFamily="34" charset="0"/>
                <a:cs typeface="Calibri" panose="020F0502020204030204" pitchFamily="34" charset="0"/>
              </a:rPr>
              <a:t>In summary, this assignment is designed to develop a comprehensive set of web design skills, from understanding the structure and semantics of HTML to applying styles and layouts with CSS. These are fundamental skills for any web designer or developer and are essential for creating efficient, accessible, and maintainable web pages​</a:t>
            </a:r>
            <a:endParaRPr lang="en-AU" sz="2200" dirty="0"/>
          </a:p>
        </p:txBody>
      </p:sp>
    </p:spTree>
    <p:extLst>
      <p:ext uri="{BB962C8B-B14F-4D97-AF65-F5344CB8AC3E}">
        <p14:creationId xmlns:p14="http://schemas.microsoft.com/office/powerpoint/2010/main" val="4233143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4" name="TextBox 3">
            <a:extLst>
              <a:ext uri="{FF2B5EF4-FFF2-40B4-BE49-F238E27FC236}">
                <a16:creationId xmlns:a16="http://schemas.microsoft.com/office/drawing/2014/main" id="{C1E860A5-C787-D510-5B7D-5D71237BAFC6}"/>
              </a:ext>
            </a:extLst>
          </p:cNvPr>
          <p:cNvSpPr txBox="1"/>
          <p:nvPr/>
        </p:nvSpPr>
        <p:spPr>
          <a:xfrm>
            <a:off x="0" y="654269"/>
            <a:ext cx="11929241" cy="105836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Use the </a:t>
            </a:r>
            <a:r>
              <a:rPr lang="en-US" sz="2200" b="1" dirty="0">
                <a:latin typeface="Calibri" panose="020F0502020204030204" pitchFamily="34" charset="0"/>
                <a:cs typeface="Calibri" panose="020F0502020204030204" pitchFamily="34" charset="0"/>
              </a:rPr>
              <a:t>apply02.docx</a:t>
            </a:r>
            <a:r>
              <a:rPr lang="en-US" sz="2200" dirty="0">
                <a:latin typeface="Calibri" panose="020F0502020204030204" pitchFamily="34" charset="0"/>
                <a:cs typeface="Calibri" panose="020F0502020204030204" pitchFamily="34" charset="0"/>
              </a:rPr>
              <a:t> document and the </a:t>
            </a:r>
            <a:r>
              <a:rPr lang="en-US" sz="2200" b="1" dirty="0">
                <a:latin typeface="Calibri" panose="020F0502020204030204" pitchFamily="34" charset="0"/>
                <a:cs typeface="Calibri" panose="020F0502020204030204" pitchFamily="34" charset="0"/>
              </a:rPr>
              <a:t>Weeks 4-5 Lab.pdf </a:t>
            </a:r>
            <a:r>
              <a:rPr lang="en-US" sz="2200" dirty="0">
                <a:latin typeface="Calibri" panose="020F0502020204030204" pitchFamily="34" charset="0"/>
                <a:cs typeface="Calibri" panose="020F0502020204030204" pitchFamily="34" charset="0"/>
              </a:rPr>
              <a:t>as guides through each task. For HTML and CSS syntax, you can refer to </a:t>
            </a:r>
            <a:r>
              <a:rPr lang="en-US" sz="2200" dirty="0" err="1">
                <a:latin typeface="Calibri" panose="020F0502020204030204" pitchFamily="34" charset="0"/>
                <a:cs typeface="Calibri" panose="020F0502020204030204" pitchFamily="34" charset="0"/>
              </a:rPr>
              <a:t>Notepadd</a:t>
            </a:r>
            <a:r>
              <a:rPr lang="en-US" sz="2200" dirty="0">
                <a:latin typeface="Calibri" panose="020F0502020204030204" pitchFamily="34" charset="0"/>
                <a:cs typeface="Calibri" panose="020F0502020204030204" pitchFamily="34" charset="0"/>
              </a:rPr>
              <a:t>++ or web resources such as </a:t>
            </a:r>
            <a:r>
              <a:rPr lang="en-US" sz="2200" dirty="0">
                <a:latin typeface="Calibri" panose="020F0502020204030204" pitchFamily="34" charset="0"/>
                <a:cs typeface="Calibri" panose="020F0502020204030204" pitchFamily="34" charset="0"/>
                <a:hlinkClick r:id="rId2"/>
              </a:rPr>
              <a:t>https://w3schools.com/</a:t>
            </a:r>
            <a:endParaRPr lang="en-AU" sz="2200" dirty="0"/>
          </a:p>
        </p:txBody>
      </p:sp>
      <p:sp>
        <p:nvSpPr>
          <p:cNvPr id="2" name="TextBox 1">
            <a:extLst>
              <a:ext uri="{FF2B5EF4-FFF2-40B4-BE49-F238E27FC236}">
                <a16:creationId xmlns:a16="http://schemas.microsoft.com/office/drawing/2014/main" id="{02CB2019-8A6B-BEC7-64F2-CE44CB1D4BFC}"/>
              </a:ext>
            </a:extLst>
          </p:cNvPr>
          <p:cNvSpPr txBox="1"/>
          <p:nvPr/>
        </p:nvSpPr>
        <p:spPr>
          <a:xfrm>
            <a:off x="0" y="1936018"/>
            <a:ext cx="11929241" cy="156619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Given the instructions and details from the </a:t>
            </a:r>
            <a:r>
              <a:rPr lang="en-US" sz="2200" b="1" dirty="0">
                <a:latin typeface="Calibri" panose="020F0502020204030204" pitchFamily="34" charset="0"/>
                <a:cs typeface="Calibri" panose="020F0502020204030204" pitchFamily="34" charset="0"/>
              </a:rPr>
              <a:t>Weeks 4-5 Lab </a:t>
            </a:r>
            <a:r>
              <a:rPr lang="en-US" sz="2200" dirty="0">
                <a:latin typeface="Calibri" panose="020F0502020204030204" pitchFamily="34" charset="0"/>
                <a:cs typeface="Calibri" panose="020F0502020204030204" pitchFamily="34" charset="0"/>
              </a:rPr>
              <a:t>PDF and the apply02.docx, let's write the HTML code needed to create a web page template with semantic HTML5 elements and then style it with CSS.</a:t>
            </a:r>
            <a:endParaRPr lang="en-AU" sz="2200" dirty="0"/>
          </a:p>
        </p:txBody>
      </p:sp>
    </p:spTree>
    <p:extLst>
      <p:ext uri="{BB962C8B-B14F-4D97-AF65-F5344CB8AC3E}">
        <p14:creationId xmlns:p14="http://schemas.microsoft.com/office/powerpoint/2010/main" val="1023932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C1E860A5-C787-D510-5B7D-5D71237BAFC6}"/>
              </a:ext>
            </a:extLst>
          </p:cNvPr>
          <p:cNvSpPr txBox="1"/>
          <p:nvPr/>
        </p:nvSpPr>
        <p:spPr>
          <a:xfrm>
            <a:off x="94594" y="430887"/>
            <a:ext cx="3951890" cy="6136680"/>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1) HTML Code for Template Creation (template02.html)</a:t>
            </a:r>
          </a:p>
          <a:p>
            <a:pPr>
              <a:lnSpc>
                <a:spcPct val="150000"/>
              </a:lnSpc>
            </a:pPr>
            <a:r>
              <a:rPr lang="en-US" sz="2200" dirty="0">
                <a:latin typeface="Calibri" panose="020F0502020204030204" pitchFamily="34" charset="0"/>
                <a:cs typeface="Calibri" panose="020F0502020204030204" pitchFamily="34" charset="0"/>
              </a:rPr>
              <a:t>Here's the basic structure with semantic HTML5 elements and HTML comments to indicate the type of content each section should contain:</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Please always change, showcase your</a:t>
            </a:r>
            <a:br>
              <a:rPr lang="en-US" sz="2200" dirty="0">
                <a:latin typeface="Calibri" panose="020F0502020204030204" pitchFamily="34" charset="0"/>
                <a:cs typeface="Calibri" panose="020F0502020204030204" pitchFamily="34" charset="0"/>
              </a:rPr>
            </a:br>
            <a:r>
              <a:rPr lang="en-US" sz="2200" dirty="0">
                <a:latin typeface="Calibri" panose="020F0502020204030204" pitchFamily="34" charset="0"/>
                <a:cs typeface="Calibri" panose="020F0502020204030204" pitchFamily="34" charset="0"/>
              </a:rPr>
              <a:t>coding skills, then save it as </a:t>
            </a:r>
            <a:br>
              <a:rPr lang="en-US" sz="2200" dirty="0">
                <a:latin typeface="Calibri" panose="020F0502020204030204" pitchFamily="34" charset="0"/>
                <a:cs typeface="Calibri" panose="020F0502020204030204" pitchFamily="34" charset="0"/>
              </a:rPr>
            </a:br>
            <a:r>
              <a:rPr lang="en-US" sz="2200" b="1" dirty="0">
                <a:latin typeface="Calibri" panose="020F0502020204030204" pitchFamily="34" charset="0"/>
                <a:cs typeface="Calibri" panose="020F0502020204030204" pitchFamily="34" charset="0"/>
              </a:rPr>
              <a:t>html extension </a:t>
            </a:r>
            <a:r>
              <a:rPr lang="en-US" sz="2200" dirty="0">
                <a:latin typeface="Calibri" panose="020F0502020204030204" pitchFamily="34" charset="0"/>
                <a:cs typeface="Calibri" panose="020F0502020204030204" pitchFamily="34" charset="0"/>
              </a:rPr>
              <a:t>in file in </a:t>
            </a:r>
            <a:r>
              <a:rPr lang="en-US" sz="2200" b="1" dirty="0">
                <a:latin typeface="Calibri" panose="020F0502020204030204" pitchFamily="34" charset="0"/>
                <a:cs typeface="Calibri" panose="020F0502020204030204" pitchFamily="34" charset="0"/>
              </a:rPr>
              <a:t>C:\xampp\htdocs</a:t>
            </a:r>
            <a:endParaRPr lang="en-AU" sz="2200" b="1" dirty="0"/>
          </a:p>
        </p:txBody>
      </p:sp>
      <p:pic>
        <p:nvPicPr>
          <p:cNvPr id="6" name="Picture 5">
            <a:extLst>
              <a:ext uri="{FF2B5EF4-FFF2-40B4-BE49-F238E27FC236}">
                <a16:creationId xmlns:a16="http://schemas.microsoft.com/office/drawing/2014/main" id="{C708B99D-9163-3A7E-8497-E521F7B67CA9}"/>
              </a:ext>
            </a:extLst>
          </p:cNvPr>
          <p:cNvPicPr>
            <a:picLocks noChangeAspect="1"/>
          </p:cNvPicPr>
          <p:nvPr/>
        </p:nvPicPr>
        <p:blipFill rotWithShape="1">
          <a:blip r:embed="rId2"/>
          <a:srcRect l="2032"/>
          <a:stretch/>
        </p:blipFill>
        <p:spPr>
          <a:xfrm>
            <a:off x="5223641" y="4735022"/>
            <a:ext cx="6968359" cy="1658362"/>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3"/>
          <a:srcRect l="4482" t="12052" r="11810" b="21992"/>
          <a:stretch/>
        </p:blipFill>
        <p:spPr>
          <a:xfrm>
            <a:off x="4001995" y="10474"/>
            <a:ext cx="8190005" cy="3629926"/>
          </a:xfrm>
          <a:prstGeom prst="rect">
            <a:avLst/>
          </a:prstGeom>
        </p:spPr>
      </p:pic>
    </p:spTree>
    <p:extLst>
      <p:ext uri="{BB962C8B-B14F-4D97-AF65-F5344CB8AC3E}">
        <p14:creationId xmlns:p14="http://schemas.microsoft.com/office/powerpoint/2010/main" val="2706347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2"/>
          <a:srcRect l="4482" t="12052" r="11810" b="21992"/>
          <a:stretch/>
        </p:blipFill>
        <p:spPr>
          <a:xfrm>
            <a:off x="4046484" y="505366"/>
            <a:ext cx="8145516" cy="3610208"/>
          </a:xfrm>
          <a:prstGeom prst="rect">
            <a:avLst/>
          </a:prstGeom>
        </p:spPr>
      </p:pic>
      <p:sp>
        <p:nvSpPr>
          <p:cNvPr id="10" name="TextBox 9">
            <a:extLst>
              <a:ext uri="{FF2B5EF4-FFF2-40B4-BE49-F238E27FC236}">
                <a16:creationId xmlns:a16="http://schemas.microsoft.com/office/drawing/2014/main" id="{7FD105B0-72AD-5878-B364-AAB2F2730BFC}"/>
              </a:ext>
            </a:extLst>
          </p:cNvPr>
          <p:cNvSpPr txBox="1"/>
          <p:nvPr/>
        </p:nvSpPr>
        <p:spPr>
          <a:xfrm>
            <a:off x="210207" y="517179"/>
            <a:ext cx="4214648" cy="6408421"/>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1: Creating a Template with a Semantic Wireframe</a:t>
            </a:r>
            <a:endParaRPr lang="en-AU" sz="2300" b="1" dirty="0">
              <a:highlight>
                <a:srgbClr val="00FF00"/>
              </a:highlight>
              <a:latin typeface="Calibri" panose="020F0502020204030204" pitchFamily="34" charset="0"/>
              <a:cs typeface="Calibri" panose="020F0502020204030204" pitchFamily="34" charset="0"/>
            </a:endParaRPr>
          </a:p>
          <a:p>
            <a:pPr marL="457200" indent="-457200">
              <a:lnSpc>
                <a:spcPct val="150000"/>
              </a:lnSpc>
              <a:buAutoNum type="arabicPeriod"/>
            </a:pPr>
            <a:r>
              <a:rPr lang="en-US" sz="2300" b="1" dirty="0">
                <a:latin typeface="Calibri" panose="020F0502020204030204" pitchFamily="34" charset="0"/>
                <a:cs typeface="Calibri" panose="020F0502020204030204" pitchFamily="34" charset="0"/>
              </a:rPr>
              <a:t>HTML Tags Entry: </a:t>
            </a:r>
            <a:r>
              <a:rPr lang="en-US" sz="2300" dirty="0">
                <a:latin typeface="Calibri" panose="020F0502020204030204" pitchFamily="34" charset="0"/>
                <a:cs typeface="Calibri" panose="020F0502020204030204" pitchFamily="34" charset="0"/>
              </a:rPr>
              <a:t>Use an HTML editor to enter HTML tags for creating a webpage template with semantic HTML5 structural tags.</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You will need to input HTML tags as specified in the document and use indents to make the code readable.</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11738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20D88088-BECB-AB4B-7F6E-D4DAA06E2E3A}"/>
              </a:ext>
            </a:extLst>
          </p:cNvPr>
          <p:cNvSpPr txBox="1"/>
          <p:nvPr/>
        </p:nvSpPr>
        <p:spPr>
          <a:xfrm>
            <a:off x="231229" y="430887"/>
            <a:ext cx="10983310" cy="3753848"/>
          </a:xfrm>
          <a:prstGeom prst="rect">
            <a:avLst/>
          </a:prstGeom>
          <a:noFill/>
        </p:spPr>
        <p:txBody>
          <a:bodyPr wrap="square" rtlCol="0">
            <a:spAutoFit/>
          </a:bodyPr>
          <a:lstStyle/>
          <a:p>
            <a:pPr>
              <a:lnSpc>
                <a:spcPct val="150000"/>
              </a:lnSpc>
            </a:pPr>
            <a:r>
              <a:rPr lang="en-AU" sz="2300" b="1" dirty="0">
                <a:latin typeface="Calibri" panose="020F0502020204030204" pitchFamily="34" charset="0"/>
                <a:cs typeface="Calibri" panose="020F0502020204030204" pitchFamily="34" charset="0"/>
              </a:rPr>
              <a:t>2.  Title Element Research:</a:t>
            </a:r>
          </a:p>
          <a:p>
            <a:pPr>
              <a:lnSpc>
                <a:spcPct val="150000"/>
              </a:lnSpc>
            </a:pPr>
            <a:r>
              <a:rPr lang="en-AU" sz="2300" dirty="0">
                <a:latin typeface="Calibri" panose="020F0502020204030204" pitchFamily="34" charset="0"/>
                <a:cs typeface="Calibri" panose="020F0502020204030204" pitchFamily="34" charset="0"/>
              </a:rPr>
              <a:t>Utilise a search engine to understand the &lt;‘title’&gt; element and document findings as HTML comments. </a:t>
            </a:r>
            <a:r>
              <a:rPr lang="en-US" sz="2300" dirty="0">
                <a:latin typeface="Calibri" panose="020F0502020204030204" pitchFamily="34" charset="0"/>
                <a:cs typeface="Calibri" panose="020F0502020204030204" pitchFamily="34" charset="0"/>
              </a:rPr>
              <a:t>You need to research what a title element is and its importance for a web page.</a:t>
            </a:r>
          </a:p>
          <a:p>
            <a:pPr>
              <a:lnSpc>
                <a:spcPct val="150000"/>
              </a:lnSpc>
            </a:pPr>
            <a:r>
              <a:rPr lang="en-US" sz="2300" b="1" dirty="0">
                <a:latin typeface="Calibri" panose="020F0502020204030204" pitchFamily="34" charset="0"/>
                <a:cs typeface="Calibri" panose="020F0502020204030204" pitchFamily="34" charset="0"/>
              </a:rPr>
              <a:t>3.  Applying Research:</a:t>
            </a:r>
          </a:p>
          <a:p>
            <a:pPr>
              <a:lnSpc>
                <a:spcPct val="150000"/>
              </a:lnSpc>
            </a:pPr>
            <a:r>
              <a:rPr lang="en-US" sz="2300" dirty="0">
                <a:latin typeface="Calibri" panose="020F0502020204030204" pitchFamily="34" charset="0"/>
                <a:cs typeface="Calibri" panose="020F0502020204030204" pitchFamily="34" charset="0"/>
              </a:rPr>
              <a:t>Save the webpage addresses used for research in the apply02.docx document.</a:t>
            </a:r>
          </a:p>
          <a:p>
            <a:pPr marL="630238" indent="-27305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involves documenting sources of your research for future reference or validation.</a:t>
            </a:r>
            <a:endParaRPr lang="en-AU" sz="23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spTree>
    <p:extLst>
      <p:ext uri="{BB962C8B-B14F-4D97-AF65-F5344CB8AC3E}">
        <p14:creationId xmlns:p14="http://schemas.microsoft.com/office/powerpoint/2010/main" val="2598218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20D88088-BECB-AB4B-7F6E-D4DAA06E2E3A}"/>
              </a:ext>
            </a:extLst>
          </p:cNvPr>
          <p:cNvSpPr txBox="1"/>
          <p:nvPr/>
        </p:nvSpPr>
        <p:spPr>
          <a:xfrm>
            <a:off x="273269" y="430887"/>
            <a:ext cx="10941270" cy="5877506"/>
          </a:xfrm>
          <a:prstGeom prst="rect">
            <a:avLst/>
          </a:prstGeom>
          <a:noFill/>
        </p:spPr>
        <p:txBody>
          <a:bodyPr wrap="square" rtlCol="0">
            <a:spAutoFit/>
          </a:bodyPr>
          <a:lstStyle/>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4.  Semantic HTML Research</a:t>
            </a:r>
            <a:r>
              <a:rPr lang="en-US" altLang="en-US" sz="2300" dirty="0">
                <a:solidFill>
                  <a:srgbClr val="0D0D0D"/>
                </a:solidFill>
                <a:latin typeface="Calibri" panose="020F0502020204030204" pitchFamily="34" charset="0"/>
                <a:cs typeface="Calibri" panose="020F0502020204030204" pitchFamily="34" charset="0"/>
              </a:rPr>
              <a:t>: You will need to answer specific questions about semantic HTML5 elements (</a:t>
            </a:r>
            <a:r>
              <a:rPr lang="en-US" altLang="en-US" sz="2300" b="1" dirty="0">
                <a:solidFill>
                  <a:srgbClr val="0D0D0D"/>
                </a:solidFill>
                <a:latin typeface="Calibri" panose="020F0502020204030204" pitchFamily="34" charset="0"/>
                <a:cs typeface="Calibri" panose="020F0502020204030204" pitchFamily="34" charset="0"/>
              </a:rPr>
              <a:t>header</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nav</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main</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footer</a:t>
            </a:r>
            <a:r>
              <a:rPr lang="en-US" altLang="en-US" sz="2300" dirty="0">
                <a:solidFill>
                  <a:srgbClr val="0D0D0D"/>
                </a:solidFill>
                <a:latin typeface="Calibri" panose="020F0502020204030204" pitchFamily="34" charset="0"/>
                <a:cs typeface="Calibri" panose="020F0502020204030204" pitchFamily="34" charset="0"/>
              </a:rPr>
              <a:t>) using a search engine.</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This will require you to understand what each tag represents and its role in the structure of a webpage.</a:t>
            </a:r>
          </a:p>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5.  HTML Commenting</a:t>
            </a:r>
            <a:r>
              <a:rPr lang="en-US" altLang="en-US" sz="2300" dirty="0">
                <a:solidFill>
                  <a:srgbClr val="0D0D0D"/>
                </a:solidFill>
                <a:latin typeface="Calibri" panose="020F0502020204030204" pitchFamily="34" charset="0"/>
                <a:cs typeface="Calibri" panose="020F0502020204030204" pitchFamily="34" charset="0"/>
              </a:rPr>
              <a:t>: Replace comments with researched answers in the </a:t>
            </a:r>
            <a:r>
              <a:rPr lang="en-US" altLang="en-US" sz="2300" b="1" dirty="0">
                <a:solidFill>
                  <a:srgbClr val="0D0D0D"/>
                </a:solidFill>
                <a:latin typeface="Calibri" panose="020F0502020204030204" pitchFamily="34" charset="0"/>
                <a:cs typeface="Calibri" panose="020F0502020204030204" pitchFamily="34" charset="0"/>
              </a:rPr>
              <a:t>template02.html</a:t>
            </a:r>
            <a:r>
              <a:rPr lang="en-US" altLang="en-US" sz="2300" dirty="0">
                <a:solidFill>
                  <a:srgbClr val="0D0D0D"/>
                </a:solidFill>
                <a:latin typeface="Calibri" panose="020F0502020204030204" pitchFamily="34" charset="0"/>
                <a:cs typeface="Calibri" panose="020F0502020204030204" pitchFamily="34" charset="0"/>
              </a:rPr>
              <a:t> document.</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You will replace placeholder comments with the appropriate explanations as HTML comments.</a:t>
            </a:r>
          </a:p>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6.  Validation with W3C</a:t>
            </a:r>
            <a:r>
              <a:rPr lang="en-US" altLang="en-US" sz="2300" dirty="0">
                <a:solidFill>
                  <a:srgbClr val="0D0D0D"/>
                </a:solidFill>
                <a:latin typeface="Calibri" panose="020F0502020204030204" pitchFamily="34" charset="0"/>
                <a:cs typeface="Calibri" panose="020F0502020204030204" pitchFamily="34" charset="0"/>
              </a:rPr>
              <a:t>: Validate the </a:t>
            </a:r>
            <a:r>
              <a:rPr lang="en-US" altLang="en-US" sz="2300" b="1" dirty="0">
                <a:solidFill>
                  <a:srgbClr val="0D0D0D"/>
                </a:solidFill>
                <a:latin typeface="Calibri" panose="020F0502020204030204" pitchFamily="34" charset="0"/>
                <a:cs typeface="Calibri" panose="020F0502020204030204" pitchFamily="34" charset="0"/>
              </a:rPr>
              <a:t>template02.html</a:t>
            </a:r>
            <a:r>
              <a:rPr lang="en-US" altLang="en-US" sz="2300" dirty="0">
                <a:solidFill>
                  <a:srgbClr val="0D0D0D"/>
                </a:solidFill>
                <a:latin typeface="Calibri" panose="020F0502020204030204" pitchFamily="34" charset="0"/>
                <a:cs typeface="Calibri" panose="020F0502020204030204" pitchFamily="34" charset="0"/>
              </a:rPr>
              <a:t> document using W3C validator and correct any issues.</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This step ensures that the HTML code adheres to current web standards.</a:t>
            </a:r>
            <a:endParaRPr lang="en-US" altLang="en-US" sz="23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sp>
        <p:nvSpPr>
          <p:cNvPr id="2" name="Rectangle 1">
            <a:extLst>
              <a:ext uri="{FF2B5EF4-FFF2-40B4-BE49-F238E27FC236}">
                <a16:creationId xmlns:a16="http://schemas.microsoft.com/office/drawing/2014/main" id="{2A8CB516-F3FB-BD0B-9386-2B88BFB0B76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 name="Rectangle 2">
            <a:extLst>
              <a:ext uri="{FF2B5EF4-FFF2-40B4-BE49-F238E27FC236}">
                <a16:creationId xmlns:a16="http://schemas.microsoft.com/office/drawing/2014/main" id="{2C7FC75C-996C-A3D5-1D51-9F095148264C}"/>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227319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210207" y="517179"/>
            <a:ext cx="11151476" cy="5346592"/>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2: Styling a Webpage</a:t>
            </a:r>
          </a:p>
          <a:p>
            <a:pPr lvl="0" eaLnBrk="0" fontAlgn="base" hangingPunct="0">
              <a:lnSpc>
                <a:spcPct val="150000"/>
              </a:lnSpc>
              <a:spcBef>
                <a:spcPct val="0"/>
              </a:spcBef>
              <a:spcAft>
                <a:spcPct val="0"/>
              </a:spcAft>
              <a:buFontTx/>
              <a:buAutoNum type="arabicPeriod"/>
            </a:pPr>
            <a:r>
              <a:rPr lang="en-US" altLang="en-US" sz="2300" b="1" dirty="0">
                <a:solidFill>
                  <a:srgbClr val="0D0D0D"/>
                </a:solidFill>
                <a:latin typeface="Calibri" panose="020F0502020204030204" pitchFamily="34" charset="0"/>
                <a:cs typeface="Calibri" panose="020F0502020204030204" pitchFamily="34" charset="0"/>
              </a:rPr>
              <a:t> CSS Styling</a:t>
            </a:r>
            <a:r>
              <a:rPr lang="en-US" altLang="en-US" sz="2300" dirty="0">
                <a:solidFill>
                  <a:srgbClr val="0D0D0D"/>
                </a:solidFill>
                <a:latin typeface="Calibri" panose="020F0502020204030204" pitchFamily="34" charset="0"/>
                <a:cs typeface="Calibri" panose="020F0502020204030204" pitchFamily="34" charset="0"/>
              </a:rPr>
              <a:t>: Create styles for the semantic wireframe sections (</a:t>
            </a:r>
            <a:r>
              <a:rPr lang="en-US" altLang="en-US" sz="2300" b="1" dirty="0">
                <a:solidFill>
                  <a:srgbClr val="0D0D0D"/>
                </a:solidFill>
                <a:latin typeface="Calibri" panose="020F0502020204030204" pitchFamily="34" charset="0"/>
                <a:cs typeface="Calibri" panose="020F0502020204030204" pitchFamily="34" charset="0"/>
              </a:rPr>
              <a:t>header</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nav</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main</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footer</a:t>
            </a:r>
            <a:r>
              <a:rPr lang="en-US" altLang="en-US" sz="2300" dirty="0">
                <a:solidFill>
                  <a:srgbClr val="0D0D0D"/>
                </a:solidFill>
                <a:latin typeface="Calibri" panose="020F0502020204030204" pitchFamily="34" charset="0"/>
                <a:cs typeface="Calibri" panose="020F0502020204030204" pitchFamily="34" charset="0"/>
              </a:rPr>
              <a:t>) and a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element.</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You will create an external stylesheet, link it to the HTML document, and apply styles as instructed.</a:t>
            </a:r>
          </a:p>
          <a:p>
            <a:pPr lvl="0" eaLnBrk="0" fontAlgn="base" hangingPunct="0">
              <a:lnSpc>
                <a:spcPct val="150000"/>
              </a:lnSpc>
              <a:spcBef>
                <a:spcPct val="0"/>
              </a:spcBef>
              <a:spcAft>
                <a:spcPct val="0"/>
              </a:spcAft>
              <a:buFontTx/>
              <a:buAutoNum type="arabicPeriod" startAt="2"/>
            </a:pPr>
            <a:r>
              <a:rPr lang="en-US" altLang="en-US" sz="2300" b="1" dirty="0">
                <a:solidFill>
                  <a:srgbClr val="0D0D0D"/>
                </a:solidFill>
                <a:latin typeface="Calibri" panose="020F0502020204030204" pitchFamily="34" charset="0"/>
                <a:cs typeface="Calibri" panose="020F0502020204030204" pitchFamily="34" charset="0"/>
              </a:rPr>
              <a:t> Centering Content</a:t>
            </a:r>
            <a:r>
              <a:rPr lang="en-US" altLang="en-US" sz="2300" dirty="0">
                <a:solidFill>
                  <a:srgbClr val="0D0D0D"/>
                </a:solidFill>
                <a:latin typeface="Calibri" panose="020F0502020204030204" pitchFamily="34" charset="0"/>
                <a:cs typeface="Calibri" panose="020F0502020204030204" pitchFamily="34" charset="0"/>
              </a:rPr>
              <a:t>: Use CSS to center content within a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wrapper.</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A specific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with an id of </a:t>
            </a:r>
            <a:r>
              <a:rPr lang="en-US" altLang="en-US" sz="2300" b="1" dirty="0" err="1">
                <a:solidFill>
                  <a:srgbClr val="0D0D0D"/>
                </a:solidFill>
                <a:latin typeface="Calibri" panose="020F0502020204030204" pitchFamily="34" charset="0"/>
                <a:cs typeface="Calibri" panose="020F0502020204030204" pitchFamily="34" charset="0"/>
              </a:rPr>
              <a:t>outerwrapper</a:t>
            </a:r>
            <a:r>
              <a:rPr lang="en-US" altLang="en-US" sz="2300" dirty="0">
                <a:solidFill>
                  <a:srgbClr val="0D0D0D"/>
                </a:solidFill>
                <a:latin typeface="Calibri" panose="020F0502020204030204" pitchFamily="34" charset="0"/>
                <a:cs typeface="Calibri" panose="020F0502020204030204" pitchFamily="34" charset="0"/>
              </a:rPr>
              <a:t> will be styled to center the page content.</a:t>
            </a:r>
          </a:p>
          <a:p>
            <a:pPr lvl="0" eaLnBrk="0" fontAlgn="base" hangingPunct="0">
              <a:lnSpc>
                <a:spcPct val="150000"/>
              </a:lnSpc>
              <a:spcBef>
                <a:spcPct val="0"/>
              </a:spcBef>
              <a:spcAft>
                <a:spcPct val="0"/>
              </a:spcAft>
              <a:buFontTx/>
              <a:buAutoNum type="arabicPeriod" startAt="3"/>
            </a:pPr>
            <a:r>
              <a:rPr lang="en-US" altLang="en-US" sz="2300" b="1" dirty="0">
                <a:solidFill>
                  <a:srgbClr val="0D0D0D"/>
                </a:solidFill>
                <a:latin typeface="Calibri" panose="020F0502020204030204" pitchFamily="34" charset="0"/>
                <a:cs typeface="Calibri" panose="020F0502020204030204" pitchFamily="34" charset="0"/>
              </a:rPr>
              <a:t> Font Family Styling</a:t>
            </a:r>
            <a:r>
              <a:rPr lang="en-US" altLang="en-US" sz="2300" dirty="0">
                <a:solidFill>
                  <a:srgbClr val="0D0D0D"/>
                </a:solidFill>
                <a:latin typeface="Calibri" panose="020F0502020204030204" pitchFamily="34" charset="0"/>
                <a:cs typeface="Calibri" panose="020F0502020204030204" pitchFamily="34" charset="0"/>
              </a:rPr>
              <a:t>: Apply sans-serif and serif fonts to different sections of the webpage.</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This requires understanding which font styles are appropriate for various parts of a webpage.</a:t>
            </a:r>
            <a:endParaRPr lang="en-AU" sz="2300" b="1" dirty="0">
              <a:highlight>
                <a:srgbClr val="00FF00"/>
              </a:highlight>
              <a:latin typeface="Calibri" panose="020F0502020204030204" pitchFamily="34" charset="0"/>
              <a:cs typeface="Calibri" panose="020F0502020204030204" pitchFamily="34" charset="0"/>
            </a:endParaRP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7406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189187" y="275441"/>
            <a:ext cx="11151476" cy="5877506"/>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2: Styling a Webpage</a:t>
            </a:r>
          </a:p>
          <a:p>
            <a:pPr>
              <a:lnSpc>
                <a:spcPct val="150000"/>
              </a:lnSpc>
            </a:pPr>
            <a:r>
              <a:rPr lang="en-US" sz="2300" b="1" dirty="0">
                <a:solidFill>
                  <a:srgbClr val="0D0D0D"/>
                </a:solidFill>
                <a:highlight>
                  <a:srgbClr val="FFFFFF"/>
                </a:highlight>
                <a:latin typeface="Söhne"/>
              </a:rPr>
              <a:t>4. Image Floating</a:t>
            </a:r>
            <a:r>
              <a:rPr lang="en-US" sz="2300" dirty="0">
                <a:solidFill>
                  <a:srgbClr val="0D0D0D"/>
                </a:solidFill>
                <a:highlight>
                  <a:srgbClr val="FFFFFF"/>
                </a:highlight>
                <a:latin typeface="Söhne"/>
              </a:rPr>
              <a:t>: Float an image to the left and clear the float where necessary.</a:t>
            </a:r>
          </a:p>
          <a:p>
            <a:pPr marL="742950" lvl="1" indent="-285750">
              <a:lnSpc>
                <a:spcPct val="150000"/>
              </a:lnSpc>
              <a:buFont typeface="+mj-lt"/>
              <a:buAutoNum type="arabicPeriod"/>
            </a:pPr>
            <a:r>
              <a:rPr lang="en-US" sz="2300" dirty="0">
                <a:solidFill>
                  <a:srgbClr val="0D0D0D"/>
                </a:solidFill>
                <a:highlight>
                  <a:srgbClr val="FFFFFF"/>
                </a:highlight>
                <a:latin typeface="Söhne"/>
              </a:rPr>
              <a:t>You will learn how to manipulate text flow around images.</a:t>
            </a:r>
          </a:p>
          <a:p>
            <a:pPr>
              <a:lnSpc>
                <a:spcPct val="150000"/>
              </a:lnSpc>
            </a:pPr>
            <a:r>
              <a:rPr lang="en-US" sz="2300" b="1" dirty="0">
                <a:solidFill>
                  <a:srgbClr val="0D0D0D"/>
                </a:solidFill>
                <a:highlight>
                  <a:srgbClr val="FFFFFF"/>
                </a:highlight>
                <a:latin typeface="Söhne"/>
              </a:rPr>
              <a:t>5. Margins, Borders, and Professional Touch</a:t>
            </a:r>
            <a:r>
              <a:rPr lang="en-US" sz="2300" dirty="0">
                <a:solidFill>
                  <a:srgbClr val="0D0D0D"/>
                </a:solidFill>
                <a:highlight>
                  <a:srgbClr val="FFFFFF"/>
                </a:highlight>
                <a:latin typeface="Söhne"/>
              </a:rPr>
              <a:t>: Add margins and borders to the page elements to make the page look professional.</a:t>
            </a:r>
          </a:p>
          <a:p>
            <a:pPr marL="742950" lvl="1" indent="-285750">
              <a:lnSpc>
                <a:spcPct val="150000"/>
              </a:lnSpc>
              <a:buFont typeface="+mj-lt"/>
              <a:buAutoNum type="arabicPeriod"/>
            </a:pPr>
            <a:r>
              <a:rPr lang="en-US" sz="2300" dirty="0">
                <a:solidFill>
                  <a:srgbClr val="0D0D0D"/>
                </a:solidFill>
                <a:highlight>
                  <a:srgbClr val="FFFFFF"/>
                </a:highlight>
                <a:latin typeface="Söhne"/>
              </a:rPr>
              <a:t>This teaches the aesthetic spacing and bordering of page elements.</a:t>
            </a:r>
          </a:p>
          <a:p>
            <a:pPr>
              <a:lnSpc>
                <a:spcPct val="150000"/>
              </a:lnSpc>
            </a:pPr>
            <a:r>
              <a:rPr lang="en-US" sz="2300" b="1" dirty="0">
                <a:solidFill>
                  <a:srgbClr val="0D0D0D"/>
                </a:solidFill>
                <a:highlight>
                  <a:srgbClr val="FFFFFF"/>
                </a:highlight>
                <a:latin typeface="Söhne"/>
              </a:rPr>
              <a:t>6. Embedded and Inline Styles</a:t>
            </a:r>
            <a:r>
              <a:rPr lang="en-US" sz="2300" dirty="0">
                <a:solidFill>
                  <a:srgbClr val="0D0D0D"/>
                </a:solidFill>
                <a:highlight>
                  <a:srgbClr val="FFFFFF"/>
                </a:highlight>
                <a:latin typeface="Söhne"/>
              </a:rPr>
              <a:t>: Use different methods of CSS application (external, embedded, and inline) and understand their use cases.</a:t>
            </a:r>
          </a:p>
          <a:p>
            <a:pPr marL="742950" lvl="1" indent="-285750">
              <a:lnSpc>
                <a:spcPct val="150000"/>
              </a:lnSpc>
              <a:buFont typeface="+mj-lt"/>
              <a:buAutoNum type="arabicPeriod"/>
            </a:pPr>
            <a:r>
              <a:rPr lang="en-US" sz="2300" dirty="0">
                <a:solidFill>
                  <a:srgbClr val="0D0D0D"/>
                </a:solidFill>
                <a:highlight>
                  <a:srgbClr val="FFFFFF"/>
                </a:highlight>
                <a:latin typeface="Söhne"/>
              </a:rPr>
              <a:t>You will apply CSS directly within the HTML document for specific elements.</a:t>
            </a:r>
          </a:p>
          <a:p>
            <a:pPr>
              <a:lnSpc>
                <a:spcPct val="150000"/>
              </a:lnSpc>
            </a:pPr>
            <a:r>
              <a:rPr lang="en-US" sz="2300" b="1" dirty="0">
                <a:solidFill>
                  <a:srgbClr val="0D0D0D"/>
                </a:solidFill>
                <a:highlight>
                  <a:srgbClr val="FFFFFF"/>
                </a:highlight>
                <a:latin typeface="Söhne"/>
              </a:rPr>
              <a:t>7. Code Validation and Submission</a:t>
            </a:r>
            <a:r>
              <a:rPr lang="en-US" sz="2300" dirty="0">
                <a:solidFill>
                  <a:srgbClr val="0D0D0D"/>
                </a:solidFill>
                <a:highlight>
                  <a:srgbClr val="FFFFFF"/>
                </a:highlight>
                <a:latin typeface="Söhne"/>
              </a:rPr>
              <a:t>: Validate the code again using W3C and submit the files as per instructor's format.</a:t>
            </a: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981848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1E860A5-C787-D510-5B7D-5D71237BAFC6}"/>
              </a:ext>
            </a:extLst>
          </p:cNvPr>
          <p:cNvSpPr txBox="1"/>
          <p:nvPr/>
        </p:nvSpPr>
        <p:spPr>
          <a:xfrm>
            <a:off x="94594" y="430887"/>
            <a:ext cx="4908330" cy="6109365"/>
          </a:xfrm>
          <a:prstGeom prst="rect">
            <a:avLst/>
          </a:prstGeom>
          <a:noFill/>
        </p:spPr>
        <p:txBody>
          <a:bodyPr wrap="square">
            <a:spAutoFit/>
          </a:bodyPr>
          <a:lstStyle/>
          <a:p>
            <a:pPr lvl="0" eaLnBrk="0" fontAlgn="base" hangingPunct="0">
              <a:spcBef>
                <a:spcPct val="0"/>
              </a:spcBef>
              <a:spcAft>
                <a:spcPct val="0"/>
              </a:spcAft>
              <a:buFontTx/>
              <a:buAutoNum type="arabicPeriod"/>
            </a:pPr>
            <a:r>
              <a:rPr lang="en-US" altLang="en-US" sz="2300" b="1" dirty="0">
                <a:solidFill>
                  <a:srgbClr val="0D0D0D"/>
                </a:solidFill>
                <a:latin typeface="Calibri" panose="020F0502020204030204" pitchFamily="34" charset="0"/>
                <a:cs typeface="Calibri" panose="020F0502020204030204" pitchFamily="34" charset="0"/>
              </a:rPr>
              <a:t> Document Type and Meta Information</a:t>
            </a:r>
            <a:r>
              <a:rPr lang="en-US" altLang="en-US" sz="2300" dirty="0">
                <a:solidFill>
                  <a:srgbClr val="0D0D0D"/>
                </a:solidFill>
                <a:latin typeface="Calibri" panose="020F0502020204030204" pitchFamily="34" charset="0"/>
                <a:cs typeface="Calibri" panose="020F0502020204030204" pitchFamily="34" charset="0"/>
              </a:rPr>
              <a:t>:</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&lt;!DOCTYPE html&gt;</a:t>
            </a:r>
            <a:r>
              <a:rPr lang="en-US" altLang="en-US" sz="2300" dirty="0">
                <a:solidFill>
                  <a:srgbClr val="0D0D0D"/>
                </a:solidFill>
                <a:latin typeface="Calibri" panose="020F0502020204030204" pitchFamily="34" charset="0"/>
                <a:cs typeface="Calibri" panose="020F0502020204030204" pitchFamily="34" charset="0"/>
              </a:rPr>
              <a:t>: Declares the document type and version of HTML (HTML5).</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&lt;meta charset="UTF-8"&gt;</a:t>
            </a:r>
            <a:r>
              <a:rPr lang="en-US" altLang="en-US" sz="2300" dirty="0">
                <a:solidFill>
                  <a:srgbClr val="0D0D0D"/>
                </a:solidFill>
                <a:latin typeface="Calibri" panose="020F0502020204030204" pitchFamily="34" charset="0"/>
                <a:cs typeface="Calibri" panose="020F0502020204030204" pitchFamily="34" charset="0"/>
              </a:rPr>
              <a:t>: Specifies the character encoding for the webpage (UTF-8).</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&lt;meta name="viewport" content="width=device-width, initial-scale=1.0"&gt;</a:t>
            </a:r>
            <a:r>
              <a:rPr lang="en-US" altLang="en-US" sz="2300" dirty="0">
                <a:solidFill>
                  <a:srgbClr val="0D0D0D"/>
                </a:solidFill>
                <a:latin typeface="Calibri" panose="020F0502020204030204" pitchFamily="34" charset="0"/>
                <a:cs typeface="Calibri" panose="020F0502020204030204" pitchFamily="34" charset="0"/>
              </a:rPr>
              <a:t>: Ensures the page is optimized for responsive design.</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&lt;title&gt;</a:t>
            </a:r>
            <a:r>
              <a:rPr lang="en-US" altLang="en-US" sz="2300" dirty="0">
                <a:solidFill>
                  <a:srgbClr val="0D0D0D"/>
                </a:solidFill>
                <a:latin typeface="Calibri" panose="020F0502020204030204" pitchFamily="34" charset="0"/>
                <a:cs typeface="Calibri" panose="020F0502020204030204" pitchFamily="34" charset="0"/>
              </a:rPr>
              <a:t>: The title of the document, which appears in the browser tab; it should describe the topic or contents of the document.</a:t>
            </a:r>
          </a:p>
        </p:txBody>
      </p:sp>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Code - Main Document</a:t>
            </a:r>
          </a:p>
        </p:txBody>
      </p:sp>
      <p:pic>
        <p:nvPicPr>
          <p:cNvPr id="2" name="Picture 1">
            <a:extLst>
              <a:ext uri="{FF2B5EF4-FFF2-40B4-BE49-F238E27FC236}">
                <a16:creationId xmlns:a16="http://schemas.microsoft.com/office/drawing/2014/main" id="{21FF9ECD-E1BF-3664-2FDF-F5BF81FAEB49}"/>
              </a:ext>
            </a:extLst>
          </p:cNvPr>
          <p:cNvPicPr>
            <a:picLocks noChangeAspect="1"/>
          </p:cNvPicPr>
          <p:nvPr/>
        </p:nvPicPr>
        <p:blipFill rotWithShape="1">
          <a:blip r:embed="rId2"/>
          <a:srcRect l="4482" t="12052" r="11810" b="21992"/>
          <a:stretch/>
        </p:blipFill>
        <p:spPr>
          <a:xfrm>
            <a:off x="4897821" y="756709"/>
            <a:ext cx="7294179" cy="3232883"/>
          </a:xfrm>
          <a:prstGeom prst="rect">
            <a:avLst/>
          </a:prstGeom>
        </p:spPr>
      </p:pic>
      <p:pic>
        <p:nvPicPr>
          <p:cNvPr id="4" name="Picture 3">
            <a:extLst>
              <a:ext uri="{FF2B5EF4-FFF2-40B4-BE49-F238E27FC236}">
                <a16:creationId xmlns:a16="http://schemas.microsoft.com/office/drawing/2014/main" id="{E2DA0374-3BCA-CE31-EEEB-C8E58BC8280F}"/>
              </a:ext>
            </a:extLst>
          </p:cNvPr>
          <p:cNvPicPr>
            <a:picLocks noChangeAspect="1"/>
          </p:cNvPicPr>
          <p:nvPr/>
        </p:nvPicPr>
        <p:blipFill rotWithShape="1">
          <a:blip r:embed="rId3"/>
          <a:srcRect l="2032"/>
          <a:stretch/>
        </p:blipFill>
        <p:spPr>
          <a:xfrm>
            <a:off x="5223641" y="4735022"/>
            <a:ext cx="6968359" cy="1658362"/>
          </a:xfrm>
          <a:prstGeom prst="rect">
            <a:avLst/>
          </a:prstGeom>
        </p:spPr>
      </p:pic>
      <p:sp>
        <p:nvSpPr>
          <p:cNvPr id="5" name="Rectangle: Rounded Corners 4">
            <a:extLst>
              <a:ext uri="{FF2B5EF4-FFF2-40B4-BE49-F238E27FC236}">
                <a16:creationId xmlns:a16="http://schemas.microsoft.com/office/drawing/2014/main" id="{49F2D9AF-85CD-8717-7F71-B8CEB070A67F}"/>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8551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1" presetClass="entr" presetSubtype="1" fill="hold" nodeType="with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wheel(1)">
                                      <p:cBhvr>
                                        <p:cTn id="29" dur="2000"/>
                                        <p:tgtEl>
                                          <p:spTgt spid="4"/>
                                        </p:tgtEl>
                                      </p:cBhvr>
                                    </p:animEffect>
                                  </p:childTnLst>
                                </p:cTn>
                              </p:par>
                              <p:par>
                                <p:cTn id="30" presetID="6" presetClass="entr" presetSubtype="16"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circle(in)">
                                      <p:cBhvr>
                                        <p:cTn id="32"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Code - Main Document</a:t>
            </a:r>
          </a:p>
        </p:txBody>
      </p:sp>
      <p:sp>
        <p:nvSpPr>
          <p:cNvPr id="3" name="TextBox 2">
            <a:extLst>
              <a:ext uri="{FF2B5EF4-FFF2-40B4-BE49-F238E27FC236}">
                <a16:creationId xmlns:a16="http://schemas.microsoft.com/office/drawing/2014/main" id="{C1E860A5-C787-D510-5B7D-5D71237BAFC6}"/>
              </a:ext>
            </a:extLst>
          </p:cNvPr>
          <p:cNvSpPr txBox="1"/>
          <p:nvPr/>
        </p:nvSpPr>
        <p:spPr>
          <a:xfrm>
            <a:off x="94594" y="430887"/>
            <a:ext cx="4908330" cy="6001643"/>
          </a:xfrm>
          <a:prstGeom prst="rect">
            <a:avLst/>
          </a:prstGeom>
          <a:noFill/>
        </p:spPr>
        <p:txBody>
          <a:bodyPr wrap="square">
            <a:spAutoFit/>
          </a:bodyPr>
          <a:lstStyle/>
          <a:p>
            <a:pPr lvl="0" eaLnBrk="0" fontAlgn="base" hangingPunct="0">
              <a:spcBef>
                <a:spcPct val="0"/>
              </a:spcBef>
              <a:spcAft>
                <a:spcPct val="0"/>
              </a:spcAft>
            </a:pPr>
            <a:r>
              <a:rPr lang="en-US" altLang="en-US" sz="2400" b="1" dirty="0">
                <a:solidFill>
                  <a:srgbClr val="0D0D0D"/>
                </a:solidFill>
                <a:latin typeface="Söhne"/>
              </a:rPr>
              <a:t>2. Structural Elements</a:t>
            </a:r>
            <a:r>
              <a:rPr lang="en-US" altLang="en-US" sz="2400" dirty="0">
                <a:solidFill>
                  <a:srgbClr val="0D0D0D"/>
                </a:solidFill>
                <a:latin typeface="Söhne"/>
              </a:rPr>
              <a:t>:</a:t>
            </a:r>
          </a:p>
          <a:p>
            <a:pPr lvl="1" eaLnBrk="0" fontAlgn="base" hangingPunct="0">
              <a:spcBef>
                <a:spcPct val="0"/>
              </a:spcBef>
              <a:spcAft>
                <a:spcPct val="0"/>
              </a:spcAft>
              <a:buFontTx/>
              <a:buChar char="•"/>
            </a:pPr>
            <a:r>
              <a:rPr lang="en-US" altLang="en-US" sz="2400" b="1" dirty="0">
                <a:solidFill>
                  <a:srgbClr val="0D0D0D"/>
                </a:solidFill>
                <a:latin typeface="Söhne Mono"/>
              </a:rPr>
              <a:t> &lt;header&gt;</a:t>
            </a:r>
            <a:r>
              <a:rPr lang="en-US" altLang="en-US" sz="2400" dirty="0">
                <a:solidFill>
                  <a:srgbClr val="0D0D0D"/>
                </a:solidFill>
                <a:latin typeface="Söhne"/>
              </a:rPr>
              <a:t>: Typically contains introductory content or navigation links. It's the first thing users see in the "body" of the document.</a:t>
            </a:r>
          </a:p>
          <a:p>
            <a:pPr lvl="1" eaLnBrk="0" fontAlgn="base" hangingPunct="0">
              <a:spcBef>
                <a:spcPct val="0"/>
              </a:spcBef>
              <a:spcAft>
                <a:spcPct val="0"/>
              </a:spcAft>
              <a:buFontTx/>
              <a:buChar char="•"/>
            </a:pPr>
            <a:r>
              <a:rPr lang="en-US" altLang="en-US" sz="2400" b="1" dirty="0">
                <a:solidFill>
                  <a:srgbClr val="0D0D0D"/>
                </a:solidFill>
                <a:latin typeface="Söhne Mono"/>
              </a:rPr>
              <a:t> &lt;nav&gt;</a:t>
            </a:r>
            <a:r>
              <a:rPr lang="en-US" altLang="en-US" sz="2400" dirty="0">
                <a:solidFill>
                  <a:srgbClr val="0D0D0D"/>
                </a:solidFill>
                <a:latin typeface="Söhne"/>
              </a:rPr>
              <a:t>: Dedicated to navigation links, helping users navigate the site or app.</a:t>
            </a:r>
          </a:p>
          <a:p>
            <a:pPr lvl="1" eaLnBrk="0" fontAlgn="base" hangingPunct="0">
              <a:spcBef>
                <a:spcPct val="0"/>
              </a:spcBef>
              <a:spcAft>
                <a:spcPct val="0"/>
              </a:spcAft>
              <a:buFontTx/>
              <a:buChar char="•"/>
            </a:pPr>
            <a:r>
              <a:rPr lang="en-US" altLang="en-US" sz="2400" b="1" dirty="0">
                <a:solidFill>
                  <a:srgbClr val="0D0D0D"/>
                </a:solidFill>
                <a:latin typeface="Söhne Mono"/>
              </a:rPr>
              <a:t> &lt;main&gt;</a:t>
            </a:r>
            <a:r>
              <a:rPr lang="en-US" altLang="en-US" sz="2400" dirty="0">
                <a:solidFill>
                  <a:srgbClr val="0D0D0D"/>
                </a:solidFill>
                <a:latin typeface="Söhne"/>
              </a:rPr>
              <a:t>: The core content of the webpage, distinct from sidebars, footers, and navigation bars. It's the primary focus of the document.</a:t>
            </a:r>
          </a:p>
          <a:p>
            <a:pPr lvl="1" eaLnBrk="0" fontAlgn="base" hangingPunct="0">
              <a:spcBef>
                <a:spcPct val="0"/>
              </a:spcBef>
              <a:spcAft>
                <a:spcPct val="0"/>
              </a:spcAft>
              <a:buFontTx/>
              <a:buChar char="•"/>
            </a:pPr>
            <a:r>
              <a:rPr lang="en-US" altLang="en-US" sz="2400" b="1" dirty="0">
                <a:solidFill>
                  <a:srgbClr val="0D0D0D"/>
                </a:solidFill>
                <a:latin typeface="Söhne Mono"/>
              </a:rPr>
              <a:t> &lt;footer&gt;</a:t>
            </a:r>
            <a:r>
              <a:rPr lang="en-US" altLang="en-US" sz="2400" dirty="0">
                <a:solidFill>
                  <a:srgbClr val="0D0D0D"/>
                </a:solidFill>
                <a:latin typeface="Söhne"/>
              </a:rPr>
              <a:t>: Contains auxiliary information like copyrights, links to privacy policies, or contact info.</a:t>
            </a:r>
          </a:p>
        </p:txBody>
      </p:sp>
      <p:pic>
        <p:nvPicPr>
          <p:cNvPr id="6" name="Picture 5">
            <a:extLst>
              <a:ext uri="{FF2B5EF4-FFF2-40B4-BE49-F238E27FC236}">
                <a16:creationId xmlns:a16="http://schemas.microsoft.com/office/drawing/2014/main" id="{C708B99D-9163-3A7E-8497-E521F7B67CA9}"/>
              </a:ext>
            </a:extLst>
          </p:cNvPr>
          <p:cNvPicPr>
            <a:picLocks noChangeAspect="1"/>
          </p:cNvPicPr>
          <p:nvPr/>
        </p:nvPicPr>
        <p:blipFill rotWithShape="1">
          <a:blip r:embed="rId2"/>
          <a:srcRect l="2032"/>
          <a:stretch/>
        </p:blipFill>
        <p:spPr>
          <a:xfrm>
            <a:off x="5223641" y="4735022"/>
            <a:ext cx="6968359" cy="1658362"/>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3"/>
          <a:srcRect l="4482" t="12052" r="11810" b="21992"/>
          <a:stretch/>
        </p:blipFill>
        <p:spPr>
          <a:xfrm>
            <a:off x="4897821" y="622739"/>
            <a:ext cx="7294179" cy="3232883"/>
          </a:xfrm>
          <a:prstGeom prst="rect">
            <a:avLst/>
          </a:prstGeom>
        </p:spPr>
      </p:pic>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Rectangle 1">
            <a:extLst>
              <a:ext uri="{FF2B5EF4-FFF2-40B4-BE49-F238E27FC236}">
                <a16:creationId xmlns:a16="http://schemas.microsoft.com/office/drawing/2014/main" id="{59B35D60-4685-D563-0370-E18836A0C2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964000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E860A5-C787-D510-5B7D-5D71237BAFC6}"/>
              </a:ext>
            </a:extLst>
          </p:cNvPr>
          <p:cNvSpPr txBox="1"/>
          <p:nvPr/>
        </p:nvSpPr>
        <p:spPr>
          <a:xfrm>
            <a:off x="0" y="0"/>
            <a:ext cx="12191999" cy="1058367"/>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2) CSS Styling for the Template (styles.css) - </a:t>
            </a:r>
            <a:r>
              <a:rPr lang="en-US" sz="2200" dirty="0">
                <a:latin typeface="Calibri" panose="020F0502020204030204" pitchFamily="34" charset="0"/>
                <a:cs typeface="Calibri" panose="020F0502020204030204" pitchFamily="34" charset="0"/>
              </a:rPr>
              <a:t>Please always change, showcase your coding skills, then save it as </a:t>
            </a:r>
            <a:r>
              <a:rPr lang="en-US" sz="2200" b="1" dirty="0">
                <a:latin typeface="Calibri" panose="020F0502020204030204" pitchFamily="34" charset="0"/>
                <a:cs typeface="Calibri" panose="020F0502020204030204" pitchFamily="34" charset="0"/>
              </a:rPr>
              <a:t>Cascade Style Sheets File (CSS) extension </a:t>
            </a:r>
            <a:r>
              <a:rPr lang="en-US" sz="2200" dirty="0">
                <a:latin typeface="Calibri" panose="020F0502020204030204" pitchFamily="34" charset="0"/>
                <a:cs typeface="Calibri" panose="020F0502020204030204" pitchFamily="34" charset="0"/>
              </a:rPr>
              <a:t>in file in </a:t>
            </a:r>
            <a:r>
              <a:rPr lang="en-US" sz="2200" b="1" dirty="0">
                <a:latin typeface="Calibri" panose="020F0502020204030204" pitchFamily="34" charset="0"/>
                <a:cs typeface="Calibri" panose="020F0502020204030204" pitchFamily="34" charset="0"/>
              </a:rPr>
              <a:t>C:\xampp\htdocs</a:t>
            </a:r>
            <a:endParaRPr lang="en-AU" sz="2200" b="1" dirty="0"/>
          </a:p>
        </p:txBody>
      </p:sp>
      <p:pic>
        <p:nvPicPr>
          <p:cNvPr id="12" name="Picture 11">
            <a:extLst>
              <a:ext uri="{FF2B5EF4-FFF2-40B4-BE49-F238E27FC236}">
                <a16:creationId xmlns:a16="http://schemas.microsoft.com/office/drawing/2014/main" id="{DB5A515C-77BB-9AF7-7AC8-477297A91F09}"/>
              </a:ext>
            </a:extLst>
          </p:cNvPr>
          <p:cNvPicPr>
            <a:picLocks noChangeAspect="1"/>
          </p:cNvPicPr>
          <p:nvPr/>
        </p:nvPicPr>
        <p:blipFill rotWithShape="1">
          <a:blip r:embed="rId2"/>
          <a:srcRect l="1208" t="1303" r="38102" b="9425"/>
          <a:stretch/>
        </p:blipFill>
        <p:spPr>
          <a:xfrm>
            <a:off x="5919955" y="1668418"/>
            <a:ext cx="6272043" cy="5189581"/>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6642536" y="4987037"/>
            <a:ext cx="5370785" cy="13149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Rounded Corners 12">
            <a:extLst>
              <a:ext uri="{FF2B5EF4-FFF2-40B4-BE49-F238E27FC236}">
                <a16:creationId xmlns:a16="http://schemas.microsoft.com/office/drawing/2014/main" id="{AE51BE65-66E0-43D9-2018-72CD4DC31D88}"/>
              </a:ext>
            </a:extLst>
          </p:cNvPr>
          <p:cNvSpPr/>
          <p:nvPr/>
        </p:nvSpPr>
        <p:spPr>
          <a:xfrm>
            <a:off x="10710041" y="6516294"/>
            <a:ext cx="751492" cy="34170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3"/>
          <a:srcRect l="3966" t="10949" r="55172" b="15402"/>
          <a:stretch/>
        </p:blipFill>
        <p:spPr>
          <a:xfrm>
            <a:off x="21020" y="976221"/>
            <a:ext cx="5843752" cy="5924560"/>
          </a:xfrm>
          <a:prstGeom prst="rect">
            <a:avLst/>
          </a:prstGeom>
        </p:spPr>
      </p:pic>
    </p:spTree>
    <p:extLst>
      <p:ext uri="{BB962C8B-B14F-4D97-AF65-F5344CB8AC3E}">
        <p14:creationId xmlns:p14="http://schemas.microsoft.com/office/powerpoint/2010/main" val="35732397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3913059"/>
          </a:xfrm>
          <a:prstGeom prst="rect">
            <a:avLst/>
          </a:prstGeom>
          <a:noFill/>
        </p:spPr>
        <p:txBody>
          <a:bodyPr wrap="square" rtlCol="0">
            <a:spAutoFit/>
          </a:bodyPr>
          <a:lstStyle/>
          <a:p>
            <a:pPr>
              <a:lnSpc>
                <a:spcPct val="150000"/>
              </a:lnSpc>
            </a:pPr>
            <a:r>
              <a:rPr lang="en-US" sz="2400" b="1" dirty="0">
                <a:latin typeface="Calibri" panose="020F0502020204030204" pitchFamily="34" charset="0"/>
                <a:cs typeface="Calibri" panose="020F0502020204030204" pitchFamily="34" charset="0"/>
              </a:rPr>
              <a:t>Explanation of the CSS code:</a:t>
            </a:r>
            <a:br>
              <a:rPr lang="en-US" sz="2400" b="1" dirty="0">
                <a:latin typeface="Calibri" panose="020F0502020204030204" pitchFamily="34" charset="0"/>
                <a:cs typeface="Calibri" panose="020F0502020204030204" pitchFamily="34" charset="0"/>
              </a:rPr>
            </a:br>
            <a:r>
              <a:rPr lang="en-US" sz="2400" b="1" dirty="0">
                <a:latin typeface="Calibri" panose="020F0502020204030204" pitchFamily="34" charset="0"/>
                <a:cs typeface="Calibri" panose="020F0502020204030204" pitchFamily="34" charset="0"/>
              </a:rPr>
              <a:t>1. Comment with name and date:</a:t>
            </a:r>
            <a:r>
              <a:rPr lang="en-US" sz="2400" dirty="0">
                <a:latin typeface="Calibri" panose="020F0502020204030204" pitchFamily="34" charset="0"/>
                <a:cs typeface="Calibri" panose="020F0502020204030204" pitchFamily="34" charset="0"/>
              </a:rPr>
              <a:t> This part of the code is a and the current date. Comments in CSS are ignored by browsers and serve only for documentation purposes.</a:t>
            </a:r>
          </a:p>
          <a:p>
            <a:pPr>
              <a:lnSpc>
                <a:spcPct val="150000"/>
              </a:lnSpc>
            </a:pPr>
            <a:r>
              <a:rPr lang="en-US" sz="2400" dirty="0">
                <a:latin typeface="Calibri" panose="020F0502020204030204" pitchFamily="34" charset="0"/>
                <a:cs typeface="Calibri" panose="020F0502020204030204" pitchFamily="34" charset="0"/>
              </a:rPr>
              <a:t>/* Your Name – Date */</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65522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129050"/>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2400" b="1" dirty="0">
                <a:solidFill>
                  <a:srgbClr val="0D0D0D"/>
                </a:solidFill>
                <a:latin typeface="Calibri" panose="020F0502020204030204" pitchFamily="34" charset="0"/>
                <a:cs typeface="Calibri" panose="020F0502020204030204" pitchFamily="34" charset="0"/>
              </a:rPr>
              <a:t>2.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Body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color: #000000;</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This sets the text color of the entire document to black.</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background-color: #D9F1C1;</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background color of the entire page is set to a light green.</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"Times New Roman", 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default font for the page is set to Times New Roman with a fallback to any generic serif font if Times New Roman is not available.</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546380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683048"/>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3. Outer 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width: 80%;</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width of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#outerwrapper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is set to 80% of its parent element, typically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body</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margin: 0 auto;</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This centers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#outerwrapper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horizontally within its parent element.</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4. Header, Nav, Footer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Calibri, Arial, sans-serif;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These elements are styled with a sans-serif font, preferring Calibri or Arial.</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99068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622839" cy="6740307"/>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5. Main Section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Garamond, "Times New Roman", 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text within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#main</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section uses Garamond, with Times New Roman as a fallback.</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background-color: #F0F9E6;</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 lighter shade of green is set as the background color.</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padding: 10px;</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Adds padding around the content inside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#main</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section, increasing its readability.</a:t>
            </a:r>
          </a:p>
          <a:p>
            <a:pPr marL="0" marR="0" lvl="0" indent="0" algn="l" defTabSz="914400" rtl="0" eaLnBrk="0" fontAlgn="base" latinLnBrk="0" hangingPunct="0">
              <a:lnSpc>
                <a:spcPct val="100000"/>
              </a:lnSpc>
              <a:spcBef>
                <a:spcPct val="0"/>
              </a:spcBef>
              <a:spcAft>
                <a:spcPct val="0"/>
              </a:spcAft>
              <a:buClrTx/>
              <a:buSzTx/>
              <a:tabLst/>
            </a:pPr>
            <a:r>
              <a:rPr lang="en-US" altLang="en-US" sz="2400" b="1" dirty="0">
                <a:solidFill>
                  <a:srgbClr val="0D0D0D"/>
                </a:solidFill>
                <a:latin typeface="Calibri" panose="020F0502020204030204" pitchFamily="34" charset="0"/>
                <a:cs typeface="Calibri" panose="020F0502020204030204" pitchFamily="34" charset="0"/>
              </a:rPr>
              <a:t>6.</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Image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float: left;</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Images will float to the left, allowing text to wrap around on the right.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margin-right: 2%;</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Adds a right margin to the images, creating space between them and any adjacent content.</a:t>
            </a: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32490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129050"/>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7. Navigation Clearing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clear: both;</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Ensures that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nav</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does not wrap around any floated elements above it, effectively clearing previous floats.</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8. Footer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font-size: 0.75em;</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font size in the footer is smaller than the rest of the text.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text-align: center;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Centers the text within the footer.</a:t>
            </a: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798F94D8-7C68-C146-2D25-9DB4A86DCF48}"/>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38098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798F94D8-7C68-C146-2D25-9DB4A86DCF48}"/>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7" name="Picture 6">
            <a:extLst>
              <a:ext uri="{FF2B5EF4-FFF2-40B4-BE49-F238E27FC236}">
                <a16:creationId xmlns:a16="http://schemas.microsoft.com/office/drawing/2014/main" id="{8F7FDA91-3B65-4BCF-B028-2A576006A328}"/>
              </a:ext>
            </a:extLst>
          </p:cNvPr>
          <p:cNvPicPr>
            <a:picLocks noChangeAspect="1"/>
          </p:cNvPicPr>
          <p:nvPr/>
        </p:nvPicPr>
        <p:blipFill>
          <a:blip r:embed="rId2"/>
          <a:stretch>
            <a:fillRect/>
          </a:stretch>
        </p:blipFill>
        <p:spPr>
          <a:xfrm>
            <a:off x="0" y="811187"/>
            <a:ext cx="12192000" cy="6046813"/>
          </a:xfrm>
          <a:prstGeom prst="rect">
            <a:avLst/>
          </a:prstGeom>
        </p:spPr>
      </p:pic>
      <p:sp>
        <p:nvSpPr>
          <p:cNvPr id="10" name="TextBox 9">
            <a:extLst>
              <a:ext uri="{FF2B5EF4-FFF2-40B4-BE49-F238E27FC236}">
                <a16:creationId xmlns:a16="http://schemas.microsoft.com/office/drawing/2014/main" id="{D3D8F61F-FD59-4B74-8C9D-F0916C2463D4}"/>
              </a:ext>
            </a:extLst>
          </p:cNvPr>
          <p:cNvSpPr txBox="1"/>
          <p:nvPr/>
        </p:nvSpPr>
        <p:spPr>
          <a:xfrm>
            <a:off x="199697" y="84083"/>
            <a:ext cx="6487649"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Download </a:t>
            </a:r>
            <a:r>
              <a:rPr kumimoji="0" lang="en-US" altLang="en-US" sz="2400" b="1" i="0" u="none" strike="noStrike" cap="none" normalizeH="0" baseline="0" dirty="0">
                <a:ln>
                  <a:noFill/>
                </a:ln>
                <a:solidFill>
                  <a:srgbClr val="0D0D0D"/>
                </a:solidFill>
                <a:effectLst/>
                <a:highlight>
                  <a:srgbClr val="FFFF00"/>
                </a:highlight>
                <a:latin typeface="Calibri" panose="020F0502020204030204" pitchFamily="34" charset="0"/>
                <a:cs typeface="Calibri" panose="020F0502020204030204" pitchFamily="34" charset="0"/>
              </a:rPr>
              <a:t>Style_Week4_5.css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file from GitHub</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980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798F94D8-7C68-C146-2D25-9DB4A86DCF48}"/>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D3D8F61F-FD59-4B74-8C9D-F0916C2463D4}"/>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Make sure both CSS and HTML files are in the same folder</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F5D1A60B-726F-4673-AF79-19D800F05A82}"/>
              </a:ext>
            </a:extLst>
          </p:cNvPr>
          <p:cNvPicPr>
            <a:picLocks noChangeAspect="1"/>
          </p:cNvPicPr>
          <p:nvPr/>
        </p:nvPicPr>
        <p:blipFill>
          <a:blip r:embed="rId2"/>
          <a:stretch>
            <a:fillRect/>
          </a:stretch>
        </p:blipFill>
        <p:spPr>
          <a:xfrm>
            <a:off x="122991" y="2223919"/>
            <a:ext cx="11946017" cy="2410161"/>
          </a:xfrm>
          <a:prstGeom prst="rect">
            <a:avLst/>
          </a:prstGeom>
        </p:spPr>
      </p:pic>
    </p:spTree>
    <p:extLst>
      <p:ext uri="{BB962C8B-B14F-4D97-AF65-F5344CB8AC3E}">
        <p14:creationId xmlns:p14="http://schemas.microsoft.com/office/powerpoint/2010/main" val="4101084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E860A5-C787-D510-5B7D-5D71237BAFC6}"/>
              </a:ext>
            </a:extLst>
          </p:cNvPr>
          <p:cNvSpPr txBox="1"/>
          <p:nvPr/>
        </p:nvSpPr>
        <p:spPr>
          <a:xfrm>
            <a:off x="0" y="0"/>
            <a:ext cx="12191999" cy="550535"/>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3) Linking the CSS to HTML</a:t>
            </a:r>
            <a:endParaRPr lang="en-AU" sz="2200" b="1" dirty="0"/>
          </a:p>
        </p:txBody>
      </p:sp>
      <p:sp>
        <p:nvSpPr>
          <p:cNvPr id="2" name="TextBox 1">
            <a:extLst>
              <a:ext uri="{FF2B5EF4-FFF2-40B4-BE49-F238E27FC236}">
                <a16:creationId xmlns:a16="http://schemas.microsoft.com/office/drawing/2014/main" id="{CB46197B-98BB-6364-0455-E27A86880F36}"/>
              </a:ext>
            </a:extLst>
          </p:cNvPr>
          <p:cNvSpPr txBox="1"/>
          <p:nvPr/>
        </p:nvSpPr>
        <p:spPr>
          <a:xfrm>
            <a:off x="21020" y="550535"/>
            <a:ext cx="12191999" cy="461665"/>
          </a:xfrm>
          <a:prstGeom prst="rect">
            <a:avLst/>
          </a:prstGeom>
          <a:noFill/>
        </p:spPr>
        <p:txBody>
          <a:bodyPr wrap="square" rtlCol="0">
            <a:spAutoFit/>
          </a:bodyPr>
          <a:lstStyle/>
          <a:p>
            <a:r>
              <a:rPr lang="en-US" sz="2400" dirty="0">
                <a:latin typeface="Calibri" panose="020F0502020204030204" pitchFamily="34" charset="0"/>
                <a:cs typeface="Calibri" panose="020F0502020204030204" pitchFamily="34" charset="0"/>
              </a:rPr>
              <a:t>In the &lt;head&gt; of the HTML document, add the link to the external CSS file:</a:t>
            </a:r>
            <a:endParaRPr lang="en-AU" sz="24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7553E1F-8556-3B33-4887-391118DCD49F}"/>
              </a:ext>
            </a:extLst>
          </p:cNvPr>
          <p:cNvSpPr txBox="1"/>
          <p:nvPr/>
        </p:nvSpPr>
        <p:spPr>
          <a:xfrm>
            <a:off x="126124" y="1830317"/>
            <a:ext cx="11645462"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Remember to validate your HTML and CSS using the W3C validators to ensure that there are no errors in your code​​. Also, you may need to replace placeholders with actual content and URLs based on the project requirements.</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F80C030-1228-2974-7A36-1DEFC827D016}"/>
              </a:ext>
            </a:extLst>
          </p:cNvPr>
          <p:cNvPicPr>
            <a:picLocks noChangeAspect="1"/>
          </p:cNvPicPr>
          <p:nvPr/>
        </p:nvPicPr>
        <p:blipFill>
          <a:blip r:embed="rId2"/>
          <a:stretch>
            <a:fillRect/>
          </a:stretch>
        </p:blipFill>
        <p:spPr>
          <a:xfrm>
            <a:off x="126124" y="1243148"/>
            <a:ext cx="10900223" cy="416988"/>
          </a:xfrm>
          <a:prstGeom prst="rect">
            <a:avLst/>
          </a:prstGeom>
        </p:spPr>
      </p:pic>
      <p:sp>
        <p:nvSpPr>
          <p:cNvPr id="3" name="TextBox 2">
            <a:extLst>
              <a:ext uri="{FF2B5EF4-FFF2-40B4-BE49-F238E27FC236}">
                <a16:creationId xmlns:a16="http://schemas.microsoft.com/office/drawing/2014/main" id="{C7CB98BE-3676-372B-514A-C55617B729D4}"/>
              </a:ext>
            </a:extLst>
          </p:cNvPr>
          <p:cNvSpPr txBox="1"/>
          <p:nvPr/>
        </p:nvSpPr>
        <p:spPr>
          <a:xfrm>
            <a:off x="126124" y="3393694"/>
            <a:ext cx="11645462"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To link the external CSS file to the HTML document, we'll need to place the link tag inside the &lt;head&gt; section of your HTML code. Assuming your CSS file is named “Style_Week4_5.css" and it's located in the same directory as our HTML file, here is how we would modify the HTML</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210917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3419D5-7211-455B-3F5B-645CE7B7A391}"/>
              </a:ext>
            </a:extLst>
          </p:cNvPr>
          <p:cNvPicPr>
            <a:picLocks noChangeAspect="1"/>
          </p:cNvPicPr>
          <p:nvPr/>
        </p:nvPicPr>
        <p:blipFill rotWithShape="1">
          <a:blip r:embed="rId2"/>
          <a:srcRect l="3448" t="7662" r="1207" b="15097"/>
          <a:stretch/>
        </p:blipFill>
        <p:spPr>
          <a:xfrm>
            <a:off x="283778" y="0"/>
            <a:ext cx="11204029" cy="5105634"/>
          </a:xfrm>
          <a:prstGeom prst="rect">
            <a:avLst/>
          </a:prstGeom>
        </p:spPr>
      </p:pic>
      <p:sp>
        <p:nvSpPr>
          <p:cNvPr id="8" name="TextBox 7">
            <a:extLst>
              <a:ext uri="{FF2B5EF4-FFF2-40B4-BE49-F238E27FC236}">
                <a16:creationId xmlns:a16="http://schemas.microsoft.com/office/drawing/2014/main" id="{C80ABE26-BD15-B74D-AF7A-2C728588BBE9}"/>
              </a:ext>
            </a:extLst>
          </p:cNvPr>
          <p:cNvSpPr txBox="1"/>
          <p:nvPr/>
        </p:nvSpPr>
        <p:spPr>
          <a:xfrm>
            <a:off x="7893269" y="231228"/>
            <a:ext cx="4214647" cy="550535"/>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Add this line (Link to CSS file)</a:t>
            </a:r>
            <a:endParaRPr lang="en-AU" sz="2200" b="1" dirty="0"/>
          </a:p>
        </p:txBody>
      </p:sp>
      <p:sp>
        <p:nvSpPr>
          <p:cNvPr id="9" name="TextBox 8">
            <a:extLst>
              <a:ext uri="{FF2B5EF4-FFF2-40B4-BE49-F238E27FC236}">
                <a16:creationId xmlns:a16="http://schemas.microsoft.com/office/drawing/2014/main" id="{80E7A657-5E5C-932C-DA63-D40EE3DE1FCA}"/>
              </a:ext>
            </a:extLst>
          </p:cNvPr>
          <p:cNvSpPr txBox="1"/>
          <p:nvPr/>
        </p:nvSpPr>
        <p:spPr>
          <a:xfrm>
            <a:off x="541281" y="4734342"/>
            <a:ext cx="11109434" cy="2123658"/>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Ensure that the path in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attribute correctly points to the location of our CSS file. If the CSS file is in a subfolder, for instance, a folder named "</a:t>
            </a:r>
            <a:r>
              <a:rPr lang="en-US" sz="2200" dirty="0" err="1">
                <a:latin typeface="Calibri" panose="020F0502020204030204" pitchFamily="34" charset="0"/>
                <a:cs typeface="Calibri" panose="020F0502020204030204" pitchFamily="34" charset="0"/>
              </a:rPr>
              <a:t>css</a:t>
            </a:r>
            <a:r>
              <a:rPr lang="en-US" sz="2200" dirty="0">
                <a:latin typeface="Calibri" panose="020F0502020204030204" pitchFamily="34" charset="0"/>
                <a:cs typeface="Calibri" panose="020F0502020204030204" pitchFamily="34" charset="0"/>
              </a:rPr>
              <a:t>",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would be </a:t>
            </a:r>
            <a:r>
              <a:rPr lang="en-US" sz="2200" b="1" dirty="0" err="1">
                <a:latin typeface="Calibri" panose="020F0502020204030204" pitchFamily="34" charset="0"/>
                <a:cs typeface="Calibri" panose="020F0502020204030204" pitchFamily="34" charset="0"/>
              </a:rPr>
              <a:t>css</a:t>
            </a:r>
            <a:r>
              <a:rPr lang="en-US" sz="2200" b="1" dirty="0">
                <a:latin typeface="Calibri" panose="020F0502020204030204" pitchFamily="34" charset="0"/>
                <a:cs typeface="Calibri" panose="020F0502020204030204" pitchFamily="34" charset="0"/>
              </a:rPr>
              <a:t>/Style_Week4_5.css</a:t>
            </a:r>
            <a:r>
              <a:rPr lang="en-US" sz="2200" dirty="0">
                <a:latin typeface="Calibri" panose="020F0502020204030204" pitchFamily="34" charset="0"/>
                <a:cs typeface="Calibri" panose="020F0502020204030204" pitchFamily="34" charset="0"/>
              </a:rPr>
              <a:t>. If it's in the same directory, just using </a:t>
            </a:r>
            <a:r>
              <a:rPr lang="en-US" sz="2200" b="1" dirty="0">
                <a:latin typeface="Calibri" panose="020F0502020204030204" pitchFamily="34" charset="0"/>
                <a:cs typeface="Calibri" panose="020F0502020204030204" pitchFamily="34" charset="0"/>
              </a:rPr>
              <a:t>Style_Week4_5.css </a:t>
            </a:r>
            <a:r>
              <a:rPr lang="en-US" sz="2200" dirty="0">
                <a:latin typeface="Calibri" panose="020F0502020204030204" pitchFamily="34" charset="0"/>
                <a:cs typeface="Calibri" panose="020F0502020204030204" pitchFamily="34" charset="0"/>
              </a:rPr>
              <a:t>as shown above is sufficient.</a:t>
            </a:r>
          </a:p>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Remember that the name of the CSS file in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attribute must match exactly the name of the CSS file we've created, including letter case, as some servers are case-sensitive.</a:t>
            </a:r>
            <a:endParaRPr lang="en-AU" sz="2200" dirty="0">
              <a:latin typeface="Calibri" panose="020F0502020204030204" pitchFamily="34" charset="0"/>
              <a:cs typeface="Calibri" panose="020F0502020204030204" pitchFamily="34" charset="0"/>
            </a:endParaRPr>
          </a:p>
        </p:txBody>
      </p:sp>
      <p:sp>
        <p:nvSpPr>
          <p:cNvPr id="2" name="Rectangle: Rounded Corners 1">
            <a:extLst>
              <a:ext uri="{FF2B5EF4-FFF2-40B4-BE49-F238E27FC236}">
                <a16:creationId xmlns:a16="http://schemas.microsoft.com/office/drawing/2014/main" id="{D18B488C-F04F-42C7-A4EA-FE0B93440F64}"/>
              </a:ext>
            </a:extLst>
          </p:cNvPr>
          <p:cNvSpPr/>
          <p:nvPr/>
        </p:nvSpPr>
        <p:spPr>
          <a:xfrm>
            <a:off x="541281" y="1255059"/>
            <a:ext cx="10431519" cy="17032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138213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80ABE26-BD15-B74D-AF7A-2C728588BBE9}"/>
              </a:ext>
            </a:extLst>
          </p:cNvPr>
          <p:cNvSpPr txBox="1"/>
          <p:nvPr/>
        </p:nvSpPr>
        <p:spPr>
          <a:xfrm>
            <a:off x="0" y="0"/>
            <a:ext cx="4214647" cy="592150"/>
          </a:xfrm>
          <a:prstGeom prst="rect">
            <a:avLst/>
          </a:prstGeom>
          <a:noFill/>
        </p:spPr>
        <p:txBody>
          <a:bodyPr wrap="square">
            <a:spAutoFit/>
          </a:bodyPr>
          <a:lstStyle/>
          <a:p>
            <a:pPr>
              <a:lnSpc>
                <a:spcPct val="150000"/>
              </a:lnSpc>
            </a:pPr>
            <a:r>
              <a:rPr lang="en-US" sz="2400" b="1" dirty="0">
                <a:latin typeface="Calibri" panose="020F0502020204030204" pitchFamily="34" charset="0"/>
                <a:cs typeface="Calibri" panose="020F0502020204030204" pitchFamily="34" charset="0"/>
              </a:rPr>
              <a:t>Choose Title for the HTML)</a:t>
            </a:r>
            <a:endParaRPr lang="en-AU" sz="2400" b="1" dirty="0"/>
          </a:p>
        </p:txBody>
      </p:sp>
      <p:sp>
        <p:nvSpPr>
          <p:cNvPr id="9" name="TextBox 8">
            <a:extLst>
              <a:ext uri="{FF2B5EF4-FFF2-40B4-BE49-F238E27FC236}">
                <a16:creationId xmlns:a16="http://schemas.microsoft.com/office/drawing/2014/main" id="{80E7A657-5E5C-932C-DA63-D40EE3DE1FCA}"/>
              </a:ext>
            </a:extLst>
          </p:cNvPr>
          <p:cNvSpPr txBox="1"/>
          <p:nvPr/>
        </p:nvSpPr>
        <p:spPr>
          <a:xfrm>
            <a:off x="541283" y="641474"/>
            <a:ext cx="11109434" cy="3913059"/>
          </a:xfrm>
          <a:prstGeom prst="rect">
            <a:avLst/>
          </a:prstGeom>
          <a:noFill/>
        </p:spPr>
        <p:txBody>
          <a:bodyPr wrap="square" rtlCol="0">
            <a:spAutoFit/>
          </a:bodyPr>
          <a:lstStyle/>
          <a:p>
            <a:pPr>
              <a:lnSpc>
                <a:spcPct val="150000"/>
              </a:lnSpc>
            </a:pPr>
            <a:r>
              <a:rPr lang="en-US" sz="2400" dirty="0">
                <a:latin typeface="Calibri" panose="020F0502020204030204" pitchFamily="34" charset="0"/>
                <a:cs typeface="Calibri" panose="020F0502020204030204" pitchFamily="34" charset="0"/>
              </a:rPr>
              <a:t>For instance:</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If it’s a homepage for a business, you might use: "Brand Name - Leading Solutions in Industry".</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If it’s an informational page about a specific topic, a title like "Complete Guide to Topic - Brand Name" could be appropriate.</a:t>
            </a:r>
          </a:p>
          <a:p>
            <a:pPr>
              <a:lnSpc>
                <a:spcPct val="150000"/>
              </a:lnSpc>
            </a:pPr>
            <a:r>
              <a:rPr lang="en-US" sz="2400" dirty="0">
                <a:latin typeface="Calibri" panose="020F0502020204030204" pitchFamily="34" charset="0"/>
                <a:cs typeface="Calibri" panose="020F0502020204030204" pitchFamily="34" charset="0"/>
              </a:rPr>
              <a:t>Let's fill in the &lt;title&gt; tag with a placeholder based on a hypothetical topic. For example, if your site is about sustainable living, the title could be:</a:t>
            </a:r>
            <a:endParaRPr lang="en-AU" sz="24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C6543391-F38A-AD55-22B9-1ABF211362E5}"/>
              </a:ext>
            </a:extLst>
          </p:cNvPr>
          <p:cNvPicPr>
            <a:picLocks noChangeAspect="1"/>
          </p:cNvPicPr>
          <p:nvPr/>
        </p:nvPicPr>
        <p:blipFill rotWithShape="1">
          <a:blip r:embed="rId2"/>
          <a:srcRect l="4441" t="11188" r="48447" b="85593"/>
          <a:stretch/>
        </p:blipFill>
        <p:spPr>
          <a:xfrm>
            <a:off x="215368" y="4803228"/>
            <a:ext cx="11761263" cy="451944"/>
          </a:xfrm>
          <a:prstGeom prst="rect">
            <a:avLst/>
          </a:prstGeom>
        </p:spPr>
      </p:pic>
      <p:sp>
        <p:nvSpPr>
          <p:cNvPr id="4" name="TextBox 3">
            <a:extLst>
              <a:ext uri="{FF2B5EF4-FFF2-40B4-BE49-F238E27FC236}">
                <a16:creationId xmlns:a16="http://schemas.microsoft.com/office/drawing/2014/main" id="{642D85AA-F294-311C-C21E-A82ADB83EBE3}"/>
              </a:ext>
            </a:extLst>
          </p:cNvPr>
          <p:cNvSpPr txBox="1"/>
          <p:nvPr/>
        </p:nvSpPr>
        <p:spPr>
          <a:xfrm>
            <a:off x="541283" y="5402317"/>
            <a:ext cx="9953297" cy="1143070"/>
          </a:xfrm>
          <a:prstGeom prst="rect">
            <a:avLst/>
          </a:prstGeom>
          <a:noFill/>
        </p:spPr>
        <p:txBody>
          <a:bodyPr wrap="square" rtlCol="0">
            <a:spAutoFit/>
          </a:bodyPr>
          <a:lstStyle/>
          <a:p>
            <a:pPr>
              <a:lnSpc>
                <a:spcPct val="150000"/>
              </a:lnSpc>
            </a:pPr>
            <a:r>
              <a:rPr lang="en-US" sz="2400" dirty="0">
                <a:latin typeface="Calibri" panose="020F0502020204030204" pitchFamily="34" charset="0"/>
                <a:cs typeface="Calibri" panose="020F0502020204030204" pitchFamily="34" charset="0"/>
              </a:rPr>
              <a:t>You can replace "Sustainable Living Tips and Practices | </a:t>
            </a:r>
            <a:r>
              <a:rPr lang="en-US" sz="2400" dirty="0" err="1">
                <a:latin typeface="Calibri" panose="020F0502020204030204" pitchFamily="34" charset="0"/>
                <a:cs typeface="Calibri" panose="020F0502020204030204" pitchFamily="34" charset="0"/>
              </a:rPr>
              <a:t>GreenGuide</a:t>
            </a:r>
            <a:r>
              <a:rPr lang="en-US" sz="2400" dirty="0">
                <a:latin typeface="Calibri" panose="020F0502020204030204" pitchFamily="34" charset="0"/>
                <a:cs typeface="Calibri" panose="020F0502020204030204" pitchFamily="34" charset="0"/>
              </a:rPr>
              <a:t>" with whatever fits your page content and purpose best!</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852622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0999203-36CD-4DA5-A6F1-12D5F599CA88}"/>
              </a:ext>
            </a:extLst>
          </p:cNvPr>
          <p:cNvSpPr txBox="1"/>
          <p:nvPr/>
        </p:nvSpPr>
        <p:spPr>
          <a:xfrm>
            <a:off x="0" y="-210735"/>
            <a:ext cx="11367248" cy="1318181"/>
          </a:xfrm>
          <a:prstGeom prst="rect">
            <a:avLst/>
          </a:prstGeom>
          <a:noFill/>
        </p:spPr>
        <p:txBody>
          <a:bodyPr wrap="square" rtlCol="0">
            <a:spAutoFit/>
          </a:bodyPr>
          <a:lstStyle/>
          <a:p>
            <a:pPr marL="457200" indent="-457200">
              <a:lnSpc>
                <a:spcPct val="150000"/>
              </a:lnSpc>
              <a:buFont typeface="Arial" panose="020B0604020202020204" pitchFamily="34" charset="0"/>
              <a:buChar char="•"/>
            </a:pPr>
            <a:r>
              <a:rPr lang="en-US" sz="2800" dirty="0">
                <a:latin typeface="Calibir"/>
              </a:rPr>
              <a:t>Create a folder and place all files (html and </a:t>
            </a:r>
            <a:r>
              <a:rPr lang="en-US" sz="2800" dirty="0" err="1">
                <a:latin typeface="Calibir"/>
              </a:rPr>
              <a:t>css</a:t>
            </a:r>
            <a:r>
              <a:rPr lang="en-US" sz="2800" dirty="0">
                <a:latin typeface="Calibir"/>
              </a:rPr>
              <a:t>) in the same folder</a:t>
            </a:r>
          </a:p>
          <a:p>
            <a:pPr marL="457200" indent="-457200">
              <a:lnSpc>
                <a:spcPct val="150000"/>
              </a:lnSpc>
              <a:buFont typeface="Arial" panose="020B0604020202020204" pitchFamily="34" charset="0"/>
              <a:buChar char="•"/>
            </a:pPr>
            <a:r>
              <a:rPr lang="en-US" sz="2800" dirty="0">
                <a:latin typeface="Calibir"/>
              </a:rPr>
              <a:t>Go to Visual Studio Code and Open Folder</a:t>
            </a:r>
            <a:endParaRPr lang="en-AU" sz="2800" dirty="0">
              <a:latin typeface="Calibir"/>
            </a:endParaRPr>
          </a:p>
        </p:txBody>
      </p:sp>
      <p:sp>
        <p:nvSpPr>
          <p:cNvPr id="5" name="TextBox 4">
            <a:extLst>
              <a:ext uri="{FF2B5EF4-FFF2-40B4-BE49-F238E27FC236}">
                <a16:creationId xmlns:a16="http://schemas.microsoft.com/office/drawing/2014/main" id="{F79F6950-557D-4D6D-ADA1-D2C422C799FC}"/>
              </a:ext>
            </a:extLst>
          </p:cNvPr>
          <p:cNvSpPr txBox="1"/>
          <p:nvPr/>
        </p:nvSpPr>
        <p:spPr>
          <a:xfrm>
            <a:off x="95692" y="1029303"/>
            <a:ext cx="11727712" cy="671851"/>
          </a:xfrm>
          <a:prstGeom prst="rect">
            <a:avLst/>
          </a:prstGeom>
          <a:noFill/>
        </p:spPr>
        <p:txBody>
          <a:bodyPr wrap="square">
            <a:spAutoFit/>
          </a:bodyPr>
          <a:lstStyle/>
          <a:p>
            <a:pPr>
              <a:lnSpc>
                <a:spcPct val="150000"/>
              </a:lnSpc>
            </a:pPr>
            <a:r>
              <a:rPr lang="en-US" sz="2800" b="1" dirty="0"/>
              <a:t>File &gt;&gt; Open Folder</a:t>
            </a:r>
          </a:p>
        </p:txBody>
      </p:sp>
      <p:pic>
        <p:nvPicPr>
          <p:cNvPr id="6" name="Picture 5">
            <a:extLst>
              <a:ext uri="{FF2B5EF4-FFF2-40B4-BE49-F238E27FC236}">
                <a16:creationId xmlns:a16="http://schemas.microsoft.com/office/drawing/2014/main" id="{58E55240-EAD7-44EE-A6C1-AB69491D4302}"/>
              </a:ext>
            </a:extLst>
          </p:cNvPr>
          <p:cNvPicPr>
            <a:picLocks noChangeAspect="1"/>
          </p:cNvPicPr>
          <p:nvPr/>
        </p:nvPicPr>
        <p:blipFill>
          <a:blip r:embed="rId2"/>
          <a:srcRect r="39712" b="50000"/>
          <a:stretch>
            <a:fillRect/>
          </a:stretch>
        </p:blipFill>
        <p:spPr>
          <a:xfrm>
            <a:off x="95692" y="1714500"/>
            <a:ext cx="10677816" cy="4981278"/>
          </a:xfrm>
          <a:prstGeom prst="rect">
            <a:avLst/>
          </a:prstGeom>
        </p:spPr>
      </p:pic>
      <p:sp>
        <p:nvSpPr>
          <p:cNvPr id="7" name="Rectangle: Rounded Corners 6">
            <a:extLst>
              <a:ext uri="{FF2B5EF4-FFF2-40B4-BE49-F238E27FC236}">
                <a16:creationId xmlns:a16="http://schemas.microsoft.com/office/drawing/2014/main" id="{64E0FC92-F290-443E-9D6E-F523D61A3F28}"/>
              </a:ext>
            </a:extLst>
          </p:cNvPr>
          <p:cNvSpPr/>
          <p:nvPr/>
        </p:nvSpPr>
        <p:spPr>
          <a:xfrm>
            <a:off x="4818185" y="5110171"/>
            <a:ext cx="5697415" cy="49237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B7B2E6B1-37C3-4D23-9FFF-F8334D217054}"/>
              </a:ext>
            </a:extLst>
          </p:cNvPr>
          <p:cNvSpPr/>
          <p:nvPr/>
        </p:nvSpPr>
        <p:spPr>
          <a:xfrm>
            <a:off x="930213" y="2413044"/>
            <a:ext cx="3492932" cy="49237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9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6A60A95-BB40-45B6-86E5-E97DE24A97EC}"/>
              </a:ext>
            </a:extLst>
          </p:cNvPr>
          <p:cNvSpPr txBox="1"/>
          <p:nvPr/>
        </p:nvSpPr>
        <p:spPr>
          <a:xfrm>
            <a:off x="95692" y="882502"/>
            <a:ext cx="11727712" cy="671851"/>
          </a:xfrm>
          <a:prstGeom prst="rect">
            <a:avLst/>
          </a:prstGeom>
          <a:noFill/>
        </p:spPr>
        <p:txBody>
          <a:bodyPr wrap="square">
            <a:spAutoFit/>
          </a:bodyPr>
          <a:lstStyle/>
          <a:p>
            <a:pPr>
              <a:lnSpc>
                <a:spcPct val="150000"/>
              </a:lnSpc>
            </a:pPr>
            <a:r>
              <a:rPr lang="en-US" sz="2800" b="1" dirty="0"/>
              <a:t>Double Click on the Folder &gt;&gt; Select folder</a:t>
            </a:r>
          </a:p>
        </p:txBody>
      </p:sp>
      <p:pic>
        <p:nvPicPr>
          <p:cNvPr id="10" name="Picture 9">
            <a:extLst>
              <a:ext uri="{FF2B5EF4-FFF2-40B4-BE49-F238E27FC236}">
                <a16:creationId xmlns:a16="http://schemas.microsoft.com/office/drawing/2014/main" id="{F08BC8C3-8C55-4018-97BF-A59C37FFFF76}"/>
              </a:ext>
            </a:extLst>
          </p:cNvPr>
          <p:cNvPicPr>
            <a:picLocks noChangeAspect="1"/>
          </p:cNvPicPr>
          <p:nvPr/>
        </p:nvPicPr>
        <p:blipFill>
          <a:blip r:embed="rId2"/>
          <a:srcRect l="11337" r="3809" b="20000"/>
          <a:stretch>
            <a:fillRect/>
          </a:stretch>
        </p:blipFill>
        <p:spPr>
          <a:xfrm>
            <a:off x="0" y="1693002"/>
            <a:ext cx="9739423" cy="5164997"/>
          </a:xfrm>
          <a:prstGeom prst="rect">
            <a:avLst/>
          </a:prstGeom>
          <a:ln w="38100">
            <a:solidFill>
              <a:srgbClr val="FF0000"/>
            </a:solidFill>
          </a:ln>
        </p:spPr>
      </p:pic>
      <p:sp>
        <p:nvSpPr>
          <p:cNvPr id="11" name="Rectangle: Rounded Corners 10">
            <a:extLst>
              <a:ext uri="{FF2B5EF4-FFF2-40B4-BE49-F238E27FC236}">
                <a16:creationId xmlns:a16="http://schemas.microsoft.com/office/drawing/2014/main" id="{844F4980-C015-4350-8AD1-C870EE08EB3C}"/>
              </a:ext>
            </a:extLst>
          </p:cNvPr>
          <p:cNvSpPr/>
          <p:nvPr/>
        </p:nvSpPr>
        <p:spPr>
          <a:xfrm>
            <a:off x="7953151" y="6539024"/>
            <a:ext cx="938391" cy="32960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78770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2D5109F-EFEF-44BB-B42C-32D2C4A3F48A}"/>
              </a:ext>
            </a:extLst>
          </p:cNvPr>
          <p:cNvPicPr>
            <a:picLocks noChangeAspect="1"/>
          </p:cNvPicPr>
          <p:nvPr/>
        </p:nvPicPr>
        <p:blipFill>
          <a:blip r:embed="rId2"/>
          <a:srcRect r="24564" b="35194"/>
          <a:stretch>
            <a:fillRect/>
          </a:stretch>
        </p:blipFill>
        <p:spPr>
          <a:xfrm>
            <a:off x="0" y="1073889"/>
            <a:ext cx="9197163" cy="4444409"/>
          </a:xfrm>
          <a:prstGeom prst="rect">
            <a:avLst/>
          </a:prstGeom>
        </p:spPr>
      </p:pic>
      <p:sp>
        <p:nvSpPr>
          <p:cNvPr id="6" name="Rectangle: Rounded Corners 5">
            <a:extLst>
              <a:ext uri="{FF2B5EF4-FFF2-40B4-BE49-F238E27FC236}">
                <a16:creationId xmlns:a16="http://schemas.microsoft.com/office/drawing/2014/main" id="{3195313F-B043-49EB-B178-179690683D26}"/>
              </a:ext>
            </a:extLst>
          </p:cNvPr>
          <p:cNvSpPr/>
          <p:nvPr/>
        </p:nvSpPr>
        <p:spPr>
          <a:xfrm>
            <a:off x="4108119" y="2721934"/>
            <a:ext cx="1250689" cy="39340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100286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AF9F4C6-34BC-4CCD-B1DE-8ADBC2520E05}"/>
              </a:ext>
            </a:extLst>
          </p:cNvPr>
          <p:cNvPicPr>
            <a:picLocks noChangeAspect="1"/>
          </p:cNvPicPr>
          <p:nvPr/>
        </p:nvPicPr>
        <p:blipFill>
          <a:blip r:embed="rId2"/>
          <a:srcRect r="17936" b="35969"/>
          <a:stretch>
            <a:fillRect/>
          </a:stretch>
        </p:blipFill>
        <p:spPr>
          <a:xfrm>
            <a:off x="0" y="1690577"/>
            <a:ext cx="10005237" cy="4391247"/>
          </a:xfrm>
          <a:prstGeom prst="rect">
            <a:avLst/>
          </a:prstGeom>
        </p:spPr>
      </p:pic>
      <p:sp>
        <p:nvSpPr>
          <p:cNvPr id="7" name="TextBox 6">
            <a:extLst>
              <a:ext uri="{FF2B5EF4-FFF2-40B4-BE49-F238E27FC236}">
                <a16:creationId xmlns:a16="http://schemas.microsoft.com/office/drawing/2014/main" id="{1960E1EF-A89E-426F-B0B6-D29BF5C0F59D}"/>
              </a:ext>
            </a:extLst>
          </p:cNvPr>
          <p:cNvSpPr txBox="1"/>
          <p:nvPr/>
        </p:nvSpPr>
        <p:spPr>
          <a:xfrm>
            <a:off x="95692" y="882502"/>
            <a:ext cx="11727712" cy="671851"/>
          </a:xfrm>
          <a:prstGeom prst="rect">
            <a:avLst/>
          </a:prstGeom>
          <a:noFill/>
        </p:spPr>
        <p:txBody>
          <a:bodyPr wrap="square">
            <a:spAutoFit/>
          </a:bodyPr>
          <a:lstStyle/>
          <a:p>
            <a:pPr>
              <a:lnSpc>
                <a:spcPct val="150000"/>
              </a:lnSpc>
            </a:pPr>
            <a:r>
              <a:rPr lang="en-US" sz="2800" b="1" dirty="0"/>
              <a:t>Choose a Name</a:t>
            </a:r>
          </a:p>
        </p:txBody>
      </p:sp>
      <p:sp>
        <p:nvSpPr>
          <p:cNvPr id="8" name="Rectangle: Rounded Corners 7">
            <a:extLst>
              <a:ext uri="{FF2B5EF4-FFF2-40B4-BE49-F238E27FC236}">
                <a16:creationId xmlns:a16="http://schemas.microsoft.com/office/drawing/2014/main" id="{60AEF12B-4B3A-4DAD-B192-A645AB03C845}"/>
              </a:ext>
            </a:extLst>
          </p:cNvPr>
          <p:cNvSpPr/>
          <p:nvPr/>
        </p:nvSpPr>
        <p:spPr>
          <a:xfrm>
            <a:off x="2438808" y="2210337"/>
            <a:ext cx="1654727" cy="40403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006732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89AD1-2F0E-9E24-58CC-C0E269EB39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FEAD5B-185B-033C-3F7D-CFB069C0D9DF}"/>
              </a:ext>
            </a:extLst>
          </p:cNvPr>
          <p:cNvSpPr txBox="1"/>
          <p:nvPr/>
        </p:nvSpPr>
        <p:spPr>
          <a:xfrm>
            <a:off x="0" y="-211482"/>
            <a:ext cx="12192000" cy="131818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t>Once project finished</a:t>
            </a:r>
          </a:p>
          <a:p>
            <a:pPr marL="457200" indent="-457200">
              <a:lnSpc>
                <a:spcPct val="150000"/>
              </a:lnSpc>
              <a:buFont typeface="Arial" panose="020B0604020202020204" pitchFamily="34" charset="0"/>
              <a:buChar char="•"/>
            </a:pPr>
            <a:r>
              <a:rPr lang="en-US" sz="2800" b="1" dirty="0"/>
              <a:t>Right Click &gt;&gt; Open with Live Server</a:t>
            </a:r>
            <a:endParaRPr lang="en-US" sz="2800" dirty="0"/>
          </a:p>
        </p:txBody>
      </p:sp>
      <p:pic>
        <p:nvPicPr>
          <p:cNvPr id="3" name="Picture 2">
            <a:extLst>
              <a:ext uri="{FF2B5EF4-FFF2-40B4-BE49-F238E27FC236}">
                <a16:creationId xmlns:a16="http://schemas.microsoft.com/office/drawing/2014/main" id="{A3A89832-A7E7-BF6D-6FD7-9B033E2D3411}"/>
              </a:ext>
            </a:extLst>
          </p:cNvPr>
          <p:cNvPicPr>
            <a:picLocks noChangeAspect="1"/>
          </p:cNvPicPr>
          <p:nvPr/>
        </p:nvPicPr>
        <p:blipFill>
          <a:blip r:embed="rId2"/>
          <a:srcRect b="5806"/>
          <a:stretch>
            <a:fillRect/>
          </a:stretch>
        </p:blipFill>
        <p:spPr>
          <a:xfrm>
            <a:off x="668593" y="1106699"/>
            <a:ext cx="10854813" cy="5751301"/>
          </a:xfrm>
          <a:prstGeom prst="rect">
            <a:avLst/>
          </a:prstGeom>
        </p:spPr>
      </p:pic>
      <p:sp>
        <p:nvSpPr>
          <p:cNvPr id="4" name="Rectangle: Rounded Corners 3">
            <a:extLst>
              <a:ext uri="{FF2B5EF4-FFF2-40B4-BE49-F238E27FC236}">
                <a16:creationId xmlns:a16="http://schemas.microsoft.com/office/drawing/2014/main" id="{BFD2D965-13A5-36A9-9AFD-F96660E104BD}"/>
              </a:ext>
            </a:extLst>
          </p:cNvPr>
          <p:cNvSpPr/>
          <p:nvPr/>
        </p:nvSpPr>
        <p:spPr>
          <a:xfrm>
            <a:off x="5766619" y="5338916"/>
            <a:ext cx="3746091" cy="28021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538834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8159BDD-58F3-41E5-9BBC-08DE5F7D2FAF}"/>
              </a:ext>
            </a:extLst>
          </p:cNvPr>
          <p:cNvPicPr>
            <a:picLocks noChangeAspect="1"/>
          </p:cNvPicPr>
          <p:nvPr/>
        </p:nvPicPr>
        <p:blipFill rotWithShape="1">
          <a:blip r:embed="rId2"/>
          <a:srcRect t="3783"/>
          <a:stretch/>
        </p:blipFill>
        <p:spPr>
          <a:xfrm>
            <a:off x="0" y="942139"/>
            <a:ext cx="12192000" cy="4973721"/>
          </a:xfrm>
          <a:prstGeom prst="rect">
            <a:avLst/>
          </a:prstGeom>
        </p:spPr>
      </p:pic>
    </p:spTree>
    <p:extLst>
      <p:ext uri="{BB962C8B-B14F-4D97-AF65-F5344CB8AC3E}">
        <p14:creationId xmlns:p14="http://schemas.microsoft.com/office/powerpoint/2010/main" val="10938295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1FC704D-D356-4808-8F93-39C01D31AA65}"/>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Change Background Color</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5B5B7429-DDE9-4082-885B-11D94AF79710}"/>
              </a:ext>
            </a:extLst>
          </p:cNvPr>
          <p:cNvPicPr>
            <a:picLocks noChangeAspect="1"/>
          </p:cNvPicPr>
          <p:nvPr/>
        </p:nvPicPr>
        <p:blipFill>
          <a:blip r:embed="rId2"/>
          <a:stretch>
            <a:fillRect/>
          </a:stretch>
        </p:blipFill>
        <p:spPr>
          <a:xfrm>
            <a:off x="4973474" y="0"/>
            <a:ext cx="7218526" cy="6858000"/>
          </a:xfrm>
          <a:prstGeom prst="rect">
            <a:avLst/>
          </a:prstGeom>
        </p:spPr>
      </p:pic>
    </p:spTree>
    <p:extLst>
      <p:ext uri="{BB962C8B-B14F-4D97-AF65-F5344CB8AC3E}">
        <p14:creationId xmlns:p14="http://schemas.microsoft.com/office/powerpoint/2010/main" val="41572484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1FC704D-D356-4808-8F93-39C01D31AA65}"/>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Change Background Color</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6C2FA810-4E08-43C1-81D7-E86E9EE2B5DC}"/>
              </a:ext>
            </a:extLst>
          </p:cNvPr>
          <p:cNvPicPr>
            <a:picLocks noChangeAspect="1"/>
          </p:cNvPicPr>
          <p:nvPr/>
        </p:nvPicPr>
        <p:blipFill>
          <a:blip r:embed="rId2"/>
          <a:stretch>
            <a:fillRect/>
          </a:stretch>
        </p:blipFill>
        <p:spPr>
          <a:xfrm>
            <a:off x="302191" y="673155"/>
            <a:ext cx="11690112" cy="6184845"/>
          </a:xfrm>
          <a:prstGeom prst="rect">
            <a:avLst/>
          </a:prstGeom>
        </p:spPr>
      </p:pic>
    </p:spTree>
    <p:extLst>
      <p:ext uri="{BB962C8B-B14F-4D97-AF65-F5344CB8AC3E}">
        <p14:creationId xmlns:p14="http://schemas.microsoft.com/office/powerpoint/2010/main" val="3315601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1FC704D-D356-4808-8F93-39C01D31AA65}"/>
              </a:ext>
            </a:extLst>
          </p:cNvPr>
          <p:cNvSpPr txBox="1"/>
          <p:nvPr/>
        </p:nvSpPr>
        <p:spPr>
          <a:xfrm>
            <a:off x="199697" y="84083"/>
            <a:ext cx="9105538" cy="589072"/>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You will see this</a:t>
            </a:r>
            <a:endPar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DDCC2B0C-B276-471A-9945-EB77B5C379E5}"/>
              </a:ext>
            </a:extLst>
          </p:cNvPr>
          <p:cNvPicPr>
            <a:picLocks noChangeAspect="1"/>
          </p:cNvPicPr>
          <p:nvPr/>
        </p:nvPicPr>
        <p:blipFill>
          <a:blip r:embed="rId2"/>
          <a:stretch>
            <a:fillRect/>
          </a:stretch>
        </p:blipFill>
        <p:spPr>
          <a:xfrm>
            <a:off x="0" y="673155"/>
            <a:ext cx="12192000" cy="5513758"/>
          </a:xfrm>
          <a:prstGeom prst="rect">
            <a:avLst/>
          </a:prstGeom>
        </p:spPr>
      </p:pic>
    </p:spTree>
    <p:extLst>
      <p:ext uri="{BB962C8B-B14F-4D97-AF65-F5344CB8AC3E}">
        <p14:creationId xmlns:p14="http://schemas.microsoft.com/office/powerpoint/2010/main" val="8099874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615986"/>
            <a:ext cx="12097407" cy="54771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Creating A Web Saver Using </a:t>
            </a:r>
            <a:r>
              <a:rPr lang="en-US" sz="2200" b="1" dirty="0" err="1">
                <a:latin typeface="Calibri" panose="020F0502020204030204" pitchFamily="34" charset="0"/>
                <a:cs typeface="Calibri" panose="020F0502020204030204" pitchFamily="34" charset="0"/>
              </a:rPr>
              <a:t>Xampp</a:t>
            </a:r>
            <a:r>
              <a:rPr lang="en-US" sz="2200" b="1" dirty="0">
                <a:latin typeface="Calibri" panose="020F0502020204030204" pitchFamily="34" charset="0"/>
                <a:cs typeface="Calibri" panose="020F0502020204030204" pitchFamily="34" charset="0"/>
              </a:rPr>
              <a:t> or </a:t>
            </a:r>
            <a:r>
              <a:rPr lang="en-US" sz="2200" b="1" dirty="0" err="1">
                <a:latin typeface="Calibri" panose="020F0502020204030204" pitchFamily="34" charset="0"/>
                <a:cs typeface="Calibri" panose="020F0502020204030204" pitchFamily="34" charset="0"/>
              </a:rPr>
              <a:t>Aptana</a:t>
            </a:r>
            <a:r>
              <a:rPr lang="en-US" sz="2200" b="1" dirty="0">
                <a:latin typeface="Calibri" panose="020F0502020204030204" pitchFamily="34" charset="0"/>
                <a:cs typeface="Calibri" panose="020F0502020204030204" pitchFamily="34" charset="0"/>
              </a:rPr>
              <a:t> Studio</a:t>
            </a:r>
          </a:p>
        </p:txBody>
      </p:sp>
      <p:sp>
        <p:nvSpPr>
          <p:cNvPr id="2" name="Title 1">
            <a:extLst>
              <a:ext uri="{FF2B5EF4-FFF2-40B4-BE49-F238E27FC236}">
                <a16:creationId xmlns:a16="http://schemas.microsoft.com/office/drawing/2014/main" id="{6F62F3E6-1508-F923-8585-0FD1A5092080}"/>
              </a:ext>
            </a:extLst>
          </p:cNvPr>
          <p:cNvSpPr txBox="1">
            <a:spLocks/>
          </p:cNvSpPr>
          <p:nvPr/>
        </p:nvSpPr>
        <p:spPr>
          <a:xfrm>
            <a:off x="237119" y="2855070"/>
            <a:ext cx="8206795" cy="114786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spcAft>
                <a:spcPts val="800"/>
              </a:spcAft>
            </a:pPr>
            <a:r>
              <a:rPr lang="en-AU" sz="2200" dirty="0">
                <a:latin typeface="Calibri" panose="020F0502020204030204" pitchFamily="34" charset="0"/>
                <a:ea typeface="Calibri" panose="020F0502020204030204" pitchFamily="34" charset="0"/>
                <a:cs typeface="Arial" panose="020B0604020202020204" pitchFamily="34" charset="0"/>
              </a:rPr>
              <a:t>Install </a:t>
            </a:r>
            <a:r>
              <a:rPr lang="en-AU" sz="2200" dirty="0" err="1">
                <a:latin typeface="Calibri" panose="020F0502020204030204" pitchFamily="34" charset="0"/>
                <a:ea typeface="Calibri" panose="020F0502020204030204" pitchFamily="34" charset="0"/>
                <a:cs typeface="Arial" panose="020B0604020202020204" pitchFamily="34" charset="0"/>
              </a:rPr>
              <a:t>Xampp</a:t>
            </a:r>
            <a:r>
              <a:rPr lang="en-AU" sz="2200" dirty="0">
                <a:latin typeface="Calibri" panose="020F0502020204030204" pitchFamily="34" charset="0"/>
                <a:ea typeface="Calibri" panose="020F0502020204030204" pitchFamily="34" charset="0"/>
                <a:cs typeface="Arial" panose="020B0604020202020204" pitchFamily="34" charset="0"/>
              </a:rPr>
              <a:t> as the webserver on your systems and test it.</a:t>
            </a:r>
            <a:br>
              <a:rPr lang="en-AU" sz="2200" dirty="0">
                <a:latin typeface="Calibri" panose="020F0502020204030204" pitchFamily="34" charset="0"/>
                <a:ea typeface="Calibri" panose="020F0502020204030204" pitchFamily="34" charset="0"/>
                <a:cs typeface="Arial" panose="020B0604020202020204" pitchFamily="34" charset="0"/>
              </a:rPr>
            </a:br>
            <a:r>
              <a:rPr lang="en-AU" sz="2200" dirty="0">
                <a:latin typeface="Calibri" panose="020F0502020204030204" pitchFamily="34" charset="0"/>
                <a:ea typeface="Calibri" panose="020F0502020204030204" pitchFamily="34" charset="0"/>
                <a:cs typeface="Arial" panose="020B0604020202020204" pitchFamily="34" charset="0"/>
                <a:hlinkClick r:id="rId2"/>
              </a:rPr>
              <a:t>https://www.apachefriends.org/de/download.html</a:t>
            </a:r>
            <a:r>
              <a:rPr lang="en-AU" sz="2200" dirty="0">
                <a:latin typeface="Calibri" panose="020F0502020204030204" pitchFamily="34" charset="0"/>
                <a:ea typeface="Calibri" panose="020F0502020204030204" pitchFamily="34" charset="0"/>
                <a:cs typeface="Arial" panose="020B0604020202020204" pitchFamily="34" charset="0"/>
              </a:rPr>
              <a:t> </a:t>
            </a:r>
            <a:endParaRPr lang="en-US" sz="2200" dirty="0">
              <a:latin typeface="Calibri" panose="020F0502020204030204" pitchFamily="34" charset="0"/>
              <a:ea typeface="Calibri" panose="020F0502020204030204" pitchFamily="34" charset="0"/>
              <a:cs typeface="Arial" panose="020B0604020202020204" pitchFamily="34" charset="0"/>
            </a:endParaRPr>
          </a:p>
        </p:txBody>
      </p:sp>
      <p:pic>
        <p:nvPicPr>
          <p:cNvPr id="3" name="Picture 2">
            <a:extLst>
              <a:ext uri="{FF2B5EF4-FFF2-40B4-BE49-F238E27FC236}">
                <a16:creationId xmlns:a16="http://schemas.microsoft.com/office/drawing/2014/main" id="{67A93D38-10D0-CC69-B417-F24FADFD8132}"/>
              </a:ext>
            </a:extLst>
          </p:cNvPr>
          <p:cNvPicPr>
            <a:picLocks noChangeAspect="1"/>
          </p:cNvPicPr>
          <p:nvPr/>
        </p:nvPicPr>
        <p:blipFill>
          <a:blip r:embed="rId3"/>
          <a:stretch>
            <a:fillRect/>
          </a:stretch>
        </p:blipFill>
        <p:spPr>
          <a:xfrm>
            <a:off x="8586439" y="-1"/>
            <a:ext cx="3605561" cy="6873411"/>
          </a:xfrm>
          <a:prstGeom prst="rect">
            <a:avLst/>
          </a:prstGeom>
        </p:spPr>
      </p:pic>
    </p:spTree>
    <p:extLst>
      <p:ext uri="{BB962C8B-B14F-4D97-AF65-F5344CB8AC3E}">
        <p14:creationId xmlns:p14="http://schemas.microsoft.com/office/powerpoint/2010/main" val="38750893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8BF5A23-9A8B-F9DD-5CBD-E15B8F091A5F}"/>
              </a:ext>
            </a:extLst>
          </p:cNvPr>
          <p:cNvPicPr>
            <a:picLocks noChangeAspect="1"/>
          </p:cNvPicPr>
          <p:nvPr/>
        </p:nvPicPr>
        <p:blipFill>
          <a:blip r:embed="rId2"/>
          <a:stretch>
            <a:fillRect/>
          </a:stretch>
        </p:blipFill>
        <p:spPr>
          <a:xfrm>
            <a:off x="2827283" y="722973"/>
            <a:ext cx="6537434" cy="5412054"/>
          </a:xfrm>
          <a:prstGeom prst="rect">
            <a:avLst/>
          </a:prstGeom>
        </p:spPr>
      </p:pic>
    </p:spTree>
    <p:extLst>
      <p:ext uri="{BB962C8B-B14F-4D97-AF65-F5344CB8AC3E}">
        <p14:creationId xmlns:p14="http://schemas.microsoft.com/office/powerpoint/2010/main" val="25495241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2B5530-E686-8137-DC2E-E2DAD460640A}"/>
              </a:ext>
            </a:extLst>
          </p:cNvPr>
          <p:cNvPicPr>
            <a:picLocks noChangeAspect="1"/>
          </p:cNvPicPr>
          <p:nvPr/>
        </p:nvPicPr>
        <p:blipFill>
          <a:blip r:embed="rId2"/>
          <a:stretch>
            <a:fillRect/>
          </a:stretch>
        </p:blipFill>
        <p:spPr>
          <a:xfrm>
            <a:off x="6101345" y="1869333"/>
            <a:ext cx="4718553" cy="3891892"/>
          </a:xfrm>
          <a:prstGeom prst="rect">
            <a:avLst/>
          </a:prstGeom>
        </p:spPr>
      </p:pic>
      <p:pic>
        <p:nvPicPr>
          <p:cNvPr id="3" name="Picture 2">
            <a:extLst>
              <a:ext uri="{FF2B5EF4-FFF2-40B4-BE49-F238E27FC236}">
                <a16:creationId xmlns:a16="http://schemas.microsoft.com/office/drawing/2014/main" id="{E893B7C7-F99F-BB51-73AF-86DDD2142869}"/>
              </a:ext>
            </a:extLst>
          </p:cNvPr>
          <p:cNvPicPr>
            <a:picLocks noChangeAspect="1"/>
          </p:cNvPicPr>
          <p:nvPr/>
        </p:nvPicPr>
        <p:blipFill>
          <a:blip r:embed="rId3"/>
          <a:stretch>
            <a:fillRect/>
          </a:stretch>
        </p:blipFill>
        <p:spPr>
          <a:xfrm>
            <a:off x="989521" y="1832755"/>
            <a:ext cx="4733184" cy="3928470"/>
          </a:xfrm>
          <a:prstGeom prst="rect">
            <a:avLst/>
          </a:prstGeom>
        </p:spPr>
      </p:pic>
    </p:spTree>
    <p:extLst>
      <p:ext uri="{BB962C8B-B14F-4D97-AF65-F5344CB8AC3E}">
        <p14:creationId xmlns:p14="http://schemas.microsoft.com/office/powerpoint/2010/main" val="15381397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2EC6F07-B5CF-3E88-33B1-56C8E7DA0388}"/>
              </a:ext>
            </a:extLst>
          </p:cNvPr>
          <p:cNvPicPr>
            <a:picLocks noChangeAspect="1"/>
          </p:cNvPicPr>
          <p:nvPr/>
        </p:nvPicPr>
        <p:blipFill>
          <a:blip r:embed="rId2"/>
          <a:stretch>
            <a:fillRect/>
          </a:stretch>
        </p:blipFill>
        <p:spPr>
          <a:xfrm>
            <a:off x="2606566" y="543609"/>
            <a:ext cx="6978868" cy="5770782"/>
          </a:xfrm>
          <a:prstGeom prst="rect">
            <a:avLst/>
          </a:prstGeom>
        </p:spPr>
      </p:pic>
    </p:spTree>
    <p:extLst>
      <p:ext uri="{BB962C8B-B14F-4D97-AF65-F5344CB8AC3E}">
        <p14:creationId xmlns:p14="http://schemas.microsoft.com/office/powerpoint/2010/main" val="21260976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26C04A-24F8-FF05-E7AE-044AE385B508}"/>
              </a:ext>
            </a:extLst>
          </p:cNvPr>
          <p:cNvPicPr>
            <a:picLocks noChangeAspect="1"/>
          </p:cNvPicPr>
          <p:nvPr/>
        </p:nvPicPr>
        <p:blipFill>
          <a:blip r:embed="rId2"/>
          <a:stretch>
            <a:fillRect/>
          </a:stretch>
        </p:blipFill>
        <p:spPr>
          <a:xfrm>
            <a:off x="1951977" y="721701"/>
            <a:ext cx="8288046" cy="5414598"/>
          </a:xfrm>
          <a:prstGeom prst="rect">
            <a:avLst/>
          </a:prstGeom>
        </p:spPr>
      </p:pic>
    </p:spTree>
    <p:extLst>
      <p:ext uri="{BB962C8B-B14F-4D97-AF65-F5344CB8AC3E}">
        <p14:creationId xmlns:p14="http://schemas.microsoft.com/office/powerpoint/2010/main" val="32382161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54838-63F6-D186-99C3-F2FBE2984E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F0E5118-365C-A6D3-3558-6781232596CB}"/>
              </a:ext>
            </a:extLst>
          </p:cNvPr>
          <p:cNvSpPr txBox="1"/>
          <p:nvPr/>
        </p:nvSpPr>
        <p:spPr>
          <a:xfrm>
            <a:off x="47296" y="615986"/>
            <a:ext cx="10273863" cy="612905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The lecture 4 focuses on the essentials of using Cascading Style Sheets (CSS) for web design, emphasizing the separation of content from design to enhance flexibility and maintainability. The key topics covered include the definition and application of inline, embedded, and external stylesheets, each having its own order of precedence which determines how styles are applied when conflicts arise. The CSS box model is described in detail, showing how margins, borders, and padding are used to control layout and spacing. Practical elements such as floating images and styling lists were also discussed. Additionally, the lecture provided insights into using selectors for styling specific elements and the importance of validating CSS files to ensure they meet web standards.</a:t>
            </a:r>
          </a:p>
        </p:txBody>
      </p:sp>
      <p:sp>
        <p:nvSpPr>
          <p:cNvPr id="5" name="TextBox 4">
            <a:extLst>
              <a:ext uri="{FF2B5EF4-FFF2-40B4-BE49-F238E27FC236}">
                <a16:creationId xmlns:a16="http://schemas.microsoft.com/office/drawing/2014/main" id="{13560558-19F7-F9C5-C9B4-507613F29B9F}"/>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4 - 5 Tutorial</a:t>
            </a:r>
          </a:p>
        </p:txBody>
      </p:sp>
    </p:spTree>
    <p:extLst>
      <p:ext uri="{BB962C8B-B14F-4D97-AF65-F5344CB8AC3E}">
        <p14:creationId xmlns:p14="http://schemas.microsoft.com/office/powerpoint/2010/main" val="21860006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9995339" cy="1230593"/>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Practical Example: Creating a website for a community sports league in Sydney, Australia</a:t>
            </a:r>
          </a:p>
        </p:txBody>
      </p:sp>
      <p:sp>
        <p:nvSpPr>
          <p:cNvPr id="8" name="TextBox 7">
            <a:extLst>
              <a:ext uri="{FF2B5EF4-FFF2-40B4-BE49-F238E27FC236}">
                <a16:creationId xmlns:a16="http://schemas.microsoft.com/office/drawing/2014/main" id="{548339E8-BF84-DE95-F4BF-2C8581AEEC9E}"/>
              </a:ext>
            </a:extLst>
          </p:cNvPr>
          <p:cNvSpPr txBox="1"/>
          <p:nvPr/>
        </p:nvSpPr>
        <p:spPr>
          <a:xfrm>
            <a:off x="178676" y="1531531"/>
            <a:ext cx="6222124" cy="3086871"/>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Imagine a website for a community sports league in Sydney, Australia, which requires frequent updates and style changes to highlight different sports seasons. Using external stylesheets can make these updates more manageable. Below is a practical example of how CSS might be used in this context:</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FF2CFA7-5665-BFDC-A16C-25A72A480AD6}"/>
              </a:ext>
            </a:extLst>
          </p:cNvPr>
          <p:cNvSpPr txBox="1"/>
          <p:nvPr/>
        </p:nvSpPr>
        <p:spPr>
          <a:xfrm>
            <a:off x="178676" y="4618402"/>
            <a:ext cx="5369363" cy="369332"/>
          </a:xfrm>
          <a:prstGeom prst="rect">
            <a:avLst/>
          </a:prstGeom>
          <a:noFill/>
          <a:ln>
            <a:solidFill>
              <a:srgbClr val="C00000"/>
            </a:solidFill>
          </a:ln>
        </p:spPr>
        <p:txBody>
          <a:bodyPr wrap="square" rtlCol="0">
            <a:spAutoFit/>
          </a:bodyPr>
          <a:lstStyle/>
          <a:p>
            <a:r>
              <a:rPr lang="en-AU" dirty="0"/>
              <a:t>Change it and Save it in C:\\Xampp &gt;&gt; </a:t>
            </a:r>
            <a:r>
              <a:rPr lang="en-AU" dirty="0" err="1"/>
              <a:t>htdocs</a:t>
            </a:r>
            <a:endParaRPr lang="en-AU" dirty="0"/>
          </a:p>
        </p:txBody>
      </p:sp>
      <p:pic>
        <p:nvPicPr>
          <p:cNvPr id="7" name="Picture 6">
            <a:extLst>
              <a:ext uri="{FF2B5EF4-FFF2-40B4-BE49-F238E27FC236}">
                <a16:creationId xmlns:a16="http://schemas.microsoft.com/office/drawing/2014/main" id="{2F1D2C1B-ECB0-DC53-B3C4-89262B30A187}"/>
              </a:ext>
            </a:extLst>
          </p:cNvPr>
          <p:cNvPicPr>
            <a:picLocks noChangeAspect="1"/>
          </p:cNvPicPr>
          <p:nvPr/>
        </p:nvPicPr>
        <p:blipFill rotWithShape="1">
          <a:blip r:embed="rId2"/>
          <a:srcRect l="13190" t="24214" r="46896" b="54176"/>
          <a:stretch/>
        </p:blipFill>
        <p:spPr>
          <a:xfrm>
            <a:off x="6411310" y="1909300"/>
            <a:ext cx="5369362" cy="1635162"/>
          </a:xfrm>
          <a:prstGeom prst="rect">
            <a:avLst/>
          </a:prstGeom>
          <a:ln>
            <a:solidFill>
              <a:srgbClr val="FF0000"/>
            </a:solidFill>
          </a:ln>
        </p:spPr>
      </p:pic>
      <p:pic>
        <p:nvPicPr>
          <p:cNvPr id="11" name="Picture 10">
            <a:extLst>
              <a:ext uri="{FF2B5EF4-FFF2-40B4-BE49-F238E27FC236}">
                <a16:creationId xmlns:a16="http://schemas.microsoft.com/office/drawing/2014/main" id="{DBF9EB9E-7A50-0FD5-3751-ABFBC7405179}"/>
              </a:ext>
            </a:extLst>
          </p:cNvPr>
          <p:cNvPicPr>
            <a:picLocks noChangeAspect="1"/>
          </p:cNvPicPr>
          <p:nvPr/>
        </p:nvPicPr>
        <p:blipFill rotWithShape="1">
          <a:blip r:embed="rId3"/>
          <a:srcRect l="10604" r="63793" b="69086"/>
          <a:stretch/>
        </p:blipFill>
        <p:spPr>
          <a:xfrm>
            <a:off x="5548039" y="4625650"/>
            <a:ext cx="3121573" cy="2120111"/>
          </a:xfrm>
          <a:prstGeom prst="rect">
            <a:avLst/>
          </a:prstGeom>
          <a:ln>
            <a:solidFill>
              <a:srgbClr val="FF0000"/>
            </a:solidFill>
          </a:ln>
        </p:spPr>
      </p:pic>
    </p:spTree>
    <p:extLst>
      <p:ext uri="{BB962C8B-B14F-4D97-AF65-F5344CB8AC3E}">
        <p14:creationId xmlns:p14="http://schemas.microsoft.com/office/powerpoint/2010/main" val="12136632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1230593"/>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Practical Example: Creating a website for a community sports league in Sydney, Australia</a:t>
            </a:r>
          </a:p>
        </p:txBody>
      </p:sp>
      <p:sp>
        <p:nvSpPr>
          <p:cNvPr id="8" name="TextBox 7">
            <a:extLst>
              <a:ext uri="{FF2B5EF4-FFF2-40B4-BE49-F238E27FC236}">
                <a16:creationId xmlns:a16="http://schemas.microsoft.com/office/drawing/2014/main" id="{548339E8-BF84-DE95-F4BF-2C8581AEEC9E}"/>
              </a:ext>
            </a:extLst>
          </p:cNvPr>
          <p:cNvSpPr txBox="1"/>
          <p:nvPr/>
        </p:nvSpPr>
        <p:spPr>
          <a:xfrm>
            <a:off x="6264166" y="714705"/>
            <a:ext cx="5927833" cy="6133859"/>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title used within the &lt;title&gt; tag of your HTML is "Sydney Community Sports League," which is a very good choice because it precisely describes the main content and purpose of the webpage. It aligns with the primary focus of the content which revolves around the sports league based in Sydney, and it helps with SEO (Search Engine Optimization) as well as user orientation when they see the title in their browser tab. Hence, this title is well-suited for the HTML document and adequately reflects its contents and primary function.</a:t>
            </a:r>
            <a:endParaRPr lang="en-AU" sz="2200"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335E82C2-5676-4D4A-B934-6D41FCC6ADFE}"/>
              </a:ext>
            </a:extLst>
          </p:cNvPr>
          <p:cNvPicPr>
            <a:picLocks noChangeAspect="1"/>
          </p:cNvPicPr>
          <p:nvPr/>
        </p:nvPicPr>
        <p:blipFill rotWithShape="1">
          <a:blip r:embed="rId2"/>
          <a:srcRect t="-1226" r="36896" b="6514"/>
          <a:stretch/>
        </p:blipFill>
        <p:spPr>
          <a:xfrm>
            <a:off x="1" y="1576552"/>
            <a:ext cx="6255695" cy="5281448"/>
          </a:xfrm>
          <a:prstGeom prst="rect">
            <a:avLst/>
          </a:prstGeom>
        </p:spPr>
      </p:pic>
    </p:spTree>
    <p:extLst>
      <p:ext uri="{BB962C8B-B14F-4D97-AF65-F5344CB8AC3E}">
        <p14:creationId xmlns:p14="http://schemas.microsoft.com/office/powerpoint/2010/main" val="32644209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6264167" y="2342783"/>
            <a:ext cx="5927833" cy="3086871"/>
          </a:xfrm>
          <a:prstGeom prst="rect">
            <a:avLst/>
          </a:prstGeom>
          <a:no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&lt;!DOCTYPE html&gt;: </a:t>
            </a:r>
            <a:r>
              <a:rPr lang="en-US" sz="2200" dirty="0">
                <a:latin typeface="Calibri" panose="020F0502020204030204" pitchFamily="34" charset="0"/>
                <a:cs typeface="Calibri" panose="020F0502020204030204" pitchFamily="34" charset="0"/>
              </a:rPr>
              <a:t>This declaration defines the document type and version of HTML. In this case, it specifies HTML5.</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&lt;html 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"&gt;: </a:t>
            </a:r>
            <a:r>
              <a:rPr lang="en-US" sz="2200" dirty="0">
                <a:latin typeface="Calibri" panose="020F0502020204030204" pitchFamily="34" charset="0"/>
                <a:cs typeface="Calibri" panose="020F0502020204030204" pitchFamily="34" charset="0"/>
              </a:rPr>
              <a:t>This is the root element of an HTML page, and </a:t>
            </a:r>
            <a:r>
              <a:rPr lang="en-US" sz="2200" b="1" dirty="0">
                <a:latin typeface="Calibri" panose="020F0502020204030204" pitchFamily="34" charset="0"/>
                <a:cs typeface="Calibri" panose="020F0502020204030204" pitchFamily="34" charset="0"/>
              </a:rPr>
              <a:t>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specifies that the content of the web page is in English.</a:t>
            </a:r>
            <a:endParaRPr lang="en-AU" sz="2200" b="1" dirty="0">
              <a:latin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0F2D9DAE-7339-464B-A903-1ED7F91C22B9}"/>
              </a:ext>
            </a:extLst>
          </p:cNvPr>
          <p:cNvPicPr>
            <a:picLocks noChangeAspect="1"/>
          </p:cNvPicPr>
          <p:nvPr/>
        </p:nvPicPr>
        <p:blipFill rotWithShape="1">
          <a:blip r:embed="rId2"/>
          <a:srcRect r="29448"/>
          <a:stretch/>
        </p:blipFill>
        <p:spPr>
          <a:xfrm>
            <a:off x="0" y="0"/>
            <a:ext cx="6096000" cy="6858000"/>
          </a:xfrm>
          <a:prstGeom prst="rect">
            <a:avLst/>
          </a:prstGeom>
        </p:spPr>
      </p:pic>
    </p:spTree>
    <p:extLst>
      <p:ext uri="{BB962C8B-B14F-4D97-AF65-F5344CB8AC3E}">
        <p14:creationId xmlns:p14="http://schemas.microsoft.com/office/powerpoint/2010/main" val="2595751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999357" y="0"/>
            <a:ext cx="6192644" cy="6641690"/>
          </a:xfrm>
          <a:prstGeom prst="rect">
            <a:avLst/>
          </a:prstGeom>
          <a:no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&lt;head&gt;: </a:t>
            </a:r>
            <a:r>
              <a:rPr lang="en-US" sz="2200" dirty="0">
                <a:latin typeface="Calibri" panose="020F0502020204030204" pitchFamily="34" charset="0"/>
                <a:cs typeface="Calibri" panose="020F0502020204030204" pitchFamily="34" charset="0"/>
              </a:rPr>
              <a:t>This section contains metadata and links to external resources needed for the document. It doesn't display content on the web page itself.</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&lt;meta charset="UTF-8"&gt;:</a:t>
            </a:r>
            <a:r>
              <a:rPr lang="en-US" sz="2200" dirty="0">
                <a:latin typeface="Calibri" panose="020F0502020204030204" pitchFamily="34" charset="0"/>
                <a:cs typeface="Calibri" panose="020F0502020204030204" pitchFamily="34" charset="0"/>
              </a:rPr>
              <a:t> This tag specifies the character encoding for the HTML document, set to UTF-8, which includes most characters from all human languages.</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&lt;title&gt;Sydney Community Sports League&lt;/title&gt;:</a:t>
            </a:r>
            <a:r>
              <a:rPr lang="en-US" sz="2200" dirty="0">
                <a:latin typeface="Calibri" panose="020F0502020204030204" pitchFamily="34" charset="0"/>
                <a:cs typeface="Calibri" panose="020F0502020204030204" pitchFamily="34" charset="0"/>
              </a:rPr>
              <a:t> This sets the title of the web page, which appears in the browser tab.</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&lt;link </a:t>
            </a:r>
            <a:r>
              <a:rPr lang="en-US" sz="2200" b="1" dirty="0" err="1">
                <a:latin typeface="Calibri" panose="020F0502020204030204" pitchFamily="34" charset="0"/>
                <a:cs typeface="Calibri" panose="020F0502020204030204" pitchFamily="34" charset="0"/>
              </a:rPr>
              <a:t>rel</a:t>
            </a:r>
            <a:r>
              <a:rPr lang="en-US" sz="2200" b="1" dirty="0">
                <a:latin typeface="Calibri" panose="020F0502020204030204" pitchFamily="34" charset="0"/>
                <a:cs typeface="Calibri" panose="020F0502020204030204" pitchFamily="34" charset="0"/>
              </a:rPr>
              <a:t>="stylesheet" </a:t>
            </a:r>
            <a:r>
              <a:rPr lang="en-US" sz="2200" b="1" dirty="0" err="1">
                <a:latin typeface="Calibri" panose="020F0502020204030204" pitchFamily="34" charset="0"/>
                <a:cs typeface="Calibri" panose="020F0502020204030204" pitchFamily="34" charset="0"/>
              </a:rPr>
              <a:t>href</a:t>
            </a:r>
            <a:r>
              <a:rPr lang="en-US" sz="2200" b="1" dirty="0">
                <a:latin typeface="Calibri" panose="020F0502020204030204" pitchFamily="34" charset="0"/>
                <a:cs typeface="Calibri" panose="020F0502020204030204" pitchFamily="34" charset="0"/>
              </a:rPr>
              <a:t>="</a:t>
            </a:r>
            <a:r>
              <a:rPr lang="en-US" sz="2200" b="1" dirty="0" err="1">
                <a:latin typeface="Calibri" panose="020F0502020204030204" pitchFamily="34" charset="0"/>
                <a:cs typeface="Calibri" panose="020F0502020204030204" pitchFamily="34" charset="0"/>
              </a:rPr>
              <a:t>css</a:t>
            </a:r>
            <a:r>
              <a:rPr lang="en-US" sz="2200" b="1" dirty="0">
                <a:latin typeface="Calibri" panose="020F0502020204030204" pitchFamily="34" charset="0"/>
                <a:cs typeface="Calibri" panose="020F0502020204030204" pitchFamily="34" charset="0"/>
              </a:rPr>
              <a:t>/sydney-sports-styles.css"&gt;:</a:t>
            </a:r>
            <a:r>
              <a:rPr lang="en-US" sz="2200" dirty="0">
                <a:latin typeface="Calibri" panose="020F0502020204030204" pitchFamily="34" charset="0"/>
                <a:cs typeface="Calibri" panose="020F0502020204030204" pitchFamily="34" charset="0"/>
              </a:rPr>
              <a:t> This links an external CSS file that controls the styling of the webpage.</a:t>
            </a:r>
            <a:endParaRPr lang="en-AU" sz="2200"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5ACD7862-0566-454D-94FB-22665133A588}"/>
              </a:ext>
            </a:extLst>
          </p:cNvPr>
          <p:cNvPicPr>
            <a:picLocks noChangeAspect="1"/>
          </p:cNvPicPr>
          <p:nvPr/>
        </p:nvPicPr>
        <p:blipFill rotWithShape="1">
          <a:blip r:embed="rId2"/>
          <a:srcRect r="29448"/>
          <a:stretch/>
        </p:blipFill>
        <p:spPr>
          <a:xfrm>
            <a:off x="0" y="0"/>
            <a:ext cx="6096000" cy="6858000"/>
          </a:xfrm>
          <a:prstGeom prst="rect">
            <a:avLst/>
          </a:prstGeom>
        </p:spPr>
      </p:pic>
    </p:spTree>
    <p:extLst>
      <p:ext uri="{BB962C8B-B14F-4D97-AF65-F5344CB8AC3E}">
        <p14:creationId xmlns:p14="http://schemas.microsoft.com/office/powerpoint/2010/main" val="9205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fade">
                                      <p:cBhvr>
                                        <p:cTn id="28" dur="1000"/>
                                        <p:tgtEl>
                                          <p:spTgt spid="8">
                                            <p:txEl>
                                              <p:pRg st="3" end="3"/>
                                            </p:txEl>
                                          </p:spTgt>
                                        </p:tgtEl>
                                      </p:cBhvr>
                                    </p:animEffect>
                                    <p:anim calcmode="lin" valueType="num">
                                      <p:cBhvr>
                                        <p:cTn id="29" dur="1000" fill="hold"/>
                                        <p:tgtEl>
                                          <p:spTgt spid="8">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8">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519854" y="0"/>
            <a:ext cx="6672146" cy="6969600"/>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&lt;body&gt;:</a:t>
            </a:r>
            <a:r>
              <a:rPr lang="en-US" sz="2000" dirty="0">
                <a:latin typeface="Calibri" panose="020F0502020204030204" pitchFamily="34" charset="0"/>
                <a:cs typeface="Calibri" panose="020F0502020204030204" pitchFamily="34" charset="0"/>
              </a:rPr>
              <a:t> This section contains all the contents of the HTML document that are visible to the user.</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&lt;header&gt;: </a:t>
            </a:r>
            <a:r>
              <a:rPr lang="en-US" sz="2000" dirty="0">
                <a:latin typeface="Calibri" panose="020F0502020204030204" pitchFamily="34" charset="0"/>
                <a:cs typeface="Calibri" panose="020F0502020204030204" pitchFamily="34" charset="0"/>
              </a:rPr>
              <a:t>This is the introductory content or navigational links for the page.</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&lt;h1&gt;Sydney Community Sports League&lt;/h1&gt;</a:t>
            </a:r>
            <a:r>
              <a:rPr lang="en-US" sz="2000" dirty="0">
                <a:latin typeface="Calibri" panose="020F0502020204030204" pitchFamily="34" charset="0"/>
                <a:cs typeface="Calibri" panose="020F0502020204030204" pitchFamily="34" charset="0"/>
              </a:rPr>
              <a:t>: The main heading of the page, displayed prominently.</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&lt;nav&gt;: </a:t>
            </a:r>
            <a:r>
              <a:rPr lang="en-US" sz="2000" dirty="0">
                <a:latin typeface="Calibri" panose="020F0502020204030204" pitchFamily="34" charset="0"/>
                <a:cs typeface="Calibri" panose="020F0502020204030204" pitchFamily="34" charset="0"/>
              </a:rPr>
              <a:t>This element is intended for navigation links.</a:t>
            </a:r>
          </a:p>
          <a:p>
            <a:pPr marL="1714500" lvl="3"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t>
            </a:r>
            <a:r>
              <a:rPr lang="en-US" sz="2000" b="1" dirty="0" err="1">
                <a:latin typeface="Calibri" panose="020F0502020204030204" pitchFamily="34" charset="0"/>
                <a:cs typeface="Calibri" panose="020F0502020204030204" pitchFamily="34" charset="0"/>
              </a:rPr>
              <a:t>ul</a:t>
            </a:r>
            <a:r>
              <a:rPr lang="en-US" sz="2000" b="1" dirty="0">
                <a:latin typeface="Calibri" panose="020F0502020204030204" pitchFamily="34" charset="0"/>
                <a:cs typeface="Calibri" panose="020F0502020204030204" pitchFamily="34" charset="0"/>
              </a:rPr>
              <a:t>&gt;: </a:t>
            </a:r>
            <a:r>
              <a:rPr lang="en-US" sz="2000" dirty="0">
                <a:latin typeface="Calibri" panose="020F0502020204030204" pitchFamily="34" charset="0"/>
                <a:cs typeface="Calibri" panose="020F0502020204030204" pitchFamily="34" charset="0"/>
              </a:rPr>
              <a:t>An unordered list that contains navigation items.</a:t>
            </a:r>
          </a:p>
          <a:p>
            <a:pPr marL="2171700" lvl="4"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&lt;li&gt;&lt;a </a:t>
            </a:r>
            <a:r>
              <a:rPr lang="en-US" sz="2000" b="1" dirty="0" err="1">
                <a:latin typeface="Calibri" panose="020F0502020204030204" pitchFamily="34" charset="0"/>
                <a:cs typeface="Calibri" panose="020F0502020204030204" pitchFamily="34" charset="0"/>
              </a:rPr>
              <a:t>href</a:t>
            </a:r>
            <a:r>
              <a:rPr lang="en-US" sz="2000" b="1" dirty="0">
                <a:latin typeface="Calibri" panose="020F0502020204030204" pitchFamily="34" charset="0"/>
                <a:cs typeface="Calibri" panose="020F0502020204030204" pitchFamily="34" charset="0"/>
              </a:rPr>
              <a:t>="#"&gt;...&lt;/a&gt;&lt;/li&gt;: </a:t>
            </a:r>
            <a:r>
              <a:rPr lang="en-US" sz="2000" dirty="0">
                <a:latin typeface="Calibri" panose="020F0502020204030204" pitchFamily="34" charset="0"/>
                <a:cs typeface="Calibri" panose="020F0502020204030204" pitchFamily="34" charset="0"/>
              </a:rPr>
              <a:t>Each list item contains a hyperlink </a:t>
            </a:r>
            <a:r>
              <a:rPr lang="en-US" sz="2000" b="1" dirty="0">
                <a:latin typeface="Calibri" panose="020F0502020204030204" pitchFamily="34" charset="0"/>
                <a:cs typeface="Calibri" panose="020F0502020204030204" pitchFamily="34" charset="0"/>
              </a:rPr>
              <a:t>(&lt;a&gt;) </a:t>
            </a:r>
            <a:r>
              <a:rPr lang="en-US" sz="2000" dirty="0">
                <a:latin typeface="Calibri" panose="020F0502020204030204" pitchFamily="34" charset="0"/>
                <a:cs typeface="Calibri" panose="020F0502020204030204" pitchFamily="34" charset="0"/>
              </a:rPr>
              <a:t>that, in this example, doesn't lead anywhere </a:t>
            </a:r>
            <a:r>
              <a:rPr lang="en-US" sz="2000" b="1" dirty="0">
                <a:latin typeface="Calibri" panose="020F0502020204030204" pitchFamily="34" charset="0"/>
                <a:cs typeface="Calibri" panose="020F0502020204030204" pitchFamily="34" charset="0"/>
              </a:rPr>
              <a:t>(</a:t>
            </a:r>
            <a:r>
              <a:rPr lang="en-US" sz="2000" b="1" dirty="0" err="1">
                <a:latin typeface="Calibri" panose="020F0502020204030204" pitchFamily="34" charset="0"/>
                <a:cs typeface="Calibri" panose="020F0502020204030204" pitchFamily="34" charset="0"/>
              </a:rPr>
              <a:t>href</a:t>
            </a:r>
            <a:r>
              <a:rPr lang="en-US" sz="2000" b="1" dirty="0">
                <a:latin typeface="Calibri" panose="020F0502020204030204" pitchFamily="34" charset="0"/>
                <a:cs typeface="Calibri" panose="020F0502020204030204" pitchFamily="34" charset="0"/>
              </a:rPr>
              <a:t>="#").</a:t>
            </a:r>
            <a:endParaRPr lang="en-AU" sz="2000" b="1"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FDF7D08A-C2E6-4AC5-8BA3-4F306A824CBD}"/>
              </a:ext>
            </a:extLst>
          </p:cNvPr>
          <p:cNvPicPr>
            <a:picLocks noChangeAspect="1"/>
          </p:cNvPicPr>
          <p:nvPr/>
        </p:nvPicPr>
        <p:blipFill rotWithShape="1">
          <a:blip r:embed="rId2"/>
          <a:srcRect r="29448"/>
          <a:stretch/>
        </p:blipFill>
        <p:spPr>
          <a:xfrm>
            <a:off x="0" y="0"/>
            <a:ext cx="6096000" cy="6858000"/>
          </a:xfrm>
          <a:prstGeom prst="rect">
            <a:avLst/>
          </a:prstGeom>
        </p:spPr>
      </p:pic>
    </p:spTree>
    <p:extLst>
      <p:ext uri="{BB962C8B-B14F-4D97-AF65-F5344CB8AC3E}">
        <p14:creationId xmlns:p14="http://schemas.microsoft.com/office/powerpoint/2010/main" val="11237866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832088" y="2018370"/>
            <a:ext cx="6359912" cy="4199611"/>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&lt;main&gt;: </a:t>
            </a:r>
            <a:r>
              <a:rPr lang="en-US" sz="2000" dirty="0">
                <a:latin typeface="Calibri" panose="020F0502020204030204" pitchFamily="34" charset="0"/>
                <a:cs typeface="Calibri" panose="020F0502020204030204" pitchFamily="34" charset="0"/>
              </a:rPr>
              <a:t>The main content area of the document.</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&lt;section class="sports-news"&gt;:</a:t>
            </a:r>
            <a:r>
              <a:rPr lang="en-US" sz="2000" dirty="0">
                <a:latin typeface="Calibri" panose="020F0502020204030204" pitchFamily="34" charset="0"/>
                <a:cs typeface="Calibri" panose="020F0502020204030204" pitchFamily="34" charset="0"/>
              </a:rPr>
              <a:t> A section meant for grouping thematically related content, here identified by the class "sports-news".</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&lt;h2&gt;Latest News&lt;/h2&gt;: </a:t>
            </a:r>
            <a:r>
              <a:rPr lang="en-US" sz="2000" dirty="0">
                <a:latin typeface="Calibri" panose="020F0502020204030204" pitchFamily="34" charset="0"/>
                <a:cs typeface="Calibri" panose="020F0502020204030204" pitchFamily="34" charset="0"/>
              </a:rPr>
              <a:t>A heading for the section.</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&lt;p&gt;Exciting finals coming up this weekend!&lt;/p&gt;: </a:t>
            </a:r>
            <a:r>
              <a:rPr lang="en-US" sz="2000" dirty="0">
                <a:latin typeface="Calibri" panose="020F0502020204030204" pitchFamily="34" charset="0"/>
                <a:cs typeface="Calibri" panose="020F0502020204030204" pitchFamily="34" charset="0"/>
              </a:rPr>
              <a:t>A paragraph with some news content.</a:t>
            </a:r>
            <a:endParaRPr lang="en-AU" sz="20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8D3F480E-00DD-4914-B4C7-E853B4BC5CE2}"/>
              </a:ext>
            </a:extLst>
          </p:cNvPr>
          <p:cNvPicPr>
            <a:picLocks noChangeAspect="1"/>
          </p:cNvPicPr>
          <p:nvPr/>
        </p:nvPicPr>
        <p:blipFill rotWithShape="1">
          <a:blip r:embed="rId2"/>
          <a:srcRect r="29448"/>
          <a:stretch/>
        </p:blipFill>
        <p:spPr>
          <a:xfrm>
            <a:off x="0" y="0"/>
            <a:ext cx="6096000" cy="6858000"/>
          </a:xfrm>
          <a:prstGeom prst="rect">
            <a:avLst/>
          </a:prstGeom>
        </p:spPr>
      </p:pic>
    </p:spTree>
    <p:extLst>
      <p:ext uri="{BB962C8B-B14F-4D97-AF65-F5344CB8AC3E}">
        <p14:creationId xmlns:p14="http://schemas.microsoft.com/office/powerpoint/2010/main" val="28355764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832088" y="-67778"/>
            <a:ext cx="6359912" cy="3737946"/>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&lt;aside class="upcoming-events"&gt;: </a:t>
            </a:r>
            <a:r>
              <a:rPr lang="en-US" sz="2000" dirty="0">
                <a:latin typeface="Calibri" panose="020F0502020204030204" pitchFamily="34" charset="0"/>
                <a:cs typeface="Calibri" panose="020F0502020204030204" pitchFamily="34" charset="0"/>
              </a:rPr>
              <a:t>This section is typically used for content tangentially related to the content around it (like sidebars), here identified by the class "upcoming-events".</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&lt;h2&gt;Upcoming Events&lt;/h2&gt;: </a:t>
            </a:r>
            <a:r>
              <a:rPr lang="en-US" sz="2000" dirty="0">
                <a:latin typeface="Calibri" panose="020F0502020204030204" pitchFamily="34" charset="0"/>
                <a:cs typeface="Calibri" panose="020F0502020204030204" pitchFamily="34" charset="0"/>
              </a:rPr>
              <a:t>Another heading, distinguishing this content's topic.</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t>
            </a:r>
            <a:r>
              <a:rPr lang="en-US" sz="2000" b="1" dirty="0" err="1">
                <a:latin typeface="Calibri" panose="020F0502020204030204" pitchFamily="34" charset="0"/>
                <a:cs typeface="Calibri" panose="020F0502020204030204" pitchFamily="34" charset="0"/>
              </a:rPr>
              <a:t>ul</a:t>
            </a:r>
            <a:r>
              <a:rPr lang="en-US" sz="2000" b="1" dirty="0">
                <a:latin typeface="Calibri" panose="020F0502020204030204" pitchFamily="34" charset="0"/>
                <a:cs typeface="Calibri" panose="020F0502020204030204" pitchFamily="34" charset="0"/>
              </a:rPr>
              <a:t>&gt;: </a:t>
            </a:r>
            <a:r>
              <a:rPr lang="en-US" sz="2000" dirty="0">
                <a:latin typeface="Calibri" panose="020F0502020204030204" pitchFamily="34" charset="0"/>
                <a:cs typeface="Calibri" panose="020F0502020204030204" pitchFamily="34" charset="0"/>
              </a:rPr>
              <a:t>Another unordered list detailing events.</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&lt;li&gt;...&lt;/li&gt;: </a:t>
            </a:r>
            <a:r>
              <a:rPr lang="en-US" sz="2000" dirty="0">
                <a:latin typeface="Calibri" panose="020F0502020204030204" pitchFamily="34" charset="0"/>
                <a:cs typeface="Calibri" panose="020F0502020204030204" pitchFamily="34" charset="0"/>
              </a:rPr>
              <a:t>List items with event details.</a:t>
            </a:r>
            <a:endParaRPr lang="en-AU" sz="20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EE1AB0CF-B490-5AAE-F1D3-9E7291D781F2}"/>
              </a:ext>
            </a:extLst>
          </p:cNvPr>
          <p:cNvSpPr txBox="1"/>
          <p:nvPr/>
        </p:nvSpPr>
        <p:spPr>
          <a:xfrm>
            <a:off x="5832088" y="3537091"/>
            <a:ext cx="6359912" cy="2352952"/>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&lt;footer&gt;: </a:t>
            </a:r>
            <a:r>
              <a:rPr lang="en-US" sz="2000" dirty="0">
                <a:latin typeface="Calibri" panose="020F0502020204030204" pitchFamily="34" charset="0"/>
                <a:cs typeface="Calibri" panose="020F0502020204030204" pitchFamily="34" charset="0"/>
              </a:rPr>
              <a:t>This element typically contains information about the document, such as copyrights, links, or contact information.</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&lt;p&gt;© 2024 Sydney Community Sports League&lt;/p&gt;: </a:t>
            </a:r>
            <a:r>
              <a:rPr lang="en-US" sz="2000" dirty="0">
                <a:latin typeface="Calibri" panose="020F0502020204030204" pitchFamily="34" charset="0"/>
                <a:cs typeface="Calibri" panose="020F0502020204030204" pitchFamily="34" charset="0"/>
              </a:rPr>
              <a:t>A paragraph that provides copyright information.</a:t>
            </a:r>
            <a:endParaRPr lang="en-AU" sz="2000"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A48A9BC6-4CA9-61E7-B1A3-F33B149E392C}"/>
              </a:ext>
            </a:extLst>
          </p:cNvPr>
          <p:cNvSpPr txBox="1"/>
          <p:nvPr/>
        </p:nvSpPr>
        <p:spPr>
          <a:xfrm>
            <a:off x="0" y="5890043"/>
            <a:ext cx="12192000" cy="967957"/>
          </a:xfrm>
          <a:prstGeom prst="rect">
            <a:avLst/>
          </a:prstGeom>
          <a:noFill/>
        </p:spPr>
        <p:txBody>
          <a:bodyPr wrap="square" rtlCol="0">
            <a:spAutoFit/>
          </a:bodyPr>
          <a:lstStyle/>
          <a:p>
            <a:pPr>
              <a:lnSpc>
                <a:spcPct val="150000"/>
              </a:lnSpc>
            </a:pPr>
            <a:r>
              <a:rPr lang="en-US" sz="2000" dirty="0">
                <a:latin typeface="Calibri" panose="020F0502020204030204" pitchFamily="34" charset="0"/>
                <a:cs typeface="Calibri" panose="020F0502020204030204" pitchFamily="34" charset="0"/>
              </a:rPr>
              <a:t>This structure ensures that the webpage is well-organized and semantically meaningful, which helps with accessibility and SEO (Search Engine Optimization).</a:t>
            </a:r>
            <a:endParaRPr lang="en-AU" sz="2000" dirty="0">
              <a:latin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F24B1AA6-A355-4F00-8512-04BA91EA1190}"/>
              </a:ext>
            </a:extLst>
          </p:cNvPr>
          <p:cNvPicPr>
            <a:picLocks noChangeAspect="1"/>
          </p:cNvPicPr>
          <p:nvPr/>
        </p:nvPicPr>
        <p:blipFill rotWithShape="1">
          <a:blip r:embed="rId2"/>
          <a:srcRect r="29448"/>
          <a:stretch/>
        </p:blipFill>
        <p:spPr>
          <a:xfrm>
            <a:off x="0" y="0"/>
            <a:ext cx="5323044" cy="5988424"/>
          </a:xfrm>
          <a:prstGeom prst="rect">
            <a:avLst/>
          </a:prstGeom>
        </p:spPr>
      </p:pic>
    </p:spTree>
    <p:extLst>
      <p:ext uri="{BB962C8B-B14F-4D97-AF65-F5344CB8AC3E}">
        <p14:creationId xmlns:p14="http://schemas.microsoft.com/office/powerpoint/2010/main" val="3400340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626B9D8-BD9E-65A0-C2E3-A974E647E0AA}"/>
              </a:ext>
            </a:extLst>
          </p:cNvPr>
          <p:cNvSpPr txBox="1"/>
          <p:nvPr/>
        </p:nvSpPr>
        <p:spPr>
          <a:xfrm>
            <a:off x="5599053" y="3416018"/>
            <a:ext cx="6592947" cy="3435492"/>
          </a:xfrm>
          <a:prstGeom prst="rect">
            <a:avLst/>
          </a:prstGeom>
          <a:noFill/>
        </p:spPr>
        <p:txBody>
          <a:bodyPr wrap="square">
            <a:spAutoFit/>
          </a:bodyPr>
          <a:lstStyle/>
          <a:p>
            <a:pPr>
              <a:lnSpc>
                <a:spcPct val="150000"/>
              </a:lnSpc>
            </a:pPr>
            <a:r>
              <a:rPr lang="en-US" sz="2100" b="1" dirty="0">
                <a:latin typeface="Calibri" panose="020F0502020204030204" pitchFamily="34" charset="0"/>
                <a:cs typeface="Calibri" panose="020F0502020204030204" pitchFamily="34" charset="0"/>
              </a:rPr>
              <a:t>2. Header Styling:</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The background color is a deep blue (</a:t>
            </a:r>
            <a:r>
              <a:rPr lang="en-US" sz="2100" b="1" dirty="0">
                <a:latin typeface="Calibri" panose="020F0502020204030204" pitchFamily="34" charset="0"/>
                <a:cs typeface="Calibri" panose="020F0502020204030204" pitchFamily="34" charset="0"/>
              </a:rPr>
              <a:t>#003366</a:t>
            </a:r>
            <a:r>
              <a:rPr lang="en-US" sz="2100" dirty="0">
                <a:latin typeface="Calibri" panose="020F0502020204030204" pitchFamily="34" charset="0"/>
                <a:cs typeface="Calibri" panose="020F0502020204030204" pitchFamily="34" charset="0"/>
              </a:rPr>
              <a:t>), likely chosen to reflect an oceanic theme, possibly linked to Sydney.</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Text color is white (</a:t>
            </a:r>
            <a:r>
              <a:rPr lang="en-US" sz="2100" b="1" dirty="0">
                <a:latin typeface="Calibri" panose="020F0502020204030204" pitchFamily="34" charset="0"/>
                <a:cs typeface="Calibri" panose="020F0502020204030204" pitchFamily="34" charset="0"/>
              </a:rPr>
              <a:t>#ffffff</a:t>
            </a:r>
            <a:r>
              <a:rPr lang="en-US" sz="21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Padding is 10 pixels on the top and bottom.</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Text alignment is centered.</a:t>
            </a:r>
            <a:endParaRPr lang="en-AU" sz="21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2" y="0"/>
            <a:ext cx="6592947" cy="3435492"/>
          </a:xfrm>
          <a:prstGeom prst="rect">
            <a:avLst/>
          </a:prstGeom>
          <a:noFill/>
        </p:spPr>
        <p:txBody>
          <a:bodyPr wrap="square">
            <a:spAutoFit/>
          </a:bodyPr>
          <a:lstStyle/>
          <a:p>
            <a:pPr>
              <a:lnSpc>
                <a:spcPct val="150000"/>
              </a:lnSpc>
            </a:pPr>
            <a:r>
              <a:rPr lang="en-US" sz="2100" b="1" dirty="0">
                <a:latin typeface="Calibri" panose="020F0502020204030204" pitchFamily="34" charset="0"/>
                <a:cs typeface="Calibri" panose="020F0502020204030204" pitchFamily="34" charset="0"/>
              </a:rPr>
              <a:t>1. Body Styling: (Repository&gt;&gt;sydney-sports-styles.css)</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Sets the font family to Arial with a fallback of any sans-serif typeface.</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Line height is set to 1.6 for better readability.</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Margin and padding are both set to 0 to remove default spacing.</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The background color is a light grey (</a:t>
            </a:r>
            <a:r>
              <a:rPr lang="en-US" sz="2100" b="1" dirty="0">
                <a:latin typeface="Calibri" panose="020F0502020204030204" pitchFamily="34" charset="0"/>
                <a:cs typeface="Calibri" panose="020F0502020204030204" pitchFamily="34" charset="0"/>
              </a:rPr>
              <a:t>#f4f4f4</a:t>
            </a:r>
            <a:r>
              <a:rPr lang="en-US" sz="2100" dirty="0">
                <a:latin typeface="Calibri" panose="020F0502020204030204" pitchFamily="34" charset="0"/>
                <a:cs typeface="Calibri" panose="020F0502020204030204" pitchFamily="34" charset="0"/>
              </a:rPr>
              <a:t>).</a:t>
            </a:r>
            <a:endParaRPr lang="en-AU" sz="21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69179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3" y="1377733"/>
            <a:ext cx="6592947" cy="4102533"/>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3. Navigation Menu:</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a:t>
            </a:r>
            <a:r>
              <a:rPr lang="en-US" sz="2200" b="1" dirty="0">
                <a:latin typeface="Calibri" panose="020F0502020204030204" pitchFamily="34" charset="0"/>
                <a:cs typeface="Calibri" panose="020F0502020204030204" pitchFamily="34" charset="0"/>
              </a:rPr>
              <a:t> </a:t>
            </a:r>
            <a:r>
              <a:rPr lang="en-US" sz="2200" b="1" dirty="0" err="1">
                <a:latin typeface="Calibri" panose="020F0502020204030204" pitchFamily="34" charset="0"/>
                <a:cs typeface="Calibri" panose="020F0502020204030204" pitchFamily="34" charset="0"/>
              </a:rPr>
              <a:t>ul</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element has no list style and no padding to create a clean horizontal navigation bar.</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li</a:t>
            </a:r>
            <a:r>
              <a:rPr lang="en-US" sz="2200" dirty="0">
                <a:latin typeface="Calibri" panose="020F0502020204030204" pitchFamily="34" charset="0"/>
                <a:cs typeface="Calibri" panose="020F0502020204030204" pitchFamily="34" charset="0"/>
              </a:rPr>
              <a:t> elements are displayed inline and have a 20-pixel margin on the right to space out the links.</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 links (</a:t>
            </a:r>
            <a:r>
              <a:rPr lang="en-US" sz="2200" b="1" dirty="0">
                <a:latin typeface="Calibri" panose="020F0502020204030204" pitchFamily="34" charset="0"/>
                <a:cs typeface="Calibri" panose="020F0502020204030204" pitchFamily="34" charset="0"/>
              </a:rPr>
              <a:t>a</a:t>
            </a:r>
            <a:r>
              <a:rPr lang="en-US" sz="2200" dirty="0">
                <a:latin typeface="Calibri" panose="020F0502020204030204" pitchFamily="34" charset="0"/>
                <a:cs typeface="Calibri" panose="020F0502020204030204" pitchFamily="34" charset="0"/>
              </a:rPr>
              <a:t> elements) within the </a:t>
            </a:r>
            <a:r>
              <a:rPr lang="en-US" sz="2200" b="1" dirty="0">
                <a:latin typeface="Calibri" panose="020F0502020204030204" pitchFamily="34" charset="0"/>
                <a:cs typeface="Calibri" panose="020F0502020204030204" pitchFamily="34" charset="0"/>
              </a:rPr>
              <a:t>li</a:t>
            </a:r>
            <a:r>
              <a:rPr lang="en-US" sz="2200" dirty="0">
                <a:latin typeface="Calibri" panose="020F0502020204030204" pitchFamily="34" charset="0"/>
                <a:cs typeface="Calibri" panose="020F0502020204030204" pitchFamily="34" charset="0"/>
              </a:rPr>
              <a:t> have white text and no text decoration to maintain a clean and readable navigation bar.</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148893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2" y="0"/>
            <a:ext cx="6592947" cy="6492803"/>
          </a:xfrm>
          <a:prstGeom prst="rect">
            <a:avLst/>
          </a:prstGeom>
          <a:noFill/>
        </p:spPr>
        <p:txBody>
          <a:bodyPr wrap="square">
            <a:spAutoFit/>
          </a:bodyPr>
          <a:lstStyle/>
          <a:p>
            <a:pPr>
              <a:lnSpc>
                <a:spcPct val="150000"/>
              </a:lnSpc>
            </a:pPr>
            <a:r>
              <a:rPr lang="en-US" sz="2150" b="1" dirty="0">
                <a:latin typeface="Calibri" panose="020F0502020204030204" pitchFamily="34" charset="0"/>
                <a:cs typeface="Calibri" panose="020F0502020204030204" pitchFamily="34" charset="0"/>
              </a:rPr>
              <a:t>4. Main Content and Sidebar Styles:</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main</a:t>
            </a:r>
            <a:r>
              <a:rPr lang="en-US" sz="2150" dirty="0">
                <a:latin typeface="Calibri" panose="020F0502020204030204" pitchFamily="34" charset="0"/>
                <a:cs typeface="Calibri" panose="020F0502020204030204" pitchFamily="34" charset="0"/>
              </a:rPr>
              <a:t> element uses a flexible box layout (</a:t>
            </a:r>
            <a:r>
              <a:rPr lang="en-US" sz="2150" b="1" dirty="0">
                <a:latin typeface="Calibri" panose="020F0502020204030204" pitchFamily="34" charset="0"/>
                <a:cs typeface="Calibri" panose="020F0502020204030204" pitchFamily="34" charset="0"/>
              </a:rPr>
              <a:t>display: flex</a:t>
            </a:r>
            <a:r>
              <a:rPr lang="en-US" sz="2150" dirty="0">
                <a:latin typeface="Calibri" panose="020F0502020204030204" pitchFamily="34" charset="0"/>
                <a:cs typeface="Calibri" panose="020F0502020204030204" pitchFamily="34" charset="0"/>
              </a:rPr>
              <a:t>) to organize content within it, spacing out children elements using </a:t>
            </a:r>
            <a:r>
              <a:rPr lang="en-US" sz="2150" b="1" dirty="0">
                <a:latin typeface="Calibri" panose="020F0502020204030204" pitchFamily="34" charset="0"/>
                <a:cs typeface="Calibri" panose="020F0502020204030204" pitchFamily="34" charset="0"/>
              </a:rPr>
              <a:t>justify-content: space-between</a:t>
            </a:r>
            <a:r>
              <a:rPr lang="en-US" sz="215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Padding is 20 pixels.</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Text color inside the main element is a dark grey (</a:t>
            </a:r>
            <a:r>
              <a:rPr lang="en-US" sz="2150" b="1" dirty="0">
                <a:latin typeface="Calibri" panose="020F0502020204030204" pitchFamily="34" charset="0"/>
                <a:cs typeface="Calibri" panose="020F0502020204030204" pitchFamily="34" charset="0"/>
              </a:rPr>
              <a:t>#333</a:t>
            </a:r>
            <a:r>
              <a:rPr lang="en-US" sz="215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.sports-news </a:t>
            </a:r>
            <a:r>
              <a:rPr lang="en-US" sz="2150" dirty="0">
                <a:latin typeface="Calibri" panose="020F0502020204030204" pitchFamily="34" charset="0"/>
                <a:cs typeface="Calibri" panose="020F0502020204030204" pitchFamily="34" charset="0"/>
              </a:rPr>
              <a:t>class takes up 3 parts of the available space (</a:t>
            </a:r>
            <a:r>
              <a:rPr lang="en-US" sz="2150" b="1" dirty="0">
                <a:latin typeface="Calibri" panose="020F0502020204030204" pitchFamily="34" charset="0"/>
                <a:cs typeface="Calibri" panose="020F0502020204030204" pitchFamily="34" charset="0"/>
              </a:rPr>
              <a:t>flex: 3</a:t>
            </a:r>
            <a:r>
              <a:rPr lang="en-US" sz="2150" dirty="0">
                <a:latin typeface="Calibri" panose="020F0502020204030204" pitchFamily="34" charset="0"/>
                <a:cs typeface="Calibri" panose="020F0502020204030204" pitchFamily="34" charset="0"/>
              </a:rPr>
              <a:t>), making it the primary content area.</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.upcoming-events</a:t>
            </a:r>
            <a:r>
              <a:rPr lang="en-US" sz="2150" dirty="0">
                <a:latin typeface="Calibri" panose="020F0502020204030204" pitchFamily="34" charset="0"/>
                <a:cs typeface="Calibri" panose="020F0502020204030204" pitchFamily="34" charset="0"/>
              </a:rPr>
              <a:t> class takes up 1 part of the available space (</a:t>
            </a:r>
            <a:r>
              <a:rPr lang="en-US" sz="2150" b="1" dirty="0">
                <a:latin typeface="Calibri" panose="020F0502020204030204" pitchFamily="34" charset="0"/>
                <a:cs typeface="Calibri" panose="020F0502020204030204" pitchFamily="34" charset="0"/>
              </a:rPr>
              <a:t>flex: 1</a:t>
            </a:r>
            <a:r>
              <a:rPr lang="en-US" sz="2150" dirty="0">
                <a:latin typeface="Calibri" panose="020F0502020204030204" pitchFamily="34" charset="0"/>
                <a:cs typeface="Calibri" panose="020F0502020204030204" pitchFamily="34" charset="0"/>
              </a:rPr>
              <a:t>), serves as a sidebar, and has a light grey background (</a:t>
            </a:r>
            <a:r>
              <a:rPr lang="en-US" sz="2150" b="1" dirty="0">
                <a:latin typeface="Calibri" panose="020F0502020204030204" pitchFamily="34" charset="0"/>
                <a:cs typeface="Calibri" panose="020F0502020204030204" pitchFamily="34" charset="0"/>
              </a:rPr>
              <a:t>#ccc</a:t>
            </a:r>
            <a:r>
              <a:rPr lang="en-US" sz="2150" dirty="0">
                <a:latin typeface="Calibri" panose="020F0502020204030204" pitchFamily="34" charset="0"/>
                <a:cs typeface="Calibri" panose="020F0502020204030204" pitchFamily="34" charset="0"/>
              </a:rPr>
              <a:t>) with 20 pixels of padding.</a:t>
            </a:r>
            <a:endParaRPr lang="en-AU" sz="215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2046591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623860" y="0"/>
            <a:ext cx="6592947" cy="2579039"/>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5. Footer Styling:</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Background color is dark grey (</a:t>
            </a:r>
            <a:r>
              <a:rPr lang="en-US" sz="2200" b="1" dirty="0">
                <a:latin typeface="Calibri" panose="020F0502020204030204" pitchFamily="34" charset="0"/>
                <a:cs typeface="Calibri" panose="020F0502020204030204" pitchFamily="34" charset="0"/>
              </a:rPr>
              <a:t>#222</a:t>
            </a:r>
            <a:r>
              <a:rPr lang="en-US" sz="22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Text color is white </a:t>
            </a:r>
            <a:r>
              <a:rPr lang="en-US" sz="2200" b="1" dirty="0">
                <a:latin typeface="Calibri" panose="020F0502020204030204" pitchFamily="34" charset="0"/>
                <a:cs typeface="Calibri" panose="020F0502020204030204" pitchFamily="34" charset="0"/>
              </a:rPr>
              <a:t>(#ffffff</a:t>
            </a:r>
            <a:r>
              <a:rPr lang="en-US" sz="22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Text is centered.</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Padding is 10 pixels on the top and bottom.</a:t>
            </a:r>
            <a:endParaRPr lang="en-AU" sz="22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9EFEA494-9967-909D-C5C9-58C7D02767EA}"/>
              </a:ext>
            </a:extLst>
          </p:cNvPr>
          <p:cNvSpPr txBox="1"/>
          <p:nvPr/>
        </p:nvSpPr>
        <p:spPr>
          <a:xfrm>
            <a:off x="2787805" y="2755467"/>
            <a:ext cx="2811246" cy="4102533"/>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setup ensures a visually balanced page with a clear distinction between different sections, such as the header, navigation, main content, sidebar, and footer.</a:t>
            </a:r>
            <a:endParaRPr lang="en-AU" sz="2200"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350CF16A-1AD7-B273-889E-61AA29054FE1}"/>
              </a:ext>
            </a:extLst>
          </p:cNvPr>
          <p:cNvPicPr>
            <a:picLocks noChangeAspect="1"/>
          </p:cNvPicPr>
          <p:nvPr/>
        </p:nvPicPr>
        <p:blipFill rotWithShape="1">
          <a:blip r:embed="rId3"/>
          <a:srcRect r="46331" b="48293"/>
          <a:stretch/>
        </p:blipFill>
        <p:spPr>
          <a:xfrm>
            <a:off x="5635047" y="2755466"/>
            <a:ext cx="6543337" cy="3546088"/>
          </a:xfrm>
          <a:prstGeom prst="rect">
            <a:avLst/>
          </a:prstGeom>
        </p:spPr>
      </p:pic>
    </p:spTree>
    <p:extLst>
      <p:ext uri="{BB962C8B-B14F-4D97-AF65-F5344CB8AC3E}">
        <p14:creationId xmlns:p14="http://schemas.microsoft.com/office/powerpoint/2010/main" val="15733064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1E0ABC-6938-C4DC-2938-BD8428D88951}"/>
              </a:ext>
            </a:extLst>
          </p:cNvPr>
          <p:cNvPicPr>
            <a:picLocks noChangeAspect="1"/>
          </p:cNvPicPr>
          <p:nvPr/>
        </p:nvPicPr>
        <p:blipFill rotWithShape="1">
          <a:blip r:embed="rId2"/>
          <a:srcRect t="-1226" r="36896" b="6514"/>
          <a:stretch/>
        </p:blipFill>
        <p:spPr>
          <a:xfrm>
            <a:off x="57576" y="334754"/>
            <a:ext cx="4538626" cy="3831791"/>
          </a:xfrm>
          <a:prstGeom prst="rect">
            <a:avLst/>
          </a:prstGeom>
        </p:spPr>
      </p:pic>
      <p:pic>
        <p:nvPicPr>
          <p:cNvPr id="6" name="Picture 5">
            <a:extLst>
              <a:ext uri="{FF2B5EF4-FFF2-40B4-BE49-F238E27FC236}">
                <a16:creationId xmlns:a16="http://schemas.microsoft.com/office/drawing/2014/main" id="{63DF9B12-4388-A1AD-8F9F-6DFAD7728173}"/>
              </a:ext>
            </a:extLst>
          </p:cNvPr>
          <p:cNvPicPr>
            <a:picLocks noChangeAspect="1"/>
          </p:cNvPicPr>
          <p:nvPr/>
        </p:nvPicPr>
        <p:blipFill rotWithShape="1">
          <a:blip r:embed="rId3"/>
          <a:srcRect b="5854"/>
          <a:stretch/>
        </p:blipFill>
        <p:spPr>
          <a:xfrm>
            <a:off x="3389970" y="2196682"/>
            <a:ext cx="8802030" cy="4661318"/>
          </a:xfrm>
          <a:prstGeom prst="rect">
            <a:avLst/>
          </a:prstGeom>
        </p:spPr>
      </p:pic>
      <p:sp>
        <p:nvSpPr>
          <p:cNvPr id="7" name="TextBox 6">
            <a:extLst>
              <a:ext uri="{FF2B5EF4-FFF2-40B4-BE49-F238E27FC236}">
                <a16:creationId xmlns:a16="http://schemas.microsoft.com/office/drawing/2014/main" id="{1717A642-B166-63C2-B781-4F7792CA1A1F}"/>
              </a:ext>
            </a:extLst>
          </p:cNvPr>
          <p:cNvSpPr txBox="1"/>
          <p:nvPr/>
        </p:nvSpPr>
        <p:spPr>
          <a:xfrm>
            <a:off x="5716858" y="1819762"/>
            <a:ext cx="4148253" cy="430887"/>
          </a:xfrm>
          <a:prstGeom prst="rect">
            <a:avLst/>
          </a:prstGeom>
          <a:noFill/>
        </p:spPr>
        <p:txBody>
          <a:bodyPr wrap="square" rtlCol="0">
            <a:spAutoFit/>
          </a:bodyPr>
          <a:lstStyle/>
          <a:p>
            <a:pPr algn="ctr"/>
            <a:r>
              <a:rPr lang="en-US" sz="2200" dirty="0">
                <a:latin typeface="Calibri" panose="020F0502020204030204" pitchFamily="34" charset="0"/>
                <a:cs typeface="Calibri" panose="020F0502020204030204" pitchFamily="34" charset="0"/>
              </a:rPr>
              <a:t>HTML &amp; CSS</a:t>
            </a:r>
            <a:endParaRPr lang="en-AU" sz="2200"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F916C80E-0D0D-E513-B499-9830EFB3106D}"/>
              </a:ext>
            </a:extLst>
          </p:cNvPr>
          <p:cNvSpPr txBox="1"/>
          <p:nvPr/>
        </p:nvSpPr>
        <p:spPr>
          <a:xfrm>
            <a:off x="0" y="0"/>
            <a:ext cx="4148253" cy="430887"/>
          </a:xfrm>
          <a:prstGeom prst="rect">
            <a:avLst/>
          </a:prstGeom>
          <a:noFill/>
        </p:spPr>
        <p:txBody>
          <a:bodyPr wrap="square" rtlCol="0">
            <a:spAutoFit/>
          </a:bodyPr>
          <a:lstStyle/>
          <a:p>
            <a:r>
              <a:rPr lang="en-US" sz="2200" dirty="0">
                <a:latin typeface="Calibri" panose="020F0502020204030204" pitchFamily="34" charset="0"/>
                <a:cs typeface="Calibri" panose="020F0502020204030204" pitchFamily="34" charset="0"/>
              </a:rPr>
              <a:t>HTML</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01270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3753848"/>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article from Search Engine Land discusses nine best practices for optimizing the </a:t>
            </a:r>
            <a:r>
              <a:rPr lang="en-US" sz="2300" b="1" dirty="0">
                <a:latin typeface="Calibri" panose="020F0502020204030204" pitchFamily="34" charset="0"/>
                <a:cs typeface="Calibri" panose="020F0502020204030204" pitchFamily="34" charset="0"/>
              </a:rPr>
              <a:t>&lt;title&gt;</a:t>
            </a:r>
            <a:r>
              <a:rPr lang="en-US" sz="2300" dirty="0">
                <a:latin typeface="Calibri" panose="020F0502020204030204" pitchFamily="34" charset="0"/>
                <a:cs typeface="Calibri" panose="020F0502020204030204" pitchFamily="34" charset="0"/>
              </a:rPr>
              <a:t> tags of webpages to enhance their SEO effectiveness. </a:t>
            </a:r>
            <a:r>
              <a:rPr lang="en-AU" sz="2300" dirty="0">
                <a:latin typeface="Calibri" panose="020F0502020204030204" pitchFamily="34" charset="0"/>
                <a:cs typeface="Calibri" panose="020F0502020204030204" pitchFamily="34" charset="0"/>
                <a:hlinkClick r:id="rId2"/>
              </a:rPr>
              <a:t>http://searchengineland.com/nine-best-practices-for-optimized-title-tags-111979</a:t>
            </a:r>
            <a:endParaRPr lang="en-AU" sz="2300" dirty="0">
              <a:latin typeface="Calibri" panose="020F0502020204030204" pitchFamily="34" charset="0"/>
              <a:cs typeface="Calibri" panose="020F0502020204030204" pitchFamily="34" charset="0"/>
            </a:endParaRPr>
          </a:p>
          <a:p>
            <a:pPr marL="457200" indent="-457200">
              <a:lnSpc>
                <a:spcPct val="150000"/>
              </a:lnSpc>
              <a:buFont typeface="+mj-lt"/>
              <a:buAutoNum type="arabicPeriod"/>
            </a:pPr>
            <a:r>
              <a:rPr lang="en-US" sz="2300" b="1" dirty="0">
                <a:latin typeface="Calibri" panose="020F0502020204030204" pitchFamily="34" charset="0"/>
                <a:cs typeface="Calibri" panose="020F0502020204030204" pitchFamily="34" charset="0"/>
              </a:rPr>
              <a:t>Single Use Per Page: </a:t>
            </a:r>
            <a:r>
              <a:rPr lang="en-US" sz="2300" dirty="0">
                <a:latin typeface="Calibri" panose="020F0502020204030204" pitchFamily="34" charset="0"/>
                <a:cs typeface="Calibri" panose="020F0502020204030204" pitchFamily="34" charset="0"/>
              </a:rPr>
              <a:t>There should only be one </a:t>
            </a:r>
            <a:r>
              <a:rPr lang="en-US" sz="2300" b="1" dirty="0">
                <a:latin typeface="Calibri" panose="020F0502020204030204" pitchFamily="34" charset="0"/>
                <a:cs typeface="Calibri" panose="020F0502020204030204" pitchFamily="34" charset="0"/>
              </a:rPr>
              <a:t>&lt;title&gt;</a:t>
            </a:r>
            <a:r>
              <a:rPr lang="en-US" sz="2300" dirty="0">
                <a:latin typeface="Calibri" panose="020F0502020204030204" pitchFamily="34" charset="0"/>
                <a:cs typeface="Calibri" panose="020F0502020204030204" pitchFamily="34" charset="0"/>
              </a:rPr>
              <a:t> tag per page, positioned within the </a:t>
            </a:r>
            <a:r>
              <a:rPr lang="en-US" sz="2300" b="1" dirty="0">
                <a:latin typeface="Calibri" panose="020F0502020204030204" pitchFamily="34" charset="0"/>
                <a:cs typeface="Calibri" panose="020F0502020204030204" pitchFamily="34" charset="0"/>
              </a:rPr>
              <a:t>&lt;head&gt; </a:t>
            </a:r>
            <a:r>
              <a:rPr lang="en-US" sz="2300" dirty="0">
                <a:latin typeface="Calibri" panose="020F0502020204030204" pitchFamily="34" charset="0"/>
                <a:cs typeface="Calibri" panose="020F0502020204030204" pitchFamily="34" charset="0"/>
              </a:rPr>
              <a:t>tag to ensure valid HTML and to maximize its SEO value.</a:t>
            </a:r>
          </a:p>
          <a:p>
            <a:pPr marL="457200" indent="-457200">
              <a:lnSpc>
                <a:spcPct val="150000"/>
              </a:lnSpc>
              <a:buFont typeface="+mj-lt"/>
              <a:buAutoNum type="arabicPeriod"/>
            </a:pPr>
            <a:r>
              <a:rPr lang="en-US" sz="2300" b="1" dirty="0">
                <a:latin typeface="Calibri" panose="020F0502020204030204" pitchFamily="34" charset="0"/>
                <a:cs typeface="Calibri" panose="020F0502020204030204" pitchFamily="34" charset="0"/>
              </a:rPr>
              <a:t>Keyword Placement: </a:t>
            </a:r>
            <a:r>
              <a:rPr lang="en-US" sz="2300" dirty="0">
                <a:latin typeface="Calibri" panose="020F0502020204030204" pitchFamily="34" charset="0"/>
                <a:cs typeface="Calibri" panose="020F0502020204030204" pitchFamily="34" charset="0"/>
              </a:rPr>
              <a:t>Place your most important keywords at the beginning of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as search engines assign the highest value to the first few words.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88394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4284763"/>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3.  Include Branding at the End: </a:t>
            </a:r>
            <a:r>
              <a:rPr lang="en-US" sz="2300" dirty="0">
                <a:latin typeface="Calibri" panose="020F0502020204030204" pitchFamily="34" charset="0"/>
                <a:cs typeface="Calibri" panose="020F0502020204030204" pitchFamily="34" charset="0"/>
              </a:rPr>
              <a:t>If branding is less crucial than specific keywords, it should be placed at the end of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to maintain keyword prominence.</a:t>
            </a:r>
          </a:p>
          <a:p>
            <a:pPr>
              <a:lnSpc>
                <a:spcPct val="150000"/>
              </a:lnSpc>
            </a:pPr>
            <a:r>
              <a:rPr lang="en-US" sz="2300" b="1" dirty="0">
                <a:latin typeface="Calibri" panose="020F0502020204030204" pitchFamily="34" charset="0"/>
                <a:cs typeface="Calibri" panose="020F0502020204030204" pitchFamily="34" charset="0"/>
              </a:rPr>
              <a:t>4.  Character Limit:</a:t>
            </a:r>
            <a:r>
              <a:rPr lang="en-US" sz="2300" dirty="0">
                <a:latin typeface="Calibri" panose="020F0502020204030204" pitchFamily="34" charset="0"/>
                <a:cs typeface="Calibri" panose="020F0502020204030204" pitchFamily="34" charset="0"/>
              </a:rPr>
              <a:t> Keep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under 70 characters to prevent truncation in search engine results pages (SERPs), ensuring all characters carry potential SEO benefit.</a:t>
            </a:r>
          </a:p>
          <a:p>
            <a:pPr>
              <a:lnSpc>
                <a:spcPct val="150000"/>
              </a:lnSpc>
            </a:pPr>
            <a:r>
              <a:rPr lang="en-US" sz="2300" b="1" dirty="0">
                <a:latin typeface="Calibri" panose="020F0502020204030204" pitchFamily="34" charset="0"/>
                <a:cs typeface="Calibri" panose="020F0502020204030204" pitchFamily="34" charset="0"/>
              </a:rPr>
              <a:t>5.   Avoid Stop Words:</a:t>
            </a:r>
            <a:r>
              <a:rPr lang="en-US" sz="2300" dirty="0">
                <a:latin typeface="Calibri" panose="020F0502020204030204" pitchFamily="34" charset="0"/>
                <a:cs typeface="Calibri" panose="020F0502020204030204" pitchFamily="34" charset="0"/>
              </a:rPr>
              <a:t> Minimize the use of stop words (like "and", "or", "but") that do not contribute to SEO, to keep the focus on more impactful keywords.</a:t>
            </a:r>
          </a:p>
          <a:p>
            <a:pPr>
              <a:lnSpc>
                <a:spcPct val="150000"/>
              </a:lnSpc>
            </a:pPr>
            <a:r>
              <a:rPr lang="en-US" sz="2300" b="1" dirty="0">
                <a:latin typeface="Calibri" panose="020F0502020204030204" pitchFamily="34" charset="0"/>
                <a:cs typeface="Calibri" panose="020F0502020204030204" pitchFamily="34" charset="0"/>
              </a:rPr>
              <a:t>6.   Reflect Body Text Keywords:</a:t>
            </a:r>
            <a:r>
              <a:rPr lang="en-US" sz="2300" dirty="0">
                <a:latin typeface="Calibri" panose="020F0502020204030204" pitchFamily="34" charset="0"/>
                <a:cs typeface="Calibri" panose="020F0502020204030204" pitchFamily="34" charset="0"/>
              </a:rPr>
              <a:t> Ensure the keywords in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align with those used in the page’s body text, reinforcing the content’s theme for search engines.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447947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3222934"/>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7.   Uniqueness Across Pages: </a:t>
            </a:r>
            <a:r>
              <a:rPr lang="en-US" sz="2300" dirty="0">
                <a:latin typeface="Calibri" panose="020F0502020204030204" pitchFamily="34" charset="0"/>
                <a:cs typeface="Calibri" panose="020F0502020204030204" pitchFamily="34" charset="0"/>
              </a:rPr>
              <a:t>Each page should have a unique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to avoid duplicate content issues and to accurately reflect the page’s content.</a:t>
            </a:r>
          </a:p>
          <a:p>
            <a:pPr>
              <a:lnSpc>
                <a:spcPct val="150000"/>
              </a:lnSpc>
            </a:pPr>
            <a:r>
              <a:rPr lang="en-US" sz="2300" b="1" dirty="0">
                <a:latin typeface="Calibri" panose="020F0502020204030204" pitchFamily="34" charset="0"/>
                <a:cs typeface="Calibri" panose="020F0502020204030204" pitchFamily="34" charset="0"/>
              </a:rPr>
              <a:t>8.   Avoid Duplication with &lt;h1&gt; Tags: </a:t>
            </a:r>
            <a:r>
              <a:rPr lang="en-US" sz="2300" dirty="0">
                <a:latin typeface="Calibri" panose="020F0502020204030204" pitchFamily="34" charset="0"/>
                <a:cs typeface="Calibri" panose="020F0502020204030204" pitchFamily="34" charset="0"/>
              </a:rPr>
              <a:t>The text in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should not simply repeat what’s in the </a:t>
            </a:r>
            <a:r>
              <a:rPr lang="en-US" sz="2300" b="1" dirty="0">
                <a:latin typeface="Calibri" panose="020F0502020204030204" pitchFamily="34" charset="0"/>
                <a:cs typeface="Calibri" panose="020F0502020204030204" pitchFamily="34" charset="0"/>
              </a:rPr>
              <a:t>&lt;h1&gt; </a:t>
            </a:r>
            <a:r>
              <a:rPr lang="en-US" sz="2300" dirty="0">
                <a:latin typeface="Calibri" panose="020F0502020204030204" pitchFamily="34" charset="0"/>
                <a:cs typeface="Calibri" panose="020F0502020204030204" pitchFamily="34" charset="0"/>
              </a:rPr>
              <a:t>tag, to optimize the use of different keywords.</a:t>
            </a:r>
          </a:p>
          <a:p>
            <a:pPr>
              <a:lnSpc>
                <a:spcPct val="150000"/>
              </a:lnSpc>
            </a:pPr>
            <a:r>
              <a:rPr lang="en-US" sz="2300" b="1" dirty="0">
                <a:latin typeface="Calibri" panose="020F0502020204030204" pitchFamily="34" charset="0"/>
                <a:cs typeface="Calibri" panose="020F0502020204030204" pitchFamily="34" charset="0"/>
              </a:rPr>
              <a:t>9.   No Keyword Stuffing: </a:t>
            </a:r>
            <a:r>
              <a:rPr lang="en-US" sz="2300" dirty="0">
                <a:latin typeface="Calibri" panose="020F0502020204030204" pitchFamily="34" charset="0"/>
                <a:cs typeface="Calibri" panose="020F0502020204030204" pitchFamily="34" charset="0"/>
              </a:rPr>
              <a:t>Overusing keywords in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can be seen as spammy by search engines, potentially leading to penalties.</a:t>
            </a:r>
            <a:endParaRPr lang="en-AU" sz="23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4B7F1183-26E4-F7ED-BEFC-794AE599E9E7}"/>
              </a:ext>
            </a:extLst>
          </p:cNvPr>
          <p:cNvSpPr txBox="1"/>
          <p:nvPr/>
        </p:nvSpPr>
        <p:spPr>
          <a:xfrm>
            <a:off x="0" y="4869355"/>
            <a:ext cx="11915271" cy="1630190"/>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article emphasizes the importance of crafting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thoughtfully to improve both search engine visibility and user engagement. These practices can significantly influence how webpages are perceived by search engines and by people browsing search results.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49357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 calcmode="lin" valueType="num">
                                      <p:cBhvr additive="base">
                                        <p:cTn id="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 calcmode="lin" valueType="num">
                                      <p:cBhvr additive="base">
                                        <p:cTn id="1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1000"/>
                                        <p:tgtEl>
                                          <p:spTgt spid="2"/>
                                        </p:tgtEl>
                                      </p:cBhvr>
                                    </p:animEffect>
                                    <p:anim calcmode="lin" valueType="num">
                                      <p:cBhvr>
                                        <p:cTn id="20" dur="1000" fill="hold"/>
                                        <p:tgtEl>
                                          <p:spTgt spid="2"/>
                                        </p:tgtEl>
                                        <p:attrNameLst>
                                          <p:attrName>ppt_x</p:attrName>
                                        </p:attrNameLst>
                                      </p:cBhvr>
                                      <p:tavLst>
                                        <p:tav tm="0">
                                          <p:val>
                                            <p:strVal val="#ppt_x"/>
                                          </p:val>
                                        </p:tav>
                                        <p:tav tm="100000">
                                          <p:val>
                                            <p:strVal val="#ppt_x"/>
                                          </p:val>
                                        </p:tav>
                                      </p:tavLst>
                                    </p:anim>
                                    <p:anim calcmode="lin" valueType="num">
                                      <p:cBhvr>
                                        <p:cTn id="21"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18349BDC-9EE4-BA76-6AEE-12635CB3C429}"/>
              </a:ext>
            </a:extLst>
          </p:cNvPr>
          <p:cNvSpPr txBox="1"/>
          <p:nvPr/>
        </p:nvSpPr>
        <p:spPr>
          <a:xfrm>
            <a:off x="94592" y="630429"/>
            <a:ext cx="4473419"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For step 5, you would copy the addresses of the websites you used to research the title element and paste them into the table provided in the Word document.</a:t>
            </a:r>
            <a:endParaRPr lang="en-AU" sz="2200"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2230E487-54AB-19D7-477A-CC0BBF8880F9}"/>
              </a:ext>
            </a:extLst>
          </p:cNvPr>
          <p:cNvPicPr>
            <a:picLocks noChangeAspect="1"/>
          </p:cNvPicPr>
          <p:nvPr/>
        </p:nvPicPr>
        <p:blipFill rotWithShape="1">
          <a:blip r:embed="rId2"/>
          <a:srcRect l="25427" t="39600" r="25427" b="40080"/>
          <a:stretch/>
        </p:blipFill>
        <p:spPr>
          <a:xfrm>
            <a:off x="4568012" y="1242762"/>
            <a:ext cx="7623988" cy="1773044"/>
          </a:xfrm>
          <a:prstGeom prst="rect">
            <a:avLst/>
          </a:prstGeom>
        </p:spPr>
      </p:pic>
      <p:sp>
        <p:nvSpPr>
          <p:cNvPr id="8" name="Rectangle: Rounded Corners 7">
            <a:extLst>
              <a:ext uri="{FF2B5EF4-FFF2-40B4-BE49-F238E27FC236}">
                <a16:creationId xmlns:a16="http://schemas.microsoft.com/office/drawing/2014/main" id="{BBF5C442-33B5-4C65-0A04-4797FD390060}"/>
              </a:ext>
            </a:extLst>
          </p:cNvPr>
          <p:cNvSpPr/>
          <p:nvPr/>
        </p:nvSpPr>
        <p:spPr>
          <a:xfrm>
            <a:off x="5839470" y="2376719"/>
            <a:ext cx="6136938" cy="22996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7256160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03E890B-70FB-DB54-010E-DADA50350492}"/>
              </a:ext>
            </a:extLst>
          </p:cNvPr>
          <p:cNvSpPr txBox="1"/>
          <p:nvPr/>
        </p:nvSpPr>
        <p:spPr>
          <a:xfrm>
            <a:off x="0" y="671851"/>
            <a:ext cx="4554071" cy="1318181"/>
          </a:xfrm>
          <a:prstGeom prst="rect">
            <a:avLst/>
          </a:prstGeom>
          <a:noFill/>
        </p:spPr>
        <p:txBody>
          <a:bodyPr wrap="square" rtlCol="0">
            <a:spAutoFit/>
          </a:bodyPr>
          <a:lstStyle/>
          <a:p>
            <a:pPr>
              <a:lnSpc>
                <a:spcPct val="150000"/>
              </a:lnSpc>
            </a:pPr>
            <a:r>
              <a:rPr lang="en-US" sz="2800" dirty="0">
                <a:latin typeface="Calibri" panose="020F0502020204030204" pitchFamily="34" charset="0"/>
                <a:cs typeface="Calibri" panose="020F0502020204030204" pitchFamily="34" charset="0"/>
              </a:rPr>
              <a:t>In Google, search for w3c validator</a:t>
            </a:r>
            <a:endParaRPr lang="en-AU" sz="28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CDDFB241-B2F1-4E57-B77D-9B4CC90B671D}"/>
              </a:ext>
            </a:extLst>
          </p:cNvPr>
          <p:cNvPicPr>
            <a:picLocks noChangeAspect="1"/>
          </p:cNvPicPr>
          <p:nvPr/>
        </p:nvPicPr>
        <p:blipFill>
          <a:blip r:embed="rId2"/>
          <a:stretch>
            <a:fillRect/>
          </a:stretch>
        </p:blipFill>
        <p:spPr>
          <a:xfrm>
            <a:off x="4554071" y="714815"/>
            <a:ext cx="7637929" cy="6141917"/>
          </a:xfrm>
          <a:prstGeom prst="rect">
            <a:avLst/>
          </a:prstGeom>
        </p:spPr>
      </p:pic>
    </p:spTree>
    <p:extLst>
      <p:ext uri="{BB962C8B-B14F-4D97-AF65-F5344CB8AC3E}">
        <p14:creationId xmlns:p14="http://schemas.microsoft.com/office/powerpoint/2010/main" val="20405841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03E890B-70FB-DB54-010E-DADA50350492}"/>
              </a:ext>
            </a:extLst>
          </p:cNvPr>
          <p:cNvSpPr txBox="1"/>
          <p:nvPr/>
        </p:nvSpPr>
        <p:spPr>
          <a:xfrm>
            <a:off x="94592" y="548375"/>
            <a:ext cx="5142978"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For steps 9 and 10, we'll need to validate our HTML using the W3C validator and conduct further research on semantic HTML. Here are the answers for steps 10a-d:</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143295" y="1466385"/>
            <a:ext cx="6119895" cy="3925229"/>
          </a:xfrm>
          <a:prstGeom prst="rect">
            <a:avLst/>
          </a:prstGeom>
        </p:spPr>
      </p:pic>
      <p:sp>
        <p:nvSpPr>
          <p:cNvPr id="9" name="TextBox 8">
            <a:extLst>
              <a:ext uri="{FF2B5EF4-FFF2-40B4-BE49-F238E27FC236}">
                <a16:creationId xmlns:a16="http://schemas.microsoft.com/office/drawing/2014/main" id="{F7482D57-F12D-A266-A360-FBE764D5917A}"/>
              </a:ext>
            </a:extLst>
          </p:cNvPr>
          <p:cNvSpPr txBox="1"/>
          <p:nvPr/>
        </p:nvSpPr>
        <p:spPr>
          <a:xfrm>
            <a:off x="94592" y="3127414"/>
            <a:ext cx="6205847" cy="3594702"/>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a. Semantic HTML: </a:t>
            </a:r>
            <a:r>
              <a:rPr lang="en-US" sz="2200" dirty="0">
                <a:latin typeface="Calibri" panose="020F0502020204030204" pitchFamily="34" charset="0"/>
                <a:cs typeface="Calibri" panose="020F0502020204030204" pitchFamily="34" charset="0"/>
              </a:rPr>
              <a:t>Semantic HTML or semantic markup is HTML that introduces meaning to the web page rather than just presentation. For example, a </a:t>
            </a:r>
            <a:r>
              <a:rPr lang="en-US" sz="2200" b="1" dirty="0">
                <a:latin typeface="Calibri" panose="020F0502020204030204" pitchFamily="34" charset="0"/>
                <a:cs typeface="Calibri" panose="020F0502020204030204" pitchFamily="34" charset="0"/>
              </a:rPr>
              <a:t>&lt;p&gt; </a:t>
            </a:r>
            <a:r>
              <a:rPr lang="en-US" sz="2200" dirty="0">
                <a:latin typeface="Calibri" panose="020F0502020204030204" pitchFamily="34" charset="0"/>
                <a:cs typeface="Calibri" panose="020F0502020204030204" pitchFamily="34" charset="0"/>
              </a:rPr>
              <a:t>tag indicates that the enclosed text is a paragraph. This is both semantic and presentational because people know what paragraphs are, and browsers know how to display them.</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714026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A03E890B-70FB-DB54-010E-DADA50350492}"/>
              </a:ext>
            </a:extLst>
          </p:cNvPr>
          <p:cNvSpPr txBox="1"/>
          <p:nvPr/>
        </p:nvSpPr>
        <p:spPr>
          <a:xfrm>
            <a:off x="94592" y="849961"/>
            <a:ext cx="6001408" cy="2579039"/>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b. Benefits of Semantic HTML: </a:t>
            </a:r>
            <a:r>
              <a:rPr lang="en-US" sz="2200" dirty="0">
                <a:latin typeface="Calibri" panose="020F0502020204030204" pitchFamily="34" charset="0"/>
                <a:cs typeface="Calibri" panose="020F0502020204030204" pitchFamily="34" charset="0"/>
              </a:rPr>
              <a:t>Semantic HTML leads to better accessibility, greater visibility to search engines, more flexible and maintainable code, and it can also aid in the development of better user interfaces.</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072105" y="1857089"/>
            <a:ext cx="6119895" cy="3925229"/>
          </a:xfrm>
          <a:prstGeom prst="rect">
            <a:avLst/>
          </a:prstGeom>
        </p:spPr>
      </p:pic>
      <p:sp>
        <p:nvSpPr>
          <p:cNvPr id="2" name="TextBox 1">
            <a:extLst>
              <a:ext uri="{FF2B5EF4-FFF2-40B4-BE49-F238E27FC236}">
                <a16:creationId xmlns:a16="http://schemas.microsoft.com/office/drawing/2014/main" id="{73C390C6-C568-39DE-A8A5-4B32F6B6F279}"/>
              </a:ext>
            </a:extLst>
          </p:cNvPr>
          <p:cNvSpPr txBox="1"/>
          <p:nvPr/>
        </p:nvSpPr>
        <p:spPr>
          <a:xfrm>
            <a:off x="70697" y="3598508"/>
            <a:ext cx="6001408" cy="2579039"/>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c. New HTML5 Semantic Elements: </a:t>
            </a:r>
            <a:r>
              <a:rPr lang="en-US" sz="2200" dirty="0">
                <a:latin typeface="Calibri" panose="020F0502020204030204" pitchFamily="34" charset="0"/>
                <a:cs typeface="Calibri" panose="020F0502020204030204" pitchFamily="34" charset="0"/>
              </a:rPr>
              <a:t>Some of the new HTML5 semantic elements include</a:t>
            </a:r>
            <a:r>
              <a:rPr lang="en-US" sz="2200" b="1" dirty="0">
                <a:latin typeface="Calibri" panose="020F0502020204030204" pitchFamily="34" charset="0"/>
                <a:cs typeface="Calibri" panose="020F0502020204030204" pitchFamily="34" charset="0"/>
              </a:rPr>
              <a:t> &lt;article&gt;, &lt;aside&gt;, &lt;details&gt;, &lt;</a:t>
            </a:r>
            <a:r>
              <a:rPr lang="en-US" sz="2200" b="1" dirty="0" err="1">
                <a:latin typeface="Calibri" panose="020F0502020204030204" pitchFamily="34" charset="0"/>
                <a:cs typeface="Calibri" panose="020F0502020204030204" pitchFamily="34" charset="0"/>
              </a:rPr>
              <a:t>figcaption</a:t>
            </a:r>
            <a:r>
              <a:rPr lang="en-US" sz="2200" b="1" dirty="0">
                <a:latin typeface="Calibri" panose="020F0502020204030204" pitchFamily="34" charset="0"/>
                <a:cs typeface="Calibri" panose="020F0502020204030204" pitchFamily="34" charset="0"/>
              </a:rPr>
              <a:t>&gt;, &lt;figure&gt;, &lt;footer&gt;, &lt;header&gt;, &lt;main&gt;, &lt;mark&gt;, &lt;nav&gt;, &lt;section&gt;, &lt;summary&gt;, and &lt;time&gt;.</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3F9757F5-9CA9-E2E3-01E2-A140048E1E04}"/>
              </a:ext>
            </a:extLst>
          </p:cNvPr>
          <p:cNvSpPr txBox="1"/>
          <p:nvPr/>
        </p:nvSpPr>
        <p:spPr>
          <a:xfrm>
            <a:off x="-22036" y="8602"/>
            <a:ext cx="12214035" cy="671851"/>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2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363858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072104" y="1230431"/>
            <a:ext cx="6119895" cy="3925229"/>
          </a:xfrm>
          <a:prstGeom prst="rect">
            <a:avLst/>
          </a:prstGeom>
        </p:spPr>
      </p:pic>
      <p:sp>
        <p:nvSpPr>
          <p:cNvPr id="3" name="TextBox 2">
            <a:extLst>
              <a:ext uri="{FF2B5EF4-FFF2-40B4-BE49-F238E27FC236}">
                <a16:creationId xmlns:a16="http://schemas.microsoft.com/office/drawing/2014/main" id="{A03E890B-70FB-DB54-010E-DADA50350492}"/>
              </a:ext>
            </a:extLst>
          </p:cNvPr>
          <p:cNvSpPr txBox="1"/>
          <p:nvPr/>
        </p:nvSpPr>
        <p:spPr>
          <a:xfrm>
            <a:off x="94592" y="615986"/>
            <a:ext cx="6001408" cy="5118196"/>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d. &lt;main&gt; vs. &lt;div id="main"&gt;:</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Primary advantage: The </a:t>
            </a:r>
            <a:r>
              <a:rPr lang="en-US" sz="2200" b="1" dirty="0">
                <a:latin typeface="Calibri" panose="020F0502020204030204" pitchFamily="34" charset="0"/>
                <a:cs typeface="Calibri" panose="020F0502020204030204" pitchFamily="34" charset="0"/>
              </a:rPr>
              <a:t>&lt;main&gt;</a:t>
            </a:r>
            <a:r>
              <a:rPr lang="en-US" sz="2200" dirty="0">
                <a:latin typeface="Calibri" panose="020F0502020204030204" pitchFamily="34" charset="0"/>
                <a:cs typeface="Calibri" panose="020F0502020204030204" pitchFamily="34" charset="0"/>
              </a:rPr>
              <a:t> element is more semantically meaningful than </a:t>
            </a:r>
            <a:r>
              <a:rPr lang="en-US" sz="2200" b="1" dirty="0">
                <a:latin typeface="Calibri" panose="020F0502020204030204" pitchFamily="34" charset="0"/>
                <a:cs typeface="Calibri" panose="020F0502020204030204" pitchFamily="34" charset="0"/>
              </a:rPr>
              <a:t>&lt;div&gt;</a:t>
            </a:r>
            <a:r>
              <a:rPr lang="en-US" sz="2200" dirty="0">
                <a:latin typeface="Calibri" panose="020F0502020204030204" pitchFamily="34" charset="0"/>
                <a:cs typeface="Calibri" panose="020F0502020204030204" pitchFamily="34" charset="0"/>
              </a:rPr>
              <a:t>. It conveys to the browser, developers, and assistive technologies that this is the main content area of the page.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Primary disadvantage: The </a:t>
            </a:r>
            <a:r>
              <a:rPr lang="en-US" sz="2200" b="1" dirty="0">
                <a:latin typeface="Calibri" panose="020F0502020204030204" pitchFamily="34" charset="0"/>
                <a:cs typeface="Calibri" panose="020F0502020204030204" pitchFamily="34" charset="0"/>
              </a:rPr>
              <a:t>&lt;main&gt;</a:t>
            </a:r>
            <a:r>
              <a:rPr lang="en-US" sz="2200" dirty="0">
                <a:latin typeface="Calibri" panose="020F0502020204030204" pitchFamily="34" charset="0"/>
                <a:cs typeface="Calibri" panose="020F0502020204030204" pitchFamily="34" charset="0"/>
              </a:rPr>
              <a:t> element is not supported in Internet Explorer 11 and older versions, whereas a </a:t>
            </a:r>
            <a:r>
              <a:rPr lang="en-US" sz="2200" b="1" dirty="0">
                <a:latin typeface="Calibri" panose="020F0502020204030204" pitchFamily="34" charset="0"/>
                <a:cs typeface="Calibri" panose="020F0502020204030204" pitchFamily="34" charset="0"/>
              </a:rPr>
              <a:t>&lt;div&gt; </a:t>
            </a:r>
            <a:r>
              <a:rPr lang="en-US" sz="2200" dirty="0">
                <a:latin typeface="Calibri" panose="020F0502020204030204" pitchFamily="34" charset="0"/>
                <a:cs typeface="Calibri" panose="020F0502020204030204" pitchFamily="34" charset="0"/>
              </a:rPr>
              <a:t>with an ID is supported across all browsers.</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6959FB3E-7438-5975-0760-F202D288759C}"/>
              </a:ext>
            </a:extLst>
          </p:cNvPr>
          <p:cNvSpPr txBox="1"/>
          <p:nvPr/>
        </p:nvSpPr>
        <p:spPr>
          <a:xfrm>
            <a:off x="94592" y="5714241"/>
            <a:ext cx="11764536" cy="1055545"/>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Remember to cite the websites where you found these answers in your apply02.docx document, as per project instructions.</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4368856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8F8700D-6F45-98EA-C292-D33F106DEF45}"/>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81FE7059-DC11-3A3D-F3BE-DC07C68EBB90}"/>
              </a:ext>
            </a:extLst>
          </p:cNvPr>
          <p:cNvPicPr>
            <a:picLocks noChangeAspect="1"/>
          </p:cNvPicPr>
          <p:nvPr/>
        </p:nvPicPr>
        <p:blipFill rotWithShape="1">
          <a:blip r:embed="rId2"/>
          <a:srcRect l="3018" r="4970" b="6666"/>
          <a:stretch/>
        </p:blipFill>
        <p:spPr>
          <a:xfrm>
            <a:off x="750777" y="630429"/>
            <a:ext cx="10690445" cy="6099717"/>
          </a:xfrm>
          <a:prstGeom prst="rect">
            <a:avLst/>
          </a:prstGeom>
        </p:spPr>
      </p:pic>
    </p:spTree>
    <p:extLst>
      <p:ext uri="{BB962C8B-B14F-4D97-AF65-F5344CB8AC3E}">
        <p14:creationId xmlns:p14="http://schemas.microsoft.com/office/powerpoint/2010/main" val="329063146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E4EC6AB-77CA-374D-0DDE-1463CB17A546}"/>
              </a:ext>
            </a:extLst>
          </p:cNvPr>
          <p:cNvSpPr txBox="1"/>
          <p:nvPr/>
        </p:nvSpPr>
        <p:spPr>
          <a:xfrm>
            <a:off x="-1" y="1225043"/>
            <a:ext cx="12192000" cy="4102533"/>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1. Language Attribute Warning: </a:t>
            </a:r>
            <a:r>
              <a:rPr lang="en-US" sz="2200" dirty="0">
                <a:latin typeface="Calibri" panose="020F0502020204030204" pitchFamily="34" charset="0"/>
                <a:cs typeface="Calibri" panose="020F0502020204030204" pitchFamily="34" charset="0"/>
              </a:rPr>
              <a:t>The warning suggests that a </a:t>
            </a:r>
            <a:r>
              <a:rPr lang="en-US" sz="2200" b="1" dirty="0">
                <a:latin typeface="Calibri" panose="020F0502020204030204" pitchFamily="34" charset="0"/>
                <a:cs typeface="Calibri" panose="020F0502020204030204" pitchFamily="34" charset="0"/>
              </a:rPr>
              <a:t>lang</a:t>
            </a:r>
            <a:r>
              <a:rPr lang="en-US" sz="2200" dirty="0">
                <a:latin typeface="Calibri" panose="020F0502020204030204" pitchFamily="34" charset="0"/>
                <a:cs typeface="Calibri" panose="020F0502020204030204" pitchFamily="34" charset="0"/>
              </a:rPr>
              <a:t> attribute should be added to the </a:t>
            </a:r>
            <a:r>
              <a:rPr lang="en-US" sz="2200" b="1" dirty="0">
                <a:latin typeface="Calibri" panose="020F0502020204030204" pitchFamily="34" charset="0"/>
                <a:cs typeface="Calibri" panose="020F0502020204030204" pitchFamily="34" charset="0"/>
              </a:rPr>
              <a:t>html</a:t>
            </a:r>
            <a:r>
              <a:rPr lang="en-US" sz="2200" dirty="0">
                <a:latin typeface="Calibri" panose="020F0502020204030204" pitchFamily="34" charset="0"/>
                <a:cs typeface="Calibri" panose="020F0502020204030204" pitchFamily="34" charset="0"/>
              </a:rPr>
              <a:t> tag to declare the language of the document. It seems we've already addressed this issue in our code by adding </a:t>
            </a:r>
            <a:r>
              <a:rPr lang="en-US" sz="2200" b="1" dirty="0">
                <a:latin typeface="Calibri" panose="020F0502020204030204" pitchFamily="34" charset="0"/>
                <a:cs typeface="Calibri" panose="020F0502020204030204" pitchFamily="34" charset="0"/>
              </a:rPr>
              <a:t>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to the </a:t>
            </a:r>
            <a:r>
              <a:rPr lang="en-US" sz="2200" b="1" dirty="0">
                <a:latin typeface="Calibri" panose="020F0502020204030204" pitchFamily="34" charset="0"/>
                <a:cs typeface="Calibri" panose="020F0502020204030204" pitchFamily="34" charset="0"/>
              </a:rPr>
              <a:t>html</a:t>
            </a:r>
            <a:r>
              <a:rPr lang="en-US" sz="2200" dirty="0">
                <a:latin typeface="Calibri" panose="020F0502020204030204" pitchFamily="34" charset="0"/>
                <a:cs typeface="Calibri" panose="020F0502020204030204" pitchFamily="34" charset="0"/>
              </a:rPr>
              <a:t> tag.</a:t>
            </a:r>
          </a:p>
          <a:p>
            <a:pPr>
              <a:lnSpc>
                <a:spcPct val="150000"/>
              </a:lnSpc>
            </a:pPr>
            <a:r>
              <a:rPr lang="en-US" sz="2200" b="1" dirty="0">
                <a:latin typeface="Calibri" panose="020F0502020204030204" pitchFamily="34" charset="0"/>
                <a:cs typeface="Calibri" panose="020F0502020204030204" pitchFamily="34" charset="0"/>
              </a:rPr>
              <a:t>2. Character Encoding Declaration: </a:t>
            </a:r>
            <a:r>
              <a:rPr lang="en-US" sz="2200" dirty="0">
                <a:latin typeface="Calibri" panose="020F0502020204030204" pitchFamily="34" charset="0"/>
                <a:cs typeface="Calibri" panose="020F0502020204030204" pitchFamily="34" charset="0"/>
              </a:rPr>
              <a:t>This error indicates that the character encoding wasn't declared. However, looking at our provided code, </a:t>
            </a:r>
            <a:r>
              <a:rPr lang="en-US" sz="2200" b="1" dirty="0">
                <a:latin typeface="Calibri" panose="020F0502020204030204" pitchFamily="34" charset="0"/>
                <a:cs typeface="Calibri" panose="020F0502020204030204" pitchFamily="34" charset="0"/>
              </a:rPr>
              <a:t>&lt;meta charset="UTF-8"&gt; </a:t>
            </a:r>
            <a:r>
              <a:rPr lang="en-US" sz="2200" dirty="0">
                <a:latin typeface="Calibri" panose="020F0502020204030204" pitchFamily="34" charset="0"/>
                <a:cs typeface="Calibri" panose="020F0502020204030204" pitchFamily="34" charset="0"/>
              </a:rPr>
              <a:t>in the </a:t>
            </a:r>
            <a:r>
              <a:rPr lang="en-US" sz="2200" b="1" dirty="0">
                <a:latin typeface="Calibri" panose="020F0502020204030204" pitchFamily="34" charset="0"/>
                <a:cs typeface="Calibri" panose="020F0502020204030204" pitchFamily="34" charset="0"/>
              </a:rPr>
              <a:t>head</a:t>
            </a:r>
            <a:r>
              <a:rPr lang="en-US" sz="2200" dirty="0">
                <a:latin typeface="Calibri" panose="020F0502020204030204" pitchFamily="34" charset="0"/>
                <a:cs typeface="Calibri" panose="020F0502020204030204" pitchFamily="34" charset="0"/>
              </a:rPr>
              <a:t> tag, which correctly declares the character encoding.</a:t>
            </a:r>
          </a:p>
          <a:p>
            <a:pPr>
              <a:lnSpc>
                <a:spcPct val="150000"/>
              </a:lnSpc>
            </a:pPr>
            <a:r>
              <a:rPr lang="en-US" sz="2200" b="1" dirty="0">
                <a:latin typeface="Calibri" panose="020F0502020204030204" pitchFamily="34" charset="0"/>
                <a:cs typeface="Calibri" panose="020F0502020204030204" pitchFamily="34" charset="0"/>
              </a:rPr>
              <a:t>3. Missing Title Content: </a:t>
            </a:r>
            <a:r>
              <a:rPr lang="en-US" sz="2200" dirty="0">
                <a:latin typeface="Calibri" panose="020F0502020204030204" pitchFamily="34" charset="0"/>
                <a:cs typeface="Calibri" panose="020F0502020204030204" pitchFamily="34" charset="0"/>
              </a:rPr>
              <a:t>The error reports that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is present but missing actual text content.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in our code is empty and only contains a comment placeholder.</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32A99583-643B-538F-7DDA-A140667942C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p>
        </p:txBody>
      </p:sp>
      <p:sp>
        <p:nvSpPr>
          <p:cNvPr id="6" name="TextBox 5">
            <a:extLst>
              <a:ext uri="{FF2B5EF4-FFF2-40B4-BE49-F238E27FC236}">
                <a16:creationId xmlns:a16="http://schemas.microsoft.com/office/drawing/2014/main" id="{A910532D-B8EF-4FCF-ABD1-2A99914ED53B}"/>
              </a:ext>
            </a:extLst>
          </p:cNvPr>
          <p:cNvSpPr txBox="1"/>
          <p:nvPr/>
        </p:nvSpPr>
        <p:spPr>
          <a:xfrm>
            <a:off x="-1" y="5327576"/>
            <a:ext cx="12192000" cy="1055545"/>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To fix these issues based on your current code, you should provide actual text content within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Here's how we can modify the relevant part of our template code:</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19588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2A99583-643B-538F-7DDA-A140667942C0}"/>
              </a:ext>
            </a:extLst>
          </p:cNvPr>
          <p:cNvSpPr txBox="1"/>
          <p:nvPr/>
        </p:nvSpPr>
        <p:spPr>
          <a:xfrm>
            <a:off x="94592" y="0"/>
            <a:ext cx="4235799" cy="1964512"/>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E1E9465D-FA0D-E85A-AC32-A5D08E3715AE}"/>
              </a:ext>
            </a:extLst>
          </p:cNvPr>
          <p:cNvPicPr>
            <a:picLocks noChangeAspect="1"/>
          </p:cNvPicPr>
          <p:nvPr/>
        </p:nvPicPr>
        <p:blipFill rotWithShape="1">
          <a:blip r:embed="rId2"/>
          <a:srcRect l="3568" r="31950" b="31544"/>
          <a:stretch/>
        </p:blipFill>
        <p:spPr>
          <a:xfrm>
            <a:off x="0" y="2163337"/>
            <a:ext cx="7861609" cy="4694663"/>
          </a:xfrm>
          <a:prstGeom prst="rect">
            <a:avLst/>
          </a:prstGeom>
        </p:spPr>
      </p:pic>
      <p:pic>
        <p:nvPicPr>
          <p:cNvPr id="8" name="Picture 7">
            <a:extLst>
              <a:ext uri="{FF2B5EF4-FFF2-40B4-BE49-F238E27FC236}">
                <a16:creationId xmlns:a16="http://schemas.microsoft.com/office/drawing/2014/main" id="{D0B4C908-9088-0941-5B79-5F8F055A833E}"/>
              </a:ext>
            </a:extLst>
          </p:cNvPr>
          <p:cNvPicPr>
            <a:picLocks noChangeAspect="1"/>
          </p:cNvPicPr>
          <p:nvPr/>
        </p:nvPicPr>
        <p:blipFill rotWithShape="1">
          <a:blip r:embed="rId3"/>
          <a:srcRect l="4939" t="7805" r="19328" b="14147"/>
          <a:stretch/>
        </p:blipFill>
        <p:spPr>
          <a:xfrm>
            <a:off x="4330391" y="-44605"/>
            <a:ext cx="7861609" cy="4557453"/>
          </a:xfrm>
          <a:prstGeom prst="rect">
            <a:avLst/>
          </a:prstGeom>
        </p:spPr>
      </p:pic>
      <p:sp>
        <p:nvSpPr>
          <p:cNvPr id="11" name="TextBox 10">
            <a:extLst>
              <a:ext uri="{FF2B5EF4-FFF2-40B4-BE49-F238E27FC236}">
                <a16:creationId xmlns:a16="http://schemas.microsoft.com/office/drawing/2014/main" id="{8E4C1336-4E40-50A8-66B4-1246919F862F}"/>
              </a:ext>
            </a:extLst>
          </p:cNvPr>
          <p:cNvSpPr txBox="1"/>
          <p:nvPr/>
        </p:nvSpPr>
        <p:spPr>
          <a:xfrm>
            <a:off x="4330391" y="4510668"/>
            <a:ext cx="7861609" cy="2352952"/>
          </a:xfrm>
          <a:prstGeom prst="rect">
            <a:avLst/>
          </a:prstGeom>
          <a:solidFill>
            <a:schemeClr val="bg1"/>
          </a:solidFill>
          <a:ln>
            <a:solidFill>
              <a:srgbClr val="FF0000"/>
            </a:solidFill>
          </a:ln>
        </p:spPr>
        <p:txBody>
          <a:bodyPr wrap="square" rtlCol="0">
            <a:spAutoFit/>
          </a:bodyPr>
          <a:lstStyle/>
          <a:p>
            <a:pPr>
              <a:lnSpc>
                <a:spcPct val="150000"/>
              </a:lnSpc>
            </a:pPr>
            <a:r>
              <a:rPr lang="en-US" sz="2000" dirty="0">
                <a:latin typeface="Calibri" panose="020F0502020204030204" pitchFamily="34" charset="0"/>
                <a:cs typeface="Calibri" panose="020F0502020204030204" pitchFamily="34" charset="0"/>
              </a:rPr>
              <a:t>In this correction, we've replaced the comment within the title tag with "Your Page Title". We should replace "Your Page Title" with the actual title of our webpage, which briefly describes the topic or purpose of the document. This should clear the error regarding the missing title content. All other elements seem to be appropriately addressed in your code.</a:t>
            </a:r>
            <a:endParaRPr lang="en-AU" sz="2000" dirty="0">
              <a:latin typeface="Calibri" panose="020F0502020204030204" pitchFamily="34" charset="0"/>
              <a:cs typeface="Calibri" panose="020F0502020204030204" pitchFamily="34" charset="0"/>
            </a:endParaRPr>
          </a:p>
        </p:txBody>
      </p:sp>
      <p:sp>
        <p:nvSpPr>
          <p:cNvPr id="2" name="Rectangle: Rounded Corners 1">
            <a:extLst>
              <a:ext uri="{FF2B5EF4-FFF2-40B4-BE49-F238E27FC236}">
                <a16:creationId xmlns:a16="http://schemas.microsoft.com/office/drawing/2014/main" id="{9207F24D-70F1-46E5-8461-C8113D7E6E76}"/>
              </a:ext>
            </a:extLst>
          </p:cNvPr>
          <p:cNvSpPr/>
          <p:nvPr/>
        </p:nvSpPr>
        <p:spPr>
          <a:xfrm>
            <a:off x="4365812" y="322729"/>
            <a:ext cx="1990164" cy="18825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31709424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B12159-AA55-FCB9-11A3-9D118C699F02}"/>
              </a:ext>
            </a:extLst>
          </p:cNvPr>
          <p:cNvPicPr>
            <a:picLocks noChangeAspect="1"/>
          </p:cNvPicPr>
          <p:nvPr/>
        </p:nvPicPr>
        <p:blipFill rotWithShape="1">
          <a:blip r:embed="rId2"/>
          <a:srcRect l="16372" t="12520" r="22439" b="12520"/>
          <a:stretch/>
        </p:blipFill>
        <p:spPr>
          <a:xfrm>
            <a:off x="6835567" y="0"/>
            <a:ext cx="5356433" cy="3691054"/>
          </a:xfrm>
          <a:prstGeom prst="rect">
            <a:avLst/>
          </a:prstGeom>
        </p:spPr>
      </p:pic>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Challenge 1</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249E71-F581-66C1-FB7E-6F1B23394363}"/>
              </a:ext>
            </a:extLst>
          </p:cNvPr>
          <p:cNvSpPr txBox="1"/>
          <p:nvPr/>
        </p:nvSpPr>
        <p:spPr>
          <a:xfrm>
            <a:off x="57421" y="724141"/>
            <a:ext cx="6934394" cy="6133859"/>
          </a:xfrm>
          <a:prstGeom prst="rect">
            <a:avLst/>
          </a:prstGeom>
          <a:noFill/>
        </p:spPr>
        <p:txBody>
          <a:bodyPr wrap="square" rtlCol="0">
            <a:spAutoFit/>
          </a:bodyPr>
          <a:lstStyle/>
          <a:p>
            <a:pPr marL="457200" indent="-457200">
              <a:lnSpc>
                <a:spcPct val="150000"/>
              </a:lnSpc>
              <a:buFont typeface="+mj-lt"/>
              <a:buAutoNum type="arabicPeriod"/>
            </a:pPr>
            <a:r>
              <a:rPr lang="en-US" sz="2200" dirty="0">
                <a:latin typeface="Calibri" panose="020F0502020204030204" pitchFamily="34" charset="0"/>
                <a:cs typeface="Calibri" panose="020F0502020204030204" pitchFamily="34" charset="0"/>
              </a:rPr>
              <a:t>Open </a:t>
            </a:r>
            <a:r>
              <a:rPr lang="en-US" sz="2200" b="1" dirty="0">
                <a:latin typeface="Calibri" panose="020F0502020204030204" pitchFamily="34" charset="0"/>
                <a:cs typeface="Calibri" panose="020F0502020204030204" pitchFamily="34" charset="0"/>
              </a:rPr>
              <a:t>cityfarmer.html</a:t>
            </a:r>
            <a:r>
              <a:rPr lang="en-US" sz="2200" dirty="0">
                <a:latin typeface="Calibri" panose="020F0502020204030204" pitchFamily="34" charset="0"/>
                <a:cs typeface="Calibri" panose="020F0502020204030204" pitchFamily="34" charset="0"/>
              </a:rPr>
              <a:t>, save as </a:t>
            </a:r>
            <a:r>
              <a:rPr lang="en-US" sz="2200" b="1" dirty="0">
                <a:latin typeface="Calibri" panose="020F0502020204030204" pitchFamily="34" charset="0"/>
                <a:cs typeface="Calibri" panose="020F0502020204030204" pitchFamily="34" charset="0"/>
              </a:rPr>
              <a:t>cityfarmer2.html</a:t>
            </a:r>
            <a:r>
              <a:rPr lang="en-US" sz="2200" dirty="0">
                <a:latin typeface="Calibri" panose="020F0502020204030204" pitchFamily="34" charset="0"/>
                <a:cs typeface="Calibri" panose="020F0502020204030204" pitchFamily="34" charset="0"/>
              </a:rPr>
              <a:t>. Here's the template for how the HTML file might look after you open it and make the necessary changes.</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You might choose this title </a:t>
            </a:r>
            <a:r>
              <a:rPr lang="en-US" sz="2200" b="1" dirty="0">
                <a:latin typeface="Calibri" panose="020F0502020204030204" pitchFamily="34" charset="0"/>
                <a:cs typeface="Calibri" panose="020F0502020204030204" pitchFamily="34" charset="0"/>
              </a:rPr>
              <a:t>City Farmer: Today's Urban Cowboy </a:t>
            </a:r>
            <a:r>
              <a:rPr lang="en-US" sz="2200" dirty="0">
                <a:latin typeface="Calibri" panose="020F0502020204030204" pitchFamily="34" charset="0"/>
                <a:cs typeface="Calibri" panose="020F0502020204030204" pitchFamily="34" charset="0"/>
              </a:rPr>
              <a:t>which captures the essence of the content and theme presented in the HTML, linking the main focus of the webpage—urban farming—with a catchy and memorable phrase, "today's urban cowboy," which also appears in the header of the HTML. This title would be effective for both search engine optimization (SEO) and giving visitors a clear idea of the website's theme at first glance.</a:t>
            </a:r>
            <a:endParaRPr lang="en-AU" sz="2200"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1C56F9E2-3FC0-2B5A-0795-9FA157B1872B}"/>
              </a:ext>
            </a:extLst>
          </p:cNvPr>
          <p:cNvPicPr>
            <a:picLocks noChangeAspect="1"/>
          </p:cNvPicPr>
          <p:nvPr/>
        </p:nvPicPr>
        <p:blipFill rotWithShape="1">
          <a:blip r:embed="rId3"/>
          <a:srcRect l="12988" t="26179" r="46128" b="54472"/>
          <a:stretch/>
        </p:blipFill>
        <p:spPr>
          <a:xfrm>
            <a:off x="6957236" y="4117436"/>
            <a:ext cx="5113094" cy="1361204"/>
          </a:xfrm>
          <a:prstGeom prst="rect">
            <a:avLst/>
          </a:prstGeom>
        </p:spPr>
      </p:pic>
      <p:sp>
        <p:nvSpPr>
          <p:cNvPr id="11" name="Rectangle: Rounded Corners 10">
            <a:extLst>
              <a:ext uri="{FF2B5EF4-FFF2-40B4-BE49-F238E27FC236}">
                <a16:creationId xmlns:a16="http://schemas.microsoft.com/office/drawing/2014/main" id="{22F04250-5AB9-EABA-2426-3F880630DE18}"/>
              </a:ext>
            </a:extLst>
          </p:cNvPr>
          <p:cNvSpPr/>
          <p:nvPr/>
        </p:nvSpPr>
        <p:spPr>
          <a:xfrm>
            <a:off x="345688" y="2352907"/>
            <a:ext cx="6489879" cy="91440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 name="Rectangle: Rounded Corners 11">
            <a:extLst>
              <a:ext uri="{FF2B5EF4-FFF2-40B4-BE49-F238E27FC236}">
                <a16:creationId xmlns:a16="http://schemas.microsoft.com/office/drawing/2014/main" id="{F3CA3068-E3CB-0F9C-20D6-6999BABA1E39}"/>
              </a:ext>
            </a:extLst>
          </p:cNvPr>
          <p:cNvSpPr/>
          <p:nvPr/>
        </p:nvSpPr>
        <p:spPr>
          <a:xfrm>
            <a:off x="6957236" y="4114799"/>
            <a:ext cx="5234763" cy="1361203"/>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75001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E51462-33DC-4D00-8B5C-4279D1C5C9B3}"/>
              </a:ext>
            </a:extLst>
          </p:cNvPr>
          <p:cNvPicPr>
            <a:picLocks noChangeAspect="1"/>
          </p:cNvPicPr>
          <p:nvPr/>
        </p:nvPicPr>
        <p:blipFill>
          <a:blip r:embed="rId2"/>
          <a:stretch>
            <a:fillRect/>
          </a:stretch>
        </p:blipFill>
        <p:spPr>
          <a:xfrm>
            <a:off x="0" y="1940666"/>
            <a:ext cx="12192000" cy="2976668"/>
          </a:xfrm>
          <a:prstGeom prst="rect">
            <a:avLst/>
          </a:prstGeom>
        </p:spPr>
      </p:pic>
      <p:sp>
        <p:nvSpPr>
          <p:cNvPr id="5" name="Rectangle: Rounded Corners 4">
            <a:extLst>
              <a:ext uri="{FF2B5EF4-FFF2-40B4-BE49-F238E27FC236}">
                <a16:creationId xmlns:a16="http://schemas.microsoft.com/office/drawing/2014/main" id="{48A2ACEE-C8D0-4D4A-A687-500470BF980B}"/>
              </a:ext>
            </a:extLst>
          </p:cNvPr>
          <p:cNvSpPr/>
          <p:nvPr/>
        </p:nvSpPr>
        <p:spPr>
          <a:xfrm>
            <a:off x="1299882" y="2743200"/>
            <a:ext cx="1524000" cy="313765"/>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Rounded Corners 7">
            <a:extLst>
              <a:ext uri="{FF2B5EF4-FFF2-40B4-BE49-F238E27FC236}">
                <a16:creationId xmlns:a16="http://schemas.microsoft.com/office/drawing/2014/main" id="{8FAB0E89-EBC7-4955-AF8E-38D178CB2AEA}"/>
              </a:ext>
            </a:extLst>
          </p:cNvPr>
          <p:cNvSpPr/>
          <p:nvPr/>
        </p:nvSpPr>
        <p:spPr>
          <a:xfrm>
            <a:off x="762000" y="3644153"/>
            <a:ext cx="735104" cy="313766"/>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Rectangle: Rounded Corners 8">
            <a:extLst>
              <a:ext uri="{FF2B5EF4-FFF2-40B4-BE49-F238E27FC236}">
                <a16:creationId xmlns:a16="http://schemas.microsoft.com/office/drawing/2014/main" id="{E3F894BF-0E98-4A31-A779-2167035D764F}"/>
              </a:ext>
            </a:extLst>
          </p:cNvPr>
          <p:cNvSpPr/>
          <p:nvPr/>
        </p:nvSpPr>
        <p:spPr>
          <a:xfrm>
            <a:off x="6660776" y="4352364"/>
            <a:ext cx="1290918" cy="313766"/>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661223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249E71-F581-66C1-FB7E-6F1B23394363}"/>
              </a:ext>
            </a:extLst>
          </p:cNvPr>
          <p:cNvSpPr txBox="1"/>
          <p:nvPr/>
        </p:nvSpPr>
        <p:spPr>
          <a:xfrm>
            <a:off x="0" y="11694"/>
            <a:ext cx="5073805" cy="3594702"/>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2.    The title tag is included above within the </a:t>
            </a:r>
            <a:r>
              <a:rPr lang="en-US" sz="2200" b="1" dirty="0">
                <a:latin typeface="Calibri" panose="020F0502020204030204" pitchFamily="34" charset="0"/>
                <a:cs typeface="Calibri" panose="020F0502020204030204" pitchFamily="34" charset="0"/>
              </a:rPr>
              <a:t>&lt;head&gt; </a:t>
            </a:r>
            <a:r>
              <a:rPr lang="en-US" sz="2200" dirty="0">
                <a:latin typeface="Calibri" panose="020F0502020204030204" pitchFamily="34" charset="0"/>
                <a:cs typeface="Calibri" panose="020F0502020204030204" pitchFamily="34" charset="0"/>
              </a:rPr>
              <a:t>tags.</a:t>
            </a:r>
          </a:p>
          <a:p>
            <a:pPr>
              <a:lnSpc>
                <a:spcPct val="150000"/>
              </a:lnSpc>
            </a:pPr>
            <a:r>
              <a:rPr lang="en-US" sz="2200" dirty="0">
                <a:latin typeface="Calibri" panose="020F0502020204030204" pitchFamily="34" charset="0"/>
                <a:cs typeface="Calibri" panose="020F0502020204030204" pitchFamily="34" charset="0"/>
              </a:rPr>
              <a:t>3.    The existing content within the </a:t>
            </a:r>
            <a:r>
              <a:rPr lang="en-US" sz="2200" b="1" dirty="0">
                <a:latin typeface="Calibri" panose="020F0502020204030204" pitchFamily="34" charset="0"/>
                <a:cs typeface="Calibri" panose="020F0502020204030204" pitchFamily="34" charset="0"/>
              </a:rPr>
              <a:t>&lt;body&gt; </a:t>
            </a:r>
            <a:r>
              <a:rPr lang="en-US" sz="2200" dirty="0">
                <a:latin typeface="Calibri" panose="020F0502020204030204" pitchFamily="34" charset="0"/>
                <a:cs typeface="Calibri" panose="020F0502020204030204" pitchFamily="34" charset="0"/>
              </a:rPr>
              <a:t>tag has been replaced with the new content as per your instructions.</a:t>
            </a:r>
          </a:p>
          <a:p>
            <a:pPr>
              <a:lnSpc>
                <a:spcPct val="150000"/>
              </a:lnSpc>
            </a:pPr>
            <a:r>
              <a:rPr lang="en-US" sz="2200" dirty="0">
                <a:latin typeface="Calibri" panose="020F0502020204030204" pitchFamily="34" charset="0"/>
                <a:cs typeface="Calibri" panose="020F0502020204030204" pitchFamily="34" charset="0"/>
              </a:rPr>
              <a:t>4.    Code indentation has been handled for readability.</a:t>
            </a:r>
          </a:p>
        </p:txBody>
      </p:sp>
      <p:pic>
        <p:nvPicPr>
          <p:cNvPr id="3" name="Picture 2">
            <a:extLst>
              <a:ext uri="{FF2B5EF4-FFF2-40B4-BE49-F238E27FC236}">
                <a16:creationId xmlns:a16="http://schemas.microsoft.com/office/drawing/2014/main" id="{E8E03C36-AAB4-CFDC-9513-DDED7C69035E}"/>
              </a:ext>
            </a:extLst>
          </p:cNvPr>
          <p:cNvPicPr>
            <a:picLocks noChangeAspect="1"/>
          </p:cNvPicPr>
          <p:nvPr/>
        </p:nvPicPr>
        <p:blipFill rotWithShape="1">
          <a:blip r:embed="rId2"/>
          <a:srcRect b="8944"/>
          <a:stretch/>
        </p:blipFill>
        <p:spPr>
          <a:xfrm>
            <a:off x="5073805" y="11694"/>
            <a:ext cx="7118195" cy="3645905"/>
          </a:xfrm>
          <a:prstGeom prst="rect">
            <a:avLst/>
          </a:prstGeom>
        </p:spPr>
      </p:pic>
      <p:sp>
        <p:nvSpPr>
          <p:cNvPr id="4" name="TextBox 3">
            <a:extLst>
              <a:ext uri="{FF2B5EF4-FFF2-40B4-BE49-F238E27FC236}">
                <a16:creationId xmlns:a16="http://schemas.microsoft.com/office/drawing/2014/main" id="{8286C5B4-3D82-B408-22E2-2B5244966877}"/>
              </a:ext>
            </a:extLst>
          </p:cNvPr>
          <p:cNvSpPr txBox="1"/>
          <p:nvPr/>
        </p:nvSpPr>
        <p:spPr>
          <a:xfrm>
            <a:off x="0" y="3657599"/>
            <a:ext cx="12192000" cy="3089692"/>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5.    Comment after </a:t>
            </a:r>
            <a:r>
              <a:rPr lang="en-US" sz="2200" b="1" dirty="0">
                <a:latin typeface="Calibri" panose="020F0502020204030204" pitchFamily="34" charset="0"/>
                <a:cs typeface="Calibri" panose="020F0502020204030204" pitchFamily="34" charset="0"/>
              </a:rPr>
              <a:t>&lt;!DOCTYPE html&gt; </a:t>
            </a:r>
            <a:r>
              <a:rPr lang="en-US" sz="2200" dirty="0">
                <a:latin typeface="Calibri" panose="020F0502020204030204" pitchFamily="34" charset="0"/>
                <a:cs typeface="Calibri" panose="020F0502020204030204" pitchFamily="34" charset="0"/>
              </a:rPr>
              <a:t>has been added to include your name and the current date.</a:t>
            </a:r>
          </a:p>
          <a:p>
            <a:pPr>
              <a:lnSpc>
                <a:spcPct val="150000"/>
              </a:lnSpc>
            </a:pPr>
            <a:r>
              <a:rPr lang="en-US" sz="2200" dirty="0">
                <a:latin typeface="Calibri" panose="020F0502020204030204" pitchFamily="34" charset="0"/>
                <a:cs typeface="Calibri" panose="020F0502020204030204" pitchFamily="34" charset="0"/>
              </a:rPr>
              <a:t>6.    To validate your code, you would use a service like the W3C Markup Validation Service. </a:t>
            </a:r>
            <a:r>
              <a:rPr lang="en-US" sz="2200" dirty="0">
                <a:latin typeface="Calibri" panose="020F0502020204030204" pitchFamily="34" charset="0"/>
                <a:cs typeface="Calibri" panose="020F0502020204030204" pitchFamily="34" charset="0"/>
                <a:hlinkClick r:id="rId3"/>
              </a:rPr>
              <a:t>https://validator.w3.org/</a:t>
            </a:r>
            <a:r>
              <a:rPr lang="en-US" sz="2200" dirty="0">
                <a:latin typeface="Calibri" panose="020F0502020204030204" pitchFamily="34" charset="0"/>
                <a:cs typeface="Calibri" panose="020F0502020204030204" pitchFamily="34" charset="0"/>
              </a:rPr>
              <a:t> </a:t>
            </a:r>
          </a:p>
          <a:p>
            <a:pPr>
              <a:lnSpc>
                <a:spcPct val="150000"/>
              </a:lnSpc>
            </a:pPr>
            <a:r>
              <a:rPr lang="en-US" sz="2200" dirty="0">
                <a:latin typeface="Calibri" panose="020F0502020204030204" pitchFamily="34" charset="0"/>
                <a:cs typeface="Calibri" panose="020F0502020204030204" pitchFamily="34" charset="0"/>
              </a:rPr>
              <a:t>7.     Ensure that the spelling of the text in your actual code matches that shown in the figure.</a:t>
            </a:r>
          </a:p>
          <a:p>
            <a:pPr>
              <a:lnSpc>
                <a:spcPct val="150000"/>
              </a:lnSpc>
            </a:pPr>
            <a:r>
              <a:rPr lang="en-US" sz="2200" dirty="0">
                <a:latin typeface="Calibri" panose="020F0502020204030204" pitchFamily="34" charset="0"/>
                <a:cs typeface="Calibri" panose="020F0502020204030204" pitchFamily="34" charset="0"/>
              </a:rPr>
              <a:t>8.     To view your HTML file in a browser, you would open the saved </a:t>
            </a:r>
            <a:r>
              <a:rPr lang="en-US" sz="2200" b="1" dirty="0">
                <a:latin typeface="Calibri" panose="020F0502020204030204" pitchFamily="34" charset="0"/>
                <a:cs typeface="Calibri" panose="020F0502020204030204" pitchFamily="34" charset="0"/>
              </a:rPr>
              <a:t>cityfarmer2.html </a:t>
            </a:r>
            <a:r>
              <a:rPr lang="en-US" sz="2200" dirty="0">
                <a:latin typeface="Calibri" panose="020F0502020204030204" pitchFamily="34" charset="0"/>
                <a:cs typeface="Calibri" panose="020F0502020204030204" pitchFamily="34" charset="0"/>
              </a:rPr>
              <a:t>file in any web browser to see the result.</a:t>
            </a:r>
            <a:endParaRPr lang="en-AU" sz="2200" dirty="0"/>
          </a:p>
        </p:txBody>
      </p:sp>
    </p:spTree>
    <p:extLst>
      <p:ext uri="{BB962C8B-B14F-4D97-AF65-F5344CB8AC3E}">
        <p14:creationId xmlns:p14="http://schemas.microsoft.com/office/powerpoint/2010/main" val="38643165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7E2E4B2-8100-D6B4-F4C6-7C4C1BC85663}"/>
              </a:ext>
            </a:extLst>
          </p:cNvPr>
          <p:cNvSpPr txBox="1"/>
          <p:nvPr/>
        </p:nvSpPr>
        <p:spPr>
          <a:xfrm>
            <a:off x="0" y="0"/>
            <a:ext cx="12192000" cy="6939336"/>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Now for the second part of your question, the benefits of entering the wireframe HTML elements such as </a:t>
            </a:r>
            <a:r>
              <a:rPr lang="en-US" sz="2300" b="1" dirty="0">
                <a:latin typeface="Calibri" panose="020F0502020204030204" pitchFamily="34" charset="0"/>
                <a:cs typeface="Calibri" panose="020F0502020204030204" pitchFamily="34" charset="0"/>
              </a:rPr>
              <a:t>&lt;header&gt;</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&lt;nav&gt;</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&lt;div id="main"&gt;</a:t>
            </a:r>
            <a:r>
              <a:rPr lang="en-US" sz="2300" dirty="0">
                <a:latin typeface="Calibri" panose="020F0502020204030204" pitchFamily="34" charset="0"/>
                <a:cs typeface="Calibri" panose="020F0502020204030204" pitchFamily="34" charset="0"/>
              </a:rPr>
              <a:t>, and </a:t>
            </a:r>
            <a:r>
              <a:rPr lang="en-US" sz="2300" b="1" dirty="0">
                <a:latin typeface="Calibri" panose="020F0502020204030204" pitchFamily="34" charset="0"/>
                <a:cs typeface="Calibri" panose="020F0502020204030204" pitchFamily="34" charset="0"/>
              </a:rPr>
              <a:t>&lt;footer&gt;</a:t>
            </a:r>
            <a:r>
              <a:rPr lang="en-US" sz="2300" dirty="0">
                <a:latin typeface="Calibri" panose="020F0502020204030204" pitchFamily="34" charset="0"/>
                <a:cs typeface="Calibri" panose="020F0502020204030204" pitchFamily="34" charset="0"/>
              </a:rPr>
              <a:t> before entering the textual content are as follows:</a:t>
            </a:r>
          </a:p>
          <a:p>
            <a:pPr>
              <a:lnSpc>
                <a:spcPct val="150000"/>
              </a:lnSpc>
            </a:pPr>
            <a:r>
              <a:rPr lang="en-US" sz="2300" b="1" dirty="0">
                <a:latin typeface="Calibri" panose="020F0502020204030204" pitchFamily="34" charset="0"/>
                <a:cs typeface="Calibri" panose="020F0502020204030204" pitchFamily="34" charset="0"/>
              </a:rPr>
              <a:t>What are the benefits of entering the wireframe HTML elements such as header, nav, &lt;div id="main"&gt;, and footer before entering the textual content for the webpage?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helps establish the basic structure of the page before you get into the details.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allows you to visualize the layout and ensure that all parts of the page are accounted for.</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can help with organization and planning, especially if multiple people are working on the content and design.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allows you to style these elements with CSS simultaneously while adding content, making the development process more efficient.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It's easier to troubleshoot and debug the structure before content is added, as errors can be more readily identified and fixed.</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585948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265963" y="929774"/>
            <a:ext cx="11151476" cy="1630190"/>
          </a:xfrm>
          <a:prstGeom prst="rect">
            <a:avLst/>
          </a:prstGeom>
          <a:noFill/>
        </p:spPr>
        <p:txBody>
          <a:bodyPr wrap="square" rtlCol="0">
            <a:spAutoFit/>
          </a:bodyPr>
          <a:lstStyle/>
          <a:p>
            <a:pPr>
              <a:lnSpc>
                <a:spcPct val="150000"/>
              </a:lnSpc>
            </a:pPr>
            <a:r>
              <a:rPr lang="en-US" altLang="en-US" sz="2300" dirty="0">
                <a:solidFill>
                  <a:srgbClr val="0D0D0D"/>
                </a:solidFill>
                <a:latin typeface="Calibri" panose="020F0502020204030204" pitchFamily="34" charset="0"/>
                <a:cs typeface="Calibri" panose="020F0502020204030204" pitchFamily="34" charset="0"/>
              </a:rPr>
              <a:t>To complete Challenge 2 as outlined in the task description, you'll need to create an external stylesheet and update the HTML file with the specified changes. Below are the step-by-step instructions to complete this challenge.</a:t>
            </a:r>
            <a:endParaRPr lang="en-AU" sz="2300" dirty="0">
              <a:highlight>
                <a:srgbClr val="00FF00"/>
              </a:highlight>
              <a:latin typeface="Calibri" panose="020F0502020204030204" pitchFamily="34" charset="0"/>
              <a:cs typeface="Calibri" panose="020F0502020204030204" pitchFamily="34" charset="0"/>
            </a:endParaRP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Challenge 2 - </a:t>
            </a:r>
            <a:r>
              <a:rPr lang="en-US" sz="2800" b="1" dirty="0">
                <a:latin typeface="Calibri" panose="020F0502020204030204" pitchFamily="34" charset="0"/>
                <a:cs typeface="Calibri" panose="020F0502020204030204" pitchFamily="34" charset="0"/>
              </a:rPr>
              <a:t>Creating an External Style Sheet for City Farmer</a:t>
            </a:r>
          </a:p>
        </p:txBody>
      </p:sp>
      <p:sp>
        <p:nvSpPr>
          <p:cNvPr id="3" name="TextBox 2">
            <a:extLst>
              <a:ext uri="{FF2B5EF4-FFF2-40B4-BE49-F238E27FC236}">
                <a16:creationId xmlns:a16="http://schemas.microsoft.com/office/drawing/2014/main" id="{0AFB49A8-4E12-CD9C-49A7-F4CFAA05DDC2}"/>
              </a:ext>
            </a:extLst>
          </p:cNvPr>
          <p:cNvSpPr txBox="1"/>
          <p:nvPr/>
        </p:nvSpPr>
        <p:spPr>
          <a:xfrm>
            <a:off x="265963" y="2667847"/>
            <a:ext cx="11151476" cy="216110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altLang="en-US" sz="2300" dirty="0">
                <a:solidFill>
                  <a:srgbClr val="0D0D0D"/>
                </a:solidFill>
                <a:latin typeface="Calibri" panose="020F0502020204030204" pitchFamily="34" charset="0"/>
                <a:cs typeface="Calibri" panose="020F0502020204030204" pitchFamily="34" charset="0"/>
              </a:rPr>
              <a:t>First, here is the updated HTML code, saved as cityfarmer04.html, with the modifications as instructed, including comments with your name and today's date (the date has been left generic for you to fill in). Note that the image tags will be updated in step 13:</a:t>
            </a:r>
          </a:p>
          <a:p>
            <a:pPr marL="342900" indent="-342900">
              <a:lnSpc>
                <a:spcPct val="150000"/>
              </a:lnSpc>
              <a:buFont typeface="Arial" panose="020B0604020202020204" pitchFamily="34" charset="0"/>
              <a:buChar char="•"/>
            </a:pPr>
            <a:r>
              <a:rPr lang="en-AU" sz="2300" dirty="0">
                <a:highlight>
                  <a:srgbClr val="00FF00"/>
                </a:highlight>
                <a:latin typeface="Calibri" panose="020F0502020204030204" pitchFamily="34" charset="0"/>
                <a:cs typeface="Calibri" panose="020F0502020204030204" pitchFamily="34" charset="0"/>
              </a:rPr>
              <a:t>‘</a:t>
            </a:r>
            <a:r>
              <a:rPr lang="en-AU" sz="2300" b="1" dirty="0">
                <a:highlight>
                  <a:srgbClr val="00FF00"/>
                </a:highlight>
                <a:latin typeface="Calibri" panose="020F0502020204030204" pitchFamily="34" charset="0"/>
                <a:cs typeface="Calibri" panose="020F0502020204030204" pitchFamily="34" charset="0"/>
              </a:rPr>
              <a:t>Index</a:t>
            </a:r>
            <a:r>
              <a:rPr lang="en-AU" sz="2300" dirty="0">
                <a:highlight>
                  <a:srgbClr val="00FF00"/>
                </a:highlight>
                <a:latin typeface="Calibri" panose="020F0502020204030204" pitchFamily="34" charset="0"/>
                <a:cs typeface="Calibri" panose="020F0502020204030204" pitchFamily="34" charset="0"/>
              </a:rPr>
              <a:t>’ or ‘</a:t>
            </a:r>
            <a:r>
              <a:rPr lang="en-AU" sz="2300" b="1" dirty="0">
                <a:highlight>
                  <a:srgbClr val="00FF00"/>
                </a:highlight>
                <a:latin typeface="Calibri" panose="020F0502020204030204" pitchFamily="34" charset="0"/>
                <a:cs typeface="Calibri" panose="020F0502020204030204" pitchFamily="34" charset="0"/>
              </a:rPr>
              <a:t>home</a:t>
            </a:r>
            <a:r>
              <a:rPr lang="en-AU" sz="2300" dirty="0">
                <a:highlight>
                  <a:srgbClr val="00FF00"/>
                </a:highlight>
                <a:latin typeface="Calibri" panose="020F0502020204030204" pitchFamily="34" charset="0"/>
                <a:cs typeface="Calibri" panose="020F0502020204030204" pitchFamily="34" charset="0"/>
              </a:rPr>
              <a:t>’ file names are common for the main page</a:t>
            </a:r>
          </a:p>
        </p:txBody>
      </p:sp>
      <p:pic>
        <p:nvPicPr>
          <p:cNvPr id="7" name="Picture 6">
            <a:extLst>
              <a:ext uri="{FF2B5EF4-FFF2-40B4-BE49-F238E27FC236}">
                <a16:creationId xmlns:a16="http://schemas.microsoft.com/office/drawing/2014/main" id="{6A2AFD28-EB5C-845A-B75D-B7013357100F}"/>
              </a:ext>
            </a:extLst>
          </p:cNvPr>
          <p:cNvPicPr>
            <a:picLocks noChangeAspect="1"/>
          </p:cNvPicPr>
          <p:nvPr/>
        </p:nvPicPr>
        <p:blipFill rotWithShape="1">
          <a:blip r:embed="rId2"/>
          <a:srcRect l="12713" t="24878" r="35519" b="54959"/>
          <a:stretch/>
        </p:blipFill>
        <p:spPr>
          <a:xfrm>
            <a:off x="579864" y="5118409"/>
            <a:ext cx="6311590" cy="1382751"/>
          </a:xfrm>
          <a:prstGeom prst="rect">
            <a:avLst/>
          </a:prstGeom>
          <a:ln>
            <a:solidFill>
              <a:srgbClr val="FF0000"/>
            </a:solidFill>
          </a:ln>
        </p:spPr>
      </p:pic>
    </p:spTree>
    <p:extLst>
      <p:ext uri="{BB962C8B-B14F-4D97-AF65-F5344CB8AC3E}">
        <p14:creationId xmlns:p14="http://schemas.microsoft.com/office/powerpoint/2010/main" val="34669811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Challenge 2 - </a:t>
            </a:r>
            <a:r>
              <a:rPr lang="en-US" sz="2800" b="1" dirty="0">
                <a:latin typeface="Calibri" panose="020F0502020204030204" pitchFamily="34" charset="0"/>
                <a:cs typeface="Calibri" panose="020F0502020204030204" pitchFamily="34" charset="0"/>
              </a:rPr>
              <a:t>Creating an External Style Sheet for City Farmer</a:t>
            </a:r>
          </a:p>
        </p:txBody>
      </p:sp>
      <p:pic>
        <p:nvPicPr>
          <p:cNvPr id="8" name="Picture 7">
            <a:extLst>
              <a:ext uri="{FF2B5EF4-FFF2-40B4-BE49-F238E27FC236}">
                <a16:creationId xmlns:a16="http://schemas.microsoft.com/office/drawing/2014/main" id="{06332A5D-30DB-89AA-CFB5-8752699F7FE0}"/>
              </a:ext>
            </a:extLst>
          </p:cNvPr>
          <p:cNvPicPr>
            <a:picLocks noChangeAspect="1"/>
          </p:cNvPicPr>
          <p:nvPr/>
        </p:nvPicPr>
        <p:blipFill rotWithShape="1">
          <a:blip r:embed="rId2"/>
          <a:srcRect r="13201" b="13171"/>
          <a:stretch/>
        </p:blipFill>
        <p:spPr>
          <a:xfrm>
            <a:off x="1282390" y="671851"/>
            <a:ext cx="10909610" cy="6138810"/>
          </a:xfrm>
          <a:prstGeom prst="rect">
            <a:avLst/>
          </a:prstGeom>
        </p:spPr>
      </p:pic>
      <p:sp>
        <p:nvSpPr>
          <p:cNvPr id="9" name="TextBox 8">
            <a:extLst>
              <a:ext uri="{FF2B5EF4-FFF2-40B4-BE49-F238E27FC236}">
                <a16:creationId xmlns:a16="http://schemas.microsoft.com/office/drawing/2014/main" id="{4BF7F2A8-2C64-6490-2960-2C6D65FFD61C}"/>
              </a:ext>
            </a:extLst>
          </p:cNvPr>
          <p:cNvSpPr txBox="1"/>
          <p:nvPr/>
        </p:nvSpPr>
        <p:spPr>
          <a:xfrm>
            <a:off x="8095785" y="2074127"/>
            <a:ext cx="3412274" cy="1200329"/>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This HTML code is available on </a:t>
            </a:r>
            <a:r>
              <a:rPr lang="en-US" sz="2400" dirty="0" err="1">
                <a:latin typeface="Calibri" panose="020F0502020204030204" pitchFamily="34" charset="0"/>
                <a:cs typeface="Calibri" panose="020F0502020204030204" pitchFamily="34" charset="0"/>
              </a:rPr>
              <a:t>Github</a:t>
            </a:r>
            <a:endParaRPr lang="en-US" sz="2400" dirty="0">
              <a:latin typeface="Calibri" panose="020F0502020204030204" pitchFamily="34" charset="0"/>
              <a:cs typeface="Calibri" panose="020F0502020204030204" pitchFamily="34" charset="0"/>
            </a:endParaRPr>
          </a:p>
          <a:p>
            <a:r>
              <a:rPr lang="en-US" sz="2400" dirty="0">
                <a:latin typeface="Calibri" panose="020F0502020204030204" pitchFamily="34" charset="0"/>
                <a:cs typeface="Calibri" panose="020F0502020204030204" pitchFamily="34" charset="0"/>
              </a:rPr>
              <a:t>City-Farmer-Index.HTML</a:t>
            </a:r>
            <a:endParaRPr lang="en-AU" sz="2400"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3F530BC6-EFAA-4FFF-8F0C-5FCE84E006E9}"/>
              </a:ext>
            </a:extLst>
          </p:cNvPr>
          <p:cNvSpPr txBox="1"/>
          <p:nvPr/>
        </p:nvSpPr>
        <p:spPr>
          <a:xfrm>
            <a:off x="4634751" y="2379586"/>
            <a:ext cx="2402541" cy="230832"/>
          </a:xfrm>
          <a:prstGeom prst="rect">
            <a:avLst/>
          </a:prstGeom>
          <a:solidFill>
            <a:schemeClr val="bg1"/>
          </a:solidFill>
        </p:spPr>
        <p:txBody>
          <a:bodyPr wrap="square" rtlCol="0">
            <a:spAutoFit/>
          </a:bodyPr>
          <a:lstStyle/>
          <a:p>
            <a:r>
              <a:rPr lang="en-US" sz="900" dirty="0">
                <a:solidFill>
                  <a:srgbClr val="7030A0"/>
                </a:solidFill>
                <a:latin typeface="Arial" panose="020B0604020202020204" pitchFamily="34" charset="0"/>
                <a:cs typeface="Arial" panose="020B0604020202020204" pitchFamily="34" charset="0"/>
              </a:rPr>
              <a:t>“City-Farmer-Style.css”&gt;</a:t>
            </a:r>
            <a:endParaRPr lang="en-AU" sz="900" dirty="0">
              <a:solidFill>
                <a:srgbClr val="7030A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291984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02D6C3CB-4896-2986-FE42-C07502073E3F}"/>
              </a:ext>
            </a:extLst>
          </p:cNvPr>
          <p:cNvSpPr txBox="1"/>
          <p:nvPr/>
        </p:nvSpPr>
        <p:spPr>
          <a:xfrm>
            <a:off x="94592" y="847493"/>
            <a:ext cx="3260897" cy="5963427"/>
          </a:xfrm>
          <a:prstGeom prst="rect">
            <a:avLst/>
          </a:prstGeom>
          <a:noFill/>
        </p:spPr>
        <p:txBody>
          <a:bodyPr wrap="square" rtlCol="0">
            <a:spAutoFit/>
          </a:bodyPr>
          <a:lstStyle/>
          <a:p>
            <a:pPr>
              <a:lnSpc>
                <a:spcPct val="150000"/>
              </a:lnSpc>
            </a:pPr>
            <a:r>
              <a:rPr lang="en-US" sz="1600" dirty="0">
                <a:latin typeface="Calibri" panose="020F0502020204030204" pitchFamily="34" charset="0"/>
                <a:cs typeface="Calibri" panose="020F0502020204030204" pitchFamily="34" charset="0"/>
              </a:rPr>
              <a:t>Regarding step 19, using classes like </a:t>
            </a:r>
            <a:r>
              <a:rPr lang="en-US" sz="1600" b="1" dirty="0">
                <a:latin typeface="Calibri" panose="020F0502020204030204" pitchFamily="34" charset="0"/>
                <a:cs typeface="Calibri" panose="020F0502020204030204" pitchFamily="34" charset="0"/>
              </a:rPr>
              <a:t>class="</a:t>
            </a:r>
            <a:r>
              <a:rPr lang="en-US" sz="1600" b="1" dirty="0" err="1">
                <a:latin typeface="Calibri" panose="020F0502020204030204" pitchFamily="34" charset="0"/>
                <a:cs typeface="Calibri" panose="020F0502020204030204" pitchFamily="34" charset="0"/>
              </a:rPr>
              <a:t>floatleft</a:t>
            </a:r>
            <a:r>
              <a:rPr lang="en-US" sz="1600" dirty="0">
                <a:latin typeface="Calibri" panose="020F0502020204030204" pitchFamily="34" charset="0"/>
                <a:cs typeface="Calibri" panose="020F0502020204030204" pitchFamily="34" charset="0"/>
              </a:rPr>
              <a:t>" and </a:t>
            </a:r>
            <a:r>
              <a:rPr lang="en-US" sz="1600" b="1" dirty="0">
                <a:latin typeface="Calibri" panose="020F0502020204030204" pitchFamily="34" charset="0"/>
                <a:cs typeface="Calibri" panose="020F0502020204030204" pitchFamily="34" charset="0"/>
              </a:rPr>
              <a:t>class="</a:t>
            </a:r>
            <a:r>
              <a:rPr lang="en-US" sz="1600" b="1" dirty="0" err="1">
                <a:latin typeface="Calibri" panose="020F0502020204030204" pitchFamily="34" charset="0"/>
                <a:cs typeface="Calibri" panose="020F0502020204030204" pitchFamily="34" charset="0"/>
              </a:rPr>
              <a:t>floatright</a:t>
            </a:r>
            <a:r>
              <a:rPr lang="en-US" sz="1600" dirty="0">
                <a:latin typeface="Calibri" panose="020F0502020204030204" pitchFamily="34" charset="0"/>
                <a:cs typeface="Calibri" panose="020F0502020204030204" pitchFamily="34" charset="0"/>
              </a:rPr>
              <a:t>" instead of IDs is considered a better practice when the styles are not unique and may be reused. Classes allow for the same styling to be applied to multiple elements, whereas IDs are intended to be unique within the page. This means if you want to float another image to the right or left, you can simply apply the same class without duplicating the style rules. Classes are generally more flexible and can help keep your stylesheets cleaner and more manageable.</a:t>
            </a:r>
            <a:endParaRPr lang="en-AU" sz="16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EC56579-194D-55D0-649E-FB4CC4753DDA}"/>
              </a:ext>
            </a:extLst>
          </p:cNvPr>
          <p:cNvPicPr>
            <a:picLocks noChangeAspect="1"/>
          </p:cNvPicPr>
          <p:nvPr/>
        </p:nvPicPr>
        <p:blipFill rotWithShape="1">
          <a:blip r:embed="rId2"/>
          <a:srcRect l="3476" t="11219" r="63415" b="16261"/>
          <a:stretch/>
        </p:blipFill>
        <p:spPr>
          <a:xfrm>
            <a:off x="3355489" y="991535"/>
            <a:ext cx="4761571" cy="5866465"/>
          </a:xfrm>
          <a:prstGeom prst="rect">
            <a:avLst/>
          </a:prstGeom>
        </p:spPr>
      </p:pic>
      <p:sp>
        <p:nvSpPr>
          <p:cNvPr id="9" name="TextBox 8">
            <a:extLst>
              <a:ext uri="{FF2B5EF4-FFF2-40B4-BE49-F238E27FC236}">
                <a16:creationId xmlns:a16="http://schemas.microsoft.com/office/drawing/2014/main" id="{4BF7F2A8-2C64-6490-2960-2C6D65FFD61C}"/>
              </a:ext>
            </a:extLst>
          </p:cNvPr>
          <p:cNvSpPr txBox="1"/>
          <p:nvPr/>
        </p:nvSpPr>
        <p:spPr>
          <a:xfrm>
            <a:off x="8424592" y="2170081"/>
            <a:ext cx="3412274" cy="1938992"/>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Use Notepad ++ and type this code, then save it as Cascade Style Sheets File</a:t>
            </a:r>
          </a:p>
          <a:p>
            <a:endParaRPr lang="en-US" sz="2400" dirty="0">
              <a:latin typeface="Calibri" panose="020F0502020204030204" pitchFamily="34" charset="0"/>
              <a:cs typeface="Calibri" panose="020F0502020204030204" pitchFamily="34" charset="0"/>
            </a:endParaRPr>
          </a:p>
          <a:p>
            <a:r>
              <a:rPr lang="en-US" sz="2400" dirty="0">
                <a:latin typeface="Calibri" panose="020F0502020204030204" pitchFamily="34" charset="0"/>
                <a:cs typeface="Calibri" panose="020F0502020204030204" pitchFamily="34" charset="0"/>
              </a:rPr>
              <a:t>City-Farmer-Style.CSS</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712831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12E78F-73EB-9863-D627-C111117A1394}"/>
              </a:ext>
            </a:extLst>
          </p:cNvPr>
          <p:cNvPicPr>
            <a:picLocks noChangeAspect="1"/>
          </p:cNvPicPr>
          <p:nvPr/>
        </p:nvPicPr>
        <p:blipFill rotWithShape="1">
          <a:blip r:embed="rId2"/>
          <a:srcRect b="10244"/>
          <a:stretch/>
        </p:blipFill>
        <p:spPr>
          <a:xfrm>
            <a:off x="0" y="702527"/>
            <a:ext cx="12192000" cy="6155473"/>
          </a:xfrm>
          <a:prstGeom prst="rect">
            <a:avLst/>
          </a:prstGeom>
        </p:spPr>
      </p:pic>
      <p:sp>
        <p:nvSpPr>
          <p:cNvPr id="6" name="TextBox 5">
            <a:extLst>
              <a:ext uri="{FF2B5EF4-FFF2-40B4-BE49-F238E27FC236}">
                <a16:creationId xmlns:a16="http://schemas.microsoft.com/office/drawing/2014/main" id="{50CD7E13-C997-C2FE-F62B-DB40E1D769C6}"/>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pic>
        <p:nvPicPr>
          <p:cNvPr id="14" name="Picture 13">
            <a:extLst>
              <a:ext uri="{FF2B5EF4-FFF2-40B4-BE49-F238E27FC236}">
                <a16:creationId xmlns:a16="http://schemas.microsoft.com/office/drawing/2014/main" id="{F01E30E3-F85A-212E-6BB6-60EB8B46C6AC}"/>
              </a:ext>
            </a:extLst>
          </p:cNvPr>
          <p:cNvPicPr>
            <a:picLocks noChangeAspect="1"/>
          </p:cNvPicPr>
          <p:nvPr/>
        </p:nvPicPr>
        <p:blipFill rotWithShape="1">
          <a:blip r:embed="rId3"/>
          <a:srcRect l="11555" t="24716" r="42927" b="39024"/>
          <a:stretch/>
        </p:blipFill>
        <p:spPr>
          <a:xfrm>
            <a:off x="7761249" y="3321095"/>
            <a:ext cx="4430750" cy="1761891"/>
          </a:xfrm>
          <a:prstGeom prst="rect">
            <a:avLst/>
          </a:prstGeom>
        </p:spPr>
      </p:pic>
      <p:sp>
        <p:nvSpPr>
          <p:cNvPr id="10" name="TextBox 9">
            <a:extLst>
              <a:ext uri="{FF2B5EF4-FFF2-40B4-BE49-F238E27FC236}">
                <a16:creationId xmlns:a16="http://schemas.microsoft.com/office/drawing/2014/main" id="{35A078A8-42C8-446B-96D9-9CF04B9485A2}"/>
              </a:ext>
            </a:extLst>
          </p:cNvPr>
          <p:cNvSpPr txBox="1"/>
          <p:nvPr/>
        </p:nvSpPr>
        <p:spPr>
          <a:xfrm>
            <a:off x="4831976" y="2503839"/>
            <a:ext cx="7004890" cy="461665"/>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Download the jpg file from GitHub</a:t>
            </a:r>
            <a:endParaRPr lang="en-AU" sz="2400" dirty="0">
              <a:latin typeface="Calibri" panose="020F0502020204030204" pitchFamily="34" charset="0"/>
              <a:cs typeface="Calibri" panose="020F0502020204030204" pitchFamily="34" charset="0"/>
            </a:endParaRPr>
          </a:p>
        </p:txBody>
      </p:sp>
      <p:sp>
        <p:nvSpPr>
          <p:cNvPr id="9" name="Rectangle: Rounded Corners 8">
            <a:extLst>
              <a:ext uri="{FF2B5EF4-FFF2-40B4-BE49-F238E27FC236}">
                <a16:creationId xmlns:a16="http://schemas.microsoft.com/office/drawing/2014/main" id="{1F388CC3-C94D-E87C-D0D9-422E888CD16E}"/>
              </a:ext>
            </a:extLst>
          </p:cNvPr>
          <p:cNvSpPr/>
          <p:nvPr/>
        </p:nvSpPr>
        <p:spPr>
          <a:xfrm>
            <a:off x="8256494" y="4643495"/>
            <a:ext cx="3334872" cy="17951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0568115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115229" y="89647"/>
            <a:ext cx="6259390" cy="4284763"/>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Sidebar Project:</a:t>
            </a:r>
          </a:p>
          <a:p>
            <a:pPr>
              <a:lnSpc>
                <a:spcPct val="150000"/>
              </a:lnSpc>
            </a:pPr>
            <a:r>
              <a:rPr lang="en-US" sz="2300" dirty="0">
                <a:latin typeface="Calibri" panose="020F0502020204030204" pitchFamily="34" charset="0"/>
                <a:cs typeface="Calibri" panose="020F0502020204030204" pitchFamily="34" charset="0"/>
              </a:rPr>
              <a:t>This code creates a layout with a sidebar and a main content area side by side using flexbox. The logo and menu are in the sidebar, and the title and subtitle are in the main content area. Adjust the values of flex-basis, margin, padding, and other properties as necessary to fit the specific design you're aiming for.</a:t>
            </a:r>
            <a:endParaRPr lang="en-AU" sz="23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251912C0-8F99-475E-D1E4-637B08A6279A}"/>
              </a:ext>
            </a:extLst>
          </p:cNvPr>
          <p:cNvPicPr>
            <a:picLocks noChangeAspect="1"/>
          </p:cNvPicPr>
          <p:nvPr/>
        </p:nvPicPr>
        <p:blipFill rotWithShape="1">
          <a:blip r:embed="rId2"/>
          <a:srcRect t="8380" r="50000" b="13659"/>
          <a:stretch/>
        </p:blipFill>
        <p:spPr>
          <a:xfrm>
            <a:off x="6374619" y="1"/>
            <a:ext cx="5768552" cy="5059399"/>
          </a:xfrm>
          <a:prstGeom prst="rect">
            <a:avLst/>
          </a:prstGeom>
          <a:ln>
            <a:solidFill>
              <a:srgbClr val="FF0000"/>
            </a:solidFill>
          </a:ln>
        </p:spPr>
      </p:pic>
      <p:pic>
        <p:nvPicPr>
          <p:cNvPr id="13" name="Picture 12">
            <a:extLst>
              <a:ext uri="{FF2B5EF4-FFF2-40B4-BE49-F238E27FC236}">
                <a16:creationId xmlns:a16="http://schemas.microsoft.com/office/drawing/2014/main" id="{DB4E30CB-4E1A-E785-29A5-CD76BA360818}"/>
              </a:ext>
            </a:extLst>
          </p:cNvPr>
          <p:cNvPicPr>
            <a:picLocks noChangeAspect="1"/>
          </p:cNvPicPr>
          <p:nvPr/>
        </p:nvPicPr>
        <p:blipFill rotWithShape="1">
          <a:blip r:embed="rId3"/>
          <a:srcRect l="9908" t="21464" r="28750" b="53008"/>
          <a:stretch/>
        </p:blipFill>
        <p:spPr>
          <a:xfrm>
            <a:off x="4393580" y="5059400"/>
            <a:ext cx="7749591" cy="1798600"/>
          </a:xfrm>
          <a:prstGeom prst="rect">
            <a:avLst/>
          </a:prstGeom>
          <a:ln>
            <a:solidFill>
              <a:srgbClr val="FF0000"/>
            </a:solidFill>
          </a:ln>
        </p:spPr>
      </p:pic>
    </p:spTree>
    <p:extLst>
      <p:ext uri="{BB962C8B-B14F-4D97-AF65-F5344CB8AC3E}">
        <p14:creationId xmlns:p14="http://schemas.microsoft.com/office/powerpoint/2010/main" val="24677034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1" y="0"/>
            <a:ext cx="6467708" cy="664169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flex-basis: 250px</a:t>
            </a:r>
            <a:r>
              <a:rPr lang="en-US" sz="2200" dirty="0">
                <a:latin typeface="Calibri" panose="020F0502020204030204" pitchFamily="34" charset="0"/>
                <a:cs typeface="Calibri" panose="020F0502020204030204" pitchFamily="34" charset="0"/>
              </a:rPr>
              <a:t>;: This sets the default size of the sidebar. When using a flexbox layout, </a:t>
            </a:r>
            <a:r>
              <a:rPr lang="en-US" sz="2200" b="1" dirty="0">
                <a:latin typeface="Calibri" panose="020F0502020204030204" pitchFamily="34" charset="0"/>
                <a:cs typeface="Calibri" panose="020F0502020204030204" pitchFamily="34" charset="0"/>
              </a:rPr>
              <a:t>flex-basis</a:t>
            </a:r>
            <a:r>
              <a:rPr lang="en-US" sz="2200" dirty="0">
                <a:latin typeface="Calibri" panose="020F0502020204030204" pitchFamily="34" charset="0"/>
                <a:cs typeface="Calibri" panose="020F0502020204030204" pitchFamily="34" charset="0"/>
              </a:rPr>
              <a:t> is used to define the ideal size of a flex item before it's adjusted by </a:t>
            </a:r>
            <a:r>
              <a:rPr lang="en-US" sz="2200" b="1" dirty="0">
                <a:latin typeface="Calibri" panose="020F0502020204030204" pitchFamily="34" charset="0"/>
                <a:cs typeface="Calibri" panose="020F0502020204030204" pitchFamily="34" charset="0"/>
              </a:rPr>
              <a:t>flex-grow</a:t>
            </a:r>
            <a:r>
              <a:rPr lang="en-US" sz="2200" dirty="0">
                <a:latin typeface="Calibri" panose="020F0502020204030204" pitchFamily="34" charset="0"/>
                <a:cs typeface="Calibri" panose="020F0502020204030204" pitchFamily="34" charset="0"/>
              </a:rPr>
              <a:t> or </a:t>
            </a:r>
            <a:r>
              <a:rPr lang="en-US" sz="2200" b="1" dirty="0">
                <a:latin typeface="Calibri" panose="020F0502020204030204" pitchFamily="34" charset="0"/>
                <a:cs typeface="Calibri" panose="020F0502020204030204" pitchFamily="34" charset="0"/>
              </a:rPr>
              <a:t>flex-shrink</a:t>
            </a:r>
            <a:r>
              <a:rPr lang="en-US" sz="2200" dirty="0">
                <a:latin typeface="Calibri" panose="020F0502020204030204" pitchFamily="34" charset="0"/>
                <a:cs typeface="Calibri" panose="020F0502020204030204" pitchFamily="34" charset="0"/>
              </a:rPr>
              <a:t>. Here, it means that the sidebar will try to be 250 pixels wide.</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background-color: #f0f0f0</a:t>
            </a:r>
            <a:r>
              <a:rPr lang="en-US" sz="2200" dirty="0">
                <a:latin typeface="Calibri" panose="020F0502020204030204" pitchFamily="34" charset="0"/>
                <a:cs typeface="Calibri" panose="020F0502020204030204" pitchFamily="34" charset="0"/>
              </a:rPr>
              <a:t>;: This sets the background color of the sidebar. The color </a:t>
            </a:r>
            <a:r>
              <a:rPr lang="en-US" sz="2200" b="1" dirty="0">
                <a:latin typeface="Calibri" panose="020F0502020204030204" pitchFamily="34" charset="0"/>
                <a:cs typeface="Calibri" panose="020F0502020204030204" pitchFamily="34" charset="0"/>
              </a:rPr>
              <a:t>#f0f0f0 </a:t>
            </a:r>
            <a:r>
              <a:rPr lang="en-US" sz="2200" dirty="0">
                <a:latin typeface="Calibri" panose="020F0502020204030204" pitchFamily="34" charset="0"/>
                <a:cs typeface="Calibri" panose="020F0502020204030204" pitchFamily="34" charset="0"/>
              </a:rPr>
              <a:t>is a very light grey, providing a subtle contrast with other elements.</a:t>
            </a:r>
          </a:p>
          <a:p>
            <a:pPr marL="342900" indent="-342900">
              <a:lnSpc>
                <a:spcPct val="150000"/>
              </a:lnSpc>
              <a:buFont typeface="Arial" panose="020B0604020202020204" pitchFamily="34" charset="0"/>
              <a:buChar char="•"/>
              <a:tabLst>
                <a:tab pos="1160463" algn="l"/>
              </a:tabLst>
            </a:pPr>
            <a:r>
              <a:rPr lang="en-US" sz="2200" b="1" dirty="0">
                <a:latin typeface="Calibri" panose="020F0502020204030204" pitchFamily="34" charset="0"/>
                <a:cs typeface="Calibri" panose="020F0502020204030204" pitchFamily="34" charset="0"/>
              </a:rPr>
              <a:t>padding: 20px;: </a:t>
            </a:r>
            <a:r>
              <a:rPr lang="en-US" sz="2200" dirty="0">
                <a:latin typeface="Calibri" panose="020F0502020204030204" pitchFamily="34" charset="0"/>
                <a:cs typeface="Calibri" panose="020F0502020204030204" pitchFamily="34" charset="0"/>
              </a:rPr>
              <a:t>This adds space inside the sidebar, between the border of the sidebar and its content. This means all the content inside the sidebar will have a 20-pixel space from its edges.</a:t>
            </a:r>
            <a:endParaRPr lang="en-AU" sz="22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0D5D5E1-9CFE-FC2A-95F1-980DEBD10BC3}"/>
              </a:ext>
            </a:extLst>
          </p:cNvPr>
          <p:cNvPicPr>
            <a:picLocks noChangeAspect="1"/>
          </p:cNvPicPr>
          <p:nvPr/>
        </p:nvPicPr>
        <p:blipFill rotWithShape="1">
          <a:blip r:embed="rId2"/>
          <a:srcRect l="4299" t="10894" r="65610" b="8130"/>
          <a:stretch/>
        </p:blipFill>
        <p:spPr>
          <a:xfrm>
            <a:off x="6467709" y="12513"/>
            <a:ext cx="4133772" cy="6257196"/>
          </a:xfrm>
          <a:prstGeom prst="rect">
            <a:avLst/>
          </a:prstGeom>
        </p:spPr>
      </p:pic>
      <p:pic>
        <p:nvPicPr>
          <p:cNvPr id="5" name="Picture 4">
            <a:extLst>
              <a:ext uri="{FF2B5EF4-FFF2-40B4-BE49-F238E27FC236}">
                <a16:creationId xmlns:a16="http://schemas.microsoft.com/office/drawing/2014/main" id="{ABC03102-1BDD-3D01-A14E-C2C3385AD95F}"/>
              </a:ext>
            </a:extLst>
          </p:cNvPr>
          <p:cNvPicPr>
            <a:picLocks noChangeAspect="1"/>
          </p:cNvPicPr>
          <p:nvPr/>
        </p:nvPicPr>
        <p:blipFill rotWithShape="1">
          <a:blip r:embed="rId3"/>
          <a:srcRect t="8380" r="50000" b="13659"/>
          <a:stretch/>
        </p:blipFill>
        <p:spPr>
          <a:xfrm>
            <a:off x="9140583" y="4169194"/>
            <a:ext cx="3051417" cy="2676293"/>
          </a:xfrm>
          <a:prstGeom prst="rect">
            <a:avLst/>
          </a:prstGeom>
          <a:ln>
            <a:solidFill>
              <a:srgbClr val="FF0000"/>
            </a:solidFill>
          </a:ln>
        </p:spPr>
      </p:pic>
    </p:spTree>
    <p:extLst>
      <p:ext uri="{BB962C8B-B14F-4D97-AF65-F5344CB8AC3E}">
        <p14:creationId xmlns:p14="http://schemas.microsoft.com/office/powerpoint/2010/main" val="213182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0" y="0"/>
            <a:ext cx="8058229" cy="4815677"/>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CSS class is a part of the flexbox layout defined by the </a:t>
            </a:r>
            <a:r>
              <a:rPr lang="en-US" sz="2300" b="1" dirty="0">
                <a:latin typeface="Calibri" panose="020F0502020204030204" pitchFamily="34" charset="0"/>
                <a:cs typeface="Calibri" panose="020F0502020204030204" pitchFamily="34" charset="0"/>
              </a:rPr>
              <a:t>display: flex</a:t>
            </a:r>
            <a:r>
              <a:rPr lang="en-US" sz="2300" dirty="0">
                <a:latin typeface="Calibri" panose="020F0502020204030204" pitchFamily="34" charset="0"/>
                <a:cs typeface="Calibri" panose="020F0502020204030204" pitchFamily="34" charset="0"/>
              </a:rPr>
              <a:t>; property in the </a:t>
            </a:r>
            <a:r>
              <a:rPr lang="en-US" sz="2300" b="1" dirty="0">
                <a:latin typeface="Calibri" panose="020F0502020204030204" pitchFamily="34" charset="0"/>
                <a:cs typeface="Calibri" panose="020F0502020204030204" pitchFamily="34" charset="0"/>
              </a:rPr>
              <a:t>body</a:t>
            </a:r>
            <a:r>
              <a:rPr lang="en-US" sz="2300" dirty="0">
                <a:latin typeface="Calibri" panose="020F0502020204030204" pitchFamily="34" charset="0"/>
                <a:cs typeface="Calibri" panose="020F0502020204030204" pitchFamily="34" charset="0"/>
              </a:rPr>
              <a:t> rule. The sidebar will be a flex item alongside any other flex items within the body. In this layout, the sidebar will have a fixed starting width of 250 pixels and will contain whatever content is designated within the sidebar division in the HTML, such as a logo and a navigation menu. The padding inside ensures that this content is not flush against the sides of the sidebar, providing a nicer visual presentation.</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0D5D5E1-9CFE-FC2A-95F1-980DEBD10BC3}"/>
              </a:ext>
            </a:extLst>
          </p:cNvPr>
          <p:cNvPicPr>
            <a:picLocks noChangeAspect="1"/>
          </p:cNvPicPr>
          <p:nvPr/>
        </p:nvPicPr>
        <p:blipFill rotWithShape="1">
          <a:blip r:embed="rId2"/>
          <a:srcRect l="4299" t="10894" r="65610" b="8130"/>
          <a:stretch/>
        </p:blipFill>
        <p:spPr>
          <a:xfrm>
            <a:off x="8058228" y="600804"/>
            <a:ext cx="4133772" cy="6257196"/>
          </a:xfrm>
          <a:prstGeom prst="rect">
            <a:avLst/>
          </a:prstGeom>
        </p:spPr>
      </p:pic>
      <p:pic>
        <p:nvPicPr>
          <p:cNvPr id="2" name="Picture 1">
            <a:extLst>
              <a:ext uri="{FF2B5EF4-FFF2-40B4-BE49-F238E27FC236}">
                <a16:creationId xmlns:a16="http://schemas.microsoft.com/office/drawing/2014/main" id="{02F47DD4-E2E2-D297-467B-710576077458}"/>
              </a:ext>
            </a:extLst>
          </p:cNvPr>
          <p:cNvPicPr>
            <a:picLocks noChangeAspect="1"/>
          </p:cNvPicPr>
          <p:nvPr/>
        </p:nvPicPr>
        <p:blipFill rotWithShape="1">
          <a:blip r:embed="rId3"/>
          <a:srcRect t="8380" r="50000" b="13659"/>
          <a:stretch/>
        </p:blipFill>
        <p:spPr>
          <a:xfrm>
            <a:off x="5006811" y="4181706"/>
            <a:ext cx="3051417" cy="2676293"/>
          </a:xfrm>
          <a:prstGeom prst="rect">
            <a:avLst/>
          </a:prstGeom>
          <a:ln>
            <a:solidFill>
              <a:srgbClr val="FF0000"/>
            </a:solidFill>
          </a:ln>
        </p:spPr>
      </p:pic>
    </p:spTree>
    <p:extLst>
      <p:ext uri="{BB962C8B-B14F-4D97-AF65-F5344CB8AC3E}">
        <p14:creationId xmlns:p14="http://schemas.microsoft.com/office/powerpoint/2010/main" val="266935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58328E7-B314-6C89-A2F9-AC735A214E7E}"/>
              </a:ext>
            </a:extLst>
          </p:cNvPr>
          <p:cNvPicPr>
            <a:picLocks noChangeAspect="1"/>
          </p:cNvPicPr>
          <p:nvPr/>
        </p:nvPicPr>
        <p:blipFill rotWithShape="1">
          <a:blip r:embed="rId2"/>
          <a:srcRect l="776" t="9798" r="1494" b="10406"/>
          <a:stretch/>
        </p:blipFill>
        <p:spPr>
          <a:xfrm>
            <a:off x="0" y="692764"/>
            <a:ext cx="11915271" cy="5472472"/>
          </a:xfrm>
          <a:prstGeom prst="rect">
            <a:avLst/>
          </a:prstGeom>
        </p:spPr>
      </p:pic>
      <p:pic>
        <p:nvPicPr>
          <p:cNvPr id="8" name="Picture 7">
            <a:extLst>
              <a:ext uri="{FF2B5EF4-FFF2-40B4-BE49-F238E27FC236}">
                <a16:creationId xmlns:a16="http://schemas.microsoft.com/office/drawing/2014/main" id="{E93879F3-2C00-69C8-917B-241CF5E2D90B}"/>
              </a:ext>
            </a:extLst>
          </p:cNvPr>
          <p:cNvPicPr>
            <a:picLocks noChangeAspect="1"/>
          </p:cNvPicPr>
          <p:nvPr/>
        </p:nvPicPr>
        <p:blipFill rotWithShape="1">
          <a:blip r:embed="rId3"/>
          <a:srcRect l="776" t="9797" r="33872" b="50000"/>
          <a:stretch/>
        </p:blipFill>
        <p:spPr>
          <a:xfrm>
            <a:off x="2159426" y="3939157"/>
            <a:ext cx="7967740" cy="2757149"/>
          </a:xfrm>
          <a:prstGeom prst="rect">
            <a:avLst/>
          </a:prstGeom>
        </p:spPr>
      </p:pic>
    </p:spTree>
    <p:extLst>
      <p:ext uri="{BB962C8B-B14F-4D97-AF65-F5344CB8AC3E}">
        <p14:creationId xmlns:p14="http://schemas.microsoft.com/office/powerpoint/2010/main" val="322516077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94A2E2-B8BF-C3AF-FF3C-C85052255AC1}"/>
              </a:ext>
            </a:extLst>
          </p:cNvPr>
          <p:cNvPicPr>
            <a:picLocks noChangeAspect="1"/>
          </p:cNvPicPr>
          <p:nvPr/>
        </p:nvPicPr>
        <p:blipFill rotWithShape="1">
          <a:blip r:embed="rId2"/>
          <a:srcRect t="7479" b="9594"/>
          <a:stretch/>
        </p:blipFill>
        <p:spPr>
          <a:xfrm>
            <a:off x="0" y="512956"/>
            <a:ext cx="12192000" cy="5687122"/>
          </a:xfrm>
          <a:prstGeom prst="rect">
            <a:avLst/>
          </a:prstGeom>
        </p:spPr>
      </p:pic>
    </p:spTree>
    <p:extLst>
      <p:ext uri="{BB962C8B-B14F-4D97-AF65-F5344CB8AC3E}">
        <p14:creationId xmlns:p14="http://schemas.microsoft.com/office/powerpoint/2010/main" val="37562833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29EB9B-D519-7E6C-DA20-CA4C34477968}"/>
              </a:ext>
            </a:extLst>
          </p:cNvPr>
          <p:cNvPicPr>
            <a:picLocks noChangeAspect="1"/>
          </p:cNvPicPr>
          <p:nvPr/>
        </p:nvPicPr>
        <p:blipFill>
          <a:blip r:embed="rId2"/>
          <a:stretch>
            <a:fillRect/>
          </a:stretch>
        </p:blipFill>
        <p:spPr>
          <a:xfrm>
            <a:off x="0" y="815066"/>
            <a:ext cx="12192000" cy="6042934"/>
          </a:xfrm>
          <a:prstGeom prst="rect">
            <a:avLst/>
          </a:prstGeom>
        </p:spPr>
      </p:pic>
    </p:spTree>
    <p:extLst>
      <p:ext uri="{BB962C8B-B14F-4D97-AF65-F5344CB8AC3E}">
        <p14:creationId xmlns:p14="http://schemas.microsoft.com/office/powerpoint/2010/main" val="2346754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7D9968B-F413-6058-7873-920E1CED8AA5}"/>
              </a:ext>
            </a:extLst>
          </p:cNvPr>
          <p:cNvSpPr txBox="1"/>
          <p:nvPr/>
        </p:nvSpPr>
        <p:spPr>
          <a:xfrm>
            <a:off x="94592" y="0"/>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Project 2 – Styling a Webpage</a:t>
            </a:r>
            <a:endParaRPr lang="en-US" sz="2400" b="1"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655296B4-E5F0-8CC8-382D-1B2D9AAB6E99}"/>
              </a:ext>
            </a:extLst>
          </p:cNvPr>
          <p:cNvPicPr>
            <a:picLocks noChangeAspect="1"/>
          </p:cNvPicPr>
          <p:nvPr/>
        </p:nvPicPr>
        <p:blipFill rotWithShape="1">
          <a:blip r:embed="rId2"/>
          <a:srcRect l="25335" t="15936" r="25335" b="7967"/>
          <a:stretch/>
        </p:blipFill>
        <p:spPr>
          <a:xfrm>
            <a:off x="6096000" y="819615"/>
            <a:ext cx="6014224" cy="5218770"/>
          </a:xfrm>
          <a:prstGeom prst="rect">
            <a:avLst/>
          </a:prstGeom>
        </p:spPr>
      </p:pic>
      <p:sp>
        <p:nvSpPr>
          <p:cNvPr id="9" name="TextBox 8">
            <a:extLst>
              <a:ext uri="{FF2B5EF4-FFF2-40B4-BE49-F238E27FC236}">
                <a16:creationId xmlns:a16="http://schemas.microsoft.com/office/drawing/2014/main" id="{C1E42027-9221-910F-DECC-F7138D0262BD}"/>
              </a:ext>
            </a:extLst>
          </p:cNvPr>
          <p:cNvSpPr txBox="1"/>
          <p:nvPr/>
        </p:nvSpPr>
        <p:spPr>
          <a:xfrm>
            <a:off x="200722" y="869795"/>
            <a:ext cx="5542156" cy="4102533"/>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project outlines a common task in web development which is creating a responsive and well-styled webpage. We explore the necessary HTML and CSS code according to the instructions provided in project 2.</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Use Notepad++ or Visual Studio or online platform </a:t>
            </a:r>
            <a:r>
              <a:rPr lang="en-US" sz="2200" dirty="0">
                <a:latin typeface="Calibri" panose="020F0502020204030204" pitchFamily="34" charset="0"/>
                <a:cs typeface="Calibri" panose="020F0502020204030204" pitchFamily="34" charset="0"/>
                <a:hlinkClick r:id="rId3"/>
              </a:rPr>
              <a:t>https://w3schools.com/</a:t>
            </a:r>
            <a:r>
              <a:rPr lang="en-US" sz="2200" dirty="0">
                <a:latin typeface="Calibri" panose="020F0502020204030204" pitchFamily="34" charset="0"/>
                <a:cs typeface="Calibri" panose="020F0502020204030204" pitchFamily="34" charset="0"/>
              </a:rPr>
              <a:t> as for your text editor</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3674903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CC0B070-E837-0063-CE14-6018FACC97EB}"/>
              </a:ext>
            </a:extLst>
          </p:cNvPr>
          <p:cNvPicPr>
            <a:picLocks noChangeAspect="1"/>
          </p:cNvPicPr>
          <p:nvPr/>
        </p:nvPicPr>
        <p:blipFill rotWithShape="1">
          <a:blip r:embed="rId2"/>
          <a:srcRect t="7642" r="776" b="10743"/>
          <a:stretch/>
        </p:blipFill>
        <p:spPr>
          <a:xfrm>
            <a:off x="0" y="524107"/>
            <a:ext cx="9757317" cy="4514446"/>
          </a:xfrm>
          <a:prstGeom prst="rect">
            <a:avLst/>
          </a:prstGeom>
        </p:spPr>
      </p:pic>
      <p:sp>
        <p:nvSpPr>
          <p:cNvPr id="4" name="TextBox 3">
            <a:extLst>
              <a:ext uri="{FF2B5EF4-FFF2-40B4-BE49-F238E27FC236}">
                <a16:creationId xmlns:a16="http://schemas.microsoft.com/office/drawing/2014/main" id="{D7D9968B-F413-6058-7873-920E1CED8AA5}"/>
              </a:ext>
            </a:extLst>
          </p:cNvPr>
          <p:cNvSpPr txBox="1"/>
          <p:nvPr/>
        </p:nvSpPr>
        <p:spPr>
          <a:xfrm>
            <a:off x="94592" y="-122661"/>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Project 2 – Styling a Webpage</a:t>
            </a:r>
            <a:endParaRPr lang="en-US" sz="2400" b="1" dirty="0">
              <a:latin typeface="Calibri" panose="020F0502020204030204" pitchFamily="34" charset="0"/>
              <a:cs typeface="Calibri" panose="020F0502020204030204" pitchFamily="34" charset="0"/>
            </a:endParaRPr>
          </a:p>
        </p:txBody>
      </p:sp>
      <p:sp>
        <p:nvSpPr>
          <p:cNvPr id="13" name="Rectangle: Rounded Corners 12">
            <a:extLst>
              <a:ext uri="{FF2B5EF4-FFF2-40B4-BE49-F238E27FC236}">
                <a16:creationId xmlns:a16="http://schemas.microsoft.com/office/drawing/2014/main" id="{301973AE-3FF4-DD8F-B6C1-839A72140297}"/>
              </a:ext>
            </a:extLst>
          </p:cNvPr>
          <p:cNvSpPr/>
          <p:nvPr/>
        </p:nvSpPr>
        <p:spPr>
          <a:xfrm>
            <a:off x="613317" y="736751"/>
            <a:ext cx="6568068" cy="222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 name="TextBox 15">
            <a:extLst>
              <a:ext uri="{FF2B5EF4-FFF2-40B4-BE49-F238E27FC236}">
                <a16:creationId xmlns:a16="http://schemas.microsoft.com/office/drawing/2014/main" id="{4045C4A7-6767-5DC6-2484-A34588A50414}"/>
              </a:ext>
            </a:extLst>
          </p:cNvPr>
          <p:cNvSpPr txBox="1"/>
          <p:nvPr/>
        </p:nvSpPr>
        <p:spPr>
          <a:xfrm>
            <a:off x="94592" y="5062654"/>
            <a:ext cx="12004481" cy="1563377"/>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For Steps 15, 16, 17, and 18: </a:t>
            </a:r>
            <a:r>
              <a:rPr lang="en-US" sz="2200" dirty="0">
                <a:latin typeface="Calibri" panose="020F0502020204030204" pitchFamily="34" charset="0"/>
                <a:cs typeface="Calibri" panose="020F0502020204030204" pitchFamily="34" charset="0"/>
              </a:rPr>
              <a:t>We would manually wrap the text "Smoky quartz" and "Soulmate Crystal" in </a:t>
            </a:r>
            <a:r>
              <a:rPr lang="en-US" sz="2200" b="1" dirty="0">
                <a:latin typeface="Calibri" panose="020F0502020204030204" pitchFamily="34" charset="0"/>
                <a:cs typeface="Calibri" panose="020F0502020204030204" pitchFamily="34" charset="0"/>
              </a:rPr>
              <a:t>&lt;span&gt; </a:t>
            </a:r>
            <a:r>
              <a:rPr lang="en-US" sz="2200" dirty="0">
                <a:latin typeface="Calibri" panose="020F0502020204030204" pitchFamily="34" charset="0"/>
                <a:cs typeface="Calibri" panose="020F0502020204030204" pitchFamily="34" charset="0"/>
              </a:rPr>
              <a:t>tags with inline styles, validate our HTML and CSS using the W3C validators, and adjust our CSS formatting to be clean and professional.</a:t>
            </a:r>
            <a:endParaRPr lang="en-AU" sz="2200" dirty="0">
              <a:latin typeface="Calibri" panose="020F0502020204030204" pitchFamily="34" charset="0"/>
              <a:cs typeface="Calibri" panose="020F0502020204030204" pitchFamily="34" charset="0"/>
            </a:endParaRPr>
          </a:p>
        </p:txBody>
      </p:sp>
      <p:pic>
        <p:nvPicPr>
          <p:cNvPr id="20" name="Picture 19">
            <a:extLst>
              <a:ext uri="{FF2B5EF4-FFF2-40B4-BE49-F238E27FC236}">
                <a16:creationId xmlns:a16="http://schemas.microsoft.com/office/drawing/2014/main" id="{CEA3B544-6604-71C5-8A23-FE228CAC4C7C}"/>
              </a:ext>
            </a:extLst>
          </p:cNvPr>
          <p:cNvPicPr>
            <a:picLocks noChangeAspect="1"/>
          </p:cNvPicPr>
          <p:nvPr/>
        </p:nvPicPr>
        <p:blipFill rotWithShape="1">
          <a:blip r:embed="rId3"/>
          <a:srcRect l="12621" t="25691" r="46129" b="54634"/>
          <a:stretch/>
        </p:blipFill>
        <p:spPr>
          <a:xfrm>
            <a:off x="6317078" y="2245420"/>
            <a:ext cx="5874921" cy="1576198"/>
          </a:xfrm>
          <a:prstGeom prst="rect">
            <a:avLst/>
          </a:prstGeom>
          <a:ln>
            <a:solidFill>
              <a:srgbClr val="FF0000"/>
            </a:solidFill>
          </a:ln>
        </p:spPr>
      </p:pic>
      <p:sp>
        <p:nvSpPr>
          <p:cNvPr id="21" name="Rectangle: Rounded Corners 20">
            <a:extLst>
              <a:ext uri="{FF2B5EF4-FFF2-40B4-BE49-F238E27FC236}">
                <a16:creationId xmlns:a16="http://schemas.microsoft.com/office/drawing/2014/main" id="{AA961343-DD25-AAC5-D31B-A1B053759B5B}"/>
              </a:ext>
            </a:extLst>
          </p:cNvPr>
          <p:cNvSpPr/>
          <p:nvPr/>
        </p:nvSpPr>
        <p:spPr>
          <a:xfrm>
            <a:off x="6869151" y="3289610"/>
            <a:ext cx="4884234" cy="31223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079346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BB801A4-FA64-739A-4F74-40C7085B527B}"/>
              </a:ext>
            </a:extLst>
          </p:cNvPr>
          <p:cNvPicPr>
            <a:picLocks noChangeAspect="1"/>
          </p:cNvPicPr>
          <p:nvPr/>
        </p:nvPicPr>
        <p:blipFill rotWithShape="1">
          <a:blip r:embed="rId2"/>
          <a:srcRect l="2316" t="29403" r="10732" b="24979"/>
          <a:stretch/>
        </p:blipFill>
        <p:spPr>
          <a:xfrm>
            <a:off x="0" y="3679835"/>
            <a:ext cx="10601092" cy="3128428"/>
          </a:xfrm>
          <a:prstGeom prst="rect">
            <a:avLst/>
          </a:prstGeom>
        </p:spPr>
      </p:pic>
      <p:sp>
        <p:nvSpPr>
          <p:cNvPr id="16" name="TextBox 15">
            <a:extLst>
              <a:ext uri="{FF2B5EF4-FFF2-40B4-BE49-F238E27FC236}">
                <a16:creationId xmlns:a16="http://schemas.microsoft.com/office/drawing/2014/main" id="{4045C4A7-6767-5DC6-2484-A34588A50414}"/>
              </a:ext>
            </a:extLst>
          </p:cNvPr>
          <p:cNvSpPr txBox="1"/>
          <p:nvPr/>
        </p:nvSpPr>
        <p:spPr>
          <a:xfrm>
            <a:off x="9199757" y="-30346"/>
            <a:ext cx="2804724" cy="534659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our HTML and CSS using the W3C validators and adjust our CSS formatting to be clean and professional.</a:t>
            </a: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19: </a:t>
            </a:r>
            <a:r>
              <a:rPr lang="en-US" sz="2300" dirty="0">
                <a:latin typeface="Calibri" panose="020F0502020204030204" pitchFamily="34" charset="0"/>
                <a:cs typeface="Calibri" panose="020F0502020204030204" pitchFamily="34" charset="0"/>
              </a:rPr>
              <a:t>You will submit the </a:t>
            </a:r>
            <a:r>
              <a:rPr lang="en-US" sz="2300" b="1" dirty="0">
                <a:latin typeface="Calibri" panose="020F0502020204030204" pitchFamily="34" charset="0"/>
                <a:cs typeface="Calibri" panose="020F0502020204030204" pitchFamily="34" charset="0"/>
              </a:rPr>
              <a:t>html</a:t>
            </a:r>
            <a:r>
              <a:rPr lang="en-US" sz="2300" dirty="0">
                <a:latin typeface="Calibri" panose="020F0502020204030204" pitchFamily="34" charset="0"/>
                <a:cs typeface="Calibri" panose="020F0502020204030204" pitchFamily="34" charset="0"/>
              </a:rPr>
              <a:t> and </a:t>
            </a:r>
            <a:r>
              <a:rPr lang="en-US" sz="2300" b="1" dirty="0" err="1">
                <a:latin typeface="Calibri" panose="020F0502020204030204" pitchFamily="34" charset="0"/>
                <a:cs typeface="Calibri" panose="020F0502020204030204" pitchFamily="34" charset="0"/>
              </a:rPr>
              <a:t>css</a:t>
            </a:r>
            <a:r>
              <a:rPr lang="en-US" sz="2300" dirty="0">
                <a:latin typeface="Calibri" panose="020F0502020204030204" pitchFamily="34" charset="0"/>
                <a:cs typeface="Calibri" panose="020F0502020204030204" pitchFamily="34" charset="0"/>
              </a:rPr>
              <a:t> files.</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D809C8B2-BAEA-5060-30DC-91D89412E48A}"/>
              </a:ext>
            </a:extLst>
          </p:cNvPr>
          <p:cNvPicPr>
            <a:picLocks noChangeAspect="1"/>
          </p:cNvPicPr>
          <p:nvPr/>
        </p:nvPicPr>
        <p:blipFill rotWithShape="1">
          <a:blip r:embed="rId3"/>
          <a:srcRect l="1646" t="6504" r="6982" b="27805"/>
          <a:stretch/>
        </p:blipFill>
        <p:spPr>
          <a:xfrm>
            <a:off x="0" y="0"/>
            <a:ext cx="9099395" cy="3679835"/>
          </a:xfrm>
          <a:prstGeom prst="rect">
            <a:avLst/>
          </a:prstGeom>
        </p:spPr>
      </p:pic>
      <p:sp>
        <p:nvSpPr>
          <p:cNvPr id="5" name="Rectangle: Rounded Corners 4">
            <a:extLst>
              <a:ext uri="{FF2B5EF4-FFF2-40B4-BE49-F238E27FC236}">
                <a16:creationId xmlns:a16="http://schemas.microsoft.com/office/drawing/2014/main" id="{05401262-5073-2FF1-86B1-0E590A9A43B1}"/>
              </a:ext>
            </a:extLst>
          </p:cNvPr>
          <p:cNvSpPr/>
          <p:nvPr/>
        </p:nvSpPr>
        <p:spPr>
          <a:xfrm>
            <a:off x="100362" y="1313379"/>
            <a:ext cx="5068423" cy="25609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Rounded Corners 7">
            <a:extLst>
              <a:ext uri="{FF2B5EF4-FFF2-40B4-BE49-F238E27FC236}">
                <a16:creationId xmlns:a16="http://schemas.microsoft.com/office/drawing/2014/main" id="{63755FDA-BB09-0BED-7943-CEB073FCE571}"/>
              </a:ext>
            </a:extLst>
          </p:cNvPr>
          <p:cNvSpPr/>
          <p:nvPr/>
        </p:nvSpPr>
        <p:spPr>
          <a:xfrm>
            <a:off x="100361" y="3776439"/>
            <a:ext cx="5068423" cy="28260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7662442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4045C4A7-6767-5DC6-2484-A34588A50414}"/>
              </a:ext>
            </a:extLst>
          </p:cNvPr>
          <p:cNvSpPr txBox="1"/>
          <p:nvPr/>
        </p:nvSpPr>
        <p:spPr>
          <a:xfrm>
            <a:off x="-100361" y="-30346"/>
            <a:ext cx="12104842" cy="640842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20a: </a:t>
            </a:r>
            <a:r>
              <a:rPr lang="en-US" sz="2300" dirty="0">
                <a:latin typeface="Calibri" panose="020F0502020204030204" pitchFamily="34" charset="0"/>
                <a:cs typeface="Calibri" panose="020F0502020204030204" pitchFamily="34" charset="0"/>
              </a:rPr>
              <a:t>Comments like </a:t>
            </a:r>
            <a:r>
              <a:rPr lang="en-US" sz="2300" b="1" dirty="0">
                <a:latin typeface="Calibri" panose="020F0502020204030204" pitchFamily="34" charset="0"/>
                <a:cs typeface="Calibri" panose="020F0502020204030204" pitchFamily="34" charset="0"/>
              </a:rPr>
              <a:t>&lt;!--close the </a:t>
            </a:r>
            <a:r>
              <a:rPr lang="en-US" sz="2300" b="1" dirty="0" err="1">
                <a:latin typeface="Calibri" panose="020F0502020204030204" pitchFamily="34" charset="0"/>
                <a:cs typeface="Calibri" panose="020F0502020204030204" pitchFamily="34" charset="0"/>
              </a:rPr>
              <a:t>outerwrapper</a:t>
            </a:r>
            <a:r>
              <a:rPr lang="en-US" sz="2300" b="1" dirty="0">
                <a:latin typeface="Calibri" panose="020F0502020204030204" pitchFamily="34" charset="0"/>
                <a:cs typeface="Calibri" panose="020F0502020204030204" pitchFamily="34" charset="0"/>
              </a:rPr>
              <a:t>--&gt; </a:t>
            </a:r>
            <a:r>
              <a:rPr lang="en-US" sz="2300" dirty="0">
                <a:latin typeface="Calibri" panose="020F0502020204030204" pitchFamily="34" charset="0"/>
                <a:cs typeface="Calibri" panose="020F0502020204030204" pitchFamily="34" charset="0"/>
              </a:rPr>
              <a:t>are especially useful for clarifying which </a:t>
            </a:r>
            <a:r>
              <a:rPr lang="en-US" sz="2300" b="1" dirty="0">
                <a:latin typeface="Calibri" panose="020F0502020204030204" pitchFamily="34" charset="0"/>
                <a:cs typeface="Calibri" panose="020F0502020204030204" pitchFamily="34" charset="0"/>
              </a:rPr>
              <a:t>&lt;div&gt; </a:t>
            </a:r>
            <a:r>
              <a:rPr lang="en-US" sz="2300" dirty="0">
                <a:latin typeface="Calibri" panose="020F0502020204030204" pitchFamily="34" charset="0"/>
                <a:cs typeface="Calibri" panose="020F0502020204030204" pitchFamily="34" charset="0"/>
              </a:rPr>
              <a:t>tag is being closed, as </a:t>
            </a:r>
            <a:r>
              <a:rPr lang="en-US" sz="2300" b="1" dirty="0">
                <a:latin typeface="Calibri" panose="020F0502020204030204" pitchFamily="34" charset="0"/>
                <a:cs typeface="Calibri" panose="020F0502020204030204" pitchFamily="34" charset="0"/>
              </a:rPr>
              <a:t>&lt;div&gt; </a:t>
            </a:r>
            <a:r>
              <a:rPr lang="en-US" sz="2300" dirty="0">
                <a:latin typeface="Calibri" panose="020F0502020204030204" pitchFamily="34" charset="0"/>
                <a:cs typeface="Calibri" panose="020F0502020204030204" pitchFamily="34" charset="0"/>
              </a:rPr>
              <a:t>elements often nest within each other and it can be challenging to track them without comments.</a:t>
            </a:r>
          </a:p>
          <a:p>
            <a:pPr marL="342900" indent="-342900">
              <a:lnSpc>
                <a:spcPct val="150000"/>
              </a:lnSpc>
              <a:buFont typeface="Arial" panose="020B0604020202020204" pitchFamily="34" charset="0"/>
              <a:buChar char="•"/>
            </a:pPr>
            <a:endParaRPr lang="en-US" sz="2300" dirty="0">
              <a:latin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20b: </a:t>
            </a:r>
            <a:r>
              <a:rPr lang="en-US" sz="2300" dirty="0">
                <a:latin typeface="Calibri" panose="020F0502020204030204" pitchFamily="34" charset="0"/>
                <a:cs typeface="Calibri" panose="020F0502020204030204" pitchFamily="34" charset="0"/>
              </a:rPr>
              <a:t>The primary advantage of using an external stylesheet is maintainability and reusability. You can apply the same styles across multiple pages which makes it easier to keep a consistent look throughout a site, and if you need to make a change, you can do it in one place rather than editing each page individually.</a:t>
            </a:r>
          </a:p>
          <a:p>
            <a:pPr marL="342900" indent="-342900">
              <a:lnSpc>
                <a:spcPct val="150000"/>
              </a:lnSpc>
              <a:buFont typeface="Arial" panose="020B0604020202020204" pitchFamily="34" charset="0"/>
              <a:buChar char="•"/>
            </a:pPr>
            <a:endParaRPr lang="en-US" sz="2300" dirty="0">
              <a:latin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20c: </a:t>
            </a:r>
            <a:r>
              <a:rPr lang="en-US" sz="2300" dirty="0">
                <a:latin typeface="Calibri" panose="020F0502020204030204" pitchFamily="34" charset="0"/>
                <a:cs typeface="Calibri" panose="020F0502020204030204" pitchFamily="34" charset="0"/>
              </a:rPr>
              <a:t>Inline styles are useful for one-off style changes that don't merit a class by themselves or to override other styles. However, they can become hard to manage in large documents, hence they're typically used sparingly.</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3092660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6" name="Picture 5">
            <a:extLst>
              <a:ext uri="{FF2B5EF4-FFF2-40B4-BE49-F238E27FC236}">
                <a16:creationId xmlns:a16="http://schemas.microsoft.com/office/drawing/2014/main" id="{3C3F6B69-0B87-CCCF-6FCE-A47BF46936E4}"/>
              </a:ext>
            </a:extLst>
          </p:cNvPr>
          <p:cNvPicPr>
            <a:picLocks noChangeAspect="1"/>
          </p:cNvPicPr>
          <p:nvPr/>
        </p:nvPicPr>
        <p:blipFill rotWithShape="1">
          <a:blip r:embed="rId2"/>
          <a:srcRect t="7805" r="37257" b="10732"/>
          <a:stretch/>
        </p:blipFill>
        <p:spPr>
          <a:xfrm>
            <a:off x="3664970" y="630429"/>
            <a:ext cx="8527029" cy="6227571"/>
          </a:xfrm>
          <a:prstGeom prst="rect">
            <a:avLst/>
          </a:prstGeom>
        </p:spPr>
      </p:pic>
      <p:sp>
        <p:nvSpPr>
          <p:cNvPr id="7" name="TextBox 6">
            <a:extLst>
              <a:ext uri="{FF2B5EF4-FFF2-40B4-BE49-F238E27FC236}">
                <a16:creationId xmlns:a16="http://schemas.microsoft.com/office/drawing/2014/main" id="{86AF58D6-DA6C-0CE9-7EAB-C378FC65EFD3}"/>
              </a:ext>
            </a:extLst>
          </p:cNvPr>
          <p:cNvSpPr txBox="1"/>
          <p:nvPr/>
        </p:nvSpPr>
        <p:spPr>
          <a:xfrm>
            <a:off x="94592" y="836341"/>
            <a:ext cx="3351135" cy="1630190"/>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title ‘</a:t>
            </a:r>
            <a:r>
              <a:rPr lang="en-US" sz="2300" b="1" dirty="0">
                <a:latin typeface="Calibri" panose="020F0502020204030204" pitchFamily="34" charset="0"/>
                <a:cs typeface="Calibri" panose="020F0502020204030204" pitchFamily="34" charset="0"/>
              </a:rPr>
              <a:t>Durango Jewelry and Gem Shop</a:t>
            </a:r>
            <a:r>
              <a:rPr lang="en-US" sz="2300" dirty="0">
                <a:latin typeface="Calibri" panose="020F0502020204030204" pitchFamily="34" charset="0"/>
                <a:cs typeface="Calibri" panose="020F0502020204030204" pitchFamily="34" charset="0"/>
              </a:rPr>
              <a:t>’ is clear and descriptive</a:t>
            </a:r>
            <a:endParaRPr lang="en-AU" sz="2300"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663B7541-E3E2-8AF8-D1A0-FD70E3539EE6}"/>
              </a:ext>
            </a:extLst>
          </p:cNvPr>
          <p:cNvSpPr txBox="1"/>
          <p:nvPr/>
        </p:nvSpPr>
        <p:spPr>
          <a:xfrm>
            <a:off x="10247971" y="1170878"/>
            <a:ext cx="1048214" cy="446276"/>
          </a:xfrm>
          <a:prstGeom prst="rect">
            <a:avLst/>
          </a:prstGeom>
          <a:noFill/>
          <a:ln>
            <a:solidFill>
              <a:srgbClr val="FF0000"/>
            </a:solidFill>
          </a:ln>
        </p:spPr>
        <p:txBody>
          <a:bodyPr wrap="square" rtlCol="0">
            <a:spAutoFit/>
          </a:bodyPr>
          <a:lstStyle/>
          <a:p>
            <a:pPr algn="ctr"/>
            <a:r>
              <a:rPr lang="en-US" sz="2300" dirty="0">
                <a:latin typeface="Calibri" panose="020F0502020204030204" pitchFamily="34" charset="0"/>
                <a:cs typeface="Calibri" panose="020F0502020204030204" pitchFamily="34" charset="0"/>
              </a:rPr>
              <a:t>HTML</a:t>
            </a:r>
            <a:endParaRPr lang="en-AU" sz="2300" dirty="0">
              <a:latin typeface="Calibri" panose="020F0502020204030204" pitchFamily="34" charset="0"/>
              <a:cs typeface="Calibri" panose="020F0502020204030204" pitchFamily="34" charset="0"/>
            </a:endParaRPr>
          </a:p>
        </p:txBody>
      </p:sp>
      <p:pic>
        <p:nvPicPr>
          <p:cNvPr id="12" name="Picture 11">
            <a:extLst>
              <a:ext uri="{FF2B5EF4-FFF2-40B4-BE49-F238E27FC236}">
                <a16:creationId xmlns:a16="http://schemas.microsoft.com/office/drawing/2014/main" id="{74349235-F4EF-AD7B-9AD1-F02DDBC9211E}"/>
              </a:ext>
            </a:extLst>
          </p:cNvPr>
          <p:cNvPicPr>
            <a:picLocks noChangeAspect="1"/>
          </p:cNvPicPr>
          <p:nvPr/>
        </p:nvPicPr>
        <p:blipFill rotWithShape="1">
          <a:blip r:embed="rId3"/>
          <a:srcRect l="11706" t="25041" r="53356" b="55610"/>
          <a:stretch/>
        </p:blipFill>
        <p:spPr>
          <a:xfrm>
            <a:off x="-65" y="2466531"/>
            <a:ext cx="4259636" cy="1326995"/>
          </a:xfrm>
          <a:prstGeom prst="rect">
            <a:avLst/>
          </a:prstGeom>
          <a:ln>
            <a:solidFill>
              <a:srgbClr val="FF0000"/>
            </a:solidFill>
          </a:ln>
        </p:spPr>
      </p:pic>
      <p:cxnSp>
        <p:nvCxnSpPr>
          <p:cNvPr id="14" name="Straight Connector 13">
            <a:extLst>
              <a:ext uri="{FF2B5EF4-FFF2-40B4-BE49-F238E27FC236}">
                <a16:creationId xmlns:a16="http://schemas.microsoft.com/office/drawing/2014/main" id="{5FDE51ED-DE1E-B6F6-309A-DA8DA645A999}"/>
              </a:ext>
            </a:extLst>
          </p:cNvPr>
          <p:cNvCxnSpPr/>
          <p:nvPr/>
        </p:nvCxnSpPr>
        <p:spPr>
          <a:xfrm>
            <a:off x="6579220" y="1906859"/>
            <a:ext cx="1382751"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1147590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100359"/>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10" name="Picture 9">
            <a:extLst>
              <a:ext uri="{FF2B5EF4-FFF2-40B4-BE49-F238E27FC236}">
                <a16:creationId xmlns:a16="http://schemas.microsoft.com/office/drawing/2014/main" id="{C56E8939-9750-CBD9-6D21-A5E9DF65DF63}"/>
              </a:ext>
            </a:extLst>
          </p:cNvPr>
          <p:cNvPicPr>
            <a:picLocks noChangeAspect="1"/>
          </p:cNvPicPr>
          <p:nvPr/>
        </p:nvPicPr>
        <p:blipFill rotWithShape="1">
          <a:blip r:embed="rId2"/>
          <a:srcRect r="10274" b="12195"/>
          <a:stretch/>
        </p:blipFill>
        <p:spPr>
          <a:xfrm>
            <a:off x="724829" y="545797"/>
            <a:ext cx="11467169" cy="6312204"/>
          </a:xfrm>
          <a:prstGeom prst="rect">
            <a:avLst/>
          </a:prstGeom>
        </p:spPr>
      </p:pic>
      <p:sp>
        <p:nvSpPr>
          <p:cNvPr id="3" name="TextBox 2">
            <a:extLst>
              <a:ext uri="{FF2B5EF4-FFF2-40B4-BE49-F238E27FC236}">
                <a16:creationId xmlns:a16="http://schemas.microsoft.com/office/drawing/2014/main" id="{BE21B2BE-C849-560D-7F74-AA83F7E25D8E}"/>
              </a:ext>
            </a:extLst>
          </p:cNvPr>
          <p:cNvSpPr txBox="1"/>
          <p:nvPr/>
        </p:nvSpPr>
        <p:spPr>
          <a:xfrm>
            <a:off x="7415561" y="2598234"/>
            <a:ext cx="3646450" cy="1154162"/>
          </a:xfrm>
          <a:prstGeom prst="rect">
            <a:avLst/>
          </a:prstGeom>
          <a:noFill/>
          <a:ln>
            <a:solidFill>
              <a:srgbClr val="FF0000"/>
            </a:solidFill>
          </a:ln>
        </p:spPr>
        <p:txBody>
          <a:bodyPr wrap="square" rtlCol="0">
            <a:spAutoFit/>
          </a:bodyPr>
          <a:lstStyle/>
          <a:p>
            <a:pPr algn="ctr"/>
            <a:r>
              <a:rPr lang="en-US" sz="2300" dirty="0">
                <a:latin typeface="Calibri" panose="020F0502020204030204" pitchFamily="34" charset="0"/>
                <a:cs typeface="Calibri" panose="020F0502020204030204" pitchFamily="34" charset="0"/>
              </a:rPr>
              <a:t>HTML completed!</a:t>
            </a:r>
          </a:p>
          <a:p>
            <a:pPr algn="ctr"/>
            <a:r>
              <a:rPr lang="en-US" sz="2300" dirty="0">
                <a:latin typeface="Calibri" panose="020F0502020204030204" pitchFamily="34" charset="0"/>
                <a:cs typeface="Calibri" panose="020F0502020204030204" pitchFamily="34" charset="0"/>
              </a:rPr>
              <a:t>We need to change the style file</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6099483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6" name="Picture 5">
            <a:extLst>
              <a:ext uri="{FF2B5EF4-FFF2-40B4-BE49-F238E27FC236}">
                <a16:creationId xmlns:a16="http://schemas.microsoft.com/office/drawing/2014/main" id="{CF60C108-F55F-85D1-9A1F-B18F063BAACE}"/>
              </a:ext>
            </a:extLst>
          </p:cNvPr>
          <p:cNvPicPr>
            <a:picLocks noChangeAspect="1"/>
          </p:cNvPicPr>
          <p:nvPr/>
        </p:nvPicPr>
        <p:blipFill rotWithShape="1">
          <a:blip r:embed="rId2"/>
          <a:srcRect r="61312" b="8455"/>
          <a:stretch/>
        </p:blipFill>
        <p:spPr>
          <a:xfrm>
            <a:off x="7380572" y="579863"/>
            <a:ext cx="4716836" cy="6278137"/>
          </a:xfrm>
          <a:prstGeom prst="rect">
            <a:avLst/>
          </a:prstGeom>
        </p:spPr>
      </p:pic>
      <p:sp>
        <p:nvSpPr>
          <p:cNvPr id="7" name="TextBox 6">
            <a:extLst>
              <a:ext uri="{FF2B5EF4-FFF2-40B4-BE49-F238E27FC236}">
                <a16:creationId xmlns:a16="http://schemas.microsoft.com/office/drawing/2014/main" id="{72D8E573-B6CE-FDD9-0862-946C4C8492AD}"/>
              </a:ext>
            </a:extLst>
          </p:cNvPr>
          <p:cNvSpPr txBox="1"/>
          <p:nvPr/>
        </p:nvSpPr>
        <p:spPr>
          <a:xfrm>
            <a:off x="94592" y="1003610"/>
            <a:ext cx="7220608" cy="3753848"/>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In the HTML file, you should replace </a:t>
            </a:r>
            <a:r>
              <a:rPr lang="en-US" sz="2300" b="1" dirty="0">
                <a:latin typeface="Calibri" panose="020F0502020204030204" pitchFamily="34" charset="0"/>
                <a:cs typeface="Calibri" panose="020F0502020204030204" pitchFamily="34" charset="0"/>
              </a:rPr>
              <a:t>[Your Name] </a:t>
            </a:r>
            <a:r>
              <a:rPr lang="en-US" sz="2300" dirty="0">
                <a:latin typeface="Calibri" panose="020F0502020204030204" pitchFamily="34" charset="0"/>
                <a:cs typeface="Calibri" panose="020F0502020204030204" pitchFamily="34" charset="0"/>
              </a:rPr>
              <a:t>with your name, </a:t>
            </a:r>
            <a:r>
              <a:rPr lang="en-US" sz="2300" b="1" dirty="0">
                <a:latin typeface="Calibri" panose="020F0502020204030204" pitchFamily="34" charset="0"/>
                <a:cs typeface="Calibri" panose="020F0502020204030204" pitchFamily="34" charset="0"/>
              </a:rPr>
              <a:t>[Today's Date] </a:t>
            </a:r>
            <a:r>
              <a:rPr lang="en-US" sz="2300" dirty="0">
                <a:latin typeface="Calibri" panose="020F0502020204030204" pitchFamily="34" charset="0"/>
                <a:cs typeface="Calibri" panose="020F0502020204030204" pitchFamily="34" charset="0"/>
              </a:rPr>
              <a:t>with the current date, and </a:t>
            </a:r>
            <a:r>
              <a:rPr lang="en-US" sz="2300" b="1" dirty="0">
                <a:latin typeface="Calibri" panose="020F0502020204030204" pitchFamily="34" charset="0"/>
                <a:cs typeface="Calibri" panose="020F0502020204030204" pitchFamily="34" charset="0"/>
              </a:rPr>
              <a:t>[email] </a:t>
            </a:r>
            <a:r>
              <a:rPr lang="en-US" sz="2300" dirty="0">
                <a:latin typeface="Calibri" panose="020F0502020204030204" pitchFamily="34" charset="0"/>
                <a:cs typeface="Calibri" panose="020F0502020204030204" pitchFamily="34" charset="0"/>
              </a:rPr>
              <a:t>with the actual contact email. The image source </a:t>
            </a:r>
            <a:r>
              <a:rPr lang="en-US" sz="2300" b="1" dirty="0">
                <a:latin typeface="Calibri" panose="020F0502020204030204" pitchFamily="34" charset="0"/>
                <a:cs typeface="Calibri" panose="020F0502020204030204" pitchFamily="34" charset="0"/>
              </a:rPr>
              <a:t>image.jpg </a:t>
            </a:r>
            <a:r>
              <a:rPr lang="en-US" sz="2300" dirty="0">
                <a:latin typeface="Calibri" panose="020F0502020204030204" pitchFamily="34" charset="0"/>
                <a:cs typeface="Calibri" panose="020F0502020204030204" pitchFamily="34" charset="0"/>
              </a:rPr>
              <a:t>should be the path to the image provided. In the CSS file, replace </a:t>
            </a:r>
            <a:r>
              <a:rPr lang="en-US" sz="2300" b="1" dirty="0">
                <a:latin typeface="Calibri" panose="020F0502020204030204" pitchFamily="34" charset="0"/>
                <a:cs typeface="Calibri" panose="020F0502020204030204" pitchFamily="34" charset="0"/>
              </a:rPr>
              <a:t>#DAE5D0 </a:t>
            </a:r>
            <a:r>
              <a:rPr lang="en-US" sz="2300" dirty="0">
                <a:latin typeface="Calibri" panose="020F0502020204030204" pitchFamily="34" charset="0"/>
                <a:cs typeface="Calibri" panose="020F0502020204030204" pitchFamily="34" charset="0"/>
              </a:rPr>
              <a:t>with the actual background color you desire, and adjust other styles as needed to match the design you're aiming for.</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2933790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4" name="Picture 3">
            <a:extLst>
              <a:ext uri="{FF2B5EF4-FFF2-40B4-BE49-F238E27FC236}">
                <a16:creationId xmlns:a16="http://schemas.microsoft.com/office/drawing/2014/main" id="{8ED3825A-C504-0A47-B615-EF60FEAE2FF6}"/>
              </a:ext>
            </a:extLst>
          </p:cNvPr>
          <p:cNvPicPr>
            <a:picLocks noChangeAspect="1"/>
          </p:cNvPicPr>
          <p:nvPr/>
        </p:nvPicPr>
        <p:blipFill rotWithShape="1">
          <a:blip r:embed="rId2"/>
          <a:srcRect l="4938" r="25183" b="8455"/>
          <a:stretch/>
        </p:blipFill>
        <p:spPr>
          <a:xfrm>
            <a:off x="2910468" y="-5559"/>
            <a:ext cx="9313959" cy="6863559"/>
          </a:xfrm>
          <a:prstGeom prst="rect">
            <a:avLst/>
          </a:prstGeom>
        </p:spPr>
      </p:pic>
    </p:spTree>
    <p:extLst>
      <p:ext uri="{BB962C8B-B14F-4D97-AF65-F5344CB8AC3E}">
        <p14:creationId xmlns:p14="http://schemas.microsoft.com/office/powerpoint/2010/main" val="21232701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3A0C606-8177-F64B-A6B6-7ED7C2042F53}"/>
              </a:ext>
            </a:extLst>
          </p:cNvPr>
          <p:cNvPicPr>
            <a:picLocks noChangeAspect="1"/>
          </p:cNvPicPr>
          <p:nvPr/>
        </p:nvPicPr>
        <p:blipFill rotWithShape="1">
          <a:blip r:embed="rId2"/>
          <a:srcRect l="13080" t="26505" r="45674" b="54959"/>
          <a:stretch/>
        </p:blipFill>
        <p:spPr>
          <a:xfrm>
            <a:off x="0" y="2751514"/>
            <a:ext cx="7767290" cy="1963504"/>
          </a:xfrm>
          <a:prstGeom prst="rect">
            <a:avLst/>
          </a:prstGeom>
        </p:spPr>
      </p:pic>
      <p:pic>
        <p:nvPicPr>
          <p:cNvPr id="12" name="Picture 11">
            <a:extLst>
              <a:ext uri="{FF2B5EF4-FFF2-40B4-BE49-F238E27FC236}">
                <a16:creationId xmlns:a16="http://schemas.microsoft.com/office/drawing/2014/main" id="{638D0EB3-95D4-87E8-39BD-2050045C13C2}"/>
              </a:ext>
            </a:extLst>
          </p:cNvPr>
          <p:cNvPicPr>
            <a:picLocks noChangeAspect="1"/>
          </p:cNvPicPr>
          <p:nvPr/>
        </p:nvPicPr>
        <p:blipFill rotWithShape="1">
          <a:blip r:embed="rId3"/>
          <a:srcRect l="11981" t="25203" r="46136" b="56586"/>
          <a:stretch/>
        </p:blipFill>
        <p:spPr>
          <a:xfrm>
            <a:off x="0" y="4986988"/>
            <a:ext cx="7649738" cy="1871012"/>
          </a:xfrm>
          <a:prstGeom prst="rect">
            <a:avLst/>
          </a:prstGeom>
          <a:ln>
            <a:noFill/>
          </a:ln>
        </p:spPr>
      </p:pic>
      <p:sp>
        <p:nvSpPr>
          <p:cNvPr id="2" name="TextBox 1">
            <a:extLst>
              <a:ext uri="{FF2B5EF4-FFF2-40B4-BE49-F238E27FC236}">
                <a16:creationId xmlns:a16="http://schemas.microsoft.com/office/drawing/2014/main" id="{E65AA3C2-9E37-8530-E410-C520D056B4B6}"/>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Styling a Webpage</a:t>
            </a:r>
          </a:p>
        </p:txBody>
      </p:sp>
    </p:spTree>
    <p:extLst>
      <p:ext uri="{BB962C8B-B14F-4D97-AF65-F5344CB8AC3E}">
        <p14:creationId xmlns:p14="http://schemas.microsoft.com/office/powerpoint/2010/main" val="82220203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5AA3C2-9E37-8530-E410-C520D056B4B6}"/>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Styling a Webpage</a:t>
            </a:r>
          </a:p>
        </p:txBody>
      </p:sp>
      <p:pic>
        <p:nvPicPr>
          <p:cNvPr id="3" name="Picture 2">
            <a:extLst>
              <a:ext uri="{FF2B5EF4-FFF2-40B4-BE49-F238E27FC236}">
                <a16:creationId xmlns:a16="http://schemas.microsoft.com/office/drawing/2014/main" id="{1A5E2E9D-67D8-4800-95F7-DF4C9C8BA363}"/>
              </a:ext>
            </a:extLst>
          </p:cNvPr>
          <p:cNvPicPr>
            <a:picLocks noChangeAspect="1"/>
          </p:cNvPicPr>
          <p:nvPr/>
        </p:nvPicPr>
        <p:blipFill>
          <a:blip r:embed="rId2"/>
          <a:stretch>
            <a:fillRect/>
          </a:stretch>
        </p:blipFill>
        <p:spPr>
          <a:xfrm>
            <a:off x="0" y="705579"/>
            <a:ext cx="11887200" cy="6152421"/>
          </a:xfrm>
          <a:prstGeom prst="rect">
            <a:avLst/>
          </a:prstGeom>
        </p:spPr>
      </p:pic>
    </p:spTree>
    <p:extLst>
      <p:ext uri="{BB962C8B-B14F-4D97-AF65-F5344CB8AC3E}">
        <p14:creationId xmlns:p14="http://schemas.microsoft.com/office/powerpoint/2010/main" val="223594791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D1316-58E5-6692-E5F1-304E91BD5F5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5BADBF-C723-F08C-5EBF-47B878C25F6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CAA6F32-ABA9-642A-CBE4-04BDD1729280}"/>
              </a:ext>
            </a:extLst>
          </p:cNvPr>
          <p:cNvSpPr txBox="1"/>
          <p:nvPr/>
        </p:nvSpPr>
        <p:spPr>
          <a:xfrm>
            <a:off x="0" y="642938"/>
            <a:ext cx="12192000" cy="4549835"/>
          </a:xfrm>
          <a:prstGeom prst="rect">
            <a:avLst/>
          </a:prstGeom>
          <a:noFill/>
        </p:spPr>
        <p:txBody>
          <a:bodyPr wrap="square">
            <a:spAutoFit/>
          </a:bodyPr>
          <a:lstStyle/>
          <a:p>
            <a:pPr>
              <a:lnSpc>
                <a:spcPct val="150000"/>
              </a:lnSpc>
              <a:buNone/>
            </a:pPr>
            <a:r>
              <a:rPr lang="en-US" sz="2800" b="1" dirty="0">
                <a:latin typeface="Calibir"/>
              </a:rPr>
              <a:t>Question 1</a:t>
            </a:r>
          </a:p>
          <a:p>
            <a:pPr>
              <a:lnSpc>
                <a:spcPct val="150000"/>
              </a:lnSpc>
              <a:buNone/>
            </a:pPr>
            <a:r>
              <a:rPr lang="en-US" sz="2800" b="1" dirty="0">
                <a:latin typeface="Calibir"/>
              </a:rPr>
              <a:t>What is the filename you must save your template as in Project 1?</a:t>
            </a:r>
            <a:endParaRPr lang="en-US" sz="2800" dirty="0">
              <a:latin typeface="Calibir"/>
            </a:endParaRPr>
          </a:p>
          <a:p>
            <a:pPr>
              <a:lnSpc>
                <a:spcPct val="150000"/>
              </a:lnSpc>
              <a:buNone/>
            </a:pPr>
            <a:r>
              <a:rPr lang="en-US" sz="2800" dirty="0">
                <a:latin typeface="Calibir"/>
              </a:rPr>
              <a:t>A. template02.html</a:t>
            </a:r>
            <a:br>
              <a:rPr lang="en-US" sz="2800" dirty="0">
                <a:latin typeface="Calibir"/>
              </a:rPr>
            </a:br>
            <a:r>
              <a:rPr lang="en-US" sz="2800" dirty="0">
                <a:latin typeface="Calibir"/>
              </a:rPr>
              <a:t>B. template01.html</a:t>
            </a:r>
            <a:br>
              <a:rPr lang="en-US" sz="2800" dirty="0">
                <a:latin typeface="Calibir"/>
              </a:rPr>
            </a:br>
            <a:r>
              <a:rPr lang="en-US" sz="2800" dirty="0">
                <a:latin typeface="Calibir"/>
              </a:rPr>
              <a:t>C. wireframe.html</a:t>
            </a:r>
            <a:br>
              <a:rPr lang="en-US" sz="2800" dirty="0">
                <a:latin typeface="Calibir"/>
              </a:rPr>
            </a:br>
            <a:r>
              <a:rPr lang="en-US" sz="2800" dirty="0">
                <a:latin typeface="Calibir"/>
              </a:rPr>
              <a:t>D. mainpage.html</a:t>
            </a:r>
          </a:p>
          <a:p>
            <a:pPr>
              <a:lnSpc>
                <a:spcPct val="150000"/>
              </a:lnSpc>
              <a:buNone/>
            </a:pPr>
            <a:r>
              <a:rPr lang="en-US" sz="2800" dirty="0">
                <a:latin typeface="Calibir"/>
              </a:rPr>
              <a:t>A. template02.html</a:t>
            </a:r>
          </a:p>
        </p:txBody>
      </p:sp>
      <p:sp>
        <p:nvSpPr>
          <p:cNvPr id="8" name="TextBox 7">
            <a:extLst>
              <a:ext uri="{FF2B5EF4-FFF2-40B4-BE49-F238E27FC236}">
                <a16:creationId xmlns:a16="http://schemas.microsoft.com/office/drawing/2014/main" id="{9AA029DD-F3EA-5EA2-FE38-304214E7EEDA}"/>
              </a:ext>
            </a:extLst>
          </p:cNvPr>
          <p:cNvSpPr txBox="1"/>
          <p:nvPr/>
        </p:nvSpPr>
        <p:spPr>
          <a:xfrm>
            <a:off x="5109567" y="2477457"/>
            <a:ext cx="6175772" cy="2610843"/>
          </a:xfrm>
          <a:prstGeom prst="rect">
            <a:avLst/>
          </a:prstGeom>
          <a:noFill/>
        </p:spPr>
        <p:txBody>
          <a:bodyPr wrap="square">
            <a:spAutoFit/>
          </a:bodyPr>
          <a:lstStyle/>
          <a:p>
            <a:pPr>
              <a:lnSpc>
                <a:spcPct val="150000"/>
              </a:lnSpc>
              <a:buNone/>
            </a:pPr>
            <a:r>
              <a:rPr lang="en-US" sz="2800" dirty="0">
                <a:latin typeface="Calibir"/>
              </a:rPr>
              <a:t>The project instructions say the template file must be saved as template02.html so the correct file can be identified and submitted.</a:t>
            </a:r>
          </a:p>
        </p:txBody>
      </p:sp>
      <p:sp>
        <p:nvSpPr>
          <p:cNvPr id="9" name="Rectangle: Rounded Corners 8">
            <a:extLst>
              <a:ext uri="{FF2B5EF4-FFF2-40B4-BE49-F238E27FC236}">
                <a16:creationId xmlns:a16="http://schemas.microsoft.com/office/drawing/2014/main" id="{3601FF6E-D8A2-5441-3A99-3DC4DB266CBA}"/>
              </a:ext>
            </a:extLst>
          </p:cNvPr>
          <p:cNvSpPr/>
          <p:nvPr/>
        </p:nvSpPr>
        <p:spPr>
          <a:xfrm>
            <a:off x="0" y="2078831"/>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4630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C2DE-0377-BA40-5D00-41822CC389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9702BAE-485E-B7ED-50DC-C6A9460014E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10D4D53-B456-17C0-995E-6801C02ECDBA}"/>
              </a:ext>
            </a:extLst>
          </p:cNvPr>
          <p:cNvSpPr txBox="1"/>
          <p:nvPr/>
        </p:nvSpPr>
        <p:spPr>
          <a:xfrm>
            <a:off x="0" y="642938"/>
            <a:ext cx="12192000" cy="4549835"/>
          </a:xfrm>
          <a:prstGeom prst="rect">
            <a:avLst/>
          </a:prstGeom>
          <a:noFill/>
        </p:spPr>
        <p:txBody>
          <a:bodyPr wrap="square">
            <a:spAutoFit/>
          </a:bodyPr>
          <a:lstStyle/>
          <a:p>
            <a:pPr>
              <a:lnSpc>
                <a:spcPct val="150000"/>
              </a:lnSpc>
            </a:pPr>
            <a:r>
              <a:rPr lang="en-US" sz="2800" b="1" dirty="0">
                <a:latin typeface="Calibir"/>
              </a:rPr>
              <a:t>Question 2</a:t>
            </a:r>
          </a:p>
          <a:p>
            <a:pPr>
              <a:lnSpc>
                <a:spcPct val="150000"/>
              </a:lnSpc>
            </a:pPr>
            <a:r>
              <a:rPr lang="en-US" sz="2800" b="1" dirty="0">
                <a:latin typeface="Calibir"/>
              </a:rPr>
              <a:t>What HTML element contains the comment questions you must replace with research answers?</a:t>
            </a:r>
            <a:endParaRPr lang="en-US" sz="2800" dirty="0">
              <a:latin typeface="Calibir"/>
            </a:endParaRPr>
          </a:p>
          <a:p>
            <a:pPr>
              <a:lnSpc>
                <a:spcPct val="150000"/>
              </a:lnSpc>
            </a:pPr>
            <a:r>
              <a:rPr lang="en-US" sz="2800" dirty="0">
                <a:latin typeface="Calibir"/>
              </a:rPr>
              <a:t>A. title</a:t>
            </a:r>
            <a:br>
              <a:rPr lang="en-US" sz="2800" dirty="0">
                <a:latin typeface="Calibir"/>
              </a:rPr>
            </a:br>
            <a:r>
              <a:rPr lang="en-US" sz="2800" dirty="0">
                <a:latin typeface="Calibir"/>
              </a:rPr>
              <a:t>B. body</a:t>
            </a:r>
            <a:br>
              <a:rPr lang="en-US" sz="2800" dirty="0">
                <a:latin typeface="Calibir"/>
              </a:rPr>
            </a:br>
            <a:r>
              <a:rPr lang="en-US" sz="2800" dirty="0">
                <a:latin typeface="Calibir"/>
              </a:rPr>
              <a:t>C. div</a:t>
            </a:r>
            <a:br>
              <a:rPr lang="en-US" sz="2800" dirty="0">
                <a:latin typeface="Calibir"/>
              </a:rPr>
            </a:br>
            <a:r>
              <a:rPr lang="en-US" sz="2800" dirty="0">
                <a:latin typeface="Calibir"/>
              </a:rPr>
              <a:t>D. footer</a:t>
            </a:r>
          </a:p>
        </p:txBody>
      </p:sp>
      <p:sp>
        <p:nvSpPr>
          <p:cNvPr id="8" name="TextBox 7">
            <a:extLst>
              <a:ext uri="{FF2B5EF4-FFF2-40B4-BE49-F238E27FC236}">
                <a16:creationId xmlns:a16="http://schemas.microsoft.com/office/drawing/2014/main" id="{38BE154C-C619-75F6-F2FC-767D57E805F7}"/>
              </a:ext>
            </a:extLst>
          </p:cNvPr>
          <p:cNvSpPr txBox="1"/>
          <p:nvPr/>
        </p:nvSpPr>
        <p:spPr>
          <a:xfrm>
            <a:off x="5109567" y="2477457"/>
            <a:ext cx="6175772" cy="1964512"/>
          </a:xfrm>
          <a:prstGeom prst="rect">
            <a:avLst/>
          </a:prstGeom>
          <a:noFill/>
        </p:spPr>
        <p:txBody>
          <a:bodyPr wrap="square">
            <a:spAutoFit/>
          </a:bodyPr>
          <a:lstStyle/>
          <a:p>
            <a:pPr>
              <a:lnSpc>
                <a:spcPct val="150000"/>
              </a:lnSpc>
            </a:pPr>
            <a:r>
              <a:rPr lang="en-US" sz="2800" dirty="0">
                <a:latin typeface="Calibir"/>
              </a:rPr>
              <a:t>The title element contains the comment questions that need to be replaced with research answers.</a:t>
            </a:r>
          </a:p>
        </p:txBody>
      </p:sp>
      <p:sp>
        <p:nvSpPr>
          <p:cNvPr id="9" name="Rectangle: Rounded Corners 8">
            <a:extLst>
              <a:ext uri="{FF2B5EF4-FFF2-40B4-BE49-F238E27FC236}">
                <a16:creationId xmlns:a16="http://schemas.microsoft.com/office/drawing/2014/main" id="{F5DC3117-2E39-C870-B514-60EBACA838F0}"/>
              </a:ext>
            </a:extLst>
          </p:cNvPr>
          <p:cNvSpPr/>
          <p:nvPr/>
        </p:nvSpPr>
        <p:spPr>
          <a:xfrm>
            <a:off x="0" y="2721768"/>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6920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E2630-0E04-5617-EC6B-9B125B882A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929C7BA-10C5-D2A0-B0DF-A6205C857F3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6D7E3F1-A6BC-A68F-EFFA-714D4E90D18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3</a:t>
            </a:r>
          </a:p>
          <a:p>
            <a:pPr>
              <a:lnSpc>
                <a:spcPct val="150000"/>
              </a:lnSpc>
            </a:pPr>
            <a:r>
              <a:rPr lang="en-US" sz="2800" b="1" dirty="0">
                <a:latin typeface="Calibir"/>
              </a:rPr>
              <a:t>Where should the research website addresses be recorded?</a:t>
            </a:r>
            <a:endParaRPr lang="en-US" sz="2800" dirty="0">
              <a:latin typeface="Calibir"/>
            </a:endParaRPr>
          </a:p>
          <a:p>
            <a:pPr>
              <a:lnSpc>
                <a:spcPct val="150000"/>
              </a:lnSpc>
            </a:pPr>
            <a:r>
              <a:rPr lang="en-US" sz="2800" dirty="0">
                <a:latin typeface="Calibir"/>
              </a:rPr>
              <a:t>A. apply02.docx</a:t>
            </a:r>
            <a:br>
              <a:rPr lang="en-US" sz="2800" dirty="0">
                <a:latin typeface="Calibir"/>
              </a:rPr>
            </a:br>
            <a:r>
              <a:rPr lang="en-US" sz="2800" dirty="0">
                <a:latin typeface="Calibir"/>
              </a:rPr>
              <a:t>B. webpublishing.docx</a:t>
            </a:r>
            <a:br>
              <a:rPr lang="en-US" sz="2800" dirty="0">
                <a:latin typeface="Calibir"/>
              </a:rPr>
            </a:br>
            <a:r>
              <a:rPr lang="en-US" sz="2800" dirty="0">
                <a:latin typeface="Calibir"/>
              </a:rPr>
              <a:t>C. portfolio.docx</a:t>
            </a:r>
            <a:br>
              <a:rPr lang="en-US" sz="2800" dirty="0">
                <a:latin typeface="Calibir"/>
              </a:rPr>
            </a:br>
            <a:r>
              <a:rPr lang="en-US" sz="2800" dirty="0">
                <a:latin typeface="Calibir"/>
              </a:rPr>
              <a:t>D. wireframe02.docx</a:t>
            </a:r>
          </a:p>
        </p:txBody>
      </p:sp>
      <p:sp>
        <p:nvSpPr>
          <p:cNvPr id="8" name="TextBox 7">
            <a:extLst>
              <a:ext uri="{FF2B5EF4-FFF2-40B4-BE49-F238E27FC236}">
                <a16:creationId xmlns:a16="http://schemas.microsoft.com/office/drawing/2014/main" id="{2D643B29-B5F8-9509-7FA8-580973E4B500}"/>
              </a:ext>
            </a:extLst>
          </p:cNvPr>
          <p:cNvSpPr txBox="1"/>
          <p:nvPr/>
        </p:nvSpPr>
        <p:spPr>
          <a:xfrm>
            <a:off x="5109567" y="2477457"/>
            <a:ext cx="6175772" cy="1318181"/>
          </a:xfrm>
          <a:prstGeom prst="rect">
            <a:avLst/>
          </a:prstGeom>
          <a:noFill/>
        </p:spPr>
        <p:txBody>
          <a:bodyPr wrap="square">
            <a:spAutoFit/>
          </a:bodyPr>
          <a:lstStyle/>
          <a:p>
            <a:pPr>
              <a:lnSpc>
                <a:spcPct val="150000"/>
              </a:lnSpc>
            </a:pPr>
            <a:r>
              <a:rPr lang="en-US" sz="2800" dirty="0">
                <a:latin typeface="Calibir"/>
              </a:rPr>
              <a:t>All website links and research references must be saved in apply02.docx.</a:t>
            </a:r>
          </a:p>
        </p:txBody>
      </p:sp>
      <p:sp>
        <p:nvSpPr>
          <p:cNvPr id="9" name="Rectangle: Rounded Corners 8">
            <a:extLst>
              <a:ext uri="{FF2B5EF4-FFF2-40B4-BE49-F238E27FC236}">
                <a16:creationId xmlns:a16="http://schemas.microsoft.com/office/drawing/2014/main" id="{BCBEB680-EDD1-7569-D00C-2D181E725619}"/>
              </a:ext>
            </a:extLst>
          </p:cNvPr>
          <p:cNvSpPr/>
          <p:nvPr/>
        </p:nvSpPr>
        <p:spPr>
          <a:xfrm>
            <a:off x="0" y="2114549"/>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705258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CD074-7133-4185-61A4-A09AD96A032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98D740-11A8-0D13-DBD6-F0C33250C27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65397CD9-9140-40DC-AAE8-B156E0EE9CA0}"/>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4</a:t>
            </a:r>
          </a:p>
          <a:p>
            <a:pPr>
              <a:lnSpc>
                <a:spcPct val="150000"/>
              </a:lnSpc>
            </a:pPr>
            <a:r>
              <a:rPr lang="en-US" sz="2800" b="1" dirty="0">
                <a:latin typeface="Calibir"/>
              </a:rPr>
              <a:t>Which semantic element is </a:t>
            </a:r>
            <a:r>
              <a:rPr lang="en-US" sz="2800" b="1" i="1" dirty="0">
                <a:latin typeface="Calibir"/>
              </a:rPr>
              <a:t>not</a:t>
            </a:r>
            <a:r>
              <a:rPr lang="en-US" sz="2800" b="1" dirty="0">
                <a:latin typeface="Calibir"/>
              </a:rPr>
              <a:t> listed as part of the wireframe to be researched?</a:t>
            </a:r>
            <a:endParaRPr lang="en-US" sz="2800" dirty="0">
              <a:latin typeface="Calibir"/>
            </a:endParaRPr>
          </a:p>
          <a:p>
            <a:pPr>
              <a:lnSpc>
                <a:spcPct val="150000"/>
              </a:lnSpc>
            </a:pPr>
            <a:r>
              <a:rPr lang="en-US" sz="2800" dirty="0">
                <a:latin typeface="Calibir"/>
              </a:rPr>
              <a:t>A. header</a:t>
            </a:r>
            <a:br>
              <a:rPr lang="en-US" sz="2800" dirty="0">
                <a:latin typeface="Calibir"/>
              </a:rPr>
            </a:br>
            <a:r>
              <a:rPr lang="en-US" sz="2800" dirty="0">
                <a:latin typeface="Calibir"/>
              </a:rPr>
              <a:t>B. aside</a:t>
            </a:r>
          </a:p>
          <a:p>
            <a:pPr>
              <a:lnSpc>
                <a:spcPct val="150000"/>
              </a:lnSpc>
            </a:pPr>
            <a:r>
              <a:rPr lang="en-US" sz="2800" dirty="0">
                <a:latin typeface="Calibir"/>
              </a:rPr>
              <a:t>C. nav</a:t>
            </a:r>
            <a:br>
              <a:rPr lang="en-US" sz="2800" dirty="0">
                <a:latin typeface="Calibir"/>
              </a:rPr>
            </a:br>
            <a:r>
              <a:rPr lang="en-US" sz="2800" dirty="0">
                <a:latin typeface="Calibir"/>
              </a:rPr>
              <a:t>D. main</a:t>
            </a:r>
          </a:p>
        </p:txBody>
      </p:sp>
      <p:sp>
        <p:nvSpPr>
          <p:cNvPr id="8" name="TextBox 7">
            <a:extLst>
              <a:ext uri="{FF2B5EF4-FFF2-40B4-BE49-F238E27FC236}">
                <a16:creationId xmlns:a16="http://schemas.microsoft.com/office/drawing/2014/main" id="{7E27D053-BDDD-B5C0-2619-00DE7DDC7138}"/>
              </a:ext>
            </a:extLst>
          </p:cNvPr>
          <p:cNvSpPr txBox="1"/>
          <p:nvPr/>
        </p:nvSpPr>
        <p:spPr>
          <a:xfrm>
            <a:off x="5109567" y="2477457"/>
            <a:ext cx="6175772" cy="1318181"/>
          </a:xfrm>
          <a:prstGeom prst="rect">
            <a:avLst/>
          </a:prstGeom>
          <a:noFill/>
        </p:spPr>
        <p:txBody>
          <a:bodyPr wrap="square">
            <a:spAutoFit/>
          </a:bodyPr>
          <a:lstStyle/>
          <a:p>
            <a:pPr>
              <a:lnSpc>
                <a:spcPct val="150000"/>
              </a:lnSpc>
            </a:pPr>
            <a:r>
              <a:rPr lang="en-US" sz="2800" dirty="0">
                <a:latin typeface="Calibir"/>
              </a:rPr>
              <a:t>The wireframe research includes header, nav, and main, but not aside.</a:t>
            </a:r>
          </a:p>
        </p:txBody>
      </p:sp>
      <p:sp>
        <p:nvSpPr>
          <p:cNvPr id="9" name="Rectangle: Rounded Corners 8">
            <a:extLst>
              <a:ext uri="{FF2B5EF4-FFF2-40B4-BE49-F238E27FC236}">
                <a16:creationId xmlns:a16="http://schemas.microsoft.com/office/drawing/2014/main" id="{0C76DE1A-41C5-869A-60EA-58247CDB6F29}"/>
              </a:ext>
            </a:extLst>
          </p:cNvPr>
          <p:cNvSpPr/>
          <p:nvPr/>
        </p:nvSpPr>
        <p:spPr>
          <a:xfrm>
            <a:off x="0" y="2707480"/>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299959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57519-BA8F-318C-EF2C-ED92B160307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92F332-E8F4-B1D1-F352-03176B6875E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D467617-50CB-0703-28F4-4AE7FD7B0AB7}"/>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5</a:t>
            </a:r>
          </a:p>
          <a:p>
            <a:pPr>
              <a:lnSpc>
                <a:spcPct val="150000"/>
              </a:lnSpc>
            </a:pPr>
            <a:r>
              <a:rPr lang="en-US" sz="2800" b="1" dirty="0">
                <a:latin typeface="Calibir"/>
              </a:rPr>
              <a:t>What message must the W3C validator show after successful validation?</a:t>
            </a:r>
            <a:endParaRPr lang="en-US" sz="2800" dirty="0">
              <a:latin typeface="Calibir"/>
            </a:endParaRPr>
          </a:p>
          <a:p>
            <a:pPr>
              <a:lnSpc>
                <a:spcPct val="150000"/>
              </a:lnSpc>
            </a:pPr>
            <a:r>
              <a:rPr lang="en-US" sz="2800" dirty="0">
                <a:latin typeface="Calibir"/>
              </a:rPr>
              <a:t>A. No warnings found</a:t>
            </a:r>
            <a:br>
              <a:rPr lang="en-US" sz="2800" dirty="0">
                <a:latin typeface="Calibir"/>
              </a:rPr>
            </a:br>
            <a:r>
              <a:rPr lang="en-US" sz="2800" dirty="0">
                <a:latin typeface="Calibir"/>
              </a:rPr>
              <a:t>B. Validation passed</a:t>
            </a:r>
            <a:br>
              <a:rPr lang="en-US" sz="2800" dirty="0">
                <a:latin typeface="Calibir"/>
              </a:rPr>
            </a:br>
            <a:r>
              <a:rPr lang="en-US" sz="2800" dirty="0">
                <a:latin typeface="Calibir"/>
              </a:rPr>
              <a:t>C. This document was successfully checked as HTML5!</a:t>
            </a:r>
            <a:br>
              <a:rPr lang="en-US" sz="2800" dirty="0">
                <a:latin typeface="Calibir"/>
              </a:rPr>
            </a:br>
            <a:r>
              <a:rPr lang="en-US" sz="2800" dirty="0">
                <a:latin typeface="Calibir"/>
              </a:rPr>
              <a:t>D. HTML verified</a:t>
            </a:r>
          </a:p>
        </p:txBody>
      </p:sp>
      <p:sp>
        <p:nvSpPr>
          <p:cNvPr id="8" name="TextBox 7">
            <a:extLst>
              <a:ext uri="{FF2B5EF4-FFF2-40B4-BE49-F238E27FC236}">
                <a16:creationId xmlns:a16="http://schemas.microsoft.com/office/drawing/2014/main" id="{64AB2CBA-8D30-7EFC-DAF5-63FDC60C906A}"/>
              </a:ext>
            </a:extLst>
          </p:cNvPr>
          <p:cNvSpPr txBox="1"/>
          <p:nvPr/>
        </p:nvSpPr>
        <p:spPr>
          <a:xfrm>
            <a:off x="5095279" y="3970500"/>
            <a:ext cx="6175772" cy="1964512"/>
          </a:xfrm>
          <a:prstGeom prst="rect">
            <a:avLst/>
          </a:prstGeom>
          <a:noFill/>
        </p:spPr>
        <p:txBody>
          <a:bodyPr wrap="square">
            <a:spAutoFit/>
          </a:bodyPr>
          <a:lstStyle/>
          <a:p>
            <a:pPr>
              <a:lnSpc>
                <a:spcPct val="150000"/>
              </a:lnSpc>
            </a:pPr>
            <a:r>
              <a:rPr lang="en-US" sz="2800" dirty="0">
                <a:latin typeface="Calibir"/>
              </a:rPr>
              <a:t>This message confirms that the HTML code is correct and follows HTML5 standards.</a:t>
            </a:r>
          </a:p>
        </p:txBody>
      </p:sp>
      <p:sp>
        <p:nvSpPr>
          <p:cNvPr id="9" name="Rectangle: Rounded Corners 8">
            <a:extLst>
              <a:ext uri="{FF2B5EF4-FFF2-40B4-BE49-F238E27FC236}">
                <a16:creationId xmlns:a16="http://schemas.microsoft.com/office/drawing/2014/main" id="{DA41EE25-0DBB-8E8D-599F-35992F042D01}"/>
              </a:ext>
            </a:extLst>
          </p:cNvPr>
          <p:cNvSpPr/>
          <p:nvPr/>
        </p:nvSpPr>
        <p:spPr>
          <a:xfrm>
            <a:off x="0" y="3343274"/>
            <a:ext cx="862965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04445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CDE8-9AF6-4551-7B29-A23E961A5B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92E16E-E989-4DB7-D67A-4FFEB9E3C6E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E85C828-0175-B49F-D869-3A9C6F342658}"/>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6</a:t>
            </a:r>
          </a:p>
          <a:p>
            <a:pPr>
              <a:lnSpc>
                <a:spcPct val="150000"/>
              </a:lnSpc>
            </a:pPr>
            <a:r>
              <a:rPr lang="en-US" sz="2800" b="1" dirty="0">
                <a:latin typeface="Calibir"/>
              </a:rPr>
              <a:t>What is the definition the lab asks you to research in step 10(a)?</a:t>
            </a:r>
            <a:endParaRPr lang="en-US" sz="2800" dirty="0">
              <a:latin typeface="Calibir"/>
            </a:endParaRPr>
          </a:p>
          <a:p>
            <a:pPr>
              <a:lnSpc>
                <a:spcPct val="150000"/>
              </a:lnSpc>
            </a:pPr>
            <a:r>
              <a:rPr lang="en-US" sz="2800" dirty="0">
                <a:latin typeface="Calibir"/>
              </a:rPr>
              <a:t>A. responsive HTML</a:t>
            </a:r>
            <a:br>
              <a:rPr lang="en-US" sz="2800" dirty="0">
                <a:latin typeface="Calibir"/>
              </a:rPr>
            </a:br>
            <a:r>
              <a:rPr lang="en-US" sz="2800" dirty="0">
                <a:latin typeface="Calibir"/>
              </a:rPr>
              <a:t>B. structural CSS</a:t>
            </a:r>
            <a:br>
              <a:rPr lang="en-US" sz="2800" dirty="0">
                <a:latin typeface="Calibir"/>
              </a:rPr>
            </a:br>
            <a:r>
              <a:rPr lang="en-US" sz="2800" dirty="0">
                <a:latin typeface="Calibir"/>
              </a:rPr>
              <a:t>C. inline elements</a:t>
            </a:r>
          </a:p>
          <a:p>
            <a:pPr>
              <a:lnSpc>
                <a:spcPct val="150000"/>
              </a:lnSpc>
            </a:pPr>
            <a:r>
              <a:rPr lang="en-US" sz="2800" dirty="0">
                <a:latin typeface="Calibir"/>
              </a:rPr>
              <a:t>D. semantic HTML</a:t>
            </a:r>
          </a:p>
        </p:txBody>
      </p:sp>
      <p:sp>
        <p:nvSpPr>
          <p:cNvPr id="8" name="TextBox 7">
            <a:extLst>
              <a:ext uri="{FF2B5EF4-FFF2-40B4-BE49-F238E27FC236}">
                <a16:creationId xmlns:a16="http://schemas.microsoft.com/office/drawing/2014/main" id="{A1DB996C-DC03-91C4-D547-C3CBBA9207D5}"/>
              </a:ext>
            </a:extLst>
          </p:cNvPr>
          <p:cNvSpPr txBox="1"/>
          <p:nvPr/>
        </p:nvSpPr>
        <p:spPr>
          <a:xfrm>
            <a:off x="5095279" y="3970500"/>
            <a:ext cx="6175772" cy="1964512"/>
          </a:xfrm>
          <a:prstGeom prst="rect">
            <a:avLst/>
          </a:prstGeom>
          <a:noFill/>
        </p:spPr>
        <p:txBody>
          <a:bodyPr wrap="square">
            <a:spAutoFit/>
          </a:bodyPr>
          <a:lstStyle/>
          <a:p>
            <a:pPr>
              <a:lnSpc>
                <a:spcPct val="150000"/>
              </a:lnSpc>
            </a:pPr>
            <a:r>
              <a:rPr lang="en-US" sz="2800" dirty="0">
                <a:latin typeface="Calibir"/>
              </a:rPr>
              <a:t>Semantic HTML uses meaningful tags like &lt;header&gt; and &lt;footer&gt; to </a:t>
            </a:r>
            <a:r>
              <a:rPr lang="en-US" sz="2800" dirty="0" err="1">
                <a:latin typeface="Calibir"/>
              </a:rPr>
              <a:t>organise</a:t>
            </a:r>
            <a:r>
              <a:rPr lang="en-US" sz="2800" dirty="0">
                <a:latin typeface="Calibir"/>
              </a:rPr>
              <a:t> webpage content clearly.</a:t>
            </a:r>
          </a:p>
        </p:txBody>
      </p:sp>
      <p:sp>
        <p:nvSpPr>
          <p:cNvPr id="9" name="Rectangle: Rounded Corners 8">
            <a:extLst>
              <a:ext uri="{FF2B5EF4-FFF2-40B4-BE49-F238E27FC236}">
                <a16:creationId xmlns:a16="http://schemas.microsoft.com/office/drawing/2014/main" id="{6484FF32-055F-7B1D-AD2F-F1BBFC4DBC62}"/>
              </a:ext>
            </a:extLst>
          </p:cNvPr>
          <p:cNvSpPr/>
          <p:nvPr/>
        </p:nvSpPr>
        <p:spPr>
          <a:xfrm>
            <a:off x="0" y="3970500"/>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7019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B7BE8-A48E-1348-C1BA-1550CB759C4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6D77794-A420-0FD9-9F8F-FC8DCE0ABBE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B50E309-2522-DE1E-C9BE-91C512139499}"/>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7</a:t>
            </a:r>
          </a:p>
          <a:p>
            <a:pPr>
              <a:lnSpc>
                <a:spcPct val="150000"/>
              </a:lnSpc>
            </a:pPr>
            <a:r>
              <a:rPr lang="en-US" sz="2800" b="1" dirty="0">
                <a:latin typeface="Calibir"/>
              </a:rPr>
              <a:t>Which City Farmer file must you open and resave for Challenge 1?</a:t>
            </a:r>
            <a:endParaRPr lang="en-US" sz="2800" dirty="0">
              <a:latin typeface="Calibir"/>
            </a:endParaRPr>
          </a:p>
          <a:p>
            <a:pPr>
              <a:lnSpc>
                <a:spcPct val="150000"/>
              </a:lnSpc>
            </a:pPr>
            <a:r>
              <a:rPr lang="en-US" sz="2800" dirty="0">
                <a:latin typeface="Calibir"/>
              </a:rPr>
              <a:t>A. index.html</a:t>
            </a:r>
            <a:br>
              <a:rPr lang="en-US" sz="2800" dirty="0">
                <a:latin typeface="Calibir"/>
              </a:rPr>
            </a:br>
            <a:r>
              <a:rPr lang="en-US" sz="2800" dirty="0">
                <a:latin typeface="Calibir"/>
              </a:rPr>
              <a:t>B. apply02.html</a:t>
            </a:r>
          </a:p>
          <a:p>
            <a:pPr>
              <a:lnSpc>
                <a:spcPct val="150000"/>
              </a:lnSpc>
            </a:pPr>
            <a:r>
              <a:rPr lang="en-US" sz="2800" dirty="0">
                <a:latin typeface="Calibir"/>
              </a:rPr>
              <a:t>C. cityfarmer.html</a:t>
            </a:r>
            <a:br>
              <a:rPr lang="en-US" sz="2800" dirty="0">
                <a:latin typeface="Calibir"/>
              </a:rPr>
            </a:br>
            <a:r>
              <a:rPr lang="en-US" sz="2800" dirty="0">
                <a:latin typeface="Calibir"/>
              </a:rPr>
              <a:t>D. template02.html</a:t>
            </a:r>
          </a:p>
        </p:txBody>
      </p:sp>
      <p:sp>
        <p:nvSpPr>
          <p:cNvPr id="8" name="TextBox 7">
            <a:extLst>
              <a:ext uri="{FF2B5EF4-FFF2-40B4-BE49-F238E27FC236}">
                <a16:creationId xmlns:a16="http://schemas.microsoft.com/office/drawing/2014/main" id="{614E9E5C-9FDE-BF5C-7FC7-C63B8551F177}"/>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The task instructions require opening and saving the file cityfarmer.html.</a:t>
            </a:r>
          </a:p>
        </p:txBody>
      </p:sp>
      <p:sp>
        <p:nvSpPr>
          <p:cNvPr id="9" name="Rectangle: Rounded Corners 8">
            <a:extLst>
              <a:ext uri="{FF2B5EF4-FFF2-40B4-BE49-F238E27FC236}">
                <a16:creationId xmlns:a16="http://schemas.microsoft.com/office/drawing/2014/main" id="{B5C5DB0B-AEA6-1B59-ACE2-80770D0566C2}"/>
              </a:ext>
            </a:extLst>
          </p:cNvPr>
          <p:cNvSpPr/>
          <p:nvPr/>
        </p:nvSpPr>
        <p:spPr>
          <a:xfrm>
            <a:off x="0" y="3420431"/>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171523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7D72E-18C1-97C9-F405-B0AFD987F3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0B05081-8FB8-7269-A4C2-0A6668AF17F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27DF1E-DCBF-7B8A-9DA6-9629B0AFE4EB}"/>
              </a:ext>
            </a:extLst>
          </p:cNvPr>
          <p:cNvSpPr txBox="1"/>
          <p:nvPr/>
        </p:nvSpPr>
        <p:spPr>
          <a:xfrm>
            <a:off x="0" y="642938"/>
            <a:ext cx="12192000" cy="3908186"/>
          </a:xfrm>
          <a:prstGeom prst="rect">
            <a:avLst/>
          </a:prstGeom>
          <a:noFill/>
        </p:spPr>
        <p:txBody>
          <a:bodyPr wrap="square">
            <a:spAutoFit/>
          </a:bodyPr>
          <a:lstStyle/>
          <a:p>
            <a:pPr>
              <a:lnSpc>
                <a:spcPct val="150000"/>
              </a:lnSpc>
            </a:pPr>
            <a:r>
              <a:rPr lang="en-US" sz="2800" b="1" dirty="0">
                <a:latin typeface="Calibir"/>
              </a:rPr>
              <a:t>Question 8</a:t>
            </a:r>
          </a:p>
          <a:p>
            <a:pPr>
              <a:lnSpc>
                <a:spcPct val="150000"/>
              </a:lnSpc>
            </a:pPr>
            <a:r>
              <a:rPr lang="en-US" sz="2800" b="1" dirty="0">
                <a:latin typeface="Calibir"/>
              </a:rPr>
              <a:t>What text must be placed inside the element for City Farmer pages?</a:t>
            </a:r>
            <a:endParaRPr lang="en-US" sz="2800" dirty="0">
              <a:latin typeface="Calibir"/>
            </a:endParaRPr>
          </a:p>
          <a:p>
            <a:pPr>
              <a:lnSpc>
                <a:spcPct val="150000"/>
              </a:lnSpc>
            </a:pPr>
            <a:r>
              <a:rPr lang="en-US" sz="2800" dirty="0">
                <a:latin typeface="Calibir"/>
              </a:rPr>
              <a:t>A. City Farmer Home Page </a:t>
            </a:r>
            <a:br>
              <a:rPr lang="en-US" sz="2800" dirty="0">
                <a:latin typeface="Calibir"/>
              </a:rPr>
            </a:br>
            <a:r>
              <a:rPr lang="en-US" sz="2800" dirty="0">
                <a:latin typeface="Calibir"/>
              </a:rPr>
              <a:t>B. City Farmer Website</a:t>
            </a:r>
            <a:br>
              <a:rPr lang="en-US" sz="2800" dirty="0">
                <a:latin typeface="Calibir"/>
              </a:rPr>
            </a:br>
            <a:r>
              <a:rPr lang="en-US" sz="2800" dirty="0">
                <a:latin typeface="Calibir"/>
              </a:rPr>
              <a:t>C. City Farmer Products</a:t>
            </a:r>
            <a:br>
              <a:rPr lang="en-US" sz="2800" dirty="0">
                <a:latin typeface="Calibir"/>
              </a:rPr>
            </a:br>
            <a:r>
              <a:rPr lang="en-US" sz="2800" dirty="0">
                <a:latin typeface="Calibir"/>
              </a:rPr>
              <a:t>D. City Farmer Main</a:t>
            </a:r>
          </a:p>
        </p:txBody>
      </p:sp>
      <p:sp>
        <p:nvSpPr>
          <p:cNvPr id="8" name="TextBox 7">
            <a:extLst>
              <a:ext uri="{FF2B5EF4-FFF2-40B4-BE49-F238E27FC236}">
                <a16:creationId xmlns:a16="http://schemas.microsoft.com/office/drawing/2014/main" id="{8BB8C999-7A2E-E939-2B55-79F41D353F9C}"/>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This text is used as the heading or title for the City Farmer homepage.</a:t>
            </a:r>
          </a:p>
        </p:txBody>
      </p:sp>
      <p:sp>
        <p:nvSpPr>
          <p:cNvPr id="9" name="Rectangle: Rounded Corners 8">
            <a:extLst>
              <a:ext uri="{FF2B5EF4-FFF2-40B4-BE49-F238E27FC236}">
                <a16:creationId xmlns:a16="http://schemas.microsoft.com/office/drawing/2014/main" id="{451CE67E-93EC-865E-B5BA-6572564A87C1}"/>
              </a:ext>
            </a:extLst>
          </p:cNvPr>
          <p:cNvSpPr/>
          <p:nvPr/>
        </p:nvSpPr>
        <p:spPr>
          <a:xfrm>
            <a:off x="0" y="2082681"/>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317952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CDD2C-679C-B2EF-79E0-00D14BC1102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EA44F26-F6FF-1CA7-4687-2245F5EE69E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AED7B8E-A96A-EBD3-71AB-F6A4E195C12F}"/>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9</a:t>
            </a:r>
          </a:p>
          <a:p>
            <a:pPr>
              <a:lnSpc>
                <a:spcPct val="150000"/>
              </a:lnSpc>
            </a:pPr>
            <a:r>
              <a:rPr lang="en-US" sz="2800" b="1" dirty="0">
                <a:latin typeface="Calibir"/>
              </a:rPr>
              <a:t>Which sections must be added to cityfarmer2.html in Challenge 1?</a:t>
            </a:r>
            <a:endParaRPr lang="en-US" sz="2800" dirty="0">
              <a:latin typeface="Calibir"/>
            </a:endParaRPr>
          </a:p>
          <a:p>
            <a:pPr>
              <a:lnSpc>
                <a:spcPct val="150000"/>
              </a:lnSpc>
            </a:pPr>
            <a:r>
              <a:rPr lang="en-US" sz="2800" dirty="0">
                <a:latin typeface="Calibir"/>
              </a:rPr>
              <a:t>A. header, aside, article, footer</a:t>
            </a:r>
            <a:br>
              <a:rPr lang="en-US" sz="2800" dirty="0">
                <a:latin typeface="Calibir"/>
              </a:rPr>
            </a:br>
            <a:r>
              <a:rPr lang="en-US" sz="2800" dirty="0">
                <a:latin typeface="Calibir"/>
              </a:rPr>
              <a:t>B. header, nav, div id="main", footer </a:t>
            </a:r>
          </a:p>
          <a:p>
            <a:pPr>
              <a:lnSpc>
                <a:spcPct val="150000"/>
              </a:lnSpc>
            </a:pPr>
            <a:r>
              <a:rPr lang="en-US" sz="2800" dirty="0">
                <a:latin typeface="Calibir"/>
              </a:rPr>
              <a:t>C. header, body, main, aside</a:t>
            </a:r>
            <a:br>
              <a:rPr lang="en-US" sz="2800" dirty="0">
                <a:latin typeface="Calibir"/>
              </a:rPr>
            </a:br>
            <a:r>
              <a:rPr lang="en-US" sz="2800" dirty="0">
                <a:latin typeface="Calibir"/>
              </a:rPr>
              <a:t>D. nav, article, footer, section</a:t>
            </a:r>
          </a:p>
        </p:txBody>
      </p:sp>
      <p:sp>
        <p:nvSpPr>
          <p:cNvPr id="8" name="TextBox 7">
            <a:extLst>
              <a:ext uri="{FF2B5EF4-FFF2-40B4-BE49-F238E27FC236}">
                <a16:creationId xmlns:a16="http://schemas.microsoft.com/office/drawing/2014/main" id="{DF8C60DD-8FEA-94D7-0608-7712B7E5EAC3}"/>
              </a:ext>
            </a:extLst>
          </p:cNvPr>
          <p:cNvSpPr txBox="1"/>
          <p:nvPr/>
        </p:nvSpPr>
        <p:spPr>
          <a:xfrm>
            <a:off x="5095279" y="3970500"/>
            <a:ext cx="6175772" cy="1968103"/>
          </a:xfrm>
          <a:prstGeom prst="rect">
            <a:avLst/>
          </a:prstGeom>
          <a:noFill/>
        </p:spPr>
        <p:txBody>
          <a:bodyPr wrap="square">
            <a:spAutoFit/>
          </a:bodyPr>
          <a:lstStyle/>
          <a:p>
            <a:pPr>
              <a:lnSpc>
                <a:spcPct val="150000"/>
              </a:lnSpc>
            </a:pPr>
            <a:r>
              <a:rPr lang="en-US" sz="2800" dirty="0">
                <a:latin typeface="Calibir"/>
              </a:rPr>
              <a:t>These sections </a:t>
            </a:r>
            <a:r>
              <a:rPr lang="en-US" sz="2800" dirty="0" err="1">
                <a:latin typeface="Calibir"/>
              </a:rPr>
              <a:t>organise</a:t>
            </a:r>
            <a:r>
              <a:rPr lang="en-US" sz="2800" dirty="0">
                <a:latin typeface="Calibir"/>
              </a:rPr>
              <a:t> the webpage into header, navigation, main content, and footer areas.</a:t>
            </a:r>
          </a:p>
        </p:txBody>
      </p:sp>
      <p:sp>
        <p:nvSpPr>
          <p:cNvPr id="9" name="Rectangle: Rounded Corners 8">
            <a:extLst>
              <a:ext uri="{FF2B5EF4-FFF2-40B4-BE49-F238E27FC236}">
                <a16:creationId xmlns:a16="http://schemas.microsoft.com/office/drawing/2014/main" id="{58E75EAD-3152-97B7-A347-D47A5C0F63C5}"/>
              </a:ext>
            </a:extLst>
          </p:cNvPr>
          <p:cNvSpPr/>
          <p:nvPr/>
        </p:nvSpPr>
        <p:spPr>
          <a:xfrm>
            <a:off x="0" y="2682756"/>
            <a:ext cx="54721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94980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86BE4-9DB2-A9E9-8D1C-7D9DE2DE58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3BCB458-D3C6-C0EB-ABE6-A9BC546FB86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3B16183-288D-4B04-9DF4-A5BB83876A70}"/>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10</a:t>
            </a:r>
          </a:p>
          <a:p>
            <a:pPr>
              <a:lnSpc>
                <a:spcPct val="150000"/>
              </a:lnSpc>
            </a:pPr>
            <a:r>
              <a:rPr lang="en-US" sz="2800" b="1" dirty="0">
                <a:latin typeface="Calibir"/>
              </a:rPr>
              <a:t>What must you add after the opening in City Farmer pages?</a:t>
            </a:r>
            <a:endParaRPr lang="en-US" sz="2800" dirty="0">
              <a:latin typeface="Calibir"/>
            </a:endParaRPr>
          </a:p>
          <a:p>
            <a:pPr>
              <a:lnSpc>
                <a:spcPct val="150000"/>
              </a:lnSpc>
            </a:pPr>
            <a:r>
              <a:rPr lang="en-US" sz="2800" dirty="0">
                <a:latin typeface="Calibir"/>
              </a:rPr>
              <a:t>A. A comment with your name and the current date</a:t>
            </a:r>
            <a:br>
              <a:rPr lang="en-US" sz="2800" dirty="0">
                <a:latin typeface="Calibir"/>
              </a:rPr>
            </a:br>
            <a:r>
              <a:rPr lang="en-US" sz="2800" dirty="0">
                <a:latin typeface="Calibir"/>
              </a:rPr>
              <a:t>B. A title tag</a:t>
            </a:r>
            <a:br>
              <a:rPr lang="en-US" sz="2800" dirty="0">
                <a:latin typeface="Calibir"/>
              </a:rPr>
            </a:br>
            <a:r>
              <a:rPr lang="en-US" sz="2800" dirty="0">
                <a:latin typeface="Calibir"/>
              </a:rPr>
              <a:t>C. A CSS link</a:t>
            </a:r>
            <a:br>
              <a:rPr lang="en-US" sz="2800" dirty="0">
                <a:latin typeface="Calibir"/>
              </a:rPr>
            </a:br>
            <a:r>
              <a:rPr lang="en-US" sz="2800" dirty="0">
                <a:latin typeface="Calibir"/>
              </a:rPr>
              <a:t>D. A JavaScript tag</a:t>
            </a:r>
          </a:p>
        </p:txBody>
      </p:sp>
      <p:sp>
        <p:nvSpPr>
          <p:cNvPr id="8" name="TextBox 7">
            <a:extLst>
              <a:ext uri="{FF2B5EF4-FFF2-40B4-BE49-F238E27FC236}">
                <a16:creationId xmlns:a16="http://schemas.microsoft.com/office/drawing/2014/main" id="{2AD13E5F-4CBC-FEB3-46AA-31D79C32F9A1}"/>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The comment shows who edited the page and when it was updated.</a:t>
            </a:r>
          </a:p>
        </p:txBody>
      </p:sp>
      <p:sp>
        <p:nvSpPr>
          <p:cNvPr id="9" name="Rectangle: Rounded Corners 8">
            <a:extLst>
              <a:ext uri="{FF2B5EF4-FFF2-40B4-BE49-F238E27FC236}">
                <a16:creationId xmlns:a16="http://schemas.microsoft.com/office/drawing/2014/main" id="{71D57E2A-C507-67C8-07DA-2AF89FE27408}"/>
              </a:ext>
            </a:extLst>
          </p:cNvPr>
          <p:cNvSpPr/>
          <p:nvPr/>
        </p:nvSpPr>
        <p:spPr>
          <a:xfrm>
            <a:off x="0" y="2139831"/>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81172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FD1-ADF8-4509-55E6-ED4ADB39C5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BA40D5-65C1-508C-C6A7-52A29544219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ADEDD9-E601-FB9E-048B-2F87B1C2F522}"/>
              </a:ext>
            </a:extLst>
          </p:cNvPr>
          <p:cNvSpPr txBox="1"/>
          <p:nvPr/>
        </p:nvSpPr>
        <p:spPr>
          <a:xfrm>
            <a:off x="0" y="642938"/>
            <a:ext cx="12192000" cy="3900620"/>
          </a:xfrm>
          <a:prstGeom prst="rect">
            <a:avLst/>
          </a:prstGeom>
          <a:noFill/>
        </p:spPr>
        <p:txBody>
          <a:bodyPr wrap="square">
            <a:spAutoFit/>
          </a:bodyPr>
          <a:lstStyle/>
          <a:p>
            <a:pPr>
              <a:lnSpc>
                <a:spcPct val="150000"/>
              </a:lnSpc>
            </a:pPr>
            <a:r>
              <a:rPr lang="en-US" sz="2800" b="1" dirty="0">
                <a:latin typeface="Calibir"/>
              </a:rPr>
              <a:t>Question 11</a:t>
            </a:r>
          </a:p>
          <a:p>
            <a:pPr>
              <a:lnSpc>
                <a:spcPct val="150000"/>
              </a:lnSpc>
            </a:pPr>
            <a:r>
              <a:rPr lang="en-US" sz="2800" b="1" dirty="0">
                <a:latin typeface="Calibir"/>
              </a:rPr>
              <a:t>Which browser view is shown in Figure 3b?</a:t>
            </a:r>
            <a:endParaRPr lang="en-US" sz="2800" dirty="0">
              <a:latin typeface="Calibir"/>
            </a:endParaRPr>
          </a:p>
          <a:p>
            <a:pPr>
              <a:lnSpc>
                <a:spcPct val="150000"/>
              </a:lnSpc>
            </a:pPr>
            <a:r>
              <a:rPr lang="en-US" sz="2800" dirty="0">
                <a:latin typeface="Calibir"/>
              </a:rPr>
              <a:t>A. template02.html preview</a:t>
            </a:r>
            <a:br>
              <a:rPr lang="en-US" sz="2800" dirty="0">
                <a:latin typeface="Calibir"/>
              </a:rPr>
            </a:br>
            <a:r>
              <a:rPr lang="en-US" sz="2800" dirty="0">
                <a:latin typeface="Calibir"/>
              </a:rPr>
              <a:t>B. apply02.html preview</a:t>
            </a:r>
            <a:br>
              <a:rPr lang="en-US" sz="2800" dirty="0">
                <a:latin typeface="Calibir"/>
              </a:rPr>
            </a:br>
            <a:r>
              <a:rPr lang="en-US" sz="2800" dirty="0">
                <a:latin typeface="Calibir"/>
              </a:rPr>
              <a:t>C. styles page</a:t>
            </a:r>
          </a:p>
          <a:p>
            <a:pPr>
              <a:lnSpc>
                <a:spcPct val="150000"/>
              </a:lnSpc>
            </a:pPr>
            <a:r>
              <a:rPr lang="en-US" sz="2800" dirty="0">
                <a:latin typeface="Calibir"/>
              </a:rPr>
              <a:t>D. cityfarmer02.html displayed in a browser </a:t>
            </a:r>
          </a:p>
        </p:txBody>
      </p:sp>
      <p:sp>
        <p:nvSpPr>
          <p:cNvPr id="8" name="TextBox 7">
            <a:extLst>
              <a:ext uri="{FF2B5EF4-FFF2-40B4-BE49-F238E27FC236}">
                <a16:creationId xmlns:a16="http://schemas.microsoft.com/office/drawing/2014/main" id="{26A20D8C-75A3-2982-0EFA-84AB998E64D4}"/>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Figure 3b shows the completed webpage opened inside a browser.</a:t>
            </a:r>
          </a:p>
        </p:txBody>
      </p:sp>
      <p:sp>
        <p:nvSpPr>
          <p:cNvPr id="9" name="Rectangle: Rounded Corners 8">
            <a:extLst>
              <a:ext uri="{FF2B5EF4-FFF2-40B4-BE49-F238E27FC236}">
                <a16:creationId xmlns:a16="http://schemas.microsoft.com/office/drawing/2014/main" id="{30DFBCFC-D2F3-EF23-F29B-898569A5F010}"/>
              </a:ext>
            </a:extLst>
          </p:cNvPr>
          <p:cNvSpPr/>
          <p:nvPr/>
        </p:nvSpPr>
        <p:spPr>
          <a:xfrm>
            <a:off x="0" y="402591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10240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6E82-5AAE-D6D9-D8B2-68540EECD9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5E8D75-E128-DE03-06D0-DD6241EE9AD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F9D3999-961F-746D-D427-90FE5FB7175F}"/>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12</a:t>
            </a:r>
          </a:p>
          <a:p>
            <a:pPr>
              <a:lnSpc>
                <a:spcPct val="150000"/>
              </a:lnSpc>
            </a:pPr>
            <a:r>
              <a:rPr lang="en-US" sz="2800" b="1" dirty="0">
                <a:latin typeface="Calibir"/>
              </a:rPr>
              <a:t>In Project 2, what is the name of the external stylesheet you must create?</a:t>
            </a:r>
            <a:endParaRPr lang="en-US" sz="2800" dirty="0">
              <a:latin typeface="Calibir"/>
            </a:endParaRPr>
          </a:p>
          <a:p>
            <a:pPr>
              <a:lnSpc>
                <a:spcPct val="150000"/>
              </a:lnSpc>
            </a:pPr>
            <a:r>
              <a:rPr lang="en-US" sz="2800" dirty="0">
                <a:latin typeface="Calibir"/>
              </a:rPr>
              <a:t>A. stylesheet.css</a:t>
            </a:r>
            <a:br>
              <a:rPr lang="en-US" sz="2800" dirty="0">
                <a:latin typeface="Calibir"/>
              </a:rPr>
            </a:br>
            <a:r>
              <a:rPr lang="en-US" sz="2800" dirty="0">
                <a:latin typeface="Calibir"/>
              </a:rPr>
              <a:t>B. styles04.css</a:t>
            </a:r>
          </a:p>
          <a:p>
            <a:pPr>
              <a:lnSpc>
                <a:spcPct val="150000"/>
              </a:lnSpc>
            </a:pPr>
            <a:r>
              <a:rPr lang="en-US" sz="2800" dirty="0">
                <a:latin typeface="Calibir"/>
              </a:rPr>
              <a:t>C. main.css</a:t>
            </a:r>
            <a:br>
              <a:rPr lang="en-US" sz="2800" dirty="0">
                <a:latin typeface="Calibir"/>
              </a:rPr>
            </a:br>
            <a:r>
              <a:rPr lang="en-US" sz="2800" dirty="0">
                <a:latin typeface="Calibir"/>
              </a:rPr>
              <a:t>D. design04.css</a:t>
            </a:r>
          </a:p>
        </p:txBody>
      </p:sp>
      <p:sp>
        <p:nvSpPr>
          <p:cNvPr id="8" name="TextBox 7">
            <a:extLst>
              <a:ext uri="{FF2B5EF4-FFF2-40B4-BE49-F238E27FC236}">
                <a16:creationId xmlns:a16="http://schemas.microsoft.com/office/drawing/2014/main" id="{85893DAA-5AA9-A30E-277F-CA92A7BDB85E}"/>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The file styles04.css stores the CSS design rules for Project 2.</a:t>
            </a:r>
          </a:p>
        </p:txBody>
      </p:sp>
      <p:sp>
        <p:nvSpPr>
          <p:cNvPr id="9" name="Rectangle: Rounded Corners 8">
            <a:extLst>
              <a:ext uri="{FF2B5EF4-FFF2-40B4-BE49-F238E27FC236}">
                <a16:creationId xmlns:a16="http://schemas.microsoft.com/office/drawing/2014/main" id="{7A8EEA7B-F42E-7D56-9AB9-8DDFA629D6BC}"/>
              </a:ext>
            </a:extLst>
          </p:cNvPr>
          <p:cNvSpPr/>
          <p:nvPr/>
        </p:nvSpPr>
        <p:spPr>
          <a:xfrm>
            <a:off x="0" y="271146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3607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82271-1DB6-62B8-2E29-D2CBBEC61D6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AF47BBF-3A75-BE5F-3F45-5E64F12FA98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CFA6551-C6F1-F2E8-54A1-6D35E02EB11A}"/>
              </a:ext>
            </a:extLst>
          </p:cNvPr>
          <p:cNvSpPr txBox="1"/>
          <p:nvPr/>
        </p:nvSpPr>
        <p:spPr>
          <a:xfrm>
            <a:off x="0" y="642938"/>
            <a:ext cx="12192000" cy="4549835"/>
          </a:xfrm>
          <a:prstGeom prst="rect">
            <a:avLst/>
          </a:prstGeom>
          <a:noFill/>
        </p:spPr>
        <p:txBody>
          <a:bodyPr wrap="square">
            <a:spAutoFit/>
          </a:bodyPr>
          <a:lstStyle/>
          <a:p>
            <a:pPr>
              <a:lnSpc>
                <a:spcPct val="150000"/>
              </a:lnSpc>
            </a:pPr>
            <a:r>
              <a:rPr lang="en-US" sz="2800" b="1" dirty="0">
                <a:latin typeface="Calibir"/>
              </a:rPr>
              <a:t>Question 13</a:t>
            </a:r>
          </a:p>
          <a:p>
            <a:pPr>
              <a:lnSpc>
                <a:spcPct val="150000"/>
              </a:lnSpc>
            </a:pPr>
            <a:r>
              <a:rPr lang="en-US" sz="2800" b="1" dirty="0">
                <a:latin typeface="Calibir"/>
              </a:rPr>
              <a:t>What selector is used to apply the black text and light-green background in Project 2?</a:t>
            </a:r>
            <a:endParaRPr lang="en-US" sz="2800" dirty="0">
              <a:latin typeface="Calibir"/>
            </a:endParaRPr>
          </a:p>
          <a:p>
            <a:pPr>
              <a:lnSpc>
                <a:spcPct val="150000"/>
              </a:lnSpc>
            </a:pPr>
            <a:r>
              <a:rPr lang="en-US" sz="2800" dirty="0">
                <a:latin typeface="Calibir"/>
              </a:rPr>
              <a:t>A. body</a:t>
            </a:r>
            <a:br>
              <a:rPr lang="en-US" sz="2800" dirty="0">
                <a:latin typeface="Calibir"/>
              </a:rPr>
            </a:br>
            <a:r>
              <a:rPr lang="en-US" sz="2800" dirty="0">
                <a:latin typeface="Calibir"/>
              </a:rPr>
              <a:t>B. html</a:t>
            </a:r>
            <a:br>
              <a:rPr lang="en-US" sz="2800" dirty="0">
                <a:latin typeface="Calibir"/>
              </a:rPr>
            </a:br>
            <a:r>
              <a:rPr lang="en-US" sz="2800" dirty="0">
                <a:latin typeface="Calibir"/>
              </a:rPr>
              <a:t>C. main</a:t>
            </a:r>
            <a:br>
              <a:rPr lang="en-US" sz="2800" dirty="0">
                <a:latin typeface="Calibir"/>
              </a:rPr>
            </a:br>
            <a:r>
              <a:rPr lang="en-US" sz="2800" dirty="0">
                <a:latin typeface="Calibir"/>
              </a:rPr>
              <a:t>D. div</a:t>
            </a:r>
          </a:p>
        </p:txBody>
      </p:sp>
      <p:sp>
        <p:nvSpPr>
          <p:cNvPr id="8" name="TextBox 7">
            <a:extLst>
              <a:ext uri="{FF2B5EF4-FFF2-40B4-BE49-F238E27FC236}">
                <a16:creationId xmlns:a16="http://schemas.microsoft.com/office/drawing/2014/main" id="{C1EBCDD7-2365-1902-8BF0-0176698082E9}"/>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The body selector styles the main page background and text </a:t>
            </a:r>
            <a:r>
              <a:rPr lang="en-US" sz="2800" dirty="0" err="1">
                <a:latin typeface="Calibir"/>
              </a:rPr>
              <a:t>colour</a:t>
            </a:r>
            <a:r>
              <a:rPr lang="en-US" sz="2800" dirty="0">
                <a:latin typeface="Calibir"/>
              </a:rPr>
              <a:t>.</a:t>
            </a:r>
          </a:p>
        </p:txBody>
      </p:sp>
      <p:sp>
        <p:nvSpPr>
          <p:cNvPr id="9" name="Rectangle: Rounded Corners 8">
            <a:extLst>
              <a:ext uri="{FF2B5EF4-FFF2-40B4-BE49-F238E27FC236}">
                <a16:creationId xmlns:a16="http://schemas.microsoft.com/office/drawing/2014/main" id="{68CAB824-2666-9C73-FDB0-6B318A870042}"/>
              </a:ext>
            </a:extLst>
          </p:cNvPr>
          <p:cNvSpPr/>
          <p:nvPr/>
        </p:nvSpPr>
        <p:spPr>
          <a:xfrm>
            <a:off x="0" y="271146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14624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4140E-08E7-936A-434A-09F419C0A8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C3B7D49-66FD-3593-D551-02C29AD167A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43D1A5B-24AA-1D27-DC82-FF4C9BE316D2}"/>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14</a:t>
            </a:r>
          </a:p>
          <a:p>
            <a:pPr>
              <a:lnSpc>
                <a:spcPct val="150000"/>
              </a:lnSpc>
            </a:pPr>
            <a:r>
              <a:rPr lang="en-US" sz="2800" b="1" dirty="0">
                <a:latin typeface="Calibir"/>
              </a:rPr>
              <a:t>What ID is assigned to the wrapper in Project 2?</a:t>
            </a:r>
            <a:endParaRPr lang="en-US" sz="2800" dirty="0">
              <a:latin typeface="Calibir"/>
            </a:endParaRPr>
          </a:p>
          <a:p>
            <a:pPr>
              <a:lnSpc>
                <a:spcPct val="150000"/>
              </a:lnSpc>
            </a:pPr>
            <a:r>
              <a:rPr lang="en-US" sz="2800" dirty="0">
                <a:latin typeface="Calibir"/>
              </a:rPr>
              <a:t>A. </a:t>
            </a:r>
            <a:r>
              <a:rPr lang="en-US" sz="2800" dirty="0" err="1">
                <a:latin typeface="Calibir"/>
              </a:rPr>
              <a:t>outerwrapper</a:t>
            </a:r>
            <a:br>
              <a:rPr lang="en-US" sz="2800" dirty="0">
                <a:latin typeface="Calibir"/>
              </a:rPr>
            </a:br>
            <a:r>
              <a:rPr lang="en-US" sz="2800" dirty="0">
                <a:latin typeface="Calibir"/>
              </a:rPr>
              <a:t>B. wrapper</a:t>
            </a:r>
            <a:br>
              <a:rPr lang="en-US" sz="2800" dirty="0">
                <a:latin typeface="Calibir"/>
              </a:rPr>
            </a:br>
            <a:r>
              <a:rPr lang="en-US" sz="2800" dirty="0">
                <a:latin typeface="Calibir"/>
              </a:rPr>
              <a:t>C. container</a:t>
            </a:r>
            <a:br>
              <a:rPr lang="en-US" sz="2800" dirty="0">
                <a:latin typeface="Calibir"/>
              </a:rPr>
            </a:br>
            <a:r>
              <a:rPr lang="en-US" sz="2800" dirty="0">
                <a:latin typeface="Calibir"/>
              </a:rPr>
              <a:t>D. </a:t>
            </a:r>
            <a:r>
              <a:rPr lang="en-US" sz="2800" dirty="0" err="1">
                <a:latin typeface="Calibir"/>
              </a:rPr>
              <a:t>mainwrapper</a:t>
            </a:r>
            <a:endParaRPr lang="en-US" sz="2800" dirty="0">
              <a:latin typeface="Calibir"/>
            </a:endParaRPr>
          </a:p>
        </p:txBody>
      </p:sp>
      <p:sp>
        <p:nvSpPr>
          <p:cNvPr id="8" name="TextBox 7">
            <a:extLst>
              <a:ext uri="{FF2B5EF4-FFF2-40B4-BE49-F238E27FC236}">
                <a16:creationId xmlns:a16="http://schemas.microsoft.com/office/drawing/2014/main" id="{D665873C-815C-64B2-C2C8-6E960F9ACC06}"/>
              </a:ext>
            </a:extLst>
          </p:cNvPr>
          <p:cNvSpPr txBox="1"/>
          <p:nvPr/>
        </p:nvSpPr>
        <p:spPr>
          <a:xfrm>
            <a:off x="5173860" y="4827360"/>
            <a:ext cx="6175772" cy="1318181"/>
          </a:xfrm>
          <a:prstGeom prst="rect">
            <a:avLst/>
          </a:prstGeom>
          <a:noFill/>
        </p:spPr>
        <p:txBody>
          <a:bodyPr wrap="square">
            <a:spAutoFit/>
          </a:bodyPr>
          <a:lstStyle/>
          <a:p>
            <a:pPr>
              <a:lnSpc>
                <a:spcPct val="150000"/>
              </a:lnSpc>
            </a:pPr>
            <a:r>
              <a:rPr lang="en-US" sz="2800" dirty="0">
                <a:latin typeface="Calibir"/>
              </a:rPr>
              <a:t>The ID </a:t>
            </a:r>
            <a:r>
              <a:rPr lang="en-US" sz="2800" dirty="0" err="1">
                <a:latin typeface="Calibir"/>
              </a:rPr>
              <a:t>outerwrapper</a:t>
            </a:r>
            <a:r>
              <a:rPr lang="en-US" sz="2800" dirty="0">
                <a:latin typeface="Calibir"/>
              </a:rPr>
              <a:t> identifies the main container section of the webpage.</a:t>
            </a:r>
          </a:p>
        </p:txBody>
      </p:sp>
      <p:sp>
        <p:nvSpPr>
          <p:cNvPr id="9" name="Rectangle: Rounded Corners 8">
            <a:extLst>
              <a:ext uri="{FF2B5EF4-FFF2-40B4-BE49-F238E27FC236}">
                <a16:creationId xmlns:a16="http://schemas.microsoft.com/office/drawing/2014/main" id="{0ACBF341-70D8-2E94-21C2-177AB37B15AD}"/>
              </a:ext>
            </a:extLst>
          </p:cNvPr>
          <p:cNvSpPr/>
          <p:nvPr/>
        </p:nvSpPr>
        <p:spPr>
          <a:xfrm>
            <a:off x="0" y="208432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30263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6B170-48FE-8EE9-56CA-829641E42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AD74F7-1E32-FC06-B6EA-36B460AF121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FBAC634-4E21-0A7B-A0B6-E58FE0334D2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15</a:t>
            </a:r>
          </a:p>
          <a:p>
            <a:pPr>
              <a:lnSpc>
                <a:spcPct val="150000"/>
              </a:lnSpc>
            </a:pPr>
            <a:r>
              <a:rPr lang="en-US" sz="2800" b="1" dirty="0">
                <a:latin typeface="Calibir"/>
              </a:rPr>
              <a:t>Which CSS properties are used to center the </a:t>
            </a:r>
            <a:r>
              <a:rPr lang="en-US" sz="2800" b="1" dirty="0" err="1">
                <a:latin typeface="Calibir"/>
              </a:rPr>
              <a:t>outerwrapper</a:t>
            </a:r>
            <a:r>
              <a:rPr lang="en-US" sz="2800" b="1" dirty="0">
                <a:latin typeface="Calibir"/>
              </a:rPr>
              <a:t>?</a:t>
            </a:r>
            <a:endParaRPr lang="en-US" sz="2800" dirty="0">
              <a:latin typeface="Calibir"/>
            </a:endParaRPr>
          </a:p>
          <a:p>
            <a:pPr>
              <a:lnSpc>
                <a:spcPct val="150000"/>
              </a:lnSpc>
            </a:pPr>
            <a:r>
              <a:rPr lang="en-US" sz="2800" dirty="0">
                <a:latin typeface="Calibir"/>
              </a:rPr>
              <a:t>A. padding and float</a:t>
            </a:r>
            <a:br>
              <a:rPr lang="en-US" sz="2800" dirty="0">
                <a:latin typeface="Calibir"/>
              </a:rPr>
            </a:br>
            <a:r>
              <a:rPr lang="en-US" sz="2800" dirty="0">
                <a:latin typeface="Calibir"/>
              </a:rPr>
              <a:t>B. width and margin </a:t>
            </a:r>
          </a:p>
          <a:p>
            <a:pPr>
              <a:lnSpc>
                <a:spcPct val="150000"/>
              </a:lnSpc>
            </a:pPr>
            <a:r>
              <a:rPr lang="en-US" sz="2800" dirty="0">
                <a:latin typeface="Calibir"/>
              </a:rPr>
              <a:t>C. left and right</a:t>
            </a:r>
            <a:br>
              <a:rPr lang="en-US" sz="2800" dirty="0">
                <a:latin typeface="Calibir"/>
              </a:rPr>
            </a:br>
            <a:r>
              <a:rPr lang="en-US" sz="2800" dirty="0">
                <a:latin typeface="Calibir"/>
              </a:rPr>
              <a:t>D. border and display</a:t>
            </a:r>
          </a:p>
        </p:txBody>
      </p:sp>
      <p:sp>
        <p:nvSpPr>
          <p:cNvPr id="8" name="TextBox 7">
            <a:extLst>
              <a:ext uri="{FF2B5EF4-FFF2-40B4-BE49-F238E27FC236}">
                <a16:creationId xmlns:a16="http://schemas.microsoft.com/office/drawing/2014/main" id="{D7D2D264-B88F-3B02-5C08-DCBA71EA258C}"/>
              </a:ext>
            </a:extLst>
          </p:cNvPr>
          <p:cNvSpPr txBox="1"/>
          <p:nvPr/>
        </p:nvSpPr>
        <p:spPr>
          <a:xfrm>
            <a:off x="4786313" y="4827360"/>
            <a:ext cx="6563319" cy="1318181"/>
          </a:xfrm>
          <a:prstGeom prst="rect">
            <a:avLst/>
          </a:prstGeom>
          <a:noFill/>
        </p:spPr>
        <p:txBody>
          <a:bodyPr wrap="square">
            <a:spAutoFit/>
          </a:bodyPr>
          <a:lstStyle/>
          <a:p>
            <a:pPr>
              <a:lnSpc>
                <a:spcPct val="150000"/>
              </a:lnSpc>
            </a:pPr>
            <a:r>
              <a:rPr lang="en-US" sz="2800" dirty="0">
                <a:latin typeface="Calibir"/>
              </a:rPr>
              <a:t>The width sets the size, and the margin property centers the wrapper on the page.</a:t>
            </a:r>
          </a:p>
        </p:txBody>
      </p:sp>
      <p:sp>
        <p:nvSpPr>
          <p:cNvPr id="9" name="Rectangle: Rounded Corners 8">
            <a:extLst>
              <a:ext uri="{FF2B5EF4-FFF2-40B4-BE49-F238E27FC236}">
                <a16:creationId xmlns:a16="http://schemas.microsoft.com/office/drawing/2014/main" id="{1FD1FDE2-23A1-F9E5-AD2D-349CEC7E96E8}"/>
              </a:ext>
            </a:extLst>
          </p:cNvPr>
          <p:cNvSpPr/>
          <p:nvPr/>
        </p:nvSpPr>
        <p:spPr>
          <a:xfrm>
            <a:off x="0" y="2662966"/>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018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5F973-9D58-8A17-4BBE-CFBA1CFA62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5FE4840-515A-6CB7-3372-EF33EC966AD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344117C-919B-077C-A544-5916BD312051}"/>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16</a:t>
            </a:r>
          </a:p>
          <a:p>
            <a:pPr>
              <a:lnSpc>
                <a:spcPct val="150000"/>
              </a:lnSpc>
            </a:pPr>
            <a:r>
              <a:rPr lang="en-US" sz="2800" b="1" dirty="0">
                <a:latin typeface="Calibir"/>
              </a:rPr>
              <a:t>Which font family is applied to header, nav, and footer in Project 2?</a:t>
            </a:r>
            <a:endParaRPr lang="en-US" sz="2800" dirty="0">
              <a:latin typeface="Calibir"/>
            </a:endParaRPr>
          </a:p>
          <a:p>
            <a:pPr>
              <a:lnSpc>
                <a:spcPct val="150000"/>
              </a:lnSpc>
            </a:pPr>
            <a:r>
              <a:rPr lang="en-US" sz="2800" dirty="0">
                <a:latin typeface="Calibir"/>
              </a:rPr>
              <a:t>A. Tahoma, serif</a:t>
            </a:r>
            <a:br>
              <a:rPr lang="en-US" sz="2800" dirty="0">
                <a:latin typeface="Calibir"/>
              </a:rPr>
            </a:br>
            <a:r>
              <a:rPr lang="en-US" sz="2800" dirty="0">
                <a:latin typeface="Calibir"/>
              </a:rPr>
              <a:t>B. Verdana, Calibri</a:t>
            </a:r>
            <a:br>
              <a:rPr lang="en-US" sz="2800" dirty="0">
                <a:latin typeface="Calibir"/>
              </a:rPr>
            </a:br>
            <a:r>
              <a:rPr lang="en-US" sz="2800" dirty="0">
                <a:latin typeface="Calibir"/>
              </a:rPr>
              <a:t>C. Garamond, serif</a:t>
            </a:r>
          </a:p>
          <a:p>
            <a:pPr>
              <a:lnSpc>
                <a:spcPct val="150000"/>
              </a:lnSpc>
            </a:pPr>
            <a:r>
              <a:rPr lang="en-US" sz="2800" dirty="0">
                <a:latin typeface="Calibir"/>
              </a:rPr>
              <a:t>D. Calibri, Arial, sans-serif</a:t>
            </a:r>
          </a:p>
        </p:txBody>
      </p:sp>
      <p:sp>
        <p:nvSpPr>
          <p:cNvPr id="8" name="TextBox 7">
            <a:extLst>
              <a:ext uri="{FF2B5EF4-FFF2-40B4-BE49-F238E27FC236}">
                <a16:creationId xmlns:a16="http://schemas.microsoft.com/office/drawing/2014/main" id="{D75373AD-96F2-B556-52CF-C8B431AB9761}"/>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These fonts are used because they are clean and easy to read.</a:t>
            </a:r>
          </a:p>
        </p:txBody>
      </p:sp>
      <p:sp>
        <p:nvSpPr>
          <p:cNvPr id="9" name="Rectangle: Rounded Corners 8">
            <a:extLst>
              <a:ext uri="{FF2B5EF4-FFF2-40B4-BE49-F238E27FC236}">
                <a16:creationId xmlns:a16="http://schemas.microsoft.com/office/drawing/2014/main" id="{1501A679-CAC8-0D8D-0151-79BC7C735EDF}"/>
              </a:ext>
            </a:extLst>
          </p:cNvPr>
          <p:cNvSpPr/>
          <p:nvPr/>
        </p:nvSpPr>
        <p:spPr>
          <a:xfrm>
            <a:off x="0" y="3972528"/>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9674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A2459-4F77-2B8B-F26A-69EEEFAE397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714C28-2165-16AA-1297-916CDC576F2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2F0FAEED-704F-98CC-B1E4-49199F7A31C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17</a:t>
            </a:r>
          </a:p>
          <a:p>
            <a:pPr>
              <a:lnSpc>
                <a:spcPct val="150000"/>
              </a:lnSpc>
            </a:pPr>
            <a:r>
              <a:rPr lang="en-US" sz="2800" b="1" dirty="0">
                <a:latin typeface="Calibir"/>
              </a:rPr>
              <a:t>Which selector applies the lighter background and 10px padding in Project 2?</a:t>
            </a:r>
            <a:endParaRPr lang="en-US" sz="2800" dirty="0">
              <a:latin typeface="Calibir"/>
            </a:endParaRPr>
          </a:p>
          <a:p>
            <a:pPr>
              <a:lnSpc>
                <a:spcPct val="150000"/>
              </a:lnSpc>
            </a:pPr>
            <a:r>
              <a:rPr lang="en-US" sz="2800" dirty="0">
                <a:latin typeface="Calibir"/>
              </a:rPr>
              <a:t>A. #main</a:t>
            </a:r>
            <a:br>
              <a:rPr lang="en-US" sz="2800" dirty="0">
                <a:latin typeface="Calibir"/>
              </a:rPr>
            </a:br>
            <a:r>
              <a:rPr lang="en-US" sz="2800" dirty="0">
                <a:latin typeface="Calibir"/>
              </a:rPr>
              <a:t>B. .body</a:t>
            </a:r>
            <a:br>
              <a:rPr lang="en-US" sz="2800" dirty="0">
                <a:latin typeface="Calibir"/>
              </a:rPr>
            </a:br>
            <a:r>
              <a:rPr lang="en-US" sz="2800" dirty="0">
                <a:latin typeface="Calibir"/>
              </a:rPr>
              <a:t>C. #wrapper</a:t>
            </a:r>
            <a:br>
              <a:rPr lang="en-US" sz="2800" dirty="0">
                <a:latin typeface="Calibir"/>
              </a:rPr>
            </a:br>
            <a:r>
              <a:rPr lang="en-US" sz="2800" dirty="0">
                <a:latin typeface="Calibir"/>
              </a:rPr>
              <a:t>D. .content</a:t>
            </a:r>
          </a:p>
        </p:txBody>
      </p:sp>
      <p:sp>
        <p:nvSpPr>
          <p:cNvPr id="8" name="TextBox 7">
            <a:extLst>
              <a:ext uri="{FF2B5EF4-FFF2-40B4-BE49-F238E27FC236}">
                <a16:creationId xmlns:a16="http://schemas.microsoft.com/office/drawing/2014/main" id="{74D1380B-EFFE-192A-6346-5003E3CE5EA1}"/>
              </a:ext>
            </a:extLst>
          </p:cNvPr>
          <p:cNvSpPr txBox="1"/>
          <p:nvPr/>
        </p:nvSpPr>
        <p:spPr>
          <a:xfrm>
            <a:off x="4786313" y="4827360"/>
            <a:ext cx="6563319" cy="1318181"/>
          </a:xfrm>
          <a:prstGeom prst="rect">
            <a:avLst/>
          </a:prstGeom>
          <a:noFill/>
        </p:spPr>
        <p:txBody>
          <a:bodyPr wrap="square">
            <a:spAutoFit/>
          </a:bodyPr>
          <a:lstStyle/>
          <a:p>
            <a:pPr>
              <a:lnSpc>
                <a:spcPct val="150000"/>
              </a:lnSpc>
            </a:pPr>
            <a:r>
              <a:rPr lang="en-US" sz="2800" dirty="0">
                <a:latin typeface="Calibir"/>
              </a:rPr>
              <a:t>The #main selector styles the main content area with background </a:t>
            </a:r>
            <a:r>
              <a:rPr lang="en-US" sz="2800" dirty="0" err="1">
                <a:latin typeface="Calibir"/>
              </a:rPr>
              <a:t>colour</a:t>
            </a:r>
            <a:r>
              <a:rPr lang="en-US" sz="2800" dirty="0">
                <a:latin typeface="Calibir"/>
              </a:rPr>
              <a:t> and padding.</a:t>
            </a:r>
          </a:p>
        </p:txBody>
      </p:sp>
      <p:sp>
        <p:nvSpPr>
          <p:cNvPr id="9" name="Rectangle: Rounded Corners 8">
            <a:extLst>
              <a:ext uri="{FF2B5EF4-FFF2-40B4-BE49-F238E27FC236}">
                <a16:creationId xmlns:a16="http://schemas.microsoft.com/office/drawing/2014/main" id="{9482F12F-97A4-533F-514B-44323D91AC9B}"/>
              </a:ext>
            </a:extLst>
          </p:cNvPr>
          <p:cNvSpPr/>
          <p:nvPr/>
        </p:nvSpPr>
        <p:spPr>
          <a:xfrm>
            <a:off x="0" y="208094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725122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AB802-8086-7891-C816-B3804D63DE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BCE530-D335-7459-3924-E2899346063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75CCDAD-1597-C21F-3010-7F2E7CDEC674}"/>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18</a:t>
            </a:r>
          </a:p>
          <a:p>
            <a:pPr>
              <a:lnSpc>
                <a:spcPct val="150000"/>
              </a:lnSpc>
            </a:pPr>
            <a:r>
              <a:rPr lang="en-US" sz="2800" b="1" dirty="0">
                <a:latin typeface="Calibir"/>
              </a:rPr>
              <a:t>What does the </a:t>
            </a:r>
            <a:r>
              <a:rPr lang="en-US" sz="2800" b="1" dirty="0" err="1">
                <a:latin typeface="Calibir"/>
              </a:rPr>
              <a:t>img</a:t>
            </a:r>
            <a:r>
              <a:rPr lang="en-US" sz="2800" b="1" dirty="0">
                <a:latin typeface="Calibir"/>
              </a:rPr>
              <a:t> selector do in Project 2?</a:t>
            </a:r>
            <a:endParaRPr lang="en-US" sz="2800" dirty="0">
              <a:latin typeface="Calibir"/>
            </a:endParaRPr>
          </a:p>
          <a:p>
            <a:pPr>
              <a:lnSpc>
                <a:spcPct val="150000"/>
              </a:lnSpc>
            </a:pPr>
            <a:r>
              <a:rPr lang="en-US" sz="2800" dirty="0">
                <a:latin typeface="Calibir"/>
              </a:rPr>
              <a:t>A. Adds border radius</a:t>
            </a:r>
            <a:br>
              <a:rPr lang="en-US" sz="2800" dirty="0">
                <a:latin typeface="Calibir"/>
              </a:rPr>
            </a:br>
            <a:r>
              <a:rPr lang="en-US" sz="2800" dirty="0">
                <a:latin typeface="Calibir"/>
              </a:rPr>
              <a:t>B. Centers the image</a:t>
            </a:r>
            <a:br>
              <a:rPr lang="en-US" sz="2800" dirty="0">
                <a:latin typeface="Calibir"/>
              </a:rPr>
            </a:br>
            <a:r>
              <a:rPr lang="en-US" sz="2800" dirty="0">
                <a:latin typeface="Calibir"/>
              </a:rPr>
              <a:t>C. Adds a drop shadow</a:t>
            </a:r>
          </a:p>
          <a:p>
            <a:pPr>
              <a:lnSpc>
                <a:spcPct val="150000"/>
              </a:lnSpc>
            </a:pPr>
            <a:r>
              <a:rPr lang="en-US" sz="2800" dirty="0">
                <a:latin typeface="Calibir"/>
              </a:rPr>
              <a:t>D. Floats the image to the left</a:t>
            </a:r>
          </a:p>
        </p:txBody>
      </p:sp>
      <p:sp>
        <p:nvSpPr>
          <p:cNvPr id="8" name="TextBox 7">
            <a:extLst>
              <a:ext uri="{FF2B5EF4-FFF2-40B4-BE49-F238E27FC236}">
                <a16:creationId xmlns:a16="http://schemas.microsoft.com/office/drawing/2014/main" id="{CD451849-3F16-1BF7-5982-5BD3EA9C5602}"/>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image is moved to the left so text can wrap around it.</a:t>
            </a:r>
          </a:p>
        </p:txBody>
      </p:sp>
      <p:sp>
        <p:nvSpPr>
          <p:cNvPr id="9" name="Rectangle: Rounded Corners 8">
            <a:extLst>
              <a:ext uri="{FF2B5EF4-FFF2-40B4-BE49-F238E27FC236}">
                <a16:creationId xmlns:a16="http://schemas.microsoft.com/office/drawing/2014/main" id="{A2BCFA7B-2402-7E20-8B46-3AE09FA20EDF}"/>
              </a:ext>
            </a:extLst>
          </p:cNvPr>
          <p:cNvSpPr/>
          <p:nvPr/>
        </p:nvSpPr>
        <p:spPr>
          <a:xfrm>
            <a:off x="0" y="4032092"/>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033373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E05D0-47F0-DDDA-72F4-F14840BBCD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970A11-891F-4932-696B-4A77D9E2834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EE5B647-EBC6-1D2E-C128-C2136A78B4B7}"/>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19</a:t>
            </a:r>
          </a:p>
          <a:p>
            <a:pPr>
              <a:lnSpc>
                <a:spcPct val="150000"/>
              </a:lnSpc>
            </a:pPr>
            <a:r>
              <a:rPr lang="en-US" sz="2800" b="1" dirty="0">
                <a:latin typeface="Calibir"/>
              </a:rPr>
              <a:t>Which element is cleared using nav { clear: both; }?</a:t>
            </a:r>
            <a:endParaRPr lang="en-US" sz="2800" dirty="0">
              <a:latin typeface="Calibir"/>
            </a:endParaRPr>
          </a:p>
          <a:p>
            <a:pPr>
              <a:lnSpc>
                <a:spcPct val="150000"/>
              </a:lnSpc>
            </a:pPr>
            <a:r>
              <a:rPr lang="en-US" sz="2800" dirty="0">
                <a:latin typeface="Calibir"/>
              </a:rPr>
              <a:t>A. The footer only</a:t>
            </a:r>
            <a:br>
              <a:rPr lang="en-US" sz="2800" dirty="0">
                <a:latin typeface="Calibir"/>
              </a:rPr>
            </a:br>
            <a:r>
              <a:rPr lang="en-US" sz="2800" dirty="0">
                <a:latin typeface="Calibir"/>
              </a:rPr>
              <a:t>B. The floated image </a:t>
            </a:r>
          </a:p>
          <a:p>
            <a:pPr>
              <a:lnSpc>
                <a:spcPct val="150000"/>
              </a:lnSpc>
            </a:pPr>
            <a:r>
              <a:rPr lang="en-US" sz="2800" dirty="0">
                <a:latin typeface="Calibir"/>
              </a:rPr>
              <a:t>C. The header</a:t>
            </a:r>
            <a:br>
              <a:rPr lang="en-US" sz="2800" dirty="0">
                <a:latin typeface="Calibir"/>
              </a:rPr>
            </a:br>
            <a:r>
              <a:rPr lang="en-US" sz="2800" dirty="0">
                <a:latin typeface="Calibir"/>
              </a:rPr>
              <a:t>D. The title</a:t>
            </a:r>
          </a:p>
        </p:txBody>
      </p:sp>
      <p:sp>
        <p:nvSpPr>
          <p:cNvPr id="8" name="TextBox 7">
            <a:extLst>
              <a:ext uri="{FF2B5EF4-FFF2-40B4-BE49-F238E27FC236}">
                <a16:creationId xmlns:a16="http://schemas.microsoft.com/office/drawing/2014/main" id="{B9DA29AA-EA11-E2EA-1951-745747A61AB0}"/>
              </a:ext>
            </a:extLst>
          </p:cNvPr>
          <p:cNvSpPr txBox="1"/>
          <p:nvPr/>
        </p:nvSpPr>
        <p:spPr>
          <a:xfrm>
            <a:off x="4786313" y="4827360"/>
            <a:ext cx="6563319" cy="1968103"/>
          </a:xfrm>
          <a:prstGeom prst="rect">
            <a:avLst/>
          </a:prstGeom>
          <a:noFill/>
        </p:spPr>
        <p:txBody>
          <a:bodyPr wrap="square">
            <a:spAutoFit/>
          </a:bodyPr>
          <a:lstStyle/>
          <a:p>
            <a:pPr>
              <a:lnSpc>
                <a:spcPct val="150000"/>
              </a:lnSpc>
            </a:pPr>
            <a:r>
              <a:rPr lang="en-US" sz="2800" dirty="0">
                <a:latin typeface="Calibir"/>
              </a:rPr>
              <a:t>The clear property prevents the navigation section from wrapping around floated images.</a:t>
            </a:r>
          </a:p>
        </p:txBody>
      </p:sp>
      <p:sp>
        <p:nvSpPr>
          <p:cNvPr id="9" name="Rectangle: Rounded Corners 8">
            <a:extLst>
              <a:ext uri="{FF2B5EF4-FFF2-40B4-BE49-F238E27FC236}">
                <a16:creationId xmlns:a16="http://schemas.microsoft.com/office/drawing/2014/main" id="{221BCF57-1383-5463-EED3-60F53267494B}"/>
              </a:ext>
            </a:extLst>
          </p:cNvPr>
          <p:cNvSpPr/>
          <p:nvPr/>
        </p:nvSpPr>
        <p:spPr>
          <a:xfrm>
            <a:off x="0" y="269772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37178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6A2F0-7058-B2B0-9F5A-BA1D14ADB14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DBBC89A-E3C8-A723-7339-778EF622031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E75AA38-8363-DD73-0652-A68E10C6CD23}"/>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20</a:t>
            </a:r>
          </a:p>
          <a:p>
            <a:pPr>
              <a:lnSpc>
                <a:spcPct val="150000"/>
              </a:lnSpc>
            </a:pPr>
            <a:r>
              <a:rPr lang="en-US" sz="2800" b="1" dirty="0">
                <a:latin typeface="Calibir"/>
              </a:rPr>
              <a:t>Which class is added to increase right margin next to the image?</a:t>
            </a:r>
            <a:endParaRPr lang="en-US" sz="2800" dirty="0">
              <a:latin typeface="Calibir"/>
            </a:endParaRPr>
          </a:p>
          <a:p>
            <a:pPr>
              <a:lnSpc>
                <a:spcPct val="150000"/>
              </a:lnSpc>
            </a:pPr>
            <a:r>
              <a:rPr lang="en-US" sz="2800" dirty="0">
                <a:latin typeface="Calibir"/>
              </a:rPr>
              <a:t>A. </a:t>
            </a:r>
            <a:r>
              <a:rPr lang="en-US" sz="2800" dirty="0" err="1">
                <a:latin typeface="Calibir"/>
              </a:rPr>
              <a:t>addrightmargin</a:t>
            </a:r>
            <a:br>
              <a:rPr lang="en-US" sz="2800" dirty="0">
                <a:latin typeface="Calibir"/>
              </a:rPr>
            </a:br>
            <a:r>
              <a:rPr lang="en-US" sz="2800" dirty="0">
                <a:latin typeface="Calibir"/>
              </a:rPr>
              <a:t>B. </a:t>
            </a:r>
            <a:r>
              <a:rPr lang="en-US" sz="2800" dirty="0" err="1">
                <a:latin typeface="Calibir"/>
              </a:rPr>
              <a:t>floatright</a:t>
            </a:r>
            <a:br>
              <a:rPr lang="en-US" sz="2800" dirty="0">
                <a:latin typeface="Calibir"/>
              </a:rPr>
            </a:br>
            <a:r>
              <a:rPr lang="en-US" sz="2800" dirty="0">
                <a:latin typeface="Calibir"/>
              </a:rPr>
              <a:t>C. </a:t>
            </a:r>
            <a:r>
              <a:rPr lang="en-US" sz="2800" dirty="0" err="1">
                <a:latin typeface="Calibir"/>
              </a:rPr>
              <a:t>mainmargin</a:t>
            </a:r>
            <a:br>
              <a:rPr lang="en-US" sz="2800" dirty="0">
                <a:latin typeface="Calibir"/>
              </a:rPr>
            </a:br>
            <a:r>
              <a:rPr lang="en-US" sz="2800" dirty="0">
                <a:latin typeface="Calibir"/>
              </a:rPr>
              <a:t>D. </a:t>
            </a:r>
            <a:r>
              <a:rPr lang="en-US" sz="2800" dirty="0" err="1">
                <a:latin typeface="Calibir"/>
              </a:rPr>
              <a:t>indentcontent</a:t>
            </a:r>
            <a:endParaRPr lang="en-US" sz="2800" dirty="0">
              <a:latin typeface="Calibir"/>
            </a:endParaRPr>
          </a:p>
        </p:txBody>
      </p:sp>
      <p:sp>
        <p:nvSpPr>
          <p:cNvPr id="8" name="TextBox 7">
            <a:extLst>
              <a:ext uri="{FF2B5EF4-FFF2-40B4-BE49-F238E27FC236}">
                <a16:creationId xmlns:a16="http://schemas.microsoft.com/office/drawing/2014/main" id="{46C9E401-3B4C-5C5E-8D8E-0D0ECAD7BEA3}"/>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class adds extra spacing to the right side of the image.</a:t>
            </a:r>
          </a:p>
        </p:txBody>
      </p:sp>
      <p:sp>
        <p:nvSpPr>
          <p:cNvPr id="9" name="Rectangle: Rounded Corners 8">
            <a:extLst>
              <a:ext uri="{FF2B5EF4-FFF2-40B4-BE49-F238E27FC236}">
                <a16:creationId xmlns:a16="http://schemas.microsoft.com/office/drawing/2014/main" id="{D3E3AC04-6D9E-01C3-4913-C5A809FE157A}"/>
              </a:ext>
            </a:extLst>
          </p:cNvPr>
          <p:cNvSpPr/>
          <p:nvPr/>
        </p:nvSpPr>
        <p:spPr>
          <a:xfrm>
            <a:off x="0" y="2063435"/>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258642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A7A3B-617F-ADF9-99F7-4235496C314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439FCB-D5DD-EC7A-24A3-6A16DBB3975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3B068B9-2667-68BC-58C7-7636F1B8BA62}"/>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is the embedded style added to the in Project 2 used for?</a:t>
            </a:r>
            <a:endParaRPr lang="en-US" sz="2800" dirty="0">
              <a:latin typeface="Calibir"/>
            </a:endParaRPr>
          </a:p>
          <a:p>
            <a:pPr>
              <a:lnSpc>
                <a:spcPct val="150000"/>
              </a:lnSpc>
            </a:pPr>
            <a:r>
              <a:rPr lang="en-US" sz="2800" dirty="0">
                <a:latin typeface="Calibir"/>
              </a:rPr>
              <a:t>A. Adding a rounded border to #main</a:t>
            </a:r>
            <a:br>
              <a:rPr lang="en-US" sz="2800" dirty="0">
                <a:latin typeface="Calibir"/>
              </a:rPr>
            </a:br>
            <a:r>
              <a:rPr lang="en-US" sz="2800" dirty="0">
                <a:latin typeface="Calibir"/>
              </a:rPr>
              <a:t>B. Adding a drop shadow to #main</a:t>
            </a:r>
            <a:br>
              <a:rPr lang="en-US" sz="2800" dirty="0">
                <a:latin typeface="Calibir"/>
              </a:rPr>
            </a:br>
            <a:r>
              <a:rPr lang="en-US" sz="2800" dirty="0">
                <a:latin typeface="Calibir"/>
              </a:rPr>
              <a:t>C. Changing the font color</a:t>
            </a:r>
            <a:br>
              <a:rPr lang="en-US" sz="2800" dirty="0">
                <a:latin typeface="Calibir"/>
              </a:rPr>
            </a:br>
            <a:r>
              <a:rPr lang="en-US" sz="2800" dirty="0">
                <a:latin typeface="Calibir"/>
              </a:rPr>
              <a:t>D. Centering text</a:t>
            </a:r>
          </a:p>
        </p:txBody>
      </p:sp>
      <p:sp>
        <p:nvSpPr>
          <p:cNvPr id="8" name="TextBox 7">
            <a:extLst>
              <a:ext uri="{FF2B5EF4-FFF2-40B4-BE49-F238E27FC236}">
                <a16:creationId xmlns:a16="http://schemas.microsoft.com/office/drawing/2014/main" id="{32B18D73-6195-5575-D6FD-BB5F8E784C2D}"/>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embedded style gives the #main section rounded corners.</a:t>
            </a:r>
          </a:p>
        </p:txBody>
      </p:sp>
      <p:sp>
        <p:nvSpPr>
          <p:cNvPr id="9" name="Rectangle: Rounded Corners 8">
            <a:extLst>
              <a:ext uri="{FF2B5EF4-FFF2-40B4-BE49-F238E27FC236}">
                <a16:creationId xmlns:a16="http://schemas.microsoft.com/office/drawing/2014/main" id="{AAFF3D36-4C40-1022-53F6-800D75125ABD}"/>
              </a:ext>
            </a:extLst>
          </p:cNvPr>
          <p:cNvSpPr/>
          <p:nvPr/>
        </p:nvSpPr>
        <p:spPr>
          <a:xfrm>
            <a:off x="0" y="2063435"/>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90876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90D0D-6E2F-B96E-1B73-F3BB38FCF0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8270064-98E5-1BEB-4470-C7AD6AB4D64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EAD8DB-4796-74E9-2E8A-08661FF2206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22</a:t>
            </a:r>
          </a:p>
          <a:p>
            <a:pPr>
              <a:lnSpc>
                <a:spcPct val="150000"/>
              </a:lnSpc>
            </a:pPr>
            <a:r>
              <a:rPr lang="en-US" sz="2800" b="1" dirty="0">
                <a:latin typeface="Calibir"/>
              </a:rPr>
              <a:t>Which tags receive inline styles in step 15 of Challenge 1?</a:t>
            </a:r>
            <a:endParaRPr lang="en-US" sz="2800" dirty="0">
              <a:latin typeface="Calibir"/>
            </a:endParaRPr>
          </a:p>
          <a:p>
            <a:pPr>
              <a:lnSpc>
                <a:spcPct val="150000"/>
              </a:lnSpc>
            </a:pPr>
            <a:r>
              <a:rPr lang="en-US" sz="2800" dirty="0">
                <a:latin typeface="Calibir"/>
              </a:rPr>
              <a:t>A. &lt;p&gt;</a:t>
            </a:r>
            <a:br>
              <a:rPr lang="en-US" sz="2800" dirty="0">
                <a:latin typeface="Calibir"/>
              </a:rPr>
            </a:br>
            <a:r>
              <a:rPr lang="en-US" sz="2800" dirty="0">
                <a:latin typeface="Calibir"/>
              </a:rPr>
              <a:t>B. &lt;div&gt;</a:t>
            </a:r>
            <a:br>
              <a:rPr lang="en-US" sz="2800" dirty="0">
                <a:latin typeface="Calibir"/>
              </a:rPr>
            </a:br>
            <a:r>
              <a:rPr lang="en-US" sz="2800" dirty="0">
                <a:latin typeface="Calibir"/>
              </a:rPr>
              <a:t>C. &lt;span&gt;</a:t>
            </a:r>
            <a:br>
              <a:rPr lang="en-US" sz="2800" dirty="0">
                <a:latin typeface="Calibir"/>
              </a:rPr>
            </a:br>
            <a:r>
              <a:rPr lang="en-US" sz="2800" dirty="0">
                <a:latin typeface="Calibir"/>
              </a:rPr>
              <a:t>D. &lt;</a:t>
            </a:r>
            <a:r>
              <a:rPr lang="en-US" sz="2800" dirty="0" err="1">
                <a:latin typeface="Calibir"/>
              </a:rPr>
              <a:t>url</a:t>
            </a:r>
            <a:r>
              <a:rPr lang="en-US" sz="2800" dirty="0">
                <a:latin typeface="Calibir"/>
              </a:rPr>
              <a:t>&gt;</a:t>
            </a:r>
          </a:p>
        </p:txBody>
      </p:sp>
      <p:sp>
        <p:nvSpPr>
          <p:cNvPr id="8" name="TextBox 7">
            <a:extLst>
              <a:ext uri="{FF2B5EF4-FFF2-40B4-BE49-F238E27FC236}">
                <a16:creationId xmlns:a16="http://schemas.microsoft.com/office/drawing/2014/main" id="{0E7ADC01-51FA-6009-E55A-E391BA13AEDB}"/>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&lt;span&gt; tag is used for applying styles to small sections of text.</a:t>
            </a:r>
          </a:p>
        </p:txBody>
      </p:sp>
      <p:sp>
        <p:nvSpPr>
          <p:cNvPr id="9" name="Rectangle: Rounded Corners 8">
            <a:extLst>
              <a:ext uri="{FF2B5EF4-FFF2-40B4-BE49-F238E27FC236}">
                <a16:creationId xmlns:a16="http://schemas.microsoft.com/office/drawing/2014/main" id="{5B67FBA5-814B-075C-32FF-9E494717BB13}"/>
              </a:ext>
            </a:extLst>
          </p:cNvPr>
          <p:cNvSpPr/>
          <p:nvPr/>
        </p:nvSpPr>
        <p:spPr>
          <a:xfrm>
            <a:off x="0" y="333502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809361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DB4DE-0AA8-0CAE-C9E0-5E1B3374F1E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882C5F7-AA60-BF1F-8C3D-AEC5BBD264F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8FC6FD-82B4-AA25-35F3-FCAE9BCFA6D1}"/>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23</a:t>
            </a:r>
          </a:p>
          <a:p>
            <a:pPr>
              <a:lnSpc>
                <a:spcPct val="150000"/>
              </a:lnSpc>
            </a:pPr>
            <a:r>
              <a:rPr lang="en-US" sz="2800" b="1" dirty="0">
                <a:latin typeface="Calibir"/>
              </a:rPr>
              <a:t>Which CSS validator message indicates success?</a:t>
            </a:r>
            <a:endParaRPr lang="en-US" sz="2800" dirty="0">
              <a:latin typeface="Calibir"/>
            </a:endParaRPr>
          </a:p>
          <a:p>
            <a:pPr>
              <a:lnSpc>
                <a:spcPct val="150000"/>
              </a:lnSpc>
            </a:pPr>
            <a:r>
              <a:rPr lang="en-US" sz="2800" dirty="0">
                <a:latin typeface="Calibir"/>
              </a:rPr>
              <a:t>A. Congratulations! No Error Found.</a:t>
            </a:r>
            <a:br>
              <a:rPr lang="en-US" sz="2800" dirty="0">
                <a:latin typeface="Calibir"/>
              </a:rPr>
            </a:br>
            <a:r>
              <a:rPr lang="en-US" sz="2800" dirty="0">
                <a:latin typeface="Calibir"/>
              </a:rPr>
              <a:t>B. CSS Validated</a:t>
            </a:r>
            <a:br>
              <a:rPr lang="en-US" sz="2800" dirty="0">
                <a:latin typeface="Calibir"/>
              </a:rPr>
            </a:br>
            <a:r>
              <a:rPr lang="en-US" sz="2800" dirty="0">
                <a:latin typeface="Calibir"/>
              </a:rPr>
              <a:t>C. Checked and approved</a:t>
            </a:r>
            <a:br>
              <a:rPr lang="en-US" sz="2800" dirty="0">
                <a:latin typeface="Calibir"/>
              </a:rPr>
            </a:br>
            <a:r>
              <a:rPr lang="en-US" sz="2800" dirty="0">
                <a:latin typeface="Calibir"/>
              </a:rPr>
              <a:t>D. Success: 0 warnings</a:t>
            </a:r>
          </a:p>
        </p:txBody>
      </p:sp>
      <p:sp>
        <p:nvSpPr>
          <p:cNvPr id="8" name="TextBox 7">
            <a:extLst>
              <a:ext uri="{FF2B5EF4-FFF2-40B4-BE49-F238E27FC236}">
                <a16:creationId xmlns:a16="http://schemas.microsoft.com/office/drawing/2014/main" id="{29393E32-0CA7-C1AF-EAE2-0440A48D7B46}"/>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message means the CSS code has no validation errors.</a:t>
            </a:r>
          </a:p>
        </p:txBody>
      </p:sp>
      <p:sp>
        <p:nvSpPr>
          <p:cNvPr id="9" name="Rectangle: Rounded Corners 8">
            <a:extLst>
              <a:ext uri="{FF2B5EF4-FFF2-40B4-BE49-F238E27FC236}">
                <a16:creationId xmlns:a16="http://schemas.microsoft.com/office/drawing/2014/main" id="{FFCC5E09-3581-D1B6-F0CF-2E89082A2144}"/>
              </a:ext>
            </a:extLst>
          </p:cNvPr>
          <p:cNvSpPr/>
          <p:nvPr/>
        </p:nvSpPr>
        <p:spPr>
          <a:xfrm>
            <a:off x="0" y="208034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83189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5B376-CC2C-F9C7-6146-E093BED9C6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3737479-072C-7626-E710-60197150185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843C085-A6D8-E307-F715-8B545313FA1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24</a:t>
            </a:r>
          </a:p>
          <a:p>
            <a:pPr>
              <a:lnSpc>
                <a:spcPct val="150000"/>
              </a:lnSpc>
            </a:pPr>
            <a:r>
              <a:rPr lang="en-US" sz="2800" b="1" dirty="0">
                <a:latin typeface="Calibir"/>
              </a:rPr>
              <a:t>In Challenge 2, what is the name of the required external stylesheet?</a:t>
            </a:r>
            <a:endParaRPr lang="en-US" sz="2800" dirty="0">
              <a:latin typeface="Calibir"/>
            </a:endParaRPr>
          </a:p>
          <a:p>
            <a:pPr>
              <a:lnSpc>
                <a:spcPct val="150000"/>
              </a:lnSpc>
            </a:pPr>
            <a:r>
              <a:rPr lang="en-US" sz="2800" dirty="0">
                <a:latin typeface="Calibir"/>
              </a:rPr>
              <a:t>A. styles04.css</a:t>
            </a:r>
            <a:br>
              <a:rPr lang="en-US" sz="2800" dirty="0">
                <a:latin typeface="Calibir"/>
              </a:rPr>
            </a:br>
            <a:r>
              <a:rPr lang="en-US" sz="2800" dirty="0">
                <a:latin typeface="Calibir"/>
              </a:rPr>
              <a:t>B. farmerstyles04.css </a:t>
            </a:r>
          </a:p>
          <a:p>
            <a:pPr>
              <a:lnSpc>
                <a:spcPct val="150000"/>
              </a:lnSpc>
            </a:pPr>
            <a:r>
              <a:rPr lang="en-US" sz="2800" dirty="0">
                <a:latin typeface="Calibir"/>
              </a:rPr>
              <a:t>C. cityfarm.css</a:t>
            </a:r>
            <a:br>
              <a:rPr lang="en-US" sz="2800" dirty="0">
                <a:latin typeface="Calibir"/>
              </a:rPr>
            </a:br>
            <a:r>
              <a:rPr lang="en-US" sz="2800" dirty="0">
                <a:latin typeface="Calibir"/>
              </a:rPr>
              <a:t>D. farmer.css</a:t>
            </a:r>
          </a:p>
        </p:txBody>
      </p:sp>
      <p:sp>
        <p:nvSpPr>
          <p:cNvPr id="8" name="TextBox 7">
            <a:extLst>
              <a:ext uri="{FF2B5EF4-FFF2-40B4-BE49-F238E27FC236}">
                <a16:creationId xmlns:a16="http://schemas.microsoft.com/office/drawing/2014/main" id="{5C943F5D-D083-0A72-E408-75BE2717DF31}"/>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stylesheet file contains the CSS formatting rules for Challenge 2.</a:t>
            </a:r>
          </a:p>
        </p:txBody>
      </p:sp>
      <p:sp>
        <p:nvSpPr>
          <p:cNvPr id="9" name="Rectangle: Rounded Corners 8">
            <a:extLst>
              <a:ext uri="{FF2B5EF4-FFF2-40B4-BE49-F238E27FC236}">
                <a16:creationId xmlns:a16="http://schemas.microsoft.com/office/drawing/2014/main" id="{357A468C-8A6F-EE3D-61D5-36F7BDE2AA70}"/>
              </a:ext>
            </a:extLst>
          </p:cNvPr>
          <p:cNvSpPr/>
          <p:nvPr/>
        </p:nvSpPr>
        <p:spPr>
          <a:xfrm>
            <a:off x="0" y="2701847"/>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093943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7EBCE-50E3-81AF-5D73-92070A6C64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3B92A9D-3B64-F38A-9072-C78C495904A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5BF3D3B-51F4-8F43-3105-F38B2338B91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25</a:t>
            </a:r>
          </a:p>
          <a:p>
            <a:pPr>
              <a:lnSpc>
                <a:spcPct val="150000"/>
              </a:lnSpc>
            </a:pPr>
            <a:r>
              <a:rPr lang="en-US" sz="2800" b="1" dirty="0">
                <a:latin typeface="Calibir"/>
              </a:rPr>
              <a:t>Why are class attributes used for </a:t>
            </a:r>
            <a:r>
              <a:rPr lang="en-US" sz="2800" b="1" dirty="0" err="1">
                <a:latin typeface="Calibir"/>
              </a:rPr>
              <a:t>floatleft</a:t>
            </a:r>
            <a:r>
              <a:rPr lang="en-US" sz="2800" b="1" dirty="0">
                <a:latin typeface="Calibir"/>
              </a:rPr>
              <a:t> and </a:t>
            </a:r>
            <a:r>
              <a:rPr lang="en-US" sz="2800" b="1" dirty="0" err="1">
                <a:latin typeface="Calibir"/>
              </a:rPr>
              <a:t>floatright</a:t>
            </a:r>
            <a:r>
              <a:rPr lang="en-US" sz="2800" b="1" dirty="0">
                <a:latin typeface="Calibir"/>
              </a:rPr>
              <a:t> instead of IDs?</a:t>
            </a:r>
            <a:endParaRPr lang="en-US" sz="2800" dirty="0">
              <a:latin typeface="Calibir"/>
            </a:endParaRPr>
          </a:p>
          <a:p>
            <a:pPr>
              <a:lnSpc>
                <a:spcPct val="150000"/>
              </a:lnSpc>
            </a:pPr>
            <a:r>
              <a:rPr lang="en-US" sz="2800" dirty="0">
                <a:latin typeface="Calibir"/>
              </a:rPr>
              <a:t>A. Classes allow reuse on multiple elements</a:t>
            </a:r>
            <a:br>
              <a:rPr lang="en-US" sz="2800" dirty="0">
                <a:latin typeface="Calibir"/>
              </a:rPr>
            </a:br>
            <a:r>
              <a:rPr lang="en-US" sz="2800" dirty="0">
                <a:latin typeface="Calibir"/>
              </a:rPr>
              <a:t>B. IDs make CSS invalid</a:t>
            </a:r>
            <a:br>
              <a:rPr lang="en-US" sz="2800" dirty="0">
                <a:latin typeface="Calibir"/>
              </a:rPr>
            </a:br>
            <a:r>
              <a:rPr lang="en-US" sz="2800" dirty="0">
                <a:latin typeface="Calibir"/>
              </a:rPr>
              <a:t>C. Classes prevent validation errors</a:t>
            </a:r>
            <a:br>
              <a:rPr lang="en-US" sz="2800" dirty="0">
                <a:latin typeface="Calibir"/>
              </a:rPr>
            </a:br>
            <a:r>
              <a:rPr lang="en-US" sz="2800" dirty="0">
                <a:latin typeface="Calibir"/>
              </a:rPr>
              <a:t>D. IDs cannot float images</a:t>
            </a:r>
          </a:p>
        </p:txBody>
      </p:sp>
      <p:sp>
        <p:nvSpPr>
          <p:cNvPr id="8" name="TextBox 7">
            <a:extLst>
              <a:ext uri="{FF2B5EF4-FFF2-40B4-BE49-F238E27FC236}">
                <a16:creationId xmlns:a16="http://schemas.microsoft.com/office/drawing/2014/main" id="{2A3976C1-5565-23B4-0854-81CEA5C38F06}"/>
              </a:ext>
            </a:extLst>
          </p:cNvPr>
          <p:cNvSpPr txBox="1"/>
          <p:nvPr/>
        </p:nvSpPr>
        <p:spPr>
          <a:xfrm>
            <a:off x="4786313" y="5170260"/>
            <a:ext cx="7405687" cy="1318181"/>
          </a:xfrm>
          <a:prstGeom prst="rect">
            <a:avLst/>
          </a:prstGeom>
          <a:noFill/>
        </p:spPr>
        <p:txBody>
          <a:bodyPr wrap="square">
            <a:spAutoFit/>
          </a:bodyPr>
          <a:lstStyle/>
          <a:p>
            <a:pPr>
              <a:lnSpc>
                <a:spcPct val="150000"/>
              </a:lnSpc>
            </a:pPr>
            <a:r>
              <a:rPr lang="en-US" sz="2800" dirty="0">
                <a:latin typeface="Calibir"/>
              </a:rPr>
              <a:t>Classes can be used many times on a webpage, while IDs should only be used once.</a:t>
            </a:r>
          </a:p>
        </p:txBody>
      </p:sp>
      <p:sp>
        <p:nvSpPr>
          <p:cNvPr id="9" name="Rectangle: Rounded Corners 8">
            <a:extLst>
              <a:ext uri="{FF2B5EF4-FFF2-40B4-BE49-F238E27FC236}">
                <a16:creationId xmlns:a16="http://schemas.microsoft.com/office/drawing/2014/main" id="{86B27B26-EADA-1F1B-33A5-202A9BB0F6D0}"/>
              </a:ext>
            </a:extLst>
          </p:cNvPr>
          <p:cNvSpPr/>
          <p:nvPr/>
        </p:nvSpPr>
        <p:spPr>
          <a:xfrm>
            <a:off x="0" y="208034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62580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9011" y="3293269"/>
            <a:ext cx="11853978" cy="2610843"/>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1730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154430" y="1594466"/>
            <a:ext cx="4513571" cy="4543576"/>
          </a:xfrm>
          <a:prstGeom prst="rect">
            <a:avLst/>
          </a:prstGeom>
        </p:spPr>
        <p:txBody>
          <a:bodyPr vert="horz" lIns="68580" tIns="34290" rIns="68580" bIns="34290" rtlCol="0" anchor="t">
            <a:noAutofit/>
          </a:bodyPr>
          <a:lstStyle/>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400" b="0" i="0" u="none" strike="noStrike" kern="0" cap="none" spc="-20" normalizeH="0" baseline="0" noProof="0" dirty="0">
                <a:ln>
                  <a:noFill/>
                </a:ln>
                <a:solidFill>
                  <a:sysClr val="windowText" lastClr="000000"/>
                </a:solidFill>
                <a:effectLst/>
                <a:uLnTx/>
                <a:uFillTx/>
                <a:latin typeface="Calibri" panose="020F0502020204030204" pitchFamily="34" charset="0"/>
                <a:ea typeface="+mn-ea"/>
                <a:cs typeface="Calibri" panose="020F0502020204030204" pitchFamily="34" charset="0"/>
              </a:rPr>
              <a:t>Happy Learning and Bright Futures Ahead!</a:t>
            </a:r>
          </a:p>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1704</TotalTime>
  <Words>7735</Words>
  <Application>Microsoft Office PowerPoint</Application>
  <PresentationFormat>Widescreen</PresentationFormat>
  <Paragraphs>428</Paragraphs>
  <Slides>116</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116</vt:i4>
      </vt:variant>
    </vt:vector>
  </HeadingPairs>
  <TitlesOfParts>
    <vt:vector size="126" baseType="lpstr">
      <vt:lpstr>Aptos</vt:lpstr>
      <vt:lpstr>Aptos Display</vt:lpstr>
      <vt:lpstr>Arial</vt:lpstr>
      <vt:lpstr>Calibir</vt:lpstr>
      <vt:lpstr>Calibri</vt:lpstr>
      <vt:lpstr>Söhne</vt:lpstr>
      <vt:lpstr>Söhne Mono</vt:lpstr>
      <vt:lpstr>Tahoma</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Sydney Classroom</cp:lastModifiedBy>
  <cp:revision>356</cp:revision>
  <dcterms:created xsi:type="dcterms:W3CDTF">2024-04-02T03:16:29Z</dcterms:created>
  <dcterms:modified xsi:type="dcterms:W3CDTF">2026-05-22T07:01:31Z</dcterms:modified>
</cp:coreProperties>
</file>
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08"/>
  </p:notesMasterIdLst>
  <p:sldIdLst>
    <p:sldId id="287" r:id="rId3"/>
    <p:sldId id="262" r:id="rId4"/>
    <p:sldId id="1852" r:id="rId5"/>
    <p:sldId id="1946" r:id="rId6"/>
    <p:sldId id="1853" r:id="rId7"/>
    <p:sldId id="1854" r:id="rId8"/>
    <p:sldId id="1855" r:id="rId9"/>
    <p:sldId id="1856" r:id="rId10"/>
    <p:sldId id="1857" r:id="rId11"/>
    <p:sldId id="1858" r:id="rId12"/>
    <p:sldId id="1860" r:id="rId13"/>
    <p:sldId id="1859" r:id="rId14"/>
    <p:sldId id="1861" r:id="rId15"/>
    <p:sldId id="1862" r:id="rId16"/>
    <p:sldId id="1863" r:id="rId17"/>
    <p:sldId id="1874" r:id="rId18"/>
    <p:sldId id="1864" r:id="rId19"/>
    <p:sldId id="1865" r:id="rId20"/>
    <p:sldId id="1866" r:id="rId21"/>
    <p:sldId id="1867" r:id="rId22"/>
    <p:sldId id="1868" r:id="rId23"/>
    <p:sldId id="1869" r:id="rId24"/>
    <p:sldId id="1870" r:id="rId25"/>
    <p:sldId id="1871" r:id="rId26"/>
    <p:sldId id="1875" r:id="rId27"/>
    <p:sldId id="1876" r:id="rId28"/>
    <p:sldId id="1877" r:id="rId29"/>
    <p:sldId id="1878" r:id="rId30"/>
    <p:sldId id="1879" r:id="rId31"/>
    <p:sldId id="1884" r:id="rId32"/>
    <p:sldId id="1880" r:id="rId33"/>
    <p:sldId id="1881" r:id="rId34"/>
    <p:sldId id="1882" r:id="rId35"/>
    <p:sldId id="1883" r:id="rId36"/>
    <p:sldId id="1885" r:id="rId37"/>
    <p:sldId id="1886" r:id="rId38"/>
    <p:sldId id="1887" r:id="rId39"/>
    <p:sldId id="1888" r:id="rId40"/>
    <p:sldId id="1889" r:id="rId41"/>
    <p:sldId id="1890" r:id="rId42"/>
    <p:sldId id="1891" r:id="rId43"/>
    <p:sldId id="1892" r:id="rId44"/>
    <p:sldId id="1893" r:id="rId45"/>
    <p:sldId id="1894" r:id="rId46"/>
    <p:sldId id="1895" r:id="rId47"/>
    <p:sldId id="1897" r:id="rId48"/>
    <p:sldId id="1898" r:id="rId49"/>
    <p:sldId id="1899" r:id="rId50"/>
    <p:sldId id="1900" r:id="rId51"/>
    <p:sldId id="1901" r:id="rId52"/>
    <p:sldId id="1902" r:id="rId53"/>
    <p:sldId id="1903" r:id="rId54"/>
    <p:sldId id="1904" r:id="rId55"/>
    <p:sldId id="1905" r:id="rId56"/>
    <p:sldId id="1906" r:id="rId57"/>
    <p:sldId id="1907" r:id="rId58"/>
    <p:sldId id="1908" r:id="rId59"/>
    <p:sldId id="1909" r:id="rId60"/>
    <p:sldId id="1910" r:id="rId61"/>
    <p:sldId id="1911" r:id="rId62"/>
    <p:sldId id="1912" r:id="rId63"/>
    <p:sldId id="1913" r:id="rId64"/>
    <p:sldId id="1914" r:id="rId65"/>
    <p:sldId id="1915" r:id="rId66"/>
    <p:sldId id="1916" r:id="rId67"/>
    <p:sldId id="1917" r:id="rId68"/>
    <p:sldId id="1918" r:id="rId69"/>
    <p:sldId id="1919" r:id="rId70"/>
    <p:sldId id="1920" r:id="rId71"/>
    <p:sldId id="1921" r:id="rId72"/>
    <p:sldId id="1922" r:id="rId73"/>
    <p:sldId id="1923" r:id="rId74"/>
    <p:sldId id="1924" r:id="rId75"/>
    <p:sldId id="1925" r:id="rId76"/>
    <p:sldId id="1926" r:id="rId77"/>
    <p:sldId id="1927" r:id="rId78"/>
    <p:sldId id="1928" r:id="rId79"/>
    <p:sldId id="1929" r:id="rId80"/>
    <p:sldId id="1930" r:id="rId81"/>
    <p:sldId id="1931" r:id="rId82"/>
    <p:sldId id="1932" r:id="rId83"/>
    <p:sldId id="1933" r:id="rId84"/>
    <p:sldId id="1934" r:id="rId85"/>
    <p:sldId id="1935" r:id="rId86"/>
    <p:sldId id="1936" r:id="rId87"/>
    <p:sldId id="1937" r:id="rId88"/>
    <p:sldId id="1938" r:id="rId89"/>
    <p:sldId id="1939" r:id="rId90"/>
    <p:sldId id="1940" r:id="rId91"/>
    <p:sldId id="1941" r:id="rId92"/>
    <p:sldId id="1942" r:id="rId93"/>
    <p:sldId id="1943" r:id="rId94"/>
    <p:sldId id="1944" r:id="rId95"/>
    <p:sldId id="1851" r:id="rId96"/>
    <p:sldId id="484" r:id="rId97"/>
    <p:sldId id="486" r:id="rId98"/>
    <p:sldId id="487" r:id="rId99"/>
    <p:sldId id="488" r:id="rId100"/>
    <p:sldId id="490" r:id="rId101"/>
    <p:sldId id="1947" r:id="rId102"/>
    <p:sldId id="1961" r:id="rId103"/>
    <p:sldId id="1949" r:id="rId104"/>
    <p:sldId id="1950" r:id="rId105"/>
    <p:sldId id="1951" r:id="rId106"/>
    <p:sldId id="1952" r:id="rId107"/>
    <p:sldId id="1953" r:id="rId108"/>
    <p:sldId id="1954" r:id="rId109"/>
    <p:sldId id="1955" r:id="rId110"/>
    <p:sldId id="1948" r:id="rId111"/>
    <p:sldId id="1956" r:id="rId112"/>
    <p:sldId id="1957" r:id="rId113"/>
    <p:sldId id="1958" r:id="rId114"/>
    <p:sldId id="1959" r:id="rId115"/>
    <p:sldId id="1960" r:id="rId116"/>
    <p:sldId id="481" r:id="rId117"/>
    <p:sldId id="489" r:id="rId118"/>
    <p:sldId id="480" r:id="rId119"/>
    <p:sldId id="492" r:id="rId120"/>
    <p:sldId id="493" r:id="rId121"/>
    <p:sldId id="498" r:id="rId122"/>
    <p:sldId id="1962" r:id="rId123"/>
    <p:sldId id="1964" r:id="rId124"/>
    <p:sldId id="1965" r:id="rId125"/>
    <p:sldId id="1966" r:id="rId126"/>
    <p:sldId id="1967" r:id="rId127"/>
    <p:sldId id="1968" r:id="rId128"/>
    <p:sldId id="1969" r:id="rId129"/>
    <p:sldId id="1970" r:id="rId130"/>
    <p:sldId id="1972" r:id="rId131"/>
    <p:sldId id="1971" r:id="rId132"/>
    <p:sldId id="1973" r:id="rId133"/>
    <p:sldId id="1963" r:id="rId134"/>
    <p:sldId id="1974" r:id="rId135"/>
    <p:sldId id="1975" r:id="rId136"/>
    <p:sldId id="1976" r:id="rId137"/>
    <p:sldId id="1977" r:id="rId138"/>
    <p:sldId id="497" r:id="rId139"/>
    <p:sldId id="494" r:id="rId140"/>
    <p:sldId id="495" r:id="rId141"/>
    <p:sldId id="496" r:id="rId142"/>
    <p:sldId id="501" r:id="rId143"/>
    <p:sldId id="1978" r:id="rId144"/>
    <p:sldId id="1979" r:id="rId145"/>
    <p:sldId id="1980" r:id="rId146"/>
    <p:sldId id="1981" r:id="rId147"/>
    <p:sldId id="1982" r:id="rId148"/>
    <p:sldId id="1983" r:id="rId149"/>
    <p:sldId id="1984" r:id="rId150"/>
    <p:sldId id="1985" r:id="rId151"/>
    <p:sldId id="1986" r:id="rId152"/>
    <p:sldId id="1987" r:id="rId153"/>
    <p:sldId id="1988" r:id="rId154"/>
    <p:sldId id="1989" r:id="rId155"/>
    <p:sldId id="1990" r:id="rId156"/>
    <p:sldId id="1991" r:id="rId157"/>
    <p:sldId id="1992" r:id="rId158"/>
    <p:sldId id="499" r:id="rId159"/>
    <p:sldId id="503" r:id="rId160"/>
    <p:sldId id="504" r:id="rId161"/>
    <p:sldId id="505" r:id="rId162"/>
    <p:sldId id="506" r:id="rId163"/>
    <p:sldId id="507" r:id="rId164"/>
    <p:sldId id="508" r:id="rId165"/>
    <p:sldId id="509" r:id="rId166"/>
    <p:sldId id="510" r:id="rId167"/>
    <p:sldId id="511" r:id="rId168"/>
    <p:sldId id="512" r:id="rId169"/>
    <p:sldId id="513" r:id="rId170"/>
    <p:sldId id="514" r:id="rId171"/>
    <p:sldId id="515" r:id="rId172"/>
    <p:sldId id="1945" r:id="rId173"/>
    <p:sldId id="516" r:id="rId174"/>
    <p:sldId id="521" r:id="rId175"/>
    <p:sldId id="522" r:id="rId176"/>
    <p:sldId id="524" r:id="rId177"/>
    <p:sldId id="525" r:id="rId178"/>
    <p:sldId id="1993" r:id="rId179"/>
    <p:sldId id="1994" r:id="rId180"/>
    <p:sldId id="1995" r:id="rId181"/>
    <p:sldId id="1996" r:id="rId182"/>
    <p:sldId id="1997" r:id="rId183"/>
    <p:sldId id="1998" r:id="rId184"/>
    <p:sldId id="1999" r:id="rId185"/>
    <p:sldId id="2000" r:id="rId186"/>
    <p:sldId id="2001" r:id="rId187"/>
    <p:sldId id="2002" r:id="rId188"/>
    <p:sldId id="2003" r:id="rId189"/>
    <p:sldId id="2004" r:id="rId190"/>
    <p:sldId id="2006" r:id="rId191"/>
    <p:sldId id="2005" r:id="rId192"/>
    <p:sldId id="2007" r:id="rId193"/>
    <p:sldId id="2008" r:id="rId194"/>
    <p:sldId id="2009" r:id="rId195"/>
    <p:sldId id="2010" r:id="rId196"/>
    <p:sldId id="2011" r:id="rId197"/>
    <p:sldId id="2012" r:id="rId198"/>
    <p:sldId id="2013" r:id="rId199"/>
    <p:sldId id="2014" r:id="rId200"/>
    <p:sldId id="2015" r:id="rId201"/>
    <p:sldId id="2016" r:id="rId202"/>
    <p:sldId id="2017" r:id="rId203"/>
    <p:sldId id="2019" r:id="rId204"/>
    <p:sldId id="2018" r:id="rId205"/>
    <p:sldId id="1817" r:id="rId206"/>
    <p:sldId id="1850" r:id="rId20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4660"/>
  </p:normalViewPr>
  <p:slideViewPr>
    <p:cSldViewPr snapToGrid="0">
      <p:cViewPr varScale="1">
        <p:scale>
          <a:sx n="107" d="100"/>
          <a:sy n="107" d="100"/>
        </p:scale>
        <p:origin x="91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presProps" Target="presProps.xml"/><Relationship Id="rId190" Type="http://schemas.openxmlformats.org/officeDocument/2006/relationships/slide" Target="slides/slide188.xml"/><Relationship Id="rId204" Type="http://schemas.openxmlformats.org/officeDocument/2006/relationships/slide" Target="slides/slide202.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viewProps" Target="viewProps.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theme" Target="theme/theme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tableStyles" Target="tableStyles.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1EC19-7E08-40F0-ACF2-22F660FC7C40}" type="datetimeFigureOut">
              <a:rPr lang="en-AU" smtClean="0"/>
              <a:t>28/05/2026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DBD98D-E85B-4601-A77C-B7964013730D}" type="slidenum">
              <a:rPr lang="en-AU" smtClean="0"/>
              <a:t>‹#›</a:t>
            </a:fld>
            <a:endParaRPr lang="en-AU"/>
          </a:p>
        </p:txBody>
      </p:sp>
    </p:spTree>
    <p:extLst>
      <p:ext uri="{BB962C8B-B14F-4D97-AF65-F5344CB8AC3E}">
        <p14:creationId xmlns:p14="http://schemas.microsoft.com/office/powerpoint/2010/main" val="36971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6C70-B768-65B1-6556-96BF184E4A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95F93E1-16D1-D364-FDE1-F5C43AA28E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CB9E7BB-4707-201F-EE06-A48A12D48944}"/>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5" name="Footer Placeholder 4">
            <a:extLst>
              <a:ext uri="{FF2B5EF4-FFF2-40B4-BE49-F238E27FC236}">
                <a16:creationId xmlns:a16="http://schemas.microsoft.com/office/drawing/2014/main" id="{64A58FB7-C93E-81F6-2E41-0C2CEE839C5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5B1B3D-3648-BA5A-F1E8-F3576B98545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395993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AB4AE-322D-B6C3-A1DE-738FD7ED340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99D54C3-19F9-02AD-025C-69DD9166D1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DA2C77A-6A88-8738-8A39-76BAC476ADD6}"/>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5" name="Footer Placeholder 4">
            <a:extLst>
              <a:ext uri="{FF2B5EF4-FFF2-40B4-BE49-F238E27FC236}">
                <a16:creationId xmlns:a16="http://schemas.microsoft.com/office/drawing/2014/main" id="{57019BD3-F1D6-5FE6-72A9-07F9F9DB2BD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6632BB2-ED4D-4A8C-20BA-C64F1C360C7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4169086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CEACA-7AAE-C32F-ACC2-3D8D45E234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41DE1E7-6228-8F00-4C8C-49BCF562ED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7B1251-888D-5407-DE40-24E0B5666EAD}"/>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5" name="Footer Placeholder 4">
            <a:extLst>
              <a:ext uri="{FF2B5EF4-FFF2-40B4-BE49-F238E27FC236}">
                <a16:creationId xmlns:a16="http://schemas.microsoft.com/office/drawing/2014/main" id="{1CDD5024-26A5-9A9C-921F-4553B2F00B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3B14B6-C9EC-FC5A-AFAB-8BAA369AC61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964319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5A3B-F871-EAB2-E4CA-F479C9EFA4D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592C35-B8A5-0F3E-E963-C2D19DB882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D3940B5-8BCA-4EF3-185B-F0CF288E55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4717141-9800-0D1B-F4A8-EC0024210BC9}"/>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6" name="Footer Placeholder 5">
            <a:extLst>
              <a:ext uri="{FF2B5EF4-FFF2-40B4-BE49-F238E27FC236}">
                <a16:creationId xmlns:a16="http://schemas.microsoft.com/office/drawing/2014/main" id="{F4C73B31-82FC-930B-CBCE-64029049191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6455AE7-9072-1FF9-7749-898A9ED13F41}"/>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33984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A3EF-EF8F-F539-964B-C4820289D46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8393D2D-46D0-C65F-3CD4-8CA1DC1568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504EA2-A069-2AB5-BE4D-5A9531F19F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1DD3DA3-5E8A-468F-D96D-DEF4FCA9D7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0753A7-BCB6-8494-67C4-A2DE23125A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96EAE1E-45A7-184F-1859-0151A0F6F174}"/>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8" name="Footer Placeholder 7">
            <a:extLst>
              <a:ext uri="{FF2B5EF4-FFF2-40B4-BE49-F238E27FC236}">
                <a16:creationId xmlns:a16="http://schemas.microsoft.com/office/drawing/2014/main" id="{CBE74A07-DECC-AF4C-A1B9-945896FF614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2B7527C-A026-733A-81F8-612A3672D2F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807290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D8692-6A66-A81A-F64D-252A01D72B5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5205C8B-6899-F7CD-218F-53B25A8C28A2}"/>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4" name="Footer Placeholder 3">
            <a:extLst>
              <a:ext uri="{FF2B5EF4-FFF2-40B4-BE49-F238E27FC236}">
                <a16:creationId xmlns:a16="http://schemas.microsoft.com/office/drawing/2014/main" id="{BC578AB9-14B5-81D7-6DB2-7A92246ECED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BE25876-36CF-424C-ABB5-B54C23E4EACF}"/>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2454585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D8F218-7BAB-6440-4B90-DD84170B86C6}"/>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3" name="Footer Placeholder 2">
            <a:extLst>
              <a:ext uri="{FF2B5EF4-FFF2-40B4-BE49-F238E27FC236}">
                <a16:creationId xmlns:a16="http://schemas.microsoft.com/office/drawing/2014/main" id="{98B0DA65-2C36-C5F9-E815-493215A422A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75990D7-0136-D22F-360A-B252C724BCF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92072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82E2-A10E-6ABD-55B7-3CF2BB17A3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8AFB820-3B67-54EE-9204-21E91A5B64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C38F663-644F-F023-2E42-582EF5E9CC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3E879A-8E01-B66D-0599-3AC685A7BBDA}"/>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6" name="Footer Placeholder 5">
            <a:extLst>
              <a:ext uri="{FF2B5EF4-FFF2-40B4-BE49-F238E27FC236}">
                <a16:creationId xmlns:a16="http://schemas.microsoft.com/office/drawing/2014/main" id="{675E3D63-660A-D02B-96B2-4D753F7C062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79EB7DC-A1C1-DBE0-4D1D-DC8818D620F3}"/>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418686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C59C-D9F3-8D06-AD72-B0ACFEC8A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451E33A-D236-7697-03E8-F0AB97BD5F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47BB688-BC97-FCC2-C6B6-4BF70D294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DF0714-9BF9-CEE3-2D93-A2D3000B4FBE}"/>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6" name="Footer Placeholder 5">
            <a:extLst>
              <a:ext uri="{FF2B5EF4-FFF2-40B4-BE49-F238E27FC236}">
                <a16:creationId xmlns:a16="http://schemas.microsoft.com/office/drawing/2014/main" id="{22D2D7F7-5B88-507C-DE4C-730E04E87A4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EE44157-7A04-856B-4C28-125F1006953A}"/>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3483198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45458-5F73-9470-8CAE-2E81515E089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D69212-ADB1-50EC-5CEA-45FC695536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3DE07B7-9900-254A-5FCC-8FA7A36E9CDC}"/>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5" name="Footer Placeholder 4">
            <a:extLst>
              <a:ext uri="{FF2B5EF4-FFF2-40B4-BE49-F238E27FC236}">
                <a16:creationId xmlns:a16="http://schemas.microsoft.com/office/drawing/2014/main" id="{1462B5A4-5993-85D1-5468-04356E67084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176EC13-E83E-ED79-64A4-4003E3E1652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3031711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B3886C-B88F-C1C9-1FB1-F136ADFDBA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D7E0EB-AE17-BE86-7C82-F2CA8993E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EDDFC22-96DC-6854-A720-1925CC85A54A}"/>
              </a:ext>
            </a:extLst>
          </p:cNvPr>
          <p:cNvSpPr>
            <a:spLocks noGrp="1"/>
          </p:cNvSpPr>
          <p:nvPr>
            <p:ph type="dt" sz="half" idx="10"/>
          </p:nvPr>
        </p:nvSpPr>
        <p:spPr/>
        <p:txBody>
          <a:bodyPr/>
          <a:lstStyle/>
          <a:p>
            <a:fld id="{7036F693-4807-4ACB-9866-42E633ECA663}" type="datetimeFigureOut">
              <a:rPr lang="en-AU" smtClean="0"/>
              <a:t>28/05/2026</a:t>
            </a:fld>
            <a:endParaRPr lang="en-AU"/>
          </a:p>
        </p:txBody>
      </p:sp>
      <p:sp>
        <p:nvSpPr>
          <p:cNvPr id="5" name="Footer Placeholder 4">
            <a:extLst>
              <a:ext uri="{FF2B5EF4-FFF2-40B4-BE49-F238E27FC236}">
                <a16:creationId xmlns:a16="http://schemas.microsoft.com/office/drawing/2014/main" id="{FC091287-7765-7759-35E1-6830A960FA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AECDA5-B452-46B1-123F-041BF41F130E}"/>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902162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ctrTitle"/>
          </p:nvPr>
        </p:nvSpPr>
        <p:spPr>
          <a:xfrm>
            <a:off x="3055111" y="1967229"/>
            <a:ext cx="4791075" cy="452119"/>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163562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382874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78896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16781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48435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53BBB-F907-4623-65DB-FC3156B63C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D4CD2-2F0E-4232-0771-6C58ADBC1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E16003-E5BD-FEBA-3F09-15903EFE492B}"/>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5" name="Footer Placeholder 4">
            <a:extLst>
              <a:ext uri="{FF2B5EF4-FFF2-40B4-BE49-F238E27FC236}">
                <a16:creationId xmlns:a16="http://schemas.microsoft.com/office/drawing/2014/main" id="{330DAAF6-9D4F-1019-FF4B-B11315968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F9AF1-5889-CBF6-6AEB-C2F585F1C357}"/>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1167692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E6B418-3ADB-3D52-362F-EF8EB606CE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DF0B803-0FBE-9FD0-EA3C-E4F9B70AE8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B6BA73C-3BBF-5A39-4403-330159E2A5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36F693-4807-4ACB-9866-42E633ECA663}" type="datetimeFigureOut">
              <a:rPr lang="en-AU" smtClean="0"/>
              <a:t>28/05/2026</a:t>
            </a:fld>
            <a:endParaRPr lang="en-AU"/>
          </a:p>
        </p:txBody>
      </p:sp>
      <p:sp>
        <p:nvSpPr>
          <p:cNvPr id="5" name="Footer Placeholder 4">
            <a:extLst>
              <a:ext uri="{FF2B5EF4-FFF2-40B4-BE49-F238E27FC236}">
                <a16:creationId xmlns:a16="http://schemas.microsoft.com/office/drawing/2014/main" id="{A569C9B0-90EA-F790-C481-782B3C03BC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82F78BE7-9EF2-8115-D3BF-53CF0589B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F9DD6F-E86F-40A2-88B8-DD3E2998C092}" type="slidenum">
              <a:rPr lang="en-AU" smtClean="0"/>
              <a:t>‹#›</a:t>
            </a:fld>
            <a:endParaRPr lang="en-AU"/>
          </a:p>
        </p:txBody>
      </p:sp>
    </p:spTree>
    <p:extLst>
      <p:ext uri="{BB962C8B-B14F-4D97-AF65-F5344CB8AC3E}">
        <p14:creationId xmlns:p14="http://schemas.microsoft.com/office/powerpoint/2010/main" val="2806536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12192000" cy="649224"/>
          </a:xfrm>
          <a:prstGeom prst="rect">
            <a:avLst/>
          </a:prstGeom>
        </p:spPr>
      </p:pic>
      <p:pic>
        <p:nvPicPr>
          <p:cNvPr id="17" name="bg object 17"/>
          <p:cNvPicPr/>
          <p:nvPr/>
        </p:nvPicPr>
        <p:blipFill>
          <a:blip r:embed="rId9" cstate="print"/>
          <a:stretch>
            <a:fillRect/>
          </a:stretch>
        </p:blipFill>
        <p:spPr>
          <a:xfrm>
            <a:off x="192023" y="42671"/>
            <a:ext cx="1531620" cy="562355"/>
          </a:xfrm>
          <a:prstGeom prst="rect">
            <a:avLst/>
          </a:prstGeom>
        </p:spPr>
      </p:pic>
      <p:sp>
        <p:nvSpPr>
          <p:cNvPr id="2" name="Holder 2"/>
          <p:cNvSpPr>
            <a:spLocks noGrp="1"/>
          </p:cNvSpPr>
          <p:nvPr>
            <p:ph type="title"/>
          </p:nvPr>
        </p:nvSpPr>
        <p:spPr>
          <a:xfrm>
            <a:off x="1422019" y="2747213"/>
            <a:ext cx="8163559" cy="574675"/>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640059" y="6487707"/>
            <a:ext cx="944879" cy="178434"/>
          </a:xfrm>
          <a:prstGeom prst="rect">
            <a:avLst/>
          </a:prstGeom>
        </p:spPr>
        <p:txBody>
          <a:bodyPr wrap="square" lIns="0" tIns="0" rIns="0" bIns="0">
            <a:spAutoFit/>
          </a:bodyPr>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16134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help.holmes.edu.au/what-can-i-do-if-i-missed-my-exam"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hyperlink" Target="https://pdimagearchive.org/" TargetMode="External"/><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205.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42.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58C80A-61B1-E3FD-99E2-625B7EEC66F6}"/>
              </a:ext>
            </a:extLst>
          </p:cNvPr>
          <p:cNvSpPr txBox="1"/>
          <p:nvPr/>
        </p:nvSpPr>
        <p:spPr>
          <a:xfrm>
            <a:off x="532880" y="838200"/>
            <a:ext cx="4889226" cy="4876800"/>
          </a:xfrm>
          <a:prstGeom prst="rect">
            <a:avLst/>
          </a:prstGeom>
        </p:spPr>
        <p:txBody>
          <a:bodyPr vert="horz" lIns="51434" tIns="25718" rIns="51434" bIns="25718" rtlCol="0" anchor="b">
            <a:noAutofit/>
          </a:bodyPr>
          <a:lstStyle/>
          <a:p>
            <a:pPr algn="ctr">
              <a:lnSpc>
                <a:spcPct val="90000"/>
              </a:lnSpc>
              <a:spcBef>
                <a:spcPct val="0"/>
              </a:spcBef>
              <a:spcAft>
                <a:spcPts val="338"/>
              </a:spcAft>
            </a:pPr>
            <a:r>
              <a:rPr lang="en-US" sz="3800" b="1" dirty="0">
                <a:latin typeface="Calibir"/>
                <a:ea typeface="+mj-ea"/>
                <a:cs typeface="+mj-cs"/>
              </a:rPr>
              <a:t>HS1021: Web Design</a:t>
            </a:r>
            <a:br>
              <a:rPr lang="en-US" sz="3800" b="1" dirty="0">
                <a:latin typeface="Calibir"/>
                <a:ea typeface="+mj-ea"/>
                <a:cs typeface="+mj-cs"/>
              </a:rPr>
            </a:br>
            <a:endParaRPr lang="en-US" sz="3800" b="1" dirty="0">
              <a:latin typeface="Calibir"/>
              <a:ea typeface="+mj-ea"/>
              <a:cs typeface="+mj-cs"/>
            </a:endParaRPr>
          </a:p>
          <a:p>
            <a:pPr algn="ctr">
              <a:lnSpc>
                <a:spcPct val="90000"/>
              </a:lnSpc>
              <a:spcBef>
                <a:spcPct val="0"/>
              </a:spcBef>
              <a:spcAft>
                <a:spcPts val="338"/>
              </a:spcAft>
            </a:pPr>
            <a:r>
              <a:rPr lang="en-US" sz="3800" b="1" dirty="0">
                <a:latin typeface="Calibir"/>
                <a:ea typeface="+mj-ea"/>
                <a:cs typeface="+mj-cs"/>
              </a:rPr>
              <a:t>Weeks 6 – 7 </a:t>
            </a:r>
            <a:r>
              <a:rPr lang="en-US" sz="3800" b="1">
                <a:latin typeface="Calibir"/>
                <a:ea typeface="+mj-ea"/>
                <a:cs typeface="+mj-cs"/>
              </a:rPr>
              <a:t>Tutorial and Lab </a:t>
            </a:r>
            <a:r>
              <a:rPr lang="en-US" sz="3800" b="1" dirty="0">
                <a:latin typeface="Calibir"/>
                <a:ea typeface="+mj-ea"/>
                <a:cs typeface="+mj-cs"/>
              </a:rPr>
              <a:t>3 Test Practice and Group Assignment</a:t>
            </a:r>
          </a:p>
          <a:p>
            <a:pPr algn="ctr">
              <a:lnSpc>
                <a:spcPct val="90000"/>
              </a:lnSpc>
              <a:spcBef>
                <a:spcPct val="0"/>
              </a:spcBef>
              <a:spcAft>
                <a:spcPts val="338"/>
              </a:spcAft>
            </a:pPr>
            <a:endParaRPr lang="en-US" sz="3800" b="1" dirty="0">
              <a:latin typeface="Calibir"/>
              <a:ea typeface="+mj-ea"/>
              <a:cs typeface="+mj-cs"/>
            </a:endParaRPr>
          </a:p>
          <a:p>
            <a:pPr algn="ctr">
              <a:lnSpc>
                <a:spcPct val="90000"/>
              </a:lnSpc>
              <a:spcBef>
                <a:spcPct val="0"/>
              </a:spcBef>
              <a:spcAft>
                <a:spcPts val="338"/>
              </a:spcAft>
            </a:pPr>
            <a:r>
              <a:rPr lang="en-US" sz="3800" b="1" dirty="0">
                <a:latin typeface="Calibir"/>
                <a:ea typeface="+mj-ea"/>
                <a:cs typeface="+mj-cs"/>
              </a:rPr>
              <a:t>Dr. Farshid Keivanian</a:t>
            </a:r>
          </a:p>
        </p:txBody>
      </p:sp>
      <p:pic>
        <p:nvPicPr>
          <p:cNvPr id="5" name="Picture 4">
            <a:extLst>
              <a:ext uri="{FF2B5EF4-FFF2-40B4-BE49-F238E27FC236}">
                <a16:creationId xmlns:a16="http://schemas.microsoft.com/office/drawing/2014/main" id="{14B0392A-D22F-C20C-A44D-F9E3D906B6F8}"/>
              </a:ext>
            </a:extLst>
          </p:cNvPr>
          <p:cNvPicPr>
            <a:picLocks noChangeAspect="1"/>
          </p:cNvPicPr>
          <p:nvPr/>
        </p:nvPicPr>
        <p:blipFill>
          <a:blip r:embed="rId2" cstate="print">
            <a:extLst>
              <a:ext uri="{28A0092B-C50C-407E-A947-70E740481C1C}">
                <a14:useLocalDpi xmlns:a14="http://schemas.microsoft.com/office/drawing/2010/main" val="0"/>
              </a:ext>
            </a:extLst>
          </a:blip>
          <a:srcRect l="4968" r="24813" b="1"/>
          <a:stretch>
            <a:fillRect/>
          </a:stretch>
        </p:blipFill>
        <p:spPr>
          <a:xfrm>
            <a:off x="5954987" y="73691"/>
            <a:ext cx="4607570" cy="6852948"/>
          </a:xfrm>
          <a:prstGeom prst="rect">
            <a:avLst/>
          </a:prstGeom>
        </p:spPr>
      </p:pic>
      <p:pic>
        <p:nvPicPr>
          <p:cNvPr id="6" name="object 3">
            <a:extLst>
              <a:ext uri="{FF2B5EF4-FFF2-40B4-BE49-F238E27FC236}">
                <a16:creationId xmlns:a16="http://schemas.microsoft.com/office/drawing/2014/main" id="{5AA71B59-8A46-5F90-66ED-C66E07C8DB19}"/>
              </a:ext>
            </a:extLst>
          </p:cNvPr>
          <p:cNvPicPr/>
          <p:nvPr/>
        </p:nvPicPr>
        <p:blipFill>
          <a:blip r:embed="rId3" cstate="print"/>
          <a:srcRect l="24413" r="9390"/>
          <a:stretch>
            <a:fillRect/>
          </a:stretch>
        </p:blipFill>
        <p:spPr>
          <a:xfrm>
            <a:off x="10710041" y="73691"/>
            <a:ext cx="1481959" cy="1944414"/>
          </a:xfrm>
          <a:prstGeom prst="rect">
            <a:avLst/>
          </a:prstGeom>
        </p:spPr>
      </p:pic>
    </p:spTree>
    <p:extLst>
      <p:ext uri="{BB962C8B-B14F-4D97-AF65-F5344CB8AC3E}">
        <p14:creationId xmlns:p14="http://schemas.microsoft.com/office/powerpoint/2010/main" val="375236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B1BC1F-E475-FF17-1B3D-D5A5E78ABE3F}"/>
              </a:ext>
            </a:extLst>
          </p:cNvPr>
          <p:cNvSpPr txBox="1"/>
          <p:nvPr/>
        </p:nvSpPr>
        <p:spPr>
          <a:xfrm>
            <a:off x="47296" y="369172"/>
            <a:ext cx="10213389" cy="6488828"/>
          </a:xfrm>
          <a:prstGeom prst="rect">
            <a:avLst/>
          </a:prstGeom>
          <a:noFill/>
        </p:spPr>
        <p:txBody>
          <a:bodyPr wrap="square" rtlCol="0">
            <a:spAutoFit/>
          </a:bodyPr>
          <a:lstStyle/>
          <a:p>
            <a:pPr>
              <a:lnSpc>
                <a:spcPct val="150000"/>
              </a:lnSpc>
            </a:pPr>
            <a:r>
              <a:rPr lang="en-US" sz="2800" b="1" dirty="0">
                <a:latin typeface="Calibir"/>
              </a:rPr>
              <a:t>Purpose of This Guide</a:t>
            </a:r>
          </a:p>
          <a:p>
            <a:pPr>
              <a:lnSpc>
                <a:spcPct val="150000"/>
              </a:lnSpc>
            </a:pPr>
            <a:r>
              <a:rPr lang="en-US" sz="2800" dirty="0">
                <a:latin typeface="Calibir"/>
              </a:rPr>
              <a:t>This guide explains the group assignment in simple terms so your group understands:</a:t>
            </a:r>
          </a:p>
          <a:p>
            <a:pPr marL="914400" lvl="1" indent="-457200">
              <a:lnSpc>
                <a:spcPct val="150000"/>
              </a:lnSpc>
              <a:buFont typeface="Arial" panose="020B0604020202020204" pitchFamily="34" charset="0"/>
              <a:buChar char="•"/>
            </a:pPr>
            <a:r>
              <a:rPr lang="en-US" sz="2800" dirty="0">
                <a:latin typeface="Calibir"/>
              </a:rPr>
              <a:t>What you need to do</a:t>
            </a:r>
          </a:p>
          <a:p>
            <a:pPr marL="914400" lvl="1" indent="-457200">
              <a:lnSpc>
                <a:spcPct val="150000"/>
              </a:lnSpc>
              <a:buFont typeface="Arial" panose="020B0604020202020204" pitchFamily="34" charset="0"/>
              <a:buChar char="•"/>
            </a:pPr>
            <a:r>
              <a:rPr lang="en-US" sz="2800" dirty="0">
                <a:latin typeface="Calibir"/>
              </a:rPr>
              <a:t>What you need to submit</a:t>
            </a:r>
          </a:p>
          <a:p>
            <a:pPr marL="914400" lvl="1" indent="-457200">
              <a:lnSpc>
                <a:spcPct val="150000"/>
              </a:lnSpc>
              <a:buFont typeface="Arial" panose="020B0604020202020204" pitchFamily="34" charset="0"/>
              <a:buChar char="•"/>
            </a:pPr>
            <a:r>
              <a:rPr lang="en-US" sz="2800" dirty="0">
                <a:latin typeface="Calibir"/>
              </a:rPr>
              <a:t>What to avoid</a:t>
            </a:r>
          </a:p>
          <a:p>
            <a:pPr marL="914400" lvl="1" indent="-457200">
              <a:lnSpc>
                <a:spcPct val="150000"/>
              </a:lnSpc>
              <a:buFont typeface="Arial" panose="020B0604020202020204" pitchFamily="34" charset="0"/>
              <a:buChar char="•"/>
            </a:pPr>
            <a:r>
              <a:rPr lang="en-US" sz="2800" dirty="0">
                <a:latin typeface="Calibir"/>
              </a:rPr>
              <a:t>How to </a:t>
            </a:r>
            <a:r>
              <a:rPr lang="en-US" sz="2800" dirty="0" err="1">
                <a:latin typeface="Calibir"/>
              </a:rPr>
              <a:t>organise</a:t>
            </a:r>
            <a:r>
              <a:rPr lang="en-US" sz="2800" dirty="0">
                <a:latin typeface="Calibir"/>
              </a:rPr>
              <a:t> your work</a:t>
            </a:r>
          </a:p>
          <a:p>
            <a:pPr marL="914400" lvl="1" indent="-457200">
              <a:lnSpc>
                <a:spcPct val="150000"/>
              </a:lnSpc>
              <a:buFont typeface="Arial" panose="020B0604020202020204" pitchFamily="34" charset="0"/>
              <a:buChar char="•"/>
            </a:pPr>
            <a:r>
              <a:rPr lang="en-US" sz="2800" dirty="0">
                <a:latin typeface="Calibir"/>
              </a:rPr>
              <a:t>How to prepare your website step-by-step</a:t>
            </a:r>
          </a:p>
          <a:p>
            <a:pPr>
              <a:lnSpc>
                <a:spcPct val="150000"/>
              </a:lnSpc>
            </a:pPr>
            <a:r>
              <a:rPr lang="en-US" sz="2800" dirty="0">
                <a:latin typeface="Calibir"/>
              </a:rPr>
              <a:t>This is a preparation guide only. It helps you learn the process without giving complete assignment answers.</a:t>
            </a:r>
          </a:p>
        </p:txBody>
      </p:sp>
      <p:sp>
        <p:nvSpPr>
          <p:cNvPr id="5" name="TextBox 4">
            <a:extLst>
              <a:ext uri="{FF2B5EF4-FFF2-40B4-BE49-F238E27FC236}">
                <a16:creationId xmlns:a16="http://schemas.microsoft.com/office/drawing/2014/main" id="{0EDA831C-3F59-8361-5C78-944EC8508F9C}"/>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2350389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B4D56-E106-1E14-9BED-D088D14928A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A4B0CFA-5F64-976A-764B-9E209D2C5E74}"/>
              </a:ext>
            </a:extLst>
          </p:cNvPr>
          <p:cNvSpPr txBox="1"/>
          <p:nvPr/>
        </p:nvSpPr>
        <p:spPr>
          <a:xfrm>
            <a:off x="47296" y="507751"/>
            <a:ext cx="10213389" cy="5842497"/>
          </a:xfrm>
          <a:prstGeom prst="rect">
            <a:avLst/>
          </a:prstGeom>
          <a:noFill/>
        </p:spPr>
        <p:txBody>
          <a:bodyPr wrap="square" rtlCol="0">
            <a:spAutoFit/>
          </a:bodyPr>
          <a:lstStyle/>
          <a:p>
            <a:pPr>
              <a:lnSpc>
                <a:spcPct val="150000"/>
              </a:lnSpc>
            </a:pPr>
            <a:r>
              <a:rPr lang="en-US" sz="2800" b="1" dirty="0">
                <a:latin typeface="Calibir"/>
              </a:rPr>
              <a:t>1. Important Dates and Submission Rules</a:t>
            </a:r>
          </a:p>
          <a:p>
            <a:pPr>
              <a:lnSpc>
                <a:spcPct val="150000"/>
              </a:lnSpc>
            </a:pPr>
            <a:r>
              <a:rPr lang="en-US" sz="2800" b="1" dirty="0">
                <a:latin typeface="Calibir"/>
              </a:rPr>
              <a:t>Due Date</a:t>
            </a:r>
          </a:p>
          <a:p>
            <a:pPr>
              <a:lnSpc>
                <a:spcPct val="150000"/>
              </a:lnSpc>
            </a:pPr>
            <a:r>
              <a:rPr lang="en-US" sz="2800" b="1" dirty="0">
                <a:latin typeface="Calibir"/>
              </a:rPr>
              <a:t>19 June 2026 – 11:59 PM</a:t>
            </a:r>
            <a:endParaRPr lang="en-US" sz="2800" dirty="0">
              <a:latin typeface="Calibir"/>
            </a:endParaRPr>
          </a:p>
          <a:p>
            <a:pPr>
              <a:lnSpc>
                <a:spcPct val="150000"/>
              </a:lnSpc>
            </a:pPr>
            <a:r>
              <a:rPr lang="en-US" sz="2800" b="1" dirty="0">
                <a:latin typeface="Calibir"/>
              </a:rPr>
              <a:t>Before You Start</a:t>
            </a:r>
          </a:p>
          <a:p>
            <a:pPr>
              <a:lnSpc>
                <a:spcPct val="150000"/>
              </a:lnSpc>
            </a:pPr>
            <a:r>
              <a:rPr lang="en-US" sz="2800" dirty="0">
                <a:latin typeface="Calibir"/>
              </a:rPr>
              <a:t>Make sure your group:</a:t>
            </a:r>
          </a:p>
          <a:p>
            <a:pPr marL="914400" lvl="1" indent="-457200">
              <a:lnSpc>
                <a:spcPct val="150000"/>
              </a:lnSpc>
              <a:buFont typeface="Arial" panose="020B0604020202020204" pitchFamily="34" charset="0"/>
              <a:buChar char="•"/>
            </a:pPr>
            <a:r>
              <a:rPr lang="en-US" sz="2800" dirty="0">
                <a:latin typeface="Calibir"/>
              </a:rPr>
              <a:t>Has officially registered on Blackboard</a:t>
            </a:r>
          </a:p>
          <a:p>
            <a:pPr marL="914400" lvl="1" indent="-457200">
              <a:lnSpc>
                <a:spcPct val="150000"/>
              </a:lnSpc>
              <a:buFont typeface="Arial" panose="020B0604020202020204" pitchFamily="34" charset="0"/>
              <a:buChar char="•"/>
            </a:pPr>
            <a:r>
              <a:rPr lang="en-US" sz="2800" dirty="0">
                <a:latin typeface="Calibir"/>
              </a:rPr>
              <a:t>Has selected one business scenario</a:t>
            </a:r>
          </a:p>
          <a:p>
            <a:pPr marL="914400" lvl="1" indent="-457200">
              <a:lnSpc>
                <a:spcPct val="150000"/>
              </a:lnSpc>
              <a:buFont typeface="Arial" panose="020B0604020202020204" pitchFamily="34" charset="0"/>
              <a:buChar char="•"/>
            </a:pPr>
            <a:r>
              <a:rPr lang="en-US" sz="2800" dirty="0">
                <a:latin typeface="Calibir"/>
              </a:rPr>
              <a:t>Has all member names confirmed</a:t>
            </a:r>
          </a:p>
          <a:p>
            <a:pPr marL="914400" lvl="1" indent="-457200">
              <a:lnSpc>
                <a:spcPct val="150000"/>
              </a:lnSpc>
              <a:buFont typeface="Arial" panose="020B0604020202020204" pitchFamily="34" charset="0"/>
              <a:buChar char="•"/>
            </a:pPr>
            <a:r>
              <a:rPr lang="en-US" sz="2800" dirty="0">
                <a:latin typeface="Calibir"/>
              </a:rPr>
              <a:t>Understands the assignment requirements</a:t>
            </a:r>
          </a:p>
        </p:txBody>
      </p:sp>
      <p:sp>
        <p:nvSpPr>
          <p:cNvPr id="5" name="TextBox 4">
            <a:extLst>
              <a:ext uri="{FF2B5EF4-FFF2-40B4-BE49-F238E27FC236}">
                <a16:creationId xmlns:a16="http://schemas.microsoft.com/office/drawing/2014/main" id="{CD70CDC5-CE95-AA7A-7BDD-3A8B867BD582}"/>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731B277D-5428-14F6-95B1-4C271CE2262B}"/>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3931507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A5059-7868-F0B9-40B8-2601084D40D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E975D8D-6BE5-691C-80E3-53BB33D7C0B1}"/>
              </a:ext>
            </a:extLst>
          </p:cNvPr>
          <p:cNvSpPr txBox="1"/>
          <p:nvPr/>
        </p:nvSpPr>
        <p:spPr>
          <a:xfrm>
            <a:off x="47296" y="507751"/>
            <a:ext cx="10213389" cy="4549835"/>
          </a:xfrm>
          <a:prstGeom prst="rect">
            <a:avLst/>
          </a:prstGeom>
          <a:noFill/>
        </p:spPr>
        <p:txBody>
          <a:bodyPr wrap="square" rtlCol="0">
            <a:spAutoFit/>
          </a:bodyPr>
          <a:lstStyle/>
          <a:p>
            <a:pPr>
              <a:lnSpc>
                <a:spcPct val="150000"/>
              </a:lnSpc>
            </a:pPr>
            <a:r>
              <a:rPr lang="en-US" sz="2800" b="1" dirty="0">
                <a:latin typeface="Calibir"/>
              </a:rPr>
              <a:t>Extension Request</a:t>
            </a:r>
          </a:p>
          <a:p>
            <a:pPr>
              <a:lnSpc>
                <a:spcPct val="150000"/>
              </a:lnSpc>
            </a:pPr>
            <a:r>
              <a:rPr lang="en-US" sz="2800" dirty="0">
                <a:latin typeface="Calibir"/>
              </a:rPr>
              <a:t>Holmes Institute has a process for students who miss an exam or assessment due to illness or other exceptional circumstances. I found this link for you, which may be helpful:</a:t>
            </a:r>
          </a:p>
          <a:p>
            <a:pPr>
              <a:lnSpc>
                <a:spcPct val="150000"/>
              </a:lnSpc>
            </a:pPr>
            <a:r>
              <a:rPr lang="en-US" sz="2800" dirty="0">
                <a:latin typeface="Calibir"/>
                <a:hlinkClick r:id="rId2"/>
              </a:rPr>
              <a:t>https://help.holmes.edu.au</a:t>
            </a:r>
            <a:r>
              <a:rPr lang="en-US" sz="2800">
                <a:latin typeface="Calibir"/>
                <a:hlinkClick r:id="rId2"/>
              </a:rPr>
              <a:t>/what-can-i-do-if-i-missed-my-exam</a:t>
            </a:r>
            <a:r>
              <a:rPr lang="en-US" sz="2800">
                <a:latin typeface="Calibir"/>
              </a:rPr>
              <a:t> </a:t>
            </a:r>
            <a:endParaRPr lang="en-US" sz="2800" dirty="0">
              <a:latin typeface="Calibir"/>
            </a:endParaRPr>
          </a:p>
          <a:p>
            <a:pPr>
              <a:lnSpc>
                <a:spcPct val="150000"/>
              </a:lnSpc>
            </a:pPr>
            <a:r>
              <a:rPr lang="en-US" sz="2800" dirty="0">
                <a:latin typeface="Calibir"/>
              </a:rPr>
              <a:t>Kind regards,</a:t>
            </a:r>
          </a:p>
          <a:p>
            <a:pPr>
              <a:lnSpc>
                <a:spcPct val="150000"/>
              </a:lnSpc>
            </a:pPr>
            <a:r>
              <a:rPr lang="en-US" sz="2800" dirty="0">
                <a:latin typeface="Calibir"/>
              </a:rPr>
              <a:t>Dr Farshid Keivanian</a:t>
            </a:r>
          </a:p>
        </p:txBody>
      </p:sp>
      <p:sp>
        <p:nvSpPr>
          <p:cNvPr id="5" name="TextBox 4">
            <a:extLst>
              <a:ext uri="{FF2B5EF4-FFF2-40B4-BE49-F238E27FC236}">
                <a16:creationId xmlns:a16="http://schemas.microsoft.com/office/drawing/2014/main" id="{8AD814C8-95D1-C4D0-CEF7-3A0534F96D8C}"/>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12027C90-D6DB-5497-55E5-1E3A0901304E}"/>
              </a:ext>
            </a:extLst>
          </p:cNvPr>
          <p:cNvPicPr>
            <a:picLocks noChangeAspect="1"/>
          </p:cNvPicPr>
          <p:nvPr/>
        </p:nvPicPr>
        <p:blipFill>
          <a:blip r:embed="rId3"/>
          <a:stretch>
            <a:fillRect/>
          </a:stretch>
        </p:blipFill>
        <p:spPr>
          <a:xfrm>
            <a:off x="10260685" y="0"/>
            <a:ext cx="1931315" cy="1902052"/>
          </a:xfrm>
          <a:prstGeom prst="rect">
            <a:avLst/>
          </a:prstGeom>
        </p:spPr>
      </p:pic>
    </p:spTree>
    <p:extLst>
      <p:ext uri="{BB962C8B-B14F-4D97-AF65-F5344CB8AC3E}">
        <p14:creationId xmlns:p14="http://schemas.microsoft.com/office/powerpoint/2010/main" val="4148568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27839-5FA5-DAF3-33DF-56FEA33989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B771FB-EC68-E10C-49E6-71C0E0887290}"/>
              </a:ext>
            </a:extLst>
          </p:cNvPr>
          <p:cNvSpPr txBox="1"/>
          <p:nvPr/>
        </p:nvSpPr>
        <p:spPr>
          <a:xfrm>
            <a:off x="47296" y="507751"/>
            <a:ext cx="10213389" cy="5196166"/>
          </a:xfrm>
          <a:prstGeom prst="rect">
            <a:avLst/>
          </a:prstGeom>
          <a:noFill/>
        </p:spPr>
        <p:txBody>
          <a:bodyPr wrap="square" rtlCol="0">
            <a:spAutoFit/>
          </a:bodyPr>
          <a:lstStyle/>
          <a:p>
            <a:pPr>
              <a:lnSpc>
                <a:spcPct val="150000"/>
              </a:lnSpc>
            </a:pPr>
            <a:r>
              <a:rPr lang="en-US" sz="2800" b="1" dirty="0">
                <a:latin typeface="Calibir"/>
              </a:rPr>
              <a:t>2. What Your Group Must Submit</a:t>
            </a:r>
          </a:p>
          <a:p>
            <a:pPr>
              <a:lnSpc>
                <a:spcPct val="150000"/>
              </a:lnSpc>
            </a:pPr>
            <a:r>
              <a:rPr lang="en-US" sz="2800" dirty="0">
                <a:latin typeface="Calibir"/>
              </a:rPr>
              <a:t>Your group must submit </a:t>
            </a:r>
            <a:r>
              <a:rPr lang="en-US" sz="2800" b="1" dirty="0">
                <a:latin typeface="Calibir"/>
              </a:rPr>
              <a:t>TWO files</a:t>
            </a:r>
            <a:r>
              <a:rPr lang="en-US" sz="2800" dirty="0">
                <a:latin typeface="Calibir"/>
              </a:rPr>
              <a:t>.</a:t>
            </a:r>
          </a:p>
          <a:p>
            <a:pPr>
              <a:lnSpc>
                <a:spcPct val="150000"/>
              </a:lnSpc>
            </a:pPr>
            <a:r>
              <a:rPr lang="en-US" sz="2800" b="1" dirty="0">
                <a:latin typeface="Calibir"/>
              </a:rPr>
              <a:t>File 1 – Website ZIP Folder</a:t>
            </a:r>
          </a:p>
          <a:p>
            <a:pPr>
              <a:lnSpc>
                <a:spcPct val="150000"/>
              </a:lnSpc>
            </a:pPr>
            <a:r>
              <a:rPr lang="en-US" sz="2800" dirty="0">
                <a:latin typeface="Calibir"/>
              </a:rPr>
              <a:t>Submit a compressed .zip folder containing:</a:t>
            </a:r>
          </a:p>
          <a:p>
            <a:pPr marL="914400" lvl="1" indent="-457200">
              <a:lnSpc>
                <a:spcPct val="150000"/>
              </a:lnSpc>
              <a:buFont typeface="Arial" panose="020B0604020202020204" pitchFamily="34" charset="0"/>
              <a:buChar char="•"/>
            </a:pPr>
            <a:r>
              <a:rPr lang="en-US" sz="2800" dirty="0">
                <a:latin typeface="Calibir"/>
              </a:rPr>
              <a:t>All HTML pages</a:t>
            </a:r>
          </a:p>
          <a:p>
            <a:pPr marL="914400" lvl="1" indent="-457200">
              <a:lnSpc>
                <a:spcPct val="150000"/>
              </a:lnSpc>
              <a:buFont typeface="Arial" panose="020B0604020202020204" pitchFamily="34" charset="0"/>
              <a:buChar char="•"/>
            </a:pPr>
            <a:r>
              <a:rPr lang="en-US" sz="2800" dirty="0">
                <a:latin typeface="Calibir"/>
              </a:rPr>
              <a:t>One CSS file named styles.css</a:t>
            </a:r>
          </a:p>
          <a:p>
            <a:pPr marL="914400" lvl="1" indent="-457200">
              <a:lnSpc>
                <a:spcPct val="150000"/>
              </a:lnSpc>
              <a:buFont typeface="Arial" panose="020B0604020202020204" pitchFamily="34" charset="0"/>
              <a:buChar char="•"/>
            </a:pPr>
            <a:r>
              <a:rPr lang="en-US" sz="2800" dirty="0">
                <a:latin typeface="Calibir"/>
              </a:rPr>
              <a:t>Images folder</a:t>
            </a:r>
          </a:p>
          <a:p>
            <a:pPr marL="914400" lvl="1" indent="-457200">
              <a:lnSpc>
                <a:spcPct val="150000"/>
              </a:lnSpc>
              <a:buFont typeface="Arial" panose="020B0604020202020204" pitchFamily="34" charset="0"/>
              <a:buChar char="•"/>
            </a:pPr>
            <a:r>
              <a:rPr lang="en-US" sz="2800" dirty="0">
                <a:latin typeface="Calibir"/>
              </a:rPr>
              <a:t>README.txt file</a:t>
            </a:r>
          </a:p>
        </p:txBody>
      </p:sp>
      <p:sp>
        <p:nvSpPr>
          <p:cNvPr id="5" name="TextBox 4">
            <a:extLst>
              <a:ext uri="{FF2B5EF4-FFF2-40B4-BE49-F238E27FC236}">
                <a16:creationId xmlns:a16="http://schemas.microsoft.com/office/drawing/2014/main" id="{E34B7766-25AD-668E-09FE-FD800767A26E}"/>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1075D7D4-1120-D301-2CA3-436A6316F3C1}"/>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2158297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B6644-4E38-0FC0-992E-0318AB57E7B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9B267F-9A74-C00B-6594-AD427CE4ED6E}"/>
              </a:ext>
            </a:extLst>
          </p:cNvPr>
          <p:cNvSpPr txBox="1"/>
          <p:nvPr/>
        </p:nvSpPr>
        <p:spPr>
          <a:xfrm>
            <a:off x="47296" y="507751"/>
            <a:ext cx="10213389" cy="671851"/>
          </a:xfrm>
          <a:prstGeom prst="rect">
            <a:avLst/>
          </a:prstGeom>
          <a:noFill/>
        </p:spPr>
        <p:txBody>
          <a:bodyPr wrap="square" rtlCol="0">
            <a:spAutoFit/>
          </a:bodyPr>
          <a:lstStyle/>
          <a:p>
            <a:pPr>
              <a:lnSpc>
                <a:spcPct val="150000"/>
              </a:lnSpc>
            </a:pPr>
            <a:r>
              <a:rPr lang="en-US" sz="2800" b="1" dirty="0">
                <a:latin typeface="Calibir"/>
              </a:rPr>
              <a:t>Example Folder Structure</a:t>
            </a:r>
            <a:endParaRPr lang="en-US" sz="2800" dirty="0">
              <a:latin typeface="Calibir"/>
            </a:endParaRPr>
          </a:p>
        </p:txBody>
      </p:sp>
      <p:sp>
        <p:nvSpPr>
          <p:cNvPr id="5" name="TextBox 4">
            <a:extLst>
              <a:ext uri="{FF2B5EF4-FFF2-40B4-BE49-F238E27FC236}">
                <a16:creationId xmlns:a16="http://schemas.microsoft.com/office/drawing/2014/main" id="{F4CDFD44-AA16-52B1-43F0-B5B36EA1D776}"/>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FB280191-9C3C-6088-D358-795F2BB04DBF}"/>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01CC2123-775E-3013-FD2A-7BF2FEECCC30}"/>
              </a:ext>
            </a:extLst>
          </p:cNvPr>
          <p:cNvSpPr txBox="1"/>
          <p:nvPr/>
        </p:nvSpPr>
        <p:spPr>
          <a:xfrm>
            <a:off x="210165" y="1447995"/>
            <a:ext cx="6142702" cy="5262979"/>
          </a:xfrm>
          <a:prstGeom prst="rect">
            <a:avLst/>
          </a:prstGeom>
          <a:noFill/>
        </p:spPr>
        <p:txBody>
          <a:bodyPr wrap="square">
            <a:spAutoFit/>
          </a:bodyPr>
          <a:lstStyle/>
          <a:p>
            <a:pPr>
              <a:buNone/>
            </a:pPr>
            <a:r>
              <a:rPr lang="en-US" sz="2800" dirty="0">
                <a:latin typeface="Calibir"/>
              </a:rPr>
              <a:t>sunrisecafe_HS1021_website.zip</a:t>
            </a:r>
          </a:p>
          <a:p>
            <a:pPr>
              <a:buNone/>
            </a:pPr>
            <a:r>
              <a:rPr lang="en-US" sz="2800" dirty="0">
                <a:latin typeface="Calibir"/>
              </a:rPr>
              <a:t> │</a:t>
            </a:r>
          </a:p>
          <a:p>
            <a:pPr>
              <a:buNone/>
            </a:pPr>
            <a:r>
              <a:rPr lang="en-US" sz="2800" dirty="0">
                <a:latin typeface="Calibir"/>
              </a:rPr>
              <a:t>├ index.html</a:t>
            </a:r>
          </a:p>
          <a:p>
            <a:pPr>
              <a:buNone/>
            </a:pPr>
            <a:r>
              <a:rPr lang="en-US" sz="2800" dirty="0">
                <a:latin typeface="Calibir"/>
              </a:rPr>
              <a:t>├ menu.html</a:t>
            </a:r>
          </a:p>
          <a:p>
            <a:pPr>
              <a:buNone/>
            </a:pPr>
            <a:r>
              <a:rPr lang="en-US" sz="2800" dirty="0">
                <a:latin typeface="Calibir"/>
              </a:rPr>
              <a:t>├ gallery.html</a:t>
            </a:r>
          </a:p>
          <a:p>
            <a:pPr>
              <a:buNone/>
            </a:pPr>
            <a:r>
              <a:rPr lang="en-US" sz="2800" dirty="0">
                <a:latin typeface="Calibir"/>
              </a:rPr>
              <a:t>├ contact.html</a:t>
            </a:r>
          </a:p>
          <a:p>
            <a:pPr>
              <a:buNone/>
            </a:pPr>
            <a:r>
              <a:rPr lang="en-US" sz="2800" dirty="0">
                <a:latin typeface="Calibir"/>
              </a:rPr>
              <a:t>├ styles.css</a:t>
            </a:r>
          </a:p>
          <a:p>
            <a:pPr>
              <a:buNone/>
            </a:pPr>
            <a:r>
              <a:rPr lang="en-US" sz="2800" dirty="0">
                <a:latin typeface="Calibir"/>
              </a:rPr>
              <a:t>├ README.txt</a:t>
            </a:r>
          </a:p>
          <a:p>
            <a:pPr>
              <a:buNone/>
            </a:pPr>
            <a:r>
              <a:rPr lang="en-US" sz="2800" dirty="0">
                <a:latin typeface="Calibir"/>
              </a:rPr>
              <a:t> └─ images/</a:t>
            </a:r>
          </a:p>
          <a:p>
            <a:pPr>
              <a:buNone/>
            </a:pPr>
            <a:r>
              <a:rPr lang="en-US" sz="2800" dirty="0">
                <a:latin typeface="Calibir"/>
              </a:rPr>
              <a:t>     ├ coffee.jpg</a:t>
            </a:r>
          </a:p>
          <a:p>
            <a:pPr>
              <a:buNone/>
            </a:pPr>
            <a:r>
              <a:rPr lang="en-US" sz="2800" dirty="0">
                <a:latin typeface="Calibir"/>
              </a:rPr>
              <a:t>     ├ cafe.jpg</a:t>
            </a:r>
          </a:p>
          <a:p>
            <a:pPr>
              <a:buNone/>
            </a:pPr>
            <a:r>
              <a:rPr lang="en-US" sz="2800" dirty="0">
                <a:latin typeface="Calibir"/>
              </a:rPr>
              <a:t>      └─ logo.png</a:t>
            </a:r>
          </a:p>
        </p:txBody>
      </p:sp>
    </p:spTree>
    <p:extLst>
      <p:ext uri="{BB962C8B-B14F-4D97-AF65-F5344CB8AC3E}">
        <p14:creationId xmlns:p14="http://schemas.microsoft.com/office/powerpoint/2010/main" val="3439178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5C685-9135-49B6-9FF2-41F34C356B0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97FCD23-61D4-5729-420D-0AACD0127143}"/>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41FF1460-F436-6992-B19E-5E587174CCB6}"/>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1CC47E72-07CC-4BAE-8165-0B9663BBA94A}"/>
              </a:ext>
            </a:extLst>
          </p:cNvPr>
          <p:cNvSpPr txBox="1"/>
          <p:nvPr/>
        </p:nvSpPr>
        <p:spPr>
          <a:xfrm>
            <a:off x="94593" y="538609"/>
            <a:ext cx="11128930" cy="6488828"/>
          </a:xfrm>
          <a:prstGeom prst="rect">
            <a:avLst/>
          </a:prstGeom>
          <a:noFill/>
        </p:spPr>
        <p:txBody>
          <a:bodyPr wrap="square">
            <a:spAutoFit/>
          </a:bodyPr>
          <a:lstStyle/>
          <a:p>
            <a:pPr>
              <a:lnSpc>
                <a:spcPct val="150000"/>
              </a:lnSpc>
            </a:pPr>
            <a:r>
              <a:rPr lang="en-US" sz="2800" b="1" dirty="0">
                <a:latin typeface="Calibir"/>
              </a:rPr>
              <a:t>File 2 – Design and Technical Report</a:t>
            </a:r>
          </a:p>
          <a:p>
            <a:pPr>
              <a:lnSpc>
                <a:spcPct val="150000"/>
              </a:lnSpc>
            </a:pPr>
            <a:r>
              <a:rPr lang="en-US" sz="2800" dirty="0">
                <a:latin typeface="Calibir"/>
              </a:rPr>
              <a:t>Submit a Microsoft Word document (.docx) containing:</a:t>
            </a:r>
          </a:p>
          <a:p>
            <a:pPr marL="914400" lvl="1" indent="-457200">
              <a:lnSpc>
                <a:spcPct val="150000"/>
              </a:lnSpc>
              <a:buFont typeface="Arial" panose="020B0604020202020204" pitchFamily="34" charset="0"/>
              <a:buChar char="•"/>
            </a:pPr>
            <a:r>
              <a:rPr lang="en-US" sz="2800" dirty="0">
                <a:latin typeface="Calibir"/>
              </a:rPr>
              <a:t>Cover sheet</a:t>
            </a:r>
          </a:p>
          <a:p>
            <a:pPr marL="914400" lvl="1" indent="-457200">
              <a:lnSpc>
                <a:spcPct val="150000"/>
              </a:lnSpc>
              <a:buFont typeface="Arial" panose="020B0604020202020204" pitchFamily="34" charset="0"/>
              <a:buChar char="•"/>
            </a:pPr>
            <a:r>
              <a:rPr lang="en-US" sz="2800" dirty="0">
                <a:latin typeface="Calibir"/>
              </a:rPr>
              <a:t>Client requirements summary</a:t>
            </a:r>
          </a:p>
          <a:p>
            <a:pPr marL="914400" lvl="1" indent="-457200">
              <a:lnSpc>
                <a:spcPct val="150000"/>
              </a:lnSpc>
              <a:buFont typeface="Arial" panose="020B0604020202020204" pitchFamily="34" charset="0"/>
              <a:buChar char="•"/>
            </a:pPr>
            <a:r>
              <a:rPr lang="en-US" sz="2800" dirty="0">
                <a:latin typeface="Calibir"/>
              </a:rPr>
              <a:t>Site map</a:t>
            </a:r>
          </a:p>
          <a:p>
            <a:pPr marL="914400" lvl="1" indent="-457200">
              <a:lnSpc>
                <a:spcPct val="150000"/>
              </a:lnSpc>
              <a:buFont typeface="Arial" panose="020B0604020202020204" pitchFamily="34" charset="0"/>
              <a:buChar char="•"/>
            </a:pPr>
            <a:r>
              <a:rPr lang="en-US" sz="2800" dirty="0">
                <a:latin typeface="Calibir"/>
              </a:rPr>
              <a:t>Wireframes</a:t>
            </a:r>
          </a:p>
          <a:p>
            <a:pPr marL="914400" lvl="1" indent="-457200">
              <a:lnSpc>
                <a:spcPct val="150000"/>
              </a:lnSpc>
              <a:buFont typeface="Arial" panose="020B0604020202020204" pitchFamily="34" charset="0"/>
              <a:buChar char="•"/>
            </a:pPr>
            <a:r>
              <a:rPr lang="en-US" sz="2800" dirty="0">
                <a:latin typeface="Calibir"/>
              </a:rPr>
              <a:t>Style guide</a:t>
            </a:r>
          </a:p>
          <a:p>
            <a:pPr marL="914400" lvl="1" indent="-457200">
              <a:lnSpc>
                <a:spcPct val="150000"/>
              </a:lnSpc>
              <a:buFont typeface="Arial" panose="020B0604020202020204" pitchFamily="34" charset="0"/>
              <a:buChar char="•"/>
            </a:pPr>
            <a:r>
              <a:rPr lang="en-US" sz="2800" dirty="0">
                <a:latin typeface="Calibir"/>
              </a:rPr>
              <a:t>Technical explanation</a:t>
            </a:r>
          </a:p>
          <a:p>
            <a:pPr marL="914400" lvl="1" indent="-457200">
              <a:lnSpc>
                <a:spcPct val="150000"/>
              </a:lnSpc>
              <a:buFont typeface="Arial" panose="020B0604020202020204" pitchFamily="34" charset="0"/>
              <a:buChar char="•"/>
            </a:pPr>
            <a:r>
              <a:rPr lang="en-US" sz="2800" dirty="0">
                <a:latin typeface="Calibir"/>
              </a:rPr>
              <a:t>Individual reflections</a:t>
            </a:r>
          </a:p>
          <a:p>
            <a:pPr marL="914400" lvl="1" indent="-457200">
              <a:lnSpc>
                <a:spcPct val="150000"/>
              </a:lnSpc>
              <a:buFont typeface="Arial" panose="020B0604020202020204" pitchFamily="34" charset="0"/>
              <a:buChar char="•"/>
            </a:pPr>
            <a:r>
              <a:rPr lang="en-US" sz="2800" dirty="0">
                <a:latin typeface="Calibir"/>
              </a:rPr>
              <a:t>References</a:t>
            </a:r>
          </a:p>
        </p:txBody>
      </p:sp>
      <p:pic>
        <p:nvPicPr>
          <p:cNvPr id="3" name="Picture 2">
            <a:extLst>
              <a:ext uri="{FF2B5EF4-FFF2-40B4-BE49-F238E27FC236}">
                <a16:creationId xmlns:a16="http://schemas.microsoft.com/office/drawing/2014/main" id="{CC1D264B-CF5A-4709-9EFC-F0AC92F912C6}"/>
              </a:ext>
            </a:extLst>
          </p:cNvPr>
          <p:cNvPicPr>
            <a:picLocks noChangeAspect="1"/>
          </p:cNvPicPr>
          <p:nvPr/>
        </p:nvPicPr>
        <p:blipFill>
          <a:blip r:embed="rId3"/>
          <a:stretch>
            <a:fillRect/>
          </a:stretch>
        </p:blipFill>
        <p:spPr>
          <a:xfrm>
            <a:off x="6553200" y="3462259"/>
            <a:ext cx="5638800" cy="3395741"/>
          </a:xfrm>
          <a:prstGeom prst="rect">
            <a:avLst/>
          </a:prstGeom>
        </p:spPr>
      </p:pic>
      <p:cxnSp>
        <p:nvCxnSpPr>
          <p:cNvPr id="7" name="Connector: Elbow 6">
            <a:extLst>
              <a:ext uri="{FF2B5EF4-FFF2-40B4-BE49-F238E27FC236}">
                <a16:creationId xmlns:a16="http://schemas.microsoft.com/office/drawing/2014/main" id="{FCDC52EA-1A2F-4C94-8068-1C46FE0F23A1}"/>
              </a:ext>
            </a:extLst>
          </p:cNvPr>
          <p:cNvCxnSpPr/>
          <p:nvPr/>
        </p:nvCxnSpPr>
        <p:spPr>
          <a:xfrm>
            <a:off x="2447365" y="3523129"/>
            <a:ext cx="4069976" cy="1640542"/>
          </a:xfrm>
          <a:prstGeom prst="bentConnector3">
            <a:avLst/>
          </a:prstGeom>
          <a:ln>
            <a:tailEnd type="triangle"/>
          </a:ln>
        </p:spPr>
        <p:style>
          <a:lnRef idx="2">
            <a:schemeClr val="accent2"/>
          </a:lnRef>
          <a:fillRef idx="0">
            <a:schemeClr val="accent2"/>
          </a:fillRef>
          <a:effectRef idx="1">
            <a:schemeClr val="accent2"/>
          </a:effectRef>
          <a:fontRef idx="minor">
            <a:schemeClr val="tx1"/>
          </a:fontRef>
        </p:style>
      </p:cxnSp>
      <p:sp>
        <p:nvSpPr>
          <p:cNvPr id="8" name="TextBox 7">
            <a:extLst>
              <a:ext uri="{FF2B5EF4-FFF2-40B4-BE49-F238E27FC236}">
                <a16:creationId xmlns:a16="http://schemas.microsoft.com/office/drawing/2014/main" id="{25B1FC6E-D41E-4D8D-8458-46CB84891CF5}"/>
              </a:ext>
            </a:extLst>
          </p:cNvPr>
          <p:cNvSpPr txBox="1"/>
          <p:nvPr/>
        </p:nvSpPr>
        <p:spPr>
          <a:xfrm>
            <a:off x="4912659" y="4724400"/>
            <a:ext cx="995082" cy="369332"/>
          </a:xfrm>
          <a:prstGeom prst="rect">
            <a:avLst/>
          </a:prstGeom>
          <a:noFill/>
        </p:spPr>
        <p:txBody>
          <a:bodyPr wrap="square" rtlCol="0">
            <a:spAutoFit/>
          </a:bodyPr>
          <a:lstStyle/>
          <a:p>
            <a:r>
              <a:rPr lang="en-US" dirty="0"/>
              <a:t>Example</a:t>
            </a:r>
            <a:endParaRPr lang="en-AU" dirty="0"/>
          </a:p>
        </p:txBody>
      </p:sp>
    </p:spTree>
    <p:extLst>
      <p:ext uri="{BB962C8B-B14F-4D97-AF65-F5344CB8AC3E}">
        <p14:creationId xmlns:p14="http://schemas.microsoft.com/office/powerpoint/2010/main" val="1879813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DBFDB-215F-D026-002B-82067E50A7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2F968EC-0B81-49BA-9379-71BDEBCEBC4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EFC2CA01-E54E-A3C9-848C-279C53B8E138}"/>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D60E7ACA-15D7-6AD6-377C-7DC5FA2FD5BC}"/>
              </a:ext>
            </a:extLst>
          </p:cNvPr>
          <p:cNvSpPr txBox="1"/>
          <p:nvPr/>
        </p:nvSpPr>
        <p:spPr>
          <a:xfrm>
            <a:off x="94593" y="538609"/>
            <a:ext cx="11128930" cy="1964512"/>
          </a:xfrm>
          <a:prstGeom prst="rect">
            <a:avLst/>
          </a:prstGeom>
          <a:noFill/>
        </p:spPr>
        <p:txBody>
          <a:bodyPr wrap="square">
            <a:spAutoFit/>
          </a:bodyPr>
          <a:lstStyle/>
          <a:p>
            <a:pPr>
              <a:lnSpc>
                <a:spcPct val="150000"/>
              </a:lnSpc>
            </a:pPr>
            <a:r>
              <a:rPr lang="en-US" sz="2800" b="1" dirty="0">
                <a:latin typeface="Calibir"/>
              </a:rPr>
              <a:t>3. Group Scenario Selection</a:t>
            </a:r>
          </a:p>
          <a:p>
            <a:pPr>
              <a:lnSpc>
                <a:spcPct val="150000"/>
              </a:lnSpc>
            </a:pPr>
            <a:r>
              <a:rPr lang="en-US" sz="2800" dirty="0">
                <a:latin typeface="Calibir"/>
              </a:rPr>
              <a:t>Your group must choose ONE business category.</a:t>
            </a:r>
          </a:p>
          <a:p>
            <a:pPr>
              <a:lnSpc>
                <a:spcPct val="150000"/>
              </a:lnSpc>
            </a:pPr>
            <a:r>
              <a:rPr lang="en-US" sz="2800" b="1" dirty="0">
                <a:latin typeface="Calibir"/>
              </a:rPr>
              <a:t>Example Topics</a:t>
            </a:r>
          </a:p>
        </p:txBody>
      </p:sp>
      <p:graphicFrame>
        <p:nvGraphicFramePr>
          <p:cNvPr id="3" name="Table 2">
            <a:extLst>
              <a:ext uri="{FF2B5EF4-FFF2-40B4-BE49-F238E27FC236}">
                <a16:creationId xmlns:a16="http://schemas.microsoft.com/office/drawing/2014/main" id="{6547024F-6042-8474-5A82-0BFEE337411E}"/>
              </a:ext>
            </a:extLst>
          </p:cNvPr>
          <p:cNvGraphicFramePr>
            <a:graphicFrameLocks noGrp="1"/>
          </p:cNvGraphicFramePr>
          <p:nvPr>
            <p:extLst>
              <p:ext uri="{D42A27DB-BD31-4B8C-83A1-F6EECF244321}">
                <p14:modId xmlns:p14="http://schemas.microsoft.com/office/powerpoint/2010/main" val="3250005078"/>
              </p:ext>
            </p:extLst>
          </p:nvPr>
        </p:nvGraphicFramePr>
        <p:xfrm>
          <a:off x="838200" y="2668039"/>
          <a:ext cx="10515600" cy="3992118"/>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3072082034"/>
                    </a:ext>
                  </a:extLst>
                </a:gridCol>
                <a:gridCol w="5257800">
                  <a:extLst>
                    <a:ext uri="{9D8B030D-6E8A-4147-A177-3AD203B41FA5}">
                      <a16:colId xmlns:a16="http://schemas.microsoft.com/office/drawing/2014/main" val="1597630996"/>
                    </a:ext>
                  </a:extLst>
                </a:gridCol>
              </a:tblGrid>
              <a:tr h="0">
                <a:tc>
                  <a:txBody>
                    <a:bodyPr/>
                    <a:lstStyle/>
                    <a:p>
                      <a:pPr>
                        <a:lnSpc>
                          <a:spcPct val="150000"/>
                        </a:lnSpc>
                        <a:buNone/>
                      </a:pPr>
                      <a:r>
                        <a:rPr lang="en-US" sz="2800">
                          <a:latin typeface="Calibir"/>
                        </a:rPr>
                        <a:t>Category</a:t>
                      </a:r>
                    </a:p>
                  </a:txBody>
                  <a:tcPr anchor="ctr"/>
                </a:tc>
                <a:tc>
                  <a:txBody>
                    <a:bodyPr/>
                    <a:lstStyle/>
                    <a:p>
                      <a:pPr>
                        <a:lnSpc>
                          <a:spcPct val="150000"/>
                        </a:lnSpc>
                        <a:buNone/>
                      </a:pPr>
                      <a:r>
                        <a:rPr lang="en-US" sz="2800">
                          <a:latin typeface="Calibir"/>
                        </a:rPr>
                        <a:t>Example</a:t>
                      </a:r>
                    </a:p>
                  </a:txBody>
                  <a:tcPr anchor="ctr"/>
                </a:tc>
                <a:extLst>
                  <a:ext uri="{0D108BD9-81ED-4DB2-BD59-A6C34878D82A}">
                    <a16:rowId xmlns:a16="http://schemas.microsoft.com/office/drawing/2014/main" val="1495916659"/>
                  </a:ext>
                </a:extLst>
              </a:tr>
              <a:tr h="0">
                <a:tc>
                  <a:txBody>
                    <a:bodyPr/>
                    <a:lstStyle/>
                    <a:p>
                      <a:pPr>
                        <a:lnSpc>
                          <a:spcPct val="150000"/>
                        </a:lnSpc>
                        <a:buNone/>
                      </a:pPr>
                      <a:r>
                        <a:rPr lang="en-US" sz="2800">
                          <a:latin typeface="Calibir"/>
                        </a:rPr>
                        <a:t>Café or Restaurant</a:t>
                      </a:r>
                    </a:p>
                  </a:txBody>
                  <a:tcPr anchor="ctr"/>
                </a:tc>
                <a:tc>
                  <a:txBody>
                    <a:bodyPr/>
                    <a:lstStyle/>
                    <a:p>
                      <a:pPr>
                        <a:lnSpc>
                          <a:spcPct val="150000"/>
                        </a:lnSpc>
                        <a:buNone/>
                      </a:pPr>
                      <a:r>
                        <a:rPr lang="en-US" sz="2800">
                          <a:latin typeface="Calibir"/>
                        </a:rPr>
                        <a:t>Sunrise Café</a:t>
                      </a:r>
                    </a:p>
                  </a:txBody>
                  <a:tcPr anchor="ctr"/>
                </a:tc>
                <a:extLst>
                  <a:ext uri="{0D108BD9-81ED-4DB2-BD59-A6C34878D82A}">
                    <a16:rowId xmlns:a16="http://schemas.microsoft.com/office/drawing/2014/main" val="1335357058"/>
                  </a:ext>
                </a:extLst>
              </a:tr>
              <a:tr h="0">
                <a:tc>
                  <a:txBody>
                    <a:bodyPr/>
                    <a:lstStyle/>
                    <a:p>
                      <a:pPr>
                        <a:lnSpc>
                          <a:spcPct val="150000"/>
                        </a:lnSpc>
                        <a:buNone/>
                      </a:pPr>
                      <a:r>
                        <a:rPr lang="en-US" sz="2800">
                          <a:latin typeface="Calibir"/>
                        </a:rPr>
                        <a:t>Fitness Studio</a:t>
                      </a:r>
                    </a:p>
                  </a:txBody>
                  <a:tcPr anchor="ctr"/>
                </a:tc>
                <a:tc>
                  <a:txBody>
                    <a:bodyPr/>
                    <a:lstStyle/>
                    <a:p>
                      <a:pPr>
                        <a:lnSpc>
                          <a:spcPct val="150000"/>
                        </a:lnSpc>
                        <a:buNone/>
                      </a:pPr>
                      <a:r>
                        <a:rPr lang="en-US" sz="2800">
                          <a:latin typeface="Calibir"/>
                        </a:rPr>
                        <a:t>Ignite Fitness</a:t>
                      </a:r>
                    </a:p>
                  </a:txBody>
                  <a:tcPr anchor="ctr"/>
                </a:tc>
                <a:extLst>
                  <a:ext uri="{0D108BD9-81ED-4DB2-BD59-A6C34878D82A}">
                    <a16:rowId xmlns:a16="http://schemas.microsoft.com/office/drawing/2014/main" val="267206559"/>
                  </a:ext>
                </a:extLst>
              </a:tr>
              <a:tr h="0">
                <a:tc>
                  <a:txBody>
                    <a:bodyPr/>
                    <a:lstStyle/>
                    <a:p>
                      <a:pPr>
                        <a:lnSpc>
                          <a:spcPct val="150000"/>
                        </a:lnSpc>
                        <a:buNone/>
                      </a:pPr>
                      <a:r>
                        <a:rPr lang="en-US" sz="2800">
                          <a:latin typeface="Calibir"/>
                        </a:rPr>
                        <a:t>Charity</a:t>
                      </a:r>
                    </a:p>
                  </a:txBody>
                  <a:tcPr anchor="ctr"/>
                </a:tc>
                <a:tc>
                  <a:txBody>
                    <a:bodyPr/>
                    <a:lstStyle/>
                    <a:p>
                      <a:pPr>
                        <a:lnSpc>
                          <a:spcPct val="150000"/>
                        </a:lnSpc>
                        <a:buNone/>
                      </a:pPr>
                      <a:r>
                        <a:rPr lang="en-US" sz="2800">
                          <a:latin typeface="Calibir"/>
                        </a:rPr>
                        <a:t>Green Future Foundation</a:t>
                      </a:r>
                    </a:p>
                  </a:txBody>
                  <a:tcPr anchor="ctr"/>
                </a:tc>
                <a:extLst>
                  <a:ext uri="{0D108BD9-81ED-4DB2-BD59-A6C34878D82A}">
                    <a16:rowId xmlns:a16="http://schemas.microsoft.com/office/drawing/2014/main" val="42438186"/>
                  </a:ext>
                </a:extLst>
              </a:tr>
              <a:tr h="0">
                <a:tc>
                  <a:txBody>
                    <a:bodyPr/>
                    <a:lstStyle/>
                    <a:p>
                      <a:pPr>
                        <a:lnSpc>
                          <a:spcPct val="150000"/>
                        </a:lnSpc>
                        <a:buNone/>
                      </a:pPr>
                      <a:r>
                        <a:rPr lang="en-US" sz="2800">
                          <a:latin typeface="Calibir"/>
                        </a:rPr>
                        <a:t>Tourism</a:t>
                      </a:r>
                    </a:p>
                  </a:txBody>
                  <a:tcPr anchor="ctr"/>
                </a:tc>
                <a:tc>
                  <a:txBody>
                    <a:bodyPr/>
                    <a:lstStyle/>
                    <a:p>
                      <a:pPr>
                        <a:lnSpc>
                          <a:spcPct val="150000"/>
                        </a:lnSpc>
                        <a:buNone/>
                      </a:pPr>
                      <a:r>
                        <a:rPr lang="en-US" sz="2800">
                          <a:latin typeface="Calibir"/>
                        </a:rPr>
                        <a:t>Blue Mountain Lodge</a:t>
                      </a:r>
                    </a:p>
                  </a:txBody>
                  <a:tcPr anchor="ctr"/>
                </a:tc>
                <a:extLst>
                  <a:ext uri="{0D108BD9-81ED-4DB2-BD59-A6C34878D82A}">
                    <a16:rowId xmlns:a16="http://schemas.microsoft.com/office/drawing/2014/main" val="1377714024"/>
                  </a:ext>
                </a:extLst>
              </a:tr>
              <a:tr h="0">
                <a:tc>
                  <a:txBody>
                    <a:bodyPr/>
                    <a:lstStyle/>
                    <a:p>
                      <a:pPr>
                        <a:lnSpc>
                          <a:spcPct val="150000"/>
                        </a:lnSpc>
                        <a:buNone/>
                      </a:pPr>
                      <a:r>
                        <a:rPr lang="en-US" sz="2800">
                          <a:latin typeface="Calibir"/>
                        </a:rPr>
                        <a:t>Festival</a:t>
                      </a:r>
                    </a:p>
                  </a:txBody>
                  <a:tcPr anchor="ctr"/>
                </a:tc>
                <a:tc>
                  <a:txBody>
                    <a:bodyPr/>
                    <a:lstStyle/>
                    <a:p>
                      <a:pPr>
                        <a:lnSpc>
                          <a:spcPct val="150000"/>
                        </a:lnSpc>
                        <a:buNone/>
                      </a:pPr>
                      <a:r>
                        <a:rPr lang="en-US" sz="2800" dirty="0">
                          <a:latin typeface="Calibir"/>
                        </a:rPr>
                        <a:t>Riverside Music Festival</a:t>
                      </a:r>
                    </a:p>
                  </a:txBody>
                  <a:tcPr anchor="ctr"/>
                </a:tc>
                <a:extLst>
                  <a:ext uri="{0D108BD9-81ED-4DB2-BD59-A6C34878D82A}">
                    <a16:rowId xmlns:a16="http://schemas.microsoft.com/office/drawing/2014/main" val="3852880986"/>
                  </a:ext>
                </a:extLst>
              </a:tr>
            </a:tbl>
          </a:graphicData>
        </a:graphic>
      </p:graphicFrame>
    </p:spTree>
    <p:extLst>
      <p:ext uri="{BB962C8B-B14F-4D97-AF65-F5344CB8AC3E}">
        <p14:creationId xmlns:p14="http://schemas.microsoft.com/office/powerpoint/2010/main" val="789439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E7DFD-029D-F1A4-4837-F2ECDCA6EF6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426ACD-0F7E-C686-EF51-ED8816C43040}"/>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9516A585-6A62-EC94-D44D-79914E77BB4D}"/>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3F94C73F-C318-7063-C17E-491472001F7B}"/>
              </a:ext>
            </a:extLst>
          </p:cNvPr>
          <p:cNvSpPr txBox="1"/>
          <p:nvPr/>
        </p:nvSpPr>
        <p:spPr>
          <a:xfrm>
            <a:off x="94593" y="538609"/>
            <a:ext cx="11128930" cy="5842497"/>
          </a:xfrm>
          <a:prstGeom prst="rect">
            <a:avLst/>
          </a:prstGeom>
          <a:noFill/>
        </p:spPr>
        <p:txBody>
          <a:bodyPr wrap="square">
            <a:spAutoFit/>
          </a:bodyPr>
          <a:lstStyle/>
          <a:p>
            <a:pPr>
              <a:lnSpc>
                <a:spcPct val="150000"/>
              </a:lnSpc>
            </a:pPr>
            <a:r>
              <a:rPr lang="en-US" sz="2800" b="1" dirty="0">
                <a:latin typeface="Calibir"/>
              </a:rPr>
              <a:t>4. Minimum Website Requirements</a:t>
            </a:r>
          </a:p>
          <a:p>
            <a:pPr>
              <a:lnSpc>
                <a:spcPct val="150000"/>
              </a:lnSpc>
            </a:pPr>
            <a:r>
              <a:rPr lang="en-US" sz="2800" dirty="0">
                <a:latin typeface="Calibir"/>
              </a:rPr>
              <a:t>Your website must:</a:t>
            </a:r>
          </a:p>
          <a:p>
            <a:pPr marL="914400" lvl="1" indent="-457200">
              <a:lnSpc>
                <a:spcPct val="150000"/>
              </a:lnSpc>
              <a:buFont typeface="Arial" panose="020B0604020202020204" pitchFamily="34" charset="0"/>
              <a:buChar char="•"/>
            </a:pPr>
            <a:r>
              <a:rPr lang="en-US" sz="2800" dirty="0">
                <a:latin typeface="Calibir"/>
              </a:rPr>
              <a:t>Include at least 4 pages</a:t>
            </a:r>
          </a:p>
          <a:p>
            <a:pPr marL="914400" lvl="1" indent="-457200">
              <a:lnSpc>
                <a:spcPct val="150000"/>
              </a:lnSpc>
              <a:buFont typeface="Arial" panose="020B0604020202020204" pitchFamily="34" charset="0"/>
              <a:buChar char="•"/>
            </a:pPr>
            <a:r>
              <a:rPr lang="en-US" sz="2800" dirty="0">
                <a:latin typeface="Calibir"/>
              </a:rPr>
              <a:t>Use HTML5 semantic elements</a:t>
            </a:r>
          </a:p>
          <a:p>
            <a:pPr marL="914400" lvl="1" indent="-457200">
              <a:lnSpc>
                <a:spcPct val="150000"/>
              </a:lnSpc>
              <a:buFont typeface="Arial" panose="020B0604020202020204" pitchFamily="34" charset="0"/>
              <a:buChar char="•"/>
            </a:pPr>
            <a:r>
              <a:rPr lang="en-US" sz="2800" dirty="0">
                <a:latin typeface="Calibir"/>
              </a:rPr>
              <a:t>Use ONE external CSS file</a:t>
            </a:r>
          </a:p>
          <a:p>
            <a:pPr marL="914400" lvl="1" indent="-457200">
              <a:lnSpc>
                <a:spcPct val="150000"/>
              </a:lnSpc>
              <a:buFont typeface="Arial" panose="020B0604020202020204" pitchFamily="34" charset="0"/>
              <a:buChar char="•"/>
            </a:pPr>
            <a:r>
              <a:rPr lang="en-US" sz="2800" dirty="0">
                <a:latin typeface="Calibir"/>
              </a:rPr>
              <a:t>Have working navigation links</a:t>
            </a:r>
          </a:p>
          <a:p>
            <a:pPr marL="914400" lvl="1" indent="-457200">
              <a:lnSpc>
                <a:spcPct val="150000"/>
              </a:lnSpc>
              <a:buFont typeface="Arial" panose="020B0604020202020204" pitchFamily="34" charset="0"/>
              <a:buChar char="•"/>
            </a:pPr>
            <a:r>
              <a:rPr lang="en-US" sz="2800" dirty="0">
                <a:latin typeface="Calibir"/>
              </a:rPr>
              <a:t>Be responsive on mobile and desktop</a:t>
            </a:r>
          </a:p>
          <a:p>
            <a:pPr marL="914400" lvl="1" indent="-457200">
              <a:lnSpc>
                <a:spcPct val="150000"/>
              </a:lnSpc>
              <a:buFont typeface="Arial" panose="020B0604020202020204" pitchFamily="34" charset="0"/>
              <a:buChar char="•"/>
            </a:pPr>
            <a:r>
              <a:rPr lang="en-US" sz="2800" dirty="0">
                <a:latin typeface="Calibir"/>
              </a:rPr>
              <a:t>Include a contact form</a:t>
            </a:r>
          </a:p>
          <a:p>
            <a:pPr marL="914400" lvl="1" indent="-457200">
              <a:lnSpc>
                <a:spcPct val="150000"/>
              </a:lnSpc>
              <a:buFont typeface="Arial" panose="020B0604020202020204" pitchFamily="34" charset="0"/>
              <a:buChar char="•"/>
            </a:pPr>
            <a:r>
              <a:rPr lang="en-US" sz="2800" dirty="0">
                <a:latin typeface="Calibir"/>
              </a:rPr>
              <a:t>Pass W3C validation</a:t>
            </a:r>
          </a:p>
        </p:txBody>
      </p:sp>
    </p:spTree>
    <p:extLst>
      <p:ext uri="{BB962C8B-B14F-4D97-AF65-F5344CB8AC3E}">
        <p14:creationId xmlns:p14="http://schemas.microsoft.com/office/powerpoint/2010/main" val="2307146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8D1AC-B1BB-DDA8-1303-0EEE455799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52BEF12-84E8-A475-B967-272D6C614FF9}"/>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A8DD231D-6A5B-3AEE-F48D-351BA9962C17}"/>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7C677BB0-9C80-D0C0-702C-6F623F13776F}"/>
              </a:ext>
            </a:extLst>
          </p:cNvPr>
          <p:cNvSpPr txBox="1"/>
          <p:nvPr/>
        </p:nvSpPr>
        <p:spPr>
          <a:xfrm>
            <a:off x="94593" y="538609"/>
            <a:ext cx="11128930" cy="1964512"/>
          </a:xfrm>
          <a:prstGeom prst="rect">
            <a:avLst/>
          </a:prstGeom>
          <a:noFill/>
        </p:spPr>
        <p:txBody>
          <a:bodyPr wrap="square">
            <a:spAutoFit/>
          </a:bodyPr>
          <a:lstStyle/>
          <a:p>
            <a:pPr>
              <a:lnSpc>
                <a:spcPct val="150000"/>
              </a:lnSpc>
            </a:pPr>
            <a:r>
              <a:rPr lang="en-US" sz="2800" b="1" dirty="0">
                <a:latin typeface="Calibir"/>
              </a:rPr>
              <a:t>5. Understanding Semantic HTML5</a:t>
            </a:r>
          </a:p>
          <a:p>
            <a:pPr>
              <a:lnSpc>
                <a:spcPct val="150000"/>
              </a:lnSpc>
            </a:pPr>
            <a:r>
              <a:rPr lang="en-US" sz="2800" dirty="0">
                <a:latin typeface="Calibir"/>
              </a:rPr>
              <a:t>Semantic elements help structure your website clearly.</a:t>
            </a:r>
          </a:p>
          <a:p>
            <a:pPr>
              <a:lnSpc>
                <a:spcPct val="150000"/>
              </a:lnSpc>
            </a:pPr>
            <a:r>
              <a:rPr lang="en-US" sz="2800" b="1" dirty="0">
                <a:latin typeface="Calibir"/>
              </a:rPr>
              <a:t>Common Semantic Elements</a:t>
            </a:r>
          </a:p>
        </p:txBody>
      </p:sp>
      <p:graphicFrame>
        <p:nvGraphicFramePr>
          <p:cNvPr id="3" name="Table 2">
            <a:extLst>
              <a:ext uri="{FF2B5EF4-FFF2-40B4-BE49-F238E27FC236}">
                <a16:creationId xmlns:a16="http://schemas.microsoft.com/office/drawing/2014/main" id="{9742E5C1-0E24-D25C-BFEC-497ECC9A2507}"/>
              </a:ext>
            </a:extLst>
          </p:cNvPr>
          <p:cNvGraphicFramePr>
            <a:graphicFrameLocks noGrp="1"/>
          </p:cNvGraphicFramePr>
          <p:nvPr>
            <p:extLst>
              <p:ext uri="{D42A27DB-BD31-4B8C-83A1-F6EECF244321}">
                <p14:modId xmlns:p14="http://schemas.microsoft.com/office/powerpoint/2010/main" val="3671936226"/>
              </p:ext>
            </p:extLst>
          </p:nvPr>
        </p:nvGraphicFramePr>
        <p:xfrm>
          <a:off x="204019" y="2692271"/>
          <a:ext cx="7406148" cy="3627120"/>
        </p:xfrm>
        <a:graphic>
          <a:graphicData uri="http://schemas.openxmlformats.org/drawingml/2006/table">
            <a:tbl>
              <a:tblPr>
                <a:tableStyleId>{BDBED569-4797-4DF1-A0F4-6AAB3CD982D8}</a:tableStyleId>
              </a:tblPr>
              <a:tblGrid>
                <a:gridCol w="2716161">
                  <a:extLst>
                    <a:ext uri="{9D8B030D-6E8A-4147-A177-3AD203B41FA5}">
                      <a16:colId xmlns:a16="http://schemas.microsoft.com/office/drawing/2014/main" val="4187182461"/>
                    </a:ext>
                  </a:extLst>
                </a:gridCol>
                <a:gridCol w="4689987">
                  <a:extLst>
                    <a:ext uri="{9D8B030D-6E8A-4147-A177-3AD203B41FA5}">
                      <a16:colId xmlns:a16="http://schemas.microsoft.com/office/drawing/2014/main" val="3423183972"/>
                    </a:ext>
                  </a:extLst>
                </a:gridCol>
              </a:tblGrid>
              <a:tr h="0">
                <a:tc>
                  <a:txBody>
                    <a:bodyPr/>
                    <a:lstStyle/>
                    <a:p>
                      <a:pPr>
                        <a:buNone/>
                      </a:pPr>
                      <a:r>
                        <a:rPr lang="en-US" sz="2800" dirty="0">
                          <a:latin typeface="Calibir"/>
                        </a:rPr>
                        <a:t>Element</a:t>
                      </a:r>
                    </a:p>
                  </a:txBody>
                  <a:tcPr anchor="ctr"/>
                </a:tc>
                <a:tc>
                  <a:txBody>
                    <a:bodyPr/>
                    <a:lstStyle/>
                    <a:p>
                      <a:pPr>
                        <a:buNone/>
                      </a:pPr>
                      <a:r>
                        <a:rPr lang="en-US" sz="2800">
                          <a:latin typeface="Calibir"/>
                        </a:rPr>
                        <a:t>Purpose</a:t>
                      </a:r>
                    </a:p>
                  </a:txBody>
                  <a:tcPr anchor="ctr"/>
                </a:tc>
                <a:extLst>
                  <a:ext uri="{0D108BD9-81ED-4DB2-BD59-A6C34878D82A}">
                    <a16:rowId xmlns:a16="http://schemas.microsoft.com/office/drawing/2014/main" val="255196185"/>
                  </a:ext>
                </a:extLst>
              </a:tr>
              <a:tr h="0">
                <a:tc>
                  <a:txBody>
                    <a:bodyPr/>
                    <a:lstStyle/>
                    <a:p>
                      <a:pPr>
                        <a:buNone/>
                      </a:pPr>
                      <a:r>
                        <a:rPr lang="en-US" sz="2800">
                          <a:latin typeface="Calibir"/>
                        </a:rPr>
                        <a:t>&lt;header&gt;</a:t>
                      </a:r>
                    </a:p>
                  </a:txBody>
                  <a:tcPr anchor="ctr"/>
                </a:tc>
                <a:tc>
                  <a:txBody>
                    <a:bodyPr/>
                    <a:lstStyle/>
                    <a:p>
                      <a:pPr>
                        <a:buNone/>
                      </a:pPr>
                      <a:r>
                        <a:rPr lang="en-US" sz="2800">
                          <a:latin typeface="Calibir"/>
                        </a:rPr>
                        <a:t>Top section/logo</a:t>
                      </a:r>
                    </a:p>
                  </a:txBody>
                  <a:tcPr anchor="ctr"/>
                </a:tc>
                <a:extLst>
                  <a:ext uri="{0D108BD9-81ED-4DB2-BD59-A6C34878D82A}">
                    <a16:rowId xmlns:a16="http://schemas.microsoft.com/office/drawing/2014/main" val="56991619"/>
                  </a:ext>
                </a:extLst>
              </a:tr>
              <a:tr h="0">
                <a:tc>
                  <a:txBody>
                    <a:bodyPr/>
                    <a:lstStyle/>
                    <a:p>
                      <a:pPr>
                        <a:buNone/>
                      </a:pPr>
                      <a:r>
                        <a:rPr lang="en-US" sz="2800">
                          <a:latin typeface="Calibir"/>
                        </a:rPr>
                        <a:t>&lt;nav&gt;</a:t>
                      </a:r>
                    </a:p>
                  </a:txBody>
                  <a:tcPr anchor="ctr"/>
                </a:tc>
                <a:tc>
                  <a:txBody>
                    <a:bodyPr/>
                    <a:lstStyle/>
                    <a:p>
                      <a:pPr>
                        <a:buNone/>
                      </a:pPr>
                      <a:r>
                        <a:rPr lang="en-US" sz="2800">
                          <a:latin typeface="Calibir"/>
                        </a:rPr>
                        <a:t>Navigation menu</a:t>
                      </a:r>
                    </a:p>
                  </a:txBody>
                  <a:tcPr anchor="ctr"/>
                </a:tc>
                <a:extLst>
                  <a:ext uri="{0D108BD9-81ED-4DB2-BD59-A6C34878D82A}">
                    <a16:rowId xmlns:a16="http://schemas.microsoft.com/office/drawing/2014/main" val="3646262393"/>
                  </a:ext>
                </a:extLst>
              </a:tr>
              <a:tr h="0">
                <a:tc>
                  <a:txBody>
                    <a:bodyPr/>
                    <a:lstStyle/>
                    <a:p>
                      <a:pPr>
                        <a:buNone/>
                      </a:pPr>
                      <a:r>
                        <a:rPr lang="en-US" sz="2800">
                          <a:latin typeface="Calibir"/>
                        </a:rPr>
                        <a:t>&lt;main&gt;</a:t>
                      </a:r>
                    </a:p>
                  </a:txBody>
                  <a:tcPr anchor="ctr"/>
                </a:tc>
                <a:tc>
                  <a:txBody>
                    <a:bodyPr/>
                    <a:lstStyle/>
                    <a:p>
                      <a:pPr>
                        <a:buNone/>
                      </a:pPr>
                      <a:r>
                        <a:rPr lang="en-US" sz="2800">
                          <a:latin typeface="Calibir"/>
                        </a:rPr>
                        <a:t>Main page content</a:t>
                      </a:r>
                    </a:p>
                  </a:txBody>
                  <a:tcPr anchor="ctr"/>
                </a:tc>
                <a:extLst>
                  <a:ext uri="{0D108BD9-81ED-4DB2-BD59-A6C34878D82A}">
                    <a16:rowId xmlns:a16="http://schemas.microsoft.com/office/drawing/2014/main" val="2213888064"/>
                  </a:ext>
                </a:extLst>
              </a:tr>
              <a:tr h="0">
                <a:tc>
                  <a:txBody>
                    <a:bodyPr/>
                    <a:lstStyle/>
                    <a:p>
                      <a:pPr>
                        <a:buNone/>
                      </a:pPr>
                      <a:r>
                        <a:rPr lang="en-US" sz="2800">
                          <a:latin typeface="Calibir"/>
                        </a:rPr>
                        <a:t>&lt;section&gt;</a:t>
                      </a:r>
                    </a:p>
                  </a:txBody>
                  <a:tcPr anchor="ctr"/>
                </a:tc>
                <a:tc>
                  <a:txBody>
                    <a:bodyPr/>
                    <a:lstStyle/>
                    <a:p>
                      <a:pPr>
                        <a:buNone/>
                      </a:pPr>
                      <a:r>
                        <a:rPr lang="en-US" sz="2800">
                          <a:latin typeface="Calibir"/>
                        </a:rPr>
                        <a:t>Content section</a:t>
                      </a:r>
                    </a:p>
                  </a:txBody>
                  <a:tcPr anchor="ctr"/>
                </a:tc>
                <a:extLst>
                  <a:ext uri="{0D108BD9-81ED-4DB2-BD59-A6C34878D82A}">
                    <a16:rowId xmlns:a16="http://schemas.microsoft.com/office/drawing/2014/main" val="1667407355"/>
                  </a:ext>
                </a:extLst>
              </a:tr>
              <a:tr h="0">
                <a:tc>
                  <a:txBody>
                    <a:bodyPr/>
                    <a:lstStyle/>
                    <a:p>
                      <a:pPr>
                        <a:buNone/>
                      </a:pPr>
                      <a:r>
                        <a:rPr lang="en-US" sz="2800">
                          <a:latin typeface="Calibir"/>
                        </a:rPr>
                        <a:t>&lt;article&gt;</a:t>
                      </a:r>
                    </a:p>
                  </a:txBody>
                  <a:tcPr anchor="ctr"/>
                </a:tc>
                <a:tc>
                  <a:txBody>
                    <a:bodyPr/>
                    <a:lstStyle/>
                    <a:p>
                      <a:pPr>
                        <a:buNone/>
                      </a:pPr>
                      <a:r>
                        <a:rPr lang="en-US" sz="2800">
                          <a:latin typeface="Calibir"/>
                        </a:rPr>
                        <a:t>Independent content block</a:t>
                      </a:r>
                    </a:p>
                  </a:txBody>
                  <a:tcPr anchor="ctr"/>
                </a:tc>
                <a:extLst>
                  <a:ext uri="{0D108BD9-81ED-4DB2-BD59-A6C34878D82A}">
                    <a16:rowId xmlns:a16="http://schemas.microsoft.com/office/drawing/2014/main" val="1853497782"/>
                  </a:ext>
                </a:extLst>
              </a:tr>
              <a:tr h="0">
                <a:tc>
                  <a:txBody>
                    <a:bodyPr/>
                    <a:lstStyle/>
                    <a:p>
                      <a:pPr>
                        <a:buNone/>
                      </a:pPr>
                      <a:r>
                        <a:rPr lang="en-US" sz="2800">
                          <a:latin typeface="Calibir"/>
                        </a:rPr>
                        <a:t>&lt;footer&gt;</a:t>
                      </a:r>
                    </a:p>
                  </a:txBody>
                  <a:tcPr anchor="ctr"/>
                </a:tc>
                <a:tc>
                  <a:txBody>
                    <a:bodyPr/>
                    <a:lstStyle/>
                    <a:p>
                      <a:pPr>
                        <a:buNone/>
                      </a:pPr>
                      <a:r>
                        <a:rPr lang="en-US" sz="2800" dirty="0">
                          <a:latin typeface="Calibir"/>
                        </a:rPr>
                        <a:t>Bottom section</a:t>
                      </a:r>
                    </a:p>
                  </a:txBody>
                  <a:tcPr anchor="ctr"/>
                </a:tc>
                <a:extLst>
                  <a:ext uri="{0D108BD9-81ED-4DB2-BD59-A6C34878D82A}">
                    <a16:rowId xmlns:a16="http://schemas.microsoft.com/office/drawing/2014/main" val="1100149048"/>
                  </a:ext>
                </a:extLst>
              </a:tr>
            </a:tbl>
          </a:graphicData>
        </a:graphic>
      </p:graphicFrame>
    </p:spTree>
    <p:extLst>
      <p:ext uri="{BB962C8B-B14F-4D97-AF65-F5344CB8AC3E}">
        <p14:creationId xmlns:p14="http://schemas.microsoft.com/office/powerpoint/2010/main" val="3259174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56997-FDE8-3F0B-B314-C374E144DE0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6AA21C6-5C89-6B05-D6B5-2632E720AC6F}"/>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811084D4-E3AF-472F-D0F3-8710DC93A307}"/>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47E8B22A-EB32-5658-33E6-9173B4552253}"/>
              </a:ext>
            </a:extLst>
          </p:cNvPr>
          <p:cNvSpPr txBox="1"/>
          <p:nvPr/>
        </p:nvSpPr>
        <p:spPr>
          <a:xfrm>
            <a:off x="94593" y="538609"/>
            <a:ext cx="11128930" cy="1318181"/>
          </a:xfrm>
          <a:prstGeom prst="rect">
            <a:avLst/>
          </a:prstGeom>
          <a:noFill/>
        </p:spPr>
        <p:txBody>
          <a:bodyPr wrap="square">
            <a:spAutoFit/>
          </a:bodyPr>
          <a:lstStyle/>
          <a:p>
            <a:pPr>
              <a:lnSpc>
                <a:spcPct val="150000"/>
              </a:lnSpc>
            </a:pPr>
            <a:r>
              <a:rPr lang="en-US" sz="2800" b="1" dirty="0">
                <a:latin typeface="Calibir"/>
              </a:rPr>
              <a:t>Simple Example</a:t>
            </a:r>
          </a:p>
          <a:p>
            <a:pPr>
              <a:lnSpc>
                <a:spcPct val="150000"/>
              </a:lnSpc>
            </a:pPr>
            <a:r>
              <a:rPr lang="en-US" sz="2800" b="1" dirty="0">
                <a:latin typeface="Calibir"/>
              </a:rPr>
              <a:t>Create a Folder e.g., </a:t>
            </a:r>
            <a:r>
              <a:rPr lang="en-US" sz="2800" b="1" dirty="0" err="1">
                <a:latin typeface="Calibir"/>
              </a:rPr>
              <a:t>WebDesign</a:t>
            </a:r>
            <a:r>
              <a:rPr lang="en-US" sz="2800" b="1" dirty="0">
                <a:latin typeface="Calibir"/>
              </a:rPr>
              <a:t> &gt;&gt; Sunrise</a:t>
            </a:r>
          </a:p>
        </p:txBody>
      </p:sp>
      <p:pic>
        <p:nvPicPr>
          <p:cNvPr id="4" name="Picture 3">
            <a:extLst>
              <a:ext uri="{FF2B5EF4-FFF2-40B4-BE49-F238E27FC236}">
                <a16:creationId xmlns:a16="http://schemas.microsoft.com/office/drawing/2014/main" id="{9F6E3C84-8CBE-5BA6-EEA9-5FD7C511F374}"/>
              </a:ext>
            </a:extLst>
          </p:cNvPr>
          <p:cNvPicPr>
            <a:picLocks noChangeAspect="1"/>
          </p:cNvPicPr>
          <p:nvPr/>
        </p:nvPicPr>
        <p:blipFill>
          <a:blip r:embed="rId3"/>
          <a:srcRect l="11976" t="10967" r="34959" b="69812"/>
          <a:stretch>
            <a:fillRect/>
          </a:stretch>
        </p:blipFill>
        <p:spPr>
          <a:xfrm>
            <a:off x="0" y="2625213"/>
            <a:ext cx="12191999" cy="2484110"/>
          </a:xfrm>
          <a:prstGeom prst="rect">
            <a:avLst/>
          </a:prstGeom>
          <a:ln>
            <a:solidFill>
              <a:srgbClr val="FF0000"/>
            </a:solidFill>
          </a:ln>
        </p:spPr>
      </p:pic>
    </p:spTree>
    <p:extLst>
      <p:ext uri="{BB962C8B-B14F-4D97-AF65-F5344CB8AC3E}">
        <p14:creationId xmlns:p14="http://schemas.microsoft.com/office/powerpoint/2010/main" val="2571568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EEE2B-85AA-F177-6336-87F02E61FEB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FFBED1-DD55-5EF4-79E1-D92AAED52468}"/>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ED932D5E-6A1E-3472-67E8-65A87417D249}"/>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B275632C-9C78-5EC1-938F-2445ABFEC72D}"/>
              </a:ext>
            </a:extLst>
          </p:cNvPr>
          <p:cNvSpPr txBox="1"/>
          <p:nvPr/>
        </p:nvSpPr>
        <p:spPr>
          <a:xfrm>
            <a:off x="94593" y="538609"/>
            <a:ext cx="11128930" cy="671851"/>
          </a:xfrm>
          <a:prstGeom prst="rect">
            <a:avLst/>
          </a:prstGeom>
          <a:noFill/>
        </p:spPr>
        <p:txBody>
          <a:bodyPr wrap="square">
            <a:spAutoFit/>
          </a:bodyPr>
          <a:lstStyle/>
          <a:p>
            <a:pPr>
              <a:lnSpc>
                <a:spcPct val="150000"/>
              </a:lnSpc>
            </a:pPr>
            <a:r>
              <a:rPr lang="en-US" sz="2800" b="1" dirty="0">
                <a:latin typeface="Calibir"/>
              </a:rPr>
              <a:t>Run VS Code</a:t>
            </a:r>
          </a:p>
        </p:txBody>
      </p:sp>
      <p:pic>
        <p:nvPicPr>
          <p:cNvPr id="7" name="Picture 6">
            <a:extLst>
              <a:ext uri="{FF2B5EF4-FFF2-40B4-BE49-F238E27FC236}">
                <a16:creationId xmlns:a16="http://schemas.microsoft.com/office/drawing/2014/main" id="{0436A471-B363-C255-ED07-52C8E0F89C4C}"/>
              </a:ext>
            </a:extLst>
          </p:cNvPr>
          <p:cNvPicPr>
            <a:picLocks noChangeAspect="1"/>
          </p:cNvPicPr>
          <p:nvPr/>
        </p:nvPicPr>
        <p:blipFill>
          <a:blip r:embed="rId3"/>
          <a:srcRect l="27944" t="12688" r="23785" b="6452"/>
          <a:stretch>
            <a:fillRect/>
          </a:stretch>
        </p:blipFill>
        <p:spPr>
          <a:xfrm>
            <a:off x="3319112" y="591354"/>
            <a:ext cx="6650798" cy="6266646"/>
          </a:xfrm>
          <a:prstGeom prst="rect">
            <a:avLst/>
          </a:prstGeom>
        </p:spPr>
      </p:pic>
      <p:sp>
        <p:nvSpPr>
          <p:cNvPr id="8" name="Rectangle: Rounded Corners 7">
            <a:extLst>
              <a:ext uri="{FF2B5EF4-FFF2-40B4-BE49-F238E27FC236}">
                <a16:creationId xmlns:a16="http://schemas.microsoft.com/office/drawing/2014/main" id="{9E006769-1C9D-3E00-40AB-41DA7C1C6346}"/>
              </a:ext>
            </a:extLst>
          </p:cNvPr>
          <p:cNvSpPr/>
          <p:nvPr/>
        </p:nvSpPr>
        <p:spPr>
          <a:xfrm>
            <a:off x="7123471" y="951026"/>
            <a:ext cx="2551471" cy="190205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1077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F65AD-1CFD-848E-4954-1EFF1D16DA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1B0BFA1-8F81-455F-347A-1D0B1ED65FCB}"/>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5EC3E562-EEDF-9BCF-02B8-87C1B5D8E561}"/>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A149B528-60BA-571A-AD36-08EDA5629AAD}"/>
              </a:ext>
            </a:extLst>
          </p:cNvPr>
          <p:cNvSpPr txBox="1"/>
          <p:nvPr/>
        </p:nvSpPr>
        <p:spPr>
          <a:xfrm>
            <a:off x="94593" y="538609"/>
            <a:ext cx="11128930" cy="671851"/>
          </a:xfrm>
          <a:prstGeom prst="rect">
            <a:avLst/>
          </a:prstGeom>
          <a:noFill/>
        </p:spPr>
        <p:txBody>
          <a:bodyPr wrap="square">
            <a:spAutoFit/>
          </a:bodyPr>
          <a:lstStyle/>
          <a:p>
            <a:pPr>
              <a:lnSpc>
                <a:spcPct val="150000"/>
              </a:lnSpc>
            </a:pPr>
            <a:r>
              <a:rPr lang="en-US" sz="2800" b="1" dirty="0">
                <a:latin typeface="Calibir"/>
              </a:rPr>
              <a:t>File &gt;&gt; Open Folder</a:t>
            </a:r>
          </a:p>
        </p:txBody>
      </p:sp>
      <p:pic>
        <p:nvPicPr>
          <p:cNvPr id="4" name="Picture 3">
            <a:extLst>
              <a:ext uri="{FF2B5EF4-FFF2-40B4-BE49-F238E27FC236}">
                <a16:creationId xmlns:a16="http://schemas.microsoft.com/office/drawing/2014/main" id="{79590A51-45C5-B0FB-05AE-AEB8C55BC8FF}"/>
              </a:ext>
            </a:extLst>
          </p:cNvPr>
          <p:cNvPicPr>
            <a:picLocks noChangeAspect="1"/>
          </p:cNvPicPr>
          <p:nvPr/>
        </p:nvPicPr>
        <p:blipFill>
          <a:blip r:embed="rId3"/>
          <a:srcRect r="40605" b="6452"/>
          <a:stretch>
            <a:fillRect/>
          </a:stretch>
        </p:blipFill>
        <p:spPr>
          <a:xfrm>
            <a:off x="3185652" y="538608"/>
            <a:ext cx="7132922" cy="6319391"/>
          </a:xfrm>
          <a:prstGeom prst="rect">
            <a:avLst/>
          </a:prstGeom>
        </p:spPr>
      </p:pic>
      <p:sp>
        <p:nvSpPr>
          <p:cNvPr id="9" name="Rectangle: Rounded Corners 8">
            <a:extLst>
              <a:ext uri="{FF2B5EF4-FFF2-40B4-BE49-F238E27FC236}">
                <a16:creationId xmlns:a16="http://schemas.microsoft.com/office/drawing/2014/main" id="{68EF1925-B348-A473-39CB-B26AED58DDC1}"/>
              </a:ext>
            </a:extLst>
          </p:cNvPr>
          <p:cNvSpPr/>
          <p:nvPr/>
        </p:nvSpPr>
        <p:spPr>
          <a:xfrm>
            <a:off x="6445045" y="2654710"/>
            <a:ext cx="3805084" cy="29496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34AC89A7-B4AA-1ECE-7CC7-EF5F47E44604}"/>
              </a:ext>
            </a:extLst>
          </p:cNvPr>
          <p:cNvSpPr/>
          <p:nvPr/>
        </p:nvSpPr>
        <p:spPr>
          <a:xfrm>
            <a:off x="3756516" y="980514"/>
            <a:ext cx="2526297" cy="37633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3243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8B222-F150-632A-5F90-325381F7D48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3319E64-6FF5-7F34-72AC-4898D6D9D7F0}"/>
              </a:ext>
            </a:extLst>
          </p:cNvPr>
          <p:cNvPicPr>
            <a:picLocks noChangeAspect="1"/>
          </p:cNvPicPr>
          <p:nvPr/>
        </p:nvPicPr>
        <p:blipFill>
          <a:blip r:embed="rId2"/>
          <a:srcRect l="9677" r="3589" b="20000"/>
          <a:stretch>
            <a:fillRect/>
          </a:stretch>
        </p:blipFill>
        <p:spPr>
          <a:xfrm>
            <a:off x="808703" y="1371600"/>
            <a:ext cx="10574594" cy="5486400"/>
          </a:xfrm>
          <a:prstGeom prst="rect">
            <a:avLst/>
          </a:prstGeom>
          <a:ln w="38100">
            <a:solidFill>
              <a:srgbClr val="FF0000"/>
            </a:solidFill>
          </a:ln>
        </p:spPr>
      </p:pic>
      <p:sp>
        <p:nvSpPr>
          <p:cNvPr id="5" name="TextBox 4">
            <a:extLst>
              <a:ext uri="{FF2B5EF4-FFF2-40B4-BE49-F238E27FC236}">
                <a16:creationId xmlns:a16="http://schemas.microsoft.com/office/drawing/2014/main" id="{2F77C423-0D3A-4F15-6B9B-9DD69042CCCF}"/>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FA2AC45D-1E61-22C5-E4B1-884045FD65E0}"/>
              </a:ext>
            </a:extLst>
          </p:cNvPr>
          <p:cNvPicPr>
            <a:picLocks noChangeAspect="1"/>
          </p:cNvPicPr>
          <p:nvPr/>
        </p:nvPicPr>
        <p:blipFill>
          <a:blip r:embed="rId3"/>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BB8DE7C9-54AD-849E-1D39-63D344D9795D}"/>
              </a:ext>
            </a:extLst>
          </p:cNvPr>
          <p:cNvSpPr txBox="1"/>
          <p:nvPr/>
        </p:nvSpPr>
        <p:spPr>
          <a:xfrm>
            <a:off x="94593" y="538609"/>
            <a:ext cx="11128930" cy="671851"/>
          </a:xfrm>
          <a:prstGeom prst="rect">
            <a:avLst/>
          </a:prstGeom>
          <a:noFill/>
        </p:spPr>
        <p:txBody>
          <a:bodyPr wrap="square">
            <a:spAutoFit/>
          </a:bodyPr>
          <a:lstStyle/>
          <a:p>
            <a:pPr>
              <a:lnSpc>
                <a:spcPct val="150000"/>
              </a:lnSpc>
            </a:pPr>
            <a:r>
              <a:rPr lang="en-US" sz="2800" b="1" dirty="0">
                <a:latin typeface="Calibir"/>
              </a:rPr>
              <a:t>Navigate the folder (e.g., </a:t>
            </a:r>
            <a:r>
              <a:rPr lang="en-US" sz="2800" b="1" dirty="0" err="1">
                <a:latin typeface="Calibir"/>
              </a:rPr>
              <a:t>Webdesign</a:t>
            </a:r>
            <a:r>
              <a:rPr lang="en-US" sz="2800" b="1" dirty="0">
                <a:latin typeface="Calibir"/>
              </a:rPr>
              <a:t> &gt;&gt; Sunrise then Select folder)</a:t>
            </a:r>
          </a:p>
        </p:txBody>
      </p:sp>
      <p:sp>
        <p:nvSpPr>
          <p:cNvPr id="9" name="Rectangle: Rounded Corners 8">
            <a:extLst>
              <a:ext uri="{FF2B5EF4-FFF2-40B4-BE49-F238E27FC236}">
                <a16:creationId xmlns:a16="http://schemas.microsoft.com/office/drawing/2014/main" id="{B488F959-532D-0B64-4559-B1B52CDEBCDF}"/>
              </a:ext>
            </a:extLst>
          </p:cNvPr>
          <p:cNvSpPr/>
          <p:nvPr/>
        </p:nvSpPr>
        <p:spPr>
          <a:xfrm>
            <a:off x="9512710" y="6518787"/>
            <a:ext cx="899652" cy="29496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2832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6E20-B37F-1590-D649-404D0C95CE9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0BD93CC-8E6F-3031-815B-C5C3A300C06C}"/>
              </a:ext>
            </a:extLst>
          </p:cNvPr>
          <p:cNvPicPr>
            <a:picLocks noChangeAspect="1"/>
          </p:cNvPicPr>
          <p:nvPr/>
        </p:nvPicPr>
        <p:blipFill>
          <a:blip r:embed="rId2"/>
          <a:srcRect r="69153" b="52473"/>
          <a:stretch>
            <a:fillRect/>
          </a:stretch>
        </p:blipFill>
        <p:spPr>
          <a:xfrm>
            <a:off x="197832" y="1344286"/>
            <a:ext cx="6174785" cy="5351481"/>
          </a:xfrm>
          <a:prstGeom prst="rect">
            <a:avLst/>
          </a:prstGeom>
        </p:spPr>
      </p:pic>
      <p:sp>
        <p:nvSpPr>
          <p:cNvPr id="5" name="TextBox 4">
            <a:extLst>
              <a:ext uri="{FF2B5EF4-FFF2-40B4-BE49-F238E27FC236}">
                <a16:creationId xmlns:a16="http://schemas.microsoft.com/office/drawing/2014/main" id="{594F5D3F-FD35-E1ED-AE69-29C3B731B6CB}"/>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95CCE010-03C1-86BF-AA20-1DEA6FBE61F6}"/>
              </a:ext>
            </a:extLst>
          </p:cNvPr>
          <p:cNvPicPr>
            <a:picLocks noChangeAspect="1"/>
          </p:cNvPicPr>
          <p:nvPr/>
        </p:nvPicPr>
        <p:blipFill>
          <a:blip r:embed="rId3"/>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FEBA1ED5-029F-8AAC-4939-E7DF813547D1}"/>
              </a:ext>
            </a:extLst>
          </p:cNvPr>
          <p:cNvSpPr txBox="1"/>
          <p:nvPr/>
        </p:nvSpPr>
        <p:spPr>
          <a:xfrm>
            <a:off x="94593" y="538609"/>
            <a:ext cx="11128930" cy="671851"/>
          </a:xfrm>
          <a:prstGeom prst="rect">
            <a:avLst/>
          </a:prstGeom>
          <a:noFill/>
        </p:spPr>
        <p:txBody>
          <a:bodyPr wrap="square">
            <a:spAutoFit/>
          </a:bodyPr>
          <a:lstStyle/>
          <a:p>
            <a:pPr>
              <a:lnSpc>
                <a:spcPct val="150000"/>
              </a:lnSpc>
            </a:pPr>
            <a:r>
              <a:rPr lang="en-US" sz="2800" b="1" dirty="0">
                <a:latin typeface="Calibir"/>
              </a:rPr>
              <a:t>Select New File</a:t>
            </a:r>
          </a:p>
        </p:txBody>
      </p:sp>
      <p:sp>
        <p:nvSpPr>
          <p:cNvPr id="9" name="Rectangle: Rounded Corners 8">
            <a:extLst>
              <a:ext uri="{FF2B5EF4-FFF2-40B4-BE49-F238E27FC236}">
                <a16:creationId xmlns:a16="http://schemas.microsoft.com/office/drawing/2014/main" id="{26921EB0-C951-CA01-9EE9-97A302541608}"/>
              </a:ext>
            </a:extLst>
          </p:cNvPr>
          <p:cNvSpPr/>
          <p:nvPr/>
        </p:nvSpPr>
        <p:spPr>
          <a:xfrm>
            <a:off x="3790335" y="4020026"/>
            <a:ext cx="604684" cy="5372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6795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63AD4-2FF0-C6DC-4940-9317BBCE27B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E7DCEAC-D2C6-64C9-0CB2-E5FDA97C5A02}"/>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937A958B-BDDE-CB52-B3F6-18C5719D95B4}"/>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15F89A1D-45E3-8909-ABF8-F3CE2547A10A}"/>
              </a:ext>
            </a:extLst>
          </p:cNvPr>
          <p:cNvSpPr txBox="1"/>
          <p:nvPr/>
        </p:nvSpPr>
        <p:spPr>
          <a:xfrm>
            <a:off x="0" y="1902052"/>
            <a:ext cx="10538994" cy="1964512"/>
          </a:xfrm>
          <a:prstGeom prst="rect">
            <a:avLst/>
          </a:prstGeom>
          <a:noFill/>
        </p:spPr>
        <p:txBody>
          <a:bodyPr wrap="square">
            <a:spAutoFit/>
          </a:bodyPr>
          <a:lstStyle/>
          <a:p>
            <a:pPr>
              <a:lnSpc>
                <a:spcPct val="150000"/>
              </a:lnSpc>
            </a:pPr>
            <a:r>
              <a:rPr lang="en-US" sz="2800" dirty="0">
                <a:latin typeface="Calibir"/>
              </a:rPr>
              <a:t>Students first learn the basic structure before building a complete website. After teaching this part, students should continue developing the website step-by-step instead of stopping at a simple page.</a:t>
            </a:r>
          </a:p>
        </p:txBody>
      </p:sp>
    </p:spTree>
    <p:extLst>
      <p:ext uri="{BB962C8B-B14F-4D97-AF65-F5344CB8AC3E}">
        <p14:creationId xmlns:p14="http://schemas.microsoft.com/office/powerpoint/2010/main" val="3358859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17A88-4C96-AF5F-03D4-C2121E2BC9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C4B08DE-C294-DD57-BAF0-9103943428AA}"/>
              </a:ext>
            </a:extLst>
          </p:cNvPr>
          <p:cNvSpPr txBox="1"/>
          <p:nvPr/>
        </p:nvSpPr>
        <p:spPr>
          <a:xfrm>
            <a:off x="0"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87C26967-A7BF-EA59-7DF6-DF4F37EB4491}"/>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F29C8BEA-A5EC-0FB9-D160-8A42868021D8}"/>
              </a:ext>
            </a:extLst>
          </p:cNvPr>
          <p:cNvSpPr txBox="1"/>
          <p:nvPr/>
        </p:nvSpPr>
        <p:spPr>
          <a:xfrm>
            <a:off x="0" y="774037"/>
            <a:ext cx="11128930" cy="671851"/>
          </a:xfrm>
          <a:prstGeom prst="rect">
            <a:avLst/>
          </a:prstGeom>
          <a:noFill/>
        </p:spPr>
        <p:txBody>
          <a:bodyPr wrap="square">
            <a:spAutoFit/>
          </a:bodyPr>
          <a:lstStyle/>
          <a:p>
            <a:pPr>
              <a:lnSpc>
                <a:spcPct val="150000"/>
              </a:lnSpc>
            </a:pPr>
            <a:r>
              <a:rPr lang="en-US" sz="2800" b="1" dirty="0">
                <a:latin typeface="Calibir"/>
              </a:rPr>
              <a:t>You may select a name (e.g., Sunrise.html)</a:t>
            </a:r>
          </a:p>
        </p:txBody>
      </p:sp>
      <p:pic>
        <p:nvPicPr>
          <p:cNvPr id="12" name="Picture 11">
            <a:extLst>
              <a:ext uri="{FF2B5EF4-FFF2-40B4-BE49-F238E27FC236}">
                <a16:creationId xmlns:a16="http://schemas.microsoft.com/office/drawing/2014/main" id="{ABE43E6A-B6E5-F0BE-BB6B-F0DDC230407F}"/>
              </a:ext>
            </a:extLst>
          </p:cNvPr>
          <p:cNvPicPr>
            <a:picLocks noChangeAspect="1"/>
          </p:cNvPicPr>
          <p:nvPr/>
        </p:nvPicPr>
        <p:blipFill>
          <a:blip r:embed="rId3"/>
          <a:srcRect r="7943" b="24516"/>
          <a:stretch>
            <a:fillRect/>
          </a:stretch>
        </p:blipFill>
        <p:spPr>
          <a:xfrm>
            <a:off x="0" y="1681316"/>
            <a:ext cx="11223523" cy="5176684"/>
          </a:xfrm>
          <a:prstGeom prst="rect">
            <a:avLst/>
          </a:prstGeom>
        </p:spPr>
      </p:pic>
      <p:sp>
        <p:nvSpPr>
          <p:cNvPr id="13" name="Rectangle: Rounded Corners 12">
            <a:extLst>
              <a:ext uri="{FF2B5EF4-FFF2-40B4-BE49-F238E27FC236}">
                <a16:creationId xmlns:a16="http://schemas.microsoft.com/office/drawing/2014/main" id="{A3167A23-ED82-5F79-1F46-0F204C925873}"/>
              </a:ext>
            </a:extLst>
          </p:cNvPr>
          <p:cNvSpPr/>
          <p:nvPr/>
        </p:nvSpPr>
        <p:spPr>
          <a:xfrm>
            <a:off x="648929" y="3613356"/>
            <a:ext cx="3111909" cy="33921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9982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5B38B-A9F0-72EE-BD84-A98FDEB63F8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9A277D1-C9E8-9A32-7DAA-1EBD0EA36B34}"/>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66AC07C6-1930-10C9-52FD-1A8D41F6C69A}"/>
              </a:ext>
            </a:extLst>
          </p:cNvPr>
          <p:cNvSpPr txBox="1"/>
          <p:nvPr/>
        </p:nvSpPr>
        <p:spPr>
          <a:xfrm>
            <a:off x="0" y="0"/>
            <a:ext cx="9512710" cy="6986528"/>
          </a:xfrm>
          <a:prstGeom prst="rect">
            <a:avLst/>
          </a:prstGeom>
          <a:solidFill>
            <a:schemeClr val="tx1"/>
          </a:solidFill>
        </p:spPr>
        <p:txBody>
          <a:bodyPr wrap="square">
            <a:spAutoFit/>
          </a:bodyPr>
          <a:lstStyle/>
          <a:p>
            <a:pPr>
              <a:buNone/>
            </a:pP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DOCTYPE</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html</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html</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lang</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a:t>
            </a:r>
            <a:r>
              <a:rPr lang="en-US" sz="1600" b="0" dirty="0" err="1">
                <a:solidFill>
                  <a:srgbClr val="CE9178"/>
                </a:solidFill>
                <a:effectLst/>
                <a:latin typeface="Consolas" panose="020B0609020204030204" pitchFamily="49" charset="0"/>
              </a:rPr>
              <a:t>en</a:t>
            </a:r>
            <a:r>
              <a:rPr lang="en-US" sz="1600" b="0" dirty="0">
                <a:solidFill>
                  <a:srgbClr val="CE9178"/>
                </a:solidFill>
                <a:effectLst/>
                <a:latin typeface="Consolas" panose="020B0609020204030204" pitchFamily="49" charset="0"/>
              </a:rPr>
              <a:t>"</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head</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meta</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charset</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"UTF-8"</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meta</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name</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"viewport"</a:t>
            </a: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content</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"width=device-width, initial-scale=1.0"</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title</a:t>
            </a:r>
            <a:r>
              <a:rPr lang="en-US" sz="1600" b="0" dirty="0">
                <a:solidFill>
                  <a:srgbClr val="808080"/>
                </a:solidFill>
                <a:effectLst/>
                <a:latin typeface="Consolas" panose="020B0609020204030204" pitchFamily="49" charset="0"/>
              </a:rPr>
              <a:t>&gt;</a:t>
            </a:r>
            <a:r>
              <a:rPr lang="en-US" sz="1600" b="0" dirty="0">
                <a:solidFill>
                  <a:srgbClr val="CCCCCC"/>
                </a:solidFill>
                <a:effectLst/>
                <a:latin typeface="Consolas" panose="020B0609020204030204" pitchFamily="49" charset="0"/>
              </a:rPr>
              <a:t>Sunrise Café</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title</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link</a:t>
            </a:r>
            <a:r>
              <a:rPr lang="en-US" sz="1600" b="0" dirty="0">
                <a:solidFill>
                  <a:srgbClr val="CCCCCC"/>
                </a:solidFill>
                <a:effectLst/>
                <a:latin typeface="Consolas" panose="020B0609020204030204" pitchFamily="49" charset="0"/>
              </a:rPr>
              <a:t> </a:t>
            </a:r>
            <a:r>
              <a:rPr lang="en-US" sz="1600" b="0" dirty="0" err="1">
                <a:solidFill>
                  <a:srgbClr val="9CDCFE"/>
                </a:solidFill>
                <a:effectLst/>
                <a:latin typeface="Consolas" panose="020B0609020204030204" pitchFamily="49" charset="0"/>
              </a:rPr>
              <a:t>rel</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"stylesheet"</a:t>
            </a:r>
            <a:r>
              <a:rPr lang="en-US" sz="1600" b="0" dirty="0">
                <a:solidFill>
                  <a:srgbClr val="CCCCCC"/>
                </a:solidFill>
                <a:effectLst/>
                <a:latin typeface="Consolas" panose="020B0609020204030204" pitchFamily="49" charset="0"/>
              </a:rPr>
              <a:t> </a:t>
            </a:r>
            <a:r>
              <a:rPr lang="en-US" sz="1600" b="0" dirty="0" err="1">
                <a:solidFill>
                  <a:srgbClr val="9CDCFE"/>
                </a:solidFill>
                <a:effectLst/>
                <a:latin typeface="Consolas" panose="020B0609020204030204" pitchFamily="49" charset="0"/>
              </a:rPr>
              <a:t>href</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"styles.css"</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head</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body</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header</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h1</a:t>
            </a:r>
            <a:r>
              <a:rPr lang="en-US" sz="1600" b="0" dirty="0">
                <a:solidFill>
                  <a:srgbClr val="808080"/>
                </a:solidFill>
                <a:effectLst/>
                <a:latin typeface="Consolas" panose="020B0609020204030204" pitchFamily="49" charset="0"/>
              </a:rPr>
              <a:t>&gt;</a:t>
            </a:r>
            <a:r>
              <a:rPr lang="en-US" sz="1600" b="0" dirty="0">
                <a:solidFill>
                  <a:srgbClr val="CCCCCC"/>
                </a:solidFill>
                <a:effectLst/>
                <a:latin typeface="Consolas" panose="020B0609020204030204" pitchFamily="49" charset="0"/>
              </a:rPr>
              <a:t>Sunrise Café</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h1</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header</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nav</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a</a:t>
            </a:r>
            <a:r>
              <a:rPr lang="en-US" sz="1600" b="0" dirty="0">
                <a:solidFill>
                  <a:srgbClr val="CCCCCC"/>
                </a:solidFill>
                <a:effectLst/>
                <a:latin typeface="Consolas" panose="020B0609020204030204" pitchFamily="49" charset="0"/>
              </a:rPr>
              <a:t> </a:t>
            </a:r>
            <a:r>
              <a:rPr lang="en-US" sz="1600" b="0" dirty="0" err="1">
                <a:solidFill>
                  <a:srgbClr val="9CDCFE"/>
                </a:solidFill>
                <a:effectLst/>
                <a:latin typeface="Consolas" panose="020B0609020204030204" pitchFamily="49" charset="0"/>
              </a:rPr>
              <a:t>href</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"index.html"</a:t>
            </a:r>
            <a:r>
              <a:rPr lang="en-US" sz="1600" b="0" dirty="0">
                <a:solidFill>
                  <a:srgbClr val="808080"/>
                </a:solidFill>
                <a:effectLst/>
                <a:latin typeface="Consolas" panose="020B0609020204030204" pitchFamily="49" charset="0"/>
              </a:rPr>
              <a:t>&gt;</a:t>
            </a:r>
            <a:r>
              <a:rPr lang="en-US" sz="1600" b="0" dirty="0">
                <a:solidFill>
                  <a:srgbClr val="CCCCCC"/>
                </a:solidFill>
                <a:effectLst/>
                <a:latin typeface="Consolas" panose="020B0609020204030204" pitchFamily="49" charset="0"/>
              </a:rPr>
              <a:t>Home</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a</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a</a:t>
            </a:r>
            <a:r>
              <a:rPr lang="en-US" sz="1600" b="0" dirty="0">
                <a:solidFill>
                  <a:srgbClr val="CCCCCC"/>
                </a:solidFill>
                <a:effectLst/>
                <a:latin typeface="Consolas" panose="020B0609020204030204" pitchFamily="49" charset="0"/>
              </a:rPr>
              <a:t> </a:t>
            </a:r>
            <a:r>
              <a:rPr lang="en-US" sz="1600" b="0" dirty="0" err="1">
                <a:solidFill>
                  <a:srgbClr val="9CDCFE"/>
                </a:solidFill>
                <a:effectLst/>
                <a:latin typeface="Consolas" panose="020B0609020204030204" pitchFamily="49" charset="0"/>
              </a:rPr>
              <a:t>href</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"menu.html"</a:t>
            </a:r>
            <a:r>
              <a:rPr lang="en-US" sz="1600" b="0" dirty="0">
                <a:solidFill>
                  <a:srgbClr val="808080"/>
                </a:solidFill>
                <a:effectLst/>
                <a:latin typeface="Consolas" panose="020B0609020204030204" pitchFamily="49" charset="0"/>
              </a:rPr>
              <a:t>&gt;</a:t>
            </a:r>
            <a:r>
              <a:rPr lang="en-US" sz="1600" b="0" dirty="0">
                <a:solidFill>
                  <a:srgbClr val="CCCCCC"/>
                </a:solidFill>
                <a:effectLst/>
                <a:latin typeface="Consolas" panose="020B0609020204030204" pitchFamily="49" charset="0"/>
              </a:rPr>
              <a:t>Menu</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a</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a</a:t>
            </a:r>
            <a:r>
              <a:rPr lang="en-US" sz="1600" b="0" dirty="0">
                <a:solidFill>
                  <a:srgbClr val="CCCCCC"/>
                </a:solidFill>
                <a:effectLst/>
                <a:latin typeface="Consolas" panose="020B0609020204030204" pitchFamily="49" charset="0"/>
              </a:rPr>
              <a:t> </a:t>
            </a:r>
            <a:r>
              <a:rPr lang="en-US" sz="1600" b="0" dirty="0" err="1">
                <a:solidFill>
                  <a:srgbClr val="9CDCFE"/>
                </a:solidFill>
                <a:effectLst/>
                <a:latin typeface="Consolas" panose="020B0609020204030204" pitchFamily="49" charset="0"/>
              </a:rPr>
              <a:t>href</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"contact.html"</a:t>
            </a:r>
            <a:r>
              <a:rPr lang="en-US" sz="1600" b="0" dirty="0">
                <a:solidFill>
                  <a:srgbClr val="808080"/>
                </a:solidFill>
                <a:effectLst/>
                <a:latin typeface="Consolas" panose="020B0609020204030204" pitchFamily="49" charset="0"/>
              </a:rPr>
              <a:t>&gt;</a:t>
            </a:r>
            <a:r>
              <a:rPr lang="en-US" sz="1600" b="0" dirty="0">
                <a:solidFill>
                  <a:srgbClr val="CCCCCC"/>
                </a:solidFill>
                <a:effectLst/>
                <a:latin typeface="Consolas" panose="020B0609020204030204" pitchFamily="49" charset="0"/>
              </a:rPr>
              <a:t>Contact</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a</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nav</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main</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section</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h2</a:t>
            </a:r>
            <a:r>
              <a:rPr lang="en-US" sz="1600" b="0" dirty="0">
                <a:solidFill>
                  <a:srgbClr val="808080"/>
                </a:solidFill>
                <a:effectLst/>
                <a:latin typeface="Consolas" panose="020B0609020204030204" pitchFamily="49" charset="0"/>
              </a:rPr>
              <a:t>&gt;</a:t>
            </a:r>
            <a:r>
              <a:rPr lang="en-US" sz="1600" b="0" dirty="0">
                <a:solidFill>
                  <a:srgbClr val="CCCCCC"/>
                </a:solidFill>
                <a:effectLst/>
                <a:latin typeface="Consolas" panose="020B0609020204030204" pitchFamily="49" charset="0"/>
              </a:rPr>
              <a:t>Welcome</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h2</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p</a:t>
            </a:r>
            <a:r>
              <a:rPr lang="en-US" sz="1600" b="0" dirty="0">
                <a:solidFill>
                  <a:srgbClr val="808080"/>
                </a:solidFill>
                <a:effectLst/>
                <a:latin typeface="Consolas" panose="020B0609020204030204" pitchFamily="49" charset="0"/>
              </a:rPr>
              <a:t>&gt;</a:t>
            </a:r>
            <a:r>
              <a:rPr lang="en-US" sz="1600" b="0" dirty="0">
                <a:solidFill>
                  <a:srgbClr val="CCCCCC"/>
                </a:solidFill>
                <a:effectLst/>
                <a:latin typeface="Consolas" panose="020B0609020204030204" pitchFamily="49" charset="0"/>
              </a:rPr>
              <a:t>Fresh coffee every morning.</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p</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section</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main</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footer</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p</a:t>
            </a:r>
            <a:r>
              <a:rPr lang="en-US" sz="1600" b="0" dirty="0">
                <a:solidFill>
                  <a:srgbClr val="808080"/>
                </a:solidFill>
                <a:effectLst/>
                <a:latin typeface="Consolas" panose="020B0609020204030204" pitchFamily="49" charset="0"/>
              </a:rPr>
              <a:t>&gt;</a:t>
            </a:r>
            <a:r>
              <a:rPr lang="en-US" sz="1600" b="0" dirty="0">
                <a:solidFill>
                  <a:srgbClr val="CCCCCC"/>
                </a:solidFill>
                <a:effectLst/>
                <a:latin typeface="Consolas" panose="020B0609020204030204" pitchFamily="49" charset="0"/>
              </a:rPr>
              <a:t>© 2026 Sunrise Café</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p</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footer</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body</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a:p>
            <a:pPr>
              <a:buNone/>
            </a:pP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html</a:t>
            </a:r>
            <a:r>
              <a:rPr lang="en-US" sz="1600" b="0" dirty="0">
                <a:solidFill>
                  <a:srgbClr val="808080"/>
                </a:solidFill>
                <a:effectLst/>
                <a:latin typeface="Consolas" panose="020B0609020204030204" pitchFamily="49" charset="0"/>
              </a:rPr>
              <a:t>&gt;</a:t>
            </a:r>
            <a:endParaRPr lang="en-US" sz="1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537168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6A181-C722-0226-19F1-A43946E78FB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50FF808-E63B-5B57-A8B7-2DECF52873EA}"/>
              </a:ext>
            </a:extLst>
          </p:cNvPr>
          <p:cNvPicPr>
            <a:picLocks noChangeAspect="1"/>
          </p:cNvPicPr>
          <p:nvPr/>
        </p:nvPicPr>
        <p:blipFill>
          <a:blip r:embed="rId2"/>
          <a:stretch>
            <a:fillRect/>
          </a:stretch>
        </p:blipFill>
        <p:spPr>
          <a:xfrm>
            <a:off x="10260685" y="0"/>
            <a:ext cx="1931315" cy="1902052"/>
          </a:xfrm>
          <a:prstGeom prst="rect">
            <a:avLst/>
          </a:prstGeom>
        </p:spPr>
      </p:pic>
      <p:pic>
        <p:nvPicPr>
          <p:cNvPr id="5" name="Picture 4">
            <a:extLst>
              <a:ext uri="{FF2B5EF4-FFF2-40B4-BE49-F238E27FC236}">
                <a16:creationId xmlns:a16="http://schemas.microsoft.com/office/drawing/2014/main" id="{97722642-6E34-EEA4-AD3E-CF24BFAF560F}"/>
              </a:ext>
            </a:extLst>
          </p:cNvPr>
          <p:cNvPicPr>
            <a:picLocks noChangeAspect="1"/>
          </p:cNvPicPr>
          <p:nvPr/>
        </p:nvPicPr>
        <p:blipFill>
          <a:blip r:embed="rId3"/>
          <a:srcRect r="7822" b="7527"/>
          <a:stretch>
            <a:fillRect/>
          </a:stretch>
        </p:blipFill>
        <p:spPr>
          <a:xfrm>
            <a:off x="0" y="516194"/>
            <a:ext cx="11238271" cy="6341806"/>
          </a:xfrm>
          <a:prstGeom prst="rect">
            <a:avLst/>
          </a:prstGeom>
        </p:spPr>
      </p:pic>
      <p:sp>
        <p:nvSpPr>
          <p:cNvPr id="6" name="TextBox 5">
            <a:extLst>
              <a:ext uri="{FF2B5EF4-FFF2-40B4-BE49-F238E27FC236}">
                <a16:creationId xmlns:a16="http://schemas.microsoft.com/office/drawing/2014/main" id="{CB786C7F-1899-CF15-DD83-610FF676C0B1}"/>
              </a:ext>
            </a:extLst>
          </p:cNvPr>
          <p:cNvSpPr txBox="1"/>
          <p:nvPr/>
        </p:nvSpPr>
        <p:spPr>
          <a:xfrm>
            <a:off x="54670" y="-155657"/>
            <a:ext cx="11128930" cy="671851"/>
          </a:xfrm>
          <a:prstGeom prst="rect">
            <a:avLst/>
          </a:prstGeom>
          <a:noFill/>
        </p:spPr>
        <p:txBody>
          <a:bodyPr wrap="square">
            <a:spAutoFit/>
          </a:bodyPr>
          <a:lstStyle/>
          <a:p>
            <a:pPr>
              <a:lnSpc>
                <a:spcPct val="150000"/>
              </a:lnSpc>
            </a:pPr>
            <a:r>
              <a:rPr lang="en-US" sz="2800" b="1" dirty="0">
                <a:latin typeface="Calibir"/>
              </a:rPr>
              <a:t>Right Click &gt;&gt; Open with Live Server</a:t>
            </a:r>
          </a:p>
        </p:txBody>
      </p:sp>
      <p:sp>
        <p:nvSpPr>
          <p:cNvPr id="7" name="Rectangle: Rounded Corners 6">
            <a:extLst>
              <a:ext uri="{FF2B5EF4-FFF2-40B4-BE49-F238E27FC236}">
                <a16:creationId xmlns:a16="http://schemas.microsoft.com/office/drawing/2014/main" id="{3B092C29-6C31-601B-E72D-1BCE95C1A041}"/>
              </a:ext>
            </a:extLst>
          </p:cNvPr>
          <p:cNvSpPr/>
          <p:nvPr/>
        </p:nvSpPr>
        <p:spPr>
          <a:xfrm>
            <a:off x="6902245" y="5235677"/>
            <a:ext cx="4218039" cy="3687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0598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21CB6-0ABC-28DA-8680-3506B6D5059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38E7B78-CE63-9E58-B28B-40FA3D532D8C}"/>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72F93C6F-53A8-230A-572F-369CE2BFF57D}"/>
              </a:ext>
            </a:extLst>
          </p:cNvPr>
          <p:cNvSpPr txBox="1"/>
          <p:nvPr/>
        </p:nvSpPr>
        <p:spPr>
          <a:xfrm>
            <a:off x="54670" y="-155657"/>
            <a:ext cx="11128930" cy="671851"/>
          </a:xfrm>
          <a:prstGeom prst="rect">
            <a:avLst/>
          </a:prstGeom>
          <a:noFill/>
        </p:spPr>
        <p:txBody>
          <a:bodyPr wrap="square">
            <a:spAutoFit/>
          </a:bodyPr>
          <a:lstStyle/>
          <a:p>
            <a:pPr>
              <a:lnSpc>
                <a:spcPct val="150000"/>
              </a:lnSpc>
            </a:pPr>
            <a:r>
              <a:rPr lang="en-US" sz="2800" b="1">
                <a:latin typeface="Calibir"/>
              </a:rPr>
              <a:t>Right Click &gt;&gt; Open with Live Server</a:t>
            </a:r>
            <a:endParaRPr lang="en-US" sz="2800" b="1" dirty="0">
              <a:latin typeface="Calibir"/>
            </a:endParaRPr>
          </a:p>
        </p:txBody>
      </p:sp>
      <p:pic>
        <p:nvPicPr>
          <p:cNvPr id="9" name="Picture 8">
            <a:extLst>
              <a:ext uri="{FF2B5EF4-FFF2-40B4-BE49-F238E27FC236}">
                <a16:creationId xmlns:a16="http://schemas.microsoft.com/office/drawing/2014/main" id="{DB5F7806-8DA3-9DB3-700F-129244DB7404}"/>
              </a:ext>
            </a:extLst>
          </p:cNvPr>
          <p:cNvPicPr>
            <a:picLocks noChangeAspect="1"/>
          </p:cNvPicPr>
          <p:nvPr/>
        </p:nvPicPr>
        <p:blipFill>
          <a:blip r:embed="rId3"/>
          <a:srcRect r="29113" b="36344"/>
          <a:stretch>
            <a:fillRect/>
          </a:stretch>
        </p:blipFill>
        <p:spPr>
          <a:xfrm>
            <a:off x="54670" y="671851"/>
            <a:ext cx="10582627" cy="5345491"/>
          </a:xfrm>
          <a:prstGeom prst="rect">
            <a:avLst/>
          </a:prstGeom>
        </p:spPr>
      </p:pic>
    </p:spTree>
    <p:extLst>
      <p:ext uri="{BB962C8B-B14F-4D97-AF65-F5344CB8AC3E}">
        <p14:creationId xmlns:p14="http://schemas.microsoft.com/office/powerpoint/2010/main" val="2246969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5B9F4-7434-C9C7-C705-5FC6D35054E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19E4D8EA-1BF3-9893-E9BC-DB1D2A83CC91}"/>
              </a:ext>
            </a:extLst>
          </p:cNvPr>
          <p:cNvPicPr>
            <a:picLocks noChangeAspect="1"/>
          </p:cNvPicPr>
          <p:nvPr/>
        </p:nvPicPr>
        <p:blipFill>
          <a:blip r:embed="rId2"/>
          <a:srcRect b="30107"/>
          <a:stretch>
            <a:fillRect/>
          </a:stretch>
        </p:blipFill>
        <p:spPr>
          <a:xfrm>
            <a:off x="2713704" y="3131654"/>
            <a:ext cx="9478296" cy="3726346"/>
          </a:xfrm>
          <a:prstGeom prst="rect">
            <a:avLst/>
          </a:prstGeom>
        </p:spPr>
      </p:pic>
      <p:sp>
        <p:nvSpPr>
          <p:cNvPr id="5" name="TextBox 4">
            <a:extLst>
              <a:ext uri="{FF2B5EF4-FFF2-40B4-BE49-F238E27FC236}">
                <a16:creationId xmlns:a16="http://schemas.microsoft.com/office/drawing/2014/main" id="{30C06397-FBA3-D24A-E028-D23408E598D0}"/>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938F0EC2-49AF-AC43-9D76-D97CD7AC57A2}"/>
              </a:ext>
            </a:extLst>
          </p:cNvPr>
          <p:cNvPicPr>
            <a:picLocks noChangeAspect="1"/>
          </p:cNvPicPr>
          <p:nvPr/>
        </p:nvPicPr>
        <p:blipFill>
          <a:blip r:embed="rId3"/>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83F1D8B0-547F-AF28-FF14-7E3811CC01C9}"/>
              </a:ext>
            </a:extLst>
          </p:cNvPr>
          <p:cNvSpPr txBox="1"/>
          <p:nvPr/>
        </p:nvSpPr>
        <p:spPr>
          <a:xfrm>
            <a:off x="94593" y="538609"/>
            <a:ext cx="11128930" cy="2610843"/>
          </a:xfrm>
          <a:prstGeom prst="rect">
            <a:avLst/>
          </a:prstGeom>
          <a:noFill/>
        </p:spPr>
        <p:txBody>
          <a:bodyPr wrap="square">
            <a:spAutoFit/>
          </a:bodyPr>
          <a:lstStyle/>
          <a:p>
            <a:pPr>
              <a:lnSpc>
                <a:spcPct val="150000"/>
              </a:lnSpc>
            </a:pPr>
            <a:r>
              <a:rPr lang="en-US" sz="2800" b="1" dirty="0">
                <a:latin typeface="Calibir"/>
              </a:rPr>
              <a:t>6. Using External CSS Correctly</a:t>
            </a:r>
          </a:p>
          <a:p>
            <a:pPr>
              <a:lnSpc>
                <a:spcPct val="150000"/>
              </a:lnSpc>
            </a:pPr>
            <a:r>
              <a:rPr lang="en-US" sz="2800" dirty="0">
                <a:latin typeface="Calibir"/>
              </a:rPr>
              <a:t>You must use ONE external CSS file.</a:t>
            </a:r>
          </a:p>
          <a:p>
            <a:pPr>
              <a:lnSpc>
                <a:spcPct val="150000"/>
              </a:lnSpc>
            </a:pPr>
            <a:r>
              <a:rPr lang="en-US" sz="2800" b="1" dirty="0">
                <a:latin typeface="Calibir"/>
              </a:rPr>
              <a:t>Correct Method</a:t>
            </a:r>
          </a:p>
          <a:p>
            <a:pPr>
              <a:lnSpc>
                <a:spcPct val="150000"/>
              </a:lnSpc>
            </a:pPr>
            <a:r>
              <a:rPr lang="en-US" sz="2800" b="1" dirty="0">
                <a:latin typeface="Calibir"/>
              </a:rPr>
              <a:t>HTML: </a:t>
            </a:r>
            <a:r>
              <a:rPr lang="en-US" sz="2800" dirty="0">
                <a:highlight>
                  <a:srgbClr val="FFFF00"/>
                </a:highlight>
                <a:latin typeface="Calibir"/>
              </a:rPr>
              <a:t>&lt;link </a:t>
            </a:r>
            <a:r>
              <a:rPr lang="en-US" sz="2800" dirty="0" err="1">
                <a:highlight>
                  <a:srgbClr val="FFFF00"/>
                </a:highlight>
                <a:latin typeface="Calibir"/>
              </a:rPr>
              <a:t>rel</a:t>
            </a:r>
            <a:r>
              <a:rPr lang="en-US" sz="2800" dirty="0">
                <a:highlight>
                  <a:srgbClr val="FFFF00"/>
                </a:highlight>
                <a:latin typeface="Calibir"/>
              </a:rPr>
              <a:t>="stylesheet" </a:t>
            </a:r>
            <a:r>
              <a:rPr lang="en-US" sz="2800" dirty="0" err="1">
                <a:highlight>
                  <a:srgbClr val="FFFF00"/>
                </a:highlight>
                <a:latin typeface="Calibir"/>
              </a:rPr>
              <a:t>href</a:t>
            </a:r>
            <a:r>
              <a:rPr lang="en-US" sz="2800" dirty="0">
                <a:highlight>
                  <a:srgbClr val="FFFF00"/>
                </a:highlight>
                <a:latin typeface="Calibir"/>
              </a:rPr>
              <a:t>=“styles.css"&gt;</a:t>
            </a:r>
            <a:endParaRPr lang="en-US" sz="2800" b="1" dirty="0">
              <a:highlight>
                <a:srgbClr val="FFFF00"/>
              </a:highlight>
              <a:latin typeface="Calibir"/>
            </a:endParaRPr>
          </a:p>
        </p:txBody>
      </p:sp>
      <p:sp>
        <p:nvSpPr>
          <p:cNvPr id="9" name="Rectangle: Rounded Corners 8">
            <a:extLst>
              <a:ext uri="{FF2B5EF4-FFF2-40B4-BE49-F238E27FC236}">
                <a16:creationId xmlns:a16="http://schemas.microsoft.com/office/drawing/2014/main" id="{4D8818FE-E114-0276-59EE-A4B197C8F967}"/>
              </a:ext>
            </a:extLst>
          </p:cNvPr>
          <p:cNvSpPr/>
          <p:nvPr/>
        </p:nvSpPr>
        <p:spPr>
          <a:xfrm>
            <a:off x="6592529" y="5753828"/>
            <a:ext cx="4483510" cy="29496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1400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74AA4-2F99-B13C-872A-DA9070DC925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7CE4FE5-3B25-7D9B-FC1A-1BECC4F80D3E}"/>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F91F8F36-149F-CD86-864C-689DAE376251}"/>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A246A471-5985-19CD-033A-DA5C3F93CADD}"/>
              </a:ext>
            </a:extLst>
          </p:cNvPr>
          <p:cNvSpPr txBox="1"/>
          <p:nvPr/>
        </p:nvSpPr>
        <p:spPr>
          <a:xfrm>
            <a:off x="94593" y="538609"/>
            <a:ext cx="11128930" cy="671851"/>
          </a:xfrm>
          <a:prstGeom prst="rect">
            <a:avLst/>
          </a:prstGeom>
          <a:noFill/>
        </p:spPr>
        <p:txBody>
          <a:bodyPr wrap="square">
            <a:spAutoFit/>
          </a:bodyPr>
          <a:lstStyle/>
          <a:p>
            <a:pPr>
              <a:lnSpc>
                <a:spcPct val="150000"/>
              </a:lnSpc>
            </a:pPr>
            <a:r>
              <a:rPr lang="en-US" sz="2800" b="1" dirty="0">
                <a:latin typeface="Calibir"/>
              </a:rPr>
              <a:t>Click New File</a:t>
            </a:r>
            <a:endParaRPr lang="en-US" sz="2800" b="1" dirty="0">
              <a:highlight>
                <a:srgbClr val="FFFF00"/>
              </a:highlight>
              <a:latin typeface="Calibir"/>
            </a:endParaRPr>
          </a:p>
        </p:txBody>
      </p:sp>
      <p:pic>
        <p:nvPicPr>
          <p:cNvPr id="4" name="Picture 3">
            <a:extLst>
              <a:ext uri="{FF2B5EF4-FFF2-40B4-BE49-F238E27FC236}">
                <a16:creationId xmlns:a16="http://schemas.microsoft.com/office/drawing/2014/main" id="{6C29D938-B49F-4D38-C6C9-0D69DB444002}"/>
              </a:ext>
            </a:extLst>
          </p:cNvPr>
          <p:cNvPicPr>
            <a:picLocks noChangeAspect="1"/>
          </p:cNvPicPr>
          <p:nvPr/>
        </p:nvPicPr>
        <p:blipFill>
          <a:blip r:embed="rId3"/>
          <a:srcRect r="67460" b="53118"/>
          <a:stretch>
            <a:fillRect/>
          </a:stretch>
        </p:blipFill>
        <p:spPr>
          <a:xfrm>
            <a:off x="94592" y="1210460"/>
            <a:ext cx="6851897" cy="5552838"/>
          </a:xfrm>
          <a:prstGeom prst="rect">
            <a:avLst/>
          </a:prstGeom>
        </p:spPr>
      </p:pic>
      <p:sp>
        <p:nvSpPr>
          <p:cNvPr id="9" name="Rectangle: Rounded Corners 8">
            <a:extLst>
              <a:ext uri="{FF2B5EF4-FFF2-40B4-BE49-F238E27FC236}">
                <a16:creationId xmlns:a16="http://schemas.microsoft.com/office/drawing/2014/main" id="{1D026731-5BFA-7063-CC5B-071B527BC95E}"/>
              </a:ext>
            </a:extLst>
          </p:cNvPr>
          <p:cNvSpPr/>
          <p:nvPr/>
        </p:nvSpPr>
        <p:spPr>
          <a:xfrm>
            <a:off x="3841344" y="4498259"/>
            <a:ext cx="760150" cy="6784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877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0DC0F-DD69-9429-1614-B0A11770E5F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565ABE6-B94B-C4C6-7E6B-BC25EF2BA827}"/>
              </a:ext>
            </a:extLst>
          </p:cNvPr>
          <p:cNvPicPr>
            <a:picLocks noChangeAspect="1"/>
          </p:cNvPicPr>
          <p:nvPr/>
        </p:nvPicPr>
        <p:blipFill>
          <a:blip r:embed="rId2"/>
          <a:srcRect r="37944" b="25161"/>
          <a:stretch>
            <a:fillRect/>
          </a:stretch>
        </p:blipFill>
        <p:spPr>
          <a:xfrm>
            <a:off x="94593" y="1186952"/>
            <a:ext cx="8415226" cy="5708574"/>
          </a:xfrm>
          <a:prstGeom prst="rect">
            <a:avLst/>
          </a:prstGeom>
        </p:spPr>
      </p:pic>
      <p:sp>
        <p:nvSpPr>
          <p:cNvPr id="5" name="TextBox 4">
            <a:extLst>
              <a:ext uri="{FF2B5EF4-FFF2-40B4-BE49-F238E27FC236}">
                <a16:creationId xmlns:a16="http://schemas.microsoft.com/office/drawing/2014/main" id="{D768CCAE-2A92-B42C-B88C-97AE5D5D2812}"/>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2" name="Picture 1">
            <a:extLst>
              <a:ext uri="{FF2B5EF4-FFF2-40B4-BE49-F238E27FC236}">
                <a16:creationId xmlns:a16="http://schemas.microsoft.com/office/drawing/2014/main" id="{C3C35C74-8CE0-A6B1-254E-4C96FA5438E6}"/>
              </a:ext>
            </a:extLst>
          </p:cNvPr>
          <p:cNvPicPr>
            <a:picLocks noChangeAspect="1"/>
          </p:cNvPicPr>
          <p:nvPr/>
        </p:nvPicPr>
        <p:blipFill>
          <a:blip r:embed="rId3"/>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B50538FE-0391-45D6-1BB6-D923FC9027E0}"/>
              </a:ext>
            </a:extLst>
          </p:cNvPr>
          <p:cNvSpPr txBox="1"/>
          <p:nvPr/>
        </p:nvSpPr>
        <p:spPr>
          <a:xfrm>
            <a:off x="94593" y="538609"/>
            <a:ext cx="11128930" cy="671851"/>
          </a:xfrm>
          <a:prstGeom prst="rect">
            <a:avLst/>
          </a:prstGeom>
          <a:noFill/>
        </p:spPr>
        <p:txBody>
          <a:bodyPr wrap="square">
            <a:spAutoFit/>
          </a:bodyPr>
          <a:lstStyle/>
          <a:p>
            <a:pPr>
              <a:lnSpc>
                <a:spcPct val="150000"/>
              </a:lnSpc>
            </a:pPr>
            <a:r>
              <a:rPr lang="en-US" sz="2800" b="1" dirty="0">
                <a:latin typeface="Calibir"/>
              </a:rPr>
              <a:t>Choose a name (e.g., styles.css)</a:t>
            </a:r>
            <a:endParaRPr lang="en-US" sz="2800" b="1" dirty="0">
              <a:highlight>
                <a:srgbClr val="FFFF00"/>
              </a:highlight>
              <a:latin typeface="Calibir"/>
            </a:endParaRPr>
          </a:p>
        </p:txBody>
      </p:sp>
      <p:sp>
        <p:nvSpPr>
          <p:cNvPr id="9" name="Rectangle: Rounded Corners 8">
            <a:extLst>
              <a:ext uri="{FF2B5EF4-FFF2-40B4-BE49-F238E27FC236}">
                <a16:creationId xmlns:a16="http://schemas.microsoft.com/office/drawing/2014/main" id="{1C3D50EE-DE47-5A0C-A1EA-3C1B03FCF530}"/>
              </a:ext>
            </a:extLst>
          </p:cNvPr>
          <p:cNvSpPr/>
          <p:nvPr/>
        </p:nvSpPr>
        <p:spPr>
          <a:xfrm>
            <a:off x="973390" y="3720515"/>
            <a:ext cx="1578082" cy="30579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596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FABAC-F285-B2C9-6CB5-4CD8EB2EC82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8F9A8EC-0B03-1624-1CD1-33C32A83A558}"/>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DE0B50EE-0505-814F-9F03-A12345142506}"/>
              </a:ext>
            </a:extLst>
          </p:cNvPr>
          <p:cNvSpPr txBox="1"/>
          <p:nvPr/>
        </p:nvSpPr>
        <p:spPr>
          <a:xfrm>
            <a:off x="-24580" y="-21830"/>
            <a:ext cx="11128930" cy="671851"/>
          </a:xfrm>
          <a:prstGeom prst="rect">
            <a:avLst/>
          </a:prstGeom>
          <a:noFill/>
        </p:spPr>
        <p:txBody>
          <a:bodyPr wrap="square">
            <a:spAutoFit/>
          </a:bodyPr>
          <a:lstStyle/>
          <a:p>
            <a:pPr>
              <a:lnSpc>
                <a:spcPct val="150000"/>
              </a:lnSpc>
            </a:pPr>
            <a:r>
              <a:rPr lang="en-US" sz="2800" b="1" dirty="0">
                <a:latin typeface="Calibir"/>
              </a:rPr>
              <a:t>Write CSS code</a:t>
            </a:r>
            <a:endParaRPr lang="en-US" sz="2800" b="1" dirty="0">
              <a:highlight>
                <a:srgbClr val="FFFF00"/>
              </a:highlight>
              <a:latin typeface="Calibir"/>
            </a:endParaRPr>
          </a:p>
        </p:txBody>
      </p:sp>
      <p:sp>
        <p:nvSpPr>
          <p:cNvPr id="10" name="TextBox 9">
            <a:extLst>
              <a:ext uri="{FF2B5EF4-FFF2-40B4-BE49-F238E27FC236}">
                <a16:creationId xmlns:a16="http://schemas.microsoft.com/office/drawing/2014/main" id="{17C8081A-E9D1-D35E-2B7C-5C18139CA1CE}"/>
              </a:ext>
            </a:extLst>
          </p:cNvPr>
          <p:cNvSpPr txBox="1"/>
          <p:nvPr/>
        </p:nvSpPr>
        <p:spPr>
          <a:xfrm>
            <a:off x="-24581" y="563969"/>
            <a:ext cx="9905999" cy="6124754"/>
          </a:xfrm>
          <a:prstGeom prst="rect">
            <a:avLst/>
          </a:prstGeom>
          <a:solidFill>
            <a:schemeClr val="tx1"/>
          </a:solidFill>
        </p:spPr>
        <p:txBody>
          <a:bodyPr wrap="square">
            <a:spAutoFit/>
          </a:bodyPr>
          <a:lstStyle/>
          <a:p>
            <a:pPr>
              <a:buNone/>
            </a:pPr>
            <a:r>
              <a:rPr lang="en-US" sz="1400" b="0" dirty="0">
                <a:solidFill>
                  <a:srgbClr val="6A9955"/>
                </a:solidFill>
                <a:effectLst/>
                <a:latin typeface="Consolas" panose="020B0609020204030204" pitchFamily="49" charset="0"/>
              </a:rPr>
              <a:t>/* Reset some default browser spacing */</a:t>
            </a:r>
            <a:endParaRPr lang="en-US" sz="1400" b="0" dirty="0">
              <a:solidFill>
                <a:srgbClr val="CCCCCC"/>
              </a:solidFill>
              <a:effectLst/>
              <a:latin typeface="Consolas" panose="020B0609020204030204" pitchFamily="49" charset="0"/>
            </a:endParaRPr>
          </a:p>
          <a:p>
            <a:pPr>
              <a:buNone/>
            </a:pPr>
            <a:r>
              <a:rPr lang="en-US" sz="1400" b="0" dirty="0">
                <a:solidFill>
                  <a:srgbClr val="D7BA7D"/>
                </a:solidFill>
                <a:effectLst/>
                <a:latin typeface="Consolas" panose="020B0609020204030204" pitchFamily="49" charset="0"/>
              </a:rPr>
              <a:t>body</a:t>
            </a:r>
            <a:r>
              <a:rPr lang="en-US" sz="1400" b="0" dirty="0">
                <a:solidFill>
                  <a:srgbClr val="CCCCCC"/>
                </a:solidFill>
                <a:effectLst/>
                <a:latin typeface="Consolas" panose="020B0609020204030204" pitchFamily="49" charset="0"/>
              </a:rPr>
              <a:t> {</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font-family</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Arial</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sans-serif</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margin</a:t>
            </a:r>
            <a:r>
              <a:rPr lang="en-US" sz="1400" b="0" dirty="0">
                <a:solidFill>
                  <a:srgbClr val="CCCCCC"/>
                </a:solidFill>
                <a:effectLst/>
                <a:latin typeface="Consolas" panose="020B0609020204030204" pitchFamily="49" charset="0"/>
              </a:rPr>
              <a:t>: </a:t>
            </a:r>
            <a:r>
              <a:rPr lang="en-US" sz="1400" b="0" dirty="0">
                <a:solidFill>
                  <a:srgbClr val="B5CEA8"/>
                </a:solidFill>
                <a:effectLst/>
                <a:latin typeface="Consolas" panose="020B0609020204030204" pitchFamily="49" charset="0"/>
              </a:rPr>
              <a:t>0</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background-color</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#f5f5f5</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color</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#333</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a:t>
            </a:r>
          </a:p>
          <a:p>
            <a:pPr>
              <a:buNone/>
            </a:pPr>
            <a:r>
              <a:rPr lang="en-US" sz="1400" b="0" dirty="0">
                <a:solidFill>
                  <a:srgbClr val="6A9955"/>
                </a:solidFill>
                <a:effectLst/>
                <a:latin typeface="Consolas" panose="020B0609020204030204" pitchFamily="49" charset="0"/>
              </a:rPr>
              <a:t>/* Header section */</a:t>
            </a:r>
            <a:endParaRPr lang="en-US" sz="1400" b="0" dirty="0">
              <a:solidFill>
                <a:srgbClr val="CCCCCC"/>
              </a:solidFill>
              <a:effectLst/>
              <a:latin typeface="Consolas" panose="020B0609020204030204" pitchFamily="49" charset="0"/>
            </a:endParaRPr>
          </a:p>
          <a:p>
            <a:pPr>
              <a:buNone/>
            </a:pPr>
            <a:r>
              <a:rPr lang="en-US" sz="1400" b="0" dirty="0">
                <a:solidFill>
                  <a:srgbClr val="D7BA7D"/>
                </a:solidFill>
                <a:effectLst/>
                <a:latin typeface="Consolas" panose="020B0609020204030204" pitchFamily="49" charset="0"/>
              </a:rPr>
              <a:t>header</a:t>
            </a:r>
            <a:r>
              <a:rPr lang="en-US" sz="1400" b="0" dirty="0">
                <a:solidFill>
                  <a:srgbClr val="CCCCCC"/>
                </a:solidFill>
                <a:effectLst/>
                <a:latin typeface="Consolas" panose="020B0609020204030204" pitchFamily="49" charset="0"/>
              </a:rPr>
              <a:t> {</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background-color</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#5c4033</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color</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white</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text-align</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center</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padding</a:t>
            </a:r>
            <a:r>
              <a:rPr lang="en-US" sz="1400" b="0" dirty="0">
                <a:solidFill>
                  <a:srgbClr val="CCCCCC"/>
                </a:solidFill>
                <a:effectLst/>
                <a:latin typeface="Consolas" panose="020B0609020204030204" pitchFamily="49" charset="0"/>
              </a:rPr>
              <a:t>: </a:t>
            </a:r>
            <a:r>
              <a:rPr lang="en-US" sz="1400" b="0" dirty="0">
                <a:solidFill>
                  <a:srgbClr val="B5CEA8"/>
                </a:solidFill>
                <a:effectLst/>
                <a:latin typeface="Consolas" panose="020B0609020204030204" pitchFamily="49" charset="0"/>
              </a:rPr>
              <a:t>20px</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a:t>
            </a:r>
          </a:p>
          <a:p>
            <a:pPr>
              <a:buNone/>
            </a:pPr>
            <a:r>
              <a:rPr lang="en-US" sz="1400" b="0" dirty="0">
                <a:solidFill>
                  <a:srgbClr val="6A9955"/>
                </a:solidFill>
                <a:effectLst/>
                <a:latin typeface="Consolas" panose="020B0609020204030204" pitchFamily="49" charset="0"/>
              </a:rPr>
              <a:t>/* Navigation bar */</a:t>
            </a:r>
            <a:endParaRPr lang="en-US" sz="1400" b="0" dirty="0">
              <a:solidFill>
                <a:srgbClr val="CCCCCC"/>
              </a:solidFill>
              <a:effectLst/>
              <a:latin typeface="Consolas" panose="020B0609020204030204" pitchFamily="49" charset="0"/>
            </a:endParaRPr>
          </a:p>
          <a:p>
            <a:pPr>
              <a:buNone/>
            </a:pPr>
            <a:r>
              <a:rPr lang="en-US" sz="1400" b="0" dirty="0">
                <a:solidFill>
                  <a:srgbClr val="D7BA7D"/>
                </a:solidFill>
                <a:effectLst/>
                <a:latin typeface="Consolas" panose="020B0609020204030204" pitchFamily="49" charset="0"/>
              </a:rPr>
              <a:t>nav</a:t>
            </a:r>
            <a:r>
              <a:rPr lang="en-US" sz="1400" b="0" dirty="0">
                <a:solidFill>
                  <a:srgbClr val="CCCCCC"/>
                </a:solidFill>
                <a:effectLst/>
                <a:latin typeface="Consolas" panose="020B0609020204030204" pitchFamily="49" charset="0"/>
              </a:rPr>
              <a:t> {</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background-color</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#333</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text-align</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center</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padding</a:t>
            </a:r>
            <a:r>
              <a:rPr lang="en-US" sz="1400" b="0" dirty="0">
                <a:solidFill>
                  <a:srgbClr val="CCCCCC"/>
                </a:solidFill>
                <a:effectLst/>
                <a:latin typeface="Consolas" panose="020B0609020204030204" pitchFamily="49" charset="0"/>
              </a:rPr>
              <a:t>: </a:t>
            </a:r>
            <a:r>
              <a:rPr lang="en-US" sz="1400" b="0" dirty="0">
                <a:solidFill>
                  <a:srgbClr val="B5CEA8"/>
                </a:solidFill>
                <a:effectLst/>
                <a:latin typeface="Consolas" panose="020B0609020204030204" pitchFamily="49" charset="0"/>
              </a:rPr>
              <a:t>10px</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a:t>
            </a:r>
          </a:p>
          <a:p>
            <a:pPr>
              <a:buNone/>
            </a:pPr>
            <a:r>
              <a:rPr lang="en-US" sz="1400" b="0" dirty="0">
                <a:solidFill>
                  <a:srgbClr val="6A9955"/>
                </a:solidFill>
                <a:effectLst/>
                <a:latin typeface="Consolas" panose="020B0609020204030204" pitchFamily="49" charset="0"/>
              </a:rPr>
              <a:t>/* Navigation links */</a:t>
            </a:r>
            <a:endParaRPr lang="en-US" sz="1400" b="0" dirty="0">
              <a:solidFill>
                <a:srgbClr val="CCCCCC"/>
              </a:solidFill>
              <a:effectLst/>
              <a:latin typeface="Consolas" panose="020B0609020204030204" pitchFamily="49" charset="0"/>
            </a:endParaRPr>
          </a:p>
          <a:p>
            <a:pPr>
              <a:buNone/>
            </a:pPr>
            <a:r>
              <a:rPr lang="en-US" sz="1400" b="0" dirty="0">
                <a:solidFill>
                  <a:srgbClr val="D7BA7D"/>
                </a:solidFill>
                <a:effectLst/>
                <a:latin typeface="Consolas" panose="020B0609020204030204" pitchFamily="49" charset="0"/>
              </a:rPr>
              <a:t>nav</a:t>
            </a:r>
            <a:r>
              <a:rPr lang="en-US" sz="1400" b="0" dirty="0">
                <a:solidFill>
                  <a:srgbClr val="CCCCCC"/>
                </a:solidFill>
                <a:effectLst/>
                <a:latin typeface="Consolas" panose="020B0609020204030204" pitchFamily="49" charset="0"/>
              </a:rPr>
              <a:t> </a:t>
            </a:r>
            <a:r>
              <a:rPr lang="en-US" sz="1400" b="0" dirty="0">
                <a:solidFill>
                  <a:srgbClr val="D7BA7D"/>
                </a:solidFill>
                <a:effectLst/>
                <a:latin typeface="Consolas" panose="020B0609020204030204" pitchFamily="49" charset="0"/>
              </a:rPr>
              <a:t>a</a:t>
            </a:r>
            <a:r>
              <a:rPr lang="en-US" sz="1400" b="0" dirty="0">
                <a:solidFill>
                  <a:srgbClr val="CCCCCC"/>
                </a:solidFill>
                <a:effectLst/>
                <a:latin typeface="Consolas" panose="020B0609020204030204" pitchFamily="49" charset="0"/>
              </a:rPr>
              <a:t> {</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color</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white</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text-decoration</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none</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margin</a:t>
            </a:r>
            <a:r>
              <a:rPr lang="en-US" sz="1400" b="0" dirty="0">
                <a:solidFill>
                  <a:srgbClr val="CCCCCC"/>
                </a:solidFill>
                <a:effectLst/>
                <a:latin typeface="Consolas" panose="020B0609020204030204" pitchFamily="49" charset="0"/>
              </a:rPr>
              <a:t>: </a:t>
            </a:r>
            <a:r>
              <a:rPr lang="en-US" sz="1400" b="0" dirty="0">
                <a:solidFill>
                  <a:srgbClr val="B5CEA8"/>
                </a:solidFill>
                <a:effectLst/>
                <a:latin typeface="Consolas" panose="020B0609020204030204" pitchFamily="49" charset="0"/>
              </a:rPr>
              <a:t>10px</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padding</a:t>
            </a:r>
            <a:r>
              <a:rPr lang="en-US" sz="1400" b="0" dirty="0">
                <a:solidFill>
                  <a:srgbClr val="CCCCCC"/>
                </a:solidFill>
                <a:effectLst/>
                <a:latin typeface="Consolas" panose="020B0609020204030204" pitchFamily="49" charset="0"/>
              </a:rPr>
              <a:t>: </a:t>
            </a:r>
            <a:r>
              <a:rPr lang="en-US" sz="1400" b="0" dirty="0">
                <a:solidFill>
                  <a:srgbClr val="B5CEA8"/>
                </a:solidFill>
                <a:effectLst/>
                <a:latin typeface="Consolas" panose="020B0609020204030204" pitchFamily="49" charset="0"/>
              </a:rPr>
              <a:t>8px</a:t>
            </a:r>
            <a:r>
              <a:rPr lang="en-US" sz="1400" b="0" dirty="0">
                <a:solidFill>
                  <a:srgbClr val="CCCCCC"/>
                </a:solidFill>
                <a:effectLst/>
                <a:latin typeface="Consolas" panose="020B0609020204030204" pitchFamily="49" charset="0"/>
              </a:rPr>
              <a:t> </a:t>
            </a:r>
            <a:r>
              <a:rPr lang="en-US" sz="1400" b="0" dirty="0">
                <a:solidFill>
                  <a:srgbClr val="B5CEA8"/>
                </a:solidFill>
                <a:effectLst/>
                <a:latin typeface="Consolas" panose="020B0609020204030204" pitchFamily="49" charset="0"/>
              </a:rPr>
              <a:t>12px</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display</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inline-block</a:t>
            </a:r>
            <a:r>
              <a:rPr lang="en-US" sz="1400" b="0" dirty="0">
                <a:solidFill>
                  <a:srgbClr val="CCCCCC"/>
                </a:solidFill>
                <a:effectLst/>
                <a:latin typeface="Consolas" panose="020B0609020204030204" pitchFamily="49" charset="0"/>
              </a:rPr>
              <a:t>;</a:t>
            </a:r>
          </a:p>
          <a:p>
            <a:pPr>
              <a:buNone/>
            </a:pPr>
            <a:r>
              <a:rPr lang="en-US" sz="1400" b="0" dirty="0">
                <a:solidFill>
                  <a:srgbClr val="CCCCCC"/>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F46F39F3-5941-B89D-8288-2717C394451A}"/>
              </a:ext>
            </a:extLst>
          </p:cNvPr>
          <p:cNvSpPr txBox="1"/>
          <p:nvPr/>
        </p:nvSpPr>
        <p:spPr>
          <a:xfrm>
            <a:off x="4694903" y="563969"/>
            <a:ext cx="5186516" cy="5842497"/>
          </a:xfrm>
          <a:prstGeom prst="rect">
            <a:avLst/>
          </a:prstGeom>
          <a:solidFill>
            <a:schemeClr val="bg1"/>
          </a:solidFill>
          <a:ln>
            <a:solidFill>
              <a:srgbClr val="FF0000"/>
            </a:solidFill>
          </a:ln>
        </p:spPr>
        <p:txBody>
          <a:bodyPr wrap="square">
            <a:spAutoFit/>
          </a:bodyPr>
          <a:lstStyle/>
          <a:p>
            <a:pPr>
              <a:lnSpc>
                <a:spcPct val="150000"/>
              </a:lnSpc>
              <a:buNone/>
            </a:pPr>
            <a:r>
              <a:rPr lang="en-US" sz="2800" b="1" dirty="0">
                <a:latin typeface="Calibir"/>
              </a:rPr>
              <a:t>1. margin</a:t>
            </a:r>
          </a:p>
          <a:p>
            <a:pPr rtl="0">
              <a:lnSpc>
                <a:spcPct val="150000"/>
              </a:lnSpc>
              <a:buNone/>
            </a:pPr>
            <a:r>
              <a:rPr lang="en-US" sz="2800" dirty="0">
                <a:highlight>
                  <a:srgbClr val="FFFF00"/>
                </a:highlight>
                <a:latin typeface="Calibir"/>
              </a:rPr>
              <a:t>margin: 0;</a:t>
            </a:r>
          </a:p>
          <a:p>
            <a:pPr>
              <a:lnSpc>
                <a:spcPct val="150000"/>
              </a:lnSpc>
              <a:buNone/>
            </a:pPr>
            <a:r>
              <a:rPr lang="en-US" sz="2800" dirty="0">
                <a:latin typeface="Calibir"/>
              </a:rPr>
              <a:t>Removes browser default spacing.</a:t>
            </a:r>
          </a:p>
          <a:p>
            <a:pPr>
              <a:lnSpc>
                <a:spcPct val="150000"/>
              </a:lnSpc>
              <a:buNone/>
            </a:pPr>
            <a:r>
              <a:rPr lang="en-US" sz="2800" b="1" dirty="0">
                <a:latin typeface="Calibir"/>
              </a:rPr>
              <a:t>2. padding</a:t>
            </a:r>
          </a:p>
          <a:p>
            <a:pPr rtl="0">
              <a:lnSpc>
                <a:spcPct val="150000"/>
              </a:lnSpc>
              <a:buNone/>
            </a:pPr>
            <a:r>
              <a:rPr lang="en-US" sz="2800" dirty="0">
                <a:highlight>
                  <a:srgbClr val="FFFF00"/>
                </a:highlight>
                <a:latin typeface="Calibir"/>
              </a:rPr>
              <a:t>padding: 20px;</a:t>
            </a:r>
          </a:p>
          <a:p>
            <a:pPr>
              <a:lnSpc>
                <a:spcPct val="150000"/>
              </a:lnSpc>
              <a:buNone/>
            </a:pPr>
            <a:r>
              <a:rPr lang="en-US" sz="2800" dirty="0">
                <a:latin typeface="Calibir"/>
              </a:rPr>
              <a:t>Adds space INSIDE elements.</a:t>
            </a:r>
          </a:p>
          <a:p>
            <a:pPr>
              <a:lnSpc>
                <a:spcPct val="150000"/>
              </a:lnSpc>
              <a:buNone/>
            </a:pPr>
            <a:r>
              <a:rPr lang="en-US" sz="2800" b="1" dirty="0">
                <a:latin typeface="Calibir"/>
              </a:rPr>
              <a:t>3. background-color</a:t>
            </a:r>
          </a:p>
          <a:p>
            <a:pPr rtl="0">
              <a:lnSpc>
                <a:spcPct val="150000"/>
              </a:lnSpc>
              <a:buNone/>
            </a:pPr>
            <a:r>
              <a:rPr lang="en-US" sz="2800" dirty="0">
                <a:highlight>
                  <a:srgbClr val="FFFF00"/>
                </a:highlight>
                <a:latin typeface="Calibir"/>
              </a:rPr>
              <a:t>background-color: #333;</a:t>
            </a:r>
          </a:p>
          <a:p>
            <a:pPr>
              <a:lnSpc>
                <a:spcPct val="150000"/>
              </a:lnSpc>
              <a:buNone/>
            </a:pPr>
            <a:r>
              <a:rPr lang="en-US" sz="2800" dirty="0">
                <a:latin typeface="Calibir"/>
              </a:rPr>
              <a:t>Changes background </a:t>
            </a:r>
            <a:r>
              <a:rPr lang="en-US" sz="2800" dirty="0" err="1">
                <a:latin typeface="Calibir"/>
              </a:rPr>
              <a:t>colour</a:t>
            </a:r>
            <a:r>
              <a:rPr lang="en-US" sz="2800" dirty="0">
                <a:latin typeface="Calibir"/>
              </a:rPr>
              <a:t>.</a:t>
            </a:r>
          </a:p>
        </p:txBody>
      </p:sp>
    </p:spTree>
    <p:extLst>
      <p:ext uri="{BB962C8B-B14F-4D97-AF65-F5344CB8AC3E}">
        <p14:creationId xmlns:p14="http://schemas.microsoft.com/office/powerpoint/2010/main" val="39780901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AC5F-D570-B880-D507-76E406F4319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3D33C07-C6DD-F9DE-18F9-1731F30F636F}"/>
              </a:ext>
            </a:extLst>
          </p:cNvPr>
          <p:cNvPicPr>
            <a:picLocks noChangeAspect="1"/>
          </p:cNvPicPr>
          <p:nvPr/>
        </p:nvPicPr>
        <p:blipFill>
          <a:blip r:embed="rId2"/>
          <a:stretch>
            <a:fillRect/>
          </a:stretch>
        </p:blipFill>
        <p:spPr>
          <a:xfrm>
            <a:off x="10260685" y="0"/>
            <a:ext cx="1931315" cy="1902052"/>
          </a:xfrm>
          <a:prstGeom prst="rect">
            <a:avLst/>
          </a:prstGeom>
        </p:spPr>
      </p:pic>
      <p:sp>
        <p:nvSpPr>
          <p:cNvPr id="10" name="TextBox 9">
            <a:extLst>
              <a:ext uri="{FF2B5EF4-FFF2-40B4-BE49-F238E27FC236}">
                <a16:creationId xmlns:a16="http://schemas.microsoft.com/office/drawing/2014/main" id="{F885C34F-DA11-D3CF-0865-1580217CE633}"/>
              </a:ext>
            </a:extLst>
          </p:cNvPr>
          <p:cNvSpPr txBox="1"/>
          <p:nvPr/>
        </p:nvSpPr>
        <p:spPr>
          <a:xfrm>
            <a:off x="0" y="-11151"/>
            <a:ext cx="9905999" cy="6771084"/>
          </a:xfrm>
          <a:prstGeom prst="rect">
            <a:avLst/>
          </a:prstGeom>
          <a:solidFill>
            <a:schemeClr val="tx1"/>
          </a:solidFill>
        </p:spPr>
        <p:txBody>
          <a:bodyPr wrap="square">
            <a:spAutoFit/>
          </a:bodyPr>
          <a:lstStyle/>
          <a:p>
            <a:pPr>
              <a:buNone/>
            </a:pPr>
            <a:r>
              <a:rPr lang="en-US" sz="1400" dirty="0">
                <a:solidFill>
                  <a:srgbClr val="6A9955"/>
                </a:solidFill>
                <a:latin typeface="Consolas" panose="020B0609020204030204" pitchFamily="49" charset="0"/>
              </a:rPr>
              <a:t>/* Hover effect */</a:t>
            </a:r>
            <a:endParaRPr lang="en-US" sz="1400" dirty="0">
              <a:solidFill>
                <a:srgbClr val="CCCCCC"/>
              </a:solidFill>
              <a:latin typeface="Consolas" panose="020B0609020204030204" pitchFamily="49" charset="0"/>
            </a:endParaRPr>
          </a:p>
          <a:p>
            <a:pPr>
              <a:buNone/>
            </a:pPr>
            <a:r>
              <a:rPr lang="en-US" sz="1400" dirty="0">
                <a:solidFill>
                  <a:srgbClr val="D7BA7D"/>
                </a:solidFill>
                <a:latin typeface="Consolas" panose="020B0609020204030204" pitchFamily="49" charset="0"/>
              </a:rPr>
              <a:t>nav</a:t>
            </a:r>
            <a:r>
              <a:rPr lang="en-US" sz="1400" dirty="0">
                <a:solidFill>
                  <a:srgbClr val="CCCCCC"/>
                </a:solidFill>
                <a:latin typeface="Consolas" panose="020B0609020204030204" pitchFamily="49" charset="0"/>
              </a:rPr>
              <a:t> </a:t>
            </a:r>
            <a:r>
              <a:rPr lang="en-US" sz="1400" dirty="0">
                <a:solidFill>
                  <a:srgbClr val="D7BA7D"/>
                </a:solidFill>
                <a:latin typeface="Consolas" panose="020B0609020204030204" pitchFamily="49" charset="0"/>
              </a:rPr>
              <a:t>a:hover</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background-color</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#555</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border-radius</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5px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a:t>
            </a:r>
          </a:p>
          <a:p>
            <a:pPr>
              <a:buNone/>
            </a:pPr>
            <a:r>
              <a:rPr lang="en-US" sz="1400" dirty="0">
                <a:solidFill>
                  <a:srgbClr val="6A9955"/>
                </a:solidFill>
                <a:latin typeface="Consolas" panose="020B0609020204030204" pitchFamily="49" charset="0"/>
              </a:rPr>
              <a:t>/* Main content area */</a:t>
            </a:r>
            <a:endParaRPr lang="en-US" sz="1400" dirty="0">
              <a:solidFill>
                <a:srgbClr val="CCCCCC"/>
              </a:solidFill>
              <a:latin typeface="Consolas" panose="020B0609020204030204" pitchFamily="49" charset="0"/>
            </a:endParaRPr>
          </a:p>
          <a:p>
            <a:pPr>
              <a:buNone/>
            </a:pPr>
            <a:r>
              <a:rPr lang="en-US" sz="1400" dirty="0">
                <a:solidFill>
                  <a:srgbClr val="D7BA7D"/>
                </a:solidFill>
                <a:latin typeface="Consolas" panose="020B0609020204030204" pitchFamily="49" charset="0"/>
              </a:rPr>
              <a:t>main</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padding</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20px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a:t>
            </a:r>
          </a:p>
          <a:p>
            <a:pPr>
              <a:buNone/>
            </a:pPr>
            <a:r>
              <a:rPr lang="en-US" sz="1400" dirty="0">
                <a:solidFill>
                  <a:srgbClr val="6A9955"/>
                </a:solidFill>
                <a:latin typeface="Consolas" panose="020B0609020204030204" pitchFamily="49" charset="0"/>
              </a:rPr>
              <a:t>/* Section styling */</a:t>
            </a:r>
            <a:endParaRPr lang="en-US" sz="1400" dirty="0">
              <a:solidFill>
                <a:srgbClr val="CCCCCC"/>
              </a:solidFill>
              <a:latin typeface="Consolas" panose="020B0609020204030204" pitchFamily="49" charset="0"/>
            </a:endParaRPr>
          </a:p>
          <a:p>
            <a:pPr>
              <a:buNone/>
            </a:pPr>
            <a:r>
              <a:rPr lang="en-US" sz="1400" dirty="0">
                <a:solidFill>
                  <a:srgbClr val="D7BA7D"/>
                </a:solidFill>
                <a:latin typeface="Consolas" panose="020B0609020204030204" pitchFamily="49" charset="0"/>
              </a:rPr>
              <a:t>section</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background-color</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white</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padding</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20px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border-radius</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8px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a:t>
            </a:r>
          </a:p>
          <a:p>
            <a:pPr>
              <a:buNone/>
            </a:pPr>
            <a:r>
              <a:rPr lang="en-US" sz="1400" dirty="0">
                <a:solidFill>
                  <a:srgbClr val="6A9955"/>
                </a:solidFill>
                <a:latin typeface="Consolas" panose="020B0609020204030204" pitchFamily="49" charset="0"/>
              </a:rPr>
              <a:t>/* Footer styling */</a:t>
            </a:r>
            <a:endParaRPr lang="en-US" sz="1400" dirty="0">
              <a:solidFill>
                <a:srgbClr val="CCCCCC"/>
              </a:solidFill>
              <a:latin typeface="Consolas" panose="020B0609020204030204" pitchFamily="49" charset="0"/>
            </a:endParaRPr>
          </a:p>
          <a:p>
            <a:pPr>
              <a:buNone/>
            </a:pPr>
            <a:r>
              <a:rPr lang="en-US" sz="1400" dirty="0">
                <a:solidFill>
                  <a:srgbClr val="D7BA7D"/>
                </a:solidFill>
                <a:latin typeface="Consolas" panose="020B0609020204030204" pitchFamily="49" charset="0"/>
              </a:rPr>
              <a:t>footer</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background-color</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#5c4033</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color</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white</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text-align</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center</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padding</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10px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margin-top</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20px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a:t>
            </a:r>
          </a:p>
          <a:p>
            <a:pPr>
              <a:buNone/>
            </a:pPr>
            <a:r>
              <a:rPr lang="en-US" sz="1400" dirty="0">
                <a:solidFill>
                  <a:srgbClr val="6A9955"/>
                </a:solidFill>
                <a:latin typeface="Consolas" panose="020B0609020204030204" pitchFamily="49" charset="0"/>
              </a:rPr>
              <a:t>/* Responsive design */</a:t>
            </a:r>
            <a:endParaRPr lang="en-US" sz="1400" dirty="0">
              <a:solidFill>
                <a:srgbClr val="CCCCCC"/>
              </a:solidFill>
              <a:latin typeface="Consolas" panose="020B0609020204030204" pitchFamily="49" charset="0"/>
            </a:endParaRPr>
          </a:p>
          <a:p>
            <a:pPr>
              <a:buNone/>
            </a:pPr>
            <a:r>
              <a:rPr lang="en-US" sz="1400" dirty="0">
                <a:solidFill>
                  <a:srgbClr val="C586C0"/>
                </a:solidFill>
                <a:latin typeface="Consolas" panose="020B0609020204030204" pitchFamily="49" charset="0"/>
              </a:rPr>
              <a:t>@media</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max-width</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768px</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D7BA7D"/>
                </a:solidFill>
                <a:latin typeface="Consolas" panose="020B0609020204030204" pitchFamily="49" charset="0"/>
              </a:rPr>
              <a:t>nav</a:t>
            </a:r>
            <a:r>
              <a:rPr lang="en-US" sz="1400" dirty="0">
                <a:solidFill>
                  <a:srgbClr val="CCCCCC"/>
                </a:solidFill>
                <a:latin typeface="Consolas" panose="020B0609020204030204" pitchFamily="49" charset="0"/>
              </a:rPr>
              <a:t> </a:t>
            </a:r>
            <a:r>
              <a:rPr lang="en-US" sz="1400" dirty="0">
                <a:solidFill>
                  <a:srgbClr val="D7BA7D"/>
                </a:solidFill>
                <a:latin typeface="Consolas" panose="020B0609020204030204" pitchFamily="49" charset="0"/>
              </a:rPr>
              <a:t>a</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display</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block</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margin</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5px</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0</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a:t>
            </a:r>
          </a:p>
        </p:txBody>
      </p:sp>
      <p:sp>
        <p:nvSpPr>
          <p:cNvPr id="4" name="TextBox 3">
            <a:extLst>
              <a:ext uri="{FF2B5EF4-FFF2-40B4-BE49-F238E27FC236}">
                <a16:creationId xmlns:a16="http://schemas.microsoft.com/office/drawing/2014/main" id="{A7DDEBC2-2599-7777-6605-1C47E317F56C}"/>
              </a:ext>
            </a:extLst>
          </p:cNvPr>
          <p:cNvSpPr txBox="1"/>
          <p:nvPr/>
        </p:nvSpPr>
        <p:spPr>
          <a:xfrm>
            <a:off x="3977510" y="-11151"/>
            <a:ext cx="6105832" cy="5196166"/>
          </a:xfrm>
          <a:prstGeom prst="rect">
            <a:avLst/>
          </a:prstGeom>
          <a:solidFill>
            <a:schemeClr val="bg1"/>
          </a:solidFill>
          <a:ln>
            <a:solidFill>
              <a:srgbClr val="FF0000"/>
            </a:solidFill>
          </a:ln>
        </p:spPr>
        <p:txBody>
          <a:bodyPr wrap="square">
            <a:spAutoFit/>
          </a:bodyPr>
          <a:lstStyle/>
          <a:p>
            <a:pPr>
              <a:lnSpc>
                <a:spcPct val="150000"/>
              </a:lnSpc>
              <a:buNone/>
            </a:pPr>
            <a:r>
              <a:rPr lang="en-US" sz="2800" b="1" dirty="0">
                <a:latin typeface="Calibir"/>
              </a:rPr>
              <a:t>4. text-decoration</a:t>
            </a:r>
          </a:p>
          <a:p>
            <a:pPr rtl="0">
              <a:lnSpc>
                <a:spcPct val="150000"/>
              </a:lnSpc>
              <a:buNone/>
            </a:pPr>
            <a:r>
              <a:rPr lang="en-US" sz="2800" dirty="0">
                <a:highlight>
                  <a:srgbClr val="FFFF00"/>
                </a:highlight>
                <a:latin typeface="Calibir"/>
              </a:rPr>
              <a:t>text-decoration: none;</a:t>
            </a:r>
          </a:p>
          <a:p>
            <a:pPr>
              <a:lnSpc>
                <a:spcPct val="150000"/>
              </a:lnSpc>
              <a:buNone/>
            </a:pPr>
            <a:r>
              <a:rPr lang="en-US" sz="2800" dirty="0">
                <a:latin typeface="Calibir"/>
              </a:rPr>
              <a:t>Removes underlines from links.</a:t>
            </a:r>
          </a:p>
          <a:p>
            <a:pPr>
              <a:lnSpc>
                <a:spcPct val="150000"/>
              </a:lnSpc>
              <a:buNone/>
            </a:pPr>
            <a:r>
              <a:rPr lang="en-US" sz="2800" b="1" dirty="0">
                <a:latin typeface="Calibir"/>
              </a:rPr>
              <a:t>5. Hover Effect</a:t>
            </a:r>
          </a:p>
          <a:p>
            <a:pPr rtl="0">
              <a:lnSpc>
                <a:spcPct val="150000"/>
              </a:lnSpc>
              <a:buNone/>
            </a:pPr>
            <a:r>
              <a:rPr lang="en-US" sz="2800" dirty="0">
                <a:highlight>
                  <a:srgbClr val="FFFF00"/>
                </a:highlight>
                <a:latin typeface="Calibir"/>
              </a:rPr>
              <a:t>nav a:hover</a:t>
            </a:r>
          </a:p>
          <a:p>
            <a:pPr>
              <a:lnSpc>
                <a:spcPct val="150000"/>
              </a:lnSpc>
              <a:buNone/>
            </a:pPr>
            <a:r>
              <a:rPr lang="en-US" sz="2800" dirty="0">
                <a:latin typeface="Calibir"/>
              </a:rPr>
              <a:t>Changes appearance when mouse moves over links.</a:t>
            </a:r>
          </a:p>
          <a:p>
            <a:pPr>
              <a:lnSpc>
                <a:spcPct val="150000"/>
              </a:lnSpc>
              <a:buNone/>
            </a:pPr>
            <a:r>
              <a:rPr lang="en-US" sz="2800" dirty="0">
                <a:latin typeface="Calibir"/>
              </a:rPr>
              <a:t>Students usually enjoy learning this part.</a:t>
            </a:r>
          </a:p>
        </p:txBody>
      </p:sp>
    </p:spTree>
    <p:extLst>
      <p:ext uri="{BB962C8B-B14F-4D97-AF65-F5344CB8AC3E}">
        <p14:creationId xmlns:p14="http://schemas.microsoft.com/office/powerpoint/2010/main" val="1888463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32F45-6CC5-2C57-38ED-B1E5A2AE88A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522BD19-F7A1-BAE0-8C5E-F571AA3B30AD}"/>
              </a:ext>
            </a:extLst>
          </p:cNvPr>
          <p:cNvPicPr>
            <a:picLocks noChangeAspect="1"/>
          </p:cNvPicPr>
          <p:nvPr/>
        </p:nvPicPr>
        <p:blipFill>
          <a:blip r:embed="rId2"/>
          <a:stretch>
            <a:fillRect/>
          </a:stretch>
        </p:blipFill>
        <p:spPr>
          <a:xfrm>
            <a:off x="10260685" y="0"/>
            <a:ext cx="1931315" cy="1902052"/>
          </a:xfrm>
          <a:prstGeom prst="rect">
            <a:avLst/>
          </a:prstGeom>
        </p:spPr>
      </p:pic>
      <p:sp>
        <p:nvSpPr>
          <p:cNvPr id="10" name="TextBox 9">
            <a:extLst>
              <a:ext uri="{FF2B5EF4-FFF2-40B4-BE49-F238E27FC236}">
                <a16:creationId xmlns:a16="http://schemas.microsoft.com/office/drawing/2014/main" id="{E0D36BB9-421B-4C00-AD6E-65BFEB49B389}"/>
              </a:ext>
            </a:extLst>
          </p:cNvPr>
          <p:cNvSpPr txBox="1"/>
          <p:nvPr/>
        </p:nvSpPr>
        <p:spPr>
          <a:xfrm>
            <a:off x="0" y="-11151"/>
            <a:ext cx="9905999" cy="6771084"/>
          </a:xfrm>
          <a:prstGeom prst="rect">
            <a:avLst/>
          </a:prstGeom>
          <a:solidFill>
            <a:schemeClr val="tx1"/>
          </a:solidFill>
        </p:spPr>
        <p:txBody>
          <a:bodyPr wrap="square">
            <a:spAutoFit/>
          </a:bodyPr>
          <a:lstStyle/>
          <a:p>
            <a:pPr>
              <a:buNone/>
            </a:pPr>
            <a:r>
              <a:rPr lang="en-US" sz="1400" dirty="0">
                <a:solidFill>
                  <a:srgbClr val="6A9955"/>
                </a:solidFill>
                <a:latin typeface="Consolas" panose="020B0609020204030204" pitchFamily="49" charset="0"/>
              </a:rPr>
              <a:t>/* Hover effect */</a:t>
            </a:r>
            <a:endParaRPr lang="en-US" sz="1400" dirty="0">
              <a:solidFill>
                <a:srgbClr val="CCCCCC"/>
              </a:solidFill>
              <a:latin typeface="Consolas" panose="020B0609020204030204" pitchFamily="49" charset="0"/>
            </a:endParaRPr>
          </a:p>
          <a:p>
            <a:pPr>
              <a:buNone/>
            </a:pPr>
            <a:r>
              <a:rPr lang="en-US" sz="1400" dirty="0">
                <a:solidFill>
                  <a:srgbClr val="D7BA7D"/>
                </a:solidFill>
                <a:latin typeface="Consolas" panose="020B0609020204030204" pitchFamily="49" charset="0"/>
              </a:rPr>
              <a:t>nav</a:t>
            </a:r>
            <a:r>
              <a:rPr lang="en-US" sz="1400" dirty="0">
                <a:solidFill>
                  <a:srgbClr val="CCCCCC"/>
                </a:solidFill>
                <a:latin typeface="Consolas" panose="020B0609020204030204" pitchFamily="49" charset="0"/>
              </a:rPr>
              <a:t> </a:t>
            </a:r>
            <a:r>
              <a:rPr lang="en-US" sz="1400" dirty="0">
                <a:solidFill>
                  <a:srgbClr val="D7BA7D"/>
                </a:solidFill>
                <a:latin typeface="Consolas" panose="020B0609020204030204" pitchFamily="49" charset="0"/>
              </a:rPr>
              <a:t>a:hover</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background-color</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#555</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border-radius</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5px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a:t>
            </a:r>
          </a:p>
          <a:p>
            <a:pPr>
              <a:buNone/>
            </a:pPr>
            <a:r>
              <a:rPr lang="en-US" sz="1400" dirty="0">
                <a:solidFill>
                  <a:srgbClr val="6A9955"/>
                </a:solidFill>
                <a:latin typeface="Consolas" panose="020B0609020204030204" pitchFamily="49" charset="0"/>
              </a:rPr>
              <a:t>/* Main content area */</a:t>
            </a:r>
            <a:endParaRPr lang="en-US" sz="1400" dirty="0">
              <a:solidFill>
                <a:srgbClr val="CCCCCC"/>
              </a:solidFill>
              <a:latin typeface="Consolas" panose="020B0609020204030204" pitchFamily="49" charset="0"/>
            </a:endParaRPr>
          </a:p>
          <a:p>
            <a:pPr>
              <a:buNone/>
            </a:pPr>
            <a:r>
              <a:rPr lang="en-US" sz="1400" dirty="0">
                <a:solidFill>
                  <a:srgbClr val="D7BA7D"/>
                </a:solidFill>
                <a:latin typeface="Consolas" panose="020B0609020204030204" pitchFamily="49" charset="0"/>
              </a:rPr>
              <a:t>main</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padding</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20px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a:t>
            </a:r>
          </a:p>
          <a:p>
            <a:pPr>
              <a:buNone/>
            </a:pPr>
            <a:r>
              <a:rPr lang="en-US" sz="1400" dirty="0">
                <a:solidFill>
                  <a:srgbClr val="6A9955"/>
                </a:solidFill>
                <a:latin typeface="Consolas" panose="020B0609020204030204" pitchFamily="49" charset="0"/>
              </a:rPr>
              <a:t>/* Section styling */</a:t>
            </a:r>
            <a:endParaRPr lang="en-US" sz="1400" dirty="0">
              <a:solidFill>
                <a:srgbClr val="CCCCCC"/>
              </a:solidFill>
              <a:latin typeface="Consolas" panose="020B0609020204030204" pitchFamily="49" charset="0"/>
            </a:endParaRPr>
          </a:p>
          <a:p>
            <a:pPr>
              <a:buNone/>
            </a:pPr>
            <a:r>
              <a:rPr lang="en-US" sz="1400" dirty="0">
                <a:solidFill>
                  <a:srgbClr val="D7BA7D"/>
                </a:solidFill>
                <a:latin typeface="Consolas" panose="020B0609020204030204" pitchFamily="49" charset="0"/>
              </a:rPr>
              <a:t>section</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background-color</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white</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padding</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20px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border-radius</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8px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a:t>
            </a:r>
          </a:p>
          <a:p>
            <a:pPr>
              <a:buNone/>
            </a:pPr>
            <a:r>
              <a:rPr lang="en-US" sz="1400" dirty="0">
                <a:solidFill>
                  <a:srgbClr val="6A9955"/>
                </a:solidFill>
                <a:latin typeface="Consolas" panose="020B0609020204030204" pitchFamily="49" charset="0"/>
              </a:rPr>
              <a:t>/* Footer styling */</a:t>
            </a:r>
            <a:endParaRPr lang="en-US" sz="1400" dirty="0">
              <a:solidFill>
                <a:srgbClr val="CCCCCC"/>
              </a:solidFill>
              <a:latin typeface="Consolas" panose="020B0609020204030204" pitchFamily="49" charset="0"/>
            </a:endParaRPr>
          </a:p>
          <a:p>
            <a:pPr>
              <a:buNone/>
            </a:pPr>
            <a:r>
              <a:rPr lang="en-US" sz="1400" dirty="0">
                <a:solidFill>
                  <a:srgbClr val="D7BA7D"/>
                </a:solidFill>
                <a:latin typeface="Consolas" panose="020B0609020204030204" pitchFamily="49" charset="0"/>
              </a:rPr>
              <a:t>footer</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background-color</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#5c4033</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color</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white</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text-align</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center</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padding</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10px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margin-top</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20px</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a:t>
            </a:r>
          </a:p>
          <a:p>
            <a:pPr>
              <a:buNone/>
            </a:pPr>
            <a:r>
              <a:rPr lang="en-US" sz="1400" dirty="0">
                <a:solidFill>
                  <a:srgbClr val="6A9955"/>
                </a:solidFill>
                <a:latin typeface="Consolas" panose="020B0609020204030204" pitchFamily="49" charset="0"/>
              </a:rPr>
              <a:t>/* Responsive design */</a:t>
            </a:r>
            <a:endParaRPr lang="en-US" sz="1400" dirty="0">
              <a:solidFill>
                <a:srgbClr val="CCCCCC"/>
              </a:solidFill>
              <a:latin typeface="Consolas" panose="020B0609020204030204" pitchFamily="49" charset="0"/>
            </a:endParaRPr>
          </a:p>
          <a:p>
            <a:pPr>
              <a:buNone/>
            </a:pPr>
            <a:r>
              <a:rPr lang="en-US" sz="1400" dirty="0">
                <a:solidFill>
                  <a:srgbClr val="C586C0"/>
                </a:solidFill>
                <a:latin typeface="Consolas" panose="020B0609020204030204" pitchFamily="49" charset="0"/>
              </a:rPr>
              <a:t>@media</a:t>
            </a: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max-width</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768px</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D7BA7D"/>
                </a:solidFill>
                <a:latin typeface="Consolas" panose="020B0609020204030204" pitchFamily="49" charset="0"/>
              </a:rPr>
              <a:t>nav</a:t>
            </a:r>
            <a:r>
              <a:rPr lang="en-US" sz="1400" dirty="0">
                <a:solidFill>
                  <a:srgbClr val="CCCCCC"/>
                </a:solidFill>
                <a:latin typeface="Consolas" panose="020B0609020204030204" pitchFamily="49" charset="0"/>
              </a:rPr>
              <a:t> </a:t>
            </a:r>
            <a:r>
              <a:rPr lang="en-US" sz="1400" dirty="0">
                <a:solidFill>
                  <a:srgbClr val="D7BA7D"/>
                </a:solidFill>
                <a:latin typeface="Consolas" panose="020B0609020204030204" pitchFamily="49" charset="0"/>
              </a:rPr>
              <a:t>a</a:t>
            </a: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display</a:t>
            </a:r>
            <a:r>
              <a:rPr lang="en-US" sz="1400" dirty="0">
                <a:solidFill>
                  <a:srgbClr val="CCCCCC"/>
                </a:solidFill>
                <a:latin typeface="Consolas" panose="020B0609020204030204" pitchFamily="49" charset="0"/>
              </a:rPr>
              <a:t>: </a:t>
            </a:r>
            <a:r>
              <a:rPr lang="en-US" sz="1400" dirty="0">
                <a:solidFill>
                  <a:srgbClr val="CE9178"/>
                </a:solidFill>
                <a:latin typeface="Consolas" panose="020B0609020204030204" pitchFamily="49" charset="0"/>
              </a:rPr>
              <a:t>block</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r>
              <a:rPr lang="en-US" sz="1400" dirty="0">
                <a:solidFill>
                  <a:srgbClr val="9CDCFE"/>
                </a:solidFill>
                <a:latin typeface="Consolas" panose="020B0609020204030204" pitchFamily="49" charset="0"/>
              </a:rPr>
              <a:t>margin</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5px</a:t>
            </a:r>
            <a:r>
              <a:rPr lang="en-US" sz="1400" dirty="0">
                <a:solidFill>
                  <a:srgbClr val="CCCCCC"/>
                </a:solidFill>
                <a:latin typeface="Consolas" panose="020B0609020204030204" pitchFamily="49" charset="0"/>
              </a:rPr>
              <a:t> </a:t>
            </a:r>
            <a:r>
              <a:rPr lang="en-US" sz="1400" dirty="0">
                <a:solidFill>
                  <a:srgbClr val="B5CEA8"/>
                </a:solidFill>
                <a:latin typeface="Consolas" panose="020B0609020204030204" pitchFamily="49" charset="0"/>
              </a:rPr>
              <a:t>0</a:t>
            </a:r>
            <a:r>
              <a:rPr lang="en-US" sz="1400" dirty="0">
                <a:solidFill>
                  <a:srgbClr val="CCCCCC"/>
                </a:solidFill>
                <a:latin typeface="Consolas" panose="020B0609020204030204" pitchFamily="49" charset="0"/>
              </a:rPr>
              <a:t>;</a:t>
            </a:r>
          </a:p>
          <a:p>
            <a:pPr>
              <a:buNone/>
            </a:pPr>
            <a:r>
              <a:rPr lang="en-US" sz="1400" dirty="0">
                <a:solidFill>
                  <a:srgbClr val="CCCCCC"/>
                </a:solidFill>
                <a:latin typeface="Consolas" panose="020B0609020204030204" pitchFamily="49" charset="0"/>
              </a:rPr>
              <a:t>    }</a:t>
            </a:r>
          </a:p>
          <a:p>
            <a:pPr>
              <a:buNone/>
            </a:pPr>
            <a:r>
              <a:rPr lang="en-US" sz="1400" dirty="0">
                <a:solidFill>
                  <a:srgbClr val="CCCCCC"/>
                </a:solidFill>
                <a:latin typeface="Consolas" panose="020B0609020204030204" pitchFamily="49" charset="0"/>
              </a:rPr>
              <a:t>}</a:t>
            </a:r>
          </a:p>
        </p:txBody>
      </p:sp>
      <p:sp>
        <p:nvSpPr>
          <p:cNvPr id="4" name="TextBox 3">
            <a:extLst>
              <a:ext uri="{FF2B5EF4-FFF2-40B4-BE49-F238E27FC236}">
                <a16:creationId xmlns:a16="http://schemas.microsoft.com/office/drawing/2014/main" id="{B5851752-8B88-381D-76F6-8A4ABA18CCD8}"/>
              </a:ext>
            </a:extLst>
          </p:cNvPr>
          <p:cNvSpPr txBox="1"/>
          <p:nvPr/>
        </p:nvSpPr>
        <p:spPr>
          <a:xfrm>
            <a:off x="3977510" y="-11151"/>
            <a:ext cx="5928489" cy="2610843"/>
          </a:xfrm>
          <a:prstGeom prst="rect">
            <a:avLst/>
          </a:prstGeom>
          <a:solidFill>
            <a:schemeClr val="bg1"/>
          </a:solidFill>
          <a:ln>
            <a:solidFill>
              <a:srgbClr val="FF0000"/>
            </a:solidFill>
          </a:ln>
        </p:spPr>
        <p:txBody>
          <a:bodyPr wrap="square">
            <a:spAutoFit/>
          </a:bodyPr>
          <a:lstStyle/>
          <a:p>
            <a:pPr>
              <a:lnSpc>
                <a:spcPct val="150000"/>
              </a:lnSpc>
              <a:buNone/>
            </a:pPr>
            <a:r>
              <a:rPr lang="en-US" sz="2800" b="1" dirty="0">
                <a:latin typeface="Calibir"/>
              </a:rPr>
              <a:t>6. Responsive Design</a:t>
            </a:r>
          </a:p>
          <a:p>
            <a:pPr>
              <a:lnSpc>
                <a:spcPct val="150000"/>
              </a:lnSpc>
            </a:pPr>
            <a:r>
              <a:rPr lang="en-US" sz="2800" dirty="0">
                <a:highlight>
                  <a:srgbClr val="FFFF00"/>
                </a:highlight>
                <a:latin typeface="Calibir"/>
              </a:rPr>
              <a:t>@media (max-width: 768px)</a:t>
            </a:r>
          </a:p>
          <a:p>
            <a:pPr>
              <a:lnSpc>
                <a:spcPct val="150000"/>
              </a:lnSpc>
              <a:buNone/>
            </a:pPr>
            <a:r>
              <a:rPr lang="en-US" sz="2800" dirty="0">
                <a:latin typeface="Calibir"/>
              </a:rPr>
              <a:t>Explains mobile-friendly websites.</a:t>
            </a:r>
          </a:p>
          <a:p>
            <a:pPr>
              <a:lnSpc>
                <a:spcPct val="150000"/>
              </a:lnSpc>
              <a:buNone/>
            </a:pPr>
            <a:r>
              <a:rPr lang="en-US" sz="2800" dirty="0">
                <a:latin typeface="Calibir"/>
              </a:rPr>
              <a:t>Very important for assignment rubric.</a:t>
            </a:r>
          </a:p>
        </p:txBody>
      </p:sp>
    </p:spTree>
    <p:extLst>
      <p:ext uri="{BB962C8B-B14F-4D97-AF65-F5344CB8AC3E}">
        <p14:creationId xmlns:p14="http://schemas.microsoft.com/office/powerpoint/2010/main" val="846775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9F7E-D79D-31CC-16F8-69AA5E9261E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9821CB9-8399-2526-62C0-0B4CBA598340}"/>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8B3C7B87-D7FD-8411-2E7D-B8744D881CEA}"/>
              </a:ext>
            </a:extLst>
          </p:cNvPr>
          <p:cNvSpPr txBox="1"/>
          <p:nvPr/>
        </p:nvSpPr>
        <p:spPr>
          <a:xfrm>
            <a:off x="0" y="530942"/>
            <a:ext cx="5943600" cy="523220"/>
          </a:xfrm>
          <a:prstGeom prst="rect">
            <a:avLst/>
          </a:prstGeom>
          <a:noFill/>
        </p:spPr>
        <p:txBody>
          <a:bodyPr wrap="square" rtlCol="0">
            <a:spAutoFit/>
          </a:bodyPr>
          <a:lstStyle/>
          <a:p>
            <a:r>
              <a:rPr lang="en-US" sz="2800" b="1" dirty="0">
                <a:latin typeface="Calibir"/>
              </a:rPr>
              <a:t>Right click &gt;&gt; Open  with live Server</a:t>
            </a:r>
          </a:p>
        </p:txBody>
      </p:sp>
      <p:pic>
        <p:nvPicPr>
          <p:cNvPr id="6" name="Picture 5">
            <a:extLst>
              <a:ext uri="{FF2B5EF4-FFF2-40B4-BE49-F238E27FC236}">
                <a16:creationId xmlns:a16="http://schemas.microsoft.com/office/drawing/2014/main" id="{0A594F6D-E36B-AD4B-6AD0-CCEBC19BD1D1}"/>
              </a:ext>
            </a:extLst>
          </p:cNvPr>
          <p:cNvPicPr>
            <a:picLocks noChangeAspect="1"/>
          </p:cNvPicPr>
          <p:nvPr/>
        </p:nvPicPr>
        <p:blipFill>
          <a:blip r:embed="rId3"/>
          <a:srcRect b="6452"/>
          <a:stretch>
            <a:fillRect/>
          </a:stretch>
        </p:blipFill>
        <p:spPr>
          <a:xfrm>
            <a:off x="0" y="1215940"/>
            <a:ext cx="10722077" cy="5642060"/>
          </a:xfrm>
          <a:prstGeom prst="rect">
            <a:avLst/>
          </a:prstGeom>
        </p:spPr>
      </p:pic>
    </p:spTree>
    <p:extLst>
      <p:ext uri="{BB962C8B-B14F-4D97-AF65-F5344CB8AC3E}">
        <p14:creationId xmlns:p14="http://schemas.microsoft.com/office/powerpoint/2010/main" val="308318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F0C83-A8D6-D4AD-979E-38AEA76131C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38B7481-360A-3568-5470-32867BCED99E}"/>
              </a:ext>
            </a:extLst>
          </p:cNvPr>
          <p:cNvPicPr>
            <a:picLocks noChangeAspect="1"/>
          </p:cNvPicPr>
          <p:nvPr/>
        </p:nvPicPr>
        <p:blipFill>
          <a:blip r:embed="rId2"/>
          <a:stretch>
            <a:fillRect/>
          </a:stretch>
        </p:blipFill>
        <p:spPr>
          <a:xfrm>
            <a:off x="10260685" y="0"/>
            <a:ext cx="1931315" cy="1902052"/>
          </a:xfrm>
          <a:prstGeom prst="rect">
            <a:avLst/>
          </a:prstGeom>
        </p:spPr>
      </p:pic>
      <p:pic>
        <p:nvPicPr>
          <p:cNvPr id="8" name="Picture 7">
            <a:extLst>
              <a:ext uri="{FF2B5EF4-FFF2-40B4-BE49-F238E27FC236}">
                <a16:creationId xmlns:a16="http://schemas.microsoft.com/office/drawing/2014/main" id="{037630D5-1DA4-69D3-E28C-B42989B85CA9}"/>
              </a:ext>
            </a:extLst>
          </p:cNvPr>
          <p:cNvPicPr>
            <a:picLocks noChangeAspect="1"/>
          </p:cNvPicPr>
          <p:nvPr/>
        </p:nvPicPr>
        <p:blipFill>
          <a:blip r:embed="rId3"/>
          <a:srcRect b="6022"/>
          <a:stretch>
            <a:fillRect/>
          </a:stretch>
        </p:blipFill>
        <p:spPr>
          <a:xfrm>
            <a:off x="0" y="1106129"/>
            <a:ext cx="10880733" cy="5751871"/>
          </a:xfrm>
          <a:prstGeom prst="rect">
            <a:avLst/>
          </a:prstGeom>
        </p:spPr>
      </p:pic>
      <p:sp>
        <p:nvSpPr>
          <p:cNvPr id="9" name="TextBox 8">
            <a:extLst>
              <a:ext uri="{FF2B5EF4-FFF2-40B4-BE49-F238E27FC236}">
                <a16:creationId xmlns:a16="http://schemas.microsoft.com/office/drawing/2014/main" id="{700542C5-0615-E8A9-0A68-4702F1971BA7}"/>
              </a:ext>
            </a:extLst>
          </p:cNvPr>
          <p:cNvSpPr txBox="1"/>
          <p:nvPr/>
        </p:nvSpPr>
        <p:spPr>
          <a:xfrm>
            <a:off x="0" y="530942"/>
            <a:ext cx="5943600" cy="523220"/>
          </a:xfrm>
          <a:prstGeom prst="rect">
            <a:avLst/>
          </a:prstGeom>
          <a:noFill/>
        </p:spPr>
        <p:txBody>
          <a:bodyPr wrap="square" rtlCol="0">
            <a:spAutoFit/>
          </a:bodyPr>
          <a:lstStyle/>
          <a:p>
            <a:r>
              <a:rPr lang="en-US" sz="2800" b="1" dirty="0">
                <a:latin typeface="Calibir"/>
              </a:rPr>
              <a:t>Good to Start from here</a:t>
            </a:r>
          </a:p>
        </p:txBody>
      </p:sp>
    </p:spTree>
    <p:extLst>
      <p:ext uri="{BB962C8B-B14F-4D97-AF65-F5344CB8AC3E}">
        <p14:creationId xmlns:p14="http://schemas.microsoft.com/office/powerpoint/2010/main" val="3467955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1D1D-1916-564F-CDF7-CA89EAC2032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DCF9832-5559-EF24-FF46-3E94326BDC94}"/>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E55FF651-F438-F564-3C23-9422A3489218}"/>
              </a:ext>
            </a:extLst>
          </p:cNvPr>
          <p:cNvSpPr txBox="1"/>
          <p:nvPr/>
        </p:nvSpPr>
        <p:spPr>
          <a:xfrm>
            <a:off x="0" y="538609"/>
            <a:ext cx="10913806" cy="671851"/>
          </a:xfrm>
          <a:prstGeom prst="rect">
            <a:avLst/>
          </a:prstGeom>
          <a:noFill/>
        </p:spPr>
        <p:txBody>
          <a:bodyPr wrap="square" rtlCol="0">
            <a:spAutoFit/>
          </a:bodyPr>
          <a:lstStyle/>
          <a:p>
            <a:pPr>
              <a:lnSpc>
                <a:spcPct val="150000"/>
              </a:lnSpc>
            </a:pPr>
            <a:r>
              <a:rPr lang="en-US" sz="2800" dirty="0">
                <a:latin typeface="Calibir"/>
              </a:rPr>
              <a:t>Both html and </a:t>
            </a:r>
            <a:r>
              <a:rPr lang="en-US" sz="2800" dirty="0" err="1">
                <a:latin typeface="Calibir"/>
              </a:rPr>
              <a:t>css</a:t>
            </a:r>
            <a:r>
              <a:rPr lang="en-US" sz="2800" dirty="0">
                <a:latin typeface="Calibir"/>
              </a:rPr>
              <a:t> files are available on GitHub (good to start from here)</a:t>
            </a:r>
          </a:p>
        </p:txBody>
      </p:sp>
      <p:sp>
        <p:nvSpPr>
          <p:cNvPr id="3" name="TextBox 2">
            <a:extLst>
              <a:ext uri="{FF2B5EF4-FFF2-40B4-BE49-F238E27FC236}">
                <a16:creationId xmlns:a16="http://schemas.microsoft.com/office/drawing/2014/main" id="{553E02D4-B6B6-EED0-092A-F9AA94BBC750}"/>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5" name="Picture 4">
            <a:extLst>
              <a:ext uri="{FF2B5EF4-FFF2-40B4-BE49-F238E27FC236}">
                <a16:creationId xmlns:a16="http://schemas.microsoft.com/office/drawing/2014/main" id="{472FAE3E-A96C-3FBE-2CA9-5CF2FDACCDDA}"/>
              </a:ext>
            </a:extLst>
          </p:cNvPr>
          <p:cNvPicPr>
            <a:picLocks noChangeAspect="1"/>
          </p:cNvPicPr>
          <p:nvPr/>
        </p:nvPicPr>
        <p:blipFill>
          <a:blip r:embed="rId3"/>
          <a:srcRect l="121" t="6667" r="-121" b="41505"/>
          <a:stretch>
            <a:fillRect/>
          </a:stretch>
        </p:blipFill>
        <p:spPr>
          <a:xfrm>
            <a:off x="0" y="4011646"/>
            <a:ext cx="9071325" cy="2644584"/>
          </a:xfrm>
          <a:prstGeom prst="rect">
            <a:avLst/>
          </a:prstGeom>
          <a:ln>
            <a:solidFill>
              <a:srgbClr val="FF0000"/>
            </a:solidFill>
          </a:ln>
        </p:spPr>
      </p:pic>
      <p:pic>
        <p:nvPicPr>
          <p:cNvPr id="7" name="Picture 6">
            <a:extLst>
              <a:ext uri="{FF2B5EF4-FFF2-40B4-BE49-F238E27FC236}">
                <a16:creationId xmlns:a16="http://schemas.microsoft.com/office/drawing/2014/main" id="{287B86E1-1B33-84DB-A3DD-BA3F5A758662}"/>
              </a:ext>
            </a:extLst>
          </p:cNvPr>
          <p:cNvPicPr>
            <a:picLocks noChangeAspect="1"/>
          </p:cNvPicPr>
          <p:nvPr/>
        </p:nvPicPr>
        <p:blipFill>
          <a:blip r:embed="rId4"/>
          <a:srcRect t="8817" b="41505"/>
          <a:stretch>
            <a:fillRect/>
          </a:stretch>
        </p:blipFill>
        <p:spPr>
          <a:xfrm>
            <a:off x="0" y="1210460"/>
            <a:ext cx="9071325" cy="2534850"/>
          </a:xfrm>
          <a:prstGeom prst="rect">
            <a:avLst/>
          </a:prstGeom>
          <a:ln>
            <a:solidFill>
              <a:srgbClr val="FF0000"/>
            </a:solidFill>
          </a:ln>
        </p:spPr>
      </p:pic>
    </p:spTree>
    <p:extLst>
      <p:ext uri="{BB962C8B-B14F-4D97-AF65-F5344CB8AC3E}">
        <p14:creationId xmlns:p14="http://schemas.microsoft.com/office/powerpoint/2010/main" val="17926142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572B0-471D-CCA5-5EB1-DA8039230D8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65C08F6-8EE8-13DC-A684-87EEFEF4F02F}"/>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459808B7-795A-7EB2-3A7C-FFBE45542099}"/>
              </a:ext>
            </a:extLst>
          </p:cNvPr>
          <p:cNvSpPr txBox="1"/>
          <p:nvPr/>
        </p:nvSpPr>
        <p:spPr>
          <a:xfrm>
            <a:off x="0" y="951026"/>
            <a:ext cx="10471355" cy="4549835"/>
          </a:xfrm>
          <a:prstGeom prst="rect">
            <a:avLst/>
          </a:prstGeom>
          <a:noFill/>
        </p:spPr>
        <p:txBody>
          <a:bodyPr wrap="square" rtlCol="0">
            <a:spAutoFit/>
          </a:bodyPr>
          <a:lstStyle/>
          <a:p>
            <a:pPr>
              <a:lnSpc>
                <a:spcPct val="150000"/>
              </a:lnSpc>
            </a:pPr>
            <a:r>
              <a:rPr lang="en-US" sz="2800" dirty="0">
                <a:latin typeface="Calibir"/>
              </a:rPr>
              <a:t>At this stage, you already know:</a:t>
            </a:r>
          </a:p>
          <a:p>
            <a:pPr marL="914400" lvl="1" indent="-457200">
              <a:lnSpc>
                <a:spcPct val="150000"/>
              </a:lnSpc>
              <a:buFont typeface="Arial" panose="020B0604020202020204" pitchFamily="34" charset="0"/>
              <a:buChar char="•"/>
            </a:pPr>
            <a:r>
              <a:rPr lang="en-US" sz="2800" dirty="0">
                <a:latin typeface="Calibir"/>
              </a:rPr>
              <a:t>basic HTML structure </a:t>
            </a:r>
          </a:p>
          <a:p>
            <a:pPr marL="914400" lvl="1" indent="-457200">
              <a:lnSpc>
                <a:spcPct val="150000"/>
              </a:lnSpc>
              <a:buFont typeface="Arial" panose="020B0604020202020204" pitchFamily="34" charset="0"/>
              <a:buChar char="•"/>
            </a:pPr>
            <a:r>
              <a:rPr lang="en-US" sz="2800" dirty="0">
                <a:latin typeface="Calibir"/>
              </a:rPr>
              <a:t>linking CSS </a:t>
            </a:r>
          </a:p>
          <a:p>
            <a:pPr marL="914400" lvl="1" indent="-457200">
              <a:lnSpc>
                <a:spcPct val="150000"/>
              </a:lnSpc>
              <a:buFont typeface="Arial" panose="020B0604020202020204" pitchFamily="34" charset="0"/>
              <a:buChar char="•"/>
            </a:pPr>
            <a:r>
              <a:rPr lang="en-US" sz="2800" dirty="0">
                <a:latin typeface="Calibir"/>
              </a:rPr>
              <a:t>semantic elements </a:t>
            </a:r>
          </a:p>
          <a:p>
            <a:pPr marL="914400" lvl="1" indent="-457200">
              <a:lnSpc>
                <a:spcPct val="150000"/>
              </a:lnSpc>
              <a:buFont typeface="Arial" panose="020B0604020202020204" pitchFamily="34" charset="0"/>
              <a:buChar char="•"/>
            </a:pPr>
            <a:r>
              <a:rPr lang="en-US" sz="2800" dirty="0">
                <a:latin typeface="Calibir"/>
              </a:rPr>
              <a:t>simple styling </a:t>
            </a:r>
          </a:p>
          <a:p>
            <a:pPr marL="914400" lvl="1" indent="-457200">
              <a:lnSpc>
                <a:spcPct val="150000"/>
              </a:lnSpc>
              <a:buFont typeface="Arial" panose="020B0604020202020204" pitchFamily="34" charset="0"/>
              <a:buChar char="•"/>
            </a:pPr>
            <a:r>
              <a:rPr lang="en-US" sz="2800" dirty="0">
                <a:latin typeface="Calibir"/>
              </a:rPr>
              <a:t>navigation </a:t>
            </a:r>
          </a:p>
          <a:p>
            <a:pPr marL="914400" lvl="1" indent="-457200">
              <a:lnSpc>
                <a:spcPct val="150000"/>
              </a:lnSpc>
              <a:buFont typeface="Arial" panose="020B0604020202020204" pitchFamily="34" charset="0"/>
              <a:buChar char="•"/>
            </a:pPr>
            <a:r>
              <a:rPr lang="en-US" sz="2800" dirty="0">
                <a:latin typeface="Calibir"/>
              </a:rPr>
              <a:t>responsive basics </a:t>
            </a:r>
          </a:p>
        </p:txBody>
      </p:sp>
      <p:sp>
        <p:nvSpPr>
          <p:cNvPr id="3" name="TextBox 2">
            <a:extLst>
              <a:ext uri="{FF2B5EF4-FFF2-40B4-BE49-F238E27FC236}">
                <a16:creationId xmlns:a16="http://schemas.microsoft.com/office/drawing/2014/main" id="{6B07352E-88AE-B52B-407C-3DD5599B660D}"/>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653583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1CBB8-0927-F8F2-90C9-42928FCBB71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FC69CED-8CBD-4B8C-B0EF-B2ABBFA67226}"/>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ED775506-7EA9-10D7-0E2A-B56AA4F61A97}"/>
              </a:ext>
            </a:extLst>
          </p:cNvPr>
          <p:cNvSpPr txBox="1"/>
          <p:nvPr/>
        </p:nvSpPr>
        <p:spPr>
          <a:xfrm>
            <a:off x="0" y="951026"/>
            <a:ext cx="10471355" cy="3903504"/>
          </a:xfrm>
          <a:prstGeom prst="rect">
            <a:avLst/>
          </a:prstGeom>
          <a:noFill/>
        </p:spPr>
        <p:txBody>
          <a:bodyPr wrap="square" rtlCol="0">
            <a:spAutoFit/>
          </a:bodyPr>
          <a:lstStyle/>
          <a:p>
            <a:pPr>
              <a:lnSpc>
                <a:spcPct val="150000"/>
              </a:lnSpc>
            </a:pPr>
            <a:r>
              <a:rPr lang="en-US" sz="2800" dirty="0">
                <a:latin typeface="Calibir"/>
              </a:rPr>
              <a:t>Now the next tasks should help you gradually transform this simple page into a proper multi-page business website for the assignment.</a:t>
            </a:r>
          </a:p>
          <a:p>
            <a:pPr>
              <a:lnSpc>
                <a:spcPct val="150000"/>
              </a:lnSpc>
            </a:pPr>
            <a:r>
              <a:rPr lang="en-US" sz="2800" dirty="0">
                <a:latin typeface="Calibir"/>
              </a:rPr>
              <a:t>You should now move from:</a:t>
            </a:r>
          </a:p>
          <a:p>
            <a:pPr>
              <a:lnSpc>
                <a:spcPct val="150000"/>
              </a:lnSpc>
            </a:pPr>
            <a:r>
              <a:rPr lang="en-US" sz="2800" dirty="0">
                <a:latin typeface="Calibir"/>
              </a:rPr>
              <a:t>“basic page coding”</a:t>
            </a:r>
            <a:br>
              <a:rPr lang="en-US" sz="2800" dirty="0">
                <a:latin typeface="Calibir"/>
              </a:rPr>
            </a:br>
            <a:r>
              <a:rPr lang="en-US" sz="2800" dirty="0">
                <a:latin typeface="Calibir"/>
              </a:rPr>
              <a:t>towards</a:t>
            </a:r>
            <a:br>
              <a:rPr lang="en-US" sz="2800" dirty="0">
                <a:latin typeface="Calibir"/>
              </a:rPr>
            </a:br>
            <a:r>
              <a:rPr lang="en-US" sz="2800" dirty="0">
                <a:latin typeface="Calibir"/>
              </a:rPr>
              <a:t>“building a complete website project”.</a:t>
            </a:r>
          </a:p>
        </p:txBody>
      </p:sp>
      <p:sp>
        <p:nvSpPr>
          <p:cNvPr id="3" name="TextBox 2">
            <a:extLst>
              <a:ext uri="{FF2B5EF4-FFF2-40B4-BE49-F238E27FC236}">
                <a16:creationId xmlns:a16="http://schemas.microsoft.com/office/drawing/2014/main" id="{4A7189F1-7946-416F-4F79-41DB77C938F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4714888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9415-B586-72DB-4CE4-1CBBC7E3B11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31F4AB8-F3D4-91A3-A47D-1B5D4BEC4676}"/>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296D5B85-B5DD-3C8B-3CC4-A79B036D227E}"/>
              </a:ext>
            </a:extLst>
          </p:cNvPr>
          <p:cNvSpPr txBox="1"/>
          <p:nvPr/>
        </p:nvSpPr>
        <p:spPr>
          <a:xfrm>
            <a:off x="0" y="538609"/>
            <a:ext cx="10471355" cy="3903504"/>
          </a:xfrm>
          <a:prstGeom prst="rect">
            <a:avLst/>
          </a:prstGeom>
          <a:noFill/>
        </p:spPr>
        <p:txBody>
          <a:bodyPr wrap="square" rtlCol="0">
            <a:spAutoFit/>
          </a:bodyPr>
          <a:lstStyle/>
          <a:p>
            <a:pPr>
              <a:lnSpc>
                <a:spcPct val="150000"/>
              </a:lnSpc>
            </a:pPr>
            <a:r>
              <a:rPr lang="en-US" sz="2800" b="1" dirty="0">
                <a:latin typeface="Calibir"/>
              </a:rPr>
              <a:t>Task 1 — Create Additional Pages</a:t>
            </a:r>
          </a:p>
          <a:p>
            <a:pPr>
              <a:lnSpc>
                <a:spcPct val="150000"/>
              </a:lnSpc>
            </a:pPr>
            <a:r>
              <a:rPr lang="en-US" sz="2800" b="1" dirty="0">
                <a:latin typeface="Calibir"/>
              </a:rPr>
              <a:t>What Students Should Do</a:t>
            </a:r>
          </a:p>
          <a:p>
            <a:pPr>
              <a:lnSpc>
                <a:spcPct val="150000"/>
              </a:lnSpc>
            </a:pPr>
            <a:r>
              <a:rPr lang="en-US" sz="2800" dirty="0">
                <a:latin typeface="Calibir"/>
              </a:rPr>
              <a:t>Create the remaining website pages:</a:t>
            </a:r>
          </a:p>
          <a:p>
            <a:pPr marL="914400" lvl="1" indent="-457200">
              <a:lnSpc>
                <a:spcPct val="150000"/>
              </a:lnSpc>
              <a:buFont typeface="Arial" panose="020B0604020202020204" pitchFamily="34" charset="0"/>
              <a:buChar char="•"/>
            </a:pPr>
            <a:r>
              <a:rPr lang="en-US" sz="2800" dirty="0">
                <a:latin typeface="Calibir"/>
              </a:rPr>
              <a:t>menu.html </a:t>
            </a:r>
          </a:p>
          <a:p>
            <a:pPr marL="914400" lvl="1" indent="-457200">
              <a:lnSpc>
                <a:spcPct val="150000"/>
              </a:lnSpc>
              <a:buFont typeface="Arial" panose="020B0604020202020204" pitchFamily="34" charset="0"/>
              <a:buChar char="•"/>
            </a:pPr>
            <a:r>
              <a:rPr lang="en-US" sz="2800" dirty="0">
                <a:latin typeface="Calibir"/>
              </a:rPr>
              <a:t>gallery.html </a:t>
            </a:r>
          </a:p>
          <a:p>
            <a:pPr marL="914400" lvl="1" indent="-457200">
              <a:lnSpc>
                <a:spcPct val="150000"/>
              </a:lnSpc>
              <a:buFont typeface="Arial" panose="020B0604020202020204" pitchFamily="34" charset="0"/>
              <a:buChar char="•"/>
            </a:pPr>
            <a:r>
              <a:rPr lang="en-US" sz="2800" dirty="0">
                <a:latin typeface="Calibir"/>
              </a:rPr>
              <a:t>contact.html </a:t>
            </a:r>
          </a:p>
        </p:txBody>
      </p:sp>
      <p:sp>
        <p:nvSpPr>
          <p:cNvPr id="3" name="TextBox 2">
            <a:extLst>
              <a:ext uri="{FF2B5EF4-FFF2-40B4-BE49-F238E27FC236}">
                <a16:creationId xmlns:a16="http://schemas.microsoft.com/office/drawing/2014/main" id="{1FA367A3-AA8E-4076-CCDD-0E722D9B3701}"/>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2659087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14C68-256F-0472-4D40-7583BD065E9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4BB5400-8157-0990-45EB-71F6E3715985}"/>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7F6A59CA-8FBF-518D-1135-AA9B9B328E77}"/>
              </a:ext>
            </a:extLst>
          </p:cNvPr>
          <p:cNvSpPr txBox="1"/>
          <p:nvPr/>
        </p:nvSpPr>
        <p:spPr>
          <a:xfrm>
            <a:off x="0" y="538609"/>
            <a:ext cx="10471355" cy="3257174"/>
          </a:xfrm>
          <a:prstGeom prst="rect">
            <a:avLst/>
          </a:prstGeom>
          <a:noFill/>
        </p:spPr>
        <p:txBody>
          <a:bodyPr wrap="square" rtlCol="0">
            <a:spAutoFit/>
          </a:bodyPr>
          <a:lstStyle/>
          <a:p>
            <a:pPr>
              <a:lnSpc>
                <a:spcPct val="150000"/>
              </a:lnSpc>
            </a:pPr>
            <a:r>
              <a:rPr lang="en-US" sz="2800" dirty="0">
                <a:latin typeface="Calibir"/>
              </a:rPr>
              <a:t>Each page should:</a:t>
            </a:r>
          </a:p>
          <a:p>
            <a:pPr marL="914400" lvl="1" indent="-457200">
              <a:lnSpc>
                <a:spcPct val="150000"/>
              </a:lnSpc>
              <a:buFont typeface="Arial" panose="020B0604020202020204" pitchFamily="34" charset="0"/>
              <a:buChar char="•"/>
            </a:pPr>
            <a:r>
              <a:rPr lang="en-US" sz="2800" dirty="0">
                <a:latin typeface="Calibir"/>
              </a:rPr>
              <a:t>use the same header </a:t>
            </a:r>
          </a:p>
          <a:p>
            <a:pPr marL="914400" lvl="1" indent="-457200">
              <a:lnSpc>
                <a:spcPct val="150000"/>
              </a:lnSpc>
              <a:buFont typeface="Arial" panose="020B0604020202020204" pitchFamily="34" charset="0"/>
              <a:buChar char="•"/>
            </a:pPr>
            <a:r>
              <a:rPr lang="en-US" sz="2800" dirty="0">
                <a:latin typeface="Calibir"/>
              </a:rPr>
              <a:t>use the same navigation </a:t>
            </a:r>
          </a:p>
          <a:p>
            <a:pPr marL="914400" lvl="1" indent="-457200">
              <a:lnSpc>
                <a:spcPct val="150000"/>
              </a:lnSpc>
              <a:buFont typeface="Arial" panose="020B0604020202020204" pitchFamily="34" charset="0"/>
              <a:buChar char="•"/>
            </a:pPr>
            <a:r>
              <a:rPr lang="en-US" sz="2800" dirty="0">
                <a:latin typeface="Calibir"/>
              </a:rPr>
              <a:t>use the same footer </a:t>
            </a:r>
          </a:p>
          <a:p>
            <a:pPr marL="914400" lvl="1" indent="-457200">
              <a:lnSpc>
                <a:spcPct val="150000"/>
              </a:lnSpc>
              <a:buFont typeface="Arial" panose="020B0604020202020204" pitchFamily="34" charset="0"/>
              <a:buChar char="•"/>
            </a:pPr>
            <a:r>
              <a:rPr lang="en-US" sz="2800" dirty="0">
                <a:latin typeface="Calibir"/>
              </a:rPr>
              <a:t>connect correctly using links</a:t>
            </a:r>
          </a:p>
        </p:txBody>
      </p:sp>
      <p:sp>
        <p:nvSpPr>
          <p:cNvPr id="3" name="TextBox 2">
            <a:extLst>
              <a:ext uri="{FF2B5EF4-FFF2-40B4-BE49-F238E27FC236}">
                <a16:creationId xmlns:a16="http://schemas.microsoft.com/office/drawing/2014/main" id="{BE9156E8-7946-1AC1-A382-251D88328212}"/>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838836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58F8F-87C1-1CE0-939F-694F1F0B490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66A778E-3D29-C610-926A-EF3F325B64D7}"/>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3820A128-9F75-54DB-B0AE-B3C336C2537F}"/>
              </a:ext>
            </a:extLst>
          </p:cNvPr>
          <p:cNvSpPr txBox="1"/>
          <p:nvPr/>
        </p:nvSpPr>
        <p:spPr>
          <a:xfrm>
            <a:off x="0" y="376839"/>
            <a:ext cx="10471355" cy="6488828"/>
          </a:xfrm>
          <a:prstGeom prst="rect">
            <a:avLst/>
          </a:prstGeom>
          <a:noFill/>
        </p:spPr>
        <p:txBody>
          <a:bodyPr wrap="square" rtlCol="0">
            <a:spAutoFit/>
          </a:bodyPr>
          <a:lstStyle/>
          <a:p>
            <a:pPr>
              <a:lnSpc>
                <a:spcPct val="150000"/>
              </a:lnSpc>
            </a:pPr>
            <a:r>
              <a:rPr lang="en-US" sz="2800" b="1" dirty="0">
                <a:latin typeface="Calibir"/>
              </a:rPr>
              <a:t>Hint for Students</a:t>
            </a:r>
          </a:p>
          <a:p>
            <a:pPr>
              <a:lnSpc>
                <a:spcPct val="150000"/>
              </a:lnSpc>
            </a:pPr>
            <a:r>
              <a:rPr lang="en-US" sz="2800" dirty="0">
                <a:latin typeface="Calibir"/>
              </a:rPr>
              <a:t>Students can copy the existing structure and change only the &lt;main&gt; section.</a:t>
            </a:r>
          </a:p>
          <a:p>
            <a:pPr>
              <a:lnSpc>
                <a:spcPct val="150000"/>
              </a:lnSpc>
            </a:pPr>
            <a:r>
              <a:rPr lang="en-US" sz="2800" dirty="0">
                <a:latin typeface="Calibir"/>
              </a:rPr>
              <a:t>Example:</a:t>
            </a:r>
          </a:p>
          <a:p>
            <a:pPr>
              <a:lnSpc>
                <a:spcPct val="150000"/>
              </a:lnSpc>
            </a:pPr>
            <a:r>
              <a:rPr lang="en-US" sz="2800" dirty="0">
                <a:highlight>
                  <a:srgbClr val="FFFF00"/>
                </a:highlight>
                <a:latin typeface="Calibir"/>
              </a:rPr>
              <a:t>&lt;main&gt;</a:t>
            </a:r>
            <a:br>
              <a:rPr lang="en-US" sz="2800" dirty="0">
                <a:highlight>
                  <a:srgbClr val="FFFF00"/>
                </a:highlight>
                <a:latin typeface="Calibir"/>
              </a:rPr>
            </a:br>
            <a:r>
              <a:rPr lang="en-US" sz="2800" dirty="0">
                <a:highlight>
                  <a:srgbClr val="FFFF00"/>
                </a:highlight>
                <a:latin typeface="Calibir"/>
              </a:rPr>
              <a:t>    &lt;section&gt;</a:t>
            </a:r>
            <a:br>
              <a:rPr lang="en-US" sz="2800" dirty="0">
                <a:highlight>
                  <a:srgbClr val="FFFF00"/>
                </a:highlight>
                <a:latin typeface="Calibir"/>
              </a:rPr>
            </a:br>
            <a:r>
              <a:rPr lang="en-US" sz="2800" dirty="0">
                <a:highlight>
                  <a:srgbClr val="FFFF00"/>
                </a:highlight>
                <a:latin typeface="Calibir"/>
              </a:rPr>
              <a:t>        &lt;h2&gt;Our Menu&lt;/h2&gt;</a:t>
            </a:r>
            <a:br>
              <a:rPr lang="en-US" sz="2800" dirty="0">
                <a:highlight>
                  <a:srgbClr val="FFFF00"/>
                </a:highlight>
                <a:latin typeface="Calibir"/>
              </a:rPr>
            </a:br>
            <a:r>
              <a:rPr lang="en-US" sz="2800" dirty="0">
                <a:highlight>
                  <a:srgbClr val="FFFF00"/>
                </a:highlight>
                <a:latin typeface="Calibir"/>
              </a:rPr>
              <a:t>        &lt;p&gt;Explore our breakfast and coffee options.&lt;/p&gt;</a:t>
            </a:r>
            <a:br>
              <a:rPr lang="en-US" sz="2800" dirty="0">
                <a:highlight>
                  <a:srgbClr val="FFFF00"/>
                </a:highlight>
                <a:latin typeface="Calibir"/>
              </a:rPr>
            </a:br>
            <a:r>
              <a:rPr lang="en-US" sz="2800" dirty="0">
                <a:highlight>
                  <a:srgbClr val="FFFF00"/>
                </a:highlight>
                <a:latin typeface="Calibir"/>
              </a:rPr>
              <a:t>    &lt;/section&gt;</a:t>
            </a:r>
            <a:br>
              <a:rPr lang="en-US" sz="2800" dirty="0">
                <a:highlight>
                  <a:srgbClr val="FFFF00"/>
                </a:highlight>
                <a:latin typeface="Calibir"/>
              </a:rPr>
            </a:br>
            <a:r>
              <a:rPr lang="en-US" sz="2800" dirty="0">
                <a:highlight>
                  <a:srgbClr val="FFFF00"/>
                </a:highlight>
                <a:latin typeface="Calibir"/>
              </a:rPr>
              <a:t>&lt;/main&gt;</a:t>
            </a:r>
          </a:p>
        </p:txBody>
      </p:sp>
      <p:sp>
        <p:nvSpPr>
          <p:cNvPr id="3" name="TextBox 2">
            <a:extLst>
              <a:ext uri="{FF2B5EF4-FFF2-40B4-BE49-F238E27FC236}">
                <a16:creationId xmlns:a16="http://schemas.microsoft.com/office/drawing/2014/main" id="{DCFA5923-460B-ABFA-5A53-BEEA83840EA2}"/>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9513664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3F731-51E2-129F-28CE-07BB5D7B7A3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7593C15-63F7-2549-8A59-10921E327ABB}"/>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339AF451-F1D2-CDF4-74EA-FB7CC4952D68}"/>
              </a:ext>
            </a:extLst>
          </p:cNvPr>
          <p:cNvSpPr txBox="1"/>
          <p:nvPr/>
        </p:nvSpPr>
        <p:spPr>
          <a:xfrm>
            <a:off x="94593" y="694284"/>
            <a:ext cx="10471355" cy="5842497"/>
          </a:xfrm>
          <a:prstGeom prst="rect">
            <a:avLst/>
          </a:prstGeom>
          <a:noFill/>
        </p:spPr>
        <p:txBody>
          <a:bodyPr wrap="square" rtlCol="0">
            <a:spAutoFit/>
          </a:bodyPr>
          <a:lstStyle/>
          <a:p>
            <a:pPr>
              <a:lnSpc>
                <a:spcPct val="150000"/>
              </a:lnSpc>
            </a:pPr>
            <a:r>
              <a:rPr lang="en-US" sz="2800" b="1" dirty="0">
                <a:latin typeface="Calibir"/>
              </a:rPr>
              <a:t>What to Avoid</a:t>
            </a:r>
          </a:p>
          <a:p>
            <a:pPr marL="914400" lvl="1" indent="-457200">
              <a:lnSpc>
                <a:spcPct val="150000"/>
              </a:lnSpc>
              <a:buFont typeface="Arial" panose="020B0604020202020204" pitchFamily="34" charset="0"/>
              <a:buChar char="•"/>
            </a:pPr>
            <a:r>
              <a:rPr lang="en-US" sz="2800" dirty="0">
                <a:latin typeface="Calibir"/>
              </a:rPr>
              <a:t>Different navigation on each page </a:t>
            </a:r>
          </a:p>
          <a:p>
            <a:pPr marL="914400" lvl="1" indent="-457200">
              <a:lnSpc>
                <a:spcPct val="150000"/>
              </a:lnSpc>
              <a:buFont typeface="Arial" panose="020B0604020202020204" pitchFamily="34" charset="0"/>
              <a:buChar char="•"/>
            </a:pPr>
            <a:r>
              <a:rPr lang="en-US" sz="2800" dirty="0">
                <a:latin typeface="Calibir"/>
              </a:rPr>
              <a:t>Missing CSS link </a:t>
            </a:r>
          </a:p>
          <a:p>
            <a:pPr marL="914400" lvl="1" indent="-457200">
              <a:lnSpc>
                <a:spcPct val="150000"/>
              </a:lnSpc>
              <a:buFont typeface="Arial" panose="020B0604020202020204" pitchFamily="34" charset="0"/>
              <a:buChar char="•"/>
            </a:pPr>
            <a:r>
              <a:rPr lang="en-US" sz="2800" dirty="0">
                <a:latin typeface="Calibir"/>
              </a:rPr>
              <a:t>Broken links </a:t>
            </a:r>
          </a:p>
          <a:p>
            <a:pPr marL="914400" lvl="1" indent="-457200">
              <a:lnSpc>
                <a:spcPct val="150000"/>
              </a:lnSpc>
              <a:buFont typeface="Arial" panose="020B0604020202020204" pitchFamily="34" charset="0"/>
              <a:buChar char="•"/>
            </a:pPr>
            <a:r>
              <a:rPr lang="en-US" sz="2800" dirty="0">
                <a:latin typeface="Calibir"/>
              </a:rPr>
              <a:t>Different page styles</a:t>
            </a:r>
          </a:p>
          <a:p>
            <a:pPr>
              <a:lnSpc>
                <a:spcPct val="150000"/>
              </a:lnSpc>
            </a:pPr>
            <a:r>
              <a:rPr lang="en-US" sz="2800" b="1" dirty="0">
                <a:latin typeface="Calibir"/>
              </a:rPr>
              <a:t>What to Submit</a:t>
            </a:r>
          </a:p>
          <a:p>
            <a:pPr>
              <a:lnSpc>
                <a:spcPct val="150000"/>
              </a:lnSpc>
            </a:pPr>
            <a:r>
              <a:rPr lang="en-US" sz="2800" dirty="0">
                <a:latin typeface="Calibir"/>
              </a:rPr>
              <a:t>Students should submit:</a:t>
            </a:r>
          </a:p>
          <a:p>
            <a:pPr marL="914400" lvl="1" indent="-457200">
              <a:lnSpc>
                <a:spcPct val="150000"/>
              </a:lnSpc>
              <a:buFont typeface="Arial" panose="020B0604020202020204" pitchFamily="34" charset="0"/>
              <a:buChar char="•"/>
            </a:pPr>
            <a:r>
              <a:rPr lang="en-US" sz="2800" dirty="0">
                <a:latin typeface="Calibir"/>
              </a:rPr>
              <a:t>all HTML pages </a:t>
            </a:r>
          </a:p>
          <a:p>
            <a:pPr marL="914400" lvl="1" indent="-457200">
              <a:lnSpc>
                <a:spcPct val="150000"/>
              </a:lnSpc>
              <a:buFont typeface="Arial" panose="020B0604020202020204" pitchFamily="34" charset="0"/>
              <a:buChar char="•"/>
            </a:pPr>
            <a:r>
              <a:rPr lang="en-US" sz="2800" dirty="0">
                <a:latin typeface="Calibir"/>
              </a:rPr>
              <a:t>updated CSS file</a:t>
            </a:r>
          </a:p>
        </p:txBody>
      </p:sp>
      <p:sp>
        <p:nvSpPr>
          <p:cNvPr id="3" name="TextBox 2">
            <a:extLst>
              <a:ext uri="{FF2B5EF4-FFF2-40B4-BE49-F238E27FC236}">
                <a16:creationId xmlns:a16="http://schemas.microsoft.com/office/drawing/2014/main" id="{23B037F0-3C88-1796-7E5C-A688DEE3E140}"/>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9404998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93C4E-28F6-411D-D44D-DD5B6222311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EFFC620-A46D-4E15-7076-A529234778F0}"/>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131EDE56-B123-A542-E644-B35DB6F6345D}"/>
              </a:ext>
            </a:extLst>
          </p:cNvPr>
          <p:cNvSpPr txBox="1"/>
          <p:nvPr/>
        </p:nvSpPr>
        <p:spPr>
          <a:xfrm>
            <a:off x="94593" y="1800413"/>
            <a:ext cx="10471355" cy="3903504"/>
          </a:xfrm>
          <a:prstGeom prst="rect">
            <a:avLst/>
          </a:prstGeom>
          <a:noFill/>
        </p:spPr>
        <p:txBody>
          <a:bodyPr wrap="square" rtlCol="0">
            <a:spAutoFit/>
          </a:bodyPr>
          <a:lstStyle/>
          <a:p>
            <a:pPr>
              <a:lnSpc>
                <a:spcPct val="150000"/>
              </a:lnSpc>
            </a:pPr>
            <a:r>
              <a:rPr lang="en-US" sz="2800" b="1" dirty="0">
                <a:latin typeface="Calibir"/>
              </a:rPr>
              <a:t>Task 2 — Add Images Properly</a:t>
            </a:r>
          </a:p>
          <a:p>
            <a:pPr>
              <a:lnSpc>
                <a:spcPct val="150000"/>
              </a:lnSpc>
            </a:pPr>
            <a:r>
              <a:rPr lang="en-US" sz="2800" b="1" dirty="0">
                <a:latin typeface="Calibir"/>
              </a:rPr>
              <a:t>What Students Should Do</a:t>
            </a:r>
          </a:p>
          <a:p>
            <a:pPr>
              <a:lnSpc>
                <a:spcPct val="150000"/>
              </a:lnSpc>
            </a:pPr>
            <a:r>
              <a:rPr lang="en-US" sz="2800" dirty="0">
                <a:latin typeface="Calibir"/>
              </a:rPr>
              <a:t>Create an /images folder and add:</a:t>
            </a:r>
          </a:p>
          <a:p>
            <a:pPr marL="914400" lvl="1" indent="-457200">
              <a:lnSpc>
                <a:spcPct val="150000"/>
              </a:lnSpc>
              <a:buFont typeface="Arial" panose="020B0604020202020204" pitchFamily="34" charset="0"/>
              <a:buChar char="•"/>
            </a:pPr>
            <a:r>
              <a:rPr lang="en-US" sz="2800" dirty="0">
                <a:latin typeface="Calibir"/>
              </a:rPr>
              <a:t>café images </a:t>
            </a:r>
          </a:p>
          <a:p>
            <a:pPr marL="914400" lvl="1" indent="-457200">
              <a:lnSpc>
                <a:spcPct val="150000"/>
              </a:lnSpc>
              <a:buFont typeface="Arial" panose="020B0604020202020204" pitchFamily="34" charset="0"/>
              <a:buChar char="•"/>
            </a:pPr>
            <a:r>
              <a:rPr lang="en-US" sz="2800" dirty="0">
                <a:latin typeface="Calibir"/>
              </a:rPr>
              <a:t>menu photos </a:t>
            </a:r>
          </a:p>
          <a:p>
            <a:pPr marL="914400" lvl="1" indent="-457200">
              <a:lnSpc>
                <a:spcPct val="150000"/>
              </a:lnSpc>
              <a:buFont typeface="Arial" panose="020B0604020202020204" pitchFamily="34" charset="0"/>
              <a:buChar char="•"/>
            </a:pPr>
            <a:r>
              <a:rPr lang="en-US" sz="2800" dirty="0">
                <a:latin typeface="Calibir"/>
              </a:rPr>
              <a:t>gallery images</a:t>
            </a:r>
          </a:p>
        </p:txBody>
      </p:sp>
      <p:sp>
        <p:nvSpPr>
          <p:cNvPr id="3" name="TextBox 2">
            <a:extLst>
              <a:ext uri="{FF2B5EF4-FFF2-40B4-BE49-F238E27FC236}">
                <a16:creationId xmlns:a16="http://schemas.microsoft.com/office/drawing/2014/main" id="{55C81BDD-A5F8-3674-C352-24090677DF57}"/>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7340712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6298F-76B2-98A2-5A6E-29A0B8D4E8C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DF6E242-3929-5970-F13B-B3A6D3A68E17}"/>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7B2CC412-749F-B77F-DCCF-DAAF73D288B3}"/>
              </a:ext>
            </a:extLst>
          </p:cNvPr>
          <p:cNvSpPr txBox="1"/>
          <p:nvPr/>
        </p:nvSpPr>
        <p:spPr>
          <a:xfrm>
            <a:off x="94593" y="1800413"/>
            <a:ext cx="11409149" cy="4549835"/>
          </a:xfrm>
          <a:prstGeom prst="rect">
            <a:avLst/>
          </a:prstGeom>
          <a:noFill/>
        </p:spPr>
        <p:txBody>
          <a:bodyPr wrap="square" rtlCol="0">
            <a:spAutoFit/>
          </a:bodyPr>
          <a:lstStyle/>
          <a:p>
            <a:pPr>
              <a:lnSpc>
                <a:spcPct val="150000"/>
              </a:lnSpc>
            </a:pPr>
            <a:r>
              <a:rPr lang="en-US" sz="2800" b="1" dirty="0">
                <a:latin typeface="Calibir"/>
              </a:rPr>
              <a:t>Hint for Students</a:t>
            </a:r>
          </a:p>
          <a:p>
            <a:pPr>
              <a:lnSpc>
                <a:spcPct val="150000"/>
              </a:lnSpc>
            </a:pPr>
            <a:r>
              <a:rPr lang="en-US" sz="2800" dirty="0">
                <a:latin typeface="Calibir"/>
              </a:rPr>
              <a:t>Example:</a:t>
            </a:r>
          </a:p>
          <a:p>
            <a:pPr>
              <a:lnSpc>
                <a:spcPct val="150000"/>
              </a:lnSpc>
            </a:pPr>
            <a:r>
              <a:rPr lang="en-US" sz="2800" dirty="0">
                <a:highlight>
                  <a:srgbClr val="FFFF00"/>
                </a:highlight>
                <a:latin typeface="Calibir"/>
              </a:rPr>
              <a:t>&lt;</a:t>
            </a:r>
            <a:r>
              <a:rPr lang="en-US" sz="2800" dirty="0" err="1">
                <a:highlight>
                  <a:srgbClr val="FFFF00"/>
                </a:highlight>
                <a:latin typeface="Calibir"/>
              </a:rPr>
              <a:t>img</a:t>
            </a:r>
            <a:r>
              <a:rPr lang="en-US" sz="2800" dirty="0">
                <a:highlight>
                  <a:srgbClr val="FFFF00"/>
                </a:highlight>
                <a:latin typeface="Calibir"/>
              </a:rPr>
              <a:t> </a:t>
            </a:r>
            <a:r>
              <a:rPr lang="en-US" sz="2800" dirty="0" err="1">
                <a:highlight>
                  <a:srgbClr val="FFFF00"/>
                </a:highlight>
                <a:latin typeface="Calibir"/>
              </a:rPr>
              <a:t>src</a:t>
            </a:r>
            <a:r>
              <a:rPr lang="en-US" sz="2800" dirty="0">
                <a:highlight>
                  <a:srgbClr val="FFFF00"/>
                </a:highlight>
                <a:latin typeface="Calibir"/>
              </a:rPr>
              <a:t>="images/coffee.jpg" alt="Fresh coffee served at Sunrise Café"&gt;</a:t>
            </a:r>
          </a:p>
          <a:p>
            <a:pPr>
              <a:lnSpc>
                <a:spcPct val="150000"/>
              </a:lnSpc>
            </a:pPr>
            <a:r>
              <a:rPr lang="en-US" sz="2800" dirty="0">
                <a:latin typeface="Calibir"/>
              </a:rPr>
              <a:t>Students should:</a:t>
            </a:r>
          </a:p>
          <a:p>
            <a:pPr marL="914400" lvl="1" indent="-457200">
              <a:lnSpc>
                <a:spcPct val="150000"/>
              </a:lnSpc>
              <a:buFont typeface="Arial" panose="020B0604020202020204" pitchFamily="34" charset="0"/>
              <a:buChar char="•"/>
            </a:pPr>
            <a:r>
              <a:rPr lang="en-US" sz="2800" dirty="0">
                <a:latin typeface="Calibir"/>
              </a:rPr>
              <a:t>always use alt </a:t>
            </a:r>
          </a:p>
          <a:p>
            <a:pPr marL="914400" lvl="1" indent="-457200">
              <a:lnSpc>
                <a:spcPct val="150000"/>
              </a:lnSpc>
              <a:buFont typeface="Arial" panose="020B0604020202020204" pitchFamily="34" charset="0"/>
              <a:buChar char="•"/>
            </a:pPr>
            <a:r>
              <a:rPr lang="en-US" sz="2800" dirty="0">
                <a:latin typeface="Calibir"/>
              </a:rPr>
              <a:t>resize large images </a:t>
            </a:r>
          </a:p>
          <a:p>
            <a:pPr marL="914400" lvl="1" indent="-457200">
              <a:lnSpc>
                <a:spcPct val="150000"/>
              </a:lnSpc>
              <a:buFont typeface="Arial" panose="020B0604020202020204" pitchFamily="34" charset="0"/>
              <a:buChar char="•"/>
            </a:pPr>
            <a:r>
              <a:rPr lang="en-US" sz="2800" dirty="0">
                <a:latin typeface="Calibir"/>
              </a:rPr>
              <a:t>use royalty-free images </a:t>
            </a:r>
          </a:p>
        </p:txBody>
      </p:sp>
      <p:sp>
        <p:nvSpPr>
          <p:cNvPr id="3" name="TextBox 2">
            <a:extLst>
              <a:ext uri="{FF2B5EF4-FFF2-40B4-BE49-F238E27FC236}">
                <a16:creationId xmlns:a16="http://schemas.microsoft.com/office/drawing/2014/main" id="{A059B1D8-DC2E-0A7F-B244-B3658F79349F}"/>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502123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E8C36-4A0A-6B20-8339-D512E3C2397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6924393-58D7-C032-396B-151773CE0898}"/>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50597BF0-8E21-F461-B115-4C2D87E97362}"/>
              </a:ext>
            </a:extLst>
          </p:cNvPr>
          <p:cNvSpPr txBox="1"/>
          <p:nvPr/>
        </p:nvSpPr>
        <p:spPr>
          <a:xfrm>
            <a:off x="94593" y="1800413"/>
            <a:ext cx="11409149" cy="4549835"/>
          </a:xfrm>
          <a:prstGeom prst="rect">
            <a:avLst/>
          </a:prstGeom>
          <a:noFill/>
        </p:spPr>
        <p:txBody>
          <a:bodyPr wrap="square" rtlCol="0">
            <a:spAutoFit/>
          </a:bodyPr>
          <a:lstStyle/>
          <a:p>
            <a:pPr>
              <a:lnSpc>
                <a:spcPct val="150000"/>
              </a:lnSpc>
            </a:pPr>
            <a:r>
              <a:rPr lang="en-US" sz="2800" b="1" dirty="0">
                <a:latin typeface="Calibir"/>
              </a:rPr>
              <a:t>What to Avoid</a:t>
            </a:r>
          </a:p>
          <a:p>
            <a:pPr marL="914400" lvl="1" indent="-457200">
              <a:lnSpc>
                <a:spcPct val="150000"/>
              </a:lnSpc>
              <a:buFont typeface="Arial" panose="020B0604020202020204" pitchFamily="34" charset="0"/>
              <a:buChar char="•"/>
            </a:pPr>
            <a:r>
              <a:rPr lang="en-US" sz="2800" dirty="0">
                <a:latin typeface="Calibir"/>
              </a:rPr>
              <a:t>huge image files </a:t>
            </a:r>
          </a:p>
          <a:p>
            <a:pPr marL="914400" lvl="1" indent="-457200">
              <a:lnSpc>
                <a:spcPct val="150000"/>
              </a:lnSpc>
              <a:buFont typeface="Arial" panose="020B0604020202020204" pitchFamily="34" charset="0"/>
              <a:buChar char="•"/>
            </a:pPr>
            <a:r>
              <a:rPr lang="en-US" sz="2800" dirty="0">
                <a:latin typeface="Calibir"/>
              </a:rPr>
              <a:t>missing alt </a:t>
            </a:r>
          </a:p>
          <a:p>
            <a:pPr marL="914400" lvl="1" indent="-457200">
              <a:lnSpc>
                <a:spcPct val="150000"/>
              </a:lnSpc>
              <a:buFont typeface="Arial" panose="020B0604020202020204" pitchFamily="34" charset="0"/>
              <a:buChar char="•"/>
            </a:pPr>
            <a:r>
              <a:rPr lang="en-US" sz="2800" dirty="0">
                <a:latin typeface="Calibir"/>
              </a:rPr>
              <a:t>random internet images without permission </a:t>
            </a:r>
          </a:p>
          <a:p>
            <a:pPr>
              <a:lnSpc>
                <a:spcPct val="150000"/>
              </a:lnSpc>
            </a:pPr>
            <a:r>
              <a:rPr lang="en-US" sz="2800" b="1" dirty="0">
                <a:latin typeface="Calibir"/>
              </a:rPr>
              <a:t>What to Submit</a:t>
            </a:r>
          </a:p>
          <a:p>
            <a:pPr marL="914400" lvl="1" indent="-457200">
              <a:lnSpc>
                <a:spcPct val="150000"/>
              </a:lnSpc>
              <a:buFont typeface="Arial" panose="020B0604020202020204" pitchFamily="34" charset="0"/>
              <a:buChar char="•"/>
            </a:pPr>
            <a:r>
              <a:rPr lang="en-US" sz="2800" dirty="0">
                <a:latin typeface="Calibir"/>
              </a:rPr>
              <a:t>images folder </a:t>
            </a:r>
          </a:p>
          <a:p>
            <a:pPr marL="914400" lvl="1" indent="-457200">
              <a:lnSpc>
                <a:spcPct val="150000"/>
              </a:lnSpc>
              <a:buFont typeface="Arial" panose="020B0604020202020204" pitchFamily="34" charset="0"/>
              <a:buChar char="•"/>
            </a:pPr>
            <a:r>
              <a:rPr lang="en-US" sz="2800" dirty="0">
                <a:latin typeface="Calibir"/>
              </a:rPr>
              <a:t>updated HTML pages</a:t>
            </a:r>
          </a:p>
        </p:txBody>
      </p:sp>
      <p:sp>
        <p:nvSpPr>
          <p:cNvPr id="3" name="TextBox 2">
            <a:extLst>
              <a:ext uri="{FF2B5EF4-FFF2-40B4-BE49-F238E27FC236}">
                <a16:creationId xmlns:a16="http://schemas.microsoft.com/office/drawing/2014/main" id="{08698EE3-9A19-CA8F-CCD1-A75DA951F002}"/>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084520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E222-8C45-E9BA-0C82-E5B2A3F7294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8D7219C-E97D-5D61-0040-9152A84F86A0}"/>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263CE6C4-2FEB-74F5-F06A-C586B23465D7}"/>
              </a:ext>
            </a:extLst>
          </p:cNvPr>
          <p:cNvSpPr txBox="1"/>
          <p:nvPr/>
        </p:nvSpPr>
        <p:spPr>
          <a:xfrm>
            <a:off x="94593" y="1269471"/>
            <a:ext cx="11409149" cy="5196166"/>
          </a:xfrm>
          <a:prstGeom prst="rect">
            <a:avLst/>
          </a:prstGeom>
          <a:noFill/>
        </p:spPr>
        <p:txBody>
          <a:bodyPr wrap="square" rtlCol="0">
            <a:spAutoFit/>
          </a:bodyPr>
          <a:lstStyle/>
          <a:p>
            <a:pPr>
              <a:lnSpc>
                <a:spcPct val="150000"/>
              </a:lnSpc>
            </a:pPr>
            <a:r>
              <a:rPr lang="en-US" sz="2800" b="1" dirty="0">
                <a:latin typeface="Calibir"/>
              </a:rPr>
              <a:t>Task 3 — Create a Hero Section</a:t>
            </a:r>
          </a:p>
          <a:p>
            <a:pPr>
              <a:lnSpc>
                <a:spcPct val="150000"/>
              </a:lnSpc>
            </a:pPr>
            <a:r>
              <a:rPr lang="en-US" sz="2800" b="1" dirty="0">
                <a:latin typeface="Calibir"/>
              </a:rPr>
              <a:t>What Students Should Do</a:t>
            </a:r>
          </a:p>
          <a:p>
            <a:pPr>
              <a:lnSpc>
                <a:spcPct val="150000"/>
              </a:lnSpc>
            </a:pPr>
            <a:r>
              <a:rPr lang="en-US" sz="2800" dirty="0">
                <a:latin typeface="Calibir"/>
              </a:rPr>
              <a:t>Add a large welcome section to homepage.</a:t>
            </a:r>
          </a:p>
          <a:p>
            <a:pPr>
              <a:lnSpc>
                <a:spcPct val="150000"/>
              </a:lnSpc>
            </a:pPr>
            <a:r>
              <a:rPr lang="en-US" sz="2800" b="1" dirty="0">
                <a:latin typeface="Calibir"/>
              </a:rPr>
              <a:t>Example Structure</a:t>
            </a:r>
          </a:p>
          <a:p>
            <a:pPr>
              <a:lnSpc>
                <a:spcPct val="150000"/>
              </a:lnSpc>
            </a:pPr>
            <a:r>
              <a:rPr lang="en-US" sz="2800" dirty="0">
                <a:highlight>
                  <a:srgbClr val="FFFF00"/>
                </a:highlight>
                <a:latin typeface="Calibir"/>
              </a:rPr>
              <a:t>&lt;section class="hero"&gt;</a:t>
            </a:r>
          </a:p>
          <a:p>
            <a:pPr>
              <a:lnSpc>
                <a:spcPct val="150000"/>
              </a:lnSpc>
            </a:pPr>
            <a:r>
              <a:rPr lang="en-US" sz="2800" dirty="0">
                <a:highlight>
                  <a:srgbClr val="FFFF00"/>
                </a:highlight>
                <a:latin typeface="Calibir"/>
              </a:rPr>
              <a:t>    &lt;h2&gt;Start Your Day With Great Coffee&lt;/h2&gt;</a:t>
            </a:r>
          </a:p>
          <a:p>
            <a:pPr>
              <a:lnSpc>
                <a:spcPct val="150000"/>
              </a:lnSpc>
            </a:pPr>
            <a:r>
              <a:rPr lang="en-US" sz="2800" dirty="0">
                <a:highlight>
                  <a:srgbClr val="FFFF00"/>
                </a:highlight>
                <a:latin typeface="Calibir"/>
              </a:rPr>
              <a:t>    &lt;p&gt;Freshly brewed coffee and homemade pastries.&lt;/p&gt;</a:t>
            </a:r>
          </a:p>
          <a:p>
            <a:pPr>
              <a:lnSpc>
                <a:spcPct val="150000"/>
              </a:lnSpc>
            </a:pPr>
            <a:r>
              <a:rPr lang="en-US" sz="2800" dirty="0">
                <a:highlight>
                  <a:srgbClr val="FFFF00"/>
                </a:highlight>
                <a:latin typeface="Calibir"/>
              </a:rPr>
              <a:t>&lt;/section&gt;</a:t>
            </a:r>
          </a:p>
        </p:txBody>
      </p:sp>
      <p:sp>
        <p:nvSpPr>
          <p:cNvPr id="3" name="TextBox 2">
            <a:extLst>
              <a:ext uri="{FF2B5EF4-FFF2-40B4-BE49-F238E27FC236}">
                <a16:creationId xmlns:a16="http://schemas.microsoft.com/office/drawing/2014/main" id="{9C20EFC4-5115-9FB9-B512-0EAAF4CEE31D}"/>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7239372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0F8C5-B765-08A1-500C-DE3FB2233CF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9135607-01FA-25D1-D8C1-59A1E6EEF7AF}"/>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991A3E97-09CC-875A-752F-31E21A7C2EF4}"/>
              </a:ext>
            </a:extLst>
          </p:cNvPr>
          <p:cNvSpPr txBox="1"/>
          <p:nvPr/>
        </p:nvSpPr>
        <p:spPr>
          <a:xfrm>
            <a:off x="94593" y="1269471"/>
            <a:ext cx="11409149" cy="3903504"/>
          </a:xfrm>
          <a:prstGeom prst="rect">
            <a:avLst/>
          </a:prstGeom>
          <a:noFill/>
        </p:spPr>
        <p:txBody>
          <a:bodyPr wrap="square" rtlCol="0">
            <a:spAutoFit/>
          </a:bodyPr>
          <a:lstStyle/>
          <a:p>
            <a:pPr>
              <a:lnSpc>
                <a:spcPct val="150000"/>
              </a:lnSpc>
            </a:pPr>
            <a:r>
              <a:rPr lang="en-US" sz="2800" dirty="0">
                <a:latin typeface="Calibir"/>
              </a:rPr>
              <a:t>CSS Hint</a:t>
            </a:r>
          </a:p>
          <a:p>
            <a:pPr>
              <a:lnSpc>
                <a:spcPct val="150000"/>
              </a:lnSpc>
            </a:pPr>
            <a:r>
              <a:rPr lang="en-US" sz="2800" dirty="0">
                <a:highlight>
                  <a:srgbClr val="FFFF00"/>
                </a:highlight>
                <a:latin typeface="Calibir"/>
              </a:rPr>
              <a:t>.hero {</a:t>
            </a:r>
          </a:p>
          <a:p>
            <a:pPr>
              <a:lnSpc>
                <a:spcPct val="150000"/>
              </a:lnSpc>
            </a:pPr>
            <a:r>
              <a:rPr lang="en-US" sz="2800" dirty="0">
                <a:highlight>
                  <a:srgbClr val="FFFF00"/>
                </a:highlight>
                <a:latin typeface="Calibir"/>
              </a:rPr>
              <a:t>    background-color: #e8d8c4;</a:t>
            </a:r>
          </a:p>
          <a:p>
            <a:pPr>
              <a:lnSpc>
                <a:spcPct val="150000"/>
              </a:lnSpc>
            </a:pPr>
            <a:r>
              <a:rPr lang="en-US" sz="2800" dirty="0">
                <a:highlight>
                  <a:srgbClr val="FFFF00"/>
                </a:highlight>
                <a:latin typeface="Calibir"/>
              </a:rPr>
              <a:t>    padding: 40px;</a:t>
            </a:r>
          </a:p>
          <a:p>
            <a:pPr>
              <a:lnSpc>
                <a:spcPct val="150000"/>
              </a:lnSpc>
            </a:pPr>
            <a:r>
              <a:rPr lang="en-US" sz="2800" dirty="0">
                <a:highlight>
                  <a:srgbClr val="FFFF00"/>
                </a:highlight>
                <a:latin typeface="Calibir"/>
              </a:rPr>
              <a:t>    text-align: center;</a:t>
            </a:r>
          </a:p>
          <a:p>
            <a:pPr>
              <a:lnSpc>
                <a:spcPct val="150000"/>
              </a:lnSpc>
            </a:pPr>
            <a:r>
              <a:rPr lang="en-US" sz="2800" dirty="0">
                <a:highlight>
                  <a:srgbClr val="FFFF00"/>
                </a:highlight>
                <a:latin typeface="Calibir"/>
              </a:rPr>
              <a:t>}</a:t>
            </a:r>
          </a:p>
        </p:txBody>
      </p:sp>
      <p:sp>
        <p:nvSpPr>
          <p:cNvPr id="3" name="TextBox 2">
            <a:extLst>
              <a:ext uri="{FF2B5EF4-FFF2-40B4-BE49-F238E27FC236}">
                <a16:creationId xmlns:a16="http://schemas.microsoft.com/office/drawing/2014/main" id="{7FBCA17B-53BA-4A21-6BCB-E3F13C3C054C}"/>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8086584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FB2A0-7694-A616-773E-EECFCA1D2DC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A90F6CD-240E-505E-256A-22C766EDC6B0}"/>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A09F2E63-6C13-9648-0FFD-F36F532EDF2C}"/>
              </a:ext>
            </a:extLst>
          </p:cNvPr>
          <p:cNvSpPr txBox="1"/>
          <p:nvPr/>
        </p:nvSpPr>
        <p:spPr>
          <a:xfrm>
            <a:off x="94593" y="1269471"/>
            <a:ext cx="11409149" cy="2610843"/>
          </a:xfrm>
          <a:prstGeom prst="rect">
            <a:avLst/>
          </a:prstGeom>
          <a:noFill/>
        </p:spPr>
        <p:txBody>
          <a:bodyPr wrap="square" rtlCol="0">
            <a:spAutoFit/>
          </a:bodyPr>
          <a:lstStyle/>
          <a:p>
            <a:pPr>
              <a:lnSpc>
                <a:spcPct val="150000"/>
              </a:lnSpc>
            </a:pPr>
            <a:r>
              <a:rPr lang="en-US" sz="2800" b="1" dirty="0">
                <a:latin typeface="Calibir"/>
              </a:rPr>
              <a:t>What to Avoid</a:t>
            </a:r>
          </a:p>
          <a:p>
            <a:pPr marL="914400" lvl="1" indent="-457200">
              <a:lnSpc>
                <a:spcPct val="150000"/>
              </a:lnSpc>
              <a:buFont typeface="Arial" panose="020B0604020202020204" pitchFamily="34" charset="0"/>
              <a:buChar char="•"/>
            </a:pPr>
            <a:r>
              <a:rPr lang="en-US" sz="2800" dirty="0">
                <a:latin typeface="Calibir"/>
              </a:rPr>
              <a:t>too much text </a:t>
            </a:r>
          </a:p>
          <a:p>
            <a:pPr marL="914400" lvl="1" indent="-457200">
              <a:lnSpc>
                <a:spcPct val="150000"/>
              </a:lnSpc>
              <a:buFont typeface="Arial" panose="020B0604020202020204" pitchFamily="34" charset="0"/>
              <a:buChar char="•"/>
            </a:pPr>
            <a:r>
              <a:rPr lang="en-US" sz="2800" dirty="0">
                <a:latin typeface="Calibir"/>
              </a:rPr>
              <a:t>oversized headings </a:t>
            </a:r>
          </a:p>
          <a:p>
            <a:pPr marL="914400" lvl="1" indent="-457200">
              <a:lnSpc>
                <a:spcPct val="150000"/>
              </a:lnSpc>
              <a:buFont typeface="Arial" panose="020B0604020202020204" pitchFamily="34" charset="0"/>
              <a:buChar char="•"/>
            </a:pPr>
            <a:r>
              <a:rPr lang="en-US" sz="2800" dirty="0">
                <a:latin typeface="Calibir"/>
              </a:rPr>
              <a:t>bright unreadable </a:t>
            </a:r>
            <a:r>
              <a:rPr lang="en-US" sz="2800" dirty="0" err="1">
                <a:latin typeface="Calibir"/>
              </a:rPr>
              <a:t>colours</a:t>
            </a:r>
            <a:r>
              <a:rPr lang="en-US" sz="2800" dirty="0">
                <a:latin typeface="Calibir"/>
              </a:rPr>
              <a:t> </a:t>
            </a:r>
          </a:p>
        </p:txBody>
      </p:sp>
      <p:sp>
        <p:nvSpPr>
          <p:cNvPr id="3" name="TextBox 2">
            <a:extLst>
              <a:ext uri="{FF2B5EF4-FFF2-40B4-BE49-F238E27FC236}">
                <a16:creationId xmlns:a16="http://schemas.microsoft.com/office/drawing/2014/main" id="{FD2DE564-33F3-65AB-999A-2B23DBBD0D3D}"/>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038630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DCBBC-EAED-68F1-0321-6F3DCCC32B3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B575562-D736-828D-2CFE-5B63A7036A8A}"/>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115B988A-319F-57C7-5C9A-6A64D756C702}"/>
              </a:ext>
            </a:extLst>
          </p:cNvPr>
          <p:cNvSpPr txBox="1"/>
          <p:nvPr/>
        </p:nvSpPr>
        <p:spPr>
          <a:xfrm>
            <a:off x="94593" y="1269471"/>
            <a:ext cx="11409149" cy="3903504"/>
          </a:xfrm>
          <a:prstGeom prst="rect">
            <a:avLst/>
          </a:prstGeom>
          <a:noFill/>
        </p:spPr>
        <p:txBody>
          <a:bodyPr wrap="square" rtlCol="0">
            <a:spAutoFit/>
          </a:bodyPr>
          <a:lstStyle/>
          <a:p>
            <a:pPr>
              <a:lnSpc>
                <a:spcPct val="150000"/>
              </a:lnSpc>
            </a:pPr>
            <a:r>
              <a:rPr lang="en-US" sz="2800" b="1" dirty="0">
                <a:latin typeface="Calibir"/>
              </a:rPr>
              <a:t>Task 4 — Improve Navigation Styling</a:t>
            </a:r>
          </a:p>
          <a:p>
            <a:pPr>
              <a:lnSpc>
                <a:spcPct val="150000"/>
              </a:lnSpc>
            </a:pPr>
            <a:r>
              <a:rPr lang="en-US" sz="2800" b="1" dirty="0">
                <a:latin typeface="Calibir"/>
              </a:rPr>
              <a:t>What Students Should Do</a:t>
            </a:r>
          </a:p>
          <a:p>
            <a:pPr>
              <a:lnSpc>
                <a:spcPct val="150000"/>
              </a:lnSpc>
            </a:pPr>
            <a:r>
              <a:rPr lang="en-US" sz="2800" dirty="0">
                <a:latin typeface="Calibir"/>
              </a:rPr>
              <a:t>Improve menu appearance:</a:t>
            </a:r>
          </a:p>
          <a:p>
            <a:pPr marL="914400" lvl="1" indent="-457200">
              <a:lnSpc>
                <a:spcPct val="150000"/>
              </a:lnSpc>
              <a:buFont typeface="Arial" panose="020B0604020202020204" pitchFamily="34" charset="0"/>
              <a:buChar char="•"/>
            </a:pPr>
            <a:r>
              <a:rPr lang="en-US" sz="2800" dirty="0">
                <a:latin typeface="Calibir"/>
              </a:rPr>
              <a:t>spacing </a:t>
            </a:r>
          </a:p>
          <a:p>
            <a:pPr marL="914400" lvl="1" indent="-457200">
              <a:lnSpc>
                <a:spcPct val="150000"/>
              </a:lnSpc>
              <a:buFont typeface="Arial" panose="020B0604020202020204" pitchFamily="34" charset="0"/>
              <a:buChar char="•"/>
            </a:pPr>
            <a:r>
              <a:rPr lang="en-US" sz="2800" dirty="0">
                <a:latin typeface="Calibir"/>
              </a:rPr>
              <a:t>hover effect </a:t>
            </a:r>
          </a:p>
          <a:p>
            <a:pPr marL="914400" lvl="1" indent="-457200">
              <a:lnSpc>
                <a:spcPct val="150000"/>
              </a:lnSpc>
              <a:buFont typeface="Arial" panose="020B0604020202020204" pitchFamily="34" charset="0"/>
              <a:buChar char="•"/>
            </a:pPr>
            <a:r>
              <a:rPr lang="en-US" sz="2800" dirty="0">
                <a:latin typeface="Calibir"/>
              </a:rPr>
              <a:t>alignment</a:t>
            </a:r>
          </a:p>
        </p:txBody>
      </p:sp>
      <p:sp>
        <p:nvSpPr>
          <p:cNvPr id="3" name="TextBox 2">
            <a:extLst>
              <a:ext uri="{FF2B5EF4-FFF2-40B4-BE49-F238E27FC236}">
                <a16:creationId xmlns:a16="http://schemas.microsoft.com/office/drawing/2014/main" id="{5CC937F8-1794-2EAF-1548-BEA53A2D25E5}"/>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6916780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96E4A-46E9-6F68-11D0-2CBEAC8E3E9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DC0AC2A-6606-08B5-EBED-4F3C2EECC1DF}"/>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BF6AE3ED-54A3-BF26-FD51-CCE81A61A590}"/>
              </a:ext>
            </a:extLst>
          </p:cNvPr>
          <p:cNvSpPr txBox="1"/>
          <p:nvPr/>
        </p:nvSpPr>
        <p:spPr>
          <a:xfrm>
            <a:off x="94593" y="538609"/>
            <a:ext cx="11409149" cy="2614434"/>
          </a:xfrm>
          <a:prstGeom prst="rect">
            <a:avLst/>
          </a:prstGeom>
          <a:noFill/>
        </p:spPr>
        <p:txBody>
          <a:bodyPr wrap="square" rtlCol="0">
            <a:spAutoFit/>
          </a:bodyPr>
          <a:lstStyle/>
          <a:p>
            <a:pPr>
              <a:lnSpc>
                <a:spcPct val="150000"/>
              </a:lnSpc>
            </a:pPr>
            <a:r>
              <a:rPr lang="en-US" sz="2800" dirty="0">
                <a:latin typeface="Calibir"/>
              </a:rPr>
              <a:t>Example Hint</a:t>
            </a:r>
          </a:p>
          <a:p>
            <a:pPr>
              <a:lnSpc>
                <a:spcPct val="150000"/>
              </a:lnSpc>
            </a:pPr>
            <a:r>
              <a:rPr lang="en-US" sz="2800" dirty="0">
                <a:highlight>
                  <a:srgbClr val="FFFF00"/>
                </a:highlight>
                <a:latin typeface="Calibir"/>
              </a:rPr>
              <a:t>nav a:hover {</a:t>
            </a:r>
            <a:br>
              <a:rPr lang="en-US" sz="2800" dirty="0">
                <a:highlight>
                  <a:srgbClr val="FFFF00"/>
                </a:highlight>
                <a:latin typeface="Calibir"/>
              </a:rPr>
            </a:br>
            <a:r>
              <a:rPr lang="en-US" sz="2800" dirty="0">
                <a:highlight>
                  <a:srgbClr val="FFFF00"/>
                </a:highlight>
                <a:latin typeface="Calibir"/>
              </a:rPr>
              <a:t>background-color: #777;</a:t>
            </a:r>
            <a:br>
              <a:rPr lang="en-US" sz="2800" dirty="0">
                <a:highlight>
                  <a:srgbClr val="FFFF00"/>
                </a:highlight>
                <a:latin typeface="Calibir"/>
              </a:rPr>
            </a:br>
            <a:r>
              <a:rPr lang="en-US" sz="2800" dirty="0">
                <a:highlight>
                  <a:srgbClr val="FFFF00"/>
                </a:highlight>
                <a:latin typeface="Calibir"/>
              </a:rPr>
              <a:t>}</a:t>
            </a:r>
          </a:p>
        </p:txBody>
      </p:sp>
      <p:sp>
        <p:nvSpPr>
          <p:cNvPr id="3" name="TextBox 2">
            <a:extLst>
              <a:ext uri="{FF2B5EF4-FFF2-40B4-BE49-F238E27FC236}">
                <a16:creationId xmlns:a16="http://schemas.microsoft.com/office/drawing/2014/main" id="{C2B8F5B0-1E47-568F-BB28-D8FFC9BEC67E}"/>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
        <p:nvSpPr>
          <p:cNvPr id="5" name="TextBox 4">
            <a:extLst>
              <a:ext uri="{FF2B5EF4-FFF2-40B4-BE49-F238E27FC236}">
                <a16:creationId xmlns:a16="http://schemas.microsoft.com/office/drawing/2014/main" id="{FB654DD9-80C3-68E7-3A43-9A621D1CB92D}"/>
              </a:ext>
            </a:extLst>
          </p:cNvPr>
          <p:cNvSpPr txBox="1"/>
          <p:nvPr/>
        </p:nvSpPr>
        <p:spPr>
          <a:xfrm>
            <a:off x="94593" y="3691652"/>
            <a:ext cx="6120580" cy="2610843"/>
          </a:xfrm>
          <a:prstGeom prst="rect">
            <a:avLst/>
          </a:prstGeom>
          <a:noFill/>
        </p:spPr>
        <p:txBody>
          <a:bodyPr wrap="square">
            <a:spAutoFit/>
          </a:bodyPr>
          <a:lstStyle/>
          <a:p>
            <a:pPr>
              <a:lnSpc>
                <a:spcPct val="150000"/>
              </a:lnSpc>
              <a:buNone/>
            </a:pPr>
            <a:r>
              <a:rPr lang="en-US" sz="2800" b="1" dirty="0">
                <a:latin typeface="Calibir"/>
              </a:rPr>
              <a:t>What to Avoid</a:t>
            </a:r>
          </a:p>
          <a:p>
            <a:pPr marL="914400" lvl="1" indent="-457200">
              <a:lnSpc>
                <a:spcPct val="150000"/>
              </a:lnSpc>
              <a:buFont typeface="Arial" panose="020B0604020202020204" pitchFamily="34" charset="0"/>
              <a:buChar char="•"/>
            </a:pPr>
            <a:r>
              <a:rPr lang="en-US" sz="2800" dirty="0">
                <a:latin typeface="Calibir"/>
              </a:rPr>
              <a:t>links too close together </a:t>
            </a:r>
          </a:p>
          <a:p>
            <a:pPr marL="914400" lvl="1" indent="-457200">
              <a:lnSpc>
                <a:spcPct val="150000"/>
              </a:lnSpc>
              <a:buFont typeface="Arial" panose="020B0604020202020204" pitchFamily="34" charset="0"/>
              <a:buChar char="•"/>
            </a:pPr>
            <a:r>
              <a:rPr lang="en-US" sz="2800" dirty="0">
                <a:latin typeface="Calibir"/>
              </a:rPr>
              <a:t>inconsistent </a:t>
            </a:r>
            <a:r>
              <a:rPr lang="en-US" sz="2800" dirty="0" err="1">
                <a:latin typeface="Calibir"/>
              </a:rPr>
              <a:t>colours</a:t>
            </a:r>
            <a:r>
              <a:rPr lang="en-US" sz="2800" dirty="0">
                <a:latin typeface="Calibir"/>
              </a:rPr>
              <a:t> </a:t>
            </a:r>
          </a:p>
          <a:p>
            <a:pPr marL="914400" lvl="1" indent="-457200">
              <a:lnSpc>
                <a:spcPct val="150000"/>
              </a:lnSpc>
              <a:buFont typeface="Arial" panose="020B0604020202020204" pitchFamily="34" charset="0"/>
              <a:buChar char="•"/>
            </a:pPr>
            <a:r>
              <a:rPr lang="en-US" sz="2800" dirty="0">
                <a:latin typeface="Calibir"/>
              </a:rPr>
              <a:t>unreadable text</a:t>
            </a:r>
          </a:p>
        </p:txBody>
      </p:sp>
    </p:spTree>
    <p:extLst>
      <p:ext uri="{BB962C8B-B14F-4D97-AF65-F5344CB8AC3E}">
        <p14:creationId xmlns:p14="http://schemas.microsoft.com/office/powerpoint/2010/main" val="24655578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6D2F9-3A6A-428C-BF69-2FB06A01674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35E6490-5DBA-901F-1EBA-232BC020334B}"/>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B19CDFE5-33CA-D5B9-8B1B-95446B04C08D}"/>
              </a:ext>
            </a:extLst>
          </p:cNvPr>
          <p:cNvSpPr txBox="1"/>
          <p:nvPr/>
        </p:nvSpPr>
        <p:spPr>
          <a:xfrm>
            <a:off x="94593" y="538609"/>
            <a:ext cx="11409149" cy="3903504"/>
          </a:xfrm>
          <a:prstGeom prst="rect">
            <a:avLst/>
          </a:prstGeom>
          <a:noFill/>
        </p:spPr>
        <p:txBody>
          <a:bodyPr wrap="square" rtlCol="0">
            <a:spAutoFit/>
          </a:bodyPr>
          <a:lstStyle/>
          <a:p>
            <a:pPr>
              <a:lnSpc>
                <a:spcPct val="150000"/>
              </a:lnSpc>
            </a:pPr>
            <a:r>
              <a:rPr lang="en-US" sz="2800" b="1" dirty="0">
                <a:latin typeface="Calibir"/>
              </a:rPr>
              <a:t>Task 5 — Build a Menu Layout</a:t>
            </a:r>
          </a:p>
          <a:p>
            <a:pPr>
              <a:lnSpc>
                <a:spcPct val="150000"/>
              </a:lnSpc>
            </a:pPr>
            <a:r>
              <a:rPr lang="en-US" sz="2800" b="1" dirty="0">
                <a:latin typeface="Calibir"/>
              </a:rPr>
              <a:t>What Students Should Do</a:t>
            </a:r>
          </a:p>
          <a:p>
            <a:pPr>
              <a:lnSpc>
                <a:spcPct val="150000"/>
              </a:lnSpc>
            </a:pPr>
            <a:r>
              <a:rPr lang="en-US" sz="2800" dirty="0">
                <a:latin typeface="Calibir"/>
              </a:rPr>
              <a:t>Create a simple café menu using:</a:t>
            </a:r>
          </a:p>
          <a:p>
            <a:pPr marL="914400" lvl="1" indent="-457200">
              <a:lnSpc>
                <a:spcPct val="150000"/>
              </a:lnSpc>
              <a:buFont typeface="Arial" panose="020B0604020202020204" pitchFamily="34" charset="0"/>
              <a:buChar char="•"/>
            </a:pPr>
            <a:r>
              <a:rPr lang="en-US" sz="2800" dirty="0">
                <a:latin typeface="Calibir"/>
              </a:rPr>
              <a:t>headings </a:t>
            </a:r>
          </a:p>
          <a:p>
            <a:pPr marL="914400" lvl="1" indent="-457200">
              <a:lnSpc>
                <a:spcPct val="150000"/>
              </a:lnSpc>
              <a:buFont typeface="Arial" panose="020B0604020202020204" pitchFamily="34" charset="0"/>
              <a:buChar char="•"/>
            </a:pPr>
            <a:r>
              <a:rPr lang="en-US" sz="2800" dirty="0">
                <a:latin typeface="Calibir"/>
              </a:rPr>
              <a:t>paragraphs </a:t>
            </a:r>
          </a:p>
          <a:p>
            <a:pPr marL="914400" lvl="1" indent="-457200">
              <a:lnSpc>
                <a:spcPct val="150000"/>
              </a:lnSpc>
              <a:buFont typeface="Arial" panose="020B0604020202020204" pitchFamily="34" charset="0"/>
              <a:buChar char="•"/>
            </a:pPr>
            <a:r>
              <a:rPr lang="en-US" sz="2800" dirty="0">
                <a:latin typeface="Calibir"/>
              </a:rPr>
              <a:t>prices</a:t>
            </a:r>
          </a:p>
        </p:txBody>
      </p:sp>
      <p:sp>
        <p:nvSpPr>
          <p:cNvPr id="3" name="TextBox 2">
            <a:extLst>
              <a:ext uri="{FF2B5EF4-FFF2-40B4-BE49-F238E27FC236}">
                <a16:creationId xmlns:a16="http://schemas.microsoft.com/office/drawing/2014/main" id="{D8371B7A-E9F3-B5B0-C1D9-67D8D7EAB83B}"/>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89002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4FC74-5504-D05A-6A37-E900FFA288B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FBFA93A-9E22-28FF-5004-01E2E44372FD}"/>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A136FC8D-3525-D487-17E4-6243E1A7964B}"/>
              </a:ext>
            </a:extLst>
          </p:cNvPr>
          <p:cNvSpPr txBox="1"/>
          <p:nvPr/>
        </p:nvSpPr>
        <p:spPr>
          <a:xfrm>
            <a:off x="94593" y="538609"/>
            <a:ext cx="11409149" cy="3257174"/>
          </a:xfrm>
          <a:prstGeom prst="rect">
            <a:avLst/>
          </a:prstGeom>
          <a:noFill/>
        </p:spPr>
        <p:txBody>
          <a:bodyPr wrap="square" rtlCol="0">
            <a:spAutoFit/>
          </a:bodyPr>
          <a:lstStyle/>
          <a:p>
            <a:pPr>
              <a:lnSpc>
                <a:spcPct val="150000"/>
              </a:lnSpc>
            </a:pPr>
            <a:r>
              <a:rPr lang="en-US" sz="2800" dirty="0">
                <a:latin typeface="Calibir"/>
              </a:rPr>
              <a:t>Example Hint</a:t>
            </a:r>
          </a:p>
          <a:p>
            <a:pPr>
              <a:lnSpc>
                <a:spcPct val="150000"/>
              </a:lnSpc>
            </a:pPr>
            <a:r>
              <a:rPr lang="fr-FR" sz="2800" dirty="0">
                <a:highlight>
                  <a:srgbClr val="FFFF00"/>
                </a:highlight>
                <a:latin typeface="Calibir"/>
              </a:rPr>
              <a:t>&lt;section&gt;</a:t>
            </a:r>
          </a:p>
          <a:p>
            <a:pPr>
              <a:lnSpc>
                <a:spcPct val="150000"/>
              </a:lnSpc>
            </a:pPr>
            <a:r>
              <a:rPr lang="fr-FR" sz="2800" dirty="0">
                <a:highlight>
                  <a:srgbClr val="FFFF00"/>
                </a:highlight>
                <a:latin typeface="Calibir"/>
              </a:rPr>
              <a:t>    &lt;h3&gt;Cappuccino&lt;/h3&gt;</a:t>
            </a:r>
          </a:p>
          <a:p>
            <a:pPr>
              <a:lnSpc>
                <a:spcPct val="150000"/>
              </a:lnSpc>
            </a:pPr>
            <a:r>
              <a:rPr lang="fr-FR" sz="2800" dirty="0">
                <a:highlight>
                  <a:srgbClr val="FFFF00"/>
                </a:highlight>
                <a:latin typeface="Calibir"/>
              </a:rPr>
              <a:t>    &lt;p&gt;$5.50&lt;/p&gt;</a:t>
            </a:r>
          </a:p>
          <a:p>
            <a:pPr>
              <a:lnSpc>
                <a:spcPct val="150000"/>
              </a:lnSpc>
            </a:pPr>
            <a:r>
              <a:rPr lang="fr-FR" sz="2800" dirty="0">
                <a:highlight>
                  <a:srgbClr val="FFFF00"/>
                </a:highlight>
                <a:latin typeface="Calibir"/>
              </a:rPr>
              <a:t>&lt;/section&gt;</a:t>
            </a:r>
            <a:endParaRPr lang="en-US" sz="2800" dirty="0">
              <a:highlight>
                <a:srgbClr val="FFFF00"/>
              </a:highlight>
              <a:latin typeface="Calibir"/>
            </a:endParaRPr>
          </a:p>
        </p:txBody>
      </p:sp>
      <p:sp>
        <p:nvSpPr>
          <p:cNvPr id="3" name="TextBox 2">
            <a:extLst>
              <a:ext uri="{FF2B5EF4-FFF2-40B4-BE49-F238E27FC236}">
                <a16:creationId xmlns:a16="http://schemas.microsoft.com/office/drawing/2014/main" id="{D4E462ED-16CB-AE2C-1FAC-3068FF68097A}"/>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42819941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581C0-DE76-69BB-6449-7ABF6EA3561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0BA6F7E-E5B9-AF56-D427-13F4D4C8C02F}"/>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6F3F21F9-B7F1-0EB1-CA3D-8D9979C3AC02}"/>
              </a:ext>
            </a:extLst>
          </p:cNvPr>
          <p:cNvSpPr txBox="1"/>
          <p:nvPr/>
        </p:nvSpPr>
        <p:spPr>
          <a:xfrm>
            <a:off x="94593" y="538609"/>
            <a:ext cx="11409149" cy="4549835"/>
          </a:xfrm>
          <a:prstGeom prst="rect">
            <a:avLst/>
          </a:prstGeom>
          <a:noFill/>
        </p:spPr>
        <p:txBody>
          <a:bodyPr wrap="square" rtlCol="0">
            <a:spAutoFit/>
          </a:bodyPr>
          <a:lstStyle/>
          <a:p>
            <a:pPr>
              <a:lnSpc>
                <a:spcPct val="150000"/>
              </a:lnSpc>
            </a:pPr>
            <a:r>
              <a:rPr lang="en-US" sz="2800" b="1" dirty="0">
                <a:latin typeface="Calibir"/>
              </a:rPr>
              <a:t>Task 6 — Create a Contact Form</a:t>
            </a:r>
          </a:p>
          <a:p>
            <a:pPr>
              <a:lnSpc>
                <a:spcPct val="150000"/>
              </a:lnSpc>
            </a:pPr>
            <a:r>
              <a:rPr lang="en-US" sz="2800" b="1" dirty="0">
                <a:latin typeface="Calibir"/>
              </a:rPr>
              <a:t>What Students Should Do</a:t>
            </a:r>
          </a:p>
          <a:p>
            <a:pPr>
              <a:lnSpc>
                <a:spcPct val="150000"/>
              </a:lnSpc>
            </a:pPr>
            <a:r>
              <a:rPr lang="en-US" sz="2800" dirty="0">
                <a:latin typeface="Calibir"/>
              </a:rPr>
              <a:t>Add:</a:t>
            </a:r>
          </a:p>
          <a:p>
            <a:pPr marL="914400" lvl="1" indent="-457200">
              <a:lnSpc>
                <a:spcPct val="150000"/>
              </a:lnSpc>
              <a:buFont typeface="Arial" panose="020B0604020202020204" pitchFamily="34" charset="0"/>
              <a:buChar char="•"/>
            </a:pPr>
            <a:r>
              <a:rPr lang="en-US" sz="2800" dirty="0">
                <a:latin typeface="Calibir"/>
              </a:rPr>
              <a:t>name field </a:t>
            </a:r>
          </a:p>
          <a:p>
            <a:pPr marL="914400" lvl="1" indent="-457200">
              <a:lnSpc>
                <a:spcPct val="150000"/>
              </a:lnSpc>
              <a:buFont typeface="Arial" panose="020B0604020202020204" pitchFamily="34" charset="0"/>
              <a:buChar char="•"/>
            </a:pPr>
            <a:r>
              <a:rPr lang="en-US" sz="2800" dirty="0">
                <a:latin typeface="Calibir"/>
              </a:rPr>
              <a:t>email field </a:t>
            </a:r>
          </a:p>
          <a:p>
            <a:pPr marL="914400" lvl="1" indent="-457200">
              <a:lnSpc>
                <a:spcPct val="150000"/>
              </a:lnSpc>
              <a:buFont typeface="Arial" panose="020B0604020202020204" pitchFamily="34" charset="0"/>
              <a:buChar char="•"/>
            </a:pPr>
            <a:r>
              <a:rPr lang="en-US" sz="2800" dirty="0">
                <a:latin typeface="Calibir"/>
              </a:rPr>
              <a:t>message box </a:t>
            </a:r>
          </a:p>
          <a:p>
            <a:pPr marL="914400" lvl="1" indent="-457200">
              <a:lnSpc>
                <a:spcPct val="150000"/>
              </a:lnSpc>
              <a:buFont typeface="Arial" panose="020B0604020202020204" pitchFamily="34" charset="0"/>
              <a:buChar char="•"/>
            </a:pPr>
            <a:r>
              <a:rPr lang="en-US" sz="2800" dirty="0">
                <a:latin typeface="Calibir"/>
              </a:rPr>
              <a:t>submit button </a:t>
            </a:r>
          </a:p>
        </p:txBody>
      </p:sp>
      <p:sp>
        <p:nvSpPr>
          <p:cNvPr id="3" name="TextBox 2">
            <a:extLst>
              <a:ext uri="{FF2B5EF4-FFF2-40B4-BE49-F238E27FC236}">
                <a16:creationId xmlns:a16="http://schemas.microsoft.com/office/drawing/2014/main" id="{17A44C59-6323-EB97-90BA-3178200F407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7729583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0E33A-5433-1632-A0EC-2365E2B9B33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283ABFD-2CD9-8B99-7E8F-51A89B4BB866}"/>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748D52D1-52EB-6560-92A6-8EC848C4FCDD}"/>
              </a:ext>
            </a:extLst>
          </p:cNvPr>
          <p:cNvSpPr txBox="1"/>
          <p:nvPr/>
        </p:nvSpPr>
        <p:spPr>
          <a:xfrm>
            <a:off x="94593" y="538609"/>
            <a:ext cx="11409149" cy="5196166"/>
          </a:xfrm>
          <a:prstGeom prst="rect">
            <a:avLst/>
          </a:prstGeom>
          <a:noFill/>
        </p:spPr>
        <p:txBody>
          <a:bodyPr wrap="square" rtlCol="0">
            <a:spAutoFit/>
          </a:bodyPr>
          <a:lstStyle/>
          <a:p>
            <a:pPr>
              <a:lnSpc>
                <a:spcPct val="150000"/>
              </a:lnSpc>
            </a:pPr>
            <a:r>
              <a:rPr lang="en-US" sz="2800" dirty="0">
                <a:latin typeface="Calibir"/>
              </a:rPr>
              <a:t>Example Hint</a:t>
            </a:r>
          </a:p>
          <a:p>
            <a:pPr>
              <a:lnSpc>
                <a:spcPct val="150000"/>
              </a:lnSpc>
            </a:pPr>
            <a:r>
              <a:rPr lang="en-US" sz="2800" dirty="0">
                <a:highlight>
                  <a:srgbClr val="FFFF00"/>
                </a:highlight>
                <a:latin typeface="Calibir"/>
              </a:rPr>
              <a:t>&lt;form&gt;</a:t>
            </a:r>
          </a:p>
          <a:p>
            <a:pPr>
              <a:lnSpc>
                <a:spcPct val="150000"/>
              </a:lnSpc>
            </a:pPr>
            <a:r>
              <a:rPr lang="en-US" sz="2800" dirty="0">
                <a:highlight>
                  <a:srgbClr val="FFFF00"/>
                </a:highlight>
                <a:latin typeface="Calibir"/>
              </a:rPr>
              <a:t>    &lt;label&gt;Name&lt;/label&gt;</a:t>
            </a:r>
          </a:p>
          <a:p>
            <a:pPr>
              <a:lnSpc>
                <a:spcPct val="150000"/>
              </a:lnSpc>
            </a:pPr>
            <a:r>
              <a:rPr lang="en-US" sz="2800" dirty="0">
                <a:highlight>
                  <a:srgbClr val="FFFF00"/>
                </a:highlight>
                <a:latin typeface="Calibir"/>
              </a:rPr>
              <a:t>    &lt;input type="text"&gt;</a:t>
            </a:r>
          </a:p>
          <a:p>
            <a:pPr>
              <a:lnSpc>
                <a:spcPct val="150000"/>
              </a:lnSpc>
            </a:pPr>
            <a:r>
              <a:rPr lang="en-US" sz="2800" dirty="0">
                <a:highlight>
                  <a:srgbClr val="FFFF00"/>
                </a:highlight>
                <a:latin typeface="Calibir"/>
              </a:rPr>
              <a:t>    &lt;label&gt;Email&lt;/label&gt;</a:t>
            </a:r>
          </a:p>
          <a:p>
            <a:pPr>
              <a:lnSpc>
                <a:spcPct val="150000"/>
              </a:lnSpc>
            </a:pPr>
            <a:r>
              <a:rPr lang="en-US" sz="2800" dirty="0">
                <a:highlight>
                  <a:srgbClr val="FFFF00"/>
                </a:highlight>
                <a:latin typeface="Calibir"/>
              </a:rPr>
              <a:t>    &lt;input type="email"&gt;</a:t>
            </a:r>
          </a:p>
          <a:p>
            <a:pPr>
              <a:lnSpc>
                <a:spcPct val="150000"/>
              </a:lnSpc>
            </a:pPr>
            <a:r>
              <a:rPr lang="en-US" sz="2800" dirty="0">
                <a:highlight>
                  <a:srgbClr val="FFFF00"/>
                </a:highlight>
                <a:latin typeface="Calibir"/>
              </a:rPr>
              <a:t>    &lt;button type="submit"&gt;Send&lt;/button&gt;</a:t>
            </a:r>
          </a:p>
          <a:p>
            <a:pPr>
              <a:lnSpc>
                <a:spcPct val="150000"/>
              </a:lnSpc>
            </a:pPr>
            <a:r>
              <a:rPr lang="en-US" sz="2800" dirty="0">
                <a:highlight>
                  <a:srgbClr val="FFFF00"/>
                </a:highlight>
                <a:latin typeface="Calibir"/>
              </a:rPr>
              <a:t>&lt;/form&gt;</a:t>
            </a:r>
          </a:p>
        </p:txBody>
      </p:sp>
      <p:sp>
        <p:nvSpPr>
          <p:cNvPr id="3" name="TextBox 2">
            <a:extLst>
              <a:ext uri="{FF2B5EF4-FFF2-40B4-BE49-F238E27FC236}">
                <a16:creationId xmlns:a16="http://schemas.microsoft.com/office/drawing/2014/main" id="{FEC10B60-2790-2BD7-1538-88DB1A695FF2}"/>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4989017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4F3D-B299-9F29-2F86-A9D6C927D06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5725DBB-870E-7AB7-086B-21BE7AB8AC66}"/>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8B490730-59F5-0D73-DF75-C8683ECA8FCC}"/>
              </a:ext>
            </a:extLst>
          </p:cNvPr>
          <p:cNvSpPr txBox="1"/>
          <p:nvPr/>
        </p:nvSpPr>
        <p:spPr>
          <a:xfrm>
            <a:off x="94593" y="538609"/>
            <a:ext cx="11409149" cy="6632072"/>
          </a:xfrm>
          <a:prstGeom prst="rect">
            <a:avLst/>
          </a:prstGeom>
          <a:noFill/>
        </p:spPr>
        <p:txBody>
          <a:bodyPr wrap="square" rtlCol="0">
            <a:spAutoFit/>
          </a:bodyPr>
          <a:lstStyle/>
          <a:p>
            <a:pPr>
              <a:lnSpc>
                <a:spcPct val="150000"/>
              </a:lnSpc>
            </a:pPr>
            <a:r>
              <a:rPr lang="en-US" sz="2500" b="1" dirty="0">
                <a:latin typeface="Calibir"/>
              </a:rPr>
              <a:t>What to Avoid</a:t>
            </a:r>
          </a:p>
          <a:p>
            <a:pPr marL="914400" lvl="1" indent="-457200">
              <a:lnSpc>
                <a:spcPct val="150000"/>
              </a:lnSpc>
              <a:buFont typeface="Arial" panose="020B0604020202020204" pitchFamily="34" charset="0"/>
              <a:buChar char="•"/>
            </a:pPr>
            <a:r>
              <a:rPr lang="en-US" sz="2500" dirty="0">
                <a:latin typeface="Calibir"/>
              </a:rPr>
              <a:t>missing labels </a:t>
            </a:r>
          </a:p>
          <a:p>
            <a:pPr marL="914400" lvl="1" indent="-457200">
              <a:lnSpc>
                <a:spcPct val="150000"/>
              </a:lnSpc>
              <a:buFont typeface="Arial" panose="020B0604020202020204" pitchFamily="34" charset="0"/>
              <a:buChar char="•"/>
            </a:pPr>
            <a:r>
              <a:rPr lang="en-US" sz="2500" dirty="0">
                <a:latin typeface="Calibir"/>
              </a:rPr>
              <a:t>messy spacing </a:t>
            </a:r>
          </a:p>
          <a:p>
            <a:pPr marL="914400" lvl="1" indent="-457200">
              <a:lnSpc>
                <a:spcPct val="150000"/>
              </a:lnSpc>
              <a:buFont typeface="Arial" panose="020B0604020202020204" pitchFamily="34" charset="0"/>
              <a:buChar char="•"/>
            </a:pPr>
            <a:r>
              <a:rPr lang="en-US" sz="2500" dirty="0">
                <a:latin typeface="Calibir"/>
              </a:rPr>
              <a:t>giant form widths </a:t>
            </a:r>
          </a:p>
          <a:p>
            <a:pPr>
              <a:lnSpc>
                <a:spcPct val="150000"/>
              </a:lnSpc>
            </a:pPr>
            <a:r>
              <a:rPr lang="en-US" sz="2500" b="1" dirty="0">
                <a:latin typeface="Calibir"/>
              </a:rPr>
              <a:t>Task 7 — Make Layout More Professional</a:t>
            </a:r>
          </a:p>
          <a:p>
            <a:pPr>
              <a:lnSpc>
                <a:spcPct val="150000"/>
              </a:lnSpc>
            </a:pPr>
            <a:r>
              <a:rPr lang="en-US" sz="2500" b="1" dirty="0">
                <a:latin typeface="Calibir"/>
              </a:rPr>
              <a:t>What Students Should Do</a:t>
            </a:r>
          </a:p>
          <a:p>
            <a:pPr>
              <a:lnSpc>
                <a:spcPct val="150000"/>
              </a:lnSpc>
            </a:pPr>
            <a:r>
              <a:rPr lang="en-US" sz="2500" dirty="0">
                <a:latin typeface="Calibir"/>
              </a:rPr>
              <a:t>Improve:</a:t>
            </a:r>
          </a:p>
          <a:p>
            <a:pPr marL="914400" lvl="1" indent="-457200">
              <a:lnSpc>
                <a:spcPct val="150000"/>
              </a:lnSpc>
              <a:buFont typeface="Arial" panose="020B0604020202020204" pitchFamily="34" charset="0"/>
              <a:buChar char="•"/>
            </a:pPr>
            <a:r>
              <a:rPr lang="en-US" sz="2500" dirty="0">
                <a:latin typeface="Calibir"/>
              </a:rPr>
              <a:t>spacing </a:t>
            </a:r>
          </a:p>
          <a:p>
            <a:pPr marL="914400" lvl="1" indent="-457200">
              <a:lnSpc>
                <a:spcPct val="150000"/>
              </a:lnSpc>
              <a:buFont typeface="Arial" panose="020B0604020202020204" pitchFamily="34" charset="0"/>
              <a:buChar char="•"/>
            </a:pPr>
            <a:r>
              <a:rPr lang="en-US" sz="2500" dirty="0">
                <a:latin typeface="Calibir"/>
              </a:rPr>
              <a:t>alignment </a:t>
            </a:r>
          </a:p>
          <a:p>
            <a:pPr marL="914400" lvl="1" indent="-457200">
              <a:lnSpc>
                <a:spcPct val="150000"/>
              </a:lnSpc>
              <a:buFont typeface="Arial" panose="020B0604020202020204" pitchFamily="34" charset="0"/>
              <a:buChar char="•"/>
            </a:pPr>
            <a:r>
              <a:rPr lang="en-US" sz="2500" dirty="0" err="1">
                <a:latin typeface="Calibir"/>
              </a:rPr>
              <a:t>colours</a:t>
            </a:r>
            <a:r>
              <a:rPr lang="en-US" sz="2500" dirty="0">
                <a:latin typeface="Calibir"/>
              </a:rPr>
              <a:t> </a:t>
            </a:r>
          </a:p>
          <a:p>
            <a:pPr marL="914400" lvl="1" indent="-457200">
              <a:lnSpc>
                <a:spcPct val="150000"/>
              </a:lnSpc>
              <a:buFont typeface="Arial" panose="020B0604020202020204" pitchFamily="34" charset="0"/>
              <a:buChar char="•"/>
            </a:pPr>
            <a:r>
              <a:rPr lang="en-US" sz="2500" dirty="0">
                <a:latin typeface="Calibir"/>
              </a:rPr>
              <a:t>typography</a:t>
            </a:r>
          </a:p>
        </p:txBody>
      </p:sp>
      <p:sp>
        <p:nvSpPr>
          <p:cNvPr id="3" name="TextBox 2">
            <a:extLst>
              <a:ext uri="{FF2B5EF4-FFF2-40B4-BE49-F238E27FC236}">
                <a16:creationId xmlns:a16="http://schemas.microsoft.com/office/drawing/2014/main" id="{D8A819A2-4D0D-AE87-4D57-C6C822CCBE3E}"/>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22181839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FED03-4B37-3D6A-6068-1B5B08A6B32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C2C9145-40A4-BA99-5267-DD269A4E3141}"/>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5000B772-731F-99AB-A430-0F5D857CAA76}"/>
              </a:ext>
            </a:extLst>
          </p:cNvPr>
          <p:cNvSpPr txBox="1"/>
          <p:nvPr/>
        </p:nvSpPr>
        <p:spPr>
          <a:xfrm>
            <a:off x="94593" y="538609"/>
            <a:ext cx="11409149" cy="4549835"/>
          </a:xfrm>
          <a:prstGeom prst="rect">
            <a:avLst/>
          </a:prstGeom>
          <a:noFill/>
        </p:spPr>
        <p:txBody>
          <a:bodyPr wrap="square" rtlCol="0">
            <a:spAutoFit/>
          </a:bodyPr>
          <a:lstStyle/>
          <a:p>
            <a:pPr>
              <a:lnSpc>
                <a:spcPct val="150000"/>
              </a:lnSpc>
            </a:pPr>
            <a:r>
              <a:rPr lang="en-US" sz="2800" b="1" dirty="0">
                <a:latin typeface="Calibir"/>
              </a:rPr>
              <a:t>Hint</a:t>
            </a:r>
          </a:p>
          <a:p>
            <a:pPr>
              <a:lnSpc>
                <a:spcPct val="150000"/>
              </a:lnSpc>
            </a:pPr>
            <a:r>
              <a:rPr lang="en-US" sz="2800" dirty="0">
                <a:latin typeface="Calibir"/>
              </a:rPr>
              <a:t>Teach students simple improvements:</a:t>
            </a:r>
          </a:p>
          <a:p>
            <a:pPr>
              <a:lnSpc>
                <a:spcPct val="150000"/>
              </a:lnSpc>
            </a:pPr>
            <a:r>
              <a:rPr lang="en-US" sz="2800" dirty="0">
                <a:highlight>
                  <a:srgbClr val="FFFF00"/>
                </a:highlight>
                <a:latin typeface="Calibir"/>
              </a:rPr>
              <a:t>section {</a:t>
            </a:r>
            <a:br>
              <a:rPr lang="en-US" sz="2800" dirty="0">
                <a:highlight>
                  <a:srgbClr val="FFFF00"/>
                </a:highlight>
                <a:latin typeface="Calibir"/>
              </a:rPr>
            </a:br>
            <a:r>
              <a:rPr lang="en-US" sz="2800" dirty="0">
                <a:highlight>
                  <a:srgbClr val="FFFF00"/>
                </a:highlight>
                <a:latin typeface="Calibir"/>
              </a:rPr>
              <a:t>max-width: 900px;</a:t>
            </a:r>
            <a:br>
              <a:rPr lang="en-US" sz="2800" dirty="0">
                <a:highlight>
                  <a:srgbClr val="FFFF00"/>
                </a:highlight>
                <a:latin typeface="Calibir"/>
              </a:rPr>
            </a:br>
            <a:r>
              <a:rPr lang="en-US" sz="2800" dirty="0">
                <a:highlight>
                  <a:srgbClr val="FFFF00"/>
                </a:highlight>
                <a:latin typeface="Calibir"/>
              </a:rPr>
              <a:t>margin: auto;</a:t>
            </a:r>
            <a:br>
              <a:rPr lang="en-US" sz="2800" dirty="0">
                <a:highlight>
                  <a:srgbClr val="FFFF00"/>
                </a:highlight>
                <a:latin typeface="Calibir"/>
              </a:rPr>
            </a:br>
            <a:r>
              <a:rPr lang="en-US" sz="2800" dirty="0">
                <a:highlight>
                  <a:srgbClr val="FFFF00"/>
                </a:highlight>
                <a:latin typeface="Calibir"/>
              </a:rPr>
              <a:t>}</a:t>
            </a:r>
          </a:p>
          <a:p>
            <a:pPr>
              <a:lnSpc>
                <a:spcPct val="150000"/>
              </a:lnSpc>
            </a:pPr>
            <a:r>
              <a:rPr lang="en-US" sz="2800" dirty="0">
                <a:latin typeface="Calibir"/>
              </a:rPr>
              <a:t>This introduces layout control.</a:t>
            </a:r>
          </a:p>
        </p:txBody>
      </p:sp>
      <p:sp>
        <p:nvSpPr>
          <p:cNvPr id="3" name="TextBox 2">
            <a:extLst>
              <a:ext uri="{FF2B5EF4-FFF2-40B4-BE49-F238E27FC236}">
                <a16:creationId xmlns:a16="http://schemas.microsoft.com/office/drawing/2014/main" id="{A70F2CF9-23B3-B06C-DBED-8832BA794F20}"/>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21537991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67AB2-0EAB-80DA-C7AB-19E9BFD2476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8BE81CB-4AB0-FCA3-4754-62B1388FB199}"/>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0607B1AB-8BAA-A93C-3173-29D0185919A7}"/>
              </a:ext>
            </a:extLst>
          </p:cNvPr>
          <p:cNvSpPr txBox="1"/>
          <p:nvPr/>
        </p:nvSpPr>
        <p:spPr>
          <a:xfrm>
            <a:off x="94593" y="538609"/>
            <a:ext cx="11409149" cy="4549835"/>
          </a:xfrm>
          <a:prstGeom prst="rect">
            <a:avLst/>
          </a:prstGeom>
          <a:noFill/>
        </p:spPr>
        <p:txBody>
          <a:bodyPr wrap="square" rtlCol="0">
            <a:spAutoFit/>
          </a:bodyPr>
          <a:lstStyle/>
          <a:p>
            <a:pPr>
              <a:lnSpc>
                <a:spcPct val="150000"/>
              </a:lnSpc>
            </a:pPr>
            <a:r>
              <a:rPr lang="en-US" sz="2800" b="1" dirty="0">
                <a:latin typeface="Calibir"/>
              </a:rPr>
              <a:t>Task 8 — Mobile Testing</a:t>
            </a:r>
          </a:p>
          <a:p>
            <a:pPr>
              <a:lnSpc>
                <a:spcPct val="150000"/>
              </a:lnSpc>
            </a:pPr>
            <a:r>
              <a:rPr lang="en-US" sz="2800" b="1" dirty="0">
                <a:latin typeface="Calibir"/>
              </a:rPr>
              <a:t>What Students Should Do</a:t>
            </a:r>
          </a:p>
          <a:p>
            <a:pPr>
              <a:lnSpc>
                <a:spcPct val="150000"/>
              </a:lnSpc>
            </a:pPr>
            <a:r>
              <a:rPr lang="en-US" sz="2800" dirty="0">
                <a:latin typeface="Calibir"/>
              </a:rPr>
              <a:t>Resize browser window and test:</a:t>
            </a:r>
          </a:p>
          <a:p>
            <a:pPr marL="914400" lvl="1" indent="-457200">
              <a:lnSpc>
                <a:spcPct val="150000"/>
              </a:lnSpc>
              <a:buFont typeface="Arial" panose="020B0604020202020204" pitchFamily="34" charset="0"/>
              <a:buChar char="•"/>
            </a:pPr>
            <a:r>
              <a:rPr lang="en-US" sz="2800" dirty="0">
                <a:latin typeface="Calibir"/>
              </a:rPr>
              <a:t>navigation </a:t>
            </a:r>
          </a:p>
          <a:p>
            <a:pPr marL="914400" lvl="1" indent="-457200">
              <a:lnSpc>
                <a:spcPct val="150000"/>
              </a:lnSpc>
              <a:buFont typeface="Arial" panose="020B0604020202020204" pitchFamily="34" charset="0"/>
              <a:buChar char="•"/>
            </a:pPr>
            <a:r>
              <a:rPr lang="en-US" sz="2800" dirty="0">
                <a:latin typeface="Calibir"/>
              </a:rPr>
              <a:t>images </a:t>
            </a:r>
          </a:p>
          <a:p>
            <a:pPr marL="914400" lvl="1" indent="-457200">
              <a:lnSpc>
                <a:spcPct val="150000"/>
              </a:lnSpc>
              <a:buFont typeface="Arial" panose="020B0604020202020204" pitchFamily="34" charset="0"/>
              <a:buChar char="•"/>
            </a:pPr>
            <a:r>
              <a:rPr lang="en-US" sz="2800" dirty="0">
                <a:latin typeface="Calibir"/>
              </a:rPr>
              <a:t>text size </a:t>
            </a:r>
          </a:p>
          <a:p>
            <a:pPr marL="914400" lvl="1" indent="-457200">
              <a:lnSpc>
                <a:spcPct val="150000"/>
              </a:lnSpc>
              <a:buFont typeface="Arial" panose="020B0604020202020204" pitchFamily="34" charset="0"/>
              <a:buChar char="•"/>
            </a:pPr>
            <a:r>
              <a:rPr lang="en-US" sz="2800" dirty="0">
                <a:latin typeface="Calibir"/>
              </a:rPr>
              <a:t>spacing</a:t>
            </a:r>
          </a:p>
        </p:txBody>
      </p:sp>
      <p:sp>
        <p:nvSpPr>
          <p:cNvPr id="3" name="TextBox 2">
            <a:extLst>
              <a:ext uri="{FF2B5EF4-FFF2-40B4-BE49-F238E27FC236}">
                <a16:creationId xmlns:a16="http://schemas.microsoft.com/office/drawing/2014/main" id="{A520E1FA-1EC9-4644-A64D-B1BC86FCB808}"/>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5863188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D6BFA-4593-F8B1-DE2C-51242501433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C1A1DC0-E5D4-0F0F-239C-4DC66922C952}"/>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7834173F-64FB-A650-67D0-6C01ABA31082}"/>
              </a:ext>
            </a:extLst>
          </p:cNvPr>
          <p:cNvSpPr txBox="1"/>
          <p:nvPr/>
        </p:nvSpPr>
        <p:spPr>
          <a:xfrm>
            <a:off x="94593" y="538609"/>
            <a:ext cx="11409149" cy="3903504"/>
          </a:xfrm>
          <a:prstGeom prst="rect">
            <a:avLst/>
          </a:prstGeom>
          <a:noFill/>
        </p:spPr>
        <p:txBody>
          <a:bodyPr wrap="square" rtlCol="0">
            <a:spAutoFit/>
          </a:bodyPr>
          <a:lstStyle/>
          <a:p>
            <a:pPr>
              <a:lnSpc>
                <a:spcPct val="150000"/>
              </a:lnSpc>
            </a:pPr>
            <a:r>
              <a:rPr lang="en-US" sz="2800" b="1" dirty="0">
                <a:latin typeface="Calibir"/>
              </a:rPr>
              <a:t>Ask Students Questions</a:t>
            </a:r>
          </a:p>
          <a:p>
            <a:pPr marL="914400" lvl="1" indent="-457200">
              <a:lnSpc>
                <a:spcPct val="150000"/>
              </a:lnSpc>
              <a:buFont typeface="Arial" panose="020B0604020202020204" pitchFamily="34" charset="0"/>
              <a:buChar char="•"/>
            </a:pPr>
            <a:r>
              <a:rPr lang="en-US" sz="2800" dirty="0">
                <a:latin typeface="Calibir"/>
              </a:rPr>
              <a:t>Does navigation stack properly? </a:t>
            </a:r>
          </a:p>
          <a:p>
            <a:pPr marL="914400" lvl="1" indent="-457200">
              <a:lnSpc>
                <a:spcPct val="150000"/>
              </a:lnSpc>
              <a:buFont typeface="Arial" panose="020B0604020202020204" pitchFamily="34" charset="0"/>
              <a:buChar char="•"/>
            </a:pPr>
            <a:r>
              <a:rPr lang="en-US" sz="2800" dirty="0">
                <a:latin typeface="Calibir"/>
              </a:rPr>
              <a:t>Are images too large? </a:t>
            </a:r>
          </a:p>
          <a:p>
            <a:pPr marL="914400" lvl="1" indent="-457200">
              <a:lnSpc>
                <a:spcPct val="150000"/>
              </a:lnSpc>
              <a:buFont typeface="Arial" panose="020B0604020202020204" pitchFamily="34" charset="0"/>
              <a:buChar char="•"/>
            </a:pPr>
            <a:r>
              <a:rPr lang="en-US" sz="2800" dirty="0">
                <a:latin typeface="Calibir"/>
              </a:rPr>
              <a:t>Is text readable on mobile? </a:t>
            </a:r>
          </a:p>
          <a:p>
            <a:pPr>
              <a:lnSpc>
                <a:spcPct val="150000"/>
              </a:lnSpc>
            </a:pPr>
            <a:r>
              <a:rPr lang="en-US" sz="2800" b="1" dirty="0">
                <a:latin typeface="Calibir"/>
              </a:rPr>
              <a:t>Task 9 — </a:t>
            </a:r>
            <a:r>
              <a:rPr lang="en-US" sz="2800" b="1" dirty="0" err="1">
                <a:latin typeface="Calibir"/>
              </a:rPr>
              <a:t>Organise</a:t>
            </a:r>
            <a:r>
              <a:rPr lang="en-US" sz="2800" b="1" dirty="0">
                <a:latin typeface="Calibir"/>
              </a:rPr>
              <a:t> Project Files</a:t>
            </a:r>
          </a:p>
          <a:p>
            <a:pPr>
              <a:lnSpc>
                <a:spcPct val="150000"/>
              </a:lnSpc>
            </a:pPr>
            <a:r>
              <a:rPr lang="en-US" sz="2800" b="1" dirty="0">
                <a:latin typeface="Calibir"/>
              </a:rPr>
              <a:t>Recommended Structure</a:t>
            </a:r>
          </a:p>
        </p:txBody>
      </p:sp>
      <p:sp>
        <p:nvSpPr>
          <p:cNvPr id="3" name="TextBox 2">
            <a:extLst>
              <a:ext uri="{FF2B5EF4-FFF2-40B4-BE49-F238E27FC236}">
                <a16:creationId xmlns:a16="http://schemas.microsoft.com/office/drawing/2014/main" id="{1153DF29-2587-CA28-4F40-3908E8463BDF}"/>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
        <p:nvSpPr>
          <p:cNvPr id="5" name="TextBox 4">
            <a:extLst>
              <a:ext uri="{FF2B5EF4-FFF2-40B4-BE49-F238E27FC236}">
                <a16:creationId xmlns:a16="http://schemas.microsoft.com/office/drawing/2014/main" id="{3C094380-B640-5AA9-196E-659EF96FFA04}"/>
              </a:ext>
            </a:extLst>
          </p:cNvPr>
          <p:cNvSpPr txBox="1"/>
          <p:nvPr/>
        </p:nvSpPr>
        <p:spPr>
          <a:xfrm>
            <a:off x="94593" y="4442113"/>
            <a:ext cx="6120580" cy="2031325"/>
          </a:xfrm>
          <a:prstGeom prst="rect">
            <a:avLst/>
          </a:prstGeom>
          <a:noFill/>
        </p:spPr>
        <p:txBody>
          <a:bodyPr wrap="square">
            <a:spAutoFit/>
          </a:bodyPr>
          <a:lstStyle/>
          <a:p>
            <a:r>
              <a:rPr lang="en-US" dirty="0">
                <a:highlight>
                  <a:srgbClr val="FFFF00"/>
                </a:highlight>
                <a:latin typeface="Calibir"/>
              </a:rPr>
              <a:t>project-folder/</a:t>
            </a:r>
          </a:p>
          <a:p>
            <a:r>
              <a:rPr lang="en-US" dirty="0">
                <a:highlight>
                  <a:srgbClr val="FFFF00"/>
                </a:highlight>
                <a:latin typeface="Calibir"/>
              </a:rPr>
              <a:t> ├ index.html</a:t>
            </a:r>
          </a:p>
          <a:p>
            <a:r>
              <a:rPr lang="en-US" dirty="0">
                <a:highlight>
                  <a:srgbClr val="FFFF00"/>
                </a:highlight>
                <a:latin typeface="Calibir"/>
              </a:rPr>
              <a:t> ├ menu.html</a:t>
            </a:r>
          </a:p>
          <a:p>
            <a:r>
              <a:rPr lang="en-US" dirty="0">
                <a:highlight>
                  <a:srgbClr val="FFFF00"/>
                </a:highlight>
                <a:latin typeface="Calibir"/>
              </a:rPr>
              <a:t> ├ gallery.html</a:t>
            </a:r>
          </a:p>
          <a:p>
            <a:r>
              <a:rPr lang="en-US" dirty="0">
                <a:highlight>
                  <a:srgbClr val="FFFF00"/>
                </a:highlight>
                <a:latin typeface="Calibir"/>
              </a:rPr>
              <a:t> ├ contact.html</a:t>
            </a:r>
          </a:p>
          <a:p>
            <a:r>
              <a:rPr lang="en-US" dirty="0">
                <a:highlight>
                  <a:srgbClr val="FFFF00"/>
                </a:highlight>
                <a:latin typeface="Calibir"/>
              </a:rPr>
              <a:t> ├ styles.css</a:t>
            </a:r>
          </a:p>
          <a:p>
            <a:r>
              <a:rPr lang="en-US" dirty="0">
                <a:highlight>
                  <a:srgbClr val="FFFF00"/>
                </a:highlight>
                <a:latin typeface="Calibir"/>
              </a:rPr>
              <a:t>  ─ images/</a:t>
            </a:r>
          </a:p>
        </p:txBody>
      </p:sp>
    </p:spTree>
    <p:extLst>
      <p:ext uri="{BB962C8B-B14F-4D97-AF65-F5344CB8AC3E}">
        <p14:creationId xmlns:p14="http://schemas.microsoft.com/office/powerpoint/2010/main" val="2710395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5A6BF-F477-F1D0-F309-AA9D8AF30A7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BE2CF62-D86A-0C52-4A80-30AD1BB8A2F2}"/>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E1946A24-12B4-35A5-FB2B-CBDF6A87AEB1}"/>
              </a:ext>
            </a:extLst>
          </p:cNvPr>
          <p:cNvSpPr txBox="1"/>
          <p:nvPr/>
        </p:nvSpPr>
        <p:spPr>
          <a:xfrm>
            <a:off x="94593" y="538609"/>
            <a:ext cx="11409149" cy="4549835"/>
          </a:xfrm>
          <a:prstGeom prst="rect">
            <a:avLst/>
          </a:prstGeom>
          <a:noFill/>
        </p:spPr>
        <p:txBody>
          <a:bodyPr wrap="square" rtlCol="0">
            <a:spAutoFit/>
          </a:bodyPr>
          <a:lstStyle/>
          <a:p>
            <a:pPr>
              <a:lnSpc>
                <a:spcPct val="150000"/>
              </a:lnSpc>
            </a:pPr>
            <a:r>
              <a:rPr lang="en-US" sz="2800" b="1" dirty="0">
                <a:latin typeface="Calibir"/>
              </a:rPr>
              <a:t>What to Avoid</a:t>
            </a:r>
          </a:p>
          <a:p>
            <a:pPr marL="914400" lvl="1" indent="-457200">
              <a:lnSpc>
                <a:spcPct val="150000"/>
              </a:lnSpc>
              <a:buFont typeface="Arial" panose="020B0604020202020204" pitchFamily="34" charset="0"/>
              <a:buChar char="•"/>
            </a:pPr>
            <a:r>
              <a:rPr lang="en-US" sz="2800" dirty="0">
                <a:latin typeface="Calibir"/>
              </a:rPr>
              <a:t>random filenames </a:t>
            </a:r>
          </a:p>
          <a:p>
            <a:pPr marL="914400" lvl="1" indent="-457200">
              <a:lnSpc>
                <a:spcPct val="150000"/>
              </a:lnSpc>
              <a:buFont typeface="Arial" panose="020B0604020202020204" pitchFamily="34" charset="0"/>
              <a:buChar char="•"/>
            </a:pPr>
            <a:r>
              <a:rPr lang="en-US" sz="2800" dirty="0">
                <a:latin typeface="Calibir"/>
              </a:rPr>
              <a:t>spaces in file names </a:t>
            </a:r>
          </a:p>
          <a:p>
            <a:pPr marL="914400" lvl="1" indent="-457200">
              <a:lnSpc>
                <a:spcPct val="150000"/>
              </a:lnSpc>
              <a:buFont typeface="Arial" panose="020B0604020202020204" pitchFamily="34" charset="0"/>
              <a:buChar char="•"/>
            </a:pPr>
            <a:r>
              <a:rPr lang="en-US" sz="2800" dirty="0">
                <a:latin typeface="Calibir"/>
              </a:rPr>
              <a:t>images outside folder </a:t>
            </a:r>
          </a:p>
          <a:p>
            <a:pPr marL="914400" lvl="1" indent="-457200">
              <a:lnSpc>
                <a:spcPct val="150000"/>
              </a:lnSpc>
              <a:buFont typeface="Arial" panose="020B0604020202020204" pitchFamily="34" charset="0"/>
              <a:buChar char="•"/>
            </a:pPr>
            <a:r>
              <a:rPr lang="en-US" sz="2800" dirty="0">
                <a:latin typeface="Calibir"/>
              </a:rPr>
              <a:t>duplicate CSS files </a:t>
            </a:r>
          </a:p>
          <a:p>
            <a:pPr>
              <a:lnSpc>
                <a:spcPct val="150000"/>
              </a:lnSpc>
            </a:pPr>
            <a:r>
              <a:rPr lang="en-US" sz="2800" b="1" dirty="0">
                <a:latin typeface="Calibir"/>
              </a:rPr>
              <a:t>Task 10 — Prepare for Documentation</a:t>
            </a:r>
          </a:p>
          <a:p>
            <a:pPr>
              <a:lnSpc>
                <a:spcPct val="150000"/>
              </a:lnSpc>
            </a:pPr>
            <a:r>
              <a:rPr lang="en-US" sz="2800" dirty="0">
                <a:latin typeface="Calibir"/>
              </a:rPr>
              <a:t>Now students should begin collecting material for the report.</a:t>
            </a:r>
          </a:p>
        </p:txBody>
      </p:sp>
      <p:sp>
        <p:nvSpPr>
          <p:cNvPr id="3" name="TextBox 2">
            <a:extLst>
              <a:ext uri="{FF2B5EF4-FFF2-40B4-BE49-F238E27FC236}">
                <a16:creationId xmlns:a16="http://schemas.microsoft.com/office/drawing/2014/main" id="{F7BB67D4-551F-75F2-38BB-166D41AA267F}"/>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5742170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09A8C-812B-FD1A-1B61-005A229860F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6E82A76-2B2D-FF94-CA54-8F8787F8D459}"/>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529F7F07-2B4B-5005-7682-87A904A75D67}"/>
              </a:ext>
            </a:extLst>
          </p:cNvPr>
          <p:cNvSpPr txBox="1"/>
          <p:nvPr/>
        </p:nvSpPr>
        <p:spPr>
          <a:xfrm>
            <a:off x="94593" y="538609"/>
            <a:ext cx="11409149" cy="4549835"/>
          </a:xfrm>
          <a:prstGeom prst="rect">
            <a:avLst/>
          </a:prstGeom>
          <a:noFill/>
        </p:spPr>
        <p:txBody>
          <a:bodyPr wrap="square" rtlCol="0">
            <a:spAutoFit/>
          </a:bodyPr>
          <a:lstStyle/>
          <a:p>
            <a:pPr>
              <a:lnSpc>
                <a:spcPct val="150000"/>
              </a:lnSpc>
            </a:pPr>
            <a:r>
              <a:rPr lang="en-US" sz="2800" b="1" dirty="0">
                <a:latin typeface="Calibir"/>
              </a:rPr>
              <a:t>Ask Students to Prepare</a:t>
            </a:r>
          </a:p>
          <a:p>
            <a:pPr>
              <a:lnSpc>
                <a:spcPct val="150000"/>
              </a:lnSpc>
            </a:pPr>
            <a:r>
              <a:rPr lang="en-US" sz="2800" b="1" dirty="0">
                <a:latin typeface="Calibir"/>
              </a:rPr>
              <a:t>1. Site Map</a:t>
            </a:r>
          </a:p>
          <a:p>
            <a:pPr>
              <a:lnSpc>
                <a:spcPct val="150000"/>
              </a:lnSpc>
            </a:pPr>
            <a:r>
              <a:rPr lang="en-US" sz="2800" dirty="0">
                <a:latin typeface="Calibir"/>
              </a:rPr>
              <a:t>Simple example:</a:t>
            </a:r>
          </a:p>
          <a:p>
            <a:pPr>
              <a:lnSpc>
                <a:spcPct val="150000"/>
              </a:lnSpc>
            </a:pPr>
            <a:r>
              <a:rPr lang="en-US" sz="2800" dirty="0">
                <a:highlight>
                  <a:srgbClr val="FFFF00"/>
                </a:highlight>
                <a:latin typeface="Calibir"/>
              </a:rPr>
              <a:t>Home</a:t>
            </a:r>
            <a:br>
              <a:rPr lang="en-US" sz="2800" dirty="0">
                <a:highlight>
                  <a:srgbClr val="FFFF00"/>
                </a:highlight>
                <a:latin typeface="Calibir"/>
              </a:rPr>
            </a:br>
            <a:r>
              <a:rPr lang="en-US" sz="2800" dirty="0">
                <a:highlight>
                  <a:srgbClr val="FFFF00"/>
                </a:highlight>
                <a:latin typeface="Calibir"/>
              </a:rPr>
              <a:t>├ Menu</a:t>
            </a:r>
            <a:br>
              <a:rPr lang="en-US" sz="2800" dirty="0">
                <a:highlight>
                  <a:srgbClr val="FFFF00"/>
                </a:highlight>
                <a:latin typeface="Calibir"/>
              </a:rPr>
            </a:br>
            <a:r>
              <a:rPr lang="en-US" sz="2800" dirty="0">
                <a:highlight>
                  <a:srgbClr val="FFFF00"/>
                </a:highlight>
                <a:latin typeface="Calibir"/>
              </a:rPr>
              <a:t>├ Gallery</a:t>
            </a:r>
            <a:br>
              <a:rPr lang="en-US" sz="2800" dirty="0">
                <a:highlight>
                  <a:srgbClr val="FFFF00"/>
                </a:highlight>
                <a:latin typeface="Calibir"/>
              </a:rPr>
            </a:br>
            <a:r>
              <a:rPr lang="en-US" sz="2800" dirty="0">
                <a:highlight>
                  <a:srgbClr val="FFFF00"/>
                </a:highlight>
                <a:latin typeface="Calibir"/>
              </a:rPr>
              <a:t> └─ Contact</a:t>
            </a:r>
          </a:p>
        </p:txBody>
      </p:sp>
      <p:sp>
        <p:nvSpPr>
          <p:cNvPr id="3" name="TextBox 2">
            <a:extLst>
              <a:ext uri="{FF2B5EF4-FFF2-40B4-BE49-F238E27FC236}">
                <a16:creationId xmlns:a16="http://schemas.microsoft.com/office/drawing/2014/main" id="{5E165A76-422A-5D62-B6D9-EA2A3E000C9E}"/>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1026" name="Picture 2" descr="Baranggay Sitemap | Figma">
            <a:extLst>
              <a:ext uri="{FF2B5EF4-FFF2-40B4-BE49-F238E27FC236}">
                <a16:creationId xmlns:a16="http://schemas.microsoft.com/office/drawing/2014/main" id="{C4E9BC7A-1B16-4C88-AC04-F19E7186D5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1115" y="2308165"/>
            <a:ext cx="6189671" cy="454983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nector: Elbow 4">
            <a:extLst>
              <a:ext uri="{FF2B5EF4-FFF2-40B4-BE49-F238E27FC236}">
                <a16:creationId xmlns:a16="http://schemas.microsoft.com/office/drawing/2014/main" id="{161319B8-4E03-4467-AA58-AC02D38FFDBF}"/>
              </a:ext>
            </a:extLst>
          </p:cNvPr>
          <p:cNvCxnSpPr/>
          <p:nvPr/>
        </p:nvCxnSpPr>
        <p:spPr>
          <a:xfrm>
            <a:off x="2734235" y="3505200"/>
            <a:ext cx="1515036" cy="110265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744852D-5D6E-47A4-8CE5-A5D5ED52D991}"/>
              </a:ext>
            </a:extLst>
          </p:cNvPr>
          <p:cNvSpPr txBox="1"/>
          <p:nvPr/>
        </p:nvSpPr>
        <p:spPr>
          <a:xfrm>
            <a:off x="2662518" y="3048000"/>
            <a:ext cx="1138517" cy="369332"/>
          </a:xfrm>
          <a:prstGeom prst="rect">
            <a:avLst/>
          </a:prstGeom>
          <a:noFill/>
        </p:spPr>
        <p:txBody>
          <a:bodyPr wrap="square" rtlCol="0">
            <a:spAutoFit/>
          </a:bodyPr>
          <a:lstStyle/>
          <a:p>
            <a:r>
              <a:rPr lang="en-US" dirty="0"/>
              <a:t>Example</a:t>
            </a:r>
            <a:endParaRPr lang="en-AU" dirty="0"/>
          </a:p>
        </p:txBody>
      </p:sp>
    </p:spTree>
    <p:extLst>
      <p:ext uri="{BB962C8B-B14F-4D97-AF65-F5344CB8AC3E}">
        <p14:creationId xmlns:p14="http://schemas.microsoft.com/office/powerpoint/2010/main" val="4112481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019F8-1490-6A18-C3DB-30E0CD039EA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FE77034-0505-0597-78D1-35F516B5C45C}"/>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21F3B43F-38B7-9E37-BC82-544DFA7797C7}"/>
              </a:ext>
            </a:extLst>
          </p:cNvPr>
          <p:cNvSpPr txBox="1"/>
          <p:nvPr/>
        </p:nvSpPr>
        <p:spPr>
          <a:xfrm>
            <a:off x="94593" y="538609"/>
            <a:ext cx="11409149" cy="6488828"/>
          </a:xfrm>
          <a:prstGeom prst="rect">
            <a:avLst/>
          </a:prstGeom>
          <a:noFill/>
        </p:spPr>
        <p:txBody>
          <a:bodyPr wrap="square" rtlCol="0">
            <a:spAutoFit/>
          </a:bodyPr>
          <a:lstStyle/>
          <a:p>
            <a:pPr>
              <a:lnSpc>
                <a:spcPct val="150000"/>
              </a:lnSpc>
            </a:pPr>
            <a:r>
              <a:rPr lang="en-US" sz="2800" b="1" dirty="0">
                <a:latin typeface="Calibir"/>
              </a:rPr>
              <a:t>2. Wireframes</a:t>
            </a:r>
          </a:p>
          <a:p>
            <a:pPr>
              <a:lnSpc>
                <a:spcPct val="150000"/>
              </a:lnSpc>
            </a:pPr>
            <a:r>
              <a:rPr lang="en-US" sz="2800" dirty="0">
                <a:latin typeface="Calibir"/>
              </a:rPr>
              <a:t>Students can:</a:t>
            </a:r>
          </a:p>
          <a:p>
            <a:pPr marL="914400" lvl="1" indent="-457200">
              <a:lnSpc>
                <a:spcPct val="150000"/>
              </a:lnSpc>
              <a:buFont typeface="Arial" panose="020B0604020202020204" pitchFamily="34" charset="0"/>
              <a:buChar char="•"/>
            </a:pPr>
            <a:r>
              <a:rPr lang="en-US" sz="2800" dirty="0">
                <a:latin typeface="Calibir"/>
              </a:rPr>
              <a:t>sketch on paper </a:t>
            </a:r>
          </a:p>
          <a:p>
            <a:pPr marL="914400" lvl="1" indent="-457200">
              <a:lnSpc>
                <a:spcPct val="150000"/>
              </a:lnSpc>
              <a:buFont typeface="Arial" panose="020B0604020202020204" pitchFamily="34" charset="0"/>
              <a:buChar char="•"/>
            </a:pPr>
            <a:r>
              <a:rPr lang="en-US" sz="2800" dirty="0">
                <a:latin typeface="Calibir"/>
              </a:rPr>
              <a:t>use PowerPoint </a:t>
            </a:r>
          </a:p>
          <a:p>
            <a:pPr marL="914400" lvl="1" indent="-457200">
              <a:lnSpc>
                <a:spcPct val="150000"/>
              </a:lnSpc>
              <a:buFont typeface="Arial" panose="020B0604020202020204" pitchFamily="34" charset="0"/>
              <a:buChar char="•"/>
            </a:pPr>
            <a:r>
              <a:rPr lang="en-US" sz="2800" dirty="0">
                <a:latin typeface="Calibir"/>
              </a:rPr>
              <a:t>use draw.io </a:t>
            </a:r>
          </a:p>
          <a:p>
            <a:pPr>
              <a:lnSpc>
                <a:spcPct val="150000"/>
              </a:lnSpc>
            </a:pPr>
            <a:r>
              <a:rPr lang="en-US" sz="2800" b="1" dirty="0">
                <a:latin typeface="Calibir"/>
              </a:rPr>
              <a:t>3. Style Guide</a:t>
            </a:r>
          </a:p>
          <a:p>
            <a:pPr>
              <a:lnSpc>
                <a:spcPct val="150000"/>
              </a:lnSpc>
            </a:pPr>
            <a:r>
              <a:rPr lang="en-US" sz="2800" dirty="0">
                <a:latin typeface="Calibir"/>
              </a:rPr>
              <a:t>Students should record:</a:t>
            </a:r>
          </a:p>
          <a:p>
            <a:pPr marL="914400" lvl="1" indent="-457200">
              <a:lnSpc>
                <a:spcPct val="150000"/>
              </a:lnSpc>
              <a:buFont typeface="Arial" panose="020B0604020202020204" pitchFamily="34" charset="0"/>
              <a:buChar char="•"/>
            </a:pPr>
            <a:r>
              <a:rPr lang="en-US" sz="2800" dirty="0" err="1">
                <a:latin typeface="Calibir"/>
              </a:rPr>
              <a:t>colours</a:t>
            </a:r>
            <a:r>
              <a:rPr lang="en-US" sz="2800" dirty="0">
                <a:latin typeface="Calibir"/>
              </a:rPr>
              <a:t> </a:t>
            </a:r>
          </a:p>
          <a:p>
            <a:pPr marL="914400" lvl="1" indent="-457200">
              <a:lnSpc>
                <a:spcPct val="150000"/>
              </a:lnSpc>
              <a:buFont typeface="Arial" panose="020B0604020202020204" pitchFamily="34" charset="0"/>
              <a:buChar char="•"/>
            </a:pPr>
            <a:r>
              <a:rPr lang="en-US" sz="2800" dirty="0">
                <a:latin typeface="Calibir"/>
              </a:rPr>
              <a:t>fonts </a:t>
            </a:r>
          </a:p>
          <a:p>
            <a:pPr marL="914400" lvl="1" indent="-457200">
              <a:lnSpc>
                <a:spcPct val="150000"/>
              </a:lnSpc>
              <a:buFont typeface="Arial" panose="020B0604020202020204" pitchFamily="34" charset="0"/>
              <a:buChar char="•"/>
            </a:pPr>
            <a:r>
              <a:rPr lang="en-US" sz="2800" dirty="0">
                <a:latin typeface="Calibir"/>
              </a:rPr>
              <a:t>layout ideas</a:t>
            </a:r>
          </a:p>
        </p:txBody>
      </p:sp>
      <p:sp>
        <p:nvSpPr>
          <p:cNvPr id="3" name="TextBox 2">
            <a:extLst>
              <a:ext uri="{FF2B5EF4-FFF2-40B4-BE49-F238E27FC236}">
                <a16:creationId xmlns:a16="http://schemas.microsoft.com/office/drawing/2014/main" id="{6E8C2E96-76CA-2E03-1DA0-4B94D50FA0D3}"/>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289547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C3A80-CCFB-BD87-C184-0DE95A20A46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0C3ADF4-1702-574E-83DC-DA95548C4EE6}"/>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E2D257DD-0154-5791-7497-8301F42F5E4B}"/>
              </a:ext>
            </a:extLst>
          </p:cNvPr>
          <p:cNvSpPr txBox="1"/>
          <p:nvPr/>
        </p:nvSpPr>
        <p:spPr>
          <a:xfrm>
            <a:off x="0" y="700841"/>
            <a:ext cx="11409149" cy="5917774"/>
          </a:xfrm>
          <a:prstGeom prst="rect">
            <a:avLst/>
          </a:prstGeom>
          <a:noFill/>
        </p:spPr>
        <p:txBody>
          <a:bodyPr wrap="square" rtlCol="0">
            <a:spAutoFit/>
          </a:bodyPr>
          <a:lstStyle/>
          <a:p>
            <a:pPr>
              <a:lnSpc>
                <a:spcPct val="150000"/>
              </a:lnSpc>
            </a:pPr>
            <a:r>
              <a:rPr lang="en-US" sz="2550" b="1" dirty="0">
                <a:latin typeface="Calibir"/>
              </a:rPr>
              <a:t>Good Practical Weekly Goal</a:t>
            </a:r>
          </a:p>
          <a:p>
            <a:pPr>
              <a:lnSpc>
                <a:spcPct val="150000"/>
              </a:lnSpc>
            </a:pPr>
            <a:r>
              <a:rPr lang="en-US" sz="2550" dirty="0">
                <a:latin typeface="Calibir"/>
              </a:rPr>
              <a:t>“By next classes your group should:</a:t>
            </a:r>
          </a:p>
          <a:p>
            <a:pPr marL="914400" lvl="1" indent="-457200">
              <a:lnSpc>
                <a:spcPct val="150000"/>
              </a:lnSpc>
              <a:buFont typeface="Arial" panose="020B0604020202020204" pitchFamily="34" charset="0"/>
              <a:buChar char="•"/>
            </a:pPr>
            <a:r>
              <a:rPr lang="en-US" sz="2550" dirty="0">
                <a:latin typeface="Calibir"/>
              </a:rPr>
              <a:t>create all four pages </a:t>
            </a:r>
          </a:p>
          <a:p>
            <a:pPr marL="914400" lvl="1" indent="-457200">
              <a:lnSpc>
                <a:spcPct val="150000"/>
              </a:lnSpc>
              <a:buFont typeface="Arial" panose="020B0604020202020204" pitchFamily="34" charset="0"/>
              <a:buChar char="•"/>
            </a:pPr>
            <a:r>
              <a:rPr lang="en-US" sz="2550" dirty="0">
                <a:latin typeface="Calibir"/>
              </a:rPr>
              <a:t>connect navigation links </a:t>
            </a:r>
          </a:p>
          <a:p>
            <a:pPr marL="914400" lvl="1" indent="-457200">
              <a:lnSpc>
                <a:spcPct val="150000"/>
              </a:lnSpc>
              <a:buFont typeface="Arial" panose="020B0604020202020204" pitchFamily="34" charset="0"/>
              <a:buChar char="•"/>
            </a:pPr>
            <a:r>
              <a:rPr lang="en-US" sz="2550" dirty="0">
                <a:latin typeface="Calibir"/>
              </a:rPr>
              <a:t>add at least two images </a:t>
            </a:r>
          </a:p>
          <a:p>
            <a:pPr marL="914400" lvl="1" indent="-457200">
              <a:lnSpc>
                <a:spcPct val="150000"/>
              </a:lnSpc>
              <a:buFont typeface="Arial" panose="020B0604020202020204" pitchFamily="34" charset="0"/>
              <a:buChar char="•"/>
            </a:pPr>
            <a:r>
              <a:rPr lang="en-US" sz="2550" dirty="0">
                <a:latin typeface="Calibir"/>
              </a:rPr>
              <a:t>build one hero section </a:t>
            </a:r>
          </a:p>
          <a:p>
            <a:pPr marL="914400" lvl="1" indent="-457200">
              <a:lnSpc>
                <a:spcPct val="150000"/>
              </a:lnSpc>
              <a:buFont typeface="Arial" panose="020B0604020202020204" pitchFamily="34" charset="0"/>
              <a:buChar char="•"/>
            </a:pPr>
            <a:r>
              <a:rPr lang="en-US" sz="2550" dirty="0">
                <a:latin typeface="Calibir"/>
              </a:rPr>
              <a:t>create one contact form </a:t>
            </a:r>
          </a:p>
          <a:p>
            <a:pPr marL="914400" lvl="1" indent="-457200">
              <a:lnSpc>
                <a:spcPct val="150000"/>
              </a:lnSpc>
              <a:buFont typeface="Arial" panose="020B0604020202020204" pitchFamily="34" charset="0"/>
              <a:buChar char="•"/>
            </a:pPr>
            <a:r>
              <a:rPr lang="en-US" sz="2550" dirty="0">
                <a:latin typeface="Calibir"/>
              </a:rPr>
              <a:t>improve visual styling </a:t>
            </a:r>
          </a:p>
          <a:p>
            <a:pPr marL="914400" lvl="1" indent="-457200">
              <a:lnSpc>
                <a:spcPct val="150000"/>
              </a:lnSpc>
              <a:buFont typeface="Arial" panose="020B0604020202020204" pitchFamily="34" charset="0"/>
              <a:buChar char="•"/>
            </a:pPr>
            <a:r>
              <a:rPr lang="en-US" sz="2550" dirty="0" err="1">
                <a:latin typeface="Calibir"/>
              </a:rPr>
              <a:t>organise</a:t>
            </a:r>
            <a:r>
              <a:rPr lang="en-US" sz="2550" dirty="0">
                <a:latin typeface="Calibir"/>
              </a:rPr>
              <a:t> files correctly” </a:t>
            </a:r>
          </a:p>
          <a:p>
            <a:pPr>
              <a:lnSpc>
                <a:spcPct val="150000"/>
              </a:lnSpc>
            </a:pPr>
            <a:r>
              <a:rPr lang="en-US" sz="2550" dirty="0">
                <a:latin typeface="Calibir"/>
              </a:rPr>
              <a:t>This gives clear achievable progress without giving full solutions.</a:t>
            </a:r>
          </a:p>
        </p:txBody>
      </p:sp>
      <p:sp>
        <p:nvSpPr>
          <p:cNvPr id="3" name="TextBox 2">
            <a:extLst>
              <a:ext uri="{FF2B5EF4-FFF2-40B4-BE49-F238E27FC236}">
                <a16:creationId xmlns:a16="http://schemas.microsoft.com/office/drawing/2014/main" id="{1CEDEA6D-6666-76C1-1AF1-B321F5FBE32B}"/>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41708914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061BE-C886-22F3-7987-5B36F60B7B0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8B1087D-B3C4-B49C-E4A4-A683BAA52221}"/>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F4226A97-722A-96F2-08FA-DC28499BE98B}"/>
              </a:ext>
            </a:extLst>
          </p:cNvPr>
          <p:cNvSpPr txBox="1"/>
          <p:nvPr/>
        </p:nvSpPr>
        <p:spPr>
          <a:xfrm>
            <a:off x="0" y="700841"/>
            <a:ext cx="11409149" cy="3903504"/>
          </a:xfrm>
          <a:prstGeom prst="rect">
            <a:avLst/>
          </a:prstGeom>
          <a:noFill/>
        </p:spPr>
        <p:txBody>
          <a:bodyPr wrap="square" rtlCol="0">
            <a:spAutoFit/>
          </a:bodyPr>
          <a:lstStyle/>
          <a:p>
            <a:pPr>
              <a:lnSpc>
                <a:spcPct val="150000"/>
              </a:lnSpc>
            </a:pPr>
            <a:r>
              <a:rPr lang="en-US" sz="2800" b="1" dirty="0">
                <a:latin typeface="Calibir"/>
              </a:rPr>
              <a:t>Very Important Advice</a:t>
            </a:r>
          </a:p>
          <a:p>
            <a:pPr>
              <a:lnSpc>
                <a:spcPct val="150000"/>
              </a:lnSpc>
            </a:pPr>
            <a:r>
              <a:rPr lang="en-US" sz="2800" dirty="0">
                <a:latin typeface="Calibir"/>
              </a:rPr>
              <a:t>Good websites are:</a:t>
            </a:r>
          </a:p>
          <a:p>
            <a:pPr marL="914400" lvl="1" indent="-457200">
              <a:lnSpc>
                <a:spcPct val="150000"/>
              </a:lnSpc>
              <a:buFont typeface="Arial" panose="020B0604020202020204" pitchFamily="34" charset="0"/>
              <a:buChar char="•"/>
            </a:pPr>
            <a:r>
              <a:rPr lang="en-US" sz="2800" dirty="0">
                <a:latin typeface="Calibir"/>
              </a:rPr>
              <a:t>clean </a:t>
            </a:r>
          </a:p>
          <a:p>
            <a:pPr marL="914400" lvl="1" indent="-457200">
              <a:lnSpc>
                <a:spcPct val="150000"/>
              </a:lnSpc>
              <a:buFont typeface="Arial" panose="020B0604020202020204" pitchFamily="34" charset="0"/>
              <a:buChar char="•"/>
            </a:pPr>
            <a:r>
              <a:rPr lang="en-US" sz="2800" dirty="0" err="1">
                <a:latin typeface="Calibir"/>
              </a:rPr>
              <a:t>organised</a:t>
            </a:r>
            <a:r>
              <a:rPr lang="en-US" sz="2800" dirty="0">
                <a:latin typeface="Calibir"/>
              </a:rPr>
              <a:t> </a:t>
            </a:r>
          </a:p>
          <a:p>
            <a:pPr marL="914400" lvl="1" indent="-457200">
              <a:lnSpc>
                <a:spcPct val="150000"/>
              </a:lnSpc>
              <a:buFont typeface="Arial" panose="020B0604020202020204" pitchFamily="34" charset="0"/>
              <a:buChar char="•"/>
            </a:pPr>
            <a:r>
              <a:rPr lang="en-US" sz="2800" dirty="0">
                <a:latin typeface="Calibir"/>
              </a:rPr>
              <a:t>readable </a:t>
            </a:r>
          </a:p>
          <a:p>
            <a:pPr marL="914400" lvl="1" indent="-457200">
              <a:lnSpc>
                <a:spcPct val="150000"/>
              </a:lnSpc>
              <a:buFont typeface="Arial" panose="020B0604020202020204" pitchFamily="34" charset="0"/>
              <a:buChar char="•"/>
            </a:pPr>
            <a:r>
              <a:rPr lang="en-US" sz="2800" dirty="0">
                <a:latin typeface="Calibir"/>
              </a:rPr>
              <a:t>consistent </a:t>
            </a:r>
          </a:p>
        </p:txBody>
      </p:sp>
      <p:sp>
        <p:nvSpPr>
          <p:cNvPr id="3" name="TextBox 2">
            <a:extLst>
              <a:ext uri="{FF2B5EF4-FFF2-40B4-BE49-F238E27FC236}">
                <a16:creationId xmlns:a16="http://schemas.microsoft.com/office/drawing/2014/main" id="{105C090A-335B-E8B6-D35A-9F2160312B6D}"/>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21511224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3341C-3332-7B9C-26A0-C825F106A67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962A20E-C186-A958-6774-53BA93BED416}"/>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9BAED247-D988-7AE8-0B32-380BB55E36D1}"/>
              </a:ext>
            </a:extLst>
          </p:cNvPr>
          <p:cNvSpPr txBox="1"/>
          <p:nvPr/>
        </p:nvSpPr>
        <p:spPr>
          <a:xfrm>
            <a:off x="0" y="700841"/>
            <a:ext cx="11409149" cy="4549835"/>
          </a:xfrm>
          <a:prstGeom prst="rect">
            <a:avLst/>
          </a:prstGeom>
          <a:noFill/>
        </p:spPr>
        <p:txBody>
          <a:bodyPr wrap="square" rtlCol="0">
            <a:spAutoFit/>
          </a:bodyPr>
          <a:lstStyle/>
          <a:p>
            <a:pPr>
              <a:lnSpc>
                <a:spcPct val="150000"/>
              </a:lnSpc>
            </a:pPr>
            <a:r>
              <a:rPr lang="en-US" sz="2800" dirty="0">
                <a:latin typeface="Calibir"/>
              </a:rPr>
              <a:t>Not:</a:t>
            </a:r>
          </a:p>
          <a:p>
            <a:pPr marL="914400" lvl="1" indent="-457200">
              <a:lnSpc>
                <a:spcPct val="150000"/>
              </a:lnSpc>
              <a:buFont typeface="Arial" panose="020B0604020202020204" pitchFamily="34" charset="0"/>
              <a:buChar char="•"/>
            </a:pPr>
            <a:r>
              <a:rPr lang="en-US" sz="2800" dirty="0">
                <a:latin typeface="Calibir"/>
              </a:rPr>
              <a:t>overloaded with effects </a:t>
            </a:r>
          </a:p>
          <a:p>
            <a:pPr marL="914400" lvl="1" indent="-457200">
              <a:lnSpc>
                <a:spcPct val="150000"/>
              </a:lnSpc>
              <a:buFont typeface="Arial" panose="020B0604020202020204" pitchFamily="34" charset="0"/>
              <a:buChar char="•"/>
            </a:pPr>
            <a:r>
              <a:rPr lang="en-US" sz="2800" dirty="0">
                <a:latin typeface="Calibir"/>
              </a:rPr>
              <a:t>copied from templates </a:t>
            </a:r>
          </a:p>
          <a:p>
            <a:pPr marL="914400" lvl="1" indent="-457200">
              <a:lnSpc>
                <a:spcPct val="150000"/>
              </a:lnSpc>
              <a:buFont typeface="Arial" panose="020B0604020202020204" pitchFamily="34" charset="0"/>
              <a:buChar char="•"/>
            </a:pPr>
            <a:r>
              <a:rPr lang="en-US" sz="2800" dirty="0">
                <a:latin typeface="Calibir"/>
              </a:rPr>
              <a:t>filled with random </a:t>
            </a:r>
            <a:r>
              <a:rPr lang="en-US" sz="2800" dirty="0" err="1">
                <a:latin typeface="Calibir"/>
              </a:rPr>
              <a:t>colours</a:t>
            </a:r>
            <a:r>
              <a:rPr lang="en-US" sz="2800" dirty="0">
                <a:latin typeface="Calibir"/>
              </a:rPr>
              <a:t> </a:t>
            </a:r>
          </a:p>
          <a:p>
            <a:pPr marL="914400" lvl="1" indent="-457200">
              <a:lnSpc>
                <a:spcPct val="150000"/>
              </a:lnSpc>
              <a:buFont typeface="Arial" panose="020B0604020202020204" pitchFamily="34" charset="0"/>
              <a:buChar char="•"/>
            </a:pPr>
            <a:r>
              <a:rPr lang="en-US" sz="2800" dirty="0">
                <a:latin typeface="Calibir"/>
              </a:rPr>
              <a:t>unfinished </a:t>
            </a:r>
          </a:p>
          <a:p>
            <a:pPr>
              <a:lnSpc>
                <a:spcPct val="150000"/>
              </a:lnSpc>
            </a:pPr>
            <a:r>
              <a:rPr lang="en-US" sz="2800" dirty="0">
                <a:latin typeface="Calibir"/>
              </a:rPr>
              <a:t>A simple professional website is usually stronger than a complicated broken website.</a:t>
            </a:r>
          </a:p>
        </p:txBody>
      </p:sp>
      <p:sp>
        <p:nvSpPr>
          <p:cNvPr id="3" name="TextBox 2">
            <a:extLst>
              <a:ext uri="{FF2B5EF4-FFF2-40B4-BE49-F238E27FC236}">
                <a16:creationId xmlns:a16="http://schemas.microsoft.com/office/drawing/2014/main" id="{00B2CA6B-CF99-54DB-130E-120090A12967}"/>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28352435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E14F-D617-3AE7-5632-F4E602C5DD0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FD4FB04-0038-616F-55E4-7C39B28D0A0B}"/>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BA4B1819-F153-9B1C-FBFB-2BE963AFF604}"/>
              </a:ext>
            </a:extLst>
          </p:cNvPr>
          <p:cNvSpPr txBox="1"/>
          <p:nvPr/>
        </p:nvSpPr>
        <p:spPr>
          <a:xfrm>
            <a:off x="0" y="700841"/>
            <a:ext cx="11409149" cy="5196166"/>
          </a:xfrm>
          <a:prstGeom prst="rect">
            <a:avLst/>
          </a:prstGeom>
          <a:noFill/>
        </p:spPr>
        <p:txBody>
          <a:bodyPr wrap="square" rtlCol="0">
            <a:spAutoFit/>
          </a:bodyPr>
          <a:lstStyle/>
          <a:p>
            <a:pPr>
              <a:lnSpc>
                <a:spcPct val="150000"/>
              </a:lnSpc>
            </a:pPr>
            <a:r>
              <a:rPr lang="en-US" sz="2800" dirty="0">
                <a:latin typeface="Calibir"/>
              </a:rPr>
              <a:t>What Students Should Submit for the Group Assignment</a:t>
            </a:r>
          </a:p>
          <a:p>
            <a:pPr>
              <a:lnSpc>
                <a:spcPct val="150000"/>
              </a:lnSpc>
            </a:pPr>
            <a:r>
              <a:rPr lang="en-US" sz="2800" dirty="0">
                <a:latin typeface="Calibir"/>
              </a:rPr>
              <a:t>Students must submit TWO main files through Blackboard.</a:t>
            </a:r>
          </a:p>
          <a:p>
            <a:pPr>
              <a:lnSpc>
                <a:spcPct val="150000"/>
              </a:lnSpc>
            </a:pPr>
            <a:r>
              <a:rPr lang="en-US" sz="2800" dirty="0">
                <a:latin typeface="Calibir"/>
              </a:rPr>
              <a:t>1. Website ZIP Folder</a:t>
            </a:r>
          </a:p>
          <a:p>
            <a:pPr>
              <a:lnSpc>
                <a:spcPct val="150000"/>
              </a:lnSpc>
            </a:pPr>
            <a:r>
              <a:rPr lang="en-US" sz="2800" dirty="0">
                <a:latin typeface="Calibir"/>
              </a:rPr>
              <a:t>File Name Format</a:t>
            </a:r>
          </a:p>
          <a:p>
            <a:pPr>
              <a:lnSpc>
                <a:spcPct val="150000"/>
              </a:lnSpc>
            </a:pPr>
            <a:r>
              <a:rPr lang="en-US" sz="2800" dirty="0">
                <a:latin typeface="Calibir"/>
              </a:rPr>
              <a:t>Example:</a:t>
            </a:r>
          </a:p>
          <a:p>
            <a:pPr>
              <a:lnSpc>
                <a:spcPct val="150000"/>
              </a:lnSpc>
            </a:pPr>
            <a:r>
              <a:rPr lang="en-US" sz="2800" dirty="0">
                <a:highlight>
                  <a:srgbClr val="FFFF00"/>
                </a:highlight>
                <a:latin typeface="Calibir"/>
              </a:rPr>
              <a:t>groupname_HS1021_website.zip</a:t>
            </a:r>
          </a:p>
          <a:p>
            <a:pPr>
              <a:lnSpc>
                <a:spcPct val="150000"/>
              </a:lnSpc>
            </a:pPr>
            <a:r>
              <a:rPr lang="en-US" sz="2800" dirty="0">
                <a:latin typeface="Calibir"/>
              </a:rPr>
              <a:t>Example:</a:t>
            </a:r>
          </a:p>
          <a:p>
            <a:pPr>
              <a:lnSpc>
                <a:spcPct val="150000"/>
              </a:lnSpc>
            </a:pPr>
            <a:r>
              <a:rPr lang="en-US" sz="2800" dirty="0">
                <a:highlight>
                  <a:srgbClr val="FFFF00"/>
                </a:highlight>
                <a:latin typeface="Calibir"/>
              </a:rPr>
              <a:t>sunrisecafe_HS1021_website.zip</a:t>
            </a:r>
          </a:p>
        </p:txBody>
      </p:sp>
      <p:sp>
        <p:nvSpPr>
          <p:cNvPr id="3" name="TextBox 2">
            <a:extLst>
              <a:ext uri="{FF2B5EF4-FFF2-40B4-BE49-F238E27FC236}">
                <a16:creationId xmlns:a16="http://schemas.microsoft.com/office/drawing/2014/main" id="{1628250A-FF4F-A57E-37EC-EE058359B35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41362676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A9BEE-034B-FD42-49EE-43D15337C38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87417A9-3964-6477-D17A-BD67160F0AB0}"/>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F8A65755-6468-943A-707F-9F28E672A740}"/>
              </a:ext>
            </a:extLst>
          </p:cNvPr>
          <p:cNvSpPr txBox="1"/>
          <p:nvPr/>
        </p:nvSpPr>
        <p:spPr>
          <a:xfrm>
            <a:off x="0" y="700841"/>
            <a:ext cx="11409149" cy="5196166"/>
          </a:xfrm>
          <a:prstGeom prst="rect">
            <a:avLst/>
          </a:prstGeom>
          <a:noFill/>
        </p:spPr>
        <p:txBody>
          <a:bodyPr wrap="square" rtlCol="0">
            <a:spAutoFit/>
          </a:bodyPr>
          <a:lstStyle/>
          <a:p>
            <a:pPr>
              <a:lnSpc>
                <a:spcPct val="150000"/>
              </a:lnSpc>
            </a:pPr>
            <a:r>
              <a:rPr lang="en-US" sz="2800" b="1" dirty="0">
                <a:latin typeface="Calibir"/>
              </a:rPr>
              <a:t>What Must Be Inside the ZIP Folder</a:t>
            </a:r>
          </a:p>
          <a:p>
            <a:pPr>
              <a:lnSpc>
                <a:spcPct val="150000"/>
              </a:lnSpc>
            </a:pPr>
            <a:r>
              <a:rPr lang="en-US" sz="2800" b="1" dirty="0">
                <a:latin typeface="Calibir"/>
              </a:rPr>
              <a:t>HTML Pages</a:t>
            </a:r>
          </a:p>
          <a:p>
            <a:pPr>
              <a:lnSpc>
                <a:spcPct val="150000"/>
              </a:lnSpc>
            </a:pPr>
            <a:r>
              <a:rPr lang="en-US" sz="2800" dirty="0">
                <a:latin typeface="Calibir"/>
              </a:rPr>
              <a:t>Minimum four pages depending on the chosen scenario.</a:t>
            </a:r>
          </a:p>
          <a:p>
            <a:pPr>
              <a:lnSpc>
                <a:spcPct val="150000"/>
              </a:lnSpc>
            </a:pPr>
            <a:r>
              <a:rPr lang="en-US" sz="2800" dirty="0">
                <a:latin typeface="Calibir"/>
              </a:rPr>
              <a:t>Example:</a:t>
            </a:r>
          </a:p>
          <a:p>
            <a:pPr>
              <a:lnSpc>
                <a:spcPct val="150000"/>
              </a:lnSpc>
            </a:pPr>
            <a:r>
              <a:rPr lang="en-US" sz="2800" dirty="0">
                <a:highlight>
                  <a:srgbClr val="FFFF00"/>
                </a:highlight>
                <a:latin typeface="Calibir"/>
              </a:rPr>
              <a:t>index.html</a:t>
            </a:r>
            <a:br>
              <a:rPr lang="en-US" sz="2800" dirty="0">
                <a:highlight>
                  <a:srgbClr val="FFFF00"/>
                </a:highlight>
                <a:latin typeface="Calibir"/>
              </a:rPr>
            </a:br>
            <a:r>
              <a:rPr lang="en-US" sz="2800" dirty="0">
                <a:highlight>
                  <a:srgbClr val="FFFF00"/>
                </a:highlight>
                <a:latin typeface="Calibir"/>
              </a:rPr>
              <a:t>menu.html</a:t>
            </a:r>
            <a:br>
              <a:rPr lang="en-US" sz="2800" dirty="0">
                <a:highlight>
                  <a:srgbClr val="FFFF00"/>
                </a:highlight>
                <a:latin typeface="Calibir"/>
              </a:rPr>
            </a:br>
            <a:r>
              <a:rPr lang="en-US" sz="2800" dirty="0">
                <a:highlight>
                  <a:srgbClr val="FFFF00"/>
                </a:highlight>
                <a:latin typeface="Calibir"/>
              </a:rPr>
              <a:t>gallery.html</a:t>
            </a:r>
            <a:br>
              <a:rPr lang="en-US" sz="2800" dirty="0">
                <a:highlight>
                  <a:srgbClr val="FFFF00"/>
                </a:highlight>
                <a:latin typeface="Calibir"/>
              </a:rPr>
            </a:br>
            <a:r>
              <a:rPr lang="en-US" sz="2800" dirty="0">
                <a:highlight>
                  <a:srgbClr val="FFFF00"/>
                </a:highlight>
                <a:latin typeface="Calibir"/>
              </a:rPr>
              <a:t>contact.html</a:t>
            </a:r>
          </a:p>
        </p:txBody>
      </p:sp>
      <p:sp>
        <p:nvSpPr>
          <p:cNvPr id="3" name="TextBox 2">
            <a:extLst>
              <a:ext uri="{FF2B5EF4-FFF2-40B4-BE49-F238E27FC236}">
                <a16:creationId xmlns:a16="http://schemas.microsoft.com/office/drawing/2014/main" id="{A3F8AB3A-463D-66C5-EBDD-66697B3FDF9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6373515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FFB2A-1731-0806-1A08-22EA4D85466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C2FB3E3-A461-E784-2BA7-6488F7BAD8F1}"/>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CE2A5999-E0D5-705E-9471-BF54F265FCFC}"/>
              </a:ext>
            </a:extLst>
          </p:cNvPr>
          <p:cNvSpPr txBox="1"/>
          <p:nvPr/>
        </p:nvSpPr>
        <p:spPr>
          <a:xfrm>
            <a:off x="0" y="700841"/>
            <a:ext cx="11409149" cy="2610843"/>
          </a:xfrm>
          <a:prstGeom prst="rect">
            <a:avLst/>
          </a:prstGeom>
          <a:noFill/>
        </p:spPr>
        <p:txBody>
          <a:bodyPr wrap="square" rtlCol="0">
            <a:spAutoFit/>
          </a:bodyPr>
          <a:lstStyle/>
          <a:p>
            <a:pPr>
              <a:lnSpc>
                <a:spcPct val="150000"/>
              </a:lnSpc>
            </a:pPr>
            <a:r>
              <a:rPr lang="en-US" sz="2800" b="1" dirty="0">
                <a:latin typeface="Calibir"/>
              </a:rPr>
              <a:t>CSS File</a:t>
            </a:r>
          </a:p>
          <a:p>
            <a:pPr>
              <a:lnSpc>
                <a:spcPct val="150000"/>
              </a:lnSpc>
            </a:pPr>
            <a:r>
              <a:rPr lang="en-US" sz="2800" dirty="0">
                <a:latin typeface="Calibir"/>
              </a:rPr>
              <a:t>Students must use ONE external CSS file.</a:t>
            </a:r>
          </a:p>
          <a:p>
            <a:pPr>
              <a:lnSpc>
                <a:spcPct val="150000"/>
              </a:lnSpc>
            </a:pPr>
            <a:r>
              <a:rPr lang="en-US" sz="2800" dirty="0">
                <a:latin typeface="Calibir"/>
              </a:rPr>
              <a:t>Example:</a:t>
            </a:r>
          </a:p>
          <a:p>
            <a:pPr>
              <a:lnSpc>
                <a:spcPct val="150000"/>
              </a:lnSpc>
            </a:pPr>
            <a:r>
              <a:rPr lang="en-US" sz="2800" dirty="0">
                <a:highlight>
                  <a:srgbClr val="FFFF00"/>
                </a:highlight>
                <a:latin typeface="Calibir"/>
              </a:rPr>
              <a:t>styles.css</a:t>
            </a:r>
          </a:p>
        </p:txBody>
      </p:sp>
      <p:sp>
        <p:nvSpPr>
          <p:cNvPr id="3" name="TextBox 2">
            <a:extLst>
              <a:ext uri="{FF2B5EF4-FFF2-40B4-BE49-F238E27FC236}">
                <a16:creationId xmlns:a16="http://schemas.microsoft.com/office/drawing/2014/main" id="{F2930038-C77D-D0AC-70A7-C0115EC28E53}"/>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0165236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04413-C3A0-C051-A282-349C5EBCB96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01E70B6-C73C-5662-FAAD-9FD6295579DF}"/>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BCB817F9-506E-8426-9D56-433D3F11371F}"/>
              </a:ext>
            </a:extLst>
          </p:cNvPr>
          <p:cNvSpPr txBox="1"/>
          <p:nvPr/>
        </p:nvSpPr>
        <p:spPr>
          <a:xfrm>
            <a:off x="0" y="700841"/>
            <a:ext cx="11409149" cy="5196166"/>
          </a:xfrm>
          <a:prstGeom prst="rect">
            <a:avLst/>
          </a:prstGeom>
          <a:noFill/>
        </p:spPr>
        <p:txBody>
          <a:bodyPr wrap="square" rtlCol="0">
            <a:spAutoFit/>
          </a:bodyPr>
          <a:lstStyle/>
          <a:p>
            <a:pPr>
              <a:lnSpc>
                <a:spcPct val="150000"/>
              </a:lnSpc>
            </a:pPr>
            <a:r>
              <a:rPr lang="en-US" sz="2800" b="1" dirty="0">
                <a:latin typeface="Calibir"/>
              </a:rPr>
              <a:t>Images Folder</a:t>
            </a:r>
          </a:p>
          <a:p>
            <a:pPr>
              <a:lnSpc>
                <a:spcPct val="150000"/>
              </a:lnSpc>
            </a:pPr>
            <a:r>
              <a:rPr lang="en-US" sz="2800" dirty="0">
                <a:latin typeface="Calibir"/>
              </a:rPr>
              <a:t>All images should be </a:t>
            </a:r>
            <a:r>
              <a:rPr lang="en-US" sz="2800" dirty="0" err="1">
                <a:latin typeface="Calibir"/>
              </a:rPr>
              <a:t>organised</a:t>
            </a:r>
            <a:r>
              <a:rPr lang="en-US" sz="2800" dirty="0">
                <a:latin typeface="Calibir"/>
              </a:rPr>
              <a:t> properly.</a:t>
            </a:r>
          </a:p>
          <a:p>
            <a:pPr>
              <a:lnSpc>
                <a:spcPct val="150000"/>
              </a:lnSpc>
            </a:pPr>
            <a:r>
              <a:rPr lang="en-US" sz="2800" dirty="0">
                <a:latin typeface="Calibir"/>
              </a:rPr>
              <a:t>Example:</a:t>
            </a:r>
          </a:p>
          <a:p>
            <a:pPr>
              <a:lnSpc>
                <a:spcPct val="150000"/>
              </a:lnSpc>
            </a:pPr>
            <a:r>
              <a:rPr lang="en-US" sz="2800" dirty="0">
                <a:highlight>
                  <a:srgbClr val="FFFF00"/>
                </a:highlight>
                <a:latin typeface="Calibir"/>
              </a:rPr>
              <a:t>/images</a:t>
            </a:r>
          </a:p>
          <a:p>
            <a:pPr>
              <a:lnSpc>
                <a:spcPct val="150000"/>
              </a:lnSpc>
            </a:pPr>
            <a:r>
              <a:rPr lang="en-US" sz="2800" dirty="0">
                <a:latin typeface="Calibir"/>
              </a:rPr>
              <a:t>Inside:</a:t>
            </a:r>
          </a:p>
          <a:p>
            <a:pPr marL="914400" lvl="1" indent="-457200">
              <a:lnSpc>
                <a:spcPct val="150000"/>
              </a:lnSpc>
              <a:buFont typeface="Arial" panose="020B0604020202020204" pitchFamily="34" charset="0"/>
              <a:buChar char="•"/>
            </a:pPr>
            <a:r>
              <a:rPr lang="en-US" sz="2800" dirty="0">
                <a:highlight>
                  <a:srgbClr val="FFFF00"/>
                </a:highlight>
                <a:latin typeface="Calibir"/>
              </a:rPr>
              <a:t>coffee.jpg</a:t>
            </a:r>
          </a:p>
          <a:p>
            <a:pPr marL="914400" lvl="1" indent="-457200">
              <a:lnSpc>
                <a:spcPct val="150000"/>
              </a:lnSpc>
              <a:buFont typeface="Arial" panose="020B0604020202020204" pitchFamily="34" charset="0"/>
              <a:buChar char="•"/>
            </a:pPr>
            <a:r>
              <a:rPr lang="en-US" sz="2800" dirty="0">
                <a:highlight>
                  <a:srgbClr val="FFFF00"/>
                </a:highlight>
                <a:latin typeface="Calibir"/>
              </a:rPr>
              <a:t>cafe.jpg</a:t>
            </a:r>
          </a:p>
          <a:p>
            <a:pPr marL="914400" lvl="1" indent="-457200">
              <a:lnSpc>
                <a:spcPct val="150000"/>
              </a:lnSpc>
              <a:buFont typeface="Arial" panose="020B0604020202020204" pitchFamily="34" charset="0"/>
              <a:buChar char="•"/>
            </a:pPr>
            <a:r>
              <a:rPr lang="en-US" sz="2800" dirty="0">
                <a:highlight>
                  <a:srgbClr val="FFFF00"/>
                </a:highlight>
                <a:latin typeface="Calibir"/>
              </a:rPr>
              <a:t>team.jpg</a:t>
            </a:r>
          </a:p>
        </p:txBody>
      </p:sp>
      <p:sp>
        <p:nvSpPr>
          <p:cNvPr id="3" name="TextBox 2">
            <a:extLst>
              <a:ext uri="{FF2B5EF4-FFF2-40B4-BE49-F238E27FC236}">
                <a16:creationId xmlns:a16="http://schemas.microsoft.com/office/drawing/2014/main" id="{A5F55E4B-286E-5318-B5BA-B6F8CE1A6D73}"/>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7742727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D04AE-9AA9-4951-CEEA-9194D16A965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9A80881-EB77-64F3-064F-F505E1012FA9}"/>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39C844F4-C3EC-EBD3-1A74-2CECE28B08AB}"/>
              </a:ext>
            </a:extLst>
          </p:cNvPr>
          <p:cNvSpPr txBox="1"/>
          <p:nvPr/>
        </p:nvSpPr>
        <p:spPr>
          <a:xfrm>
            <a:off x="0" y="700841"/>
            <a:ext cx="11409149" cy="5842497"/>
          </a:xfrm>
          <a:prstGeom prst="rect">
            <a:avLst/>
          </a:prstGeom>
          <a:noFill/>
        </p:spPr>
        <p:txBody>
          <a:bodyPr wrap="square" rtlCol="0">
            <a:spAutoFit/>
          </a:bodyPr>
          <a:lstStyle/>
          <a:p>
            <a:pPr>
              <a:lnSpc>
                <a:spcPct val="150000"/>
              </a:lnSpc>
            </a:pPr>
            <a:r>
              <a:rPr lang="en-US" sz="2800" b="1" dirty="0">
                <a:latin typeface="Calibir"/>
              </a:rPr>
              <a:t>README.txt File</a:t>
            </a:r>
          </a:p>
          <a:p>
            <a:pPr>
              <a:lnSpc>
                <a:spcPct val="150000"/>
              </a:lnSpc>
            </a:pPr>
            <a:r>
              <a:rPr lang="en-US" sz="2800" dirty="0">
                <a:latin typeface="Calibir"/>
              </a:rPr>
              <a:t>This file explains:</a:t>
            </a:r>
          </a:p>
          <a:p>
            <a:pPr marL="914400" lvl="1" indent="-457200">
              <a:lnSpc>
                <a:spcPct val="150000"/>
              </a:lnSpc>
              <a:buFont typeface="Arial" panose="020B0604020202020204" pitchFamily="34" charset="0"/>
              <a:buChar char="•"/>
            </a:pPr>
            <a:r>
              <a:rPr lang="en-US" sz="2800" dirty="0">
                <a:latin typeface="Calibir"/>
              </a:rPr>
              <a:t>group member names </a:t>
            </a:r>
          </a:p>
          <a:p>
            <a:pPr marL="914400" lvl="1" indent="-457200">
              <a:lnSpc>
                <a:spcPct val="150000"/>
              </a:lnSpc>
              <a:buFont typeface="Arial" panose="020B0604020202020204" pitchFamily="34" charset="0"/>
              <a:buChar char="•"/>
            </a:pPr>
            <a:r>
              <a:rPr lang="en-US" sz="2800" dirty="0">
                <a:latin typeface="Calibir"/>
              </a:rPr>
              <a:t>contribution of each member </a:t>
            </a:r>
          </a:p>
          <a:p>
            <a:pPr>
              <a:lnSpc>
                <a:spcPct val="150000"/>
              </a:lnSpc>
            </a:pPr>
            <a:r>
              <a:rPr lang="en-US" sz="2800" b="1" dirty="0">
                <a:latin typeface="Calibir"/>
              </a:rPr>
              <a:t>Example README.txt</a:t>
            </a:r>
          </a:p>
          <a:p>
            <a:pPr>
              <a:lnSpc>
                <a:spcPct val="150000"/>
              </a:lnSpc>
            </a:pPr>
            <a:r>
              <a:rPr lang="en-US" sz="2800" dirty="0">
                <a:highlight>
                  <a:srgbClr val="FFFF00"/>
                </a:highlight>
                <a:latin typeface="Calibir"/>
              </a:rPr>
              <a:t>Group Members:</a:t>
            </a:r>
            <a:br>
              <a:rPr lang="en-US" sz="2800" dirty="0">
                <a:highlight>
                  <a:srgbClr val="FFFF00"/>
                </a:highlight>
                <a:latin typeface="Calibir"/>
              </a:rPr>
            </a:br>
            <a:r>
              <a:rPr lang="en-US" sz="2800" dirty="0">
                <a:highlight>
                  <a:srgbClr val="FFFF00"/>
                </a:highlight>
                <a:latin typeface="Calibir"/>
              </a:rPr>
              <a:t>John Smith – Home page and navigation</a:t>
            </a:r>
            <a:br>
              <a:rPr lang="en-US" sz="2800" dirty="0">
                <a:highlight>
                  <a:srgbClr val="FFFF00"/>
                </a:highlight>
                <a:latin typeface="Calibir"/>
              </a:rPr>
            </a:br>
            <a:r>
              <a:rPr lang="en-US" sz="2800" dirty="0">
                <a:highlight>
                  <a:srgbClr val="FFFF00"/>
                </a:highlight>
                <a:latin typeface="Calibir"/>
              </a:rPr>
              <a:t>Sarah Lee – Gallery page and images</a:t>
            </a:r>
            <a:br>
              <a:rPr lang="en-US" sz="2800" dirty="0">
                <a:highlight>
                  <a:srgbClr val="FFFF00"/>
                </a:highlight>
                <a:latin typeface="Calibir"/>
              </a:rPr>
            </a:br>
            <a:r>
              <a:rPr lang="en-US" sz="2800" dirty="0">
                <a:highlight>
                  <a:srgbClr val="FFFF00"/>
                </a:highlight>
                <a:latin typeface="Calibir"/>
              </a:rPr>
              <a:t>Ali Khan – Contact form and CSS styling</a:t>
            </a:r>
          </a:p>
        </p:txBody>
      </p:sp>
      <p:sp>
        <p:nvSpPr>
          <p:cNvPr id="3" name="TextBox 2">
            <a:extLst>
              <a:ext uri="{FF2B5EF4-FFF2-40B4-BE49-F238E27FC236}">
                <a16:creationId xmlns:a16="http://schemas.microsoft.com/office/drawing/2014/main" id="{FFAB7C10-E765-6300-56E7-DCA6BDEC880F}"/>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9392656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2F7BF-2387-44D6-7D1E-CA6138E7F4A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BE5DFFA-428A-DC74-2E8B-8BD90DCE5B48}"/>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31C3B80D-E948-3EEA-9BC2-14A92A4D46CA}"/>
              </a:ext>
            </a:extLst>
          </p:cNvPr>
          <p:cNvSpPr txBox="1"/>
          <p:nvPr/>
        </p:nvSpPr>
        <p:spPr>
          <a:xfrm>
            <a:off x="0" y="700841"/>
            <a:ext cx="11409149" cy="2610843"/>
          </a:xfrm>
          <a:prstGeom prst="rect">
            <a:avLst/>
          </a:prstGeom>
          <a:noFill/>
        </p:spPr>
        <p:txBody>
          <a:bodyPr wrap="square" rtlCol="0">
            <a:spAutoFit/>
          </a:bodyPr>
          <a:lstStyle/>
          <a:p>
            <a:pPr>
              <a:lnSpc>
                <a:spcPct val="150000"/>
              </a:lnSpc>
            </a:pPr>
            <a:r>
              <a:rPr lang="en-US" sz="2800" b="1" dirty="0">
                <a:latin typeface="Calibir"/>
              </a:rPr>
              <a:t>2. Design and Technical Report (.docx)</a:t>
            </a:r>
          </a:p>
          <a:p>
            <a:pPr>
              <a:lnSpc>
                <a:spcPct val="150000"/>
              </a:lnSpc>
            </a:pPr>
            <a:r>
              <a:rPr lang="en-US" sz="2800" b="1" dirty="0">
                <a:latin typeface="Calibir"/>
              </a:rPr>
              <a:t>File Type Required</a:t>
            </a:r>
          </a:p>
          <a:p>
            <a:pPr>
              <a:lnSpc>
                <a:spcPct val="150000"/>
              </a:lnSpc>
            </a:pPr>
            <a:r>
              <a:rPr lang="en-US" sz="2800" dirty="0">
                <a:latin typeface="Calibir"/>
              </a:rPr>
              <a:t>Microsoft Word ONLY (.docx)</a:t>
            </a:r>
          </a:p>
          <a:p>
            <a:pPr>
              <a:lnSpc>
                <a:spcPct val="150000"/>
              </a:lnSpc>
            </a:pPr>
            <a:r>
              <a:rPr lang="en-US" sz="2800" dirty="0">
                <a:latin typeface="Calibir"/>
              </a:rPr>
              <a:t>NOT PDF.</a:t>
            </a:r>
          </a:p>
        </p:txBody>
      </p:sp>
      <p:sp>
        <p:nvSpPr>
          <p:cNvPr id="3" name="TextBox 2">
            <a:extLst>
              <a:ext uri="{FF2B5EF4-FFF2-40B4-BE49-F238E27FC236}">
                <a16:creationId xmlns:a16="http://schemas.microsoft.com/office/drawing/2014/main" id="{8F1FDB36-63B2-8719-7139-5EA07D99976B}"/>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6298925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992A0-C75C-6046-74A4-C7CB81558EA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DCD3FE8-10C2-0C69-39F3-1BBCD1ABB017}"/>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4842B2AD-206B-8411-4325-0448ECB245AA}"/>
              </a:ext>
            </a:extLst>
          </p:cNvPr>
          <p:cNvSpPr txBox="1"/>
          <p:nvPr/>
        </p:nvSpPr>
        <p:spPr>
          <a:xfrm>
            <a:off x="0" y="700841"/>
            <a:ext cx="11409149" cy="3903504"/>
          </a:xfrm>
          <a:prstGeom prst="rect">
            <a:avLst/>
          </a:prstGeom>
          <a:noFill/>
        </p:spPr>
        <p:txBody>
          <a:bodyPr wrap="square" rtlCol="0">
            <a:spAutoFit/>
          </a:bodyPr>
          <a:lstStyle/>
          <a:p>
            <a:pPr>
              <a:lnSpc>
                <a:spcPct val="150000"/>
              </a:lnSpc>
            </a:pPr>
            <a:r>
              <a:rPr lang="en-US" sz="2800" b="1" dirty="0">
                <a:latin typeface="Calibir"/>
              </a:rPr>
              <a:t>What the Report Must Include</a:t>
            </a:r>
          </a:p>
          <a:p>
            <a:pPr>
              <a:lnSpc>
                <a:spcPct val="150000"/>
              </a:lnSpc>
            </a:pPr>
            <a:r>
              <a:rPr lang="en-US" sz="2800" b="1" dirty="0">
                <a:latin typeface="Calibir"/>
              </a:rPr>
              <a:t>1. Cover Sheet</a:t>
            </a:r>
          </a:p>
          <a:p>
            <a:pPr>
              <a:lnSpc>
                <a:spcPct val="150000"/>
              </a:lnSpc>
            </a:pPr>
            <a:r>
              <a:rPr lang="en-US" sz="2800" dirty="0">
                <a:latin typeface="Calibir"/>
              </a:rPr>
              <a:t>Must include:</a:t>
            </a:r>
          </a:p>
          <a:p>
            <a:pPr marL="914400" lvl="1" indent="-457200">
              <a:lnSpc>
                <a:spcPct val="150000"/>
              </a:lnSpc>
              <a:buFont typeface="Arial" panose="020B0604020202020204" pitchFamily="34" charset="0"/>
              <a:buChar char="•"/>
            </a:pPr>
            <a:r>
              <a:rPr lang="en-US" sz="2800" dirty="0">
                <a:latin typeface="Calibir"/>
              </a:rPr>
              <a:t>unit code </a:t>
            </a:r>
          </a:p>
          <a:p>
            <a:pPr marL="914400" lvl="1" indent="-457200">
              <a:lnSpc>
                <a:spcPct val="150000"/>
              </a:lnSpc>
              <a:buFont typeface="Arial" panose="020B0604020202020204" pitchFamily="34" charset="0"/>
              <a:buChar char="•"/>
            </a:pPr>
            <a:r>
              <a:rPr lang="en-US" sz="2800" dirty="0">
                <a:latin typeface="Calibir"/>
              </a:rPr>
              <a:t>assignment title </a:t>
            </a:r>
          </a:p>
          <a:p>
            <a:pPr marL="914400" lvl="1" indent="-457200">
              <a:lnSpc>
                <a:spcPct val="150000"/>
              </a:lnSpc>
              <a:buFont typeface="Arial" panose="020B0604020202020204" pitchFamily="34" charset="0"/>
              <a:buChar char="•"/>
            </a:pPr>
            <a:r>
              <a:rPr lang="en-US" sz="2800" dirty="0">
                <a:latin typeface="Calibir"/>
              </a:rPr>
              <a:t>all contributing members</a:t>
            </a:r>
          </a:p>
        </p:txBody>
      </p:sp>
      <p:sp>
        <p:nvSpPr>
          <p:cNvPr id="3" name="TextBox 2">
            <a:extLst>
              <a:ext uri="{FF2B5EF4-FFF2-40B4-BE49-F238E27FC236}">
                <a16:creationId xmlns:a16="http://schemas.microsoft.com/office/drawing/2014/main" id="{EDFFEF9E-81A0-1D5F-9891-CD3FBD496288}"/>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2231620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CA65-64AC-D597-9E86-7405E193E98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CCF68EA-2F69-DBE6-42BE-3C12C23BB43B}"/>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852FC118-A9E4-57BD-6A35-B4BB9DD61F74}"/>
              </a:ext>
            </a:extLst>
          </p:cNvPr>
          <p:cNvSpPr txBox="1"/>
          <p:nvPr/>
        </p:nvSpPr>
        <p:spPr>
          <a:xfrm>
            <a:off x="0" y="700841"/>
            <a:ext cx="11409149" cy="5842497"/>
          </a:xfrm>
          <a:prstGeom prst="rect">
            <a:avLst/>
          </a:prstGeom>
          <a:noFill/>
        </p:spPr>
        <p:txBody>
          <a:bodyPr wrap="square" rtlCol="0">
            <a:spAutoFit/>
          </a:bodyPr>
          <a:lstStyle/>
          <a:p>
            <a:pPr>
              <a:lnSpc>
                <a:spcPct val="150000"/>
              </a:lnSpc>
            </a:pPr>
            <a:r>
              <a:rPr lang="en-US" sz="2800" b="1" dirty="0">
                <a:latin typeface="Calibir"/>
              </a:rPr>
              <a:t>2. Client Requirements Summary</a:t>
            </a:r>
          </a:p>
          <a:p>
            <a:pPr>
              <a:lnSpc>
                <a:spcPct val="150000"/>
              </a:lnSpc>
            </a:pPr>
            <a:r>
              <a:rPr lang="en-US" sz="2800" dirty="0">
                <a:latin typeface="Calibir"/>
              </a:rPr>
              <a:t>Students explain:</a:t>
            </a:r>
          </a:p>
          <a:p>
            <a:pPr marL="914400" lvl="1" indent="-457200">
              <a:lnSpc>
                <a:spcPct val="150000"/>
              </a:lnSpc>
              <a:buFont typeface="Arial" panose="020B0604020202020204" pitchFamily="34" charset="0"/>
              <a:buChar char="•"/>
            </a:pPr>
            <a:r>
              <a:rPr lang="en-US" sz="2800" dirty="0">
                <a:latin typeface="Calibir"/>
              </a:rPr>
              <a:t>fictional client needs </a:t>
            </a:r>
          </a:p>
          <a:p>
            <a:pPr marL="914400" lvl="1" indent="-457200">
              <a:lnSpc>
                <a:spcPct val="150000"/>
              </a:lnSpc>
              <a:buFont typeface="Arial" panose="020B0604020202020204" pitchFamily="34" charset="0"/>
              <a:buChar char="•"/>
            </a:pPr>
            <a:r>
              <a:rPr lang="en-US" sz="2800" dirty="0">
                <a:latin typeface="Calibir"/>
              </a:rPr>
              <a:t>business goals </a:t>
            </a:r>
          </a:p>
          <a:p>
            <a:pPr marL="914400" lvl="1" indent="-457200">
              <a:lnSpc>
                <a:spcPct val="150000"/>
              </a:lnSpc>
              <a:buFont typeface="Arial" panose="020B0604020202020204" pitchFamily="34" charset="0"/>
              <a:buChar char="•"/>
            </a:pPr>
            <a:r>
              <a:rPr lang="en-US" sz="2800" dirty="0">
                <a:latin typeface="Calibir"/>
              </a:rPr>
              <a:t>website requirements </a:t>
            </a:r>
          </a:p>
          <a:p>
            <a:pPr>
              <a:lnSpc>
                <a:spcPct val="150000"/>
              </a:lnSpc>
            </a:pPr>
            <a:r>
              <a:rPr lang="en-US" sz="2800" dirty="0">
                <a:latin typeface="Calibir"/>
              </a:rPr>
              <a:t>Example:</a:t>
            </a:r>
          </a:p>
          <a:p>
            <a:pPr marL="914400" lvl="1" indent="-457200">
              <a:lnSpc>
                <a:spcPct val="150000"/>
              </a:lnSpc>
              <a:buFont typeface="Arial" panose="020B0604020202020204" pitchFamily="34" charset="0"/>
              <a:buChar char="•"/>
            </a:pPr>
            <a:r>
              <a:rPr lang="en-US" sz="2800" dirty="0">
                <a:latin typeface="Calibir"/>
              </a:rPr>
              <a:t>responsive design </a:t>
            </a:r>
          </a:p>
          <a:p>
            <a:pPr marL="914400" lvl="1" indent="-457200">
              <a:lnSpc>
                <a:spcPct val="150000"/>
              </a:lnSpc>
              <a:buFont typeface="Arial" panose="020B0604020202020204" pitchFamily="34" charset="0"/>
              <a:buChar char="•"/>
            </a:pPr>
            <a:r>
              <a:rPr lang="en-US" sz="2800" dirty="0">
                <a:latin typeface="Calibir"/>
              </a:rPr>
              <a:t>easy navigation </a:t>
            </a:r>
          </a:p>
          <a:p>
            <a:pPr marL="914400" lvl="1" indent="-457200">
              <a:lnSpc>
                <a:spcPct val="150000"/>
              </a:lnSpc>
              <a:buFont typeface="Arial" panose="020B0604020202020204" pitchFamily="34" charset="0"/>
              <a:buChar char="•"/>
            </a:pPr>
            <a:r>
              <a:rPr lang="en-US" sz="2800" dirty="0">
                <a:latin typeface="Calibir"/>
              </a:rPr>
              <a:t>modern café appearance</a:t>
            </a:r>
          </a:p>
        </p:txBody>
      </p:sp>
      <p:sp>
        <p:nvSpPr>
          <p:cNvPr id="3" name="TextBox 2">
            <a:extLst>
              <a:ext uri="{FF2B5EF4-FFF2-40B4-BE49-F238E27FC236}">
                <a16:creationId xmlns:a16="http://schemas.microsoft.com/office/drawing/2014/main" id="{5A425066-3262-515D-D508-E267C3C07023}"/>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3190139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F1D8A-A323-5B74-D18A-0C08D83DABD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D3D8C3F-10CE-7E92-1A09-F47FA2943168}"/>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C5EBDB6C-0DCF-A85C-0B46-AB281294038C}"/>
              </a:ext>
            </a:extLst>
          </p:cNvPr>
          <p:cNvSpPr txBox="1"/>
          <p:nvPr/>
        </p:nvSpPr>
        <p:spPr>
          <a:xfrm>
            <a:off x="0" y="700841"/>
            <a:ext cx="11409149" cy="3903504"/>
          </a:xfrm>
          <a:prstGeom prst="rect">
            <a:avLst/>
          </a:prstGeom>
          <a:noFill/>
        </p:spPr>
        <p:txBody>
          <a:bodyPr wrap="square" rtlCol="0">
            <a:spAutoFit/>
          </a:bodyPr>
          <a:lstStyle/>
          <a:p>
            <a:pPr>
              <a:lnSpc>
                <a:spcPct val="150000"/>
              </a:lnSpc>
            </a:pPr>
            <a:r>
              <a:rPr lang="en-US" sz="2800" b="1" dirty="0">
                <a:latin typeface="Calibir"/>
              </a:rPr>
              <a:t>3. Site Map</a:t>
            </a:r>
          </a:p>
          <a:p>
            <a:pPr>
              <a:lnSpc>
                <a:spcPct val="150000"/>
              </a:lnSpc>
            </a:pPr>
            <a:r>
              <a:rPr lang="en-US" sz="2800" dirty="0">
                <a:latin typeface="Calibir"/>
              </a:rPr>
              <a:t>Example:</a:t>
            </a:r>
          </a:p>
          <a:p>
            <a:pPr>
              <a:lnSpc>
                <a:spcPct val="150000"/>
              </a:lnSpc>
            </a:pPr>
            <a:r>
              <a:rPr lang="en-US" sz="2800" dirty="0">
                <a:latin typeface="Calibir"/>
              </a:rPr>
              <a:t>Home</a:t>
            </a:r>
            <a:br>
              <a:rPr lang="en-US" sz="2800" dirty="0">
                <a:latin typeface="Calibir"/>
              </a:rPr>
            </a:br>
            <a:r>
              <a:rPr lang="en-US" sz="2800" dirty="0">
                <a:latin typeface="Calibir"/>
              </a:rPr>
              <a:t>├ Menu</a:t>
            </a:r>
            <a:br>
              <a:rPr lang="en-US" sz="2800" dirty="0">
                <a:latin typeface="Calibir"/>
              </a:rPr>
            </a:br>
            <a:r>
              <a:rPr lang="en-US" sz="2800" dirty="0">
                <a:latin typeface="Calibir"/>
              </a:rPr>
              <a:t>├ Gallery</a:t>
            </a:r>
            <a:br>
              <a:rPr lang="en-US" sz="2800" dirty="0">
                <a:latin typeface="Calibir"/>
              </a:rPr>
            </a:br>
            <a:r>
              <a:rPr lang="en-US" sz="2800" dirty="0">
                <a:latin typeface="Calibir"/>
              </a:rPr>
              <a:t> └─ Contact</a:t>
            </a:r>
          </a:p>
        </p:txBody>
      </p:sp>
      <p:sp>
        <p:nvSpPr>
          <p:cNvPr id="3" name="TextBox 2">
            <a:extLst>
              <a:ext uri="{FF2B5EF4-FFF2-40B4-BE49-F238E27FC236}">
                <a16:creationId xmlns:a16="http://schemas.microsoft.com/office/drawing/2014/main" id="{0C898D0F-6014-4BB7-49B8-BCC040030719}"/>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6033446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A2275-5C99-9E3A-A1EF-174DD85A358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7904BE7-2D09-3D69-16C4-49F44A78DE7A}"/>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2AAFD72F-ADE2-DC7D-661F-BAA333090E10}"/>
              </a:ext>
            </a:extLst>
          </p:cNvPr>
          <p:cNvSpPr txBox="1"/>
          <p:nvPr/>
        </p:nvSpPr>
        <p:spPr>
          <a:xfrm>
            <a:off x="0" y="700841"/>
            <a:ext cx="11409149" cy="4549835"/>
          </a:xfrm>
          <a:prstGeom prst="rect">
            <a:avLst/>
          </a:prstGeom>
          <a:noFill/>
        </p:spPr>
        <p:txBody>
          <a:bodyPr wrap="square" rtlCol="0">
            <a:spAutoFit/>
          </a:bodyPr>
          <a:lstStyle/>
          <a:p>
            <a:pPr>
              <a:lnSpc>
                <a:spcPct val="150000"/>
              </a:lnSpc>
            </a:pPr>
            <a:r>
              <a:rPr lang="en-US" sz="2800" b="1" dirty="0">
                <a:latin typeface="Calibir"/>
              </a:rPr>
              <a:t>4. Wireframes</a:t>
            </a:r>
          </a:p>
          <a:p>
            <a:pPr>
              <a:lnSpc>
                <a:spcPct val="150000"/>
              </a:lnSpc>
            </a:pPr>
            <a:r>
              <a:rPr lang="en-US" sz="2800" dirty="0">
                <a:latin typeface="Calibir"/>
              </a:rPr>
              <a:t>At least TWO wireframes.</a:t>
            </a:r>
          </a:p>
          <a:p>
            <a:pPr>
              <a:lnSpc>
                <a:spcPct val="150000"/>
              </a:lnSpc>
            </a:pPr>
            <a:r>
              <a:rPr lang="en-US" sz="2800" dirty="0">
                <a:latin typeface="Calibir"/>
              </a:rPr>
              <a:t>Can be:</a:t>
            </a:r>
          </a:p>
          <a:p>
            <a:pPr marL="914400" lvl="1" indent="-457200">
              <a:lnSpc>
                <a:spcPct val="150000"/>
              </a:lnSpc>
              <a:buFont typeface="Arial" panose="020B0604020202020204" pitchFamily="34" charset="0"/>
              <a:buChar char="•"/>
            </a:pPr>
            <a:r>
              <a:rPr lang="en-US" sz="2800" dirty="0">
                <a:latin typeface="Calibir"/>
              </a:rPr>
              <a:t>hand drawn </a:t>
            </a:r>
          </a:p>
          <a:p>
            <a:pPr marL="914400" lvl="1" indent="-457200">
              <a:lnSpc>
                <a:spcPct val="150000"/>
              </a:lnSpc>
              <a:buFont typeface="Arial" panose="020B0604020202020204" pitchFamily="34" charset="0"/>
              <a:buChar char="•"/>
            </a:pPr>
            <a:r>
              <a:rPr lang="en-US" sz="2800" dirty="0">
                <a:latin typeface="Calibir"/>
              </a:rPr>
              <a:t>PowerPoint </a:t>
            </a:r>
          </a:p>
          <a:p>
            <a:pPr marL="914400" lvl="1" indent="-457200">
              <a:lnSpc>
                <a:spcPct val="150000"/>
              </a:lnSpc>
              <a:buFont typeface="Arial" panose="020B0604020202020204" pitchFamily="34" charset="0"/>
              <a:buChar char="•"/>
            </a:pPr>
            <a:r>
              <a:rPr lang="en-US" sz="2800" dirty="0">
                <a:latin typeface="Calibir"/>
              </a:rPr>
              <a:t>Figma </a:t>
            </a:r>
          </a:p>
          <a:p>
            <a:pPr marL="914400" lvl="1" indent="-457200">
              <a:lnSpc>
                <a:spcPct val="150000"/>
              </a:lnSpc>
              <a:buFont typeface="Arial" panose="020B0604020202020204" pitchFamily="34" charset="0"/>
              <a:buChar char="•"/>
            </a:pPr>
            <a:r>
              <a:rPr lang="en-US" sz="2800" dirty="0">
                <a:latin typeface="Calibir"/>
              </a:rPr>
              <a:t>draw.io </a:t>
            </a:r>
          </a:p>
        </p:txBody>
      </p:sp>
      <p:sp>
        <p:nvSpPr>
          <p:cNvPr id="3" name="TextBox 2">
            <a:extLst>
              <a:ext uri="{FF2B5EF4-FFF2-40B4-BE49-F238E27FC236}">
                <a16:creationId xmlns:a16="http://schemas.microsoft.com/office/drawing/2014/main" id="{33264624-880E-79AB-ADF4-0E3BB8ABB250}"/>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4" name="Picture 3">
            <a:extLst>
              <a:ext uri="{FF2B5EF4-FFF2-40B4-BE49-F238E27FC236}">
                <a16:creationId xmlns:a16="http://schemas.microsoft.com/office/drawing/2014/main" id="{4B26DBE2-B341-47E9-915E-0BE17AB58F72}"/>
              </a:ext>
            </a:extLst>
          </p:cNvPr>
          <p:cNvPicPr>
            <a:picLocks noChangeAspect="1"/>
          </p:cNvPicPr>
          <p:nvPr/>
        </p:nvPicPr>
        <p:blipFill>
          <a:blip r:embed="rId3"/>
          <a:stretch>
            <a:fillRect/>
          </a:stretch>
        </p:blipFill>
        <p:spPr>
          <a:xfrm>
            <a:off x="2868706" y="2113029"/>
            <a:ext cx="9323294" cy="4044130"/>
          </a:xfrm>
          <a:prstGeom prst="rect">
            <a:avLst/>
          </a:prstGeom>
          <a:ln>
            <a:solidFill>
              <a:srgbClr val="FF0000"/>
            </a:solidFill>
          </a:ln>
        </p:spPr>
      </p:pic>
    </p:spTree>
    <p:extLst>
      <p:ext uri="{BB962C8B-B14F-4D97-AF65-F5344CB8AC3E}">
        <p14:creationId xmlns:p14="http://schemas.microsoft.com/office/powerpoint/2010/main" val="36878972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2284E-18EC-C55E-3A17-4D650650436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F989EC7-1164-273A-C558-15AC355F884B}"/>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58760C7E-50ED-4317-BBCC-B72732474760}"/>
              </a:ext>
            </a:extLst>
          </p:cNvPr>
          <p:cNvSpPr txBox="1"/>
          <p:nvPr/>
        </p:nvSpPr>
        <p:spPr>
          <a:xfrm>
            <a:off x="0" y="700841"/>
            <a:ext cx="11409149" cy="3257174"/>
          </a:xfrm>
          <a:prstGeom prst="rect">
            <a:avLst/>
          </a:prstGeom>
          <a:noFill/>
        </p:spPr>
        <p:txBody>
          <a:bodyPr wrap="square" rtlCol="0">
            <a:spAutoFit/>
          </a:bodyPr>
          <a:lstStyle/>
          <a:p>
            <a:pPr>
              <a:lnSpc>
                <a:spcPct val="150000"/>
              </a:lnSpc>
            </a:pPr>
            <a:r>
              <a:rPr lang="en-US" sz="2800" dirty="0">
                <a:latin typeface="Calibir"/>
              </a:rPr>
              <a:t>Must show:</a:t>
            </a:r>
          </a:p>
          <a:p>
            <a:pPr marL="914400" lvl="1" indent="-457200">
              <a:lnSpc>
                <a:spcPct val="150000"/>
              </a:lnSpc>
              <a:buFont typeface="Arial" panose="020B0604020202020204" pitchFamily="34" charset="0"/>
              <a:buChar char="•"/>
            </a:pPr>
            <a:r>
              <a:rPr lang="en-US" sz="2800" dirty="0">
                <a:latin typeface="Calibir"/>
              </a:rPr>
              <a:t>layout structure </a:t>
            </a:r>
          </a:p>
          <a:p>
            <a:pPr marL="914400" lvl="1" indent="-457200">
              <a:lnSpc>
                <a:spcPct val="150000"/>
              </a:lnSpc>
              <a:buFont typeface="Arial" panose="020B0604020202020204" pitchFamily="34" charset="0"/>
              <a:buChar char="•"/>
            </a:pPr>
            <a:r>
              <a:rPr lang="en-US" sz="2800" dirty="0">
                <a:latin typeface="Calibir"/>
              </a:rPr>
              <a:t>navigation </a:t>
            </a:r>
          </a:p>
          <a:p>
            <a:pPr marL="914400" lvl="1" indent="-457200">
              <a:lnSpc>
                <a:spcPct val="150000"/>
              </a:lnSpc>
              <a:buFont typeface="Arial" panose="020B0604020202020204" pitchFamily="34" charset="0"/>
              <a:buChar char="•"/>
            </a:pPr>
            <a:r>
              <a:rPr lang="en-US" sz="2800" dirty="0">
                <a:latin typeface="Calibir"/>
              </a:rPr>
              <a:t>placeholders </a:t>
            </a:r>
          </a:p>
          <a:p>
            <a:pPr marL="914400" lvl="1" indent="-457200">
              <a:lnSpc>
                <a:spcPct val="150000"/>
              </a:lnSpc>
              <a:buFont typeface="Arial" panose="020B0604020202020204" pitchFamily="34" charset="0"/>
              <a:buChar char="•"/>
            </a:pPr>
            <a:r>
              <a:rPr lang="en-US" sz="2800" dirty="0">
                <a:latin typeface="Calibir"/>
              </a:rPr>
              <a:t>content zones</a:t>
            </a:r>
          </a:p>
        </p:txBody>
      </p:sp>
      <p:sp>
        <p:nvSpPr>
          <p:cNvPr id="3" name="TextBox 2">
            <a:extLst>
              <a:ext uri="{FF2B5EF4-FFF2-40B4-BE49-F238E27FC236}">
                <a16:creationId xmlns:a16="http://schemas.microsoft.com/office/drawing/2014/main" id="{9997AC04-349C-9EDC-347A-E3757F148EB8}"/>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8059989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93965-7497-6118-1E5D-BBF809B0C60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B62B79F-0F57-FFC0-7D3E-4B2E8E668FA0}"/>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AE2DC187-E0DD-892E-9A2F-6CD41275A4A0}"/>
              </a:ext>
            </a:extLst>
          </p:cNvPr>
          <p:cNvSpPr txBox="1"/>
          <p:nvPr/>
        </p:nvSpPr>
        <p:spPr>
          <a:xfrm>
            <a:off x="0" y="700841"/>
            <a:ext cx="11409149" cy="4549835"/>
          </a:xfrm>
          <a:prstGeom prst="rect">
            <a:avLst/>
          </a:prstGeom>
          <a:noFill/>
        </p:spPr>
        <p:txBody>
          <a:bodyPr wrap="square" rtlCol="0">
            <a:spAutoFit/>
          </a:bodyPr>
          <a:lstStyle/>
          <a:p>
            <a:pPr>
              <a:lnSpc>
                <a:spcPct val="150000"/>
              </a:lnSpc>
            </a:pPr>
            <a:r>
              <a:rPr lang="en-US" sz="2800" b="1" dirty="0">
                <a:latin typeface="Calibir"/>
              </a:rPr>
              <a:t>5. Style Guide</a:t>
            </a:r>
          </a:p>
          <a:p>
            <a:pPr>
              <a:lnSpc>
                <a:spcPct val="150000"/>
              </a:lnSpc>
            </a:pPr>
            <a:r>
              <a:rPr lang="en-US" sz="2800" dirty="0">
                <a:latin typeface="Calibir"/>
              </a:rPr>
              <a:t>Should include:</a:t>
            </a:r>
          </a:p>
          <a:p>
            <a:pPr marL="914400" lvl="1" indent="-457200">
              <a:lnSpc>
                <a:spcPct val="150000"/>
              </a:lnSpc>
              <a:buFont typeface="Arial" panose="020B0604020202020204" pitchFamily="34" charset="0"/>
              <a:buChar char="•"/>
            </a:pPr>
            <a:r>
              <a:rPr lang="en-US" sz="2800" dirty="0" err="1">
                <a:latin typeface="Calibir"/>
              </a:rPr>
              <a:t>colour</a:t>
            </a:r>
            <a:r>
              <a:rPr lang="en-US" sz="2800" dirty="0">
                <a:latin typeface="Calibir"/>
              </a:rPr>
              <a:t> palette </a:t>
            </a:r>
          </a:p>
          <a:p>
            <a:pPr marL="914400" lvl="1" indent="-457200">
              <a:lnSpc>
                <a:spcPct val="150000"/>
              </a:lnSpc>
              <a:buFont typeface="Arial" panose="020B0604020202020204" pitchFamily="34" charset="0"/>
              <a:buChar char="•"/>
            </a:pPr>
            <a:r>
              <a:rPr lang="en-US" sz="2800" dirty="0">
                <a:latin typeface="Calibir"/>
              </a:rPr>
              <a:t>hex codes </a:t>
            </a:r>
          </a:p>
          <a:p>
            <a:pPr marL="914400" lvl="1" indent="-457200">
              <a:lnSpc>
                <a:spcPct val="150000"/>
              </a:lnSpc>
              <a:buFont typeface="Arial" panose="020B0604020202020204" pitchFamily="34" charset="0"/>
              <a:buChar char="•"/>
            </a:pPr>
            <a:r>
              <a:rPr lang="en-US" sz="2800" dirty="0">
                <a:latin typeface="Calibir"/>
              </a:rPr>
              <a:t>fonts </a:t>
            </a:r>
          </a:p>
          <a:p>
            <a:pPr marL="914400" lvl="1" indent="-457200">
              <a:lnSpc>
                <a:spcPct val="150000"/>
              </a:lnSpc>
              <a:buFont typeface="Arial" panose="020B0604020202020204" pitchFamily="34" charset="0"/>
              <a:buChar char="•"/>
            </a:pPr>
            <a:r>
              <a:rPr lang="en-US" sz="2800" dirty="0">
                <a:latin typeface="Calibir"/>
              </a:rPr>
              <a:t>spacing rules </a:t>
            </a:r>
          </a:p>
          <a:p>
            <a:pPr marL="914400" lvl="1" indent="-457200">
              <a:lnSpc>
                <a:spcPct val="150000"/>
              </a:lnSpc>
              <a:buFont typeface="Arial" panose="020B0604020202020204" pitchFamily="34" charset="0"/>
              <a:buChar char="•"/>
            </a:pPr>
            <a:r>
              <a:rPr lang="en-US" sz="2800" dirty="0">
                <a:latin typeface="Calibir"/>
              </a:rPr>
              <a:t>image style</a:t>
            </a:r>
          </a:p>
        </p:txBody>
      </p:sp>
      <p:sp>
        <p:nvSpPr>
          <p:cNvPr id="3" name="TextBox 2">
            <a:extLst>
              <a:ext uri="{FF2B5EF4-FFF2-40B4-BE49-F238E27FC236}">
                <a16:creationId xmlns:a16="http://schemas.microsoft.com/office/drawing/2014/main" id="{01979AF4-74A7-F2EB-A845-EFD36423561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4152509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13E8C-4740-A9B5-4E20-751D1DFA0AC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DB552BA-8072-A749-646D-02CDD362FEFB}"/>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0A69F605-1ED4-5D4E-FC64-61D50882E7C3}"/>
              </a:ext>
            </a:extLst>
          </p:cNvPr>
          <p:cNvSpPr txBox="1"/>
          <p:nvPr/>
        </p:nvSpPr>
        <p:spPr>
          <a:xfrm>
            <a:off x="0" y="700841"/>
            <a:ext cx="11409149" cy="4549835"/>
          </a:xfrm>
          <a:prstGeom prst="rect">
            <a:avLst/>
          </a:prstGeom>
          <a:noFill/>
        </p:spPr>
        <p:txBody>
          <a:bodyPr wrap="square" rtlCol="0">
            <a:spAutoFit/>
          </a:bodyPr>
          <a:lstStyle/>
          <a:p>
            <a:pPr>
              <a:lnSpc>
                <a:spcPct val="150000"/>
              </a:lnSpc>
            </a:pPr>
            <a:r>
              <a:rPr lang="en-US" sz="2800" b="1" dirty="0">
                <a:latin typeface="Calibir"/>
              </a:rPr>
              <a:t>6. Technical Implementation</a:t>
            </a:r>
          </a:p>
          <a:p>
            <a:pPr>
              <a:lnSpc>
                <a:spcPct val="150000"/>
              </a:lnSpc>
            </a:pPr>
            <a:r>
              <a:rPr lang="en-US" sz="2800" dirty="0">
                <a:latin typeface="Calibir"/>
              </a:rPr>
              <a:t>Students explain:</a:t>
            </a:r>
          </a:p>
          <a:p>
            <a:pPr marL="914400" lvl="1" indent="-457200">
              <a:lnSpc>
                <a:spcPct val="150000"/>
              </a:lnSpc>
              <a:buFont typeface="Arial" panose="020B0604020202020204" pitchFamily="34" charset="0"/>
              <a:buChar char="•"/>
            </a:pPr>
            <a:r>
              <a:rPr lang="en-US" sz="2800" dirty="0">
                <a:latin typeface="Calibir"/>
              </a:rPr>
              <a:t>semantic HTML5 used </a:t>
            </a:r>
          </a:p>
          <a:p>
            <a:pPr marL="914400" lvl="1" indent="-457200">
              <a:lnSpc>
                <a:spcPct val="150000"/>
              </a:lnSpc>
              <a:buFont typeface="Arial" panose="020B0604020202020204" pitchFamily="34" charset="0"/>
              <a:buChar char="•"/>
            </a:pPr>
            <a:r>
              <a:rPr lang="en-US" sz="2800" dirty="0">
                <a:latin typeface="Calibir"/>
              </a:rPr>
              <a:t>CSS techniques </a:t>
            </a:r>
          </a:p>
          <a:p>
            <a:pPr marL="914400" lvl="1" indent="-457200">
              <a:lnSpc>
                <a:spcPct val="150000"/>
              </a:lnSpc>
              <a:buFont typeface="Arial" panose="020B0604020202020204" pitchFamily="34" charset="0"/>
              <a:buChar char="•"/>
            </a:pPr>
            <a:r>
              <a:rPr lang="en-US" sz="2800" dirty="0">
                <a:latin typeface="Calibir"/>
              </a:rPr>
              <a:t>responsiveness </a:t>
            </a:r>
          </a:p>
          <a:p>
            <a:pPr marL="914400" lvl="1" indent="-457200">
              <a:lnSpc>
                <a:spcPct val="150000"/>
              </a:lnSpc>
              <a:buFont typeface="Arial" panose="020B0604020202020204" pitchFamily="34" charset="0"/>
              <a:buChar char="•"/>
            </a:pPr>
            <a:r>
              <a:rPr lang="en-US" sz="2800" dirty="0">
                <a:latin typeface="Calibir"/>
              </a:rPr>
              <a:t>challenges faced </a:t>
            </a:r>
          </a:p>
          <a:p>
            <a:pPr marL="914400" lvl="1" indent="-457200">
              <a:lnSpc>
                <a:spcPct val="150000"/>
              </a:lnSpc>
              <a:buFont typeface="Arial" panose="020B0604020202020204" pitchFamily="34" charset="0"/>
              <a:buChar char="•"/>
            </a:pPr>
            <a:r>
              <a:rPr lang="en-US" sz="2800" dirty="0">
                <a:latin typeface="Calibir"/>
              </a:rPr>
              <a:t>solutions used</a:t>
            </a:r>
          </a:p>
        </p:txBody>
      </p:sp>
      <p:sp>
        <p:nvSpPr>
          <p:cNvPr id="3" name="TextBox 2">
            <a:extLst>
              <a:ext uri="{FF2B5EF4-FFF2-40B4-BE49-F238E27FC236}">
                <a16:creationId xmlns:a16="http://schemas.microsoft.com/office/drawing/2014/main" id="{6002C5B1-7286-81BE-1317-C3BF4BAF4A0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3740968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50D7A-FC08-D9E0-79E1-3A06AD0ECC4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B3B5B5A-E97F-BBA2-7FB4-861E43D6C18F}"/>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79E393B1-60B2-28B0-3594-412BB6535E25}"/>
              </a:ext>
            </a:extLst>
          </p:cNvPr>
          <p:cNvSpPr txBox="1"/>
          <p:nvPr/>
        </p:nvSpPr>
        <p:spPr>
          <a:xfrm>
            <a:off x="0" y="700841"/>
            <a:ext cx="11409149" cy="2610843"/>
          </a:xfrm>
          <a:prstGeom prst="rect">
            <a:avLst/>
          </a:prstGeom>
          <a:noFill/>
        </p:spPr>
        <p:txBody>
          <a:bodyPr wrap="square" rtlCol="0">
            <a:spAutoFit/>
          </a:bodyPr>
          <a:lstStyle/>
          <a:p>
            <a:pPr>
              <a:lnSpc>
                <a:spcPct val="150000"/>
              </a:lnSpc>
            </a:pPr>
            <a:r>
              <a:rPr lang="en-US" sz="2800" b="1" dirty="0">
                <a:latin typeface="Calibir"/>
              </a:rPr>
              <a:t>7. W3C Validation Screenshots</a:t>
            </a:r>
          </a:p>
          <a:p>
            <a:pPr>
              <a:lnSpc>
                <a:spcPct val="150000"/>
              </a:lnSpc>
            </a:pPr>
            <a:r>
              <a:rPr lang="en-US" sz="2800" dirty="0">
                <a:latin typeface="Calibir"/>
              </a:rPr>
              <a:t>Students must include screenshots showing:</a:t>
            </a:r>
          </a:p>
          <a:p>
            <a:pPr marL="914400" lvl="1" indent="-457200">
              <a:lnSpc>
                <a:spcPct val="150000"/>
              </a:lnSpc>
              <a:buFont typeface="Arial" panose="020B0604020202020204" pitchFamily="34" charset="0"/>
              <a:buChar char="•"/>
            </a:pPr>
            <a:r>
              <a:rPr lang="en-US" sz="2800" dirty="0">
                <a:latin typeface="Calibir"/>
              </a:rPr>
              <a:t>HTML validation </a:t>
            </a:r>
          </a:p>
          <a:p>
            <a:pPr marL="914400" lvl="1" indent="-457200">
              <a:lnSpc>
                <a:spcPct val="150000"/>
              </a:lnSpc>
              <a:buFont typeface="Arial" panose="020B0604020202020204" pitchFamily="34" charset="0"/>
              <a:buChar char="•"/>
            </a:pPr>
            <a:r>
              <a:rPr lang="en-US" sz="2800" dirty="0">
                <a:latin typeface="Calibir"/>
              </a:rPr>
              <a:t>CSS validation</a:t>
            </a:r>
          </a:p>
        </p:txBody>
      </p:sp>
      <p:sp>
        <p:nvSpPr>
          <p:cNvPr id="3" name="TextBox 2">
            <a:extLst>
              <a:ext uri="{FF2B5EF4-FFF2-40B4-BE49-F238E27FC236}">
                <a16:creationId xmlns:a16="http://schemas.microsoft.com/office/drawing/2014/main" id="{0ABEF621-6F99-1BB0-6AD3-8A937C721DF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8064746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687C7-79C1-AC11-FAED-80CD19DFD9C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339903F-C174-0049-5444-99CD990592BA}"/>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F79EEC50-D87F-C480-84D0-DC217A32C9F8}"/>
              </a:ext>
            </a:extLst>
          </p:cNvPr>
          <p:cNvSpPr txBox="1"/>
          <p:nvPr/>
        </p:nvSpPr>
        <p:spPr>
          <a:xfrm>
            <a:off x="0" y="700841"/>
            <a:ext cx="11409149" cy="3903504"/>
          </a:xfrm>
          <a:prstGeom prst="rect">
            <a:avLst/>
          </a:prstGeom>
          <a:noFill/>
        </p:spPr>
        <p:txBody>
          <a:bodyPr wrap="square" rtlCol="0">
            <a:spAutoFit/>
          </a:bodyPr>
          <a:lstStyle/>
          <a:p>
            <a:pPr>
              <a:lnSpc>
                <a:spcPct val="150000"/>
              </a:lnSpc>
            </a:pPr>
            <a:r>
              <a:rPr lang="en-US" sz="2800" b="1" dirty="0">
                <a:latin typeface="Calibir"/>
              </a:rPr>
              <a:t>8. Individual Reflections</a:t>
            </a:r>
          </a:p>
          <a:p>
            <a:pPr>
              <a:lnSpc>
                <a:spcPct val="150000"/>
              </a:lnSpc>
            </a:pPr>
            <a:r>
              <a:rPr lang="en-US" sz="2800" dirty="0">
                <a:latin typeface="Calibir"/>
              </a:rPr>
              <a:t>Each student writes about:</a:t>
            </a:r>
          </a:p>
          <a:p>
            <a:pPr marL="914400" lvl="1" indent="-457200">
              <a:lnSpc>
                <a:spcPct val="150000"/>
              </a:lnSpc>
              <a:buFont typeface="Arial" panose="020B0604020202020204" pitchFamily="34" charset="0"/>
              <a:buChar char="•"/>
            </a:pPr>
            <a:r>
              <a:rPr lang="en-US" sz="2800" dirty="0">
                <a:latin typeface="Calibir"/>
              </a:rPr>
              <a:t>contribution </a:t>
            </a:r>
          </a:p>
          <a:p>
            <a:pPr marL="914400" lvl="1" indent="-457200">
              <a:lnSpc>
                <a:spcPct val="150000"/>
              </a:lnSpc>
              <a:buFont typeface="Arial" panose="020B0604020202020204" pitchFamily="34" charset="0"/>
              <a:buChar char="•"/>
            </a:pPr>
            <a:r>
              <a:rPr lang="en-US" sz="2800" dirty="0">
                <a:latin typeface="Calibir"/>
              </a:rPr>
              <a:t>learning experience </a:t>
            </a:r>
          </a:p>
          <a:p>
            <a:pPr marL="914400" lvl="1" indent="-457200">
              <a:lnSpc>
                <a:spcPct val="150000"/>
              </a:lnSpc>
              <a:buFont typeface="Arial" panose="020B0604020202020204" pitchFamily="34" charset="0"/>
              <a:buChar char="•"/>
            </a:pPr>
            <a:r>
              <a:rPr lang="en-US" sz="2800" dirty="0">
                <a:latin typeface="Calibir"/>
              </a:rPr>
              <a:t>improvements for future </a:t>
            </a:r>
          </a:p>
          <a:p>
            <a:pPr>
              <a:lnSpc>
                <a:spcPct val="150000"/>
              </a:lnSpc>
            </a:pPr>
            <a:r>
              <a:rPr lang="en-US" sz="2800" dirty="0">
                <a:latin typeface="Calibir"/>
              </a:rPr>
              <a:t>Approximately 100 words each.</a:t>
            </a:r>
          </a:p>
        </p:txBody>
      </p:sp>
      <p:sp>
        <p:nvSpPr>
          <p:cNvPr id="3" name="TextBox 2">
            <a:extLst>
              <a:ext uri="{FF2B5EF4-FFF2-40B4-BE49-F238E27FC236}">
                <a16:creationId xmlns:a16="http://schemas.microsoft.com/office/drawing/2014/main" id="{7DFBCF40-1C11-A66C-75F9-1BDFF5E01309}"/>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40823562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74F5-3185-923B-4FCF-B47C08137A1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2464D86-F2BB-D852-C42C-2E6008FC8145}"/>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880B264C-3AB6-F3C0-0B81-F0D1C5C70D5E}"/>
              </a:ext>
            </a:extLst>
          </p:cNvPr>
          <p:cNvSpPr txBox="1"/>
          <p:nvPr/>
        </p:nvSpPr>
        <p:spPr>
          <a:xfrm>
            <a:off x="0" y="700841"/>
            <a:ext cx="11409149" cy="3903504"/>
          </a:xfrm>
          <a:prstGeom prst="rect">
            <a:avLst/>
          </a:prstGeom>
          <a:noFill/>
        </p:spPr>
        <p:txBody>
          <a:bodyPr wrap="square" rtlCol="0">
            <a:spAutoFit/>
          </a:bodyPr>
          <a:lstStyle/>
          <a:p>
            <a:pPr>
              <a:lnSpc>
                <a:spcPct val="150000"/>
              </a:lnSpc>
            </a:pPr>
            <a:r>
              <a:rPr lang="en-US" sz="2800" b="1" dirty="0">
                <a:latin typeface="Calibir"/>
              </a:rPr>
              <a:t>9. References</a:t>
            </a:r>
          </a:p>
          <a:p>
            <a:pPr>
              <a:lnSpc>
                <a:spcPct val="150000"/>
              </a:lnSpc>
            </a:pPr>
            <a:r>
              <a:rPr lang="en-US" sz="2800" dirty="0">
                <a:latin typeface="Calibir"/>
              </a:rPr>
              <a:t>Use Adapted Harvard Referencing.</a:t>
            </a:r>
          </a:p>
          <a:p>
            <a:pPr>
              <a:lnSpc>
                <a:spcPct val="150000"/>
              </a:lnSpc>
            </a:pPr>
            <a:r>
              <a:rPr lang="en-US" sz="2800" dirty="0">
                <a:latin typeface="Calibir"/>
              </a:rPr>
              <a:t>Include:</a:t>
            </a:r>
          </a:p>
          <a:p>
            <a:pPr marL="914400" lvl="1" indent="-457200">
              <a:lnSpc>
                <a:spcPct val="150000"/>
              </a:lnSpc>
              <a:buFont typeface="Arial" panose="020B0604020202020204" pitchFamily="34" charset="0"/>
              <a:buChar char="•"/>
            </a:pPr>
            <a:r>
              <a:rPr lang="en-US" sz="2800" dirty="0">
                <a:latin typeface="Calibir"/>
              </a:rPr>
              <a:t>image sources </a:t>
            </a:r>
          </a:p>
          <a:p>
            <a:pPr marL="914400" lvl="1" indent="-457200">
              <a:lnSpc>
                <a:spcPct val="150000"/>
              </a:lnSpc>
              <a:buFont typeface="Arial" panose="020B0604020202020204" pitchFamily="34" charset="0"/>
              <a:buChar char="•"/>
            </a:pPr>
            <a:r>
              <a:rPr lang="en-US" sz="2800" dirty="0">
                <a:latin typeface="Calibir"/>
              </a:rPr>
              <a:t>website references </a:t>
            </a:r>
          </a:p>
          <a:p>
            <a:pPr marL="914400" lvl="1" indent="-457200">
              <a:lnSpc>
                <a:spcPct val="150000"/>
              </a:lnSpc>
              <a:buFont typeface="Arial" panose="020B0604020202020204" pitchFamily="34" charset="0"/>
              <a:buChar char="•"/>
            </a:pPr>
            <a:r>
              <a:rPr lang="en-US" sz="2800" dirty="0">
                <a:latin typeface="Calibir"/>
              </a:rPr>
              <a:t>tutorials if used</a:t>
            </a:r>
          </a:p>
        </p:txBody>
      </p:sp>
      <p:sp>
        <p:nvSpPr>
          <p:cNvPr id="3" name="TextBox 2">
            <a:extLst>
              <a:ext uri="{FF2B5EF4-FFF2-40B4-BE49-F238E27FC236}">
                <a16:creationId xmlns:a16="http://schemas.microsoft.com/office/drawing/2014/main" id="{A28FC370-6898-B281-5CAA-ABD0A64D13B1}"/>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27533474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D85D8-C1BD-7EF7-AB08-D748C9B8EBA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A490C7A-7860-8B06-DC00-4A07B7ECACF7}"/>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7F2905C1-A6B6-FC22-4591-E8CB575616A3}"/>
              </a:ext>
            </a:extLst>
          </p:cNvPr>
          <p:cNvSpPr txBox="1"/>
          <p:nvPr/>
        </p:nvSpPr>
        <p:spPr>
          <a:xfrm>
            <a:off x="0" y="700841"/>
            <a:ext cx="11409149" cy="6124754"/>
          </a:xfrm>
          <a:prstGeom prst="rect">
            <a:avLst/>
          </a:prstGeom>
          <a:noFill/>
        </p:spPr>
        <p:txBody>
          <a:bodyPr wrap="square" rtlCol="0">
            <a:spAutoFit/>
          </a:bodyPr>
          <a:lstStyle/>
          <a:p>
            <a:r>
              <a:rPr lang="en-US" sz="2800" b="1" dirty="0">
                <a:latin typeface="Calibir"/>
              </a:rPr>
              <a:t>Example Final Folder Structure</a:t>
            </a:r>
          </a:p>
          <a:p>
            <a:r>
              <a:rPr lang="en-US" sz="2800" dirty="0">
                <a:latin typeface="Calibir"/>
              </a:rPr>
              <a:t>sunrisecafe_HS1021_website.zip</a:t>
            </a:r>
            <a:br>
              <a:rPr lang="en-US" sz="2800" dirty="0">
                <a:latin typeface="Calibir"/>
              </a:rPr>
            </a:br>
            <a:r>
              <a:rPr lang="en-US" sz="2800" dirty="0">
                <a:latin typeface="Calibir"/>
              </a:rPr>
              <a:t> │</a:t>
            </a:r>
            <a:br>
              <a:rPr lang="en-US" sz="2800" dirty="0">
                <a:latin typeface="Calibir"/>
              </a:rPr>
            </a:br>
            <a:r>
              <a:rPr lang="en-US" sz="2800" dirty="0">
                <a:latin typeface="Calibir"/>
              </a:rPr>
              <a:t>├ index.html</a:t>
            </a:r>
            <a:br>
              <a:rPr lang="en-US" sz="2800" dirty="0">
                <a:latin typeface="Calibir"/>
              </a:rPr>
            </a:br>
            <a:r>
              <a:rPr lang="en-US" sz="2800" dirty="0">
                <a:latin typeface="Calibir"/>
              </a:rPr>
              <a:t>├ menu.html</a:t>
            </a:r>
            <a:br>
              <a:rPr lang="en-US" sz="2800" dirty="0">
                <a:latin typeface="Calibir"/>
              </a:rPr>
            </a:br>
            <a:r>
              <a:rPr lang="en-US" sz="2800" dirty="0">
                <a:latin typeface="Calibir"/>
              </a:rPr>
              <a:t>├ gallery.html</a:t>
            </a:r>
            <a:br>
              <a:rPr lang="en-US" sz="2800" dirty="0">
                <a:latin typeface="Calibir"/>
              </a:rPr>
            </a:br>
            <a:r>
              <a:rPr lang="en-US" sz="2800" dirty="0">
                <a:latin typeface="Calibir"/>
              </a:rPr>
              <a:t>├ contact.html</a:t>
            </a:r>
            <a:br>
              <a:rPr lang="en-US" sz="2800" dirty="0">
                <a:latin typeface="Calibir"/>
              </a:rPr>
            </a:br>
            <a:r>
              <a:rPr lang="en-US" sz="2800" dirty="0">
                <a:latin typeface="Calibir"/>
              </a:rPr>
              <a:t>├ styles.css</a:t>
            </a:r>
            <a:br>
              <a:rPr lang="en-US" sz="2800" dirty="0">
                <a:latin typeface="Calibir"/>
              </a:rPr>
            </a:br>
            <a:r>
              <a:rPr lang="en-US" sz="2800" dirty="0">
                <a:latin typeface="Calibir"/>
              </a:rPr>
              <a:t>├ README.txt</a:t>
            </a:r>
            <a:br>
              <a:rPr lang="en-US" sz="2800" dirty="0">
                <a:latin typeface="Calibir"/>
              </a:rPr>
            </a:br>
            <a:r>
              <a:rPr lang="en-US" sz="2800" dirty="0">
                <a:latin typeface="Calibir"/>
              </a:rPr>
              <a:t> │</a:t>
            </a:r>
            <a:br>
              <a:rPr lang="en-US" sz="2800" dirty="0">
                <a:latin typeface="Calibir"/>
              </a:rPr>
            </a:br>
            <a:r>
              <a:rPr lang="en-US" sz="2800" dirty="0">
                <a:latin typeface="Calibir"/>
              </a:rPr>
              <a:t> └── images/</a:t>
            </a:r>
            <a:br>
              <a:rPr lang="en-US" sz="2800" dirty="0">
                <a:latin typeface="Calibir"/>
              </a:rPr>
            </a:br>
            <a:r>
              <a:rPr lang="en-US" sz="2800" dirty="0">
                <a:latin typeface="Calibir"/>
              </a:rPr>
              <a:t>    ├ coffee.jpg</a:t>
            </a:r>
            <a:br>
              <a:rPr lang="en-US" sz="2800" dirty="0">
                <a:latin typeface="Calibir"/>
              </a:rPr>
            </a:br>
            <a:r>
              <a:rPr lang="en-US" sz="2800" dirty="0">
                <a:latin typeface="Calibir"/>
              </a:rPr>
              <a:t>    ├ bakery.jpg</a:t>
            </a:r>
            <a:br>
              <a:rPr lang="en-US" sz="2800" dirty="0">
                <a:latin typeface="Calibir"/>
              </a:rPr>
            </a:br>
            <a:r>
              <a:rPr lang="en-US" sz="2800" dirty="0">
                <a:latin typeface="Calibir"/>
              </a:rPr>
              <a:t>     └─ cafe.jpg</a:t>
            </a:r>
          </a:p>
        </p:txBody>
      </p:sp>
      <p:sp>
        <p:nvSpPr>
          <p:cNvPr id="3" name="TextBox 2">
            <a:extLst>
              <a:ext uri="{FF2B5EF4-FFF2-40B4-BE49-F238E27FC236}">
                <a16:creationId xmlns:a16="http://schemas.microsoft.com/office/drawing/2014/main" id="{FB921755-07D7-971C-AA59-F2E96D1E5DE9}"/>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28789392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7D41F-F385-14F7-5566-B8B54EF036D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2BDA103-E82C-1721-109E-20A0E066A595}"/>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B8BC85BA-D061-31E7-E513-BC524D7048F3}"/>
              </a:ext>
            </a:extLst>
          </p:cNvPr>
          <p:cNvSpPr txBox="1"/>
          <p:nvPr/>
        </p:nvSpPr>
        <p:spPr>
          <a:xfrm>
            <a:off x="0" y="700841"/>
            <a:ext cx="11409149" cy="5842497"/>
          </a:xfrm>
          <a:prstGeom prst="rect">
            <a:avLst/>
          </a:prstGeom>
          <a:noFill/>
        </p:spPr>
        <p:txBody>
          <a:bodyPr wrap="square" rtlCol="0">
            <a:spAutoFit/>
          </a:bodyPr>
          <a:lstStyle/>
          <a:p>
            <a:pPr>
              <a:lnSpc>
                <a:spcPct val="150000"/>
              </a:lnSpc>
            </a:pPr>
            <a:r>
              <a:rPr lang="en-US" sz="2800" b="1" dirty="0">
                <a:latin typeface="Calibir"/>
              </a:rPr>
              <a:t>What Students Should Avoid</a:t>
            </a:r>
          </a:p>
          <a:p>
            <a:pPr>
              <a:lnSpc>
                <a:spcPct val="150000"/>
              </a:lnSpc>
            </a:pPr>
            <a:r>
              <a:rPr lang="en-US" sz="2800" b="1" dirty="0">
                <a:latin typeface="Calibir"/>
              </a:rPr>
              <a:t>Do NOT Submit</a:t>
            </a:r>
          </a:p>
          <a:p>
            <a:pPr marL="914400" lvl="1" indent="-457200">
              <a:lnSpc>
                <a:spcPct val="150000"/>
              </a:lnSpc>
              <a:buFont typeface="Arial" panose="020B0604020202020204" pitchFamily="34" charset="0"/>
              <a:buChar char="•"/>
            </a:pPr>
            <a:r>
              <a:rPr lang="en-US" sz="2800" dirty="0">
                <a:latin typeface="Calibir"/>
              </a:rPr>
              <a:t>screenshots instead of HTML files </a:t>
            </a:r>
          </a:p>
          <a:p>
            <a:pPr marL="914400" lvl="1" indent="-457200">
              <a:lnSpc>
                <a:spcPct val="150000"/>
              </a:lnSpc>
              <a:buFont typeface="Arial" panose="020B0604020202020204" pitchFamily="34" charset="0"/>
              <a:buChar char="•"/>
            </a:pPr>
            <a:r>
              <a:rPr lang="en-US" sz="2800" dirty="0">
                <a:latin typeface="Calibir"/>
              </a:rPr>
              <a:t>handwritten work </a:t>
            </a:r>
          </a:p>
          <a:p>
            <a:pPr marL="914400" lvl="1" indent="-457200">
              <a:lnSpc>
                <a:spcPct val="150000"/>
              </a:lnSpc>
              <a:buFont typeface="Arial" panose="020B0604020202020204" pitchFamily="34" charset="0"/>
              <a:buChar char="•"/>
            </a:pPr>
            <a:r>
              <a:rPr lang="en-US" sz="2800" dirty="0">
                <a:latin typeface="Calibir"/>
              </a:rPr>
              <a:t>PDF report </a:t>
            </a:r>
          </a:p>
          <a:p>
            <a:pPr marL="914400" lvl="1" indent="-457200">
              <a:lnSpc>
                <a:spcPct val="150000"/>
              </a:lnSpc>
              <a:buFont typeface="Arial" panose="020B0604020202020204" pitchFamily="34" charset="0"/>
              <a:buChar char="•"/>
            </a:pPr>
            <a:r>
              <a:rPr lang="en-US" sz="2800" dirty="0">
                <a:latin typeface="Calibir"/>
              </a:rPr>
              <a:t>missing CSS file </a:t>
            </a:r>
          </a:p>
          <a:p>
            <a:pPr marL="914400" lvl="1" indent="-457200">
              <a:lnSpc>
                <a:spcPct val="150000"/>
              </a:lnSpc>
              <a:buFont typeface="Arial" panose="020B0604020202020204" pitchFamily="34" charset="0"/>
              <a:buChar char="•"/>
            </a:pPr>
            <a:r>
              <a:rPr lang="en-US" sz="2800" dirty="0">
                <a:latin typeface="Calibir"/>
              </a:rPr>
              <a:t>broken links </a:t>
            </a:r>
          </a:p>
          <a:p>
            <a:pPr marL="914400" lvl="1" indent="-457200">
              <a:lnSpc>
                <a:spcPct val="150000"/>
              </a:lnSpc>
              <a:buFont typeface="Arial" panose="020B0604020202020204" pitchFamily="34" charset="0"/>
              <a:buChar char="•"/>
            </a:pPr>
            <a:r>
              <a:rPr lang="en-US" sz="2800" dirty="0">
                <a:latin typeface="Calibir"/>
              </a:rPr>
              <a:t>empty pages </a:t>
            </a:r>
          </a:p>
          <a:p>
            <a:pPr marL="914400" lvl="1" indent="-457200">
              <a:lnSpc>
                <a:spcPct val="150000"/>
              </a:lnSpc>
              <a:buFont typeface="Arial" panose="020B0604020202020204" pitchFamily="34" charset="0"/>
              <a:buChar char="•"/>
            </a:pPr>
            <a:r>
              <a:rPr lang="en-US" sz="2800" dirty="0">
                <a:latin typeface="Calibir"/>
              </a:rPr>
              <a:t>copied templates</a:t>
            </a:r>
          </a:p>
        </p:txBody>
      </p:sp>
      <p:sp>
        <p:nvSpPr>
          <p:cNvPr id="3" name="TextBox 2">
            <a:extLst>
              <a:ext uri="{FF2B5EF4-FFF2-40B4-BE49-F238E27FC236}">
                <a16:creationId xmlns:a16="http://schemas.microsoft.com/office/drawing/2014/main" id="{17958802-CF85-5DDE-29C4-325656E01DD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4063037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7EC85-4FBD-AD70-A72C-2C272128F2D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BEEB283-1FF6-D022-E38A-8D1405DF3224}"/>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929FDD48-1F84-C8DC-1734-002925EC53AE}"/>
              </a:ext>
            </a:extLst>
          </p:cNvPr>
          <p:cNvSpPr txBox="1"/>
          <p:nvPr/>
        </p:nvSpPr>
        <p:spPr>
          <a:xfrm>
            <a:off x="0" y="700841"/>
            <a:ext cx="11409149" cy="4549835"/>
          </a:xfrm>
          <a:prstGeom prst="rect">
            <a:avLst/>
          </a:prstGeom>
          <a:noFill/>
        </p:spPr>
        <p:txBody>
          <a:bodyPr wrap="square" rtlCol="0">
            <a:spAutoFit/>
          </a:bodyPr>
          <a:lstStyle/>
          <a:p>
            <a:pPr>
              <a:lnSpc>
                <a:spcPct val="150000"/>
              </a:lnSpc>
            </a:pPr>
            <a:r>
              <a:rPr lang="en-US" sz="2800" b="1" dirty="0">
                <a:latin typeface="Calibir"/>
              </a:rPr>
              <a:t>Do NOT Use</a:t>
            </a:r>
          </a:p>
          <a:p>
            <a:pPr marL="914400" lvl="1" indent="-457200">
              <a:lnSpc>
                <a:spcPct val="150000"/>
              </a:lnSpc>
              <a:buFont typeface="Arial" panose="020B0604020202020204" pitchFamily="34" charset="0"/>
              <a:buChar char="•"/>
            </a:pPr>
            <a:r>
              <a:rPr lang="en-US" sz="2800" dirty="0">
                <a:latin typeface="Calibir"/>
              </a:rPr>
              <a:t>Bootstrap </a:t>
            </a:r>
          </a:p>
          <a:p>
            <a:pPr marL="914400" lvl="1" indent="-457200">
              <a:lnSpc>
                <a:spcPct val="150000"/>
              </a:lnSpc>
              <a:buFont typeface="Arial" panose="020B0604020202020204" pitchFamily="34" charset="0"/>
              <a:buChar char="•"/>
            </a:pPr>
            <a:r>
              <a:rPr lang="en-US" sz="2800" dirty="0">
                <a:latin typeface="Calibir"/>
              </a:rPr>
              <a:t>Tailwind </a:t>
            </a:r>
          </a:p>
          <a:p>
            <a:pPr marL="914400" lvl="1" indent="-457200">
              <a:lnSpc>
                <a:spcPct val="150000"/>
              </a:lnSpc>
              <a:buFont typeface="Arial" panose="020B0604020202020204" pitchFamily="34" charset="0"/>
              <a:buChar char="•"/>
            </a:pPr>
            <a:r>
              <a:rPr lang="en-US" sz="2800" dirty="0">
                <a:latin typeface="Calibir"/>
              </a:rPr>
              <a:t>Wix </a:t>
            </a:r>
          </a:p>
          <a:p>
            <a:pPr marL="914400" lvl="1" indent="-457200">
              <a:lnSpc>
                <a:spcPct val="150000"/>
              </a:lnSpc>
              <a:buFont typeface="Arial" panose="020B0604020202020204" pitchFamily="34" charset="0"/>
              <a:buChar char="•"/>
            </a:pPr>
            <a:r>
              <a:rPr lang="en-US" sz="2800" dirty="0">
                <a:latin typeface="Calibir"/>
              </a:rPr>
              <a:t>WordPress </a:t>
            </a:r>
          </a:p>
          <a:p>
            <a:pPr marL="914400" lvl="1" indent="-457200">
              <a:lnSpc>
                <a:spcPct val="150000"/>
              </a:lnSpc>
              <a:buFont typeface="Arial" panose="020B0604020202020204" pitchFamily="34" charset="0"/>
              <a:buChar char="•"/>
            </a:pPr>
            <a:r>
              <a:rPr lang="en-US" sz="2800" dirty="0">
                <a:latin typeface="Calibir"/>
              </a:rPr>
              <a:t>AI-generated full code </a:t>
            </a:r>
          </a:p>
          <a:p>
            <a:pPr marL="914400" lvl="1" indent="-457200">
              <a:lnSpc>
                <a:spcPct val="150000"/>
              </a:lnSpc>
              <a:buFont typeface="Arial" panose="020B0604020202020204" pitchFamily="34" charset="0"/>
              <a:buChar char="•"/>
            </a:pPr>
            <a:r>
              <a:rPr lang="en-US" sz="2800" dirty="0">
                <a:latin typeface="Calibir"/>
              </a:rPr>
              <a:t>website builders</a:t>
            </a:r>
          </a:p>
        </p:txBody>
      </p:sp>
      <p:sp>
        <p:nvSpPr>
          <p:cNvPr id="3" name="TextBox 2">
            <a:extLst>
              <a:ext uri="{FF2B5EF4-FFF2-40B4-BE49-F238E27FC236}">
                <a16:creationId xmlns:a16="http://schemas.microsoft.com/office/drawing/2014/main" id="{18FEF105-612D-2D09-D371-41123C2A5471}"/>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40631666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CF1EC-385F-F803-C09D-814795303D2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60339B2-E521-0BC8-7AC3-EEB5D7A05308}"/>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237C969F-A2BC-B45C-27ED-3DA1F4E66681}"/>
              </a:ext>
            </a:extLst>
          </p:cNvPr>
          <p:cNvSpPr txBox="1"/>
          <p:nvPr/>
        </p:nvSpPr>
        <p:spPr>
          <a:xfrm>
            <a:off x="0" y="457786"/>
            <a:ext cx="11409149" cy="6485943"/>
          </a:xfrm>
          <a:prstGeom prst="rect">
            <a:avLst/>
          </a:prstGeom>
          <a:noFill/>
        </p:spPr>
        <p:txBody>
          <a:bodyPr wrap="square" rtlCol="0">
            <a:spAutoFit/>
          </a:bodyPr>
          <a:lstStyle/>
          <a:p>
            <a:pPr>
              <a:lnSpc>
                <a:spcPct val="150000"/>
              </a:lnSpc>
            </a:pPr>
            <a:r>
              <a:rPr lang="en-US" sz="2800" b="1" dirty="0">
                <a:latin typeface="Calibir"/>
              </a:rPr>
              <a:t>Before Submission Checklist</a:t>
            </a:r>
          </a:p>
          <a:p>
            <a:pPr>
              <a:lnSpc>
                <a:spcPct val="150000"/>
              </a:lnSpc>
            </a:pPr>
            <a:r>
              <a:rPr lang="en-US" sz="2800" b="1" dirty="0">
                <a:latin typeface="Calibir"/>
              </a:rPr>
              <a:t>Website Checklist</a:t>
            </a:r>
          </a:p>
          <a:p>
            <a:pPr marL="457200" indent="-457200">
              <a:lnSpc>
                <a:spcPct val="150000"/>
              </a:lnSpc>
              <a:buFont typeface="Wingdings" panose="05000000000000000000" pitchFamily="2" charset="2"/>
              <a:buChar char="ü"/>
            </a:pPr>
            <a:r>
              <a:rPr lang="en-US" sz="2800" dirty="0">
                <a:highlight>
                  <a:srgbClr val="FFFF00"/>
                </a:highlight>
                <a:latin typeface="Calibir"/>
              </a:rPr>
              <a:t>All pages open correctly </a:t>
            </a:r>
          </a:p>
          <a:p>
            <a:pPr marL="457200" indent="-457200">
              <a:lnSpc>
                <a:spcPct val="150000"/>
              </a:lnSpc>
              <a:buFont typeface="Wingdings" panose="05000000000000000000" pitchFamily="2" charset="2"/>
              <a:buChar char="ü"/>
            </a:pPr>
            <a:r>
              <a:rPr lang="en-US" sz="2800" dirty="0">
                <a:highlight>
                  <a:srgbClr val="FFFF00"/>
                </a:highlight>
                <a:latin typeface="Calibir"/>
              </a:rPr>
              <a:t>Navigation links work </a:t>
            </a:r>
          </a:p>
          <a:p>
            <a:pPr marL="457200" indent="-457200">
              <a:lnSpc>
                <a:spcPct val="150000"/>
              </a:lnSpc>
              <a:buFont typeface="Wingdings" panose="05000000000000000000" pitchFamily="2" charset="2"/>
              <a:buChar char="ü"/>
            </a:pPr>
            <a:r>
              <a:rPr lang="en-US" sz="2800" dirty="0">
                <a:highlight>
                  <a:srgbClr val="FFFF00"/>
                </a:highlight>
                <a:latin typeface="Calibir"/>
              </a:rPr>
              <a:t>Images display correctly </a:t>
            </a:r>
          </a:p>
          <a:p>
            <a:pPr marL="457200" indent="-457200">
              <a:lnSpc>
                <a:spcPct val="150000"/>
              </a:lnSpc>
              <a:buFont typeface="Wingdings" panose="05000000000000000000" pitchFamily="2" charset="2"/>
              <a:buChar char="ü"/>
            </a:pPr>
            <a:r>
              <a:rPr lang="en-US" sz="2800" dirty="0">
                <a:highlight>
                  <a:srgbClr val="FFFF00"/>
                </a:highlight>
                <a:latin typeface="Calibir"/>
              </a:rPr>
              <a:t>Mobile layout works </a:t>
            </a:r>
          </a:p>
          <a:p>
            <a:pPr marL="457200" indent="-457200">
              <a:lnSpc>
                <a:spcPct val="150000"/>
              </a:lnSpc>
              <a:buFont typeface="Wingdings" panose="05000000000000000000" pitchFamily="2" charset="2"/>
              <a:buChar char="ü"/>
            </a:pPr>
            <a:r>
              <a:rPr lang="en-US" sz="2800" dirty="0">
                <a:highlight>
                  <a:srgbClr val="FFFF00"/>
                </a:highlight>
                <a:latin typeface="Calibir"/>
              </a:rPr>
              <a:t>CSS linked properly </a:t>
            </a:r>
          </a:p>
          <a:p>
            <a:pPr marL="457200" indent="-457200">
              <a:lnSpc>
                <a:spcPct val="150000"/>
              </a:lnSpc>
              <a:buFont typeface="Wingdings" panose="05000000000000000000" pitchFamily="2" charset="2"/>
              <a:buChar char="ü"/>
            </a:pPr>
            <a:r>
              <a:rPr lang="en-US" sz="2800" dirty="0">
                <a:highlight>
                  <a:srgbClr val="FFFF00"/>
                </a:highlight>
                <a:latin typeface="Calibir"/>
              </a:rPr>
              <a:t>Contact form included </a:t>
            </a:r>
          </a:p>
          <a:p>
            <a:pPr marL="457200" indent="-457200">
              <a:lnSpc>
                <a:spcPct val="150000"/>
              </a:lnSpc>
              <a:buFont typeface="Wingdings" panose="05000000000000000000" pitchFamily="2" charset="2"/>
              <a:buChar char="ü"/>
            </a:pPr>
            <a:r>
              <a:rPr lang="en-US" sz="2800" dirty="0">
                <a:highlight>
                  <a:srgbClr val="FFFF00"/>
                </a:highlight>
                <a:latin typeface="Calibir"/>
              </a:rPr>
              <a:t>HTML validated </a:t>
            </a:r>
          </a:p>
          <a:p>
            <a:pPr marL="457200" indent="-457200">
              <a:lnSpc>
                <a:spcPct val="150000"/>
              </a:lnSpc>
              <a:buFont typeface="Wingdings" panose="05000000000000000000" pitchFamily="2" charset="2"/>
              <a:buChar char="ü"/>
            </a:pPr>
            <a:r>
              <a:rPr lang="en-US" sz="2800" dirty="0">
                <a:highlight>
                  <a:srgbClr val="FFFF00"/>
                </a:highlight>
                <a:latin typeface="Calibir"/>
              </a:rPr>
              <a:t>CSS validated \</a:t>
            </a:r>
          </a:p>
        </p:txBody>
      </p:sp>
      <p:sp>
        <p:nvSpPr>
          <p:cNvPr id="3" name="TextBox 2">
            <a:extLst>
              <a:ext uri="{FF2B5EF4-FFF2-40B4-BE49-F238E27FC236}">
                <a16:creationId xmlns:a16="http://schemas.microsoft.com/office/drawing/2014/main" id="{3DD3D67F-AADD-466F-E2D6-1817C3680887}"/>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879793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DBAED-A61C-5E57-06E5-E843121E095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690D74F-A366-0C8B-E36D-A673C60C1E05}"/>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06CA67D1-EC7C-BFA3-B1C9-FC55EDEB72FF}"/>
              </a:ext>
            </a:extLst>
          </p:cNvPr>
          <p:cNvSpPr txBox="1"/>
          <p:nvPr/>
        </p:nvSpPr>
        <p:spPr>
          <a:xfrm>
            <a:off x="0" y="457786"/>
            <a:ext cx="11409149" cy="5842497"/>
          </a:xfrm>
          <a:prstGeom prst="rect">
            <a:avLst/>
          </a:prstGeom>
          <a:noFill/>
        </p:spPr>
        <p:txBody>
          <a:bodyPr wrap="square" rtlCol="0">
            <a:spAutoFit/>
          </a:bodyPr>
          <a:lstStyle/>
          <a:p>
            <a:pPr>
              <a:lnSpc>
                <a:spcPct val="150000"/>
              </a:lnSpc>
            </a:pPr>
            <a:r>
              <a:rPr lang="en-US" sz="2800" b="1" dirty="0">
                <a:latin typeface="Calibir"/>
              </a:rPr>
              <a:t>Report Checklist</a:t>
            </a:r>
          </a:p>
          <a:p>
            <a:pPr marL="457200" indent="-457200">
              <a:lnSpc>
                <a:spcPct val="150000"/>
              </a:lnSpc>
              <a:buFont typeface="Wingdings" panose="05000000000000000000" pitchFamily="2" charset="2"/>
              <a:buChar char="ü"/>
            </a:pPr>
            <a:r>
              <a:rPr lang="en-US" sz="2800" dirty="0">
                <a:highlight>
                  <a:srgbClr val="FFFF00"/>
                </a:highlight>
                <a:latin typeface="Calibir"/>
              </a:rPr>
              <a:t>Cover sheet included </a:t>
            </a:r>
          </a:p>
          <a:p>
            <a:pPr marL="457200" indent="-457200">
              <a:lnSpc>
                <a:spcPct val="150000"/>
              </a:lnSpc>
              <a:buFont typeface="Wingdings" panose="05000000000000000000" pitchFamily="2" charset="2"/>
              <a:buChar char="ü"/>
            </a:pPr>
            <a:r>
              <a:rPr lang="en-US" sz="2800" dirty="0">
                <a:highlight>
                  <a:srgbClr val="FFFF00"/>
                </a:highlight>
                <a:latin typeface="Calibir"/>
              </a:rPr>
              <a:t>All members listed </a:t>
            </a:r>
          </a:p>
          <a:p>
            <a:pPr marL="457200" indent="-457200">
              <a:lnSpc>
                <a:spcPct val="150000"/>
              </a:lnSpc>
              <a:buFont typeface="Wingdings" panose="05000000000000000000" pitchFamily="2" charset="2"/>
              <a:buChar char="ü"/>
            </a:pPr>
            <a:r>
              <a:rPr lang="en-US" sz="2800" dirty="0">
                <a:highlight>
                  <a:srgbClr val="FFFF00"/>
                </a:highlight>
                <a:latin typeface="Calibir"/>
              </a:rPr>
              <a:t>Site map included </a:t>
            </a:r>
          </a:p>
          <a:p>
            <a:pPr marL="457200" indent="-457200">
              <a:lnSpc>
                <a:spcPct val="150000"/>
              </a:lnSpc>
              <a:buFont typeface="Wingdings" panose="05000000000000000000" pitchFamily="2" charset="2"/>
              <a:buChar char="ü"/>
            </a:pPr>
            <a:r>
              <a:rPr lang="en-US" sz="2800" dirty="0">
                <a:highlight>
                  <a:srgbClr val="FFFF00"/>
                </a:highlight>
                <a:latin typeface="Calibir"/>
              </a:rPr>
              <a:t>Wireframes included </a:t>
            </a:r>
          </a:p>
          <a:p>
            <a:pPr marL="457200" indent="-457200">
              <a:lnSpc>
                <a:spcPct val="150000"/>
              </a:lnSpc>
              <a:buFont typeface="Wingdings" panose="05000000000000000000" pitchFamily="2" charset="2"/>
              <a:buChar char="ü"/>
            </a:pPr>
            <a:r>
              <a:rPr lang="en-US" sz="2800" dirty="0">
                <a:highlight>
                  <a:srgbClr val="FFFF00"/>
                </a:highlight>
                <a:latin typeface="Calibir"/>
              </a:rPr>
              <a:t>Style guide completed </a:t>
            </a:r>
          </a:p>
          <a:p>
            <a:pPr marL="457200" indent="-457200">
              <a:lnSpc>
                <a:spcPct val="150000"/>
              </a:lnSpc>
              <a:buFont typeface="Wingdings" panose="05000000000000000000" pitchFamily="2" charset="2"/>
              <a:buChar char="ü"/>
            </a:pPr>
            <a:r>
              <a:rPr lang="en-US" sz="2800" dirty="0">
                <a:highlight>
                  <a:srgbClr val="FFFF00"/>
                </a:highlight>
                <a:latin typeface="Calibir"/>
              </a:rPr>
              <a:t>Validation screenshots added </a:t>
            </a:r>
          </a:p>
          <a:p>
            <a:pPr marL="457200" indent="-457200">
              <a:lnSpc>
                <a:spcPct val="150000"/>
              </a:lnSpc>
              <a:buFont typeface="Wingdings" panose="05000000000000000000" pitchFamily="2" charset="2"/>
              <a:buChar char="ü"/>
            </a:pPr>
            <a:r>
              <a:rPr lang="en-US" sz="2800" dirty="0">
                <a:highlight>
                  <a:srgbClr val="FFFF00"/>
                </a:highlight>
                <a:latin typeface="Calibir"/>
              </a:rPr>
              <a:t>References included </a:t>
            </a:r>
          </a:p>
          <a:p>
            <a:pPr marL="457200" indent="-457200">
              <a:lnSpc>
                <a:spcPct val="150000"/>
              </a:lnSpc>
              <a:buFont typeface="Wingdings" panose="05000000000000000000" pitchFamily="2" charset="2"/>
              <a:buChar char="ü"/>
            </a:pPr>
            <a:r>
              <a:rPr lang="en-US" sz="2800" dirty="0">
                <a:highlight>
                  <a:srgbClr val="FFFF00"/>
                </a:highlight>
                <a:latin typeface="Calibir"/>
              </a:rPr>
              <a:t>Word count correct \</a:t>
            </a:r>
          </a:p>
        </p:txBody>
      </p:sp>
      <p:sp>
        <p:nvSpPr>
          <p:cNvPr id="3" name="TextBox 2">
            <a:extLst>
              <a:ext uri="{FF2B5EF4-FFF2-40B4-BE49-F238E27FC236}">
                <a16:creationId xmlns:a16="http://schemas.microsoft.com/office/drawing/2014/main" id="{1AAEA0C3-8EEA-93DD-B3B9-8B1CABEE2AC6}"/>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29934872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33436-DBC8-1D07-4332-5A595C9224E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B69802F-5E27-C720-0717-F08B707DF2D1}"/>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322AC56F-FBAD-474F-6814-449BD246A35F}"/>
              </a:ext>
            </a:extLst>
          </p:cNvPr>
          <p:cNvSpPr txBox="1"/>
          <p:nvPr/>
        </p:nvSpPr>
        <p:spPr>
          <a:xfrm>
            <a:off x="0" y="457786"/>
            <a:ext cx="11409149" cy="5196166"/>
          </a:xfrm>
          <a:prstGeom prst="rect">
            <a:avLst/>
          </a:prstGeom>
          <a:noFill/>
        </p:spPr>
        <p:txBody>
          <a:bodyPr wrap="square" rtlCol="0">
            <a:spAutoFit/>
          </a:bodyPr>
          <a:lstStyle/>
          <a:p>
            <a:pPr>
              <a:lnSpc>
                <a:spcPct val="150000"/>
              </a:lnSpc>
            </a:pPr>
            <a:r>
              <a:rPr lang="en-US" sz="2800" b="1" dirty="0">
                <a:latin typeface="Calibir"/>
              </a:rPr>
              <a:t>Frequently Asked Questions (FAQ)</a:t>
            </a:r>
          </a:p>
          <a:p>
            <a:pPr>
              <a:lnSpc>
                <a:spcPct val="150000"/>
              </a:lnSpc>
            </a:pPr>
            <a:r>
              <a:rPr lang="en-US" sz="2800" b="1" dirty="0">
                <a:latin typeface="Calibir"/>
              </a:rPr>
              <a:t>Q1. Can we use Bootstrap or Tailwind?</a:t>
            </a:r>
          </a:p>
          <a:p>
            <a:pPr>
              <a:lnSpc>
                <a:spcPct val="150000"/>
              </a:lnSpc>
            </a:pPr>
            <a:r>
              <a:rPr lang="en-US" sz="2800" dirty="0">
                <a:latin typeface="Calibir"/>
              </a:rPr>
              <a:t>No.</a:t>
            </a:r>
          </a:p>
          <a:p>
            <a:pPr>
              <a:lnSpc>
                <a:spcPct val="150000"/>
              </a:lnSpc>
            </a:pPr>
            <a:r>
              <a:rPr lang="en-US" sz="2800" dirty="0">
                <a:latin typeface="Calibir"/>
              </a:rPr>
              <a:t>The assignment specifically says:</a:t>
            </a:r>
          </a:p>
          <a:p>
            <a:pPr marL="914400" lvl="1" indent="-457200">
              <a:lnSpc>
                <a:spcPct val="150000"/>
              </a:lnSpc>
              <a:buFont typeface="Arial" panose="020B0604020202020204" pitchFamily="34" charset="0"/>
              <a:buChar char="•"/>
            </a:pPr>
            <a:r>
              <a:rPr lang="en-US" sz="2800" dirty="0">
                <a:latin typeface="Calibir"/>
              </a:rPr>
              <a:t>no CSS frameworks </a:t>
            </a:r>
          </a:p>
          <a:p>
            <a:pPr marL="914400" lvl="1" indent="-457200">
              <a:lnSpc>
                <a:spcPct val="150000"/>
              </a:lnSpc>
              <a:buFont typeface="Arial" panose="020B0604020202020204" pitchFamily="34" charset="0"/>
              <a:buChar char="•"/>
            </a:pPr>
            <a:r>
              <a:rPr lang="en-US" sz="2800" dirty="0">
                <a:latin typeface="Calibir"/>
              </a:rPr>
              <a:t>no Bootstrap </a:t>
            </a:r>
          </a:p>
          <a:p>
            <a:pPr marL="914400" lvl="1" indent="-457200">
              <a:lnSpc>
                <a:spcPct val="150000"/>
              </a:lnSpc>
              <a:buFont typeface="Arial" panose="020B0604020202020204" pitchFamily="34" charset="0"/>
              <a:buChar char="•"/>
            </a:pPr>
            <a:r>
              <a:rPr lang="en-US" sz="2800" dirty="0">
                <a:latin typeface="Calibir"/>
              </a:rPr>
              <a:t>no Tailwind </a:t>
            </a:r>
          </a:p>
          <a:p>
            <a:pPr>
              <a:lnSpc>
                <a:spcPct val="150000"/>
              </a:lnSpc>
            </a:pPr>
            <a:r>
              <a:rPr lang="en-US" sz="2800" dirty="0">
                <a:latin typeface="Calibir"/>
              </a:rPr>
              <a:t>Students must write their own CSS.</a:t>
            </a:r>
          </a:p>
        </p:txBody>
      </p:sp>
      <p:sp>
        <p:nvSpPr>
          <p:cNvPr id="3" name="TextBox 2">
            <a:extLst>
              <a:ext uri="{FF2B5EF4-FFF2-40B4-BE49-F238E27FC236}">
                <a16:creationId xmlns:a16="http://schemas.microsoft.com/office/drawing/2014/main" id="{4391EF6E-11CC-5079-1134-C74E1356A0DC}"/>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437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fade">
                                      <p:cBhvr>
                                        <p:cTn id="12" dur="1000"/>
                                        <p:tgtEl>
                                          <p:spTgt spid="9">
                                            <p:txEl>
                                              <p:pRg st="3" end="3"/>
                                            </p:txEl>
                                          </p:spTgt>
                                        </p:tgtEl>
                                      </p:cBhvr>
                                    </p:animEffect>
                                    <p:anim calcmode="lin" valueType="num">
                                      <p:cBhvr>
                                        <p:cTn id="1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1000"/>
                                        <p:tgtEl>
                                          <p:spTgt spid="9">
                                            <p:txEl>
                                              <p:pRg st="4" end="4"/>
                                            </p:txEl>
                                          </p:spTgt>
                                        </p:tgtEl>
                                      </p:cBhvr>
                                    </p:animEffect>
                                    <p:anim calcmode="lin" valueType="num">
                                      <p:cBhvr>
                                        <p:cTn id="18"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fade">
                                      <p:cBhvr>
                                        <p:cTn id="22" dur="1000"/>
                                        <p:tgtEl>
                                          <p:spTgt spid="9">
                                            <p:txEl>
                                              <p:pRg st="5" end="5"/>
                                            </p:txEl>
                                          </p:spTgt>
                                        </p:tgtEl>
                                      </p:cBhvr>
                                    </p:animEffect>
                                    <p:anim calcmode="lin" valueType="num">
                                      <p:cBhvr>
                                        <p:cTn id="23"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fade">
                                      <p:cBhvr>
                                        <p:cTn id="27" dur="1000"/>
                                        <p:tgtEl>
                                          <p:spTgt spid="9">
                                            <p:txEl>
                                              <p:pRg st="6" end="6"/>
                                            </p:txEl>
                                          </p:spTgt>
                                        </p:tgtEl>
                                      </p:cBhvr>
                                    </p:animEffect>
                                    <p:anim calcmode="lin" valueType="num">
                                      <p:cBhvr>
                                        <p:cTn id="28"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9">
                                            <p:txEl>
                                              <p:pRg st="7" end="7"/>
                                            </p:txEl>
                                          </p:spTgt>
                                        </p:tgtEl>
                                        <p:attrNameLst>
                                          <p:attrName>style.visibility</p:attrName>
                                        </p:attrNameLst>
                                      </p:cBhvr>
                                      <p:to>
                                        <p:strVal val="visible"/>
                                      </p:to>
                                    </p:set>
                                    <p:animEffect transition="in" filter="fade">
                                      <p:cBhvr>
                                        <p:cTn id="32" dur="1000"/>
                                        <p:tgtEl>
                                          <p:spTgt spid="9">
                                            <p:txEl>
                                              <p:pRg st="7" end="7"/>
                                            </p:txEl>
                                          </p:spTgt>
                                        </p:tgtEl>
                                      </p:cBhvr>
                                    </p:animEffect>
                                    <p:anim calcmode="lin" valueType="num">
                                      <p:cBhvr>
                                        <p:cTn id="33"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AFACD-730F-2FB8-0A95-C47EF4D6724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99FB380-EA1B-E857-24C8-9FDCC77BF2BA}"/>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69DAB92E-C400-3434-40A3-B704F3A998FA}"/>
              </a:ext>
            </a:extLst>
          </p:cNvPr>
          <p:cNvSpPr txBox="1"/>
          <p:nvPr/>
        </p:nvSpPr>
        <p:spPr>
          <a:xfrm>
            <a:off x="0" y="457786"/>
            <a:ext cx="11409149" cy="2610843"/>
          </a:xfrm>
          <a:prstGeom prst="rect">
            <a:avLst/>
          </a:prstGeom>
          <a:noFill/>
        </p:spPr>
        <p:txBody>
          <a:bodyPr wrap="square" rtlCol="0">
            <a:spAutoFit/>
          </a:bodyPr>
          <a:lstStyle/>
          <a:p>
            <a:pPr>
              <a:lnSpc>
                <a:spcPct val="150000"/>
              </a:lnSpc>
            </a:pPr>
            <a:r>
              <a:rPr lang="en-US" sz="2800" b="1" dirty="0">
                <a:latin typeface="Calibir"/>
              </a:rPr>
              <a:t>Q2. Can we use JavaScript?</a:t>
            </a:r>
          </a:p>
          <a:p>
            <a:pPr>
              <a:lnSpc>
                <a:spcPct val="150000"/>
              </a:lnSpc>
            </a:pPr>
            <a:r>
              <a:rPr lang="en-US" sz="2800" dirty="0">
                <a:latin typeface="Calibir"/>
              </a:rPr>
              <a:t>Basic JavaScript is acceptable if approved by the lecturer, but the main focus is HTML5 and CSS.</a:t>
            </a:r>
          </a:p>
          <a:p>
            <a:pPr>
              <a:lnSpc>
                <a:spcPct val="150000"/>
              </a:lnSpc>
            </a:pPr>
            <a:r>
              <a:rPr lang="en-US" sz="2800" dirty="0">
                <a:latin typeface="Calibir"/>
              </a:rPr>
              <a:t>Do not rely heavily on JavaScript.</a:t>
            </a:r>
          </a:p>
        </p:txBody>
      </p:sp>
      <p:sp>
        <p:nvSpPr>
          <p:cNvPr id="3" name="TextBox 2">
            <a:extLst>
              <a:ext uri="{FF2B5EF4-FFF2-40B4-BE49-F238E27FC236}">
                <a16:creationId xmlns:a16="http://schemas.microsoft.com/office/drawing/2014/main" id="{B65703CA-6DF4-7C90-FE4B-4AFF1F0BBCF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78179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023EF-1D43-4B7D-FB13-31E9B1FE652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192101E-C191-B7F9-5D3A-154E5EFC3813}"/>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08CA94D4-0212-81E2-3083-BAE8F6593550}"/>
              </a:ext>
            </a:extLst>
          </p:cNvPr>
          <p:cNvSpPr txBox="1"/>
          <p:nvPr/>
        </p:nvSpPr>
        <p:spPr>
          <a:xfrm>
            <a:off x="0" y="457786"/>
            <a:ext cx="11409149" cy="5196166"/>
          </a:xfrm>
          <a:prstGeom prst="rect">
            <a:avLst/>
          </a:prstGeom>
          <a:noFill/>
        </p:spPr>
        <p:txBody>
          <a:bodyPr wrap="square" rtlCol="0">
            <a:spAutoFit/>
          </a:bodyPr>
          <a:lstStyle/>
          <a:p>
            <a:pPr>
              <a:lnSpc>
                <a:spcPct val="150000"/>
              </a:lnSpc>
            </a:pPr>
            <a:r>
              <a:rPr lang="en-US" sz="2800" b="1" dirty="0">
                <a:latin typeface="Calibir"/>
              </a:rPr>
              <a:t>Q3. Can we use images from Google?</a:t>
            </a:r>
          </a:p>
          <a:p>
            <a:pPr>
              <a:lnSpc>
                <a:spcPct val="150000"/>
              </a:lnSpc>
            </a:pPr>
            <a:r>
              <a:rPr lang="en-US" sz="2800" dirty="0">
                <a:latin typeface="Calibir"/>
              </a:rPr>
              <a:t>Only if they are royalty-free or properly licensed.</a:t>
            </a:r>
          </a:p>
          <a:p>
            <a:pPr>
              <a:lnSpc>
                <a:spcPct val="150000"/>
              </a:lnSpc>
            </a:pPr>
            <a:r>
              <a:rPr lang="en-US" sz="2800" dirty="0">
                <a:latin typeface="Calibir"/>
              </a:rPr>
              <a:t>Recommended websites:</a:t>
            </a:r>
          </a:p>
          <a:p>
            <a:pPr marL="914400" lvl="1" indent="-457200">
              <a:lnSpc>
                <a:spcPct val="150000"/>
              </a:lnSpc>
              <a:buFont typeface="Arial" panose="020B0604020202020204" pitchFamily="34" charset="0"/>
              <a:buChar char="•"/>
            </a:pPr>
            <a:r>
              <a:rPr lang="en-US" sz="2800" dirty="0" err="1">
                <a:latin typeface="Calibir"/>
              </a:rPr>
              <a:t>Unsplash</a:t>
            </a:r>
            <a:r>
              <a:rPr lang="en-US" sz="2800" dirty="0">
                <a:latin typeface="Calibir"/>
              </a:rPr>
              <a:t> </a:t>
            </a:r>
          </a:p>
          <a:p>
            <a:pPr marL="914400" lvl="1" indent="-457200">
              <a:lnSpc>
                <a:spcPct val="150000"/>
              </a:lnSpc>
              <a:buFont typeface="Arial" panose="020B0604020202020204" pitchFamily="34" charset="0"/>
              <a:buChar char="•"/>
            </a:pPr>
            <a:r>
              <a:rPr lang="en-US" sz="2800" dirty="0" err="1">
                <a:latin typeface="Calibir"/>
              </a:rPr>
              <a:t>Pexels</a:t>
            </a:r>
            <a:r>
              <a:rPr lang="en-US" sz="2800" dirty="0">
                <a:latin typeface="Calibir"/>
              </a:rPr>
              <a:t> </a:t>
            </a:r>
          </a:p>
          <a:p>
            <a:pPr marL="914400" lvl="1" indent="-457200">
              <a:lnSpc>
                <a:spcPct val="150000"/>
              </a:lnSpc>
              <a:buFont typeface="Arial" panose="020B0604020202020204" pitchFamily="34" charset="0"/>
              <a:buChar char="•"/>
            </a:pPr>
            <a:r>
              <a:rPr lang="en-US" sz="2800" dirty="0" err="1">
                <a:latin typeface="Calibir"/>
              </a:rPr>
              <a:t>Pixabay</a:t>
            </a:r>
            <a:r>
              <a:rPr lang="en-US" sz="2800" dirty="0">
                <a:latin typeface="Calibir"/>
              </a:rPr>
              <a:t> </a:t>
            </a:r>
          </a:p>
          <a:p>
            <a:pPr marL="914400" lvl="1" indent="-457200">
              <a:lnSpc>
                <a:spcPct val="150000"/>
              </a:lnSpc>
              <a:buFont typeface="Arial" panose="020B0604020202020204" pitchFamily="34" charset="0"/>
              <a:buChar char="•"/>
            </a:pPr>
            <a:r>
              <a:rPr lang="en-AU" sz="2800" dirty="0">
                <a:hlinkClick r:id="rId3"/>
              </a:rPr>
              <a:t>Public Domain Image Archive</a:t>
            </a:r>
            <a:endParaRPr lang="en-US" sz="2800" dirty="0">
              <a:latin typeface="Calibir"/>
            </a:endParaRPr>
          </a:p>
          <a:p>
            <a:pPr>
              <a:lnSpc>
                <a:spcPct val="150000"/>
              </a:lnSpc>
            </a:pPr>
            <a:r>
              <a:rPr lang="en-US" sz="2800" dirty="0">
                <a:latin typeface="Calibir"/>
              </a:rPr>
              <a:t>Always reference image sources.</a:t>
            </a:r>
          </a:p>
        </p:txBody>
      </p:sp>
      <p:sp>
        <p:nvSpPr>
          <p:cNvPr id="3" name="TextBox 2">
            <a:extLst>
              <a:ext uri="{FF2B5EF4-FFF2-40B4-BE49-F238E27FC236}">
                <a16:creationId xmlns:a16="http://schemas.microsoft.com/office/drawing/2014/main" id="{DB88D5A5-1566-E09B-16F6-551F4BF45A40}"/>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pic>
        <p:nvPicPr>
          <p:cNvPr id="5" name="Picture 4">
            <a:extLst>
              <a:ext uri="{FF2B5EF4-FFF2-40B4-BE49-F238E27FC236}">
                <a16:creationId xmlns:a16="http://schemas.microsoft.com/office/drawing/2014/main" id="{ED5FBE13-530C-4A3C-A90F-00314400E108}"/>
              </a:ext>
            </a:extLst>
          </p:cNvPr>
          <p:cNvPicPr>
            <a:picLocks noChangeAspect="1"/>
          </p:cNvPicPr>
          <p:nvPr/>
        </p:nvPicPr>
        <p:blipFill>
          <a:blip r:embed="rId4"/>
          <a:stretch>
            <a:fillRect/>
          </a:stretch>
        </p:blipFill>
        <p:spPr>
          <a:xfrm>
            <a:off x="5887170" y="1631576"/>
            <a:ext cx="5018974" cy="5226424"/>
          </a:xfrm>
          <a:prstGeom prst="rect">
            <a:avLst/>
          </a:prstGeom>
        </p:spPr>
      </p:pic>
    </p:spTree>
    <p:extLst>
      <p:ext uri="{BB962C8B-B14F-4D97-AF65-F5344CB8AC3E}">
        <p14:creationId xmlns:p14="http://schemas.microsoft.com/office/powerpoint/2010/main" val="275702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1000"/>
                                        <p:tgtEl>
                                          <p:spTgt spid="9">
                                            <p:txEl>
                                              <p:pRg st="4" end="4"/>
                                            </p:txEl>
                                          </p:spTgt>
                                        </p:tgtEl>
                                      </p:cBhvr>
                                    </p:animEffect>
                                    <p:anim calcmode="lin" valueType="num">
                                      <p:cBhvr>
                                        <p:cTn id="2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fade">
                                      <p:cBhvr>
                                        <p:cTn id="27" dur="1000"/>
                                        <p:tgtEl>
                                          <p:spTgt spid="9">
                                            <p:txEl>
                                              <p:pRg st="5" end="5"/>
                                            </p:txEl>
                                          </p:spTgt>
                                        </p:tgtEl>
                                      </p:cBhvr>
                                    </p:animEffect>
                                    <p:anim calcmode="lin" valueType="num">
                                      <p:cBhvr>
                                        <p:cTn id="2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fade">
                                      <p:cBhvr>
                                        <p:cTn id="32" dur="1000"/>
                                        <p:tgtEl>
                                          <p:spTgt spid="9">
                                            <p:txEl>
                                              <p:pRg st="6" end="6"/>
                                            </p:txEl>
                                          </p:spTgt>
                                        </p:tgtEl>
                                      </p:cBhvr>
                                    </p:animEffect>
                                    <p:anim calcmode="lin" valueType="num">
                                      <p:cBhvr>
                                        <p:cTn id="33"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9">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fade">
                                      <p:cBhvr>
                                        <p:cTn id="37" dur="1000"/>
                                        <p:tgtEl>
                                          <p:spTgt spid="9">
                                            <p:txEl>
                                              <p:pRg st="7" end="7"/>
                                            </p:txEl>
                                          </p:spTgt>
                                        </p:tgtEl>
                                      </p:cBhvr>
                                    </p:animEffect>
                                    <p:anim calcmode="lin" valueType="num">
                                      <p:cBhvr>
                                        <p:cTn id="38"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3043F-8DEF-0A4C-4A60-8EC1F631C7B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61EC03A-88D3-3B88-3CF5-8A719AE7AACF}"/>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AF0CCE48-7835-0190-9DA7-747F9A3B472C}"/>
              </a:ext>
            </a:extLst>
          </p:cNvPr>
          <p:cNvSpPr txBox="1"/>
          <p:nvPr/>
        </p:nvSpPr>
        <p:spPr>
          <a:xfrm>
            <a:off x="0" y="457786"/>
            <a:ext cx="11409149" cy="3257174"/>
          </a:xfrm>
          <a:prstGeom prst="rect">
            <a:avLst/>
          </a:prstGeom>
          <a:noFill/>
        </p:spPr>
        <p:txBody>
          <a:bodyPr wrap="square" rtlCol="0">
            <a:spAutoFit/>
          </a:bodyPr>
          <a:lstStyle/>
          <a:p>
            <a:pPr>
              <a:lnSpc>
                <a:spcPct val="150000"/>
              </a:lnSpc>
            </a:pPr>
            <a:r>
              <a:rPr lang="en-US" sz="2800" b="1" dirty="0">
                <a:latin typeface="Calibir"/>
              </a:rPr>
              <a:t>Q4. Can one student submit for the whole group?</a:t>
            </a:r>
          </a:p>
          <a:p>
            <a:pPr>
              <a:lnSpc>
                <a:spcPct val="150000"/>
              </a:lnSpc>
            </a:pPr>
            <a:r>
              <a:rPr lang="en-US" sz="2800" dirty="0">
                <a:latin typeface="Calibir"/>
              </a:rPr>
              <a:t>Yes.</a:t>
            </a:r>
          </a:p>
          <a:p>
            <a:pPr>
              <a:lnSpc>
                <a:spcPct val="150000"/>
              </a:lnSpc>
            </a:pPr>
            <a:r>
              <a:rPr lang="en-US" sz="2800" dirty="0">
                <a:latin typeface="Calibir"/>
              </a:rPr>
              <a:t>But:</a:t>
            </a:r>
          </a:p>
          <a:p>
            <a:pPr marL="914400" lvl="1" indent="-457200">
              <a:lnSpc>
                <a:spcPct val="150000"/>
              </a:lnSpc>
              <a:buFont typeface="Arial" panose="020B0604020202020204" pitchFamily="34" charset="0"/>
              <a:buChar char="•"/>
            </a:pPr>
            <a:r>
              <a:rPr lang="en-US" sz="2800" dirty="0">
                <a:latin typeface="Calibir"/>
              </a:rPr>
              <a:t>all contributing members must be listed </a:t>
            </a:r>
          </a:p>
          <a:p>
            <a:pPr marL="914400" lvl="1" indent="-457200">
              <a:lnSpc>
                <a:spcPct val="150000"/>
              </a:lnSpc>
              <a:buFont typeface="Arial" panose="020B0604020202020204" pitchFamily="34" charset="0"/>
              <a:buChar char="•"/>
            </a:pPr>
            <a:r>
              <a:rPr lang="en-US" sz="2800" dirty="0">
                <a:latin typeface="Calibir"/>
              </a:rPr>
              <a:t>only officially registered members should be included</a:t>
            </a:r>
          </a:p>
        </p:txBody>
      </p:sp>
      <p:sp>
        <p:nvSpPr>
          <p:cNvPr id="3" name="TextBox 2">
            <a:extLst>
              <a:ext uri="{FF2B5EF4-FFF2-40B4-BE49-F238E27FC236}">
                <a16:creationId xmlns:a16="http://schemas.microsoft.com/office/drawing/2014/main" id="{8769E065-3E43-CF1E-EC60-DB8B945A40F2}"/>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44431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1000"/>
                                        <p:tgtEl>
                                          <p:spTgt spid="9">
                                            <p:txEl>
                                              <p:pRg st="4" end="4"/>
                                            </p:txEl>
                                          </p:spTgt>
                                        </p:tgtEl>
                                      </p:cBhvr>
                                    </p:animEffect>
                                    <p:anim calcmode="lin" valueType="num">
                                      <p:cBhvr>
                                        <p:cTn id="2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B1428-A0C9-0BE0-F2A1-2C787EC3146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6835D74-5503-5185-7A6C-7FB2E220B82E}"/>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589EACA1-868D-A6FA-CE93-2AD09DDFF3CF}"/>
              </a:ext>
            </a:extLst>
          </p:cNvPr>
          <p:cNvSpPr txBox="1"/>
          <p:nvPr/>
        </p:nvSpPr>
        <p:spPr>
          <a:xfrm>
            <a:off x="0" y="457786"/>
            <a:ext cx="11409149" cy="3257174"/>
          </a:xfrm>
          <a:prstGeom prst="rect">
            <a:avLst/>
          </a:prstGeom>
          <a:noFill/>
        </p:spPr>
        <p:txBody>
          <a:bodyPr wrap="square" rtlCol="0">
            <a:spAutoFit/>
          </a:bodyPr>
          <a:lstStyle/>
          <a:p>
            <a:pPr>
              <a:lnSpc>
                <a:spcPct val="150000"/>
              </a:lnSpc>
            </a:pPr>
            <a:r>
              <a:rPr lang="en-US" sz="2800" b="1" dirty="0">
                <a:latin typeface="Calibir"/>
              </a:rPr>
              <a:t>Q5. Can we submit PDF instead of Word?</a:t>
            </a:r>
          </a:p>
          <a:p>
            <a:pPr>
              <a:lnSpc>
                <a:spcPct val="150000"/>
              </a:lnSpc>
            </a:pPr>
            <a:r>
              <a:rPr lang="en-US" sz="2800" dirty="0">
                <a:latin typeface="Calibir"/>
              </a:rPr>
              <a:t>No.</a:t>
            </a:r>
          </a:p>
          <a:p>
            <a:pPr>
              <a:lnSpc>
                <a:spcPct val="150000"/>
              </a:lnSpc>
            </a:pPr>
            <a:r>
              <a:rPr lang="en-US" sz="2800" dirty="0">
                <a:latin typeface="Calibir"/>
              </a:rPr>
              <a:t>The report must be:</a:t>
            </a:r>
          </a:p>
          <a:p>
            <a:pPr marL="914400" lvl="1" indent="-457200">
              <a:lnSpc>
                <a:spcPct val="150000"/>
              </a:lnSpc>
              <a:buFont typeface="Arial" panose="020B0604020202020204" pitchFamily="34" charset="0"/>
              <a:buChar char="•"/>
            </a:pPr>
            <a:r>
              <a:rPr lang="en-US" sz="2800" dirty="0">
                <a:latin typeface="Calibir"/>
              </a:rPr>
              <a:t>.docx </a:t>
            </a:r>
          </a:p>
          <a:p>
            <a:pPr marL="914400" lvl="1" indent="-457200">
              <a:lnSpc>
                <a:spcPct val="150000"/>
              </a:lnSpc>
              <a:buFont typeface="Arial" panose="020B0604020202020204" pitchFamily="34" charset="0"/>
              <a:buChar char="•"/>
            </a:pPr>
            <a:r>
              <a:rPr lang="en-US" sz="2800" dirty="0">
                <a:latin typeface="Calibir"/>
              </a:rPr>
              <a:t>Microsoft Word format</a:t>
            </a:r>
          </a:p>
        </p:txBody>
      </p:sp>
      <p:sp>
        <p:nvSpPr>
          <p:cNvPr id="3" name="TextBox 2">
            <a:extLst>
              <a:ext uri="{FF2B5EF4-FFF2-40B4-BE49-F238E27FC236}">
                <a16:creationId xmlns:a16="http://schemas.microsoft.com/office/drawing/2014/main" id="{75A4131F-0789-BD47-B98D-171D1ADDE16B}"/>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2886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1000"/>
                                        <p:tgtEl>
                                          <p:spTgt spid="9">
                                            <p:txEl>
                                              <p:pRg st="4" end="4"/>
                                            </p:txEl>
                                          </p:spTgt>
                                        </p:tgtEl>
                                      </p:cBhvr>
                                    </p:animEffect>
                                    <p:anim calcmode="lin" valueType="num">
                                      <p:cBhvr>
                                        <p:cTn id="2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2F6A4-EB78-AD38-9F1E-B6C91F735AB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610FBD6-C2B5-CC9B-6D6A-4CB2CBD3F06D}"/>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723BD0CE-158A-AC42-58BC-FDF73A73E713}"/>
              </a:ext>
            </a:extLst>
          </p:cNvPr>
          <p:cNvSpPr txBox="1"/>
          <p:nvPr/>
        </p:nvSpPr>
        <p:spPr>
          <a:xfrm>
            <a:off x="0" y="457786"/>
            <a:ext cx="11409149" cy="3903504"/>
          </a:xfrm>
          <a:prstGeom prst="rect">
            <a:avLst/>
          </a:prstGeom>
          <a:noFill/>
        </p:spPr>
        <p:txBody>
          <a:bodyPr wrap="square" rtlCol="0">
            <a:spAutoFit/>
          </a:bodyPr>
          <a:lstStyle/>
          <a:p>
            <a:pPr>
              <a:lnSpc>
                <a:spcPct val="150000"/>
              </a:lnSpc>
            </a:pPr>
            <a:r>
              <a:rPr lang="en-US" sz="2800" b="1" dirty="0">
                <a:latin typeface="Calibir"/>
              </a:rPr>
              <a:t>Q6. What happens if links do not work?</a:t>
            </a:r>
          </a:p>
          <a:p>
            <a:pPr>
              <a:lnSpc>
                <a:spcPct val="150000"/>
              </a:lnSpc>
            </a:pPr>
            <a:r>
              <a:rPr lang="en-US" sz="2800" dirty="0">
                <a:latin typeface="Calibir"/>
              </a:rPr>
              <a:t>Broken links may lose marks under:</a:t>
            </a:r>
          </a:p>
          <a:p>
            <a:pPr marL="914400" lvl="1" indent="-457200">
              <a:lnSpc>
                <a:spcPct val="150000"/>
              </a:lnSpc>
              <a:buFont typeface="Arial" panose="020B0604020202020204" pitchFamily="34" charset="0"/>
              <a:buChar char="•"/>
            </a:pPr>
            <a:r>
              <a:rPr lang="en-US" sz="2800" dirty="0">
                <a:latin typeface="Calibir"/>
              </a:rPr>
              <a:t>navigation </a:t>
            </a:r>
          </a:p>
          <a:p>
            <a:pPr marL="914400" lvl="1" indent="-457200">
              <a:lnSpc>
                <a:spcPct val="150000"/>
              </a:lnSpc>
              <a:buFont typeface="Arial" panose="020B0604020202020204" pitchFamily="34" charset="0"/>
              <a:buChar char="•"/>
            </a:pPr>
            <a:r>
              <a:rPr lang="en-US" sz="2800" dirty="0">
                <a:latin typeface="Calibir"/>
              </a:rPr>
              <a:t>usability </a:t>
            </a:r>
          </a:p>
          <a:p>
            <a:pPr marL="914400" lvl="1" indent="-457200">
              <a:lnSpc>
                <a:spcPct val="150000"/>
              </a:lnSpc>
              <a:buFont typeface="Arial" panose="020B0604020202020204" pitchFamily="34" charset="0"/>
              <a:buChar char="•"/>
            </a:pPr>
            <a:r>
              <a:rPr lang="en-US" sz="2800" dirty="0">
                <a:latin typeface="Calibir"/>
              </a:rPr>
              <a:t>structure </a:t>
            </a:r>
          </a:p>
          <a:p>
            <a:pPr>
              <a:lnSpc>
                <a:spcPct val="150000"/>
              </a:lnSpc>
            </a:pPr>
            <a:r>
              <a:rPr lang="en-US" sz="2800" dirty="0">
                <a:latin typeface="Calibir"/>
              </a:rPr>
              <a:t>Always test every page before submission.</a:t>
            </a:r>
          </a:p>
        </p:txBody>
      </p:sp>
      <p:sp>
        <p:nvSpPr>
          <p:cNvPr id="3" name="TextBox 2">
            <a:extLst>
              <a:ext uri="{FF2B5EF4-FFF2-40B4-BE49-F238E27FC236}">
                <a16:creationId xmlns:a16="http://schemas.microsoft.com/office/drawing/2014/main" id="{CE21BF94-C116-3BE2-A73F-ECCFCB7E42AB}"/>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24542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1000"/>
                                        <p:tgtEl>
                                          <p:spTgt spid="9">
                                            <p:txEl>
                                              <p:pRg st="4" end="4"/>
                                            </p:txEl>
                                          </p:spTgt>
                                        </p:tgtEl>
                                      </p:cBhvr>
                                    </p:animEffect>
                                    <p:anim calcmode="lin" valueType="num">
                                      <p:cBhvr>
                                        <p:cTn id="2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fade">
                                      <p:cBhvr>
                                        <p:cTn id="27" dur="1000"/>
                                        <p:tgtEl>
                                          <p:spTgt spid="9">
                                            <p:txEl>
                                              <p:pRg st="5" end="5"/>
                                            </p:txEl>
                                          </p:spTgt>
                                        </p:tgtEl>
                                      </p:cBhvr>
                                    </p:animEffect>
                                    <p:anim calcmode="lin" valueType="num">
                                      <p:cBhvr>
                                        <p:cTn id="2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B326F-C504-039E-2FFC-9A2A634640C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DFFDBE1-AC16-7005-B5F1-1FB1FEBE1E52}"/>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58816172-C812-A4CE-CB66-F9449C2C6C60}"/>
              </a:ext>
            </a:extLst>
          </p:cNvPr>
          <p:cNvSpPr txBox="1"/>
          <p:nvPr/>
        </p:nvSpPr>
        <p:spPr>
          <a:xfrm>
            <a:off x="0" y="457786"/>
            <a:ext cx="11409149" cy="3257174"/>
          </a:xfrm>
          <a:prstGeom prst="rect">
            <a:avLst/>
          </a:prstGeom>
          <a:noFill/>
        </p:spPr>
        <p:txBody>
          <a:bodyPr wrap="square" rtlCol="0">
            <a:spAutoFit/>
          </a:bodyPr>
          <a:lstStyle/>
          <a:p>
            <a:pPr>
              <a:lnSpc>
                <a:spcPct val="150000"/>
              </a:lnSpc>
            </a:pPr>
            <a:r>
              <a:rPr lang="en-US" sz="2800" b="1" dirty="0">
                <a:latin typeface="Calibir"/>
              </a:rPr>
              <a:t>Q7. Do we need responsive design?</a:t>
            </a:r>
          </a:p>
          <a:p>
            <a:pPr>
              <a:lnSpc>
                <a:spcPct val="150000"/>
              </a:lnSpc>
            </a:pPr>
            <a:r>
              <a:rPr lang="en-US" sz="2800" dirty="0">
                <a:latin typeface="Calibir"/>
              </a:rPr>
              <a:t>Yes.</a:t>
            </a:r>
          </a:p>
          <a:p>
            <a:pPr>
              <a:lnSpc>
                <a:spcPct val="150000"/>
              </a:lnSpc>
            </a:pPr>
            <a:r>
              <a:rPr lang="en-US" sz="2800" dirty="0">
                <a:latin typeface="Calibir"/>
              </a:rPr>
              <a:t>The website must display properly on:</a:t>
            </a:r>
          </a:p>
          <a:p>
            <a:pPr marL="914400" lvl="1" indent="-457200">
              <a:lnSpc>
                <a:spcPct val="150000"/>
              </a:lnSpc>
              <a:buFont typeface="Arial" panose="020B0604020202020204" pitchFamily="34" charset="0"/>
              <a:buChar char="•"/>
            </a:pPr>
            <a:r>
              <a:rPr lang="en-US" sz="2800" dirty="0">
                <a:latin typeface="Calibir"/>
              </a:rPr>
              <a:t>desktop </a:t>
            </a:r>
          </a:p>
          <a:p>
            <a:pPr marL="914400" lvl="1" indent="-457200">
              <a:lnSpc>
                <a:spcPct val="150000"/>
              </a:lnSpc>
              <a:buFont typeface="Arial" panose="020B0604020202020204" pitchFamily="34" charset="0"/>
              <a:buChar char="•"/>
            </a:pPr>
            <a:r>
              <a:rPr lang="en-US" sz="2800" dirty="0">
                <a:latin typeface="Calibir"/>
              </a:rPr>
              <a:t>mobile devices</a:t>
            </a:r>
          </a:p>
        </p:txBody>
      </p:sp>
      <p:sp>
        <p:nvSpPr>
          <p:cNvPr id="3" name="TextBox 2">
            <a:extLst>
              <a:ext uri="{FF2B5EF4-FFF2-40B4-BE49-F238E27FC236}">
                <a16:creationId xmlns:a16="http://schemas.microsoft.com/office/drawing/2014/main" id="{FC3F56D3-1A7E-7EBC-C6B1-02E8539E0229}"/>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2456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1000"/>
                                        <p:tgtEl>
                                          <p:spTgt spid="9">
                                            <p:txEl>
                                              <p:pRg st="4" end="4"/>
                                            </p:txEl>
                                          </p:spTgt>
                                        </p:tgtEl>
                                      </p:cBhvr>
                                    </p:animEffect>
                                    <p:anim calcmode="lin" valueType="num">
                                      <p:cBhvr>
                                        <p:cTn id="2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0662E-30E8-5E3B-41D2-DAE6E6175BD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8C7194E-5B67-F1AE-8F8E-C38848DA9F04}"/>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D968A504-2F5B-617B-8F94-000F0040E80D}"/>
              </a:ext>
            </a:extLst>
          </p:cNvPr>
          <p:cNvSpPr txBox="1"/>
          <p:nvPr/>
        </p:nvSpPr>
        <p:spPr>
          <a:xfrm>
            <a:off x="0" y="457786"/>
            <a:ext cx="11409149" cy="3903504"/>
          </a:xfrm>
          <a:prstGeom prst="rect">
            <a:avLst/>
          </a:prstGeom>
          <a:noFill/>
        </p:spPr>
        <p:txBody>
          <a:bodyPr wrap="square" rtlCol="0">
            <a:spAutoFit/>
          </a:bodyPr>
          <a:lstStyle/>
          <a:p>
            <a:pPr>
              <a:lnSpc>
                <a:spcPct val="150000"/>
              </a:lnSpc>
            </a:pPr>
            <a:r>
              <a:rPr lang="en-US" sz="2800" b="1" dirty="0">
                <a:latin typeface="Calibir"/>
              </a:rPr>
              <a:t>Q8. Can we use inline CSS?</a:t>
            </a:r>
          </a:p>
          <a:p>
            <a:pPr>
              <a:lnSpc>
                <a:spcPct val="150000"/>
              </a:lnSpc>
            </a:pPr>
            <a:r>
              <a:rPr lang="en-US" sz="2800" dirty="0">
                <a:latin typeface="Calibir"/>
              </a:rPr>
              <a:t>No.</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one external CSS file only </a:t>
            </a:r>
          </a:p>
          <a:p>
            <a:pPr>
              <a:lnSpc>
                <a:spcPct val="150000"/>
              </a:lnSpc>
            </a:pPr>
            <a:r>
              <a:rPr lang="en-US" sz="2800" dirty="0">
                <a:latin typeface="Calibir"/>
              </a:rPr>
              <a:t>Example:</a:t>
            </a:r>
          </a:p>
          <a:p>
            <a:pPr>
              <a:lnSpc>
                <a:spcPct val="150000"/>
              </a:lnSpc>
            </a:pPr>
            <a:r>
              <a:rPr lang="en-US" sz="2800" dirty="0">
                <a:highlight>
                  <a:srgbClr val="FFFF00"/>
                </a:highlight>
                <a:latin typeface="Calibir"/>
              </a:rPr>
              <a:t>&lt;link </a:t>
            </a:r>
            <a:r>
              <a:rPr lang="en-US" sz="2800" dirty="0" err="1">
                <a:highlight>
                  <a:srgbClr val="FFFF00"/>
                </a:highlight>
                <a:latin typeface="Calibir"/>
              </a:rPr>
              <a:t>rel</a:t>
            </a:r>
            <a:r>
              <a:rPr lang="en-US" sz="2800" dirty="0">
                <a:highlight>
                  <a:srgbClr val="FFFF00"/>
                </a:highlight>
                <a:latin typeface="Calibir"/>
              </a:rPr>
              <a:t>="stylesheet" </a:t>
            </a:r>
            <a:r>
              <a:rPr lang="en-US" sz="2800" dirty="0" err="1">
                <a:highlight>
                  <a:srgbClr val="FFFF00"/>
                </a:highlight>
                <a:latin typeface="Calibir"/>
              </a:rPr>
              <a:t>href</a:t>
            </a:r>
            <a:r>
              <a:rPr lang="en-US" sz="2800" dirty="0">
                <a:highlight>
                  <a:srgbClr val="FFFF00"/>
                </a:highlight>
                <a:latin typeface="Calibir"/>
              </a:rPr>
              <a:t>="styles.css"&gt;</a:t>
            </a:r>
          </a:p>
        </p:txBody>
      </p:sp>
      <p:sp>
        <p:nvSpPr>
          <p:cNvPr id="3" name="TextBox 2">
            <a:extLst>
              <a:ext uri="{FF2B5EF4-FFF2-40B4-BE49-F238E27FC236}">
                <a16:creationId xmlns:a16="http://schemas.microsoft.com/office/drawing/2014/main" id="{E45557F1-A5EF-B011-3B66-7BAC92780B59}"/>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292379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1000"/>
                                        <p:tgtEl>
                                          <p:spTgt spid="9">
                                            <p:txEl>
                                              <p:pRg st="4" end="4"/>
                                            </p:txEl>
                                          </p:spTgt>
                                        </p:tgtEl>
                                      </p:cBhvr>
                                    </p:animEffect>
                                    <p:anim calcmode="lin" valueType="num">
                                      <p:cBhvr>
                                        <p:cTn id="2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fade">
                                      <p:cBhvr>
                                        <p:cTn id="27" dur="1000"/>
                                        <p:tgtEl>
                                          <p:spTgt spid="9">
                                            <p:txEl>
                                              <p:pRg st="5" end="5"/>
                                            </p:txEl>
                                          </p:spTgt>
                                        </p:tgtEl>
                                      </p:cBhvr>
                                    </p:animEffect>
                                    <p:anim calcmode="lin" valueType="num">
                                      <p:cBhvr>
                                        <p:cTn id="2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1CF31-800E-7D64-BCFE-61AFBFBC534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52406E0-311A-DDFF-BB8A-D1EE3E3D2CDA}"/>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1D3F2EF3-B06B-CE12-4EF0-3180C0526581}"/>
              </a:ext>
            </a:extLst>
          </p:cNvPr>
          <p:cNvSpPr txBox="1"/>
          <p:nvPr/>
        </p:nvSpPr>
        <p:spPr>
          <a:xfrm>
            <a:off x="0" y="457786"/>
            <a:ext cx="11409149" cy="5196166"/>
          </a:xfrm>
          <a:prstGeom prst="rect">
            <a:avLst/>
          </a:prstGeom>
          <a:noFill/>
        </p:spPr>
        <p:txBody>
          <a:bodyPr wrap="square" rtlCol="0">
            <a:spAutoFit/>
          </a:bodyPr>
          <a:lstStyle/>
          <a:p>
            <a:pPr>
              <a:lnSpc>
                <a:spcPct val="150000"/>
              </a:lnSpc>
            </a:pPr>
            <a:r>
              <a:rPr lang="en-US" sz="2800" b="1" dirty="0">
                <a:latin typeface="Calibir"/>
              </a:rPr>
              <a:t>Q9. What is semantic HTML?</a:t>
            </a:r>
          </a:p>
          <a:p>
            <a:pPr>
              <a:lnSpc>
                <a:spcPct val="150000"/>
              </a:lnSpc>
            </a:pPr>
            <a:r>
              <a:rPr lang="en-US" sz="2800" dirty="0">
                <a:latin typeface="Calibir"/>
              </a:rPr>
              <a:t>Semantic HTML uses meaningful tags such as:</a:t>
            </a:r>
          </a:p>
          <a:p>
            <a:pPr>
              <a:lnSpc>
                <a:spcPct val="150000"/>
              </a:lnSpc>
            </a:pPr>
            <a:r>
              <a:rPr lang="en-US" sz="2800" dirty="0">
                <a:highlight>
                  <a:srgbClr val="FFFF00"/>
                </a:highlight>
                <a:latin typeface="Calibir"/>
              </a:rPr>
              <a:t>&lt;header&gt;</a:t>
            </a:r>
            <a:br>
              <a:rPr lang="en-US" sz="2800" dirty="0">
                <a:highlight>
                  <a:srgbClr val="FFFF00"/>
                </a:highlight>
                <a:latin typeface="Calibir"/>
              </a:rPr>
            </a:br>
            <a:r>
              <a:rPr lang="en-US" sz="2800" dirty="0">
                <a:highlight>
                  <a:srgbClr val="FFFF00"/>
                </a:highlight>
                <a:latin typeface="Calibir"/>
              </a:rPr>
              <a:t>&lt;nav&gt;</a:t>
            </a:r>
            <a:br>
              <a:rPr lang="en-US" sz="2800" dirty="0">
                <a:highlight>
                  <a:srgbClr val="FFFF00"/>
                </a:highlight>
                <a:latin typeface="Calibir"/>
              </a:rPr>
            </a:br>
            <a:r>
              <a:rPr lang="en-US" sz="2800" dirty="0">
                <a:highlight>
                  <a:srgbClr val="FFFF00"/>
                </a:highlight>
                <a:latin typeface="Calibir"/>
              </a:rPr>
              <a:t>&lt;main&gt;</a:t>
            </a:r>
            <a:br>
              <a:rPr lang="en-US" sz="2800" dirty="0">
                <a:highlight>
                  <a:srgbClr val="FFFF00"/>
                </a:highlight>
                <a:latin typeface="Calibir"/>
              </a:rPr>
            </a:br>
            <a:r>
              <a:rPr lang="en-US" sz="2800" dirty="0">
                <a:highlight>
                  <a:srgbClr val="FFFF00"/>
                </a:highlight>
                <a:latin typeface="Calibir"/>
              </a:rPr>
              <a:t>&lt;section&gt;</a:t>
            </a:r>
            <a:br>
              <a:rPr lang="en-US" sz="2800" dirty="0">
                <a:highlight>
                  <a:srgbClr val="FFFF00"/>
                </a:highlight>
                <a:latin typeface="Calibir"/>
              </a:rPr>
            </a:br>
            <a:r>
              <a:rPr lang="en-US" sz="2800" dirty="0">
                <a:highlight>
                  <a:srgbClr val="FFFF00"/>
                </a:highlight>
                <a:latin typeface="Calibir"/>
              </a:rPr>
              <a:t>&lt;footer&gt;</a:t>
            </a:r>
          </a:p>
          <a:p>
            <a:pPr>
              <a:lnSpc>
                <a:spcPct val="150000"/>
              </a:lnSpc>
            </a:pPr>
            <a:r>
              <a:rPr lang="en-US" sz="2800" dirty="0">
                <a:latin typeface="Calibir"/>
              </a:rPr>
              <a:t>instead of using many generic &lt;div&gt; elements.</a:t>
            </a:r>
          </a:p>
        </p:txBody>
      </p:sp>
      <p:sp>
        <p:nvSpPr>
          <p:cNvPr id="3" name="TextBox 2">
            <a:extLst>
              <a:ext uri="{FF2B5EF4-FFF2-40B4-BE49-F238E27FC236}">
                <a16:creationId xmlns:a16="http://schemas.microsoft.com/office/drawing/2014/main" id="{F0F25AA4-308C-2A93-DA6E-6EABE193C1B4}"/>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088345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70A9E-7DC7-12C3-4BCE-A0480322C8E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C37FBE8-6C7E-1209-8AAD-65C23A6E5B99}"/>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3F88FE1E-E0E4-378E-40B1-F2C6489BB5AE}"/>
              </a:ext>
            </a:extLst>
          </p:cNvPr>
          <p:cNvSpPr txBox="1"/>
          <p:nvPr/>
        </p:nvSpPr>
        <p:spPr>
          <a:xfrm>
            <a:off x="0" y="457786"/>
            <a:ext cx="11409149" cy="5196166"/>
          </a:xfrm>
          <a:prstGeom prst="rect">
            <a:avLst/>
          </a:prstGeom>
          <a:noFill/>
        </p:spPr>
        <p:txBody>
          <a:bodyPr wrap="square" rtlCol="0">
            <a:spAutoFit/>
          </a:bodyPr>
          <a:lstStyle/>
          <a:p>
            <a:pPr>
              <a:lnSpc>
                <a:spcPct val="150000"/>
              </a:lnSpc>
            </a:pPr>
            <a:r>
              <a:rPr lang="en-US" sz="2800" b="1" dirty="0">
                <a:latin typeface="Calibir"/>
              </a:rPr>
              <a:t>Q10. How many pages are required?</a:t>
            </a:r>
          </a:p>
          <a:p>
            <a:pPr>
              <a:lnSpc>
                <a:spcPct val="150000"/>
              </a:lnSpc>
            </a:pPr>
            <a:r>
              <a:rPr lang="en-US" sz="2800" dirty="0">
                <a:latin typeface="Calibir"/>
              </a:rPr>
              <a:t>Minimum:</a:t>
            </a:r>
          </a:p>
          <a:p>
            <a:pPr marL="914400" lvl="1" indent="-457200">
              <a:lnSpc>
                <a:spcPct val="150000"/>
              </a:lnSpc>
              <a:buFont typeface="Arial" panose="020B0604020202020204" pitchFamily="34" charset="0"/>
              <a:buChar char="•"/>
            </a:pPr>
            <a:r>
              <a:rPr lang="en-US" sz="2800" dirty="0">
                <a:latin typeface="Calibir"/>
              </a:rPr>
              <a:t>four interlinked pages </a:t>
            </a:r>
          </a:p>
          <a:p>
            <a:pPr>
              <a:lnSpc>
                <a:spcPct val="150000"/>
              </a:lnSpc>
            </a:pPr>
            <a:r>
              <a:rPr lang="en-US" sz="2800" dirty="0">
                <a:latin typeface="Calibir"/>
              </a:rPr>
              <a:t>depending on your business scenario.</a:t>
            </a:r>
          </a:p>
          <a:p>
            <a:pPr>
              <a:lnSpc>
                <a:spcPct val="150000"/>
              </a:lnSpc>
            </a:pPr>
            <a:r>
              <a:rPr lang="en-US" sz="2800" b="1" dirty="0">
                <a:latin typeface="Calibir"/>
              </a:rPr>
              <a:t>Q11. What should be inside the README.txt file?</a:t>
            </a:r>
          </a:p>
          <a:p>
            <a:pPr>
              <a:lnSpc>
                <a:spcPct val="150000"/>
              </a:lnSpc>
            </a:pPr>
            <a:r>
              <a:rPr lang="en-US" sz="2800" dirty="0">
                <a:latin typeface="Calibir"/>
              </a:rPr>
              <a:t>Include:</a:t>
            </a:r>
          </a:p>
          <a:p>
            <a:pPr marL="914400" lvl="1" indent="-457200">
              <a:lnSpc>
                <a:spcPct val="150000"/>
              </a:lnSpc>
              <a:buFont typeface="Arial" panose="020B0604020202020204" pitchFamily="34" charset="0"/>
              <a:buChar char="•"/>
            </a:pPr>
            <a:r>
              <a:rPr lang="en-US" sz="2800" dirty="0">
                <a:latin typeface="Calibir"/>
              </a:rPr>
              <a:t>all member names </a:t>
            </a:r>
          </a:p>
          <a:p>
            <a:pPr marL="914400" lvl="1" indent="-457200">
              <a:lnSpc>
                <a:spcPct val="150000"/>
              </a:lnSpc>
              <a:buFont typeface="Arial" panose="020B0604020202020204" pitchFamily="34" charset="0"/>
              <a:buChar char="•"/>
            </a:pPr>
            <a:r>
              <a:rPr lang="en-US" sz="2800" dirty="0">
                <a:latin typeface="Calibir"/>
              </a:rPr>
              <a:t>contribution of each member</a:t>
            </a:r>
          </a:p>
        </p:txBody>
      </p:sp>
      <p:sp>
        <p:nvSpPr>
          <p:cNvPr id="3" name="TextBox 2">
            <a:extLst>
              <a:ext uri="{FF2B5EF4-FFF2-40B4-BE49-F238E27FC236}">
                <a16:creationId xmlns:a16="http://schemas.microsoft.com/office/drawing/2014/main" id="{3406E4E0-4BFF-9FA9-3728-7155785C7F79}"/>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19955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5" end="5"/>
                                            </p:txEl>
                                          </p:spTgt>
                                        </p:tgtEl>
                                        <p:attrNameLst>
                                          <p:attrName>style.visibility</p:attrName>
                                        </p:attrNameLst>
                                      </p:cBhvr>
                                      <p:to>
                                        <p:strVal val="visible"/>
                                      </p:to>
                                    </p:set>
                                    <p:animEffect transition="in" filter="fade">
                                      <p:cBhvr>
                                        <p:cTn id="7" dur="1000"/>
                                        <p:tgtEl>
                                          <p:spTgt spid="9">
                                            <p:txEl>
                                              <p:pRg st="5" end="5"/>
                                            </p:txEl>
                                          </p:spTgt>
                                        </p:tgtEl>
                                      </p:cBhvr>
                                    </p:animEffect>
                                    <p:anim calcmode="lin" valueType="num">
                                      <p:cBhvr>
                                        <p:cTn id="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6" end="6"/>
                                            </p:txEl>
                                          </p:spTgt>
                                        </p:tgtEl>
                                        <p:attrNameLst>
                                          <p:attrName>style.visibility</p:attrName>
                                        </p:attrNameLst>
                                      </p:cBhvr>
                                      <p:to>
                                        <p:strVal val="visible"/>
                                      </p:to>
                                    </p:set>
                                    <p:animEffect transition="in" filter="fade">
                                      <p:cBhvr>
                                        <p:cTn id="12" dur="1000"/>
                                        <p:tgtEl>
                                          <p:spTgt spid="9">
                                            <p:txEl>
                                              <p:pRg st="6" end="6"/>
                                            </p:txEl>
                                          </p:spTgt>
                                        </p:tgtEl>
                                      </p:cBhvr>
                                    </p:animEffect>
                                    <p:anim calcmode="lin" valueType="num">
                                      <p:cBhvr>
                                        <p:cTn id="13"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animEffect transition="in" filter="fade">
                                      <p:cBhvr>
                                        <p:cTn id="17" dur="1000"/>
                                        <p:tgtEl>
                                          <p:spTgt spid="9">
                                            <p:txEl>
                                              <p:pRg st="7" end="7"/>
                                            </p:txEl>
                                          </p:spTgt>
                                        </p:tgtEl>
                                      </p:cBhvr>
                                    </p:animEffect>
                                    <p:anim calcmode="lin" valueType="num">
                                      <p:cBhvr>
                                        <p:cTn id="18"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fade">
                                      <p:cBhvr>
                                        <p:cTn id="22" dur="1000"/>
                                        <p:tgtEl>
                                          <p:spTgt spid="9">
                                            <p:txEl>
                                              <p:pRg st="1" end="1"/>
                                            </p:txEl>
                                          </p:spTgt>
                                        </p:tgtEl>
                                      </p:cBhvr>
                                    </p:animEffect>
                                    <p:anim calcmode="lin" valueType="num">
                                      <p:cBhvr>
                                        <p:cTn id="23"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animEffect transition="in" filter="fade">
                                      <p:cBhvr>
                                        <p:cTn id="27" dur="1000"/>
                                        <p:tgtEl>
                                          <p:spTgt spid="9">
                                            <p:txEl>
                                              <p:pRg st="2" end="2"/>
                                            </p:txEl>
                                          </p:spTgt>
                                        </p:tgtEl>
                                      </p:cBhvr>
                                    </p:animEffect>
                                    <p:anim calcmode="lin" valueType="num">
                                      <p:cBhvr>
                                        <p:cTn id="2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9">
                                            <p:txEl>
                                              <p:pRg st="3" end="3"/>
                                            </p:txEl>
                                          </p:spTgt>
                                        </p:tgtEl>
                                        <p:attrNameLst>
                                          <p:attrName>style.visibility</p:attrName>
                                        </p:attrNameLst>
                                      </p:cBhvr>
                                      <p:to>
                                        <p:strVal val="visible"/>
                                      </p:to>
                                    </p:set>
                                    <p:animEffect transition="in" filter="fade">
                                      <p:cBhvr>
                                        <p:cTn id="32" dur="1000"/>
                                        <p:tgtEl>
                                          <p:spTgt spid="9">
                                            <p:txEl>
                                              <p:pRg st="3" end="3"/>
                                            </p:txEl>
                                          </p:spTgt>
                                        </p:tgtEl>
                                      </p:cBhvr>
                                    </p:animEffect>
                                    <p:anim calcmode="lin" valueType="num">
                                      <p:cBhvr>
                                        <p:cTn id="3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F6CF7-B6B2-11E2-61DD-2DA76DF1099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6BE2079-71EC-67BD-4D37-6E5BA7D079D4}"/>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9ACE3A9D-F644-D52F-352E-584ED10F369E}"/>
              </a:ext>
            </a:extLst>
          </p:cNvPr>
          <p:cNvSpPr txBox="1"/>
          <p:nvPr/>
        </p:nvSpPr>
        <p:spPr>
          <a:xfrm>
            <a:off x="0" y="457786"/>
            <a:ext cx="11409149" cy="3903504"/>
          </a:xfrm>
          <a:prstGeom prst="rect">
            <a:avLst/>
          </a:prstGeom>
          <a:noFill/>
        </p:spPr>
        <p:txBody>
          <a:bodyPr wrap="square" rtlCol="0">
            <a:spAutoFit/>
          </a:bodyPr>
          <a:lstStyle/>
          <a:p>
            <a:pPr>
              <a:lnSpc>
                <a:spcPct val="150000"/>
              </a:lnSpc>
            </a:pPr>
            <a:r>
              <a:rPr lang="en-US" sz="2800" b="1" dirty="0">
                <a:latin typeface="Calibir"/>
              </a:rPr>
              <a:t>Q12. Do we need to validate HTML and CSS?</a:t>
            </a:r>
          </a:p>
          <a:p>
            <a:pPr>
              <a:lnSpc>
                <a:spcPct val="150000"/>
              </a:lnSpc>
            </a:pPr>
            <a:r>
              <a:rPr lang="en-US" sz="2800" dirty="0">
                <a:latin typeface="Calibir"/>
              </a:rPr>
              <a:t>Yes.</a:t>
            </a:r>
          </a:p>
          <a:p>
            <a:pPr>
              <a:lnSpc>
                <a:spcPct val="150000"/>
              </a:lnSpc>
            </a:pPr>
            <a:r>
              <a:rPr lang="en-US" sz="2800" dirty="0">
                <a:latin typeface="Calibir"/>
              </a:rPr>
              <a:t>Students should:</a:t>
            </a:r>
          </a:p>
          <a:p>
            <a:pPr marL="914400" lvl="1" indent="-457200">
              <a:lnSpc>
                <a:spcPct val="150000"/>
              </a:lnSpc>
              <a:buFont typeface="Arial" panose="020B0604020202020204" pitchFamily="34" charset="0"/>
              <a:buChar char="•"/>
            </a:pPr>
            <a:r>
              <a:rPr lang="en-US" sz="2800" dirty="0">
                <a:latin typeface="Calibir"/>
              </a:rPr>
              <a:t>validate HTML </a:t>
            </a:r>
          </a:p>
          <a:p>
            <a:pPr marL="914400" lvl="1" indent="-457200">
              <a:lnSpc>
                <a:spcPct val="150000"/>
              </a:lnSpc>
              <a:buFont typeface="Arial" panose="020B0604020202020204" pitchFamily="34" charset="0"/>
              <a:buChar char="•"/>
            </a:pPr>
            <a:r>
              <a:rPr lang="en-US" sz="2800" dirty="0">
                <a:latin typeface="Calibir"/>
              </a:rPr>
              <a:t>validate CSS </a:t>
            </a:r>
          </a:p>
          <a:p>
            <a:pPr marL="914400" lvl="1" indent="-457200">
              <a:lnSpc>
                <a:spcPct val="150000"/>
              </a:lnSpc>
              <a:buFont typeface="Arial" panose="020B0604020202020204" pitchFamily="34" charset="0"/>
              <a:buChar char="•"/>
            </a:pPr>
            <a:r>
              <a:rPr lang="en-US" sz="2800" dirty="0">
                <a:latin typeface="Calibir"/>
              </a:rPr>
              <a:t>include screenshots in the report</a:t>
            </a:r>
          </a:p>
        </p:txBody>
      </p:sp>
      <p:sp>
        <p:nvSpPr>
          <p:cNvPr id="3" name="TextBox 2">
            <a:extLst>
              <a:ext uri="{FF2B5EF4-FFF2-40B4-BE49-F238E27FC236}">
                <a16:creationId xmlns:a16="http://schemas.microsoft.com/office/drawing/2014/main" id="{A839A5D7-07DE-9D2F-E853-5790E59FF80D}"/>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991532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1000"/>
                                        <p:tgtEl>
                                          <p:spTgt spid="9">
                                            <p:txEl>
                                              <p:pRg st="4" end="4"/>
                                            </p:txEl>
                                          </p:spTgt>
                                        </p:tgtEl>
                                      </p:cBhvr>
                                    </p:animEffect>
                                    <p:anim calcmode="lin" valueType="num">
                                      <p:cBhvr>
                                        <p:cTn id="2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fade">
                                      <p:cBhvr>
                                        <p:cTn id="27" dur="1000"/>
                                        <p:tgtEl>
                                          <p:spTgt spid="9">
                                            <p:txEl>
                                              <p:pRg st="5" end="5"/>
                                            </p:txEl>
                                          </p:spTgt>
                                        </p:tgtEl>
                                      </p:cBhvr>
                                    </p:animEffect>
                                    <p:anim calcmode="lin" valueType="num">
                                      <p:cBhvr>
                                        <p:cTn id="2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11014-7565-80E1-F788-851A065BFEF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7C5E6B0-9035-336B-1DBB-789DF5ED6ADF}"/>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FA1B31C4-F621-AABB-E29D-5F114449D1D8}"/>
              </a:ext>
            </a:extLst>
          </p:cNvPr>
          <p:cNvSpPr txBox="1"/>
          <p:nvPr/>
        </p:nvSpPr>
        <p:spPr>
          <a:xfrm>
            <a:off x="0" y="457786"/>
            <a:ext cx="11409149" cy="5842497"/>
          </a:xfrm>
          <a:prstGeom prst="rect">
            <a:avLst/>
          </a:prstGeom>
          <a:noFill/>
        </p:spPr>
        <p:txBody>
          <a:bodyPr wrap="square" rtlCol="0">
            <a:spAutoFit/>
          </a:bodyPr>
          <a:lstStyle/>
          <a:p>
            <a:pPr>
              <a:lnSpc>
                <a:spcPct val="150000"/>
              </a:lnSpc>
            </a:pPr>
            <a:r>
              <a:rPr lang="en-US" sz="2800" b="1" dirty="0">
                <a:latin typeface="Calibir"/>
              </a:rPr>
              <a:t>Q13. What if our website looks simple?</a:t>
            </a:r>
          </a:p>
          <a:p>
            <a:pPr>
              <a:lnSpc>
                <a:spcPct val="150000"/>
              </a:lnSpc>
            </a:pPr>
            <a:r>
              <a:rPr lang="en-US" sz="2800" dirty="0">
                <a:latin typeface="Calibir"/>
              </a:rPr>
              <a:t>Simple is acceptable if:</a:t>
            </a:r>
          </a:p>
          <a:p>
            <a:pPr marL="914400" lvl="1" indent="-457200">
              <a:lnSpc>
                <a:spcPct val="150000"/>
              </a:lnSpc>
              <a:buFont typeface="Arial" panose="020B0604020202020204" pitchFamily="34" charset="0"/>
              <a:buChar char="•"/>
            </a:pPr>
            <a:r>
              <a:rPr lang="en-US" sz="2800" dirty="0">
                <a:latin typeface="Calibir"/>
              </a:rPr>
              <a:t>clean </a:t>
            </a:r>
          </a:p>
          <a:p>
            <a:pPr marL="914400" lvl="1" indent="-457200">
              <a:lnSpc>
                <a:spcPct val="150000"/>
              </a:lnSpc>
              <a:buFont typeface="Arial" panose="020B0604020202020204" pitchFamily="34" charset="0"/>
              <a:buChar char="•"/>
            </a:pPr>
            <a:r>
              <a:rPr lang="en-US" sz="2800" dirty="0">
                <a:latin typeface="Calibir"/>
              </a:rPr>
              <a:t>responsive </a:t>
            </a:r>
          </a:p>
          <a:p>
            <a:pPr marL="914400" lvl="1" indent="-457200">
              <a:lnSpc>
                <a:spcPct val="150000"/>
              </a:lnSpc>
              <a:buFont typeface="Arial" panose="020B0604020202020204" pitchFamily="34" charset="0"/>
              <a:buChar char="•"/>
            </a:pPr>
            <a:r>
              <a:rPr lang="en-US" sz="2800" dirty="0" err="1">
                <a:latin typeface="Calibir"/>
              </a:rPr>
              <a:t>organised</a:t>
            </a:r>
            <a:r>
              <a:rPr lang="en-US" sz="2800" dirty="0">
                <a:latin typeface="Calibir"/>
              </a:rPr>
              <a:t> </a:t>
            </a:r>
          </a:p>
          <a:p>
            <a:pPr marL="914400" lvl="1" indent="-457200">
              <a:lnSpc>
                <a:spcPct val="150000"/>
              </a:lnSpc>
              <a:buFont typeface="Arial" panose="020B0604020202020204" pitchFamily="34" charset="0"/>
              <a:buChar char="•"/>
            </a:pPr>
            <a:r>
              <a:rPr lang="en-US" sz="2800" dirty="0">
                <a:latin typeface="Calibir"/>
              </a:rPr>
              <a:t>functional </a:t>
            </a:r>
          </a:p>
          <a:p>
            <a:pPr marL="914400" lvl="1" indent="-457200">
              <a:lnSpc>
                <a:spcPct val="150000"/>
              </a:lnSpc>
              <a:buFont typeface="Arial" panose="020B0604020202020204" pitchFamily="34" charset="0"/>
              <a:buChar char="•"/>
            </a:pPr>
            <a:r>
              <a:rPr lang="en-US" sz="2800" dirty="0">
                <a:latin typeface="Calibir"/>
              </a:rPr>
              <a:t>professionally designed </a:t>
            </a:r>
          </a:p>
          <a:p>
            <a:pPr>
              <a:lnSpc>
                <a:spcPct val="150000"/>
              </a:lnSpc>
            </a:pPr>
            <a:r>
              <a:rPr lang="en-US" sz="2800" dirty="0">
                <a:latin typeface="Calibir"/>
              </a:rPr>
              <a:t>A simple working website is usually better than a complicated broken website.</a:t>
            </a:r>
          </a:p>
        </p:txBody>
      </p:sp>
      <p:sp>
        <p:nvSpPr>
          <p:cNvPr id="3" name="TextBox 2">
            <a:extLst>
              <a:ext uri="{FF2B5EF4-FFF2-40B4-BE49-F238E27FC236}">
                <a16:creationId xmlns:a16="http://schemas.microsoft.com/office/drawing/2014/main" id="{22C681DA-FB16-4368-4358-F7C3628993C2}"/>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402335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1000"/>
                                        <p:tgtEl>
                                          <p:spTgt spid="9">
                                            <p:txEl>
                                              <p:pRg st="4" end="4"/>
                                            </p:txEl>
                                          </p:spTgt>
                                        </p:tgtEl>
                                      </p:cBhvr>
                                    </p:animEffect>
                                    <p:anim calcmode="lin" valueType="num">
                                      <p:cBhvr>
                                        <p:cTn id="2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fade">
                                      <p:cBhvr>
                                        <p:cTn id="27" dur="1000"/>
                                        <p:tgtEl>
                                          <p:spTgt spid="9">
                                            <p:txEl>
                                              <p:pRg st="5" end="5"/>
                                            </p:txEl>
                                          </p:spTgt>
                                        </p:tgtEl>
                                      </p:cBhvr>
                                    </p:animEffect>
                                    <p:anim calcmode="lin" valueType="num">
                                      <p:cBhvr>
                                        <p:cTn id="2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fade">
                                      <p:cBhvr>
                                        <p:cTn id="32" dur="1000"/>
                                        <p:tgtEl>
                                          <p:spTgt spid="9">
                                            <p:txEl>
                                              <p:pRg st="6" end="6"/>
                                            </p:txEl>
                                          </p:spTgt>
                                        </p:tgtEl>
                                      </p:cBhvr>
                                    </p:animEffect>
                                    <p:anim calcmode="lin" valueType="num">
                                      <p:cBhvr>
                                        <p:cTn id="33"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9">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fade">
                                      <p:cBhvr>
                                        <p:cTn id="37" dur="1000"/>
                                        <p:tgtEl>
                                          <p:spTgt spid="9">
                                            <p:txEl>
                                              <p:pRg st="7" end="7"/>
                                            </p:txEl>
                                          </p:spTgt>
                                        </p:tgtEl>
                                      </p:cBhvr>
                                    </p:animEffect>
                                    <p:anim calcmode="lin" valueType="num">
                                      <p:cBhvr>
                                        <p:cTn id="38"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98032-CA88-D2C0-9741-FC258E83962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1B655D3-E5E7-E932-7683-C73102C8EECA}"/>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87A862A3-9EA4-6100-CD1F-8EED4463E038}"/>
              </a:ext>
            </a:extLst>
          </p:cNvPr>
          <p:cNvSpPr txBox="1"/>
          <p:nvPr/>
        </p:nvSpPr>
        <p:spPr>
          <a:xfrm>
            <a:off x="0" y="457786"/>
            <a:ext cx="11409149" cy="2610843"/>
          </a:xfrm>
          <a:prstGeom prst="rect">
            <a:avLst/>
          </a:prstGeom>
          <a:noFill/>
        </p:spPr>
        <p:txBody>
          <a:bodyPr wrap="square" rtlCol="0">
            <a:spAutoFit/>
          </a:bodyPr>
          <a:lstStyle/>
          <a:p>
            <a:pPr>
              <a:lnSpc>
                <a:spcPct val="150000"/>
              </a:lnSpc>
            </a:pPr>
            <a:r>
              <a:rPr lang="en-US" sz="2800" b="1" dirty="0">
                <a:latin typeface="Calibir"/>
              </a:rPr>
              <a:t>Q14. Can we use AI tools to generate code?</a:t>
            </a:r>
          </a:p>
          <a:p>
            <a:pPr>
              <a:lnSpc>
                <a:spcPct val="150000"/>
              </a:lnSpc>
            </a:pPr>
            <a:r>
              <a:rPr lang="en-US" sz="2800" dirty="0">
                <a:latin typeface="Calibir"/>
              </a:rPr>
              <a:t>The assignment instructions say:</a:t>
            </a:r>
          </a:p>
          <a:p>
            <a:pPr marL="914400" lvl="1" indent="-457200">
              <a:lnSpc>
                <a:spcPct val="150000"/>
              </a:lnSpc>
              <a:buFont typeface="Arial" panose="020B0604020202020204" pitchFamily="34" charset="0"/>
              <a:buChar char="•"/>
            </a:pPr>
            <a:r>
              <a:rPr lang="en-US" sz="2800" dirty="0">
                <a:latin typeface="Calibir"/>
              </a:rPr>
              <a:t>do not use AI code-generation tools </a:t>
            </a:r>
          </a:p>
          <a:p>
            <a:pPr>
              <a:lnSpc>
                <a:spcPct val="150000"/>
              </a:lnSpc>
            </a:pPr>
            <a:r>
              <a:rPr lang="en-US" sz="2800" dirty="0">
                <a:latin typeface="Calibir"/>
              </a:rPr>
              <a:t>Students should write and understand their own code.</a:t>
            </a:r>
          </a:p>
        </p:txBody>
      </p:sp>
      <p:sp>
        <p:nvSpPr>
          <p:cNvPr id="3" name="TextBox 2">
            <a:extLst>
              <a:ext uri="{FF2B5EF4-FFF2-40B4-BE49-F238E27FC236}">
                <a16:creationId xmlns:a16="http://schemas.microsoft.com/office/drawing/2014/main" id="{21056E92-66E0-2071-D5A4-300E6DC34768}"/>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spTree>
    <p:extLst>
      <p:ext uri="{BB962C8B-B14F-4D97-AF65-F5344CB8AC3E}">
        <p14:creationId xmlns:p14="http://schemas.microsoft.com/office/powerpoint/2010/main" val="351252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1000"/>
                                        <p:tgtEl>
                                          <p:spTgt spid="9">
                                            <p:txEl>
                                              <p:pRg st="3" end="3"/>
                                            </p:txEl>
                                          </p:spTgt>
                                        </p:tgtEl>
                                      </p:cBhvr>
                                    </p:animEffect>
                                    <p:anim calcmode="lin" valueType="num">
                                      <p:cBhvr>
                                        <p:cTn id="1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A0F3C-8537-513A-72BB-F2635C558C3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1103E34-1109-D512-6238-25E0D45138BE}"/>
              </a:ext>
            </a:extLst>
          </p:cNvPr>
          <p:cNvPicPr>
            <a:picLocks noChangeAspect="1"/>
          </p:cNvPicPr>
          <p:nvPr/>
        </p:nvPicPr>
        <p:blipFill>
          <a:blip r:embed="rId2"/>
          <a:stretch>
            <a:fillRect/>
          </a:stretch>
        </p:blipFill>
        <p:spPr>
          <a:xfrm>
            <a:off x="10260685" y="0"/>
            <a:ext cx="1931315" cy="1902052"/>
          </a:xfrm>
          <a:prstGeom prst="rect">
            <a:avLst/>
          </a:prstGeom>
        </p:spPr>
      </p:pic>
      <p:sp>
        <p:nvSpPr>
          <p:cNvPr id="9" name="TextBox 8">
            <a:extLst>
              <a:ext uri="{FF2B5EF4-FFF2-40B4-BE49-F238E27FC236}">
                <a16:creationId xmlns:a16="http://schemas.microsoft.com/office/drawing/2014/main" id="{6BF5C1EA-BA17-C38B-1CDA-F4D181EE4789}"/>
              </a:ext>
            </a:extLst>
          </p:cNvPr>
          <p:cNvSpPr txBox="1"/>
          <p:nvPr/>
        </p:nvSpPr>
        <p:spPr>
          <a:xfrm>
            <a:off x="0" y="457786"/>
            <a:ext cx="11409149" cy="1318181"/>
          </a:xfrm>
          <a:prstGeom prst="rect">
            <a:avLst/>
          </a:prstGeom>
          <a:noFill/>
        </p:spPr>
        <p:txBody>
          <a:bodyPr wrap="square" rtlCol="0">
            <a:spAutoFit/>
          </a:bodyPr>
          <a:lstStyle/>
          <a:p>
            <a:pPr>
              <a:lnSpc>
                <a:spcPct val="150000"/>
              </a:lnSpc>
            </a:pPr>
            <a:r>
              <a:rPr lang="en-US" sz="2800" b="1" dirty="0">
                <a:latin typeface="Calibir"/>
              </a:rPr>
              <a:t>Q15. What is the best way to divide work?</a:t>
            </a:r>
          </a:p>
          <a:p>
            <a:pPr>
              <a:lnSpc>
                <a:spcPct val="150000"/>
              </a:lnSpc>
            </a:pPr>
            <a:r>
              <a:rPr lang="en-US" sz="2800" dirty="0">
                <a:latin typeface="Calibir"/>
              </a:rPr>
              <a:t>Example:</a:t>
            </a:r>
          </a:p>
        </p:txBody>
      </p:sp>
      <p:sp>
        <p:nvSpPr>
          <p:cNvPr id="3" name="TextBox 2">
            <a:extLst>
              <a:ext uri="{FF2B5EF4-FFF2-40B4-BE49-F238E27FC236}">
                <a16:creationId xmlns:a16="http://schemas.microsoft.com/office/drawing/2014/main" id="{ABCFA8AB-741A-C039-C6E7-512FFA1A78DD}"/>
              </a:ext>
            </a:extLst>
          </p:cNvPr>
          <p:cNvSpPr txBox="1"/>
          <p:nvPr/>
        </p:nvSpPr>
        <p:spPr>
          <a:xfrm>
            <a:off x="94593" y="0"/>
            <a:ext cx="8976732" cy="538609"/>
          </a:xfrm>
          <a:prstGeom prst="rect">
            <a:avLst/>
          </a:prstGeom>
          <a:noFill/>
        </p:spPr>
        <p:txBody>
          <a:bodyPr wrap="square" rtlCol="0">
            <a:spAutoFit/>
          </a:bodyPr>
          <a:lstStyle/>
          <a:p>
            <a:r>
              <a:rPr lang="en-AU" sz="2900" b="1" dirty="0">
                <a:latin typeface="Calibri" panose="020F0502020204030204" pitchFamily="34" charset="0"/>
                <a:cs typeface="Calibri" panose="020F0502020204030204" pitchFamily="34" charset="0"/>
              </a:rPr>
              <a:t>Preparation and Guideline for Group Assignment</a:t>
            </a:r>
          </a:p>
        </p:txBody>
      </p:sp>
      <p:graphicFrame>
        <p:nvGraphicFramePr>
          <p:cNvPr id="4" name="Table 3">
            <a:extLst>
              <a:ext uri="{FF2B5EF4-FFF2-40B4-BE49-F238E27FC236}">
                <a16:creationId xmlns:a16="http://schemas.microsoft.com/office/drawing/2014/main" id="{1AE4274D-D443-49E9-84E9-49BDD14CD37C}"/>
              </a:ext>
            </a:extLst>
          </p:cNvPr>
          <p:cNvGraphicFramePr>
            <a:graphicFrameLocks noGrp="1"/>
          </p:cNvGraphicFramePr>
          <p:nvPr>
            <p:extLst>
              <p:ext uri="{D42A27DB-BD31-4B8C-83A1-F6EECF244321}">
                <p14:modId xmlns:p14="http://schemas.microsoft.com/office/powerpoint/2010/main" val="1957441430"/>
              </p:ext>
            </p:extLst>
          </p:nvPr>
        </p:nvGraphicFramePr>
        <p:xfrm>
          <a:off x="233516" y="1902052"/>
          <a:ext cx="7022690" cy="3326765"/>
        </p:xfrm>
        <a:graphic>
          <a:graphicData uri="http://schemas.openxmlformats.org/drawingml/2006/table">
            <a:tbl>
              <a:tblPr>
                <a:tableStyleId>{BDBED569-4797-4DF1-A0F4-6AAB3CD982D8}</a:tableStyleId>
              </a:tblPr>
              <a:tblGrid>
                <a:gridCol w="3040626">
                  <a:extLst>
                    <a:ext uri="{9D8B030D-6E8A-4147-A177-3AD203B41FA5}">
                      <a16:colId xmlns:a16="http://schemas.microsoft.com/office/drawing/2014/main" val="2333221333"/>
                    </a:ext>
                  </a:extLst>
                </a:gridCol>
                <a:gridCol w="3982064">
                  <a:extLst>
                    <a:ext uri="{9D8B030D-6E8A-4147-A177-3AD203B41FA5}">
                      <a16:colId xmlns:a16="http://schemas.microsoft.com/office/drawing/2014/main" val="297818596"/>
                    </a:ext>
                  </a:extLst>
                </a:gridCol>
              </a:tblGrid>
              <a:tr h="0">
                <a:tc>
                  <a:txBody>
                    <a:bodyPr/>
                    <a:lstStyle/>
                    <a:p>
                      <a:pPr>
                        <a:lnSpc>
                          <a:spcPct val="150000"/>
                        </a:lnSpc>
                        <a:buNone/>
                      </a:pPr>
                      <a:r>
                        <a:rPr lang="en-US" sz="2800" dirty="0">
                          <a:latin typeface="Calibir"/>
                        </a:rPr>
                        <a:t>Member</a:t>
                      </a:r>
                    </a:p>
                  </a:txBody>
                  <a:tcPr anchor="ctr"/>
                </a:tc>
                <a:tc>
                  <a:txBody>
                    <a:bodyPr/>
                    <a:lstStyle/>
                    <a:p>
                      <a:pPr>
                        <a:lnSpc>
                          <a:spcPct val="150000"/>
                        </a:lnSpc>
                        <a:buNone/>
                      </a:pPr>
                      <a:r>
                        <a:rPr lang="en-US" sz="2800">
                          <a:latin typeface="Calibir"/>
                        </a:rPr>
                        <a:t>Task</a:t>
                      </a:r>
                    </a:p>
                  </a:txBody>
                  <a:tcPr anchor="ctr"/>
                </a:tc>
                <a:extLst>
                  <a:ext uri="{0D108BD9-81ED-4DB2-BD59-A6C34878D82A}">
                    <a16:rowId xmlns:a16="http://schemas.microsoft.com/office/drawing/2014/main" val="3253292440"/>
                  </a:ext>
                </a:extLst>
              </a:tr>
              <a:tr h="0">
                <a:tc>
                  <a:txBody>
                    <a:bodyPr/>
                    <a:lstStyle/>
                    <a:p>
                      <a:pPr>
                        <a:lnSpc>
                          <a:spcPct val="150000"/>
                        </a:lnSpc>
                        <a:buNone/>
                      </a:pPr>
                      <a:r>
                        <a:rPr lang="en-US" sz="2800">
                          <a:latin typeface="Calibir"/>
                        </a:rPr>
                        <a:t>Student 1</a:t>
                      </a:r>
                    </a:p>
                  </a:txBody>
                  <a:tcPr anchor="ctr"/>
                </a:tc>
                <a:tc>
                  <a:txBody>
                    <a:bodyPr/>
                    <a:lstStyle/>
                    <a:p>
                      <a:pPr>
                        <a:lnSpc>
                          <a:spcPct val="150000"/>
                        </a:lnSpc>
                        <a:buNone/>
                      </a:pPr>
                      <a:r>
                        <a:rPr lang="en-US" sz="2800">
                          <a:latin typeface="Calibir"/>
                        </a:rPr>
                        <a:t>Home page</a:t>
                      </a:r>
                    </a:p>
                  </a:txBody>
                  <a:tcPr anchor="ctr"/>
                </a:tc>
                <a:extLst>
                  <a:ext uri="{0D108BD9-81ED-4DB2-BD59-A6C34878D82A}">
                    <a16:rowId xmlns:a16="http://schemas.microsoft.com/office/drawing/2014/main" val="2201120455"/>
                  </a:ext>
                </a:extLst>
              </a:tr>
              <a:tr h="0">
                <a:tc>
                  <a:txBody>
                    <a:bodyPr/>
                    <a:lstStyle/>
                    <a:p>
                      <a:pPr>
                        <a:lnSpc>
                          <a:spcPct val="150000"/>
                        </a:lnSpc>
                        <a:buNone/>
                      </a:pPr>
                      <a:r>
                        <a:rPr lang="en-US" sz="2800">
                          <a:latin typeface="Calibir"/>
                        </a:rPr>
                        <a:t>Student 2</a:t>
                      </a:r>
                    </a:p>
                  </a:txBody>
                  <a:tcPr anchor="ctr"/>
                </a:tc>
                <a:tc>
                  <a:txBody>
                    <a:bodyPr/>
                    <a:lstStyle/>
                    <a:p>
                      <a:pPr>
                        <a:lnSpc>
                          <a:spcPct val="150000"/>
                        </a:lnSpc>
                        <a:buNone/>
                      </a:pPr>
                      <a:r>
                        <a:rPr lang="en-US" sz="2800">
                          <a:latin typeface="Calibir"/>
                        </a:rPr>
                        <a:t>Menu and gallery</a:t>
                      </a:r>
                    </a:p>
                  </a:txBody>
                  <a:tcPr anchor="ctr"/>
                </a:tc>
                <a:extLst>
                  <a:ext uri="{0D108BD9-81ED-4DB2-BD59-A6C34878D82A}">
                    <a16:rowId xmlns:a16="http://schemas.microsoft.com/office/drawing/2014/main" val="2596465259"/>
                  </a:ext>
                </a:extLst>
              </a:tr>
              <a:tr h="0">
                <a:tc>
                  <a:txBody>
                    <a:bodyPr/>
                    <a:lstStyle/>
                    <a:p>
                      <a:pPr>
                        <a:lnSpc>
                          <a:spcPct val="150000"/>
                        </a:lnSpc>
                        <a:buNone/>
                      </a:pPr>
                      <a:r>
                        <a:rPr lang="en-US" sz="2800">
                          <a:latin typeface="Calibir"/>
                        </a:rPr>
                        <a:t>Student 3</a:t>
                      </a:r>
                    </a:p>
                  </a:txBody>
                  <a:tcPr anchor="ctr"/>
                </a:tc>
                <a:tc>
                  <a:txBody>
                    <a:bodyPr/>
                    <a:lstStyle/>
                    <a:p>
                      <a:pPr>
                        <a:lnSpc>
                          <a:spcPct val="150000"/>
                        </a:lnSpc>
                        <a:buNone/>
                      </a:pPr>
                      <a:r>
                        <a:rPr lang="en-US" sz="2800">
                          <a:latin typeface="Calibir"/>
                        </a:rPr>
                        <a:t>Contact form</a:t>
                      </a:r>
                    </a:p>
                  </a:txBody>
                  <a:tcPr anchor="ctr"/>
                </a:tc>
                <a:extLst>
                  <a:ext uri="{0D108BD9-81ED-4DB2-BD59-A6C34878D82A}">
                    <a16:rowId xmlns:a16="http://schemas.microsoft.com/office/drawing/2014/main" val="3894722343"/>
                  </a:ext>
                </a:extLst>
              </a:tr>
              <a:tr h="0">
                <a:tc>
                  <a:txBody>
                    <a:bodyPr/>
                    <a:lstStyle/>
                    <a:p>
                      <a:pPr>
                        <a:lnSpc>
                          <a:spcPct val="150000"/>
                        </a:lnSpc>
                        <a:buNone/>
                      </a:pPr>
                      <a:r>
                        <a:rPr lang="en-US" sz="2800" dirty="0">
                          <a:latin typeface="Calibir"/>
                        </a:rPr>
                        <a:t>Student 4</a:t>
                      </a:r>
                    </a:p>
                  </a:txBody>
                  <a:tcPr anchor="ctr"/>
                </a:tc>
                <a:tc>
                  <a:txBody>
                    <a:bodyPr/>
                    <a:lstStyle/>
                    <a:p>
                      <a:pPr>
                        <a:lnSpc>
                          <a:spcPct val="150000"/>
                        </a:lnSpc>
                        <a:buNone/>
                      </a:pPr>
                      <a:r>
                        <a:rPr lang="en-US" sz="2800" dirty="0">
                          <a:latin typeface="Calibir"/>
                        </a:rPr>
                        <a:t>CSS styling and testing</a:t>
                      </a:r>
                    </a:p>
                  </a:txBody>
                  <a:tcPr anchor="ctr"/>
                </a:tc>
                <a:extLst>
                  <a:ext uri="{0D108BD9-81ED-4DB2-BD59-A6C34878D82A}">
                    <a16:rowId xmlns:a16="http://schemas.microsoft.com/office/drawing/2014/main" val="2958196730"/>
                  </a:ext>
                </a:extLst>
              </a:tr>
            </a:tbl>
          </a:graphicData>
        </a:graphic>
      </p:graphicFrame>
      <p:sp>
        <p:nvSpPr>
          <p:cNvPr id="8" name="TextBox 7">
            <a:extLst>
              <a:ext uri="{FF2B5EF4-FFF2-40B4-BE49-F238E27FC236}">
                <a16:creationId xmlns:a16="http://schemas.microsoft.com/office/drawing/2014/main" id="{73689704-EDA3-CAEE-69DD-09DC60CACD74}"/>
              </a:ext>
            </a:extLst>
          </p:cNvPr>
          <p:cNvSpPr txBox="1"/>
          <p:nvPr/>
        </p:nvSpPr>
        <p:spPr>
          <a:xfrm>
            <a:off x="60061" y="5354902"/>
            <a:ext cx="9011264" cy="671851"/>
          </a:xfrm>
          <a:prstGeom prst="rect">
            <a:avLst/>
          </a:prstGeom>
          <a:noFill/>
        </p:spPr>
        <p:txBody>
          <a:bodyPr wrap="square">
            <a:spAutoFit/>
          </a:bodyPr>
          <a:lstStyle/>
          <a:p>
            <a:pPr>
              <a:lnSpc>
                <a:spcPct val="150000"/>
              </a:lnSpc>
            </a:pPr>
            <a:r>
              <a:rPr lang="en-US" sz="2800" dirty="0">
                <a:latin typeface="Calibir"/>
              </a:rPr>
              <a:t>All members should still understand the full project.</a:t>
            </a:r>
          </a:p>
        </p:txBody>
      </p:sp>
    </p:spTree>
    <p:extLst>
      <p:ext uri="{BB962C8B-B14F-4D97-AF65-F5344CB8AC3E}">
        <p14:creationId xmlns:p14="http://schemas.microsoft.com/office/powerpoint/2010/main" val="2726021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1CFFC-B181-F204-9CF2-2BE49295E94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90D3D71-77FE-883B-046E-C6A9D6305865}"/>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D05A450C-CDF5-8E94-08BE-32D42DD07924}"/>
              </a:ext>
            </a:extLst>
          </p:cNvPr>
          <p:cNvSpPr txBox="1"/>
          <p:nvPr/>
        </p:nvSpPr>
        <p:spPr>
          <a:xfrm>
            <a:off x="0" y="0"/>
            <a:ext cx="12192000" cy="7135158"/>
          </a:xfrm>
          <a:prstGeom prst="rect">
            <a:avLst/>
          </a:prstGeom>
          <a:noFill/>
        </p:spPr>
        <p:txBody>
          <a:bodyPr wrap="square">
            <a:spAutoFit/>
          </a:bodyPr>
          <a:lstStyle/>
          <a:p>
            <a:pPr>
              <a:lnSpc>
                <a:spcPct val="150000"/>
              </a:lnSpc>
              <a:buNone/>
            </a:pPr>
            <a:r>
              <a:rPr lang="en-US" sz="2700" b="1" dirty="0">
                <a:latin typeface="Calibir"/>
              </a:rPr>
              <a:t>Final Advice for Students</a:t>
            </a:r>
          </a:p>
          <a:p>
            <a:pPr>
              <a:lnSpc>
                <a:spcPct val="150000"/>
              </a:lnSpc>
              <a:buNone/>
            </a:pPr>
            <a:r>
              <a:rPr lang="en-US" sz="2700" dirty="0">
                <a:latin typeface="Calibir"/>
              </a:rPr>
              <a:t>Start early.</a:t>
            </a:r>
          </a:p>
          <a:p>
            <a:pPr>
              <a:lnSpc>
                <a:spcPct val="150000"/>
              </a:lnSpc>
              <a:buNone/>
            </a:pPr>
            <a:r>
              <a:rPr lang="en-US" sz="2700" dirty="0">
                <a:latin typeface="Calibir"/>
              </a:rPr>
              <a:t>Do not wait until the last week.</a:t>
            </a:r>
          </a:p>
          <a:p>
            <a:pPr>
              <a:lnSpc>
                <a:spcPct val="150000"/>
              </a:lnSpc>
              <a:buNone/>
            </a:pPr>
            <a:r>
              <a:rPr lang="en-US" sz="2700" dirty="0">
                <a:latin typeface="Calibir"/>
              </a:rPr>
              <a:t>Good projects usually:</a:t>
            </a:r>
          </a:p>
          <a:p>
            <a:pPr marL="914400" lvl="1" indent="-457200">
              <a:lnSpc>
                <a:spcPct val="150000"/>
              </a:lnSpc>
              <a:buFont typeface="Arial" panose="020B0604020202020204" pitchFamily="34" charset="0"/>
              <a:buChar char="•"/>
            </a:pPr>
            <a:r>
              <a:rPr lang="en-US" sz="2700" dirty="0">
                <a:latin typeface="Calibir"/>
              </a:rPr>
              <a:t>plan first </a:t>
            </a:r>
          </a:p>
          <a:p>
            <a:pPr marL="914400" lvl="1" indent="-457200">
              <a:lnSpc>
                <a:spcPct val="150000"/>
              </a:lnSpc>
              <a:buFont typeface="Arial" panose="020B0604020202020204" pitchFamily="34" charset="0"/>
              <a:buChar char="•"/>
            </a:pPr>
            <a:r>
              <a:rPr lang="en-US" sz="2700" dirty="0">
                <a:latin typeface="Calibir"/>
              </a:rPr>
              <a:t>test regularly </a:t>
            </a:r>
          </a:p>
          <a:p>
            <a:pPr marL="914400" lvl="1" indent="-457200">
              <a:lnSpc>
                <a:spcPct val="150000"/>
              </a:lnSpc>
              <a:buFont typeface="Arial" panose="020B0604020202020204" pitchFamily="34" charset="0"/>
              <a:buChar char="•"/>
            </a:pPr>
            <a:r>
              <a:rPr lang="en-US" sz="2700" dirty="0">
                <a:latin typeface="Calibir"/>
              </a:rPr>
              <a:t>keep files </a:t>
            </a:r>
            <a:r>
              <a:rPr lang="en-US" sz="2700" dirty="0" err="1">
                <a:latin typeface="Calibir"/>
              </a:rPr>
              <a:t>organised</a:t>
            </a:r>
            <a:r>
              <a:rPr lang="en-US" sz="2700" dirty="0">
                <a:latin typeface="Calibir"/>
              </a:rPr>
              <a:t> </a:t>
            </a:r>
          </a:p>
          <a:p>
            <a:pPr marL="914400" lvl="1" indent="-457200">
              <a:lnSpc>
                <a:spcPct val="150000"/>
              </a:lnSpc>
              <a:buFont typeface="Arial" panose="020B0604020202020204" pitchFamily="34" charset="0"/>
              <a:buChar char="•"/>
            </a:pPr>
            <a:r>
              <a:rPr lang="en-US" sz="2700" dirty="0">
                <a:latin typeface="Calibir"/>
              </a:rPr>
              <a:t>use consistent design </a:t>
            </a:r>
          </a:p>
          <a:p>
            <a:pPr marL="914400" lvl="1" indent="-457200">
              <a:lnSpc>
                <a:spcPct val="150000"/>
              </a:lnSpc>
              <a:buFont typeface="Arial" panose="020B0604020202020204" pitchFamily="34" charset="0"/>
              <a:buChar char="•"/>
            </a:pPr>
            <a:r>
              <a:rPr lang="en-US" sz="2700" dirty="0">
                <a:latin typeface="Calibir"/>
              </a:rPr>
              <a:t>focus on readability and usability </a:t>
            </a:r>
          </a:p>
          <a:p>
            <a:pPr>
              <a:lnSpc>
                <a:spcPct val="150000"/>
              </a:lnSpc>
              <a:buNone/>
            </a:pPr>
            <a:r>
              <a:rPr lang="en-US" sz="2700" dirty="0">
                <a:latin typeface="Calibir"/>
              </a:rPr>
              <a:t>A clean and professional website with good teamwork often performs much better than an unfinished complex design.</a:t>
            </a:r>
          </a:p>
        </p:txBody>
      </p:sp>
    </p:spTree>
    <p:extLst>
      <p:ext uri="{BB962C8B-B14F-4D97-AF65-F5344CB8AC3E}">
        <p14:creationId xmlns:p14="http://schemas.microsoft.com/office/powerpoint/2010/main" val="39582030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66198-C7C3-5CC3-5109-AC4C49E4460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619CEEF-E915-CEEB-738F-2FC669128081}"/>
              </a:ext>
            </a:extLst>
          </p:cNvPr>
          <p:cNvSpPr txBox="1"/>
          <p:nvPr/>
        </p:nvSpPr>
        <p:spPr>
          <a:xfrm>
            <a:off x="47296" y="615986"/>
            <a:ext cx="10213389" cy="55750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Based on the lecture 5, the topics covered include various aspects of HTML and web design, specifically focusing on hyperlinks, image management, and webpage structuring using div elements. The lecture detailed how to create different types of links such as relative, absolute, email, and telephone links. It also explained the usage of image file formats like GIF, PNG, JPG, and SVG, highlighting their unique attributes such as transparency, animation support, and compression methods. Additionally, the importance of div elements and class attributes in organizing and styling web content was discussed, alongside the use of HTML heading tags and different types of lists (unordered, ordered, and description) to structure content effectively.</a:t>
            </a:r>
          </a:p>
        </p:txBody>
      </p:sp>
      <p:sp>
        <p:nvSpPr>
          <p:cNvPr id="5" name="TextBox 4">
            <a:extLst>
              <a:ext uri="{FF2B5EF4-FFF2-40B4-BE49-F238E27FC236}">
                <a16:creationId xmlns:a16="http://schemas.microsoft.com/office/drawing/2014/main" id="{AD82A5E0-F060-7BBB-4861-B75819A045B7}"/>
              </a:ext>
            </a:extLst>
          </p:cNvPr>
          <p:cNvSpPr txBox="1"/>
          <p:nvPr/>
        </p:nvSpPr>
        <p:spPr>
          <a:xfrm>
            <a:off x="94593" y="0"/>
            <a:ext cx="8976732"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2" name="Picture 1">
            <a:extLst>
              <a:ext uri="{FF2B5EF4-FFF2-40B4-BE49-F238E27FC236}">
                <a16:creationId xmlns:a16="http://schemas.microsoft.com/office/drawing/2014/main" id="{5B7DF7B6-2A90-FC4B-B9E7-6079B6FD12A1}"/>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35143454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B1BC1F-E475-FF17-1B3D-D5A5E78ABE3F}"/>
              </a:ext>
            </a:extLst>
          </p:cNvPr>
          <p:cNvSpPr txBox="1"/>
          <p:nvPr/>
        </p:nvSpPr>
        <p:spPr>
          <a:xfrm>
            <a:off x="47296" y="615986"/>
            <a:ext cx="10213389" cy="502105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To prepare for the practical tasks in "Weeks 6-7 Lab.pdf" using concepts from Lecture 5, we could assign a project that consolidates our understanding of HTML and CSS with a focus on web design practices, particularly around hyperlinks, image management, and structuring web content using </a:t>
            </a:r>
            <a:r>
              <a:rPr lang="en-US" sz="2400" b="1" dirty="0">
                <a:latin typeface="Calibri" panose="020F0502020204030204" pitchFamily="34" charset="0"/>
                <a:cs typeface="Calibri" panose="020F0502020204030204" pitchFamily="34" charset="0"/>
              </a:rPr>
              <a:t>div</a:t>
            </a:r>
            <a:r>
              <a:rPr lang="en-US" sz="2400" dirty="0">
                <a:latin typeface="Calibri" panose="020F0502020204030204" pitchFamily="34" charset="0"/>
                <a:cs typeface="Calibri" panose="020F0502020204030204" pitchFamily="34" charset="0"/>
              </a:rPr>
              <a:t> elements.</a:t>
            </a:r>
          </a:p>
          <a:p>
            <a:pPr marL="342900" indent="-342900">
              <a:lnSpc>
                <a:spcPct val="150000"/>
              </a:lnSpc>
              <a:buFont typeface="Arial" panose="020B0604020202020204" pitchFamily="34" charset="0"/>
              <a:buChar char="•"/>
            </a:pPr>
            <a:r>
              <a:rPr lang="en-US" sz="2400" b="1" dirty="0">
                <a:latin typeface="Calibri" panose="020F0502020204030204" pitchFamily="34" charset="0"/>
                <a:cs typeface="Calibri" panose="020F0502020204030204" pitchFamily="34" charset="0"/>
              </a:rPr>
              <a:t>Suggested Project Overview:</a:t>
            </a:r>
          </a:p>
          <a:p>
            <a:pPr marL="342900" indent="-342900">
              <a:lnSpc>
                <a:spcPct val="150000"/>
              </a:lnSpc>
              <a:buFont typeface="Arial" panose="020B0604020202020204" pitchFamily="34" charset="0"/>
              <a:buChar char="•"/>
            </a:pPr>
            <a:r>
              <a:rPr lang="en-US" sz="2400" b="1" dirty="0">
                <a:latin typeface="Calibri" panose="020F0502020204030204" pitchFamily="34" charset="0"/>
                <a:cs typeface="Calibri" panose="020F0502020204030204" pitchFamily="34" charset="0"/>
              </a:rPr>
              <a:t>Objective: </a:t>
            </a:r>
            <a:r>
              <a:rPr lang="en-US" sz="2400" dirty="0">
                <a:latin typeface="Calibri" panose="020F0502020204030204" pitchFamily="34" charset="0"/>
                <a:cs typeface="Calibri" panose="020F0502020204030204" pitchFamily="34" charset="0"/>
              </a:rPr>
              <a:t>We will build a mini-website for a fictional local business (e.g., "Sydney Bike Tours") that incorporates various web design elements discussed in both the lectures and the lab tasks.</a:t>
            </a:r>
          </a:p>
        </p:txBody>
      </p:sp>
      <p:sp>
        <p:nvSpPr>
          <p:cNvPr id="5" name="TextBox 4">
            <a:extLst>
              <a:ext uri="{FF2B5EF4-FFF2-40B4-BE49-F238E27FC236}">
                <a16:creationId xmlns:a16="http://schemas.microsoft.com/office/drawing/2014/main" id="{0EDA831C-3F59-8361-5C78-944EC8508F9C}"/>
              </a:ext>
            </a:extLst>
          </p:cNvPr>
          <p:cNvSpPr txBox="1"/>
          <p:nvPr/>
        </p:nvSpPr>
        <p:spPr>
          <a:xfrm>
            <a:off x="94592" y="0"/>
            <a:ext cx="10213389"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61699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B1BC1F-E475-FF17-1B3D-D5A5E78ABE3F}"/>
              </a:ext>
            </a:extLst>
          </p:cNvPr>
          <p:cNvSpPr txBox="1"/>
          <p:nvPr/>
        </p:nvSpPr>
        <p:spPr>
          <a:xfrm>
            <a:off x="0" y="492443"/>
            <a:ext cx="12144704" cy="6408421"/>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Project Tasks:</a:t>
            </a:r>
          </a:p>
          <a:p>
            <a:pPr>
              <a:lnSpc>
                <a:spcPct val="150000"/>
              </a:lnSpc>
            </a:pPr>
            <a:r>
              <a:rPr lang="en-US" sz="2300" b="1" dirty="0">
                <a:latin typeface="Calibri" panose="020F0502020204030204" pitchFamily="34" charset="0"/>
                <a:cs typeface="Calibri" panose="020F0502020204030204" pitchFamily="34" charset="0"/>
              </a:rPr>
              <a:t>1. Website Setup:</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Create an HTML document named </a:t>
            </a:r>
            <a:r>
              <a:rPr lang="en-US" sz="2300" b="1" dirty="0">
                <a:latin typeface="Calibri" panose="020F0502020204030204" pitchFamily="34" charset="0"/>
                <a:cs typeface="Calibri" panose="020F0502020204030204" pitchFamily="34" charset="0"/>
              </a:rPr>
              <a:t>index.html</a:t>
            </a:r>
            <a:r>
              <a:rPr lang="en-US" sz="23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Link a CSS file </a:t>
            </a:r>
            <a:r>
              <a:rPr lang="en-US" sz="2300" b="1" dirty="0">
                <a:latin typeface="Calibri" panose="020F0502020204030204" pitchFamily="34" charset="0"/>
                <a:cs typeface="Calibri" panose="020F0502020204030204" pitchFamily="34" charset="0"/>
              </a:rPr>
              <a:t>styles.css for </a:t>
            </a:r>
            <a:r>
              <a:rPr lang="en-US" sz="2300" dirty="0">
                <a:latin typeface="Calibri" panose="020F0502020204030204" pitchFamily="34" charset="0"/>
                <a:cs typeface="Calibri" panose="020F0502020204030204" pitchFamily="34" charset="0"/>
              </a:rPr>
              <a:t>styling.</a:t>
            </a:r>
          </a:p>
          <a:p>
            <a:pPr>
              <a:lnSpc>
                <a:spcPct val="150000"/>
              </a:lnSpc>
            </a:pPr>
            <a:r>
              <a:rPr lang="en-US" sz="2300" b="1" dirty="0">
                <a:latin typeface="Calibri" panose="020F0502020204030204" pitchFamily="34" charset="0"/>
                <a:cs typeface="Calibri" panose="020F0502020204030204" pitchFamily="34" charset="0"/>
              </a:rPr>
              <a:t>2. Content Structuring:</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Use </a:t>
            </a:r>
            <a:r>
              <a:rPr lang="en-US" sz="2300" b="1" dirty="0">
                <a:latin typeface="Calibri" panose="020F0502020204030204" pitchFamily="34" charset="0"/>
                <a:cs typeface="Calibri" panose="020F0502020204030204" pitchFamily="34" charset="0"/>
              </a:rPr>
              <a:t>div</a:t>
            </a:r>
            <a:r>
              <a:rPr lang="en-US" sz="2300" dirty="0">
                <a:latin typeface="Calibri" panose="020F0502020204030204" pitchFamily="34" charset="0"/>
                <a:cs typeface="Calibri" panose="020F0502020204030204" pitchFamily="34" charset="0"/>
              </a:rPr>
              <a:t> elements to structure the page into logical sections such as Header, Main Content, and Footer.</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Within the Main Content, use further </a:t>
            </a:r>
            <a:r>
              <a:rPr lang="en-US" sz="2300" b="1" dirty="0">
                <a:latin typeface="Calibri" panose="020F0502020204030204" pitchFamily="34" charset="0"/>
                <a:cs typeface="Calibri" panose="020F0502020204030204" pitchFamily="34" charset="0"/>
              </a:rPr>
              <a:t>div</a:t>
            </a:r>
            <a:r>
              <a:rPr lang="en-US" sz="2300" dirty="0">
                <a:latin typeface="Calibri" panose="020F0502020204030204" pitchFamily="34" charset="0"/>
                <a:cs typeface="Calibri" panose="020F0502020204030204" pitchFamily="34" charset="0"/>
              </a:rPr>
              <a:t> elements to separate different tour packages.</a:t>
            </a:r>
          </a:p>
          <a:p>
            <a:pPr>
              <a:lnSpc>
                <a:spcPct val="150000"/>
              </a:lnSpc>
            </a:pPr>
            <a:r>
              <a:rPr lang="en-US" sz="2300" b="1" dirty="0">
                <a:latin typeface="Calibri" panose="020F0502020204030204" pitchFamily="34" charset="0"/>
                <a:cs typeface="Calibri" panose="020F0502020204030204" pitchFamily="34" charset="0"/>
              </a:rPr>
              <a:t>3. Hyperlinks: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Implement relative links to navigate between pages like Home, About Us, and Contact.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Add absolute links to external resources such as bike safety tips or local traffic laws.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Create email links for contacting the tour manager and telephone links for immediate bookings.</a:t>
            </a:r>
          </a:p>
        </p:txBody>
      </p:sp>
      <p:sp>
        <p:nvSpPr>
          <p:cNvPr id="5" name="TextBox 4">
            <a:extLst>
              <a:ext uri="{FF2B5EF4-FFF2-40B4-BE49-F238E27FC236}">
                <a16:creationId xmlns:a16="http://schemas.microsoft.com/office/drawing/2014/main" id="{0EDA831C-3F59-8361-5C78-944EC8508F9C}"/>
              </a:ext>
            </a:extLst>
          </p:cNvPr>
          <p:cNvSpPr txBox="1"/>
          <p:nvPr/>
        </p:nvSpPr>
        <p:spPr>
          <a:xfrm>
            <a:off x="0" y="0"/>
            <a:ext cx="10213389"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2874403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1000"/>
                                        <p:tgtEl>
                                          <p:spTgt spid="4">
                                            <p:txEl>
                                              <p:pRg st="5" end="5"/>
                                            </p:txEl>
                                          </p:spTgt>
                                        </p:tgtEl>
                                      </p:cBhvr>
                                    </p:animEffect>
                                    <p:anim calcmode="lin" valueType="num">
                                      <p:cBhvr>
                                        <p:cTn id="1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1000"/>
                                        <p:tgtEl>
                                          <p:spTgt spid="4">
                                            <p:txEl>
                                              <p:pRg st="6" end="6"/>
                                            </p:txEl>
                                          </p:spTgt>
                                        </p:tgtEl>
                                      </p:cBhvr>
                                    </p:animEffect>
                                    <p:anim calcmode="lin" valueType="num">
                                      <p:cBhvr>
                                        <p:cTn id="1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
                                            <p:txEl>
                                              <p:pRg st="7" end="7"/>
                                            </p:txEl>
                                          </p:spTgt>
                                        </p:tgtEl>
                                        <p:attrNameLst>
                                          <p:attrName>style.visibility</p:attrName>
                                        </p:attrNameLst>
                                      </p:cBhvr>
                                      <p:to>
                                        <p:strVal val="visible"/>
                                      </p:to>
                                    </p:set>
                                    <p:anim calcmode="lin" valueType="num">
                                      <p:cBhvr additive="base">
                                        <p:cTn id="24"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7" end="7"/>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 calcmode="lin" valueType="num">
                                      <p:cBhvr additive="base">
                                        <p:cTn id="28"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4">
                                            <p:txEl>
                                              <p:pRg st="8" end="8"/>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anim calcmode="lin" valueType="num">
                                      <p:cBhvr additive="base">
                                        <p:cTn id="32"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9" end="9"/>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4">
                                            <p:txEl>
                                              <p:pRg st="10" end="10"/>
                                            </p:txEl>
                                          </p:spTgt>
                                        </p:tgtEl>
                                        <p:attrNameLst>
                                          <p:attrName>style.visibility</p:attrName>
                                        </p:attrNameLst>
                                      </p:cBhvr>
                                      <p:to>
                                        <p:strVal val="visible"/>
                                      </p:to>
                                    </p:set>
                                    <p:anim calcmode="lin" valueType="num">
                                      <p:cBhvr additive="base">
                                        <p:cTn id="36"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B1BC1F-E475-FF17-1B3D-D5A5E78ABE3F}"/>
              </a:ext>
            </a:extLst>
          </p:cNvPr>
          <p:cNvSpPr txBox="1"/>
          <p:nvPr/>
        </p:nvSpPr>
        <p:spPr>
          <a:xfrm>
            <a:off x="0" y="449579"/>
            <a:ext cx="12144704" cy="5877506"/>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4. Image Management: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Embed images of different bike tours using the </a:t>
            </a:r>
            <a:r>
              <a:rPr lang="en-US" sz="2300" b="1" dirty="0">
                <a:latin typeface="Calibri" panose="020F0502020204030204" pitchFamily="34" charset="0"/>
                <a:cs typeface="Calibri" panose="020F0502020204030204" pitchFamily="34" charset="0"/>
              </a:rPr>
              <a:t>&lt;</a:t>
            </a:r>
            <a:r>
              <a:rPr lang="en-US" sz="2300" b="1" dirty="0" err="1">
                <a:latin typeface="Calibri" panose="020F0502020204030204" pitchFamily="34" charset="0"/>
                <a:cs typeface="Calibri" panose="020F0502020204030204" pitchFamily="34" charset="0"/>
              </a:rPr>
              <a:t>img</a:t>
            </a:r>
            <a:r>
              <a:rPr lang="en-US" sz="2300" b="1" dirty="0">
                <a:latin typeface="Calibri" panose="020F0502020204030204" pitchFamily="34" charset="0"/>
                <a:cs typeface="Calibri" panose="020F0502020204030204" pitchFamily="34" charset="0"/>
              </a:rPr>
              <a:t>&gt; </a:t>
            </a:r>
            <a:r>
              <a:rPr lang="en-US" sz="2300" dirty="0">
                <a:latin typeface="Calibri" panose="020F0502020204030204" pitchFamily="34" charset="0"/>
                <a:cs typeface="Calibri" panose="020F0502020204030204" pitchFamily="34" charset="0"/>
              </a:rPr>
              <a:t>tag. Discuss the choice of image formats (JPEG for scenery photos and PNG for logos with transparency).</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Organize images in a gallery format using </a:t>
            </a:r>
            <a:r>
              <a:rPr lang="en-US" sz="2300" b="1" dirty="0">
                <a:latin typeface="Calibri" panose="020F0502020204030204" pitchFamily="34" charset="0"/>
                <a:cs typeface="Calibri" panose="020F0502020204030204" pitchFamily="34" charset="0"/>
              </a:rPr>
              <a:t>div</a:t>
            </a:r>
            <a:r>
              <a:rPr lang="en-US" sz="2300" dirty="0">
                <a:latin typeface="Calibri" panose="020F0502020204030204" pitchFamily="34" charset="0"/>
                <a:cs typeface="Calibri" panose="020F0502020204030204" pitchFamily="34" charset="0"/>
              </a:rPr>
              <a:t> elements styled with CSS to ensure a responsive layout.</a:t>
            </a:r>
          </a:p>
          <a:p>
            <a:pPr>
              <a:lnSpc>
                <a:spcPct val="150000"/>
              </a:lnSpc>
            </a:pPr>
            <a:r>
              <a:rPr lang="en-US" sz="2300" b="1" dirty="0">
                <a:latin typeface="Calibri" panose="020F0502020204030204" pitchFamily="34" charset="0"/>
                <a:cs typeface="Calibri" panose="020F0502020204030204" pitchFamily="34" charset="0"/>
              </a:rPr>
              <a:t>5. Styling with CSS: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Style the Header with a background image of Sydney’s landscape and apply text styling for the business name.</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Use the CSS class attribute to apply consistent styling to buttons like "Book Now" or "Learn More".</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Implement hover effects on links for better user interaction.</a:t>
            </a:r>
          </a:p>
        </p:txBody>
      </p:sp>
      <p:sp>
        <p:nvSpPr>
          <p:cNvPr id="5" name="TextBox 4">
            <a:extLst>
              <a:ext uri="{FF2B5EF4-FFF2-40B4-BE49-F238E27FC236}">
                <a16:creationId xmlns:a16="http://schemas.microsoft.com/office/drawing/2014/main" id="{0EDA831C-3F59-8361-5C78-944EC8508F9C}"/>
              </a:ext>
            </a:extLst>
          </p:cNvPr>
          <p:cNvSpPr txBox="1"/>
          <p:nvPr/>
        </p:nvSpPr>
        <p:spPr>
          <a:xfrm>
            <a:off x="0" y="0"/>
            <a:ext cx="10213389"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282514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anim calcmode="lin" valueType="num">
                                      <p:cBhvr additive="base">
                                        <p:cTn id="1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 calcmode="lin" valueType="num">
                                      <p:cBhvr additive="base">
                                        <p:cTn id="1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 calcmode="lin" valueType="num">
                                      <p:cBhvr additive="base">
                                        <p:cTn id="1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B1BC1F-E475-FF17-1B3D-D5A5E78ABE3F}"/>
              </a:ext>
            </a:extLst>
          </p:cNvPr>
          <p:cNvSpPr txBox="1"/>
          <p:nvPr/>
        </p:nvSpPr>
        <p:spPr>
          <a:xfrm>
            <a:off x="0" y="449579"/>
            <a:ext cx="12144704" cy="1630190"/>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6. Accessibility and Validation:</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Ensure all images have </a:t>
            </a:r>
            <a:r>
              <a:rPr lang="en-US" sz="2300" b="1" dirty="0">
                <a:latin typeface="Calibri" panose="020F0502020204030204" pitchFamily="34" charset="0"/>
                <a:cs typeface="Calibri" panose="020F0502020204030204" pitchFamily="34" charset="0"/>
              </a:rPr>
              <a:t>alt</a:t>
            </a:r>
            <a:r>
              <a:rPr lang="en-US" sz="2300" dirty="0">
                <a:latin typeface="Calibri" panose="020F0502020204030204" pitchFamily="34" charset="0"/>
                <a:cs typeface="Calibri" panose="020F0502020204030204" pitchFamily="34" charset="0"/>
              </a:rPr>
              <a:t> attributes for accessibility.</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Validate the HTML and CSS using W3C validators to ensure standards compliance.</a:t>
            </a:r>
          </a:p>
        </p:txBody>
      </p:sp>
      <p:sp>
        <p:nvSpPr>
          <p:cNvPr id="5" name="TextBox 4">
            <a:extLst>
              <a:ext uri="{FF2B5EF4-FFF2-40B4-BE49-F238E27FC236}">
                <a16:creationId xmlns:a16="http://schemas.microsoft.com/office/drawing/2014/main" id="{0EDA831C-3F59-8361-5C78-944EC8508F9C}"/>
              </a:ext>
            </a:extLst>
          </p:cNvPr>
          <p:cNvSpPr txBox="1"/>
          <p:nvPr/>
        </p:nvSpPr>
        <p:spPr>
          <a:xfrm>
            <a:off x="0" y="0"/>
            <a:ext cx="10213389"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994D514E-B680-691E-C9B4-321006995DC5}"/>
              </a:ext>
            </a:extLst>
          </p:cNvPr>
          <p:cNvSpPr txBox="1"/>
          <p:nvPr/>
        </p:nvSpPr>
        <p:spPr>
          <a:xfrm>
            <a:off x="0" y="2215317"/>
            <a:ext cx="12144704" cy="1099275"/>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7. Advanced Task (Optional):</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Add a Google Maps embed on the Contact page showing the location of the bike tour start point.</a:t>
            </a:r>
          </a:p>
        </p:txBody>
      </p:sp>
      <p:sp>
        <p:nvSpPr>
          <p:cNvPr id="6" name="TextBox 5">
            <a:extLst>
              <a:ext uri="{FF2B5EF4-FFF2-40B4-BE49-F238E27FC236}">
                <a16:creationId xmlns:a16="http://schemas.microsoft.com/office/drawing/2014/main" id="{F19CF53D-5092-3A5A-CEAC-5FD225A3E82F}"/>
              </a:ext>
            </a:extLst>
          </p:cNvPr>
          <p:cNvSpPr txBox="1"/>
          <p:nvPr/>
        </p:nvSpPr>
        <p:spPr>
          <a:xfrm>
            <a:off x="0" y="3543409"/>
            <a:ext cx="12144704" cy="2161104"/>
          </a:xfrm>
          <a:prstGeom prst="rect">
            <a:avLst/>
          </a:prstGeom>
          <a:noFill/>
        </p:spPr>
        <p:txBody>
          <a:bodyPr wrap="square" rtlCol="0">
            <a:spAutoFit/>
          </a:bodyPr>
          <a:lstStyle/>
          <a:p>
            <a:pPr>
              <a:lnSpc>
                <a:spcPct val="150000"/>
              </a:lnSpc>
            </a:pPr>
            <a:r>
              <a:rPr lang="en-US" sz="2300" dirty="0">
                <a:latin typeface="Calibri" panose="020F0502020204030204" pitchFamily="34" charset="0"/>
                <a:cs typeface="Calibri" panose="020F0502020204030204" pitchFamily="34" charset="0"/>
              </a:rPr>
              <a:t>This project not only reinforces the theoretical knowledge from Lecture 5 but also prepares us for the practical CSS styling and HTML structuring tasks outlined in the "Weeks 6-7 Lab.pdf". Moreover, it encourages hands-on experience with tools like W3C validators and developer tools, which are critical for professional web development.</a:t>
            </a:r>
          </a:p>
        </p:txBody>
      </p:sp>
    </p:spTree>
    <p:extLst>
      <p:ext uri="{BB962C8B-B14F-4D97-AF65-F5344CB8AC3E}">
        <p14:creationId xmlns:p14="http://schemas.microsoft.com/office/powerpoint/2010/main" val="15320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4BA7E2-23FE-1A85-1F57-2AF6F4D665B3}"/>
              </a:ext>
            </a:extLst>
          </p:cNvPr>
          <p:cNvPicPr>
            <a:picLocks noChangeAspect="1"/>
          </p:cNvPicPr>
          <p:nvPr/>
        </p:nvPicPr>
        <p:blipFill rotWithShape="1">
          <a:blip r:embed="rId2"/>
          <a:srcRect l="11121" t="41993" r="34051" b="33486"/>
          <a:stretch/>
        </p:blipFill>
        <p:spPr>
          <a:xfrm>
            <a:off x="581225" y="3828394"/>
            <a:ext cx="11029550" cy="2774734"/>
          </a:xfrm>
          <a:prstGeom prst="rect">
            <a:avLst/>
          </a:prstGeom>
          <a:ln>
            <a:solidFill>
              <a:srgbClr val="FF0000"/>
            </a:solidFill>
          </a:ln>
        </p:spPr>
      </p:pic>
      <p:pic>
        <p:nvPicPr>
          <p:cNvPr id="7" name="Picture 6">
            <a:extLst>
              <a:ext uri="{FF2B5EF4-FFF2-40B4-BE49-F238E27FC236}">
                <a16:creationId xmlns:a16="http://schemas.microsoft.com/office/drawing/2014/main" id="{74527482-1C3D-1D51-D62C-1774C5DF71A3}"/>
              </a:ext>
            </a:extLst>
          </p:cNvPr>
          <p:cNvPicPr>
            <a:picLocks noChangeAspect="1"/>
          </p:cNvPicPr>
          <p:nvPr/>
        </p:nvPicPr>
        <p:blipFill rotWithShape="1">
          <a:blip r:embed="rId3"/>
          <a:srcRect l="13535" t="29769" r="44569" b="50460"/>
          <a:stretch/>
        </p:blipFill>
        <p:spPr>
          <a:xfrm>
            <a:off x="581225" y="1263866"/>
            <a:ext cx="9384508" cy="2490952"/>
          </a:xfrm>
          <a:prstGeom prst="rect">
            <a:avLst/>
          </a:prstGeom>
          <a:ln>
            <a:solidFill>
              <a:srgbClr val="FF0000"/>
            </a:solidFill>
          </a:ln>
        </p:spPr>
      </p:pic>
      <p:sp>
        <p:nvSpPr>
          <p:cNvPr id="9" name="TextBox 8">
            <a:extLst>
              <a:ext uri="{FF2B5EF4-FFF2-40B4-BE49-F238E27FC236}">
                <a16:creationId xmlns:a16="http://schemas.microsoft.com/office/drawing/2014/main" id="{C576470F-731B-DBAC-2CEE-C1500ADFBC4B}"/>
              </a:ext>
            </a:extLst>
          </p:cNvPr>
          <p:cNvSpPr txBox="1"/>
          <p:nvPr/>
        </p:nvSpPr>
        <p:spPr>
          <a:xfrm>
            <a:off x="0" y="0"/>
            <a:ext cx="10213389"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11" name="Picture 10">
            <a:extLst>
              <a:ext uri="{FF2B5EF4-FFF2-40B4-BE49-F238E27FC236}">
                <a16:creationId xmlns:a16="http://schemas.microsoft.com/office/drawing/2014/main" id="{C320EEA3-DCAA-280D-CB13-FAA27D3C5AF5}"/>
              </a:ext>
            </a:extLst>
          </p:cNvPr>
          <p:cNvPicPr>
            <a:picLocks noChangeAspect="1"/>
          </p:cNvPicPr>
          <p:nvPr/>
        </p:nvPicPr>
        <p:blipFill>
          <a:blip r:embed="rId4"/>
          <a:stretch>
            <a:fillRect/>
          </a:stretch>
        </p:blipFill>
        <p:spPr>
          <a:xfrm>
            <a:off x="10260685" y="0"/>
            <a:ext cx="1931315" cy="1902052"/>
          </a:xfrm>
          <a:prstGeom prst="rect">
            <a:avLst/>
          </a:prstGeom>
        </p:spPr>
      </p:pic>
    </p:spTree>
    <p:extLst>
      <p:ext uri="{BB962C8B-B14F-4D97-AF65-F5344CB8AC3E}">
        <p14:creationId xmlns:p14="http://schemas.microsoft.com/office/powerpoint/2010/main" val="36814338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4286B-0B20-156E-88E3-816134D5C8DF}"/>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3FA692C-9651-61D7-675A-6013E27BA577}"/>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DF4BDEFE-BD44-48C1-3122-905191E15998}"/>
              </a:ext>
            </a:extLst>
          </p:cNvPr>
          <p:cNvSpPr txBox="1"/>
          <p:nvPr/>
        </p:nvSpPr>
        <p:spPr>
          <a:xfrm>
            <a:off x="0" y="165693"/>
            <a:ext cx="12192000" cy="6555641"/>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name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"viewport"</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content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"width=device-width, initial-scale=1.0"</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Travel Website Styling.css"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"header-content"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"index.html"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Home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"about.html"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About Us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"contact.html"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93A0AE47-46A6-BFCE-89A5-B1C75AF8291D}"/>
              </a:ext>
            </a:extLst>
          </p:cNvPr>
          <p:cNvSpPr txBox="1"/>
          <p:nvPr/>
        </p:nvSpPr>
        <p:spPr>
          <a:xfrm>
            <a:off x="6037944" y="2864950"/>
            <a:ext cx="6154056" cy="1318181"/>
          </a:xfrm>
          <a:prstGeom prst="rect">
            <a:avLst/>
          </a:prstGeom>
          <a:solidFill>
            <a:schemeClr val="bg1"/>
          </a:solidFill>
        </p:spPr>
        <p:txBody>
          <a:bodyPr wrap="square">
            <a:spAutoFit/>
          </a:bodyPr>
          <a:lstStyle/>
          <a:p>
            <a:pPr>
              <a:lnSpc>
                <a:spcPct val="150000"/>
              </a:lnSpc>
              <a:buNone/>
            </a:pPr>
            <a:r>
              <a:rPr lang="en-US" sz="2800" dirty="0">
                <a:latin typeface="Calibir"/>
              </a:rPr>
              <a:t>This code creates a simple website for Sydney Bike Tours.</a:t>
            </a:r>
          </a:p>
        </p:txBody>
      </p:sp>
    </p:spTree>
    <p:extLst>
      <p:ext uri="{BB962C8B-B14F-4D97-AF65-F5344CB8AC3E}">
        <p14:creationId xmlns:p14="http://schemas.microsoft.com/office/powerpoint/2010/main" val="358279023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F727E-9D85-C6BE-CFCD-AB26CAF838E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59E867B8-0895-70C6-21A0-DDD9C10F6029}"/>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E5CBF5F8-8BED-4997-47D3-660968229A46}"/>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name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"viewport"</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content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"width=device-width, initial-scale=1.0"</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Travel Website Styling.css"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"header-content"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"index.html"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Home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"about.html"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About Us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"contact.html"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55AE8ED1-93AA-9D06-2263-5A62795613B2}"/>
              </a:ext>
            </a:extLst>
          </p:cNvPr>
          <p:cNvSpPr txBox="1"/>
          <p:nvPr/>
        </p:nvSpPr>
        <p:spPr>
          <a:xfrm>
            <a:off x="6037944" y="2425924"/>
            <a:ext cx="6154056" cy="4102533"/>
          </a:xfrm>
          <a:prstGeom prst="rect">
            <a:avLst/>
          </a:prstGeom>
          <a:solidFill>
            <a:schemeClr val="bg1"/>
          </a:solidFill>
        </p:spPr>
        <p:txBody>
          <a:bodyPr wrap="square">
            <a:spAutoFit/>
          </a:bodyPr>
          <a:lstStyle/>
          <a:p>
            <a:pPr>
              <a:lnSpc>
                <a:spcPct val="150000"/>
              </a:lnSpc>
              <a:buNone/>
            </a:pPr>
            <a:r>
              <a:rPr lang="en-US" sz="2200" b="1" dirty="0">
                <a:latin typeface="Calibir"/>
              </a:rPr>
              <a:t>1. &lt;!DOCTYPE html&gt;</a:t>
            </a:r>
          </a:p>
          <a:p>
            <a:pPr rtl="0">
              <a:lnSpc>
                <a:spcPct val="150000"/>
              </a:lnSpc>
              <a:buNone/>
            </a:pPr>
            <a:r>
              <a:rPr lang="en-US" sz="2200" dirty="0">
                <a:latin typeface="Calibir"/>
              </a:rPr>
              <a:t>&lt;!DOCTYPE html&gt;</a:t>
            </a:r>
          </a:p>
          <a:p>
            <a:pPr>
              <a:lnSpc>
                <a:spcPct val="150000"/>
              </a:lnSpc>
              <a:buNone/>
            </a:pPr>
            <a:r>
              <a:rPr lang="en-US" sz="2200" dirty="0">
                <a:latin typeface="Calibir"/>
              </a:rPr>
              <a:t>This tells the browser:</a:t>
            </a:r>
          </a:p>
          <a:p>
            <a:pPr>
              <a:lnSpc>
                <a:spcPct val="150000"/>
              </a:lnSpc>
              <a:buNone/>
            </a:pPr>
            <a:r>
              <a:rPr lang="en-US" sz="2200" dirty="0">
                <a:latin typeface="Calibir"/>
              </a:rPr>
              <a:t>“This is an HTML5 webpage.”</a:t>
            </a:r>
          </a:p>
          <a:p>
            <a:pPr>
              <a:lnSpc>
                <a:spcPct val="150000"/>
              </a:lnSpc>
              <a:buNone/>
            </a:pPr>
            <a:r>
              <a:rPr lang="en-US" sz="2200" b="1" dirty="0">
                <a:latin typeface="Calibir"/>
              </a:rPr>
              <a:t>2. Opening the HTML page</a:t>
            </a:r>
          </a:p>
          <a:p>
            <a:pPr rtl="0">
              <a:lnSpc>
                <a:spcPct val="150000"/>
              </a:lnSpc>
              <a:buNone/>
            </a:pPr>
            <a:r>
              <a:rPr lang="en-US" sz="2200" dirty="0">
                <a:latin typeface="Calibir"/>
              </a:rPr>
              <a:t>&lt;html lang="</a:t>
            </a:r>
            <a:r>
              <a:rPr lang="en-US" sz="2200" dirty="0" err="1">
                <a:latin typeface="Calibir"/>
              </a:rPr>
              <a:t>en</a:t>
            </a:r>
            <a:r>
              <a:rPr lang="en-US" sz="2200" dirty="0">
                <a:latin typeface="Calibir"/>
              </a:rPr>
              <a:t>"&gt;</a:t>
            </a:r>
          </a:p>
          <a:p>
            <a:pPr marL="342900" indent="-342900">
              <a:lnSpc>
                <a:spcPct val="150000"/>
              </a:lnSpc>
              <a:buFont typeface="Arial" panose="020B0604020202020204" pitchFamily="34" charset="0"/>
              <a:buChar char="•"/>
            </a:pPr>
            <a:r>
              <a:rPr lang="en-US" sz="2200" dirty="0">
                <a:latin typeface="Calibir"/>
              </a:rPr>
              <a:t>&lt;html&gt; starts the webpage. </a:t>
            </a:r>
          </a:p>
          <a:p>
            <a:pPr marL="342900" indent="-342900">
              <a:lnSpc>
                <a:spcPct val="150000"/>
              </a:lnSpc>
              <a:buFont typeface="Arial" panose="020B0604020202020204" pitchFamily="34" charset="0"/>
              <a:buChar char="•"/>
            </a:pPr>
            <a:r>
              <a:rPr lang="en-US" sz="2200" dirty="0">
                <a:latin typeface="Calibir"/>
              </a:rPr>
              <a:t>lang="</a:t>
            </a:r>
            <a:r>
              <a:rPr lang="en-US" sz="2200" dirty="0" err="1">
                <a:latin typeface="Calibir"/>
              </a:rPr>
              <a:t>en</a:t>
            </a:r>
            <a:r>
              <a:rPr lang="en-US" sz="2200" dirty="0">
                <a:latin typeface="Calibir"/>
              </a:rPr>
              <a:t>" means the website is in English. </a:t>
            </a:r>
          </a:p>
        </p:txBody>
      </p:sp>
    </p:spTree>
    <p:extLst>
      <p:ext uri="{BB962C8B-B14F-4D97-AF65-F5344CB8AC3E}">
        <p14:creationId xmlns:p14="http://schemas.microsoft.com/office/powerpoint/2010/main" val="34546020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28589-9746-AA19-72B9-868D1ED8D089}"/>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20B725B-5D88-630B-D99B-C26FB0DF6E8F}"/>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17141116-0F4B-9C6E-6524-8EDF817037A9}"/>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name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"viewport"</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content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"width=device-width, initial-scale=1.0"</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Travel Website Styling.css"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"header-content"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"index.html"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Home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"about.html"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About Us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"contact.html"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6AFD6C0F-03E9-B019-23D7-A48EECF1E275}"/>
              </a:ext>
            </a:extLst>
          </p:cNvPr>
          <p:cNvSpPr txBox="1"/>
          <p:nvPr/>
        </p:nvSpPr>
        <p:spPr>
          <a:xfrm>
            <a:off x="6037944" y="2425924"/>
            <a:ext cx="6154056" cy="4102533"/>
          </a:xfrm>
          <a:prstGeom prst="rect">
            <a:avLst/>
          </a:prstGeom>
          <a:solidFill>
            <a:schemeClr val="bg1"/>
          </a:solidFill>
        </p:spPr>
        <p:txBody>
          <a:bodyPr wrap="square">
            <a:spAutoFit/>
          </a:bodyPr>
          <a:lstStyle/>
          <a:p>
            <a:pPr>
              <a:lnSpc>
                <a:spcPct val="150000"/>
              </a:lnSpc>
              <a:buNone/>
            </a:pPr>
            <a:r>
              <a:rPr lang="en-US" sz="2200" b="1" dirty="0">
                <a:latin typeface="Calibir"/>
              </a:rPr>
              <a:t>3. The &lt;head&gt; section</a:t>
            </a:r>
          </a:p>
          <a:p>
            <a:pPr>
              <a:lnSpc>
                <a:spcPct val="150000"/>
              </a:lnSpc>
              <a:buNone/>
            </a:pPr>
            <a:r>
              <a:rPr lang="en-US" sz="2200" dirty="0">
                <a:latin typeface="Calibir"/>
              </a:rPr>
              <a:t>The &lt;head&gt; contains information about the webpage.</a:t>
            </a:r>
          </a:p>
          <a:p>
            <a:pPr>
              <a:lnSpc>
                <a:spcPct val="150000"/>
              </a:lnSpc>
            </a:pPr>
            <a:r>
              <a:rPr lang="en-US" sz="2200" dirty="0">
                <a:latin typeface="Calibir"/>
              </a:rPr>
              <a:t>&lt;head&gt;</a:t>
            </a:r>
          </a:p>
          <a:p>
            <a:pPr>
              <a:lnSpc>
                <a:spcPct val="150000"/>
              </a:lnSpc>
              <a:buNone/>
            </a:pPr>
            <a:r>
              <a:rPr lang="en-US" sz="2200" b="1" dirty="0">
                <a:latin typeface="Calibir"/>
              </a:rPr>
              <a:t>Character set</a:t>
            </a:r>
          </a:p>
          <a:p>
            <a:pPr>
              <a:lnSpc>
                <a:spcPct val="150000"/>
              </a:lnSpc>
            </a:pPr>
            <a:r>
              <a:rPr lang="en-US" sz="2200" dirty="0">
                <a:latin typeface="Calibir"/>
              </a:rPr>
              <a:t>&lt;meta charset="UTF-8"&gt;</a:t>
            </a:r>
          </a:p>
          <a:p>
            <a:pPr>
              <a:lnSpc>
                <a:spcPct val="150000"/>
              </a:lnSpc>
              <a:buNone/>
            </a:pPr>
            <a:r>
              <a:rPr lang="en-US" sz="2200" dirty="0">
                <a:latin typeface="Calibir"/>
              </a:rPr>
              <a:t>This allows the webpage to display letters, symbols, and special characters correctly.</a:t>
            </a:r>
          </a:p>
        </p:txBody>
      </p:sp>
    </p:spTree>
    <p:extLst>
      <p:ext uri="{BB962C8B-B14F-4D97-AF65-F5344CB8AC3E}">
        <p14:creationId xmlns:p14="http://schemas.microsoft.com/office/powerpoint/2010/main" val="331811599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9A9A7-6A0F-89E1-ABD3-AD1EB08EC80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51A69C50-AE2D-B168-D004-F8F31097CFC4}"/>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43AEDAEE-FA62-6511-7EE3-0B530F31DAB7}"/>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name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"viewport"</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content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"width=device-width, initial-scale=1.0"</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Travel Website Styling.css"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"header-content"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"index.html"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Home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"about.html"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About Us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"contact.html"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353D7DE7-1E36-7B62-4718-579839C2AC3D}"/>
              </a:ext>
            </a:extLst>
          </p:cNvPr>
          <p:cNvSpPr txBox="1"/>
          <p:nvPr/>
        </p:nvSpPr>
        <p:spPr>
          <a:xfrm>
            <a:off x="6037944" y="2425924"/>
            <a:ext cx="6154056" cy="4102533"/>
          </a:xfrm>
          <a:prstGeom prst="rect">
            <a:avLst/>
          </a:prstGeom>
          <a:solidFill>
            <a:schemeClr val="bg1"/>
          </a:solidFill>
        </p:spPr>
        <p:txBody>
          <a:bodyPr wrap="square">
            <a:spAutoFit/>
          </a:bodyPr>
          <a:lstStyle/>
          <a:p>
            <a:pPr>
              <a:lnSpc>
                <a:spcPct val="150000"/>
              </a:lnSpc>
              <a:buNone/>
            </a:pPr>
            <a:r>
              <a:rPr lang="en-US" sz="2200" b="1" dirty="0">
                <a:latin typeface="Calibir"/>
              </a:rPr>
              <a:t>Responsive design</a:t>
            </a:r>
          </a:p>
          <a:p>
            <a:pPr>
              <a:lnSpc>
                <a:spcPct val="150000"/>
              </a:lnSpc>
            </a:pPr>
            <a:r>
              <a:rPr lang="en-US" sz="2200" dirty="0">
                <a:latin typeface="Calibir"/>
              </a:rPr>
              <a:t>&lt;meta name="viewport" content="width=device-width, initial-scale=1.0"&gt;</a:t>
            </a:r>
          </a:p>
          <a:p>
            <a:pPr>
              <a:lnSpc>
                <a:spcPct val="150000"/>
              </a:lnSpc>
              <a:buNone/>
            </a:pPr>
            <a:r>
              <a:rPr lang="en-US" sz="2200" dirty="0">
                <a:latin typeface="Calibir"/>
              </a:rPr>
              <a:t>This helps the website look good on:</a:t>
            </a:r>
          </a:p>
          <a:p>
            <a:pPr marL="342900" indent="-342900">
              <a:lnSpc>
                <a:spcPct val="150000"/>
              </a:lnSpc>
              <a:buFont typeface="Arial" panose="020B0604020202020204" pitchFamily="34" charset="0"/>
              <a:buChar char="•"/>
            </a:pPr>
            <a:r>
              <a:rPr lang="en-US" sz="2200" dirty="0">
                <a:latin typeface="Calibir"/>
              </a:rPr>
              <a:t>phones </a:t>
            </a:r>
          </a:p>
          <a:p>
            <a:pPr marL="342900" indent="-342900">
              <a:lnSpc>
                <a:spcPct val="150000"/>
              </a:lnSpc>
              <a:buFont typeface="Arial" panose="020B0604020202020204" pitchFamily="34" charset="0"/>
              <a:buChar char="•"/>
            </a:pPr>
            <a:r>
              <a:rPr lang="en-US" sz="2200" dirty="0">
                <a:latin typeface="Calibir"/>
              </a:rPr>
              <a:t>tablets </a:t>
            </a:r>
          </a:p>
          <a:p>
            <a:pPr marL="342900" indent="-342900">
              <a:lnSpc>
                <a:spcPct val="150000"/>
              </a:lnSpc>
              <a:buFont typeface="Arial" panose="020B0604020202020204" pitchFamily="34" charset="0"/>
              <a:buChar char="•"/>
            </a:pPr>
            <a:r>
              <a:rPr lang="en-US" sz="2200" dirty="0">
                <a:latin typeface="Calibir"/>
              </a:rPr>
              <a:t>computers </a:t>
            </a:r>
          </a:p>
          <a:p>
            <a:pPr>
              <a:lnSpc>
                <a:spcPct val="150000"/>
              </a:lnSpc>
              <a:buNone/>
            </a:pPr>
            <a:r>
              <a:rPr lang="en-US" sz="2200" dirty="0">
                <a:latin typeface="Calibir"/>
              </a:rPr>
              <a:t>It makes the website responsive.</a:t>
            </a:r>
          </a:p>
        </p:txBody>
      </p:sp>
    </p:spTree>
    <p:extLst>
      <p:ext uri="{BB962C8B-B14F-4D97-AF65-F5344CB8AC3E}">
        <p14:creationId xmlns:p14="http://schemas.microsoft.com/office/powerpoint/2010/main" val="32526995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C50A-BCA7-2C92-44E4-69F28A179D4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1EA69D10-16FD-2167-82DC-F196EF75DC02}"/>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65D749A0-B51F-EAB6-C694-E7A8DE7D9FB8}"/>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name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"viewport"</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content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"width=device-width, initial-scale=1.0"</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Travel Website Styling.css"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"header-content"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"index.html"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Home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"about.html"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About Us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"contact.html"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4C1F99ED-1B12-343D-2423-ADF261B71B7A}"/>
              </a:ext>
            </a:extLst>
          </p:cNvPr>
          <p:cNvSpPr txBox="1"/>
          <p:nvPr/>
        </p:nvSpPr>
        <p:spPr>
          <a:xfrm>
            <a:off x="6037944" y="2425924"/>
            <a:ext cx="6154056" cy="2579039"/>
          </a:xfrm>
          <a:prstGeom prst="rect">
            <a:avLst/>
          </a:prstGeom>
          <a:solidFill>
            <a:schemeClr val="bg1"/>
          </a:solidFill>
        </p:spPr>
        <p:txBody>
          <a:bodyPr wrap="square">
            <a:spAutoFit/>
          </a:bodyPr>
          <a:lstStyle/>
          <a:p>
            <a:pPr>
              <a:lnSpc>
                <a:spcPct val="150000"/>
              </a:lnSpc>
              <a:buNone/>
            </a:pPr>
            <a:r>
              <a:rPr lang="en-US" sz="2200" b="1" dirty="0">
                <a:latin typeface="Calibir"/>
              </a:rPr>
              <a:t>Website title</a:t>
            </a:r>
          </a:p>
          <a:p>
            <a:pPr>
              <a:lnSpc>
                <a:spcPct val="150000"/>
              </a:lnSpc>
            </a:pPr>
            <a:r>
              <a:rPr lang="en-US" sz="2200" dirty="0">
                <a:latin typeface="Calibir"/>
              </a:rPr>
              <a:t>&lt;title&gt;Sydney Bike Tours&lt;/title&gt;</a:t>
            </a:r>
          </a:p>
          <a:p>
            <a:pPr>
              <a:lnSpc>
                <a:spcPct val="150000"/>
              </a:lnSpc>
              <a:buNone/>
            </a:pPr>
            <a:r>
              <a:rPr lang="en-US" sz="2200" dirty="0">
                <a:latin typeface="Calibir"/>
              </a:rPr>
              <a:t>This text appears:</a:t>
            </a:r>
          </a:p>
          <a:p>
            <a:pPr marL="342900" indent="-342900">
              <a:lnSpc>
                <a:spcPct val="150000"/>
              </a:lnSpc>
              <a:buFont typeface="Arial" panose="020B0604020202020204" pitchFamily="34" charset="0"/>
              <a:buChar char="•"/>
            </a:pPr>
            <a:r>
              <a:rPr lang="en-US" sz="2200" dirty="0">
                <a:latin typeface="Calibir"/>
              </a:rPr>
              <a:t>on the browser tab </a:t>
            </a:r>
          </a:p>
          <a:p>
            <a:pPr marL="342900" indent="-342900">
              <a:lnSpc>
                <a:spcPct val="150000"/>
              </a:lnSpc>
              <a:buFont typeface="Arial" panose="020B0604020202020204" pitchFamily="34" charset="0"/>
              <a:buChar char="•"/>
            </a:pPr>
            <a:r>
              <a:rPr lang="en-US" sz="2200" dirty="0">
                <a:latin typeface="Calibir"/>
              </a:rPr>
              <a:t>at the top of the page tab </a:t>
            </a:r>
          </a:p>
        </p:txBody>
      </p:sp>
    </p:spTree>
    <p:extLst>
      <p:ext uri="{BB962C8B-B14F-4D97-AF65-F5344CB8AC3E}">
        <p14:creationId xmlns:p14="http://schemas.microsoft.com/office/powerpoint/2010/main" val="308662781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9F781-F983-728E-4F6F-71F7E8E181EA}"/>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CE87DAA-7667-9D1D-F00C-8622BA71B298}"/>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B7D0C712-B3CD-884B-7D39-E3E25A759FDB}"/>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name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"viewport"</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content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"width=device-width, initial-scale=1.0"</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Travel Website Styling.css"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"header-content"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"index.html"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Home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"about.html"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About Us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"contact.html"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095D00D2-4FD7-9FC9-C0B9-DCEDC92F93CC}"/>
              </a:ext>
            </a:extLst>
          </p:cNvPr>
          <p:cNvSpPr txBox="1"/>
          <p:nvPr/>
        </p:nvSpPr>
        <p:spPr>
          <a:xfrm>
            <a:off x="6037944" y="2247635"/>
            <a:ext cx="6154056" cy="4610365"/>
          </a:xfrm>
          <a:prstGeom prst="rect">
            <a:avLst/>
          </a:prstGeom>
          <a:solidFill>
            <a:schemeClr val="bg1"/>
          </a:solidFill>
        </p:spPr>
        <p:txBody>
          <a:bodyPr wrap="square">
            <a:spAutoFit/>
          </a:bodyPr>
          <a:lstStyle/>
          <a:p>
            <a:pPr>
              <a:lnSpc>
                <a:spcPct val="150000"/>
              </a:lnSpc>
              <a:buNone/>
            </a:pPr>
            <a:r>
              <a:rPr lang="en-US" sz="2200" b="1" dirty="0">
                <a:latin typeface="Calibir"/>
              </a:rPr>
              <a:t>Link to CSS file</a:t>
            </a:r>
          </a:p>
          <a:p>
            <a:pPr>
              <a:lnSpc>
                <a:spcPct val="150000"/>
              </a:lnSpc>
            </a:pPr>
            <a:r>
              <a:rPr lang="en-US" sz="2200" dirty="0">
                <a:latin typeface="Calibir"/>
              </a:rPr>
              <a:t>&lt;link </a:t>
            </a:r>
            <a:r>
              <a:rPr lang="en-US" sz="2200" dirty="0" err="1">
                <a:latin typeface="Calibir"/>
              </a:rPr>
              <a:t>rel</a:t>
            </a:r>
            <a:r>
              <a:rPr lang="en-US" sz="2200" dirty="0">
                <a:latin typeface="Calibir"/>
              </a:rPr>
              <a:t>="stylesheet" </a:t>
            </a:r>
            <a:r>
              <a:rPr lang="en-US" sz="2200" dirty="0" err="1">
                <a:latin typeface="Calibir"/>
              </a:rPr>
              <a:t>href</a:t>
            </a:r>
            <a:r>
              <a:rPr lang="en-US" sz="2200" dirty="0">
                <a:latin typeface="Calibir"/>
              </a:rPr>
              <a:t>="Responsive Travel Website Styling.css"&gt;</a:t>
            </a:r>
          </a:p>
          <a:p>
            <a:pPr>
              <a:lnSpc>
                <a:spcPct val="150000"/>
              </a:lnSpc>
              <a:buNone/>
            </a:pPr>
            <a:r>
              <a:rPr lang="en-US" sz="2200" dirty="0">
                <a:latin typeface="Calibir"/>
              </a:rPr>
              <a:t>This connects the webpage to a CSS file.</a:t>
            </a:r>
          </a:p>
          <a:p>
            <a:pPr>
              <a:lnSpc>
                <a:spcPct val="150000"/>
              </a:lnSpc>
              <a:buNone/>
            </a:pPr>
            <a:r>
              <a:rPr lang="en-US" sz="2200" dirty="0">
                <a:latin typeface="Calibir"/>
              </a:rPr>
              <a:t>CSS is used to:</a:t>
            </a:r>
          </a:p>
          <a:p>
            <a:pPr marL="342900" indent="-342900">
              <a:lnSpc>
                <a:spcPct val="150000"/>
              </a:lnSpc>
              <a:buFont typeface="Arial" panose="020B0604020202020204" pitchFamily="34" charset="0"/>
              <a:buChar char="•"/>
            </a:pPr>
            <a:r>
              <a:rPr lang="en-US" sz="2200" dirty="0">
                <a:latin typeface="Calibir"/>
              </a:rPr>
              <a:t>add </a:t>
            </a:r>
            <a:r>
              <a:rPr lang="en-US" sz="2200" dirty="0" err="1">
                <a:latin typeface="Calibir"/>
              </a:rPr>
              <a:t>colours</a:t>
            </a:r>
            <a:r>
              <a:rPr lang="en-US" sz="2200" dirty="0">
                <a:latin typeface="Calibir"/>
              </a:rPr>
              <a:t> </a:t>
            </a:r>
          </a:p>
          <a:p>
            <a:pPr marL="342900" indent="-342900">
              <a:lnSpc>
                <a:spcPct val="150000"/>
              </a:lnSpc>
              <a:buFont typeface="Arial" panose="020B0604020202020204" pitchFamily="34" charset="0"/>
              <a:buChar char="•"/>
            </a:pPr>
            <a:r>
              <a:rPr lang="en-US" sz="2200" dirty="0">
                <a:latin typeface="Calibir"/>
              </a:rPr>
              <a:t>change fonts </a:t>
            </a:r>
          </a:p>
          <a:p>
            <a:pPr marL="342900" indent="-342900">
              <a:lnSpc>
                <a:spcPct val="150000"/>
              </a:lnSpc>
              <a:buFont typeface="Arial" panose="020B0604020202020204" pitchFamily="34" charset="0"/>
              <a:buChar char="•"/>
            </a:pPr>
            <a:r>
              <a:rPr lang="en-US" sz="2200" dirty="0">
                <a:latin typeface="Calibir"/>
              </a:rPr>
              <a:t>adjust layout </a:t>
            </a:r>
          </a:p>
          <a:p>
            <a:pPr marL="342900" indent="-342900">
              <a:lnSpc>
                <a:spcPct val="150000"/>
              </a:lnSpc>
              <a:buFont typeface="Arial" panose="020B0604020202020204" pitchFamily="34" charset="0"/>
              <a:buChar char="•"/>
            </a:pPr>
            <a:r>
              <a:rPr lang="en-US" sz="2200" dirty="0">
                <a:latin typeface="Calibir"/>
              </a:rPr>
              <a:t>improve design</a:t>
            </a:r>
          </a:p>
        </p:txBody>
      </p:sp>
    </p:spTree>
    <p:extLst>
      <p:ext uri="{BB962C8B-B14F-4D97-AF65-F5344CB8AC3E}">
        <p14:creationId xmlns:p14="http://schemas.microsoft.com/office/powerpoint/2010/main" val="182364788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90145-778F-3CFB-C500-EDE84C793E1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A28CAE0C-0E00-0DE5-3168-AB8FE6A780BF}"/>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6B3C6651-68AC-E156-3C2E-298B8F26EE7D}"/>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name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"viewport"</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content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"width=device-width, initial-scale=1.0"</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Travel Website Styling.css"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"header-content"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"index.html"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Home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"about.html"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About Us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"contact.html"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0AB8D264-61D8-ED0F-9292-C2C26CE1276B}"/>
              </a:ext>
            </a:extLst>
          </p:cNvPr>
          <p:cNvSpPr txBox="1"/>
          <p:nvPr/>
        </p:nvSpPr>
        <p:spPr>
          <a:xfrm>
            <a:off x="6037944" y="2247635"/>
            <a:ext cx="6154056" cy="3594702"/>
          </a:xfrm>
          <a:prstGeom prst="rect">
            <a:avLst/>
          </a:prstGeom>
          <a:solidFill>
            <a:schemeClr val="bg1"/>
          </a:solidFill>
        </p:spPr>
        <p:txBody>
          <a:bodyPr wrap="square">
            <a:spAutoFit/>
          </a:bodyPr>
          <a:lstStyle/>
          <a:p>
            <a:pPr>
              <a:lnSpc>
                <a:spcPct val="150000"/>
              </a:lnSpc>
              <a:buNone/>
            </a:pPr>
            <a:r>
              <a:rPr lang="en-US" sz="2200" b="1" dirty="0">
                <a:latin typeface="Calibir"/>
              </a:rPr>
              <a:t>4. The &lt;body&gt; section</a:t>
            </a:r>
          </a:p>
          <a:p>
            <a:pPr>
              <a:lnSpc>
                <a:spcPct val="150000"/>
              </a:lnSpc>
            </a:pPr>
            <a:r>
              <a:rPr lang="en-US" sz="2200" dirty="0">
                <a:latin typeface="Calibir"/>
              </a:rPr>
              <a:t>&lt;body&gt;</a:t>
            </a:r>
          </a:p>
          <a:p>
            <a:pPr>
              <a:lnSpc>
                <a:spcPct val="150000"/>
              </a:lnSpc>
              <a:buNone/>
            </a:pPr>
            <a:r>
              <a:rPr lang="en-US" sz="2200" dirty="0">
                <a:latin typeface="Calibir"/>
              </a:rPr>
              <a:t>Everything inside the body is visible on the webpage.</a:t>
            </a:r>
          </a:p>
          <a:p>
            <a:pPr>
              <a:lnSpc>
                <a:spcPct val="150000"/>
              </a:lnSpc>
              <a:buNone/>
            </a:pPr>
            <a:r>
              <a:rPr lang="en-US" sz="2200" b="1" dirty="0">
                <a:latin typeface="Calibir"/>
              </a:rPr>
              <a:t>5. Header section</a:t>
            </a:r>
          </a:p>
          <a:p>
            <a:pPr>
              <a:lnSpc>
                <a:spcPct val="150000"/>
              </a:lnSpc>
            </a:pPr>
            <a:r>
              <a:rPr lang="en-US" sz="2200" dirty="0">
                <a:latin typeface="Calibir"/>
              </a:rPr>
              <a:t>&lt;header&gt;</a:t>
            </a:r>
          </a:p>
          <a:p>
            <a:pPr>
              <a:lnSpc>
                <a:spcPct val="150000"/>
              </a:lnSpc>
              <a:buNone/>
            </a:pPr>
            <a:r>
              <a:rPr lang="en-US" sz="2200" dirty="0">
                <a:latin typeface="Calibir"/>
              </a:rPr>
              <a:t>The header is the top part of the website.</a:t>
            </a:r>
          </a:p>
        </p:txBody>
      </p:sp>
    </p:spTree>
    <p:extLst>
      <p:ext uri="{BB962C8B-B14F-4D97-AF65-F5344CB8AC3E}">
        <p14:creationId xmlns:p14="http://schemas.microsoft.com/office/powerpoint/2010/main" val="35587407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8AE78-A700-A870-7A96-5C91C238977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1D224CE9-FD77-B59C-A894-8AD60BD4ADE2}"/>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F542878B-370F-7775-2E46-9C4D92D67CEA}"/>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name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"viewport"</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content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"width=device-width, initial-scale=1.0"</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Travel Website Styling.css"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"header-content"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"index.html"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Home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"about.html"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About Us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"contact.html"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A9678D18-AA44-01DD-D2CB-863FC704CEC8}"/>
              </a:ext>
            </a:extLst>
          </p:cNvPr>
          <p:cNvSpPr txBox="1"/>
          <p:nvPr/>
        </p:nvSpPr>
        <p:spPr>
          <a:xfrm>
            <a:off x="6037944" y="2247635"/>
            <a:ext cx="6154056" cy="4102533"/>
          </a:xfrm>
          <a:prstGeom prst="rect">
            <a:avLst/>
          </a:prstGeom>
          <a:solidFill>
            <a:schemeClr val="bg1"/>
          </a:solidFill>
        </p:spPr>
        <p:txBody>
          <a:bodyPr wrap="square">
            <a:spAutoFit/>
          </a:bodyPr>
          <a:lstStyle/>
          <a:p>
            <a:pPr>
              <a:lnSpc>
                <a:spcPct val="150000"/>
              </a:lnSpc>
              <a:buNone/>
            </a:pPr>
            <a:r>
              <a:rPr lang="en-US" sz="2200" b="1" dirty="0">
                <a:latin typeface="Calibir"/>
              </a:rPr>
              <a:t>Website heading</a:t>
            </a:r>
          </a:p>
          <a:p>
            <a:pPr>
              <a:lnSpc>
                <a:spcPct val="150000"/>
              </a:lnSpc>
            </a:pPr>
            <a:r>
              <a:rPr lang="en-US" sz="2200" dirty="0">
                <a:latin typeface="Calibir"/>
              </a:rPr>
              <a:t>&lt;h1&gt;Sydney Bike Tours&lt;/h1&gt;</a:t>
            </a:r>
          </a:p>
          <a:p>
            <a:pPr>
              <a:lnSpc>
                <a:spcPct val="150000"/>
              </a:lnSpc>
              <a:buNone/>
            </a:pPr>
            <a:r>
              <a:rPr lang="en-US" sz="2200" dirty="0">
                <a:latin typeface="Calibir"/>
              </a:rPr>
              <a:t>&lt;h1&gt; is the main heading.</a:t>
            </a:r>
          </a:p>
          <a:p>
            <a:pPr>
              <a:lnSpc>
                <a:spcPct val="150000"/>
              </a:lnSpc>
              <a:buNone/>
            </a:pPr>
            <a:r>
              <a:rPr lang="en-US" sz="2200" dirty="0">
                <a:latin typeface="Calibir"/>
              </a:rPr>
              <a:t>It displays:</a:t>
            </a:r>
          </a:p>
          <a:p>
            <a:pPr>
              <a:lnSpc>
                <a:spcPct val="150000"/>
              </a:lnSpc>
              <a:buNone/>
            </a:pPr>
            <a:r>
              <a:rPr lang="en-US" sz="2200" b="1" dirty="0">
                <a:latin typeface="Calibir"/>
              </a:rPr>
              <a:t>Sydney Bike Tours</a:t>
            </a:r>
          </a:p>
          <a:p>
            <a:pPr>
              <a:lnSpc>
                <a:spcPct val="150000"/>
              </a:lnSpc>
              <a:buNone/>
            </a:pPr>
            <a:r>
              <a:rPr lang="en-US" sz="2200" b="1" dirty="0">
                <a:latin typeface="Calibir"/>
              </a:rPr>
              <a:t>6. Navigation menu</a:t>
            </a:r>
          </a:p>
          <a:p>
            <a:pPr>
              <a:lnSpc>
                <a:spcPct val="150000"/>
              </a:lnSpc>
            </a:pPr>
            <a:r>
              <a:rPr lang="en-US" sz="2200" dirty="0">
                <a:latin typeface="Calibir"/>
              </a:rPr>
              <a:t>&lt;nav&gt;</a:t>
            </a:r>
          </a:p>
          <a:p>
            <a:pPr>
              <a:lnSpc>
                <a:spcPct val="150000"/>
              </a:lnSpc>
              <a:buNone/>
            </a:pPr>
            <a:r>
              <a:rPr lang="en-US" sz="2200" dirty="0">
                <a:latin typeface="Calibir"/>
              </a:rPr>
              <a:t>This creates the menu bar.</a:t>
            </a:r>
          </a:p>
        </p:txBody>
      </p:sp>
    </p:spTree>
    <p:extLst>
      <p:ext uri="{BB962C8B-B14F-4D97-AF65-F5344CB8AC3E}">
        <p14:creationId xmlns:p14="http://schemas.microsoft.com/office/powerpoint/2010/main" val="246205523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3BFC7-C4E5-FF38-3292-1F64FEDEA9F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4DEE191-CBDD-C45F-674A-A2A52E9434FD}"/>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FB51C99B-1DBE-688C-FBFD-ACDE5728A07F}"/>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name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"viewport"</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content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"width=device-width, initial-scale=1.0"</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Travel Website Styling.css"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"header-content"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Sydney Bike Tours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"index.html"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Home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"about.html"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About Us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a</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"contact.html"</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a:t>
            </a:r>
            <a:r>
              <a:rPr lang="en-AU" sz="2000" b="0" dirty="0">
                <a:solidFill>
                  <a:srgbClr val="808080"/>
                </a:solidFill>
                <a:effectLst/>
                <a:latin typeface="Consolas" panose="020B0609020204030204" pitchFamily="49" charset="0"/>
              </a:rPr>
              <a:t>&gt;&lt;/</a:t>
            </a:r>
            <a:r>
              <a:rPr lang="en-AU" sz="2000" b="0" dirty="0">
                <a:solidFill>
                  <a:srgbClr val="7EE787"/>
                </a:solidFill>
                <a:effectLst/>
                <a:latin typeface="Consolas" panose="020B0609020204030204" pitchFamily="49" charset="0"/>
              </a:rPr>
              <a:t>li</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ul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nav</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BEF8E5B4-F2EE-A78A-A617-C7CCB7EB9D36}"/>
              </a:ext>
            </a:extLst>
          </p:cNvPr>
          <p:cNvSpPr txBox="1"/>
          <p:nvPr/>
        </p:nvSpPr>
        <p:spPr>
          <a:xfrm>
            <a:off x="6096000" y="1175835"/>
            <a:ext cx="6154056" cy="5626027"/>
          </a:xfrm>
          <a:prstGeom prst="rect">
            <a:avLst/>
          </a:prstGeom>
          <a:solidFill>
            <a:schemeClr val="bg1"/>
          </a:solidFill>
        </p:spPr>
        <p:txBody>
          <a:bodyPr wrap="square">
            <a:spAutoFit/>
          </a:bodyPr>
          <a:lstStyle/>
          <a:p>
            <a:pPr>
              <a:lnSpc>
                <a:spcPct val="150000"/>
              </a:lnSpc>
              <a:buNone/>
            </a:pPr>
            <a:r>
              <a:rPr lang="en-US" sz="2200" b="1" dirty="0">
                <a:latin typeface="Calibir"/>
              </a:rPr>
              <a:t>Navigation list</a:t>
            </a:r>
          </a:p>
          <a:p>
            <a:pPr>
              <a:lnSpc>
                <a:spcPct val="150000"/>
              </a:lnSpc>
            </a:pPr>
            <a:r>
              <a:rPr lang="en-US" sz="2200" dirty="0">
                <a:latin typeface="Calibir"/>
              </a:rPr>
              <a:t>&lt;ul&gt;</a:t>
            </a:r>
          </a:p>
          <a:p>
            <a:pPr>
              <a:lnSpc>
                <a:spcPct val="150000"/>
              </a:lnSpc>
              <a:buNone/>
            </a:pPr>
            <a:r>
              <a:rPr lang="en-US" sz="2200" dirty="0">
                <a:latin typeface="Calibir"/>
              </a:rPr>
              <a:t>&lt;ul&gt; means unordered list.</a:t>
            </a:r>
          </a:p>
          <a:p>
            <a:pPr>
              <a:lnSpc>
                <a:spcPct val="150000"/>
              </a:lnSpc>
              <a:buNone/>
            </a:pPr>
            <a:r>
              <a:rPr lang="en-US" sz="2200" b="1" dirty="0">
                <a:latin typeface="Calibir"/>
              </a:rPr>
              <a:t>Menu items</a:t>
            </a:r>
          </a:p>
          <a:p>
            <a:pPr>
              <a:lnSpc>
                <a:spcPct val="150000"/>
              </a:lnSpc>
            </a:pPr>
            <a:r>
              <a:rPr lang="en-US" sz="2200" dirty="0">
                <a:latin typeface="Calibir"/>
              </a:rPr>
              <a:t>&lt;li&gt;&lt;a </a:t>
            </a:r>
            <a:r>
              <a:rPr lang="en-US" sz="2200" dirty="0" err="1">
                <a:latin typeface="Calibir"/>
              </a:rPr>
              <a:t>href</a:t>
            </a:r>
            <a:r>
              <a:rPr lang="en-US" sz="2200" dirty="0">
                <a:latin typeface="Calibir"/>
              </a:rPr>
              <a:t>="index.html"&gt;Home&lt;/a&gt;&lt;/li&gt;</a:t>
            </a:r>
          </a:p>
          <a:p>
            <a:pPr marL="342900" indent="-342900">
              <a:lnSpc>
                <a:spcPct val="150000"/>
              </a:lnSpc>
              <a:buFont typeface="Arial" panose="020B0604020202020204" pitchFamily="34" charset="0"/>
              <a:buChar char="•"/>
            </a:pPr>
            <a:r>
              <a:rPr lang="en-US" sz="2200" dirty="0">
                <a:latin typeface="Calibir"/>
              </a:rPr>
              <a:t>&lt;li&gt; = list item </a:t>
            </a:r>
          </a:p>
          <a:p>
            <a:pPr marL="342900" indent="-342900">
              <a:lnSpc>
                <a:spcPct val="150000"/>
              </a:lnSpc>
              <a:buFont typeface="Arial" panose="020B0604020202020204" pitchFamily="34" charset="0"/>
              <a:buChar char="•"/>
            </a:pPr>
            <a:r>
              <a:rPr lang="en-US" sz="2200" dirty="0">
                <a:latin typeface="Calibir"/>
              </a:rPr>
              <a:t>&lt;a&gt; = hyperlink </a:t>
            </a:r>
          </a:p>
          <a:p>
            <a:pPr>
              <a:lnSpc>
                <a:spcPct val="150000"/>
              </a:lnSpc>
              <a:buNone/>
            </a:pPr>
            <a:r>
              <a:rPr lang="en-US" sz="2200" dirty="0">
                <a:latin typeface="Calibir"/>
              </a:rPr>
              <a:t>This creates clickable links:</a:t>
            </a:r>
          </a:p>
          <a:p>
            <a:pPr marL="342900" indent="-342900">
              <a:lnSpc>
                <a:spcPct val="150000"/>
              </a:lnSpc>
              <a:buFont typeface="Arial" panose="020B0604020202020204" pitchFamily="34" charset="0"/>
              <a:buChar char="•"/>
            </a:pPr>
            <a:r>
              <a:rPr lang="en-US" sz="2200" dirty="0">
                <a:latin typeface="Calibir"/>
              </a:rPr>
              <a:t>Home </a:t>
            </a:r>
          </a:p>
          <a:p>
            <a:pPr marL="342900" indent="-342900">
              <a:lnSpc>
                <a:spcPct val="150000"/>
              </a:lnSpc>
              <a:buFont typeface="Arial" panose="020B0604020202020204" pitchFamily="34" charset="0"/>
              <a:buChar char="•"/>
            </a:pPr>
            <a:r>
              <a:rPr lang="en-US" sz="2200" dirty="0">
                <a:latin typeface="Calibir"/>
              </a:rPr>
              <a:t>About Us </a:t>
            </a:r>
          </a:p>
          <a:p>
            <a:pPr marL="342900" indent="-342900">
              <a:lnSpc>
                <a:spcPct val="150000"/>
              </a:lnSpc>
              <a:buFont typeface="Arial" panose="020B0604020202020204" pitchFamily="34" charset="0"/>
              <a:buChar char="•"/>
            </a:pPr>
            <a:r>
              <a:rPr lang="en-US" sz="2200" dirty="0">
                <a:latin typeface="Calibir"/>
              </a:rPr>
              <a:t>Contact</a:t>
            </a:r>
          </a:p>
        </p:txBody>
      </p:sp>
    </p:spTree>
    <p:extLst>
      <p:ext uri="{BB962C8B-B14F-4D97-AF65-F5344CB8AC3E}">
        <p14:creationId xmlns:p14="http://schemas.microsoft.com/office/powerpoint/2010/main" val="6465876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B4B6A-F905-496A-951D-378A3D878C0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222D0AF7-C8D2-DD18-A5D1-CD65487160F1}"/>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2D9D811F-0D41-DE9B-9035-0302AF8CADD7}"/>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City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"city_tour_Sydney.jpg"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through Sydney city"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Explore the city landmarks on two wheels.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Book Now</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Beach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"beach_tour.jpg"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at the beach"</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Feel the sea breeze as you ride along the coast.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Learn More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Contact us: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"mailto:info@sydneybiketours.com"</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info@sydneybiketours.com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err="1">
                <a:solidFill>
                  <a:srgbClr val="A5D6FF"/>
                </a:solidFill>
                <a:latin typeface="Consolas" panose="020B0609020204030204" pitchFamily="49" charset="0"/>
              </a:rPr>
              <a:t>tel</a:t>
            </a:r>
            <a:r>
              <a:rPr lang="en-AU" sz="2000" dirty="0">
                <a:solidFill>
                  <a:srgbClr val="A5D6FF"/>
                </a:solidFill>
                <a:latin typeface="Consolas" panose="020B0609020204030204" pitchFamily="49" charset="0"/>
              </a:rPr>
              <a:t>:+61234567890"</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+61 2 3456 7890</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3" name="TextBox 2">
            <a:extLst>
              <a:ext uri="{FF2B5EF4-FFF2-40B4-BE49-F238E27FC236}">
                <a16:creationId xmlns:a16="http://schemas.microsoft.com/office/drawing/2014/main" id="{6ABA9B36-1B64-C6C7-319A-7F2269D2EB77}"/>
              </a:ext>
            </a:extLst>
          </p:cNvPr>
          <p:cNvSpPr txBox="1"/>
          <p:nvPr/>
        </p:nvSpPr>
        <p:spPr>
          <a:xfrm>
            <a:off x="6037944" y="3158598"/>
            <a:ext cx="6154056" cy="3594702"/>
          </a:xfrm>
          <a:prstGeom prst="rect">
            <a:avLst/>
          </a:prstGeom>
          <a:solidFill>
            <a:schemeClr val="bg1"/>
          </a:solidFill>
        </p:spPr>
        <p:txBody>
          <a:bodyPr wrap="square">
            <a:spAutoFit/>
          </a:bodyPr>
          <a:lstStyle/>
          <a:p>
            <a:pPr>
              <a:lnSpc>
                <a:spcPct val="150000"/>
              </a:lnSpc>
              <a:buNone/>
            </a:pPr>
            <a:r>
              <a:rPr lang="en-US" sz="2200" b="1" dirty="0">
                <a:latin typeface="Calibir"/>
              </a:rPr>
              <a:t>7. Main content area</a:t>
            </a:r>
          </a:p>
          <a:p>
            <a:pPr rtl="0">
              <a:lnSpc>
                <a:spcPct val="150000"/>
              </a:lnSpc>
              <a:buNone/>
            </a:pPr>
            <a:r>
              <a:rPr lang="en-US" sz="2200" dirty="0">
                <a:latin typeface="Calibir"/>
              </a:rPr>
              <a:t>&lt;main&gt;</a:t>
            </a:r>
          </a:p>
          <a:p>
            <a:pPr>
              <a:lnSpc>
                <a:spcPct val="150000"/>
              </a:lnSpc>
              <a:buNone/>
            </a:pPr>
            <a:r>
              <a:rPr lang="en-US" sz="2200" dirty="0">
                <a:latin typeface="Calibir"/>
              </a:rPr>
              <a:t>This contains the main information on the webpage.</a:t>
            </a:r>
          </a:p>
          <a:p>
            <a:pPr>
              <a:lnSpc>
                <a:spcPct val="150000"/>
              </a:lnSpc>
              <a:buNone/>
            </a:pPr>
            <a:r>
              <a:rPr lang="en-US" sz="2200" b="1" dirty="0">
                <a:latin typeface="Calibir"/>
              </a:rPr>
              <a:t>8. First tour package</a:t>
            </a:r>
          </a:p>
          <a:p>
            <a:pPr rtl="0">
              <a:lnSpc>
                <a:spcPct val="150000"/>
              </a:lnSpc>
              <a:buNone/>
            </a:pPr>
            <a:r>
              <a:rPr lang="en-US" sz="2200" dirty="0">
                <a:latin typeface="Calibir"/>
              </a:rPr>
              <a:t>&lt;section class="tour-package"&gt;</a:t>
            </a:r>
          </a:p>
          <a:p>
            <a:pPr>
              <a:lnSpc>
                <a:spcPct val="150000"/>
              </a:lnSpc>
              <a:buNone/>
            </a:pPr>
            <a:r>
              <a:rPr lang="en-US" sz="2200" dirty="0">
                <a:latin typeface="Calibir"/>
              </a:rPr>
              <a:t>A section groups related content together.</a:t>
            </a:r>
          </a:p>
          <a:p>
            <a:pPr>
              <a:lnSpc>
                <a:spcPct val="150000"/>
              </a:lnSpc>
              <a:buNone/>
            </a:pPr>
            <a:r>
              <a:rPr lang="en-US" sz="2200" dirty="0">
                <a:latin typeface="Calibir"/>
              </a:rPr>
              <a:t>class="tour-package" is used for CSS styling.</a:t>
            </a:r>
          </a:p>
        </p:txBody>
      </p:sp>
    </p:spTree>
    <p:extLst>
      <p:ext uri="{BB962C8B-B14F-4D97-AF65-F5344CB8AC3E}">
        <p14:creationId xmlns:p14="http://schemas.microsoft.com/office/powerpoint/2010/main" val="113094200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D0135-C092-B187-5C19-E33D47FAB9D2}"/>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AF7AE77D-920E-0122-BFED-868578345209}"/>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DC26745B-2EA8-EBAF-3338-58B87F25221B}"/>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City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"city_tour_Sydney.jpg"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through Sydney city"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Explore the city landmarks on two wheels.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Book Now</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Beach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"beach_tour.jpg"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at the beach"</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Feel the sea breeze as you ride along the coast.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Learn More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Contact us: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"mailto:info@sydneybiketours.com"</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info@sydneybiketours.com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err="1">
                <a:solidFill>
                  <a:srgbClr val="A5D6FF"/>
                </a:solidFill>
                <a:latin typeface="Consolas" panose="020B0609020204030204" pitchFamily="49" charset="0"/>
              </a:rPr>
              <a:t>tel</a:t>
            </a:r>
            <a:r>
              <a:rPr lang="en-AU" sz="2000" dirty="0">
                <a:solidFill>
                  <a:srgbClr val="A5D6FF"/>
                </a:solidFill>
                <a:latin typeface="Consolas" panose="020B0609020204030204" pitchFamily="49" charset="0"/>
              </a:rPr>
              <a:t>:+61234567890"</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+61 2 3456 7890</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3" name="TextBox 2">
            <a:extLst>
              <a:ext uri="{FF2B5EF4-FFF2-40B4-BE49-F238E27FC236}">
                <a16:creationId xmlns:a16="http://schemas.microsoft.com/office/drawing/2014/main" id="{9CD284A7-44CB-A265-B507-2CA2E270A679}"/>
              </a:ext>
            </a:extLst>
          </p:cNvPr>
          <p:cNvSpPr txBox="1"/>
          <p:nvPr/>
        </p:nvSpPr>
        <p:spPr>
          <a:xfrm>
            <a:off x="6037944" y="2699329"/>
            <a:ext cx="6154056" cy="4102533"/>
          </a:xfrm>
          <a:prstGeom prst="rect">
            <a:avLst/>
          </a:prstGeom>
          <a:solidFill>
            <a:schemeClr val="bg1"/>
          </a:solidFill>
        </p:spPr>
        <p:txBody>
          <a:bodyPr wrap="square">
            <a:spAutoFit/>
          </a:bodyPr>
          <a:lstStyle/>
          <a:p>
            <a:pPr>
              <a:lnSpc>
                <a:spcPct val="150000"/>
              </a:lnSpc>
              <a:buNone/>
            </a:pPr>
            <a:r>
              <a:rPr lang="en-US" sz="2200" b="1" dirty="0">
                <a:latin typeface="Calibir"/>
              </a:rPr>
              <a:t>Tour title</a:t>
            </a:r>
          </a:p>
          <a:p>
            <a:pPr>
              <a:lnSpc>
                <a:spcPct val="150000"/>
              </a:lnSpc>
            </a:pPr>
            <a:r>
              <a:rPr lang="en-US" sz="2200" dirty="0">
                <a:latin typeface="Calibir"/>
              </a:rPr>
              <a:t>&lt;h2&gt;City Tour&lt;/h2&gt;</a:t>
            </a:r>
          </a:p>
          <a:p>
            <a:pPr>
              <a:lnSpc>
                <a:spcPct val="150000"/>
              </a:lnSpc>
              <a:buNone/>
            </a:pPr>
            <a:r>
              <a:rPr lang="en-US" sz="2200" dirty="0">
                <a:latin typeface="Calibir"/>
              </a:rPr>
              <a:t>A smaller heading for the tour name.</a:t>
            </a:r>
          </a:p>
          <a:p>
            <a:pPr>
              <a:lnSpc>
                <a:spcPct val="150000"/>
              </a:lnSpc>
              <a:buNone/>
            </a:pPr>
            <a:r>
              <a:rPr lang="en-US" sz="2200" b="1" dirty="0">
                <a:latin typeface="Calibir"/>
              </a:rPr>
              <a:t>Tour image</a:t>
            </a:r>
          </a:p>
          <a:p>
            <a:pPr>
              <a:lnSpc>
                <a:spcPct val="150000"/>
              </a:lnSpc>
            </a:pPr>
            <a:r>
              <a:rPr lang="en-US" sz="2200" dirty="0">
                <a:latin typeface="Calibir"/>
              </a:rPr>
              <a:t>&lt;</a:t>
            </a:r>
            <a:r>
              <a:rPr lang="en-US" sz="2200" dirty="0" err="1">
                <a:latin typeface="Calibir"/>
              </a:rPr>
              <a:t>img</a:t>
            </a:r>
            <a:r>
              <a:rPr lang="en-US" sz="2200" dirty="0">
                <a:latin typeface="Calibir"/>
              </a:rPr>
              <a:t> </a:t>
            </a:r>
            <a:r>
              <a:rPr lang="en-US" sz="2200" dirty="0" err="1">
                <a:latin typeface="Calibir"/>
              </a:rPr>
              <a:t>src</a:t>
            </a:r>
            <a:r>
              <a:rPr lang="en-US" sz="2200" dirty="0">
                <a:latin typeface="Calibir"/>
              </a:rPr>
              <a:t>="city_tour_Sydney.jpg" alt="Biking through Sydney city"&gt;</a:t>
            </a:r>
          </a:p>
          <a:p>
            <a:pPr marL="800100" lvl="1" indent="-342900">
              <a:lnSpc>
                <a:spcPct val="150000"/>
              </a:lnSpc>
              <a:buFont typeface="Arial" panose="020B0604020202020204" pitchFamily="34" charset="0"/>
              <a:buChar char="•"/>
            </a:pPr>
            <a:r>
              <a:rPr lang="en-US" sz="2200" dirty="0" err="1">
                <a:latin typeface="Calibir"/>
              </a:rPr>
              <a:t>src</a:t>
            </a:r>
            <a:r>
              <a:rPr lang="en-US" sz="2200" dirty="0">
                <a:latin typeface="Calibir"/>
              </a:rPr>
              <a:t> = image file name </a:t>
            </a:r>
          </a:p>
          <a:p>
            <a:pPr marL="800100" lvl="1" indent="-342900">
              <a:lnSpc>
                <a:spcPct val="150000"/>
              </a:lnSpc>
              <a:buFont typeface="Arial" panose="020B0604020202020204" pitchFamily="34" charset="0"/>
              <a:buChar char="•"/>
            </a:pPr>
            <a:r>
              <a:rPr lang="en-US" sz="2200" dirty="0">
                <a:latin typeface="Calibir"/>
              </a:rPr>
              <a:t>alt = text shown if the image cannot load</a:t>
            </a:r>
          </a:p>
        </p:txBody>
      </p:sp>
    </p:spTree>
    <p:extLst>
      <p:ext uri="{BB962C8B-B14F-4D97-AF65-F5344CB8AC3E}">
        <p14:creationId xmlns:p14="http://schemas.microsoft.com/office/powerpoint/2010/main" val="212966859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521D0-EE68-A185-D16D-38F301EBD4A0}"/>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B118F5BB-3103-D64B-9555-C10591BC09C1}"/>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9F69D8BE-62A4-71FA-3BB4-7067BB05A3A1}"/>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City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"city_tour_Sydney.jpg"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through Sydney city"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Explore the city landmarks on two wheels.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Book Now</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Beach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"beach_tour.jpg"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at the beach"</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Feel the sea breeze as you ride along the coast.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Learn More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Contact us: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"mailto:info@sydneybiketours.com"</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info@sydneybiketours.com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err="1">
                <a:solidFill>
                  <a:srgbClr val="A5D6FF"/>
                </a:solidFill>
                <a:latin typeface="Consolas" panose="020B0609020204030204" pitchFamily="49" charset="0"/>
              </a:rPr>
              <a:t>tel</a:t>
            </a:r>
            <a:r>
              <a:rPr lang="en-AU" sz="2000" dirty="0">
                <a:solidFill>
                  <a:srgbClr val="A5D6FF"/>
                </a:solidFill>
                <a:latin typeface="Consolas" panose="020B0609020204030204" pitchFamily="49" charset="0"/>
              </a:rPr>
              <a:t>:+61234567890"</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+61 2 3456 7890</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3" name="TextBox 2">
            <a:extLst>
              <a:ext uri="{FF2B5EF4-FFF2-40B4-BE49-F238E27FC236}">
                <a16:creationId xmlns:a16="http://schemas.microsoft.com/office/drawing/2014/main" id="{F2BEE9D7-1AAC-CB2E-CF5A-81AEEA678753}"/>
              </a:ext>
            </a:extLst>
          </p:cNvPr>
          <p:cNvSpPr txBox="1"/>
          <p:nvPr/>
        </p:nvSpPr>
        <p:spPr>
          <a:xfrm>
            <a:off x="6037944" y="2699329"/>
            <a:ext cx="6154056" cy="4102533"/>
          </a:xfrm>
          <a:prstGeom prst="rect">
            <a:avLst/>
          </a:prstGeom>
          <a:solidFill>
            <a:schemeClr val="bg1"/>
          </a:solidFill>
        </p:spPr>
        <p:txBody>
          <a:bodyPr wrap="square">
            <a:spAutoFit/>
          </a:bodyPr>
          <a:lstStyle/>
          <a:p>
            <a:pPr>
              <a:lnSpc>
                <a:spcPct val="150000"/>
              </a:lnSpc>
              <a:buNone/>
            </a:pPr>
            <a:r>
              <a:rPr lang="en-US" sz="2200" b="1" dirty="0">
                <a:latin typeface="Calibir"/>
              </a:rPr>
              <a:t>Tour description</a:t>
            </a:r>
          </a:p>
          <a:p>
            <a:pPr>
              <a:lnSpc>
                <a:spcPct val="150000"/>
              </a:lnSpc>
            </a:pPr>
            <a:r>
              <a:rPr lang="en-US" sz="2200" dirty="0">
                <a:latin typeface="Calibir"/>
              </a:rPr>
              <a:t>&lt;p&gt;Explore the city landmarks on two wheels.&lt;/p&gt;</a:t>
            </a:r>
          </a:p>
          <a:p>
            <a:pPr>
              <a:lnSpc>
                <a:spcPct val="150000"/>
              </a:lnSpc>
              <a:buNone/>
            </a:pPr>
            <a:r>
              <a:rPr lang="en-US" sz="2200" dirty="0">
                <a:latin typeface="Calibir"/>
              </a:rPr>
              <a:t>&lt;p&gt; means paragraph text.</a:t>
            </a:r>
          </a:p>
          <a:p>
            <a:pPr>
              <a:lnSpc>
                <a:spcPct val="150000"/>
              </a:lnSpc>
              <a:buNone/>
            </a:pPr>
            <a:r>
              <a:rPr lang="en-US" sz="2200" b="1" dirty="0">
                <a:latin typeface="Calibir"/>
              </a:rPr>
              <a:t>Button link</a:t>
            </a:r>
          </a:p>
          <a:p>
            <a:pPr>
              <a:lnSpc>
                <a:spcPct val="150000"/>
              </a:lnSpc>
            </a:pPr>
            <a:r>
              <a:rPr lang="en-US" sz="2200" dirty="0">
                <a:latin typeface="Calibir"/>
              </a:rPr>
              <a:t>&lt;a </a:t>
            </a:r>
            <a:r>
              <a:rPr lang="en-US" sz="2200" dirty="0" err="1">
                <a:latin typeface="Calibir"/>
              </a:rPr>
              <a:t>href</a:t>
            </a:r>
            <a:r>
              <a:rPr lang="en-US" sz="2200" dirty="0">
                <a:latin typeface="Calibir"/>
              </a:rPr>
              <a:t>="#" class="button"&gt;Book Now&lt;/a&gt;</a:t>
            </a:r>
          </a:p>
          <a:p>
            <a:pPr>
              <a:lnSpc>
                <a:spcPct val="150000"/>
              </a:lnSpc>
              <a:buNone/>
            </a:pPr>
            <a:r>
              <a:rPr lang="en-US" sz="2200" dirty="0">
                <a:latin typeface="Calibir"/>
              </a:rPr>
              <a:t>This creates a button-like link.</a:t>
            </a:r>
          </a:p>
          <a:p>
            <a:pPr marL="342900" indent="-342900">
              <a:lnSpc>
                <a:spcPct val="150000"/>
              </a:lnSpc>
              <a:buFont typeface="Arial" panose="020B0604020202020204" pitchFamily="34" charset="0"/>
              <a:buChar char="•"/>
            </a:pPr>
            <a:r>
              <a:rPr lang="en-US" sz="2200" dirty="0" err="1">
                <a:latin typeface="Calibir"/>
              </a:rPr>
              <a:t>href</a:t>
            </a:r>
            <a:r>
              <a:rPr lang="en-US" sz="2200" dirty="0">
                <a:latin typeface="Calibir"/>
              </a:rPr>
              <a:t>="#" means the link currently goes nowhere </a:t>
            </a:r>
          </a:p>
          <a:p>
            <a:pPr marL="342900" indent="-342900">
              <a:lnSpc>
                <a:spcPct val="150000"/>
              </a:lnSpc>
              <a:buFont typeface="Arial" panose="020B0604020202020204" pitchFamily="34" charset="0"/>
              <a:buChar char="•"/>
            </a:pPr>
            <a:r>
              <a:rPr lang="en-US" sz="2200" dirty="0">
                <a:latin typeface="Calibir"/>
              </a:rPr>
              <a:t>class="button" allows CSS styling</a:t>
            </a:r>
          </a:p>
        </p:txBody>
      </p:sp>
    </p:spTree>
    <p:extLst>
      <p:ext uri="{BB962C8B-B14F-4D97-AF65-F5344CB8AC3E}">
        <p14:creationId xmlns:p14="http://schemas.microsoft.com/office/powerpoint/2010/main" val="223891374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00F6-BFD2-86EE-CDEC-8D306AEC17C0}"/>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487FF02-E8D9-1220-D563-2F8D3978499C}"/>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5B7CEA8D-2F9A-DA26-3E58-5AEBE562CDA8}"/>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City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"city_tour_Sydney.jpg"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through Sydney city"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Explore the city landmarks on two wheels.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Book Now</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Beach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"beach_tour.jpg"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at the beach"</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Feel the sea breeze as you ride along the coast.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Learn More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Contact us: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"mailto:info@sydneybiketours.com"</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info@sydneybiketours.com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err="1">
                <a:solidFill>
                  <a:srgbClr val="A5D6FF"/>
                </a:solidFill>
                <a:latin typeface="Consolas" panose="020B0609020204030204" pitchFamily="49" charset="0"/>
              </a:rPr>
              <a:t>tel</a:t>
            </a:r>
            <a:r>
              <a:rPr lang="en-AU" sz="2000" dirty="0">
                <a:solidFill>
                  <a:srgbClr val="A5D6FF"/>
                </a:solidFill>
                <a:latin typeface="Consolas" panose="020B0609020204030204" pitchFamily="49" charset="0"/>
              </a:rPr>
              <a:t>:+61234567890"</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+61 2 3456 7890</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3" name="TextBox 2">
            <a:extLst>
              <a:ext uri="{FF2B5EF4-FFF2-40B4-BE49-F238E27FC236}">
                <a16:creationId xmlns:a16="http://schemas.microsoft.com/office/drawing/2014/main" id="{64172238-7617-0A75-E9C5-948EE4988691}"/>
              </a:ext>
            </a:extLst>
          </p:cNvPr>
          <p:cNvSpPr txBox="1"/>
          <p:nvPr/>
        </p:nvSpPr>
        <p:spPr>
          <a:xfrm>
            <a:off x="6037944" y="3158598"/>
            <a:ext cx="6154056" cy="3594702"/>
          </a:xfrm>
          <a:prstGeom prst="rect">
            <a:avLst/>
          </a:prstGeom>
          <a:solidFill>
            <a:schemeClr val="bg1"/>
          </a:solidFill>
        </p:spPr>
        <p:txBody>
          <a:bodyPr wrap="square">
            <a:spAutoFit/>
          </a:bodyPr>
          <a:lstStyle/>
          <a:p>
            <a:pPr>
              <a:lnSpc>
                <a:spcPct val="150000"/>
              </a:lnSpc>
              <a:buNone/>
            </a:pPr>
            <a:r>
              <a:rPr lang="en-US" sz="2200" b="1" dirty="0">
                <a:latin typeface="Calibir"/>
              </a:rPr>
              <a:t>9. Second tour package</a:t>
            </a:r>
          </a:p>
          <a:p>
            <a:pPr>
              <a:lnSpc>
                <a:spcPct val="150000"/>
              </a:lnSpc>
              <a:buNone/>
            </a:pPr>
            <a:r>
              <a:rPr lang="en-US" sz="2200" dirty="0">
                <a:latin typeface="Calibir"/>
              </a:rPr>
              <a:t>The second section works the same way.</a:t>
            </a:r>
          </a:p>
          <a:p>
            <a:pPr>
              <a:lnSpc>
                <a:spcPct val="150000"/>
              </a:lnSpc>
              <a:buNone/>
            </a:pPr>
            <a:r>
              <a:rPr lang="en-US" sz="2200" dirty="0">
                <a:latin typeface="Calibir"/>
              </a:rPr>
              <a:t>It shows:</a:t>
            </a:r>
          </a:p>
          <a:p>
            <a:pPr marL="342900" indent="-342900">
              <a:lnSpc>
                <a:spcPct val="150000"/>
              </a:lnSpc>
              <a:buFont typeface="Arial" panose="020B0604020202020204" pitchFamily="34" charset="0"/>
              <a:buChar char="•"/>
            </a:pPr>
            <a:r>
              <a:rPr lang="en-US" sz="2200" dirty="0">
                <a:latin typeface="Calibir"/>
              </a:rPr>
              <a:t>Beach Tour </a:t>
            </a:r>
          </a:p>
          <a:p>
            <a:pPr marL="342900" indent="-342900">
              <a:lnSpc>
                <a:spcPct val="150000"/>
              </a:lnSpc>
              <a:buFont typeface="Arial" panose="020B0604020202020204" pitchFamily="34" charset="0"/>
              <a:buChar char="•"/>
            </a:pPr>
            <a:r>
              <a:rPr lang="en-US" sz="2200" dirty="0">
                <a:latin typeface="Calibir"/>
              </a:rPr>
              <a:t>beach image </a:t>
            </a:r>
          </a:p>
          <a:p>
            <a:pPr marL="342900" indent="-342900">
              <a:lnSpc>
                <a:spcPct val="150000"/>
              </a:lnSpc>
              <a:buFont typeface="Arial" panose="020B0604020202020204" pitchFamily="34" charset="0"/>
              <a:buChar char="•"/>
            </a:pPr>
            <a:r>
              <a:rPr lang="en-US" sz="2200" dirty="0">
                <a:latin typeface="Calibir"/>
              </a:rPr>
              <a:t>description </a:t>
            </a:r>
          </a:p>
          <a:p>
            <a:pPr marL="342900" indent="-342900">
              <a:lnSpc>
                <a:spcPct val="150000"/>
              </a:lnSpc>
              <a:buFont typeface="Arial" panose="020B0604020202020204" pitchFamily="34" charset="0"/>
              <a:buChar char="•"/>
            </a:pPr>
            <a:r>
              <a:rPr lang="en-US" sz="2200" dirty="0">
                <a:latin typeface="Calibir"/>
              </a:rPr>
              <a:t>“Learn More” button</a:t>
            </a:r>
          </a:p>
        </p:txBody>
      </p:sp>
    </p:spTree>
    <p:extLst>
      <p:ext uri="{BB962C8B-B14F-4D97-AF65-F5344CB8AC3E}">
        <p14:creationId xmlns:p14="http://schemas.microsoft.com/office/powerpoint/2010/main" val="325634169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23CB6-5AE6-90DA-6D58-C33AE5A7BF3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5F7343E-DF64-BF9D-FAF1-36260AEC4264}"/>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77A37BD4-EAC0-BB81-B925-C627A8A32D15}"/>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City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"city_tour_Sydney.jpg"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through Sydney city"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Explore the city landmarks on two wheels.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Book Now</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Beach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"beach_tour.jpg"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at the beach"</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Feel the sea breeze as you ride along the coast.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Learn More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Contact us: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"mailto:info@sydneybiketours.com"</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info@sydneybiketours.com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err="1">
                <a:solidFill>
                  <a:srgbClr val="A5D6FF"/>
                </a:solidFill>
                <a:latin typeface="Consolas" panose="020B0609020204030204" pitchFamily="49" charset="0"/>
              </a:rPr>
              <a:t>tel</a:t>
            </a:r>
            <a:r>
              <a:rPr lang="en-AU" sz="2000" dirty="0">
                <a:solidFill>
                  <a:srgbClr val="A5D6FF"/>
                </a:solidFill>
                <a:latin typeface="Consolas" panose="020B0609020204030204" pitchFamily="49" charset="0"/>
              </a:rPr>
              <a:t>:+61234567890"</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+61 2 3456 7890</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3" name="TextBox 2">
            <a:extLst>
              <a:ext uri="{FF2B5EF4-FFF2-40B4-BE49-F238E27FC236}">
                <a16:creationId xmlns:a16="http://schemas.microsoft.com/office/drawing/2014/main" id="{5294CB1B-4AC2-ABF6-4001-6270176B31CE}"/>
              </a:ext>
            </a:extLst>
          </p:cNvPr>
          <p:cNvSpPr txBox="1"/>
          <p:nvPr/>
        </p:nvSpPr>
        <p:spPr>
          <a:xfrm>
            <a:off x="6037944" y="3158598"/>
            <a:ext cx="6154056" cy="3594702"/>
          </a:xfrm>
          <a:prstGeom prst="rect">
            <a:avLst/>
          </a:prstGeom>
          <a:solidFill>
            <a:schemeClr val="bg1"/>
          </a:solidFill>
        </p:spPr>
        <p:txBody>
          <a:bodyPr wrap="square">
            <a:spAutoFit/>
          </a:bodyPr>
          <a:lstStyle/>
          <a:p>
            <a:pPr>
              <a:lnSpc>
                <a:spcPct val="150000"/>
              </a:lnSpc>
              <a:buNone/>
            </a:pPr>
            <a:r>
              <a:rPr lang="en-US" sz="2200" b="1" dirty="0">
                <a:latin typeface="Calibir"/>
              </a:rPr>
              <a:t>10. Footer section</a:t>
            </a:r>
          </a:p>
          <a:p>
            <a:pPr>
              <a:lnSpc>
                <a:spcPct val="150000"/>
              </a:lnSpc>
            </a:pPr>
            <a:r>
              <a:rPr lang="en-US" sz="2200" dirty="0">
                <a:latin typeface="Calibir"/>
              </a:rPr>
              <a:t>&lt;footer&gt;</a:t>
            </a:r>
          </a:p>
          <a:p>
            <a:pPr>
              <a:lnSpc>
                <a:spcPct val="150000"/>
              </a:lnSpc>
              <a:buNone/>
            </a:pPr>
            <a:r>
              <a:rPr lang="en-US" sz="2200" dirty="0">
                <a:latin typeface="Calibir"/>
              </a:rPr>
              <a:t>The footer is the bottom part of the webpage.</a:t>
            </a:r>
          </a:p>
          <a:p>
            <a:pPr>
              <a:lnSpc>
                <a:spcPct val="150000"/>
              </a:lnSpc>
              <a:buNone/>
            </a:pPr>
            <a:r>
              <a:rPr lang="en-US" sz="2200" b="1" dirty="0">
                <a:latin typeface="Calibir"/>
              </a:rPr>
              <a:t>Contact information</a:t>
            </a:r>
          </a:p>
          <a:p>
            <a:pPr>
              <a:lnSpc>
                <a:spcPct val="150000"/>
              </a:lnSpc>
            </a:pPr>
            <a:r>
              <a:rPr lang="en-US" sz="2200" dirty="0">
                <a:latin typeface="Calibir"/>
              </a:rPr>
              <a:t>&lt;a </a:t>
            </a:r>
            <a:r>
              <a:rPr lang="en-US" sz="2200" dirty="0" err="1">
                <a:latin typeface="Calibir"/>
              </a:rPr>
              <a:t>href</a:t>
            </a:r>
            <a:r>
              <a:rPr lang="en-US" sz="2200" dirty="0">
                <a:latin typeface="Calibir"/>
              </a:rPr>
              <a:t>="mailto:info@sydneybiketours.com"&gt;</a:t>
            </a:r>
          </a:p>
          <a:p>
            <a:pPr>
              <a:lnSpc>
                <a:spcPct val="150000"/>
              </a:lnSpc>
              <a:buNone/>
            </a:pPr>
            <a:r>
              <a:rPr lang="en-US" sz="2200" dirty="0">
                <a:latin typeface="Calibir"/>
              </a:rPr>
              <a:t>Creates an email link.</a:t>
            </a:r>
          </a:p>
          <a:p>
            <a:pPr>
              <a:lnSpc>
                <a:spcPct val="150000"/>
              </a:lnSpc>
              <a:buNone/>
            </a:pPr>
            <a:r>
              <a:rPr lang="en-US" sz="2200" dirty="0">
                <a:latin typeface="Calibir"/>
              </a:rPr>
              <a:t>When clicked, it opens the user’s email app.</a:t>
            </a:r>
          </a:p>
        </p:txBody>
      </p:sp>
    </p:spTree>
    <p:extLst>
      <p:ext uri="{BB962C8B-B14F-4D97-AF65-F5344CB8AC3E}">
        <p14:creationId xmlns:p14="http://schemas.microsoft.com/office/powerpoint/2010/main" val="199429602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608F5-90C1-7B54-44B1-C1E9777D15A2}"/>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A0DCE8D-410D-992A-6C7D-562E8FE50D9E}"/>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FA88FD2B-72ED-E886-B688-05BE058C11FD}"/>
              </a:ext>
            </a:extLst>
          </p:cNvPr>
          <p:cNvSpPr txBox="1"/>
          <p:nvPr/>
        </p:nvSpPr>
        <p:spPr>
          <a:xfrm>
            <a:off x="0" y="246221"/>
            <a:ext cx="12192000" cy="6555641"/>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City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"city_tour_Sydney.jpg"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through Sydney city"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Explore the city landmarks on two wheels.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Book Now</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"tour-package"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Beach Tour</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err="1">
                <a:solidFill>
                  <a:srgbClr val="7EE787"/>
                </a:solidFill>
                <a:latin typeface="Consolas" panose="020B0609020204030204" pitchFamily="49" charset="0"/>
              </a:rPr>
              <a:t>img</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src</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"beach_tour.jpg"</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alt</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"Biking at the beach"</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Feel the sea breeze as you ride along the coast.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a:solidFill>
                  <a:srgbClr val="BBBEBF"/>
                </a:solidFill>
                <a:latin typeface="Consolas" panose="020B0609020204030204" pitchFamily="49" charset="0"/>
              </a:rPr>
              <a:t> </a:t>
            </a:r>
            <a:r>
              <a:rPr lang="en-AU" sz="2000" dirty="0">
                <a:solidFill>
                  <a:srgbClr val="9CDCFE"/>
                </a:solidFill>
                <a:latin typeface="Consolas" panose="020B0609020204030204" pitchFamily="49" charset="0"/>
              </a:rPr>
              <a:t>class</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"button"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Learn More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section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main</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Contact us: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"mailto:info@sydneybiketours.com"</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info@sydneybiketours.com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BBBEBF"/>
                </a:solidFill>
                <a:latin typeface="Consolas" panose="020B0609020204030204" pitchFamily="49" charset="0"/>
              </a:rPr>
              <a:t> </a:t>
            </a:r>
            <a:r>
              <a:rPr lang="en-AU" sz="2000" dirty="0" err="1">
                <a:solidFill>
                  <a:srgbClr val="9CDCFE"/>
                </a:solidFill>
                <a:latin typeface="Consolas" panose="020B0609020204030204" pitchFamily="49" charset="0"/>
              </a:rPr>
              <a:t>href</a:t>
            </a:r>
            <a:r>
              <a:rPr lang="en-AU" sz="2000" dirty="0">
                <a:solidFill>
                  <a:srgbClr val="BBBEBF"/>
                </a:solidFill>
                <a:latin typeface="Consolas" panose="020B0609020204030204" pitchFamily="49" charset="0"/>
              </a:rPr>
              <a:t>=</a:t>
            </a:r>
            <a:r>
              <a:rPr lang="en-AU" sz="2000" dirty="0">
                <a:solidFill>
                  <a:srgbClr val="A5D6FF"/>
                </a:solidFill>
                <a:latin typeface="Consolas" panose="020B0609020204030204" pitchFamily="49" charset="0"/>
              </a:rPr>
              <a:t>"</a:t>
            </a:r>
            <a:r>
              <a:rPr lang="en-AU" sz="2000" dirty="0" err="1">
                <a:solidFill>
                  <a:srgbClr val="A5D6FF"/>
                </a:solidFill>
                <a:latin typeface="Consolas" panose="020B0609020204030204" pitchFamily="49" charset="0"/>
              </a:rPr>
              <a:t>tel</a:t>
            </a:r>
            <a:r>
              <a:rPr lang="en-AU" sz="2000" dirty="0">
                <a:solidFill>
                  <a:srgbClr val="A5D6FF"/>
                </a:solidFill>
                <a:latin typeface="Consolas" panose="020B0609020204030204" pitchFamily="49" charset="0"/>
              </a:rPr>
              <a:t>:+61234567890"</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+61 2 3456 7890</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3" name="TextBox 2">
            <a:extLst>
              <a:ext uri="{FF2B5EF4-FFF2-40B4-BE49-F238E27FC236}">
                <a16:creationId xmlns:a16="http://schemas.microsoft.com/office/drawing/2014/main" id="{90AB273C-ABB6-218E-E16E-24D8C1EF43C9}"/>
              </a:ext>
            </a:extLst>
          </p:cNvPr>
          <p:cNvSpPr txBox="1"/>
          <p:nvPr/>
        </p:nvSpPr>
        <p:spPr>
          <a:xfrm>
            <a:off x="6037944" y="2699329"/>
            <a:ext cx="6154056" cy="4102533"/>
          </a:xfrm>
          <a:prstGeom prst="rect">
            <a:avLst/>
          </a:prstGeom>
          <a:solidFill>
            <a:schemeClr val="bg1"/>
          </a:solidFill>
        </p:spPr>
        <p:txBody>
          <a:bodyPr wrap="square">
            <a:spAutoFit/>
          </a:bodyPr>
          <a:lstStyle/>
          <a:p>
            <a:pPr>
              <a:lnSpc>
                <a:spcPct val="150000"/>
              </a:lnSpc>
              <a:buNone/>
            </a:pPr>
            <a:r>
              <a:rPr lang="en-US" sz="2200" b="1" dirty="0">
                <a:latin typeface="Calibir"/>
              </a:rPr>
              <a:t>Phone number link</a:t>
            </a:r>
          </a:p>
          <a:p>
            <a:pPr>
              <a:lnSpc>
                <a:spcPct val="150000"/>
              </a:lnSpc>
            </a:pPr>
            <a:r>
              <a:rPr lang="en-US" sz="2200" dirty="0">
                <a:latin typeface="Calibir"/>
              </a:rPr>
              <a:t>&lt;a </a:t>
            </a:r>
            <a:r>
              <a:rPr lang="en-US" sz="2200" dirty="0" err="1">
                <a:latin typeface="Calibir"/>
              </a:rPr>
              <a:t>href</a:t>
            </a:r>
            <a:r>
              <a:rPr lang="en-US" sz="2200" dirty="0">
                <a:latin typeface="Calibir"/>
              </a:rPr>
              <a:t>="</a:t>
            </a:r>
            <a:r>
              <a:rPr lang="en-US" sz="2200" dirty="0" err="1">
                <a:latin typeface="Calibir"/>
              </a:rPr>
              <a:t>tel</a:t>
            </a:r>
            <a:r>
              <a:rPr lang="en-US" sz="2200" dirty="0">
                <a:latin typeface="Calibir"/>
              </a:rPr>
              <a:t>:+61234567890"&gt;</a:t>
            </a:r>
          </a:p>
          <a:p>
            <a:pPr>
              <a:lnSpc>
                <a:spcPct val="150000"/>
              </a:lnSpc>
              <a:buNone/>
            </a:pPr>
            <a:r>
              <a:rPr lang="en-US" sz="2200" dirty="0">
                <a:latin typeface="Calibir"/>
              </a:rPr>
              <a:t>Creates a clickable phone number.</a:t>
            </a:r>
          </a:p>
          <a:p>
            <a:pPr>
              <a:lnSpc>
                <a:spcPct val="150000"/>
              </a:lnSpc>
              <a:buNone/>
            </a:pPr>
            <a:r>
              <a:rPr lang="en-US" sz="2200" dirty="0">
                <a:latin typeface="Calibir"/>
              </a:rPr>
              <a:t>Useful on mobile phones.</a:t>
            </a:r>
          </a:p>
          <a:p>
            <a:pPr>
              <a:lnSpc>
                <a:spcPct val="150000"/>
              </a:lnSpc>
              <a:buNone/>
            </a:pPr>
            <a:r>
              <a:rPr lang="en-US" sz="2200" b="1" dirty="0">
                <a:latin typeface="Calibir"/>
              </a:rPr>
              <a:t>11. Closing tags</a:t>
            </a:r>
          </a:p>
          <a:p>
            <a:pPr>
              <a:lnSpc>
                <a:spcPct val="150000"/>
              </a:lnSpc>
            </a:pPr>
            <a:r>
              <a:rPr lang="en-US" sz="2200" dirty="0">
                <a:latin typeface="Calibir"/>
              </a:rPr>
              <a:t>&lt;/body&gt;</a:t>
            </a:r>
            <a:br>
              <a:rPr lang="en-US" sz="2200" dirty="0">
                <a:latin typeface="Calibir"/>
              </a:rPr>
            </a:br>
            <a:r>
              <a:rPr lang="en-US" sz="2200" dirty="0">
                <a:latin typeface="Calibir"/>
              </a:rPr>
              <a:t>&lt;/html&gt;</a:t>
            </a:r>
          </a:p>
          <a:p>
            <a:pPr>
              <a:lnSpc>
                <a:spcPct val="150000"/>
              </a:lnSpc>
              <a:buNone/>
            </a:pPr>
            <a:r>
              <a:rPr lang="en-US" sz="2200" dirty="0">
                <a:latin typeface="Calibir"/>
              </a:rPr>
              <a:t>These close the webpage structure.</a:t>
            </a:r>
          </a:p>
        </p:txBody>
      </p:sp>
    </p:spTree>
    <p:extLst>
      <p:ext uri="{BB962C8B-B14F-4D97-AF65-F5344CB8AC3E}">
        <p14:creationId xmlns:p14="http://schemas.microsoft.com/office/powerpoint/2010/main" val="290050771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B840D8-1E7C-8A3C-F319-1781D8B3D92D}"/>
              </a:ext>
            </a:extLst>
          </p:cNvPr>
          <p:cNvSpPr txBox="1"/>
          <p:nvPr/>
        </p:nvSpPr>
        <p:spPr>
          <a:xfrm>
            <a:off x="0" y="0"/>
            <a:ext cx="10213389"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8" name="Picture 7">
            <a:extLst>
              <a:ext uri="{FF2B5EF4-FFF2-40B4-BE49-F238E27FC236}">
                <a16:creationId xmlns:a16="http://schemas.microsoft.com/office/drawing/2014/main" id="{71514EBB-64A1-09E0-AF61-89D4B881EAB5}"/>
              </a:ext>
            </a:extLst>
          </p:cNvPr>
          <p:cNvPicPr>
            <a:picLocks noChangeAspect="1"/>
          </p:cNvPicPr>
          <p:nvPr/>
        </p:nvPicPr>
        <p:blipFill rotWithShape="1">
          <a:blip r:embed="rId2"/>
          <a:srcRect b="6054"/>
          <a:stretch/>
        </p:blipFill>
        <p:spPr>
          <a:xfrm>
            <a:off x="0" y="492443"/>
            <a:ext cx="12192000" cy="6442841"/>
          </a:xfrm>
          <a:prstGeom prst="rect">
            <a:avLst/>
          </a:prstGeom>
        </p:spPr>
      </p:pic>
    </p:spTree>
    <p:extLst>
      <p:ext uri="{BB962C8B-B14F-4D97-AF65-F5344CB8AC3E}">
        <p14:creationId xmlns:p14="http://schemas.microsoft.com/office/powerpoint/2010/main" val="107097651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B840D8-1E7C-8A3C-F319-1781D8B3D92D}"/>
              </a:ext>
            </a:extLst>
          </p:cNvPr>
          <p:cNvSpPr txBox="1"/>
          <p:nvPr/>
        </p:nvSpPr>
        <p:spPr>
          <a:xfrm>
            <a:off x="0" y="0"/>
            <a:ext cx="10213389"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3" name="Picture 2">
            <a:extLst>
              <a:ext uri="{FF2B5EF4-FFF2-40B4-BE49-F238E27FC236}">
                <a16:creationId xmlns:a16="http://schemas.microsoft.com/office/drawing/2014/main" id="{5723C594-17B7-C78D-8520-BAD84430A403}"/>
              </a:ext>
            </a:extLst>
          </p:cNvPr>
          <p:cNvPicPr>
            <a:picLocks noChangeAspect="1"/>
          </p:cNvPicPr>
          <p:nvPr/>
        </p:nvPicPr>
        <p:blipFill rotWithShape="1">
          <a:blip r:embed="rId2"/>
          <a:srcRect b="5594"/>
          <a:stretch/>
        </p:blipFill>
        <p:spPr>
          <a:xfrm>
            <a:off x="0" y="383628"/>
            <a:ext cx="12192000" cy="6474372"/>
          </a:xfrm>
          <a:prstGeom prst="rect">
            <a:avLst/>
          </a:prstGeom>
        </p:spPr>
      </p:pic>
    </p:spTree>
    <p:extLst>
      <p:ext uri="{BB962C8B-B14F-4D97-AF65-F5344CB8AC3E}">
        <p14:creationId xmlns:p14="http://schemas.microsoft.com/office/powerpoint/2010/main" val="234973480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CE753B-4BAA-28AA-8761-AFF926F44049}"/>
              </a:ext>
            </a:extLst>
          </p:cNvPr>
          <p:cNvSpPr txBox="1"/>
          <p:nvPr/>
        </p:nvSpPr>
        <p:spPr>
          <a:xfrm>
            <a:off x="0" y="0"/>
            <a:ext cx="10741572"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5" name="TextBox 4">
            <a:extLst>
              <a:ext uri="{FF2B5EF4-FFF2-40B4-BE49-F238E27FC236}">
                <a16:creationId xmlns:a16="http://schemas.microsoft.com/office/drawing/2014/main" id="{0466C809-5781-6989-B537-F4323A5AFFCC}"/>
              </a:ext>
            </a:extLst>
          </p:cNvPr>
          <p:cNvSpPr txBox="1"/>
          <p:nvPr/>
        </p:nvSpPr>
        <p:spPr>
          <a:xfrm>
            <a:off x="84083" y="892552"/>
            <a:ext cx="12023834" cy="5877506"/>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Project 1: Personalization of Spotted Wren Garden Center Website</a:t>
            </a:r>
          </a:p>
          <a:p>
            <a:pPr>
              <a:lnSpc>
                <a:spcPct val="150000"/>
              </a:lnSpc>
            </a:pPr>
            <a:r>
              <a:rPr lang="en-US" sz="2300" b="1" dirty="0">
                <a:latin typeface="Calibri" panose="020F0502020204030204" pitchFamily="34" charset="0"/>
                <a:cs typeface="Calibri" panose="020F0502020204030204" pitchFamily="34" charset="0"/>
              </a:rPr>
              <a:t>1. Open and Rename Files: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Open </a:t>
            </a:r>
            <a:r>
              <a:rPr lang="en-US" sz="2300" b="1" dirty="0">
                <a:latin typeface="Calibri" panose="020F0502020204030204" pitchFamily="34" charset="0"/>
                <a:cs typeface="Calibri" panose="020F0502020204030204" pitchFamily="34" charset="0"/>
              </a:rPr>
              <a:t>.html </a:t>
            </a:r>
            <a:r>
              <a:rPr lang="en-US" sz="2300" dirty="0">
                <a:latin typeface="Calibri" panose="020F0502020204030204" pitchFamily="34" charset="0"/>
                <a:cs typeface="Calibri" panose="020F0502020204030204" pitchFamily="34" charset="0"/>
              </a:rPr>
              <a:t>and save it as </a:t>
            </a:r>
            <a:r>
              <a:rPr lang="en-US" sz="2300" b="1" dirty="0">
                <a:latin typeface="Calibri" panose="020F0502020204030204" pitchFamily="34" charset="0"/>
                <a:cs typeface="Calibri" panose="020F0502020204030204" pitchFamily="34" charset="0"/>
              </a:rPr>
              <a:t>hours.html</a:t>
            </a:r>
            <a:r>
              <a:rPr lang="en-US" sz="23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Open </a:t>
            </a:r>
            <a:r>
              <a:rPr lang="en-US" sz="2300" b="1" dirty="0">
                <a:latin typeface="Calibri" panose="020F0502020204030204" pitchFamily="34" charset="0"/>
                <a:cs typeface="Calibri" panose="020F0502020204030204" pitchFamily="34" charset="0"/>
              </a:rPr>
              <a:t>HTM_E-6.css </a:t>
            </a:r>
            <a:r>
              <a:rPr lang="en-US" sz="2300" dirty="0">
                <a:latin typeface="Calibri" panose="020F0502020204030204" pitchFamily="34" charset="0"/>
                <a:cs typeface="Calibri" panose="020F0502020204030204" pitchFamily="34" charset="0"/>
              </a:rPr>
              <a:t>and save it as </a:t>
            </a:r>
            <a:r>
              <a:rPr lang="en-US" sz="2300" b="1" dirty="0">
                <a:latin typeface="Calibri" panose="020F0502020204030204" pitchFamily="34" charset="0"/>
                <a:cs typeface="Calibri" panose="020F0502020204030204" pitchFamily="34" charset="0"/>
              </a:rPr>
              <a:t>styles.css</a:t>
            </a:r>
            <a:r>
              <a:rPr lang="en-US" sz="2300" dirty="0">
                <a:latin typeface="Calibri" panose="020F0502020204030204" pitchFamily="34" charset="0"/>
                <a:cs typeface="Calibri" panose="020F0502020204030204" pitchFamily="34" charset="0"/>
              </a:rPr>
              <a:t>.</a:t>
            </a:r>
          </a:p>
          <a:p>
            <a:pPr>
              <a:lnSpc>
                <a:spcPct val="150000"/>
              </a:lnSpc>
            </a:pPr>
            <a:r>
              <a:rPr lang="en-US" sz="2300" b="1" dirty="0">
                <a:latin typeface="Calibri" panose="020F0502020204030204" pitchFamily="34" charset="0"/>
                <a:cs typeface="Calibri" panose="020F0502020204030204" pitchFamily="34" charset="0"/>
              </a:rPr>
              <a:t>2. Update File Information:</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In both </a:t>
            </a:r>
            <a:r>
              <a:rPr lang="en-US" sz="2300" b="1" dirty="0">
                <a:latin typeface="Calibri" panose="020F0502020204030204" pitchFamily="34" charset="0"/>
                <a:cs typeface="Calibri" panose="020F0502020204030204" pitchFamily="34" charset="0"/>
              </a:rPr>
              <a:t>hours.html </a:t>
            </a:r>
            <a:r>
              <a:rPr lang="en-US" sz="2300" dirty="0">
                <a:latin typeface="Calibri" panose="020F0502020204030204" pitchFamily="34" charset="0"/>
                <a:cs typeface="Calibri" panose="020F0502020204030204" pitchFamily="34" charset="0"/>
              </a:rPr>
              <a:t>and </a:t>
            </a:r>
            <a:r>
              <a:rPr lang="en-US" sz="2300" b="1" dirty="0">
                <a:latin typeface="Calibri" panose="020F0502020204030204" pitchFamily="34" charset="0"/>
                <a:cs typeface="Calibri" panose="020F0502020204030204" pitchFamily="34" charset="0"/>
              </a:rPr>
              <a:t>styles.css</a:t>
            </a:r>
            <a:r>
              <a:rPr lang="en-US" sz="2300" dirty="0">
                <a:latin typeface="Calibri" panose="020F0502020204030204" pitchFamily="34" charset="0"/>
                <a:cs typeface="Calibri" panose="020F0502020204030204" pitchFamily="34" charset="0"/>
              </a:rPr>
              <a:t>, update the comment section with your first and last names and today's date.</a:t>
            </a:r>
          </a:p>
          <a:p>
            <a:pPr>
              <a:lnSpc>
                <a:spcPct val="150000"/>
              </a:lnSpc>
            </a:pPr>
            <a:r>
              <a:rPr lang="en-US" sz="2300" b="1" dirty="0">
                <a:latin typeface="Calibri" panose="020F0502020204030204" pitchFamily="34" charset="0"/>
                <a:cs typeface="Calibri" panose="020F0502020204030204" pitchFamily="34" charset="0"/>
              </a:rPr>
              <a:t>3. Add Font Link to HTML:</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Visit Google Fonts and find the "Lato" font. Select the Normal 400 and Bold 700 styles and copy the link element.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Paste this link element in </a:t>
            </a:r>
            <a:r>
              <a:rPr lang="en-US" sz="2300" b="1" dirty="0">
                <a:latin typeface="Calibri" panose="020F0502020204030204" pitchFamily="34" charset="0"/>
                <a:cs typeface="Calibri" panose="020F0502020204030204" pitchFamily="34" charset="0"/>
              </a:rPr>
              <a:t>hours.html </a:t>
            </a:r>
            <a:r>
              <a:rPr lang="en-US" sz="2300" dirty="0">
                <a:latin typeface="Calibri" panose="020F0502020204030204" pitchFamily="34" charset="0"/>
                <a:cs typeface="Calibri" panose="020F0502020204030204" pitchFamily="34" charset="0"/>
              </a:rPr>
              <a:t>just before the existing stylesheet link.</a:t>
            </a:r>
            <a:endParaRPr lang="en-AU" sz="23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F80AF407-A79F-BC3E-38B7-663850B72493}"/>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144731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1000"/>
                                        <p:tgtEl>
                                          <p:spTgt spid="5">
                                            <p:txEl>
                                              <p:pRg st="4" end="4"/>
                                            </p:txEl>
                                          </p:spTgt>
                                        </p:tgtEl>
                                      </p:cBhvr>
                                    </p:animEffect>
                                    <p:anim calcmode="lin" valueType="num">
                                      <p:cBhvr>
                                        <p:cTn id="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Effect transition="in" filter="fade">
                                      <p:cBhvr>
                                        <p:cTn id="19" dur="1000"/>
                                        <p:tgtEl>
                                          <p:spTgt spid="5">
                                            <p:txEl>
                                              <p:pRg st="6" end="6"/>
                                            </p:txEl>
                                          </p:spTgt>
                                        </p:tgtEl>
                                      </p:cBhvr>
                                    </p:animEffect>
                                    <p:anim calcmode="lin" valueType="num">
                                      <p:cBhvr>
                                        <p:cTn id="20"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xEl>
                                              <p:pRg st="7" end="7"/>
                                            </p:txEl>
                                          </p:spTgt>
                                        </p:tgtEl>
                                        <p:attrNameLst>
                                          <p:attrName>style.visibility</p:attrName>
                                        </p:attrNameLst>
                                      </p:cBhvr>
                                      <p:to>
                                        <p:strVal val="visible"/>
                                      </p:to>
                                    </p:set>
                                    <p:animEffect transition="in" filter="fade">
                                      <p:cBhvr>
                                        <p:cTn id="24" dur="1000"/>
                                        <p:tgtEl>
                                          <p:spTgt spid="5">
                                            <p:txEl>
                                              <p:pRg st="7" end="7"/>
                                            </p:txEl>
                                          </p:spTgt>
                                        </p:tgtEl>
                                      </p:cBhvr>
                                    </p:animEffect>
                                    <p:anim calcmode="lin" valueType="num">
                                      <p:cBhvr>
                                        <p:cTn id="25"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7" end="7"/>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animEffect transition="in" filter="fade">
                                      <p:cBhvr>
                                        <p:cTn id="29" dur="1000"/>
                                        <p:tgtEl>
                                          <p:spTgt spid="5">
                                            <p:txEl>
                                              <p:pRg st="8" end="8"/>
                                            </p:txEl>
                                          </p:spTgt>
                                        </p:tgtEl>
                                      </p:cBhvr>
                                    </p:animEffect>
                                    <p:anim calcmode="lin" valueType="num">
                                      <p:cBhvr>
                                        <p:cTn id="30"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CE753B-4BAA-28AA-8761-AFF926F44049}"/>
              </a:ext>
            </a:extLst>
          </p:cNvPr>
          <p:cNvSpPr txBox="1"/>
          <p:nvPr/>
        </p:nvSpPr>
        <p:spPr>
          <a:xfrm>
            <a:off x="0" y="0"/>
            <a:ext cx="10878207"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5" name="TextBox 4">
            <a:extLst>
              <a:ext uri="{FF2B5EF4-FFF2-40B4-BE49-F238E27FC236}">
                <a16:creationId xmlns:a16="http://schemas.microsoft.com/office/drawing/2014/main" id="{0466C809-5781-6989-B537-F4323A5AFFCC}"/>
              </a:ext>
            </a:extLst>
          </p:cNvPr>
          <p:cNvSpPr txBox="1"/>
          <p:nvPr/>
        </p:nvSpPr>
        <p:spPr>
          <a:xfrm>
            <a:off x="84083" y="892552"/>
            <a:ext cx="12023834" cy="4815677"/>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4. CSS Updates: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In </a:t>
            </a:r>
            <a:r>
              <a:rPr lang="en-US" sz="2300" b="1" dirty="0">
                <a:latin typeface="Calibri" panose="020F0502020204030204" pitchFamily="34" charset="0"/>
                <a:cs typeface="Calibri" panose="020F0502020204030204" pitchFamily="34" charset="0"/>
              </a:rPr>
              <a:t>styles.css</a:t>
            </a:r>
            <a:r>
              <a:rPr lang="en-US" sz="2300" dirty="0">
                <a:latin typeface="Calibri" panose="020F0502020204030204" pitchFamily="34" charset="0"/>
                <a:cs typeface="Calibri" panose="020F0502020204030204" pitchFamily="34" charset="0"/>
              </a:rPr>
              <a:t>, update the </a:t>
            </a:r>
            <a:r>
              <a:rPr lang="en-US" sz="2300" b="1" dirty="0">
                <a:latin typeface="Calibri" panose="020F0502020204030204" pitchFamily="34" charset="0"/>
                <a:cs typeface="Calibri" panose="020F0502020204030204" pitchFamily="34" charset="0"/>
              </a:rPr>
              <a:t>body</a:t>
            </a:r>
            <a:r>
              <a:rPr lang="en-US" sz="2300" dirty="0">
                <a:latin typeface="Calibri" panose="020F0502020204030204" pitchFamily="34" charset="0"/>
                <a:cs typeface="Calibri" panose="020F0502020204030204" pitchFamily="34" charset="0"/>
              </a:rPr>
              <a:t> style to use </a:t>
            </a:r>
            <a:r>
              <a:rPr lang="en-US" sz="2300" b="1" dirty="0">
                <a:latin typeface="Calibri" panose="020F0502020204030204" pitchFamily="34" charset="0"/>
                <a:cs typeface="Calibri" panose="020F0502020204030204" pitchFamily="34" charset="0"/>
              </a:rPr>
              <a:t>font-family</a:t>
            </a:r>
            <a:r>
              <a:rPr lang="en-US" sz="2300" dirty="0">
                <a:latin typeface="Calibri" panose="020F0502020204030204" pitchFamily="34" charset="0"/>
                <a:cs typeface="Calibri" panose="020F0502020204030204" pitchFamily="34" charset="0"/>
              </a:rPr>
              <a:t>: </a:t>
            </a:r>
            <a:r>
              <a:rPr lang="en-US" sz="2300" b="1" dirty="0">
                <a:latin typeface="Calibri" panose="020F0502020204030204" pitchFamily="34" charset="0"/>
                <a:cs typeface="Calibri" panose="020F0502020204030204" pitchFamily="34" charset="0"/>
              </a:rPr>
              <a:t>'Lato</a:t>
            </a:r>
            <a:r>
              <a:rPr lang="en-US" sz="2300" dirty="0">
                <a:latin typeface="Calibri" panose="020F0502020204030204" pitchFamily="34" charset="0"/>
                <a:cs typeface="Calibri" panose="020F0502020204030204" pitchFamily="34" charset="0"/>
              </a:rPr>
              <a:t>', </a:t>
            </a:r>
            <a:r>
              <a:rPr lang="en-US" sz="2300" b="1" dirty="0">
                <a:latin typeface="Calibri" panose="020F0502020204030204" pitchFamily="34" charset="0"/>
                <a:cs typeface="Calibri" panose="020F0502020204030204" pitchFamily="34" charset="0"/>
              </a:rPr>
              <a:t>Arial, Helvetica, </a:t>
            </a:r>
            <a:r>
              <a:rPr lang="en-US" sz="2300" dirty="0">
                <a:latin typeface="Calibri" panose="020F0502020204030204" pitchFamily="34" charset="0"/>
                <a:cs typeface="Calibri" panose="020F0502020204030204" pitchFamily="34" charset="0"/>
              </a:rPr>
              <a:t>sans-serif; and set </a:t>
            </a:r>
            <a:r>
              <a:rPr lang="en-US" sz="2300" b="1" dirty="0">
                <a:latin typeface="Calibri" panose="020F0502020204030204" pitchFamily="34" charset="0"/>
                <a:cs typeface="Calibri" panose="020F0502020204030204" pitchFamily="34" charset="0"/>
              </a:rPr>
              <a:t>background-color: #fff</a:t>
            </a:r>
            <a:r>
              <a:rPr lang="en-US" sz="23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Set </a:t>
            </a:r>
            <a:r>
              <a:rPr lang="en-US" sz="2300" b="1" dirty="0">
                <a:latin typeface="Calibri" panose="020F0502020204030204" pitchFamily="34" charset="0"/>
                <a:cs typeface="Calibri" panose="020F0502020204030204" pitchFamily="34" charset="0"/>
              </a:rPr>
              <a:t>font-size: 12px</a:t>
            </a:r>
            <a:r>
              <a:rPr lang="en-US" sz="2300" dirty="0">
                <a:latin typeface="Calibri" panose="020F0502020204030204" pitchFamily="34" charset="0"/>
                <a:cs typeface="Calibri" panose="020F0502020204030204" pitchFamily="34" charset="0"/>
              </a:rPr>
              <a:t>; for the </a:t>
            </a:r>
            <a:r>
              <a:rPr lang="en-US" sz="2300" b="1" dirty="0">
                <a:latin typeface="Calibri" panose="020F0502020204030204" pitchFamily="34" charset="0"/>
                <a:cs typeface="Calibri" panose="020F0502020204030204" pitchFamily="34" charset="0"/>
              </a:rPr>
              <a:t>html</a:t>
            </a:r>
            <a:r>
              <a:rPr lang="en-US" sz="2300" dirty="0">
                <a:latin typeface="Calibri" panose="020F0502020204030204" pitchFamily="34" charset="0"/>
                <a:cs typeface="Calibri" panose="020F0502020204030204" pitchFamily="34" charset="0"/>
              </a:rPr>
              <a:t> element under reset styles.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Set </a:t>
            </a:r>
            <a:r>
              <a:rPr lang="en-US" sz="2300" b="1" dirty="0">
                <a:latin typeface="Calibri" panose="020F0502020204030204" pitchFamily="34" charset="0"/>
                <a:cs typeface="Calibri" panose="020F0502020204030204" pitchFamily="34" charset="0"/>
              </a:rPr>
              <a:t>font-size: 1.2em</a:t>
            </a:r>
            <a:r>
              <a:rPr lang="en-US" sz="2300" dirty="0">
                <a:latin typeface="Calibri" panose="020F0502020204030204" pitchFamily="34" charset="0"/>
                <a:cs typeface="Calibri" panose="020F0502020204030204" pitchFamily="34" charset="0"/>
              </a:rPr>
              <a:t>; for the </a:t>
            </a:r>
            <a:r>
              <a:rPr lang="en-US" sz="2300" b="1" dirty="0">
                <a:latin typeface="Calibri" panose="020F0502020204030204" pitchFamily="34" charset="0"/>
                <a:cs typeface="Calibri" panose="020F0502020204030204" pitchFamily="34" charset="0"/>
              </a:rPr>
              <a:t>p</a:t>
            </a:r>
            <a:r>
              <a:rPr lang="en-US" sz="2300" dirty="0">
                <a:latin typeface="Calibri" panose="020F0502020204030204" pitchFamily="34" charset="0"/>
                <a:cs typeface="Calibri" panose="020F0502020204030204" pitchFamily="34" charset="0"/>
              </a:rPr>
              <a:t> element under global styles.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For the </a:t>
            </a:r>
            <a:r>
              <a:rPr lang="en-US" sz="2300" b="1" dirty="0">
                <a:latin typeface="Calibri" panose="020F0502020204030204" pitchFamily="34" charset="0"/>
                <a:cs typeface="Calibri" panose="020F0502020204030204" pitchFamily="34" charset="0"/>
              </a:rPr>
              <a:t>h1</a:t>
            </a:r>
            <a:r>
              <a:rPr lang="en-US" sz="2300" dirty="0">
                <a:latin typeface="Calibri" panose="020F0502020204030204" pitchFamily="34" charset="0"/>
                <a:cs typeface="Calibri" panose="020F0502020204030204" pitchFamily="34" charset="0"/>
              </a:rPr>
              <a:t> element in the header section, set </a:t>
            </a:r>
            <a:r>
              <a:rPr lang="en-US" sz="2300" b="1" dirty="0">
                <a:latin typeface="Calibri" panose="020F0502020204030204" pitchFamily="34" charset="0"/>
                <a:cs typeface="Calibri" panose="020F0502020204030204" pitchFamily="34" charset="0"/>
              </a:rPr>
              <a:t>font-size: 3em</a:t>
            </a:r>
            <a:r>
              <a:rPr lang="en-US" sz="2300" dirty="0">
                <a:latin typeface="Calibri" panose="020F0502020204030204" pitchFamily="34" charset="0"/>
                <a:cs typeface="Calibri" panose="020F0502020204030204" pitchFamily="34" charset="0"/>
              </a:rPr>
              <a:t>; and </a:t>
            </a:r>
            <a:r>
              <a:rPr lang="en-US" sz="2300" b="1" dirty="0">
                <a:latin typeface="Calibri" panose="020F0502020204030204" pitchFamily="34" charset="0"/>
                <a:cs typeface="Calibri" panose="020F0502020204030204" pitchFamily="34" charset="0"/>
              </a:rPr>
              <a:t>font-weight: bold</a:t>
            </a:r>
            <a:r>
              <a:rPr lang="en-US" sz="23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In the main content section, set font-size: </a:t>
            </a:r>
            <a:r>
              <a:rPr lang="en-US" sz="2300" b="1" dirty="0">
                <a:latin typeface="Calibri" panose="020F0502020204030204" pitchFamily="34" charset="0"/>
                <a:cs typeface="Calibri" panose="020F0502020204030204" pitchFamily="34" charset="0"/>
              </a:rPr>
              <a:t>2.4em; </a:t>
            </a:r>
            <a:r>
              <a:rPr lang="en-US" sz="2300" dirty="0">
                <a:latin typeface="Calibri" panose="020F0502020204030204" pitchFamily="34" charset="0"/>
                <a:cs typeface="Calibri" panose="020F0502020204030204" pitchFamily="34" charset="0"/>
              </a:rPr>
              <a:t>and</a:t>
            </a:r>
            <a:r>
              <a:rPr lang="en-US" sz="2300" b="1" dirty="0">
                <a:latin typeface="Calibri" panose="020F0502020204030204" pitchFamily="34" charset="0"/>
                <a:cs typeface="Calibri" panose="020F0502020204030204" pitchFamily="34" charset="0"/>
              </a:rPr>
              <a:t> font-weight: bold; </a:t>
            </a:r>
            <a:r>
              <a:rPr lang="en-US" sz="2300" dirty="0">
                <a:latin typeface="Calibri" panose="020F0502020204030204" pitchFamily="34" charset="0"/>
                <a:cs typeface="Calibri" panose="020F0502020204030204" pitchFamily="34" charset="0"/>
              </a:rPr>
              <a:t>for the </a:t>
            </a:r>
            <a:r>
              <a:rPr lang="en-US" sz="2300" b="1" dirty="0">
                <a:latin typeface="Calibri" panose="020F0502020204030204" pitchFamily="34" charset="0"/>
                <a:cs typeface="Calibri" panose="020F0502020204030204" pitchFamily="34" charset="0"/>
              </a:rPr>
              <a:t>h2 </a:t>
            </a:r>
            <a:r>
              <a:rPr lang="en-US" sz="2300" dirty="0">
                <a:latin typeface="Calibri" panose="020F0502020204030204" pitchFamily="34" charset="0"/>
                <a:cs typeface="Calibri" panose="020F0502020204030204" pitchFamily="34" charset="0"/>
              </a:rPr>
              <a:t>element.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Wrap each day of the week and the colon in a span tag within </a:t>
            </a:r>
            <a:r>
              <a:rPr lang="en-US" sz="2300" b="1" dirty="0">
                <a:latin typeface="Calibri" panose="020F0502020204030204" pitchFamily="34" charset="0"/>
                <a:cs typeface="Calibri" panose="020F0502020204030204" pitchFamily="34" charset="0"/>
              </a:rPr>
              <a:t>hours.html </a:t>
            </a:r>
            <a:r>
              <a:rPr lang="en-US" sz="2300" dirty="0">
                <a:latin typeface="Calibri" panose="020F0502020204030204" pitchFamily="34" charset="0"/>
                <a:cs typeface="Calibri" panose="020F0502020204030204" pitchFamily="34" charset="0"/>
              </a:rPr>
              <a:t>and then style these spans to be bold and green in the CSS.</a:t>
            </a:r>
            <a:endParaRPr lang="en-AU" sz="23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F80AF407-A79F-BC3E-38B7-663850B72493}"/>
              </a:ext>
            </a:extLst>
          </p:cNvPr>
          <p:cNvPicPr>
            <a:picLocks noChangeAspect="1"/>
          </p:cNvPicPr>
          <p:nvPr/>
        </p:nvPicPr>
        <p:blipFill>
          <a:blip r:embed="rId2"/>
          <a:stretch>
            <a:fillRect/>
          </a:stretch>
        </p:blipFill>
        <p:spPr>
          <a:xfrm>
            <a:off x="10569849" y="0"/>
            <a:ext cx="1622151" cy="1597572"/>
          </a:xfrm>
          <a:prstGeom prst="rect">
            <a:avLst/>
          </a:prstGeom>
        </p:spPr>
      </p:pic>
    </p:spTree>
    <p:extLst>
      <p:ext uri="{BB962C8B-B14F-4D97-AF65-F5344CB8AC3E}">
        <p14:creationId xmlns:p14="http://schemas.microsoft.com/office/powerpoint/2010/main" val="19785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anim calcmode="lin" valueType="num">
                                      <p:cBhvr additive="base">
                                        <p:cTn id="1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1000"/>
                                        <p:tgtEl>
                                          <p:spTgt spid="5">
                                            <p:txEl>
                                              <p:pRg st="5" end="5"/>
                                            </p:txEl>
                                          </p:spTgt>
                                        </p:tgtEl>
                                      </p:cBhvr>
                                    </p:animEffect>
                                    <p:anim calcmode="lin" valueType="num">
                                      <p:cBhvr>
                                        <p:cTn id="25"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fade">
                                      <p:cBhvr>
                                        <p:cTn id="31" dur="1000"/>
                                        <p:tgtEl>
                                          <p:spTgt spid="5">
                                            <p:txEl>
                                              <p:pRg st="6" end="6"/>
                                            </p:txEl>
                                          </p:spTgt>
                                        </p:tgtEl>
                                      </p:cBhvr>
                                    </p:animEffect>
                                    <p:anim calcmode="lin" valueType="num">
                                      <p:cBhvr>
                                        <p:cTn id="32"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CE753B-4BAA-28AA-8761-AFF926F44049}"/>
              </a:ext>
            </a:extLst>
          </p:cNvPr>
          <p:cNvSpPr txBox="1"/>
          <p:nvPr/>
        </p:nvSpPr>
        <p:spPr>
          <a:xfrm>
            <a:off x="0" y="0"/>
            <a:ext cx="10646979"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5" name="TextBox 4">
            <a:extLst>
              <a:ext uri="{FF2B5EF4-FFF2-40B4-BE49-F238E27FC236}">
                <a16:creationId xmlns:a16="http://schemas.microsoft.com/office/drawing/2014/main" id="{0466C809-5781-6989-B537-F4323A5AFFCC}"/>
              </a:ext>
            </a:extLst>
          </p:cNvPr>
          <p:cNvSpPr txBox="1"/>
          <p:nvPr/>
        </p:nvSpPr>
        <p:spPr>
          <a:xfrm>
            <a:off x="84083" y="892552"/>
            <a:ext cx="12023834" cy="2161104"/>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5. Additional CSS Styles: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Set text color for </a:t>
            </a:r>
            <a:r>
              <a:rPr lang="en-US" sz="2300" b="1" dirty="0">
                <a:latin typeface="Calibri" panose="020F0502020204030204" pitchFamily="34" charset="0"/>
                <a:cs typeface="Calibri" panose="020F0502020204030204" pitchFamily="34" charset="0"/>
              </a:rPr>
              <a:t>p</a:t>
            </a:r>
            <a:r>
              <a:rPr lang="en-US" sz="2300" dirty="0">
                <a:latin typeface="Calibri" panose="020F0502020204030204" pitchFamily="34" charset="0"/>
                <a:cs typeface="Calibri" panose="020F0502020204030204" pitchFamily="34" charset="0"/>
              </a:rPr>
              <a:t> within the header to </a:t>
            </a:r>
            <a:r>
              <a:rPr lang="en-US" sz="2300" b="1" dirty="0">
                <a:latin typeface="Calibri" panose="020F0502020204030204" pitchFamily="34" charset="0"/>
                <a:cs typeface="Calibri" panose="020F0502020204030204" pitchFamily="34" charset="0"/>
              </a:rPr>
              <a:t>#f15a24</a:t>
            </a:r>
            <a:r>
              <a:rPr lang="en-US" sz="23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Set the background color for </a:t>
            </a:r>
            <a:r>
              <a:rPr lang="en-US" sz="2300" b="1" dirty="0">
                <a:latin typeface="Calibri" panose="020F0502020204030204" pitchFamily="34" charset="0"/>
                <a:cs typeface="Calibri" panose="020F0502020204030204" pitchFamily="34" charset="0"/>
              </a:rPr>
              <a:t>.container </a:t>
            </a:r>
            <a:r>
              <a:rPr lang="en-US" sz="2300" dirty="0">
                <a:latin typeface="Calibri" panose="020F0502020204030204" pitchFamily="34" charset="0"/>
                <a:cs typeface="Calibri" panose="020F0502020204030204" pitchFamily="34" charset="0"/>
              </a:rPr>
              <a:t>to </a:t>
            </a:r>
            <a:r>
              <a:rPr lang="en-US" sz="2300" b="1" dirty="0" err="1">
                <a:latin typeface="Calibri" panose="020F0502020204030204" pitchFamily="34" charset="0"/>
                <a:cs typeface="Calibri" panose="020F0502020204030204" pitchFamily="34" charset="0"/>
              </a:rPr>
              <a:t>rgb</a:t>
            </a:r>
            <a:r>
              <a:rPr lang="en-US" sz="2300" b="1" dirty="0">
                <a:latin typeface="Calibri" panose="020F0502020204030204" pitchFamily="34" charset="0"/>
                <a:cs typeface="Calibri" panose="020F0502020204030204" pitchFamily="34" charset="0"/>
              </a:rPr>
              <a:t>(106, 194, 56)</a:t>
            </a:r>
            <a:r>
              <a:rPr lang="en-US" sz="23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Add a box shadow to </a:t>
            </a:r>
            <a:r>
              <a:rPr lang="en-US" sz="2300" b="1" dirty="0">
                <a:latin typeface="Calibri" panose="020F0502020204030204" pitchFamily="34" charset="0"/>
                <a:cs typeface="Calibri" panose="020F0502020204030204" pitchFamily="34" charset="0"/>
              </a:rPr>
              <a:t>.container </a:t>
            </a:r>
            <a:r>
              <a:rPr lang="en-US" sz="2300" dirty="0">
                <a:latin typeface="Calibri" panose="020F0502020204030204" pitchFamily="34" charset="0"/>
                <a:cs typeface="Calibri" panose="020F0502020204030204" pitchFamily="34" charset="0"/>
              </a:rPr>
              <a:t>with </a:t>
            </a:r>
            <a:r>
              <a:rPr lang="en-US" sz="2300" b="1" dirty="0">
                <a:latin typeface="Calibri" panose="020F0502020204030204" pitchFamily="34" charset="0"/>
                <a:cs typeface="Calibri" panose="020F0502020204030204" pitchFamily="34" charset="0"/>
              </a:rPr>
              <a:t>0px</a:t>
            </a:r>
            <a:r>
              <a:rPr lang="en-US" sz="2300" dirty="0">
                <a:latin typeface="Calibri" panose="020F0502020204030204" pitchFamily="34" charset="0"/>
                <a:cs typeface="Calibri" panose="020F0502020204030204" pitchFamily="34" charset="0"/>
              </a:rPr>
              <a:t> offsets, </a:t>
            </a:r>
            <a:r>
              <a:rPr lang="en-US" sz="2300" b="1" dirty="0">
                <a:latin typeface="Calibri" panose="020F0502020204030204" pitchFamily="34" charset="0"/>
                <a:cs typeface="Calibri" panose="020F0502020204030204" pitchFamily="34" charset="0"/>
              </a:rPr>
              <a:t>10px</a:t>
            </a:r>
            <a:r>
              <a:rPr lang="en-US" sz="2300" dirty="0">
                <a:latin typeface="Calibri" panose="020F0502020204030204" pitchFamily="34" charset="0"/>
                <a:cs typeface="Calibri" panose="020F0502020204030204" pitchFamily="34" charset="0"/>
              </a:rPr>
              <a:t> blur, and black color.</a:t>
            </a:r>
            <a:endParaRPr lang="en-AU" sz="23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F80AF407-A79F-BC3E-38B7-663850B72493}"/>
              </a:ext>
            </a:extLst>
          </p:cNvPr>
          <p:cNvPicPr>
            <a:picLocks noChangeAspect="1"/>
          </p:cNvPicPr>
          <p:nvPr/>
        </p:nvPicPr>
        <p:blipFill>
          <a:blip r:embed="rId2"/>
          <a:stretch>
            <a:fillRect/>
          </a:stretch>
        </p:blipFill>
        <p:spPr>
          <a:xfrm>
            <a:off x="10569849" y="0"/>
            <a:ext cx="1622151" cy="1597572"/>
          </a:xfrm>
          <a:prstGeom prst="rect">
            <a:avLst/>
          </a:prstGeom>
        </p:spPr>
      </p:pic>
      <p:sp>
        <p:nvSpPr>
          <p:cNvPr id="2" name="TextBox 1">
            <a:extLst>
              <a:ext uri="{FF2B5EF4-FFF2-40B4-BE49-F238E27FC236}">
                <a16:creationId xmlns:a16="http://schemas.microsoft.com/office/drawing/2014/main" id="{92039587-56AF-795F-E1C4-7F8C1B0B0751}"/>
              </a:ext>
            </a:extLst>
          </p:cNvPr>
          <p:cNvSpPr txBox="1"/>
          <p:nvPr/>
        </p:nvSpPr>
        <p:spPr>
          <a:xfrm>
            <a:off x="84083" y="3053656"/>
            <a:ext cx="12023834" cy="1630190"/>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6. Preview and Validate:</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Preview your webpage and compare with provided FIGURE 1.</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Validate both your HTML and CSS using W3C validators to ensure no errors.</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9511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4FD26A-01FC-A8C2-21C6-BC5F226A0F8B}"/>
              </a:ext>
            </a:extLst>
          </p:cNvPr>
          <p:cNvSpPr txBox="1"/>
          <p:nvPr/>
        </p:nvSpPr>
        <p:spPr>
          <a:xfrm>
            <a:off x="0" y="0"/>
            <a:ext cx="10646979"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5" name="Picture 4">
            <a:extLst>
              <a:ext uri="{FF2B5EF4-FFF2-40B4-BE49-F238E27FC236}">
                <a16:creationId xmlns:a16="http://schemas.microsoft.com/office/drawing/2014/main" id="{A284A9D3-8E33-0FA2-B420-01CFF6A2A37E}"/>
              </a:ext>
            </a:extLst>
          </p:cNvPr>
          <p:cNvPicPr>
            <a:picLocks noChangeAspect="1"/>
          </p:cNvPicPr>
          <p:nvPr/>
        </p:nvPicPr>
        <p:blipFill>
          <a:blip r:embed="rId2"/>
          <a:stretch>
            <a:fillRect/>
          </a:stretch>
        </p:blipFill>
        <p:spPr>
          <a:xfrm>
            <a:off x="10569849" y="0"/>
            <a:ext cx="1622151" cy="1597572"/>
          </a:xfrm>
          <a:prstGeom prst="rect">
            <a:avLst/>
          </a:prstGeom>
        </p:spPr>
      </p:pic>
      <p:pic>
        <p:nvPicPr>
          <p:cNvPr id="9" name="Picture 8">
            <a:extLst>
              <a:ext uri="{FF2B5EF4-FFF2-40B4-BE49-F238E27FC236}">
                <a16:creationId xmlns:a16="http://schemas.microsoft.com/office/drawing/2014/main" id="{3E3F613C-24B4-C105-7539-03B119C65C8E}"/>
              </a:ext>
            </a:extLst>
          </p:cNvPr>
          <p:cNvPicPr>
            <a:picLocks noChangeAspect="1"/>
          </p:cNvPicPr>
          <p:nvPr/>
        </p:nvPicPr>
        <p:blipFill rotWithShape="1">
          <a:blip r:embed="rId3"/>
          <a:srcRect l="14053" t="57931" r="20479" b="26267"/>
          <a:stretch/>
        </p:blipFill>
        <p:spPr>
          <a:xfrm>
            <a:off x="833748" y="5146172"/>
            <a:ext cx="10524504" cy="1428842"/>
          </a:xfrm>
          <a:prstGeom prst="rect">
            <a:avLst/>
          </a:prstGeom>
          <a:ln>
            <a:solidFill>
              <a:srgbClr val="FF0000"/>
            </a:solidFill>
          </a:ln>
        </p:spPr>
      </p:pic>
      <p:pic>
        <p:nvPicPr>
          <p:cNvPr id="11" name="Picture 10">
            <a:extLst>
              <a:ext uri="{FF2B5EF4-FFF2-40B4-BE49-F238E27FC236}">
                <a16:creationId xmlns:a16="http://schemas.microsoft.com/office/drawing/2014/main" id="{4C2FFAF4-7E33-87BA-4B73-D785094A203D}"/>
              </a:ext>
            </a:extLst>
          </p:cNvPr>
          <p:cNvPicPr>
            <a:picLocks noChangeAspect="1"/>
          </p:cNvPicPr>
          <p:nvPr/>
        </p:nvPicPr>
        <p:blipFill rotWithShape="1">
          <a:blip r:embed="rId4"/>
          <a:srcRect l="9558" t="23295" r="46971" b="54353"/>
          <a:stretch/>
        </p:blipFill>
        <p:spPr>
          <a:xfrm>
            <a:off x="3446033" y="3287563"/>
            <a:ext cx="5299934" cy="1532964"/>
          </a:xfrm>
          <a:prstGeom prst="rect">
            <a:avLst/>
          </a:prstGeom>
          <a:ln>
            <a:solidFill>
              <a:srgbClr val="FF0000"/>
            </a:solidFill>
          </a:ln>
        </p:spPr>
      </p:pic>
      <p:sp>
        <p:nvSpPr>
          <p:cNvPr id="13" name="TextBox 12">
            <a:extLst>
              <a:ext uri="{FF2B5EF4-FFF2-40B4-BE49-F238E27FC236}">
                <a16:creationId xmlns:a16="http://schemas.microsoft.com/office/drawing/2014/main" id="{0FFD93E2-5FC1-7ECE-9D04-5B67D2A33B00}"/>
              </a:ext>
            </a:extLst>
          </p:cNvPr>
          <p:cNvSpPr txBox="1"/>
          <p:nvPr/>
        </p:nvSpPr>
        <p:spPr>
          <a:xfrm>
            <a:off x="0" y="997407"/>
            <a:ext cx="12192000" cy="1968103"/>
          </a:xfrm>
          <a:prstGeom prst="rect">
            <a:avLst/>
          </a:prstGeom>
          <a:noFill/>
        </p:spPr>
        <p:txBody>
          <a:bodyPr wrap="square">
            <a:spAutoFit/>
          </a:bodyPr>
          <a:lstStyle/>
          <a:p>
            <a:pPr>
              <a:lnSpc>
                <a:spcPct val="150000"/>
              </a:lnSpc>
            </a:pPr>
            <a:r>
              <a:rPr lang="en-US" sz="2800" dirty="0">
                <a:highlight>
                  <a:srgbClr val="FFFFFF"/>
                </a:highlight>
                <a:latin typeface="Calibir"/>
              </a:rPr>
              <a:t>This code creates a simple webpage for a garden center business called Spotted Wren Garden Center.</a:t>
            </a:r>
            <a:br>
              <a:rPr lang="en-US" sz="2800" dirty="0">
                <a:highlight>
                  <a:srgbClr val="FFFFFF"/>
                </a:highlight>
                <a:latin typeface="Calibir"/>
              </a:rPr>
            </a:br>
            <a:r>
              <a:rPr lang="en-US" sz="2800" dirty="0">
                <a:highlight>
                  <a:srgbClr val="FFFFFF"/>
                </a:highlight>
                <a:latin typeface="Calibir"/>
              </a:rPr>
              <a:t>It mainly shows the store’s summer opening hours and contact information.</a:t>
            </a:r>
            <a:endParaRPr lang="en-AU" sz="2800" dirty="0">
              <a:latin typeface="Calibir"/>
            </a:endParaRPr>
          </a:p>
        </p:txBody>
      </p:sp>
    </p:spTree>
    <p:extLst>
      <p:ext uri="{BB962C8B-B14F-4D97-AF65-F5344CB8AC3E}">
        <p14:creationId xmlns:p14="http://schemas.microsoft.com/office/powerpoint/2010/main" val="263041550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90C9B-6139-801E-DFF5-41A1A1C2943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80D2DCF-9ACF-C145-9431-F794023819C1}"/>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C6366BC9-8C93-C852-79BA-77266C385F1C}"/>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E1EFD8FB-4AF0-43A5-F78F-E2F7DDD46811}"/>
              </a:ext>
            </a:extLst>
          </p:cNvPr>
          <p:cNvSpPr txBox="1"/>
          <p:nvPr/>
        </p:nvSpPr>
        <p:spPr>
          <a:xfrm>
            <a:off x="4629150" y="4786792"/>
            <a:ext cx="7562850" cy="2071208"/>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1. &lt;!DOCTYPE html&gt;</a:t>
            </a:r>
          </a:p>
          <a:p>
            <a:pPr rtl="0">
              <a:lnSpc>
                <a:spcPct val="150000"/>
              </a:lnSpc>
              <a:buNone/>
            </a:pPr>
            <a:r>
              <a:rPr lang="en-US" sz="2200" dirty="0">
                <a:solidFill>
                  <a:schemeClr val="bg1"/>
                </a:solidFill>
                <a:latin typeface="Calibir"/>
              </a:rPr>
              <a:t>&lt;!DOCTYPE html&gt;</a:t>
            </a:r>
          </a:p>
          <a:p>
            <a:pPr>
              <a:lnSpc>
                <a:spcPct val="150000"/>
              </a:lnSpc>
              <a:buNone/>
            </a:pPr>
            <a:r>
              <a:rPr lang="en-US" sz="2200" dirty="0">
                <a:solidFill>
                  <a:schemeClr val="bg1"/>
                </a:solidFill>
                <a:latin typeface="Calibir"/>
              </a:rPr>
              <a:t>This tells the browser:</a:t>
            </a:r>
          </a:p>
          <a:p>
            <a:pPr>
              <a:lnSpc>
                <a:spcPct val="150000"/>
              </a:lnSpc>
              <a:buNone/>
            </a:pPr>
            <a:r>
              <a:rPr lang="en-US" sz="2200" dirty="0">
                <a:solidFill>
                  <a:schemeClr val="bg1"/>
                </a:solidFill>
                <a:latin typeface="Calibir"/>
              </a:rPr>
              <a:t>“This is an HTML5 webpage.”</a:t>
            </a:r>
          </a:p>
        </p:txBody>
      </p:sp>
    </p:spTree>
    <p:extLst>
      <p:ext uri="{BB962C8B-B14F-4D97-AF65-F5344CB8AC3E}">
        <p14:creationId xmlns:p14="http://schemas.microsoft.com/office/powerpoint/2010/main" val="22052416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9A41B-E9EC-716F-0468-E7B892D16E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3AAB5EE-8F22-F571-411A-7B2929072377}"/>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D3431F0A-69B1-D628-689B-98F643BAEB1F}"/>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11EA4488-148B-D330-2565-D132DA66D612}"/>
              </a:ext>
            </a:extLst>
          </p:cNvPr>
          <p:cNvSpPr txBox="1"/>
          <p:nvPr/>
        </p:nvSpPr>
        <p:spPr>
          <a:xfrm>
            <a:off x="4629150" y="4786792"/>
            <a:ext cx="7562850" cy="2071208"/>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2. HTML opening tag</a:t>
            </a:r>
          </a:p>
          <a:p>
            <a:pPr>
              <a:lnSpc>
                <a:spcPct val="150000"/>
              </a:lnSpc>
            </a:pPr>
            <a:r>
              <a:rPr lang="en-US" sz="2200" dirty="0">
                <a:solidFill>
                  <a:schemeClr val="bg1"/>
                </a:solidFill>
                <a:latin typeface="Calibir"/>
              </a:rPr>
              <a:t>&lt;html lang="</a:t>
            </a:r>
            <a:r>
              <a:rPr lang="en-US" sz="2200" dirty="0" err="1">
                <a:solidFill>
                  <a:schemeClr val="bg1"/>
                </a:solidFill>
                <a:latin typeface="Calibir"/>
              </a:rPr>
              <a:t>en</a:t>
            </a:r>
            <a:r>
              <a:rPr lang="en-US" sz="2200" dirty="0">
                <a:solidFill>
                  <a:schemeClr val="bg1"/>
                </a:solidFill>
                <a:latin typeface="Calibir"/>
              </a:rPr>
              <a:t>"&gt;</a:t>
            </a:r>
          </a:p>
          <a:p>
            <a:pPr marL="342900" indent="-342900">
              <a:lnSpc>
                <a:spcPct val="150000"/>
              </a:lnSpc>
              <a:buFont typeface="Arial" panose="020B0604020202020204" pitchFamily="34" charset="0"/>
              <a:buChar char="•"/>
            </a:pPr>
            <a:r>
              <a:rPr lang="en-US" sz="2200" dirty="0">
                <a:solidFill>
                  <a:schemeClr val="bg1"/>
                </a:solidFill>
                <a:latin typeface="Calibir"/>
              </a:rPr>
              <a:t>&lt;html&gt; starts the webpage </a:t>
            </a:r>
          </a:p>
          <a:p>
            <a:pPr marL="342900" indent="-342900">
              <a:lnSpc>
                <a:spcPct val="150000"/>
              </a:lnSpc>
              <a:buFont typeface="Arial" panose="020B0604020202020204" pitchFamily="34" charset="0"/>
              <a:buChar char="•"/>
            </a:pPr>
            <a:r>
              <a:rPr lang="en-US" sz="2200" dirty="0">
                <a:solidFill>
                  <a:schemeClr val="bg1"/>
                </a:solidFill>
                <a:latin typeface="Calibir"/>
              </a:rPr>
              <a:t>lang="</a:t>
            </a:r>
            <a:r>
              <a:rPr lang="en-US" sz="2200" dirty="0" err="1">
                <a:solidFill>
                  <a:schemeClr val="bg1"/>
                </a:solidFill>
                <a:latin typeface="Calibir"/>
              </a:rPr>
              <a:t>en</a:t>
            </a:r>
            <a:r>
              <a:rPr lang="en-US" sz="2200" dirty="0">
                <a:solidFill>
                  <a:schemeClr val="bg1"/>
                </a:solidFill>
                <a:latin typeface="Calibir"/>
              </a:rPr>
              <a:t>" means the webpage is written in English</a:t>
            </a:r>
          </a:p>
        </p:txBody>
      </p:sp>
    </p:spTree>
    <p:extLst>
      <p:ext uri="{BB962C8B-B14F-4D97-AF65-F5344CB8AC3E}">
        <p14:creationId xmlns:p14="http://schemas.microsoft.com/office/powerpoint/2010/main" val="6101314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3814F-433B-BE31-9D79-B9C90D877C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0953B68-DC95-2BB8-1CE0-E7130B204944}"/>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DA11BDD3-91D1-0A30-847F-DE0E588FA7EC}"/>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1CAF0BD-DCBD-BCFB-658F-80DE7DEE91DB}"/>
              </a:ext>
            </a:extLst>
          </p:cNvPr>
          <p:cNvSpPr txBox="1"/>
          <p:nvPr/>
        </p:nvSpPr>
        <p:spPr>
          <a:xfrm>
            <a:off x="4629150" y="5294623"/>
            <a:ext cx="7562850" cy="1563377"/>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3. Head section</a:t>
            </a:r>
          </a:p>
          <a:p>
            <a:pPr>
              <a:lnSpc>
                <a:spcPct val="150000"/>
              </a:lnSpc>
            </a:pPr>
            <a:r>
              <a:rPr lang="en-US" sz="2200" dirty="0">
                <a:solidFill>
                  <a:schemeClr val="bg1"/>
                </a:solidFill>
                <a:latin typeface="Calibir"/>
              </a:rPr>
              <a:t>&lt;head&gt;</a:t>
            </a:r>
          </a:p>
          <a:p>
            <a:pPr>
              <a:lnSpc>
                <a:spcPct val="150000"/>
              </a:lnSpc>
              <a:buNone/>
            </a:pPr>
            <a:r>
              <a:rPr lang="en-US" sz="2200" dirty="0">
                <a:solidFill>
                  <a:schemeClr val="bg1"/>
                </a:solidFill>
                <a:latin typeface="Calibir"/>
              </a:rPr>
              <a:t>The &lt;head&gt; contains information about the webpage.</a:t>
            </a:r>
          </a:p>
        </p:txBody>
      </p:sp>
    </p:spTree>
    <p:extLst>
      <p:ext uri="{BB962C8B-B14F-4D97-AF65-F5344CB8AC3E}">
        <p14:creationId xmlns:p14="http://schemas.microsoft.com/office/powerpoint/2010/main" val="218182782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5B8B1-A4E7-271D-0802-1DAC729E64C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376E4C6-B7F0-29FA-B395-0BC3D9F194AA}"/>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A932DBB4-7062-C076-73D6-3E6CDEF43992}"/>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E9A0712-3B1F-1078-83FD-17E62E48DA23}"/>
              </a:ext>
            </a:extLst>
          </p:cNvPr>
          <p:cNvSpPr txBox="1"/>
          <p:nvPr/>
        </p:nvSpPr>
        <p:spPr>
          <a:xfrm>
            <a:off x="4629150" y="5294623"/>
            <a:ext cx="7562850" cy="1563377"/>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Character encoding</a:t>
            </a:r>
          </a:p>
          <a:p>
            <a:pPr>
              <a:lnSpc>
                <a:spcPct val="150000"/>
              </a:lnSpc>
            </a:pPr>
            <a:r>
              <a:rPr lang="en-US" sz="2200" dirty="0">
                <a:solidFill>
                  <a:schemeClr val="bg1"/>
                </a:solidFill>
                <a:latin typeface="Calibir"/>
              </a:rPr>
              <a:t>&lt;meta charset="UTF-8"&gt;</a:t>
            </a:r>
          </a:p>
          <a:p>
            <a:pPr>
              <a:lnSpc>
                <a:spcPct val="150000"/>
              </a:lnSpc>
              <a:buNone/>
            </a:pPr>
            <a:r>
              <a:rPr lang="en-US" sz="2200" dirty="0">
                <a:solidFill>
                  <a:schemeClr val="bg1"/>
                </a:solidFill>
                <a:latin typeface="Calibir"/>
              </a:rPr>
              <a:t>Allows the webpage to display text and symbols correctly.</a:t>
            </a:r>
          </a:p>
        </p:txBody>
      </p:sp>
    </p:spTree>
    <p:extLst>
      <p:ext uri="{BB962C8B-B14F-4D97-AF65-F5344CB8AC3E}">
        <p14:creationId xmlns:p14="http://schemas.microsoft.com/office/powerpoint/2010/main" val="290819974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9C134-B319-D008-1EB2-1CD3ADECFC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4A6C231-C4D0-5D10-DA15-83436D1EB63B}"/>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F1C34868-0771-AEDC-E59E-2F134769B345}"/>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FED3119-BB71-6F14-90B5-CA06303A1B7E}"/>
              </a:ext>
            </a:extLst>
          </p:cNvPr>
          <p:cNvSpPr txBox="1"/>
          <p:nvPr/>
        </p:nvSpPr>
        <p:spPr>
          <a:xfrm>
            <a:off x="4629150" y="4278961"/>
            <a:ext cx="7562850" cy="2579039"/>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Webpage title</a:t>
            </a:r>
          </a:p>
          <a:p>
            <a:pPr>
              <a:lnSpc>
                <a:spcPct val="150000"/>
              </a:lnSpc>
            </a:pPr>
            <a:r>
              <a:rPr lang="en-US" sz="2200" dirty="0">
                <a:solidFill>
                  <a:schemeClr val="bg1"/>
                </a:solidFill>
                <a:latin typeface="Calibir"/>
              </a:rPr>
              <a:t>&lt;title&gt;Spotted Wren Garden Center - Hours&lt;/title&gt;</a:t>
            </a:r>
          </a:p>
          <a:p>
            <a:pPr>
              <a:lnSpc>
                <a:spcPct val="150000"/>
              </a:lnSpc>
              <a:buNone/>
            </a:pPr>
            <a:r>
              <a:rPr lang="en-US" sz="2200" dirty="0">
                <a:solidFill>
                  <a:schemeClr val="bg1"/>
                </a:solidFill>
                <a:latin typeface="Calibir"/>
              </a:rPr>
              <a:t>This title appears:</a:t>
            </a:r>
          </a:p>
          <a:p>
            <a:pPr marL="800100" lvl="1" indent="-342900">
              <a:lnSpc>
                <a:spcPct val="150000"/>
              </a:lnSpc>
              <a:buFont typeface="Arial" panose="020B0604020202020204" pitchFamily="34" charset="0"/>
              <a:buChar char="•"/>
            </a:pPr>
            <a:r>
              <a:rPr lang="en-US" sz="2200" dirty="0">
                <a:solidFill>
                  <a:schemeClr val="bg1"/>
                </a:solidFill>
                <a:latin typeface="Calibir"/>
              </a:rPr>
              <a:t>on the browser tab </a:t>
            </a:r>
          </a:p>
          <a:p>
            <a:pPr marL="800100" lvl="1" indent="-342900">
              <a:lnSpc>
                <a:spcPct val="150000"/>
              </a:lnSpc>
              <a:buFont typeface="Arial" panose="020B0604020202020204" pitchFamily="34" charset="0"/>
              <a:buChar char="•"/>
            </a:pPr>
            <a:r>
              <a:rPr lang="en-US" sz="2200" dirty="0">
                <a:solidFill>
                  <a:schemeClr val="bg1"/>
                </a:solidFill>
                <a:latin typeface="Calibir"/>
              </a:rPr>
              <a:t>in search results</a:t>
            </a:r>
          </a:p>
        </p:txBody>
      </p:sp>
    </p:spTree>
    <p:extLst>
      <p:ext uri="{BB962C8B-B14F-4D97-AF65-F5344CB8AC3E}">
        <p14:creationId xmlns:p14="http://schemas.microsoft.com/office/powerpoint/2010/main" val="111850910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791E9-0212-F7EC-369F-5ACCA29B18B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6D482BA-CD31-B25D-F13A-E9B0F190DBE5}"/>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FE67353B-366F-B3B4-1B0D-08813AC7F4C4}"/>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7A93F645-6DAD-D7E2-1567-9DC60AADA6D1}"/>
              </a:ext>
            </a:extLst>
          </p:cNvPr>
          <p:cNvSpPr txBox="1"/>
          <p:nvPr/>
        </p:nvSpPr>
        <p:spPr>
          <a:xfrm>
            <a:off x="4219575" y="2733675"/>
            <a:ext cx="7981950" cy="4102533"/>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4. Google Fonts link</a:t>
            </a:r>
          </a:p>
          <a:p>
            <a:pPr>
              <a:lnSpc>
                <a:spcPct val="150000"/>
              </a:lnSpc>
            </a:pPr>
            <a:r>
              <a:rPr lang="en-US" sz="2200" dirty="0">
                <a:solidFill>
                  <a:schemeClr val="bg1"/>
                </a:solidFill>
                <a:latin typeface="Calibir"/>
              </a:rPr>
              <a:t>&lt;link </a:t>
            </a:r>
            <a:r>
              <a:rPr lang="en-US" sz="2200" dirty="0" err="1">
                <a:solidFill>
                  <a:schemeClr val="bg1"/>
                </a:solidFill>
                <a:latin typeface="Calibir"/>
              </a:rPr>
              <a:t>href</a:t>
            </a:r>
            <a:r>
              <a:rPr lang="en-US" sz="2200" dirty="0">
                <a:solidFill>
                  <a:schemeClr val="bg1"/>
                </a:solidFill>
                <a:latin typeface="Calibir"/>
              </a:rPr>
              <a:t>="https://fonts.googleapis.com/css2?family=Lato:wght@400;700&amp;display=swap" </a:t>
            </a:r>
            <a:r>
              <a:rPr lang="en-US" sz="2200" dirty="0" err="1">
                <a:solidFill>
                  <a:schemeClr val="bg1"/>
                </a:solidFill>
                <a:latin typeface="Calibir"/>
              </a:rPr>
              <a:t>rel</a:t>
            </a:r>
            <a:r>
              <a:rPr lang="en-US" sz="2200" dirty="0">
                <a:solidFill>
                  <a:schemeClr val="bg1"/>
                </a:solidFill>
                <a:latin typeface="Calibir"/>
              </a:rPr>
              <a:t>="stylesheet"&gt;</a:t>
            </a:r>
          </a:p>
          <a:p>
            <a:pPr>
              <a:lnSpc>
                <a:spcPct val="150000"/>
              </a:lnSpc>
              <a:buNone/>
            </a:pPr>
            <a:r>
              <a:rPr lang="en-US" sz="2200" dirty="0">
                <a:solidFill>
                  <a:schemeClr val="bg1"/>
                </a:solidFill>
                <a:latin typeface="Calibir"/>
              </a:rPr>
              <a:t>This imports the </a:t>
            </a:r>
            <a:r>
              <a:rPr lang="en-US" sz="2200" b="1" dirty="0">
                <a:solidFill>
                  <a:schemeClr val="bg1"/>
                </a:solidFill>
                <a:latin typeface="Calibir"/>
              </a:rPr>
              <a:t>Lato font</a:t>
            </a:r>
            <a:r>
              <a:rPr lang="en-US" sz="2200" dirty="0">
                <a:solidFill>
                  <a:schemeClr val="bg1"/>
                </a:solidFill>
                <a:latin typeface="Calibir"/>
              </a:rPr>
              <a:t> from Google Fonts.</a:t>
            </a:r>
          </a:p>
          <a:p>
            <a:pPr>
              <a:lnSpc>
                <a:spcPct val="150000"/>
              </a:lnSpc>
              <a:buNone/>
            </a:pPr>
            <a:r>
              <a:rPr lang="en-US" sz="2200" dirty="0">
                <a:solidFill>
                  <a:schemeClr val="bg1"/>
                </a:solidFill>
                <a:latin typeface="Calibir"/>
              </a:rPr>
              <a:t>It makes the webpage text look nicer.</a:t>
            </a:r>
          </a:p>
          <a:p>
            <a:pPr marL="800100" lvl="1" indent="-342900">
              <a:lnSpc>
                <a:spcPct val="150000"/>
              </a:lnSpc>
              <a:buFont typeface="Arial" panose="020B0604020202020204" pitchFamily="34" charset="0"/>
              <a:buChar char="•"/>
            </a:pPr>
            <a:r>
              <a:rPr lang="en-US" sz="2200" dirty="0">
                <a:solidFill>
                  <a:schemeClr val="bg1"/>
                </a:solidFill>
                <a:latin typeface="Calibir"/>
              </a:rPr>
              <a:t>400 = normal font weight </a:t>
            </a:r>
          </a:p>
          <a:p>
            <a:pPr marL="800100" lvl="1" indent="-342900">
              <a:lnSpc>
                <a:spcPct val="150000"/>
              </a:lnSpc>
              <a:buFont typeface="Arial" panose="020B0604020202020204" pitchFamily="34" charset="0"/>
              <a:buChar char="•"/>
            </a:pPr>
            <a:r>
              <a:rPr lang="en-US" sz="2200" dirty="0">
                <a:solidFill>
                  <a:schemeClr val="bg1"/>
                </a:solidFill>
                <a:latin typeface="Calibir"/>
              </a:rPr>
              <a:t>700 = bold font weight</a:t>
            </a:r>
          </a:p>
        </p:txBody>
      </p:sp>
    </p:spTree>
    <p:extLst>
      <p:ext uri="{BB962C8B-B14F-4D97-AF65-F5344CB8AC3E}">
        <p14:creationId xmlns:p14="http://schemas.microsoft.com/office/powerpoint/2010/main" val="272853395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0D12A-1E48-35EA-BE5A-38DF05C5253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D80D2ED-5ABD-64BA-77C1-4C0323617371}"/>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DA5FEC6F-9548-8B69-645D-54156BB33C18}"/>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CDB4BFFF-A21F-3C41-8878-D0420B05FA79}"/>
              </a:ext>
            </a:extLst>
          </p:cNvPr>
          <p:cNvSpPr txBox="1"/>
          <p:nvPr/>
        </p:nvSpPr>
        <p:spPr>
          <a:xfrm>
            <a:off x="4210050" y="1676400"/>
            <a:ext cx="7981950" cy="5118196"/>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5. CSS stylesheet</a:t>
            </a:r>
          </a:p>
          <a:p>
            <a:pPr>
              <a:lnSpc>
                <a:spcPct val="150000"/>
              </a:lnSpc>
            </a:pPr>
            <a:r>
              <a:rPr lang="en-US" sz="2200" dirty="0">
                <a:solidFill>
                  <a:schemeClr val="bg1"/>
                </a:solidFill>
                <a:latin typeface="Calibir"/>
              </a:rPr>
              <a:t>&lt;link </a:t>
            </a:r>
            <a:r>
              <a:rPr lang="en-US" sz="2200" dirty="0" err="1">
                <a:solidFill>
                  <a:schemeClr val="bg1"/>
                </a:solidFill>
                <a:latin typeface="Calibir"/>
              </a:rPr>
              <a:t>rel</a:t>
            </a:r>
            <a:r>
              <a:rPr lang="en-US" sz="2200" dirty="0">
                <a:solidFill>
                  <a:schemeClr val="bg1"/>
                </a:solidFill>
                <a:latin typeface="Calibir"/>
              </a:rPr>
              <a:t>="stylesheet" </a:t>
            </a:r>
            <a:r>
              <a:rPr lang="en-US" sz="2200" dirty="0" err="1">
                <a:solidFill>
                  <a:schemeClr val="bg1"/>
                </a:solidFill>
                <a:latin typeface="Calibir"/>
              </a:rPr>
              <a:t>href</a:t>
            </a:r>
            <a:r>
              <a:rPr lang="en-US" sz="2200" dirty="0">
                <a:solidFill>
                  <a:schemeClr val="bg1"/>
                </a:solidFill>
                <a:latin typeface="Calibir"/>
              </a:rPr>
              <a:t>="Styling for a Green-Themed Webpage.css"&gt;</a:t>
            </a:r>
          </a:p>
          <a:p>
            <a:pPr>
              <a:lnSpc>
                <a:spcPct val="150000"/>
              </a:lnSpc>
              <a:buNone/>
            </a:pPr>
            <a:r>
              <a:rPr lang="en-US" sz="2200" dirty="0">
                <a:solidFill>
                  <a:schemeClr val="bg1"/>
                </a:solidFill>
                <a:latin typeface="Calibir"/>
              </a:rPr>
              <a:t>This connects the webpage to a CSS file.</a:t>
            </a:r>
          </a:p>
          <a:p>
            <a:pPr>
              <a:lnSpc>
                <a:spcPct val="150000"/>
              </a:lnSpc>
              <a:buNone/>
            </a:pPr>
            <a:r>
              <a:rPr lang="en-US" sz="2200" dirty="0">
                <a:solidFill>
                  <a:schemeClr val="bg1"/>
                </a:solidFill>
                <a:latin typeface="Calibir"/>
              </a:rPr>
              <a:t>The CSS file controls:</a:t>
            </a:r>
          </a:p>
          <a:p>
            <a:pPr marL="800100" lvl="1" indent="-342900">
              <a:lnSpc>
                <a:spcPct val="150000"/>
              </a:lnSpc>
              <a:buFont typeface="Arial" panose="020B0604020202020204" pitchFamily="34" charset="0"/>
              <a:buChar char="•"/>
            </a:pPr>
            <a:r>
              <a:rPr lang="en-US" sz="2200" dirty="0" err="1">
                <a:solidFill>
                  <a:schemeClr val="bg1"/>
                </a:solidFill>
                <a:latin typeface="Calibir"/>
              </a:rPr>
              <a:t>colours</a:t>
            </a:r>
            <a:r>
              <a:rPr lang="en-US" sz="2200" dirty="0">
                <a:solidFill>
                  <a:schemeClr val="bg1"/>
                </a:solidFill>
                <a:latin typeface="Calibir"/>
              </a:rPr>
              <a:t> </a:t>
            </a:r>
          </a:p>
          <a:p>
            <a:pPr marL="800100" lvl="1" indent="-342900">
              <a:lnSpc>
                <a:spcPct val="150000"/>
              </a:lnSpc>
              <a:buFont typeface="Arial" panose="020B0604020202020204" pitchFamily="34" charset="0"/>
              <a:buChar char="•"/>
            </a:pPr>
            <a:r>
              <a:rPr lang="en-US" sz="2200" dirty="0">
                <a:solidFill>
                  <a:schemeClr val="bg1"/>
                </a:solidFill>
                <a:latin typeface="Calibir"/>
              </a:rPr>
              <a:t>layout </a:t>
            </a:r>
          </a:p>
          <a:p>
            <a:pPr marL="800100" lvl="1" indent="-342900">
              <a:lnSpc>
                <a:spcPct val="150000"/>
              </a:lnSpc>
              <a:buFont typeface="Arial" panose="020B0604020202020204" pitchFamily="34" charset="0"/>
              <a:buChar char="•"/>
            </a:pPr>
            <a:r>
              <a:rPr lang="en-US" sz="2200" dirty="0">
                <a:solidFill>
                  <a:schemeClr val="bg1"/>
                </a:solidFill>
                <a:latin typeface="Calibir"/>
              </a:rPr>
              <a:t>spacing </a:t>
            </a:r>
          </a:p>
          <a:p>
            <a:pPr marL="800100" lvl="1" indent="-342900">
              <a:lnSpc>
                <a:spcPct val="150000"/>
              </a:lnSpc>
              <a:buFont typeface="Arial" panose="020B0604020202020204" pitchFamily="34" charset="0"/>
              <a:buChar char="•"/>
            </a:pPr>
            <a:r>
              <a:rPr lang="en-US" sz="2200" dirty="0">
                <a:solidFill>
                  <a:schemeClr val="bg1"/>
                </a:solidFill>
                <a:latin typeface="Calibir"/>
              </a:rPr>
              <a:t>fonts </a:t>
            </a:r>
          </a:p>
          <a:p>
            <a:pPr marL="800100" lvl="1" indent="-342900">
              <a:lnSpc>
                <a:spcPct val="150000"/>
              </a:lnSpc>
              <a:buFont typeface="Arial" panose="020B0604020202020204" pitchFamily="34" charset="0"/>
              <a:buChar char="•"/>
            </a:pPr>
            <a:r>
              <a:rPr lang="en-US" sz="2200" dirty="0">
                <a:solidFill>
                  <a:schemeClr val="bg1"/>
                </a:solidFill>
                <a:latin typeface="Calibir"/>
              </a:rPr>
              <a:t>design</a:t>
            </a:r>
          </a:p>
        </p:txBody>
      </p:sp>
    </p:spTree>
    <p:extLst>
      <p:ext uri="{BB962C8B-B14F-4D97-AF65-F5344CB8AC3E}">
        <p14:creationId xmlns:p14="http://schemas.microsoft.com/office/powerpoint/2010/main" val="286602616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3953D-2B0C-BE1B-F1DE-6102CC78AC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77A1BE0-D4E1-1A1C-0677-CEFBFF9375C8}"/>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BB3643EE-93F1-4A71-D984-81D4DA5FE93E}"/>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A96F5F71-62ED-88F8-65EA-B9713227EBEF}"/>
              </a:ext>
            </a:extLst>
          </p:cNvPr>
          <p:cNvSpPr txBox="1"/>
          <p:nvPr/>
        </p:nvSpPr>
        <p:spPr>
          <a:xfrm>
            <a:off x="4210050" y="5016758"/>
            <a:ext cx="7981950" cy="1563377"/>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6. Body section</a:t>
            </a:r>
          </a:p>
          <a:p>
            <a:pPr>
              <a:lnSpc>
                <a:spcPct val="150000"/>
              </a:lnSpc>
            </a:pPr>
            <a:r>
              <a:rPr lang="en-US" sz="2200" dirty="0">
                <a:solidFill>
                  <a:schemeClr val="bg1"/>
                </a:solidFill>
                <a:latin typeface="Calibir"/>
              </a:rPr>
              <a:t>&lt;body&gt;</a:t>
            </a:r>
          </a:p>
          <a:p>
            <a:pPr>
              <a:lnSpc>
                <a:spcPct val="150000"/>
              </a:lnSpc>
              <a:buNone/>
            </a:pPr>
            <a:r>
              <a:rPr lang="en-US" sz="2200" dirty="0">
                <a:solidFill>
                  <a:schemeClr val="bg1"/>
                </a:solidFill>
                <a:latin typeface="Calibir"/>
              </a:rPr>
              <a:t>Everything inside the body is shown on the webpage.</a:t>
            </a:r>
          </a:p>
        </p:txBody>
      </p:sp>
    </p:spTree>
    <p:extLst>
      <p:ext uri="{BB962C8B-B14F-4D97-AF65-F5344CB8AC3E}">
        <p14:creationId xmlns:p14="http://schemas.microsoft.com/office/powerpoint/2010/main" val="7629578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21FFB-8466-5186-FA2D-4E9971907B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3987F13-3A30-8FB4-55FB-31A859059169}"/>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C225FF86-D799-7B83-3375-C0950CA66B6E}"/>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D25C8184-7CDB-462E-CF65-705EC14B84E1}"/>
              </a:ext>
            </a:extLst>
          </p:cNvPr>
          <p:cNvSpPr txBox="1"/>
          <p:nvPr/>
        </p:nvSpPr>
        <p:spPr>
          <a:xfrm>
            <a:off x="7067550" y="3263298"/>
            <a:ext cx="5124450" cy="3594702"/>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7. Container div</a:t>
            </a:r>
          </a:p>
          <a:p>
            <a:pPr>
              <a:lnSpc>
                <a:spcPct val="150000"/>
              </a:lnSpc>
            </a:pPr>
            <a:r>
              <a:rPr lang="en-US" sz="2200" dirty="0">
                <a:solidFill>
                  <a:schemeClr val="bg1"/>
                </a:solidFill>
                <a:latin typeface="Calibir"/>
              </a:rPr>
              <a:t>&lt;div class="container"&gt;</a:t>
            </a:r>
          </a:p>
          <a:p>
            <a:pPr>
              <a:lnSpc>
                <a:spcPct val="150000"/>
              </a:lnSpc>
              <a:buNone/>
            </a:pPr>
            <a:r>
              <a:rPr lang="en-US" sz="2200" dirty="0">
                <a:solidFill>
                  <a:schemeClr val="bg1"/>
                </a:solidFill>
                <a:latin typeface="Calibir"/>
              </a:rPr>
              <a:t>A &lt;div&gt; is used to group content together.</a:t>
            </a:r>
          </a:p>
          <a:p>
            <a:pPr>
              <a:lnSpc>
                <a:spcPct val="150000"/>
              </a:lnSpc>
              <a:buNone/>
            </a:pPr>
            <a:r>
              <a:rPr lang="en-US" sz="2200" dirty="0">
                <a:solidFill>
                  <a:schemeClr val="bg1"/>
                </a:solidFill>
                <a:latin typeface="Calibir"/>
              </a:rPr>
              <a:t>class="container" is usually used in CSS to:</a:t>
            </a:r>
          </a:p>
          <a:p>
            <a:pPr marL="800100" lvl="1" indent="-342900">
              <a:lnSpc>
                <a:spcPct val="150000"/>
              </a:lnSpc>
              <a:buFont typeface="Arial" panose="020B0604020202020204" pitchFamily="34" charset="0"/>
              <a:buChar char="•"/>
            </a:pPr>
            <a:r>
              <a:rPr lang="en-US" sz="2200" dirty="0">
                <a:solidFill>
                  <a:schemeClr val="bg1"/>
                </a:solidFill>
                <a:latin typeface="Calibir"/>
              </a:rPr>
              <a:t>center content </a:t>
            </a:r>
          </a:p>
          <a:p>
            <a:pPr marL="800100" lvl="1" indent="-342900">
              <a:lnSpc>
                <a:spcPct val="150000"/>
              </a:lnSpc>
              <a:buFont typeface="Arial" panose="020B0604020202020204" pitchFamily="34" charset="0"/>
              <a:buChar char="•"/>
            </a:pPr>
            <a:r>
              <a:rPr lang="en-US" sz="2200" dirty="0">
                <a:solidFill>
                  <a:schemeClr val="bg1"/>
                </a:solidFill>
                <a:latin typeface="Calibir"/>
              </a:rPr>
              <a:t>control page width </a:t>
            </a:r>
          </a:p>
          <a:p>
            <a:pPr marL="800100" lvl="1" indent="-342900">
              <a:lnSpc>
                <a:spcPct val="150000"/>
              </a:lnSpc>
              <a:buFont typeface="Arial" panose="020B0604020202020204" pitchFamily="34" charset="0"/>
              <a:buChar char="•"/>
            </a:pPr>
            <a:r>
              <a:rPr lang="en-US" sz="2200" dirty="0">
                <a:solidFill>
                  <a:schemeClr val="bg1"/>
                </a:solidFill>
                <a:latin typeface="Calibir"/>
              </a:rPr>
              <a:t>add spacing</a:t>
            </a:r>
          </a:p>
        </p:txBody>
      </p:sp>
    </p:spTree>
    <p:extLst>
      <p:ext uri="{BB962C8B-B14F-4D97-AF65-F5344CB8AC3E}">
        <p14:creationId xmlns:p14="http://schemas.microsoft.com/office/powerpoint/2010/main" val="383588086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951C9-EE42-DBB2-4597-0C60F9EFA26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44109D-2130-7301-0319-C07656B5C8C2}"/>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AF85A789-CC4E-7E9F-BE05-6D057ABA331F}"/>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36201C11-06D8-D176-C170-6E543661E150}"/>
              </a:ext>
            </a:extLst>
          </p:cNvPr>
          <p:cNvSpPr txBox="1"/>
          <p:nvPr/>
        </p:nvSpPr>
        <p:spPr>
          <a:xfrm>
            <a:off x="7334250" y="3219407"/>
            <a:ext cx="4857750" cy="3594702"/>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8. Header section</a:t>
            </a:r>
          </a:p>
          <a:p>
            <a:pPr>
              <a:lnSpc>
                <a:spcPct val="150000"/>
              </a:lnSpc>
            </a:pPr>
            <a:r>
              <a:rPr lang="en-US" sz="2200" dirty="0">
                <a:solidFill>
                  <a:schemeClr val="bg1"/>
                </a:solidFill>
                <a:latin typeface="Calibir"/>
              </a:rPr>
              <a:t>&lt;header&gt;</a:t>
            </a:r>
          </a:p>
          <a:p>
            <a:pPr>
              <a:lnSpc>
                <a:spcPct val="150000"/>
              </a:lnSpc>
              <a:buNone/>
            </a:pPr>
            <a:r>
              <a:rPr lang="en-US" sz="2200" dirty="0">
                <a:solidFill>
                  <a:schemeClr val="bg1"/>
                </a:solidFill>
                <a:latin typeface="Calibir"/>
              </a:rPr>
              <a:t>The top section of the webpage.</a:t>
            </a:r>
          </a:p>
          <a:p>
            <a:pPr>
              <a:lnSpc>
                <a:spcPct val="150000"/>
              </a:lnSpc>
              <a:buNone/>
            </a:pPr>
            <a:r>
              <a:rPr lang="en-US" sz="2200" b="1" dirty="0">
                <a:solidFill>
                  <a:schemeClr val="bg1"/>
                </a:solidFill>
                <a:latin typeface="Calibir"/>
              </a:rPr>
              <a:t>Main heading</a:t>
            </a:r>
          </a:p>
          <a:p>
            <a:pPr>
              <a:lnSpc>
                <a:spcPct val="150000"/>
              </a:lnSpc>
            </a:pPr>
            <a:r>
              <a:rPr lang="en-US" sz="2200" dirty="0">
                <a:solidFill>
                  <a:schemeClr val="bg1"/>
                </a:solidFill>
                <a:latin typeface="Calibir"/>
              </a:rPr>
              <a:t>&lt;h1&gt;Spotted Wren Garden Center&lt;/h1&gt;</a:t>
            </a:r>
          </a:p>
          <a:p>
            <a:pPr>
              <a:lnSpc>
                <a:spcPct val="150000"/>
              </a:lnSpc>
              <a:buNone/>
            </a:pPr>
            <a:r>
              <a:rPr lang="en-US" sz="2200" dirty="0">
                <a:solidFill>
                  <a:schemeClr val="bg1"/>
                </a:solidFill>
                <a:latin typeface="Calibir"/>
              </a:rPr>
              <a:t>&lt;h1&gt; is the largest heading on the page.</a:t>
            </a:r>
          </a:p>
          <a:p>
            <a:pPr>
              <a:lnSpc>
                <a:spcPct val="150000"/>
              </a:lnSpc>
              <a:buNone/>
            </a:pPr>
            <a:r>
              <a:rPr lang="en-US" sz="2200" dirty="0">
                <a:solidFill>
                  <a:schemeClr val="bg1"/>
                </a:solidFill>
                <a:latin typeface="Calibir"/>
              </a:rPr>
              <a:t>It shows the business name.</a:t>
            </a:r>
          </a:p>
        </p:txBody>
      </p:sp>
    </p:spTree>
    <p:extLst>
      <p:ext uri="{BB962C8B-B14F-4D97-AF65-F5344CB8AC3E}">
        <p14:creationId xmlns:p14="http://schemas.microsoft.com/office/powerpoint/2010/main" val="163891632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B87AD-AAD6-7ADF-A600-F51343DC177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752D76-5359-9FB8-8C32-C76035535B04}"/>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227FAE16-94B4-FB49-C7D0-0E5BF18A8380}"/>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BBBEBF"/>
                </a:solidFill>
                <a:effectLst/>
                <a:latin typeface="Consolas" panose="020B0609020204030204" pitchFamily="49" charset="0"/>
              </a:rPr>
              <a:t> - Hours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"https://fonts.googleapis.com/css2?family=Lato:wght@400;700&amp;display=swap"</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"Styling for a Green-Themed Webpage.css"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div</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class</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"container"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Spotted Wren Garden </a:t>
            </a:r>
            <a:r>
              <a:rPr lang="en-AU" sz="2000" b="0" dirty="0" err="1">
                <a:solidFill>
                  <a:srgbClr val="BBBEBF"/>
                </a:solidFill>
                <a:effectLst/>
                <a:latin typeface="Consolas" panose="020B0609020204030204" pitchFamily="49" charset="0"/>
              </a:rPr>
              <a:t>Center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color</a:t>
            </a:r>
            <a:r>
              <a:rPr lang="en-AU" sz="2000" b="0" dirty="0">
                <a:solidFill>
                  <a:srgbClr val="A5D6FF"/>
                </a:solidFill>
                <a:effectLst/>
                <a:latin typeface="Consolas" panose="020B0609020204030204" pitchFamily="49" charset="0"/>
              </a:rPr>
              <a:t>: #f15a24;"</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For your year-round garden and yard needs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5301C216-F129-EF1A-CDC6-EBF1A566BB3A}"/>
              </a:ext>
            </a:extLst>
          </p:cNvPr>
          <p:cNvSpPr txBox="1"/>
          <p:nvPr/>
        </p:nvSpPr>
        <p:spPr>
          <a:xfrm>
            <a:off x="6781800" y="3219407"/>
            <a:ext cx="5410200" cy="3594702"/>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Small description</a:t>
            </a:r>
          </a:p>
          <a:p>
            <a:pPr>
              <a:lnSpc>
                <a:spcPct val="150000"/>
              </a:lnSpc>
            </a:pPr>
            <a:r>
              <a:rPr lang="en-US" sz="2200" dirty="0">
                <a:solidFill>
                  <a:schemeClr val="bg1"/>
                </a:solidFill>
                <a:latin typeface="Calibir"/>
              </a:rPr>
              <a:t>&lt;p style="color: #f15a24;"&gt;</a:t>
            </a:r>
          </a:p>
          <a:p>
            <a:pPr>
              <a:lnSpc>
                <a:spcPct val="150000"/>
              </a:lnSpc>
              <a:buNone/>
            </a:pPr>
            <a:r>
              <a:rPr lang="en-US" sz="2200" dirty="0">
                <a:solidFill>
                  <a:schemeClr val="bg1"/>
                </a:solidFill>
                <a:latin typeface="Calibir"/>
              </a:rPr>
              <a:t>This is a paragraph with inline styling.</a:t>
            </a:r>
          </a:p>
          <a:p>
            <a:pPr>
              <a:lnSpc>
                <a:spcPct val="150000"/>
              </a:lnSpc>
              <a:buNone/>
            </a:pPr>
            <a:r>
              <a:rPr lang="en-US" sz="2200" dirty="0">
                <a:solidFill>
                  <a:schemeClr val="bg1"/>
                </a:solidFill>
                <a:latin typeface="Calibir"/>
              </a:rPr>
              <a:t>The text </a:t>
            </a:r>
            <a:r>
              <a:rPr lang="en-US" sz="2200" dirty="0" err="1">
                <a:solidFill>
                  <a:schemeClr val="bg1"/>
                </a:solidFill>
                <a:latin typeface="Calibir"/>
              </a:rPr>
              <a:t>colour</a:t>
            </a:r>
            <a:r>
              <a:rPr lang="en-US" sz="2200" dirty="0">
                <a:solidFill>
                  <a:schemeClr val="bg1"/>
                </a:solidFill>
                <a:latin typeface="Calibir"/>
              </a:rPr>
              <a:t> is set using a hex </a:t>
            </a:r>
            <a:r>
              <a:rPr lang="en-US" sz="2200" dirty="0" err="1">
                <a:solidFill>
                  <a:schemeClr val="bg1"/>
                </a:solidFill>
                <a:latin typeface="Calibir"/>
              </a:rPr>
              <a:t>colour</a:t>
            </a:r>
            <a:r>
              <a:rPr lang="en-US" sz="2200" dirty="0">
                <a:solidFill>
                  <a:schemeClr val="bg1"/>
                </a:solidFill>
                <a:latin typeface="Calibir"/>
              </a:rPr>
              <a:t> code:</a:t>
            </a:r>
          </a:p>
          <a:p>
            <a:pPr>
              <a:lnSpc>
                <a:spcPct val="150000"/>
              </a:lnSpc>
              <a:buFont typeface="Arial" panose="020B0604020202020204" pitchFamily="34" charset="0"/>
              <a:buChar char="•"/>
            </a:pPr>
            <a:r>
              <a:rPr lang="en-US" sz="2200" dirty="0">
                <a:solidFill>
                  <a:schemeClr val="bg1"/>
                </a:solidFill>
                <a:latin typeface="Calibir"/>
              </a:rPr>
              <a:t>#f15a24 = orange </a:t>
            </a:r>
            <a:r>
              <a:rPr lang="en-US" sz="2200" dirty="0" err="1">
                <a:solidFill>
                  <a:schemeClr val="bg1"/>
                </a:solidFill>
                <a:latin typeface="Calibir"/>
              </a:rPr>
              <a:t>colour</a:t>
            </a:r>
            <a:r>
              <a:rPr lang="en-US" sz="2200" dirty="0">
                <a:solidFill>
                  <a:schemeClr val="bg1"/>
                </a:solidFill>
                <a:latin typeface="Calibir"/>
              </a:rPr>
              <a:t> </a:t>
            </a:r>
          </a:p>
          <a:p>
            <a:pPr>
              <a:lnSpc>
                <a:spcPct val="150000"/>
              </a:lnSpc>
              <a:buNone/>
            </a:pPr>
            <a:r>
              <a:rPr lang="en-US" sz="2200" dirty="0">
                <a:solidFill>
                  <a:schemeClr val="bg1"/>
                </a:solidFill>
                <a:latin typeface="Calibir"/>
              </a:rPr>
              <a:t>The text says:</a:t>
            </a:r>
          </a:p>
          <a:p>
            <a:pPr>
              <a:lnSpc>
                <a:spcPct val="150000"/>
              </a:lnSpc>
              <a:buNone/>
            </a:pPr>
            <a:r>
              <a:rPr lang="en-US" sz="2200" dirty="0">
                <a:solidFill>
                  <a:schemeClr val="bg1"/>
                </a:solidFill>
                <a:latin typeface="Calibir"/>
              </a:rPr>
              <a:t>“For your year-round garden and yard needs”</a:t>
            </a:r>
          </a:p>
        </p:txBody>
      </p:sp>
    </p:spTree>
    <p:extLst>
      <p:ext uri="{BB962C8B-B14F-4D97-AF65-F5344CB8AC3E}">
        <p14:creationId xmlns:p14="http://schemas.microsoft.com/office/powerpoint/2010/main" val="374690336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CDE05-03A1-31A2-31A4-9F5F5212609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7A1F36-DF7D-CC83-6937-53218F1E05C6}"/>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38D2DD0B-3C98-3A76-641B-E7E1D2BE6F05}"/>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article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Summer Hours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Mon:</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Tue: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Wed:</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5pm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Thu:</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Fri:</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Sat: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9am — 6pm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Sun:</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11am — 6pm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article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548 N. 58th St. • Omaha, NE 68132 • (402) 555-9736</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div</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4" name="TextBox 3">
            <a:extLst>
              <a:ext uri="{FF2B5EF4-FFF2-40B4-BE49-F238E27FC236}">
                <a16:creationId xmlns:a16="http://schemas.microsoft.com/office/drawing/2014/main" id="{CED702AC-AE26-5778-97C7-98E6186F2100}"/>
              </a:ext>
            </a:extLst>
          </p:cNvPr>
          <p:cNvSpPr txBox="1"/>
          <p:nvPr/>
        </p:nvSpPr>
        <p:spPr>
          <a:xfrm>
            <a:off x="6655594" y="4278961"/>
            <a:ext cx="5536406" cy="2579039"/>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9. Article section</a:t>
            </a:r>
          </a:p>
          <a:p>
            <a:pPr rtl="0">
              <a:lnSpc>
                <a:spcPct val="150000"/>
              </a:lnSpc>
              <a:buNone/>
            </a:pPr>
            <a:r>
              <a:rPr lang="en-US" sz="2200" dirty="0">
                <a:solidFill>
                  <a:schemeClr val="bg1"/>
                </a:solidFill>
                <a:latin typeface="Calibir"/>
              </a:rPr>
              <a:t>&lt;article&gt;</a:t>
            </a:r>
          </a:p>
          <a:p>
            <a:pPr>
              <a:lnSpc>
                <a:spcPct val="150000"/>
              </a:lnSpc>
              <a:buNone/>
            </a:pPr>
            <a:r>
              <a:rPr lang="en-US" sz="2200" dirty="0">
                <a:solidFill>
                  <a:schemeClr val="bg1"/>
                </a:solidFill>
                <a:latin typeface="Calibir"/>
              </a:rPr>
              <a:t>The &lt;article&gt; contains the main information.</a:t>
            </a:r>
          </a:p>
          <a:p>
            <a:pPr>
              <a:lnSpc>
                <a:spcPct val="150000"/>
              </a:lnSpc>
              <a:buNone/>
            </a:pPr>
            <a:r>
              <a:rPr lang="en-US" sz="2200" dirty="0">
                <a:solidFill>
                  <a:schemeClr val="bg1"/>
                </a:solidFill>
                <a:latin typeface="Calibir"/>
              </a:rPr>
              <a:t>In this case:</a:t>
            </a:r>
          </a:p>
          <a:p>
            <a:pPr marL="342900" indent="-342900">
              <a:lnSpc>
                <a:spcPct val="150000"/>
              </a:lnSpc>
              <a:buFont typeface="Arial" panose="020B0604020202020204" pitchFamily="34" charset="0"/>
              <a:buChar char="•"/>
            </a:pPr>
            <a:r>
              <a:rPr lang="en-US" sz="2200" dirty="0">
                <a:solidFill>
                  <a:schemeClr val="bg1"/>
                </a:solidFill>
                <a:latin typeface="Calibir"/>
              </a:rPr>
              <a:t>business opening hours </a:t>
            </a:r>
          </a:p>
        </p:txBody>
      </p:sp>
    </p:spTree>
    <p:extLst>
      <p:ext uri="{BB962C8B-B14F-4D97-AF65-F5344CB8AC3E}">
        <p14:creationId xmlns:p14="http://schemas.microsoft.com/office/powerpoint/2010/main" val="250439612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9B9D0-309E-475F-1881-C18A0DDF595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52E3A6F-81D6-87E7-A4AB-3FE978B9397F}"/>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3C8076D6-9D53-FE62-403E-4E1DE6A56AF7}"/>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article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Summer Hours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Mon:</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Tue: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Wed:</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5pm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Thu:</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Fri:</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Sat: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9am — 6pm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Sun:</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11am — 6pm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article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548 N. 58th St. • Omaha, NE 68132 • (402) 555-9736</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div</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4" name="TextBox 3">
            <a:extLst>
              <a:ext uri="{FF2B5EF4-FFF2-40B4-BE49-F238E27FC236}">
                <a16:creationId xmlns:a16="http://schemas.microsoft.com/office/drawing/2014/main" id="{9B09AD6E-C136-4C77-59A8-839CB3BD794C}"/>
              </a:ext>
            </a:extLst>
          </p:cNvPr>
          <p:cNvSpPr txBox="1"/>
          <p:nvPr/>
        </p:nvSpPr>
        <p:spPr>
          <a:xfrm>
            <a:off x="6655594" y="5107636"/>
            <a:ext cx="5536406" cy="1563377"/>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Section heading</a:t>
            </a:r>
          </a:p>
          <a:p>
            <a:pPr>
              <a:lnSpc>
                <a:spcPct val="150000"/>
              </a:lnSpc>
            </a:pPr>
            <a:r>
              <a:rPr lang="en-US" sz="2200" dirty="0">
                <a:solidFill>
                  <a:schemeClr val="bg1"/>
                </a:solidFill>
                <a:latin typeface="Calibir"/>
              </a:rPr>
              <a:t>&lt;h2&gt;Summer Hours&lt;/h2&gt;</a:t>
            </a:r>
          </a:p>
          <a:p>
            <a:pPr>
              <a:lnSpc>
                <a:spcPct val="150000"/>
              </a:lnSpc>
              <a:buNone/>
            </a:pPr>
            <a:r>
              <a:rPr lang="en-US" sz="2200" dirty="0">
                <a:solidFill>
                  <a:schemeClr val="bg1"/>
                </a:solidFill>
                <a:latin typeface="Calibir"/>
              </a:rPr>
              <a:t>A smaller heading for the timetable section.</a:t>
            </a:r>
          </a:p>
        </p:txBody>
      </p:sp>
    </p:spTree>
    <p:extLst>
      <p:ext uri="{BB962C8B-B14F-4D97-AF65-F5344CB8AC3E}">
        <p14:creationId xmlns:p14="http://schemas.microsoft.com/office/powerpoint/2010/main" val="404899428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C4DE6-3FE2-C48B-5CB0-2974D21632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8EA6D52-9D5C-9E8F-0DE3-139E890EC54C}"/>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26BE4B68-6BF4-F510-E69A-EB69FF0A6F11}"/>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article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Summer Hours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Mon:</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Tue: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Wed:</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5pm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Thu:</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Fri:</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Sat: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9am — 6pm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Sun:</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11am — 6pm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article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548 N. 58th St. • Omaha, NE 68132 • (402) 555-9736</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div</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4" name="TextBox 3">
            <a:extLst>
              <a:ext uri="{FF2B5EF4-FFF2-40B4-BE49-F238E27FC236}">
                <a16:creationId xmlns:a16="http://schemas.microsoft.com/office/drawing/2014/main" id="{07FAEE3F-0161-BE93-85FF-F4F8CE9D6206}"/>
              </a:ext>
            </a:extLst>
          </p:cNvPr>
          <p:cNvSpPr txBox="1"/>
          <p:nvPr/>
        </p:nvSpPr>
        <p:spPr>
          <a:xfrm>
            <a:off x="6410325" y="2301868"/>
            <a:ext cx="5781675" cy="4610365"/>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10. Opening hours</a:t>
            </a:r>
          </a:p>
          <a:p>
            <a:pPr>
              <a:lnSpc>
                <a:spcPct val="150000"/>
              </a:lnSpc>
              <a:buNone/>
            </a:pPr>
            <a:r>
              <a:rPr lang="en-US" sz="2200" dirty="0">
                <a:solidFill>
                  <a:schemeClr val="bg1"/>
                </a:solidFill>
                <a:latin typeface="Calibir"/>
              </a:rPr>
              <a:t>Example:</a:t>
            </a:r>
          </a:p>
          <a:p>
            <a:pPr>
              <a:lnSpc>
                <a:spcPct val="150000"/>
              </a:lnSpc>
            </a:pPr>
            <a:r>
              <a:rPr lang="en-US" sz="2200" dirty="0">
                <a:solidFill>
                  <a:schemeClr val="bg1"/>
                </a:solidFill>
                <a:latin typeface="Calibir"/>
              </a:rPr>
              <a:t>&lt;p&gt;&lt;span&gt;Mon:&lt;/span&gt; 8am — 8pm&lt;/p&gt;</a:t>
            </a:r>
          </a:p>
          <a:p>
            <a:pPr>
              <a:lnSpc>
                <a:spcPct val="150000"/>
              </a:lnSpc>
              <a:buNone/>
            </a:pPr>
            <a:r>
              <a:rPr lang="en-US" sz="2200" dirty="0">
                <a:solidFill>
                  <a:schemeClr val="bg1"/>
                </a:solidFill>
                <a:latin typeface="Calibir"/>
              </a:rPr>
              <a:t>This creates a paragraph showing:</a:t>
            </a:r>
          </a:p>
          <a:p>
            <a:pPr marL="800100" lvl="1" indent="-342900">
              <a:lnSpc>
                <a:spcPct val="150000"/>
              </a:lnSpc>
              <a:buFont typeface="Arial" panose="020B0604020202020204" pitchFamily="34" charset="0"/>
              <a:buChar char="•"/>
            </a:pPr>
            <a:r>
              <a:rPr lang="en-US" sz="2200" dirty="0">
                <a:solidFill>
                  <a:schemeClr val="bg1"/>
                </a:solidFill>
                <a:latin typeface="Calibir"/>
              </a:rPr>
              <a:t>the day </a:t>
            </a:r>
          </a:p>
          <a:p>
            <a:pPr marL="800100" lvl="1" indent="-342900">
              <a:lnSpc>
                <a:spcPct val="150000"/>
              </a:lnSpc>
              <a:buFont typeface="Arial" panose="020B0604020202020204" pitchFamily="34" charset="0"/>
              <a:buChar char="•"/>
            </a:pPr>
            <a:r>
              <a:rPr lang="en-US" sz="2200" dirty="0">
                <a:solidFill>
                  <a:schemeClr val="bg1"/>
                </a:solidFill>
                <a:latin typeface="Calibir"/>
              </a:rPr>
              <a:t>the opening and closing times </a:t>
            </a:r>
          </a:p>
          <a:p>
            <a:pPr>
              <a:lnSpc>
                <a:spcPct val="150000"/>
              </a:lnSpc>
              <a:buNone/>
            </a:pPr>
            <a:r>
              <a:rPr lang="en-US" sz="2200" dirty="0">
                <a:solidFill>
                  <a:schemeClr val="bg1"/>
                </a:solidFill>
                <a:latin typeface="Calibir"/>
              </a:rPr>
              <a:t>&lt;span&gt; is used to style part of the text separately with CSS.</a:t>
            </a:r>
          </a:p>
          <a:p>
            <a:pPr>
              <a:lnSpc>
                <a:spcPct val="150000"/>
              </a:lnSpc>
              <a:buNone/>
            </a:pPr>
            <a:r>
              <a:rPr lang="en-US" sz="2200" dirty="0">
                <a:solidFill>
                  <a:schemeClr val="bg1"/>
                </a:solidFill>
                <a:latin typeface="Calibir"/>
              </a:rPr>
              <a:t>The code repeats this for every day of the week.</a:t>
            </a:r>
          </a:p>
        </p:txBody>
      </p:sp>
    </p:spTree>
    <p:extLst>
      <p:ext uri="{BB962C8B-B14F-4D97-AF65-F5344CB8AC3E}">
        <p14:creationId xmlns:p14="http://schemas.microsoft.com/office/powerpoint/2010/main" val="101835013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483EF-3825-1EA6-C29A-B4E4C248845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F63C8F-AD18-055E-60BE-A1260571F581}"/>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01CB77E0-AFB8-FBE4-5BBA-D9412B4A55FC}"/>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article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Summer Hours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Mon:</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Tue: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Wed:</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5pm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Thu:</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Fri:</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Sat: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9am — 6pm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Sun:</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11am — 6pm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article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548 N. 58th St. • Omaha, NE 68132 • (402) 555-9736</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div</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4" name="TextBox 3">
            <a:extLst>
              <a:ext uri="{FF2B5EF4-FFF2-40B4-BE49-F238E27FC236}">
                <a16:creationId xmlns:a16="http://schemas.microsoft.com/office/drawing/2014/main" id="{12CC9BFD-A420-2498-8FFD-CFC9CD3AA6C3}"/>
              </a:ext>
            </a:extLst>
          </p:cNvPr>
          <p:cNvSpPr txBox="1"/>
          <p:nvPr/>
        </p:nvSpPr>
        <p:spPr>
          <a:xfrm>
            <a:off x="6410325" y="1739804"/>
            <a:ext cx="5781675" cy="5118196"/>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11. Footer section</a:t>
            </a:r>
          </a:p>
          <a:p>
            <a:pPr>
              <a:lnSpc>
                <a:spcPct val="150000"/>
              </a:lnSpc>
            </a:pPr>
            <a:r>
              <a:rPr lang="en-US" sz="2200" dirty="0">
                <a:solidFill>
                  <a:schemeClr val="bg1"/>
                </a:solidFill>
                <a:latin typeface="Calibir"/>
              </a:rPr>
              <a:t>&lt;footer&gt;</a:t>
            </a:r>
          </a:p>
          <a:p>
            <a:pPr>
              <a:lnSpc>
                <a:spcPct val="150000"/>
              </a:lnSpc>
              <a:buNone/>
            </a:pPr>
            <a:r>
              <a:rPr lang="en-US" sz="2200" dirty="0">
                <a:solidFill>
                  <a:schemeClr val="bg1"/>
                </a:solidFill>
                <a:latin typeface="Calibir"/>
              </a:rPr>
              <a:t>The footer is the bottom part of the webpage.</a:t>
            </a:r>
          </a:p>
          <a:p>
            <a:pPr>
              <a:lnSpc>
                <a:spcPct val="150000"/>
              </a:lnSpc>
              <a:buNone/>
            </a:pPr>
            <a:r>
              <a:rPr lang="en-US" sz="2200" b="1" dirty="0">
                <a:solidFill>
                  <a:schemeClr val="bg1"/>
                </a:solidFill>
                <a:latin typeface="Calibir"/>
              </a:rPr>
              <a:t>Contact details</a:t>
            </a:r>
          </a:p>
          <a:p>
            <a:pPr>
              <a:lnSpc>
                <a:spcPct val="150000"/>
              </a:lnSpc>
            </a:pPr>
            <a:r>
              <a:rPr lang="en-US" sz="2200" dirty="0">
                <a:solidFill>
                  <a:schemeClr val="bg1"/>
                </a:solidFill>
                <a:latin typeface="Calibir"/>
              </a:rPr>
              <a:t>&lt;p&gt;548 N. 58th St. • Omaha, NE 68132 • (402) 555-9736&lt;/p&gt;</a:t>
            </a:r>
          </a:p>
          <a:p>
            <a:pPr>
              <a:lnSpc>
                <a:spcPct val="150000"/>
              </a:lnSpc>
              <a:buNone/>
            </a:pPr>
            <a:r>
              <a:rPr lang="en-US" sz="2200" dirty="0">
                <a:solidFill>
                  <a:schemeClr val="bg1"/>
                </a:solidFill>
                <a:latin typeface="Calibir"/>
              </a:rPr>
              <a:t>Displays:</a:t>
            </a:r>
          </a:p>
          <a:p>
            <a:pPr marL="800100" lvl="1" indent="-342900">
              <a:lnSpc>
                <a:spcPct val="150000"/>
              </a:lnSpc>
              <a:buFont typeface="Arial" panose="020B0604020202020204" pitchFamily="34" charset="0"/>
              <a:buChar char="•"/>
            </a:pPr>
            <a:r>
              <a:rPr lang="en-US" sz="2200" dirty="0">
                <a:solidFill>
                  <a:schemeClr val="bg1"/>
                </a:solidFill>
                <a:latin typeface="Calibir"/>
              </a:rPr>
              <a:t>address </a:t>
            </a:r>
          </a:p>
          <a:p>
            <a:pPr marL="800100" lvl="1" indent="-342900">
              <a:lnSpc>
                <a:spcPct val="150000"/>
              </a:lnSpc>
              <a:buFont typeface="Arial" panose="020B0604020202020204" pitchFamily="34" charset="0"/>
              <a:buChar char="•"/>
            </a:pPr>
            <a:r>
              <a:rPr lang="en-US" sz="2200" dirty="0">
                <a:solidFill>
                  <a:schemeClr val="bg1"/>
                </a:solidFill>
                <a:latin typeface="Calibir"/>
              </a:rPr>
              <a:t>city and postcode </a:t>
            </a:r>
          </a:p>
          <a:p>
            <a:pPr marL="800100" lvl="1" indent="-342900">
              <a:lnSpc>
                <a:spcPct val="150000"/>
              </a:lnSpc>
              <a:buFont typeface="Arial" panose="020B0604020202020204" pitchFamily="34" charset="0"/>
              <a:buChar char="•"/>
            </a:pPr>
            <a:r>
              <a:rPr lang="en-US" sz="2200" dirty="0">
                <a:solidFill>
                  <a:schemeClr val="bg1"/>
                </a:solidFill>
                <a:latin typeface="Calibir"/>
              </a:rPr>
              <a:t>phone number</a:t>
            </a:r>
          </a:p>
        </p:txBody>
      </p:sp>
    </p:spTree>
    <p:extLst>
      <p:ext uri="{BB962C8B-B14F-4D97-AF65-F5344CB8AC3E}">
        <p14:creationId xmlns:p14="http://schemas.microsoft.com/office/powerpoint/2010/main" val="415703925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65C4B-1560-CEAE-BEA5-F797BEB653C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16E5950-46B6-B41D-80E2-C4E8D421EB46}"/>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CE72B6F3-D2D0-D764-870F-5CB22CFBD0DA}"/>
              </a:ext>
            </a:extLst>
          </p:cNvPr>
          <p:cNvSpPr txBox="1"/>
          <p:nvPr/>
        </p:nvSpPr>
        <p:spPr>
          <a:xfrm>
            <a:off x="0" y="0"/>
            <a:ext cx="12192000" cy="5016758"/>
          </a:xfrm>
          <a:prstGeom prst="rect">
            <a:avLst/>
          </a:prstGeom>
          <a:solidFill>
            <a:schemeClr val="tx1"/>
          </a:solidFill>
        </p:spPr>
        <p:txBody>
          <a:bodyPr wrap="square">
            <a:spAutoFit/>
          </a:bodyPr>
          <a:lstStyle/>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article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Summer Hours</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h2</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Mon:</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Tue:</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Wed:</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5pm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Thu:</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Fri:</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8am — 8pm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Sat:</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9am — 6pm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Sun:</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span</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 11am — 6pm</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article</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r>
              <a:rPr lang="en-AU" sz="2000" dirty="0">
                <a:solidFill>
                  <a:srgbClr val="BBBEBF"/>
                </a:solidFill>
                <a:latin typeface="Consolas" panose="020B0609020204030204" pitchFamily="49" charset="0"/>
              </a:rPr>
              <a:t>548 N. 58th St. • Omaha, NE 68132 • (402) 555-9736</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p</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footer</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BBBEBF"/>
                </a:solidFill>
                <a:latin typeface="Consolas" panose="020B0609020204030204" pitchFamily="49" charset="0"/>
              </a:rPr>
              <a:t>    </a:t>
            </a: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div</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body</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a:p>
            <a:pPr>
              <a:buNone/>
            </a:pPr>
            <a:r>
              <a:rPr lang="en-AU" sz="2000" dirty="0">
                <a:solidFill>
                  <a:srgbClr val="808080"/>
                </a:solidFill>
                <a:latin typeface="Consolas" panose="020B0609020204030204" pitchFamily="49" charset="0"/>
              </a:rPr>
              <a:t>&lt;/</a:t>
            </a:r>
            <a:r>
              <a:rPr lang="en-AU" sz="2000" dirty="0">
                <a:solidFill>
                  <a:srgbClr val="7EE787"/>
                </a:solidFill>
                <a:latin typeface="Consolas" panose="020B0609020204030204" pitchFamily="49" charset="0"/>
              </a:rPr>
              <a:t>html</a:t>
            </a:r>
            <a:r>
              <a:rPr lang="en-AU" sz="2000" dirty="0">
                <a:solidFill>
                  <a:srgbClr val="808080"/>
                </a:solidFill>
                <a:latin typeface="Consolas" panose="020B0609020204030204" pitchFamily="49" charset="0"/>
              </a:rPr>
              <a:t>&gt;</a:t>
            </a:r>
            <a:endParaRPr lang="en-AU" sz="2000" dirty="0">
              <a:solidFill>
                <a:srgbClr val="BBBEBF"/>
              </a:solidFill>
              <a:latin typeface="Consolas" panose="020B0609020204030204" pitchFamily="49" charset="0"/>
            </a:endParaRPr>
          </a:p>
        </p:txBody>
      </p:sp>
      <p:sp>
        <p:nvSpPr>
          <p:cNvPr id="4" name="TextBox 3">
            <a:extLst>
              <a:ext uri="{FF2B5EF4-FFF2-40B4-BE49-F238E27FC236}">
                <a16:creationId xmlns:a16="http://schemas.microsoft.com/office/drawing/2014/main" id="{C797C352-FD77-FDDF-5716-B152DD305805}"/>
              </a:ext>
            </a:extLst>
          </p:cNvPr>
          <p:cNvSpPr txBox="1"/>
          <p:nvPr/>
        </p:nvSpPr>
        <p:spPr>
          <a:xfrm>
            <a:off x="6410325" y="4278961"/>
            <a:ext cx="5781675" cy="2579039"/>
          </a:xfrm>
          <a:prstGeom prst="rect">
            <a:avLst/>
          </a:prstGeom>
          <a:solidFill>
            <a:schemeClr val="tx1"/>
          </a:solidFill>
          <a:ln>
            <a:solidFill>
              <a:srgbClr val="FF0000"/>
            </a:solidFill>
          </a:ln>
        </p:spPr>
        <p:txBody>
          <a:bodyPr wrap="square">
            <a:spAutoFit/>
          </a:bodyPr>
          <a:lstStyle/>
          <a:p>
            <a:pPr>
              <a:lnSpc>
                <a:spcPct val="150000"/>
              </a:lnSpc>
              <a:buNone/>
            </a:pPr>
            <a:r>
              <a:rPr lang="en-US" sz="2200" b="1" dirty="0">
                <a:solidFill>
                  <a:schemeClr val="bg1"/>
                </a:solidFill>
                <a:latin typeface="Calibir"/>
              </a:rPr>
              <a:t>12. Closing tags</a:t>
            </a:r>
          </a:p>
          <a:p>
            <a:pPr>
              <a:lnSpc>
                <a:spcPct val="150000"/>
              </a:lnSpc>
            </a:pPr>
            <a:r>
              <a:rPr lang="en-US" sz="2200" dirty="0">
                <a:solidFill>
                  <a:schemeClr val="bg1"/>
                </a:solidFill>
                <a:latin typeface="Calibir"/>
              </a:rPr>
              <a:t>&lt;/div&gt;</a:t>
            </a:r>
            <a:br>
              <a:rPr lang="en-US" sz="2200" dirty="0">
                <a:solidFill>
                  <a:schemeClr val="bg1"/>
                </a:solidFill>
                <a:latin typeface="Calibir"/>
              </a:rPr>
            </a:br>
            <a:r>
              <a:rPr lang="en-US" sz="2200" dirty="0">
                <a:solidFill>
                  <a:schemeClr val="bg1"/>
                </a:solidFill>
                <a:latin typeface="Calibir"/>
              </a:rPr>
              <a:t>&lt;/body&gt;</a:t>
            </a:r>
            <a:br>
              <a:rPr lang="en-US" sz="2200" dirty="0">
                <a:solidFill>
                  <a:schemeClr val="bg1"/>
                </a:solidFill>
                <a:latin typeface="Calibir"/>
              </a:rPr>
            </a:br>
            <a:r>
              <a:rPr lang="en-US" sz="2200" dirty="0">
                <a:solidFill>
                  <a:schemeClr val="bg1"/>
                </a:solidFill>
                <a:latin typeface="Calibir"/>
              </a:rPr>
              <a:t>&lt;/html&gt;</a:t>
            </a:r>
          </a:p>
          <a:p>
            <a:pPr>
              <a:lnSpc>
                <a:spcPct val="150000"/>
              </a:lnSpc>
              <a:buNone/>
            </a:pPr>
            <a:r>
              <a:rPr lang="en-US" sz="2200" dirty="0">
                <a:solidFill>
                  <a:schemeClr val="bg1"/>
                </a:solidFill>
                <a:latin typeface="Calibir"/>
              </a:rPr>
              <a:t>These close the webpage structure properly.</a:t>
            </a:r>
          </a:p>
        </p:txBody>
      </p:sp>
    </p:spTree>
    <p:extLst>
      <p:ext uri="{BB962C8B-B14F-4D97-AF65-F5344CB8AC3E}">
        <p14:creationId xmlns:p14="http://schemas.microsoft.com/office/powerpoint/2010/main" val="189765558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37A78E0-424F-7F1D-A683-099271C3778D}"/>
              </a:ext>
            </a:extLst>
          </p:cNvPr>
          <p:cNvPicPr>
            <a:picLocks noChangeAspect="1"/>
          </p:cNvPicPr>
          <p:nvPr/>
        </p:nvPicPr>
        <p:blipFill rotWithShape="1">
          <a:blip r:embed="rId2"/>
          <a:srcRect r="9448" b="7739"/>
          <a:stretch/>
        </p:blipFill>
        <p:spPr>
          <a:xfrm>
            <a:off x="-1" y="1024262"/>
            <a:ext cx="8391832" cy="4809475"/>
          </a:xfrm>
          <a:prstGeom prst="rect">
            <a:avLst/>
          </a:prstGeom>
        </p:spPr>
      </p:pic>
      <p:sp>
        <p:nvSpPr>
          <p:cNvPr id="4" name="TextBox 3">
            <a:extLst>
              <a:ext uri="{FF2B5EF4-FFF2-40B4-BE49-F238E27FC236}">
                <a16:creationId xmlns:a16="http://schemas.microsoft.com/office/drawing/2014/main" id="{814FD26A-01FC-A8C2-21C6-BC5F226A0F8B}"/>
              </a:ext>
            </a:extLst>
          </p:cNvPr>
          <p:cNvSpPr txBox="1"/>
          <p:nvPr/>
        </p:nvSpPr>
        <p:spPr>
          <a:xfrm>
            <a:off x="1" y="0"/>
            <a:ext cx="4960882"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14" name="TextBox 13">
            <a:extLst>
              <a:ext uri="{FF2B5EF4-FFF2-40B4-BE49-F238E27FC236}">
                <a16:creationId xmlns:a16="http://schemas.microsoft.com/office/drawing/2014/main" id="{08960FF1-BD54-CE16-F52C-330EC3B99638}"/>
              </a:ext>
            </a:extLst>
          </p:cNvPr>
          <p:cNvSpPr txBox="1"/>
          <p:nvPr/>
        </p:nvSpPr>
        <p:spPr>
          <a:xfrm>
            <a:off x="8391831" y="184586"/>
            <a:ext cx="3800168" cy="6488828"/>
          </a:xfrm>
          <a:prstGeom prst="rect">
            <a:avLst/>
          </a:prstGeom>
          <a:solidFill>
            <a:schemeClr val="bg1"/>
          </a:solidFill>
          <a:ln>
            <a:solidFill>
              <a:srgbClr val="FF0000"/>
            </a:solidFill>
          </a:ln>
        </p:spPr>
        <p:txBody>
          <a:bodyPr wrap="square">
            <a:spAutoFit/>
          </a:bodyPr>
          <a:lstStyle/>
          <a:p>
            <a:pPr>
              <a:lnSpc>
                <a:spcPct val="150000"/>
              </a:lnSpc>
            </a:pPr>
            <a:r>
              <a:rPr lang="en-US" sz="2800" b="0" i="0" dirty="0">
                <a:solidFill>
                  <a:srgbClr val="0D0D0D"/>
                </a:solidFill>
                <a:effectLst/>
                <a:highlight>
                  <a:srgbClr val="FFFFFF"/>
                </a:highlight>
                <a:latin typeface="Calibri" panose="020F0502020204030204" pitchFamily="34" charset="0"/>
                <a:cs typeface="Calibri" panose="020F0502020204030204" pitchFamily="34" charset="0"/>
              </a:rPr>
              <a:t>The page is dedicated to displaying the operating hours of the "Spotted Wren Garden Center." This is both concise and informative, making it easy for users and search engines to understand the content of the page quickly. </a:t>
            </a:r>
            <a:endParaRPr lang="en-A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293340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CE753B-4BAA-28AA-8761-AFF926F44049}"/>
              </a:ext>
            </a:extLst>
          </p:cNvPr>
          <p:cNvSpPr txBox="1"/>
          <p:nvPr/>
        </p:nvSpPr>
        <p:spPr>
          <a:xfrm>
            <a:off x="0" y="0"/>
            <a:ext cx="10773103"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5" name="TextBox 4">
            <a:extLst>
              <a:ext uri="{FF2B5EF4-FFF2-40B4-BE49-F238E27FC236}">
                <a16:creationId xmlns:a16="http://schemas.microsoft.com/office/drawing/2014/main" id="{0466C809-5781-6989-B537-F4323A5AFFCC}"/>
              </a:ext>
            </a:extLst>
          </p:cNvPr>
          <p:cNvSpPr txBox="1"/>
          <p:nvPr/>
        </p:nvSpPr>
        <p:spPr>
          <a:xfrm>
            <a:off x="84083" y="892552"/>
            <a:ext cx="12023834" cy="2610843"/>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Challenge 1: Styling Murfreesboro Regional Soccer League Website</a:t>
            </a:r>
          </a:p>
          <a:p>
            <a:pPr>
              <a:lnSpc>
                <a:spcPct val="150000"/>
              </a:lnSpc>
            </a:pPr>
            <a:r>
              <a:rPr lang="en-US" sz="2800" b="1" dirty="0">
                <a:latin typeface="Calibri" panose="020F0502020204030204" pitchFamily="34" charset="0"/>
                <a:cs typeface="Calibri" panose="020F0502020204030204" pitchFamily="34" charset="0"/>
              </a:rPr>
              <a:t>1. Open and Rename Files:</a:t>
            </a:r>
          </a:p>
          <a:p>
            <a:pPr marL="34290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Open </a:t>
            </a:r>
            <a:r>
              <a:rPr lang="en-US" sz="2800" b="1" dirty="0">
                <a:latin typeface="Calibri" panose="020F0502020204030204" pitchFamily="34" charset="0"/>
                <a:cs typeface="Calibri" panose="020F0502020204030204" pitchFamily="34" charset="0"/>
              </a:rPr>
              <a:t>HTM_E-7.html </a:t>
            </a:r>
            <a:r>
              <a:rPr lang="en-US" sz="2800" dirty="0">
                <a:latin typeface="Calibri" panose="020F0502020204030204" pitchFamily="34" charset="0"/>
                <a:cs typeface="Calibri" panose="020F0502020204030204" pitchFamily="34" charset="0"/>
              </a:rPr>
              <a:t>and save it as </a:t>
            </a:r>
            <a:r>
              <a:rPr lang="en-US" sz="2800" b="1" dirty="0">
                <a:latin typeface="Calibri" panose="020F0502020204030204" pitchFamily="34" charset="0"/>
                <a:cs typeface="Calibri" panose="020F0502020204030204" pitchFamily="34" charset="0"/>
              </a:rPr>
              <a:t>index.html</a:t>
            </a:r>
            <a:r>
              <a:rPr lang="en-US" sz="28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Open </a:t>
            </a:r>
            <a:r>
              <a:rPr lang="en-US" sz="2800" b="1" dirty="0">
                <a:latin typeface="Calibri" panose="020F0502020204030204" pitchFamily="34" charset="0"/>
                <a:cs typeface="Calibri" panose="020F0502020204030204" pitchFamily="34" charset="0"/>
              </a:rPr>
              <a:t>HTM_E-8.css </a:t>
            </a:r>
            <a:r>
              <a:rPr lang="en-US" sz="2800" dirty="0">
                <a:latin typeface="Calibri" panose="020F0502020204030204" pitchFamily="34" charset="0"/>
                <a:cs typeface="Calibri" panose="020F0502020204030204" pitchFamily="34" charset="0"/>
              </a:rPr>
              <a:t>and save it as </a:t>
            </a:r>
            <a:r>
              <a:rPr lang="en-US" sz="2800" b="1" dirty="0">
                <a:latin typeface="Calibri" panose="020F0502020204030204" pitchFamily="34" charset="0"/>
                <a:cs typeface="Calibri" panose="020F0502020204030204" pitchFamily="34" charset="0"/>
              </a:rPr>
              <a:t>styles.css</a:t>
            </a:r>
            <a:r>
              <a:rPr lang="en-US" sz="2800" dirty="0">
                <a:latin typeface="Calibri" panose="020F0502020204030204" pitchFamily="34" charset="0"/>
                <a:cs typeface="Calibri" panose="020F0502020204030204" pitchFamily="34" charset="0"/>
              </a:rPr>
              <a:t>.</a:t>
            </a:r>
            <a:endParaRPr lang="en-AU" sz="28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F80AF407-A79F-BC3E-38B7-663850B72493}"/>
              </a:ext>
            </a:extLst>
          </p:cNvPr>
          <p:cNvPicPr>
            <a:picLocks noChangeAspect="1"/>
          </p:cNvPicPr>
          <p:nvPr/>
        </p:nvPicPr>
        <p:blipFill>
          <a:blip r:embed="rId2"/>
          <a:stretch>
            <a:fillRect/>
          </a:stretch>
        </p:blipFill>
        <p:spPr>
          <a:xfrm>
            <a:off x="10569849" y="0"/>
            <a:ext cx="1622151" cy="1597572"/>
          </a:xfrm>
          <a:prstGeom prst="rect">
            <a:avLst/>
          </a:prstGeom>
        </p:spPr>
      </p:pic>
    </p:spTree>
    <p:extLst>
      <p:ext uri="{BB962C8B-B14F-4D97-AF65-F5344CB8AC3E}">
        <p14:creationId xmlns:p14="http://schemas.microsoft.com/office/powerpoint/2010/main" val="388618478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CE753B-4BAA-28AA-8761-AFF926F44049}"/>
              </a:ext>
            </a:extLst>
          </p:cNvPr>
          <p:cNvSpPr txBox="1"/>
          <p:nvPr/>
        </p:nvSpPr>
        <p:spPr>
          <a:xfrm>
            <a:off x="0" y="0"/>
            <a:ext cx="10867697"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5" name="TextBox 4">
            <a:extLst>
              <a:ext uri="{FF2B5EF4-FFF2-40B4-BE49-F238E27FC236}">
                <a16:creationId xmlns:a16="http://schemas.microsoft.com/office/drawing/2014/main" id="{0466C809-5781-6989-B537-F4323A5AFFCC}"/>
              </a:ext>
            </a:extLst>
          </p:cNvPr>
          <p:cNvSpPr txBox="1"/>
          <p:nvPr/>
        </p:nvSpPr>
        <p:spPr>
          <a:xfrm>
            <a:off x="84083" y="892552"/>
            <a:ext cx="12023834" cy="5196166"/>
          </a:xfrm>
          <a:prstGeom prst="rect">
            <a:avLst/>
          </a:prstGeom>
          <a:noFill/>
        </p:spPr>
        <p:txBody>
          <a:bodyPr wrap="square" rtlCol="0">
            <a:spAutoFit/>
          </a:bodyPr>
          <a:lstStyle/>
          <a:p>
            <a:pPr>
              <a:lnSpc>
                <a:spcPct val="150000"/>
              </a:lnSpc>
            </a:pPr>
            <a:r>
              <a:rPr lang="en-US" sz="2800" b="1" dirty="0">
                <a:latin typeface="Calibri" panose="020F0502020204030204" pitchFamily="34" charset="0"/>
                <a:cs typeface="Calibri" panose="020F0502020204030204" pitchFamily="34" charset="0"/>
              </a:rPr>
              <a:t>2. CSS Modifications:</a:t>
            </a:r>
          </a:p>
          <a:p>
            <a:pPr marL="34290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Set </a:t>
            </a:r>
            <a:r>
              <a:rPr lang="en-US" sz="2800" b="1" dirty="0">
                <a:latin typeface="Calibri" panose="020F0502020204030204" pitchFamily="34" charset="0"/>
                <a:cs typeface="Calibri" panose="020F0502020204030204" pitchFamily="34" charset="0"/>
              </a:rPr>
              <a:t>font-size: 14px; </a:t>
            </a:r>
            <a:r>
              <a:rPr lang="en-US" sz="2800" dirty="0">
                <a:latin typeface="Calibri" panose="020F0502020204030204" pitchFamily="34" charset="0"/>
                <a:cs typeface="Calibri" panose="020F0502020204030204" pitchFamily="34" charset="0"/>
              </a:rPr>
              <a:t>for the </a:t>
            </a:r>
            <a:r>
              <a:rPr lang="en-US" sz="2800" b="1" dirty="0">
                <a:latin typeface="Calibri" panose="020F0502020204030204" pitchFamily="34" charset="0"/>
                <a:cs typeface="Calibri" panose="020F0502020204030204" pitchFamily="34" charset="0"/>
              </a:rPr>
              <a:t>html</a:t>
            </a:r>
            <a:r>
              <a:rPr lang="en-US" sz="2800" dirty="0">
                <a:latin typeface="Calibri" panose="020F0502020204030204" pitchFamily="34" charset="0"/>
                <a:cs typeface="Calibri" panose="020F0502020204030204" pitchFamily="34" charset="0"/>
              </a:rPr>
              <a:t> element.</a:t>
            </a:r>
          </a:p>
          <a:p>
            <a:pPr marL="34290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In the body section, set </a:t>
            </a:r>
            <a:r>
              <a:rPr lang="en-US" sz="2800" b="1" dirty="0">
                <a:latin typeface="Calibri" panose="020F0502020204030204" pitchFamily="34" charset="0"/>
                <a:cs typeface="Calibri" panose="020F0502020204030204" pitchFamily="34" charset="0"/>
              </a:rPr>
              <a:t>font-family: Arial, Helvetica, sans-serif</a:t>
            </a:r>
            <a:r>
              <a:rPr lang="en-US" sz="2800" dirty="0">
                <a:latin typeface="Calibri" panose="020F0502020204030204" pitchFamily="34" charset="0"/>
                <a:cs typeface="Calibri" panose="020F0502020204030204" pitchFamily="34" charset="0"/>
              </a:rPr>
              <a:t>; and </a:t>
            </a:r>
            <a:r>
              <a:rPr lang="en-US" sz="2800" b="1" dirty="0">
                <a:latin typeface="Calibri" panose="020F0502020204030204" pitchFamily="34" charset="0"/>
                <a:cs typeface="Calibri" panose="020F0502020204030204" pitchFamily="34" charset="0"/>
              </a:rPr>
              <a:t>font-size</a:t>
            </a:r>
            <a:r>
              <a:rPr lang="en-US" sz="2800" dirty="0">
                <a:latin typeface="Calibri" panose="020F0502020204030204" pitchFamily="34" charset="0"/>
                <a:cs typeface="Calibri" panose="020F0502020204030204" pitchFamily="34" charset="0"/>
              </a:rPr>
              <a:t> </a:t>
            </a:r>
            <a:r>
              <a:rPr lang="en-US" sz="2800" b="1" dirty="0">
                <a:latin typeface="Calibri" panose="020F0502020204030204" pitchFamily="34" charset="0"/>
                <a:cs typeface="Calibri" panose="020F0502020204030204" pitchFamily="34" charset="0"/>
              </a:rPr>
              <a:t>for p elements to 1.2em;.</a:t>
            </a:r>
          </a:p>
          <a:p>
            <a:pPr marL="34290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Set the header background to </a:t>
            </a:r>
            <a:r>
              <a:rPr lang="en-US" sz="2800" b="1" dirty="0" err="1">
                <a:latin typeface="Calibri" panose="020F0502020204030204" pitchFamily="34" charset="0"/>
                <a:cs typeface="Calibri" panose="020F0502020204030204" pitchFamily="34" charset="0"/>
              </a:rPr>
              <a:t>rgb</a:t>
            </a:r>
            <a:r>
              <a:rPr lang="en-US" sz="2800" b="1" dirty="0">
                <a:latin typeface="Calibri" panose="020F0502020204030204" pitchFamily="34" charset="0"/>
                <a:cs typeface="Calibri" panose="020F0502020204030204" pitchFamily="34" charset="0"/>
              </a:rPr>
              <a:t>(140, 198, 63);</a:t>
            </a:r>
            <a:r>
              <a:rPr lang="en-US" sz="2800" dirty="0">
                <a:latin typeface="Calibri" panose="020F0502020204030204" pitchFamily="34" charset="0"/>
                <a:cs typeface="Calibri" panose="020F0502020204030204" pitchFamily="34" charset="0"/>
              </a:rPr>
              <a:t> and style the</a:t>
            </a:r>
            <a:r>
              <a:rPr lang="en-US" sz="2800" b="1" dirty="0">
                <a:latin typeface="Calibri" panose="020F0502020204030204" pitchFamily="34" charset="0"/>
                <a:cs typeface="Calibri" panose="020F0502020204030204" pitchFamily="34" charset="0"/>
              </a:rPr>
              <a:t> h1 </a:t>
            </a:r>
            <a:r>
              <a:rPr lang="en-US" sz="2800" dirty="0">
                <a:latin typeface="Calibri" panose="020F0502020204030204" pitchFamily="34" charset="0"/>
                <a:cs typeface="Calibri" panose="020F0502020204030204" pitchFamily="34" charset="0"/>
              </a:rPr>
              <a:t>with a font size of </a:t>
            </a:r>
            <a:r>
              <a:rPr lang="en-US" sz="2800" b="1" dirty="0">
                <a:latin typeface="Calibri" panose="020F0502020204030204" pitchFamily="34" charset="0"/>
                <a:cs typeface="Calibri" panose="020F0502020204030204" pitchFamily="34" charset="0"/>
              </a:rPr>
              <a:t>2em</a:t>
            </a:r>
            <a:r>
              <a:rPr lang="en-US" sz="2800" dirty="0">
                <a:latin typeface="Calibri" panose="020F0502020204030204" pitchFamily="34" charset="0"/>
                <a:cs typeface="Calibri" panose="020F0502020204030204" pitchFamily="34" charset="0"/>
              </a:rPr>
              <a:t>, a text shadow, and a font stack including Georgia and Times New Roman.</a:t>
            </a:r>
          </a:p>
          <a:p>
            <a:pPr marL="34290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Italicize the </a:t>
            </a:r>
            <a:r>
              <a:rPr lang="en-US" sz="2800" b="1" dirty="0">
                <a:latin typeface="Calibri" panose="020F0502020204030204" pitchFamily="34" charset="0"/>
                <a:cs typeface="Calibri" panose="020F0502020204030204" pitchFamily="34" charset="0"/>
              </a:rPr>
              <a:t>p</a:t>
            </a:r>
            <a:r>
              <a:rPr lang="en-US" sz="2800" dirty="0">
                <a:latin typeface="Calibri" panose="020F0502020204030204" pitchFamily="34" charset="0"/>
                <a:cs typeface="Calibri" panose="020F0502020204030204" pitchFamily="34" charset="0"/>
              </a:rPr>
              <a:t> element in the header.</a:t>
            </a:r>
            <a:endParaRPr lang="en-AU" sz="28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F80AF407-A79F-BC3E-38B7-663850B72493}"/>
              </a:ext>
            </a:extLst>
          </p:cNvPr>
          <p:cNvPicPr>
            <a:picLocks noChangeAspect="1"/>
          </p:cNvPicPr>
          <p:nvPr/>
        </p:nvPicPr>
        <p:blipFill>
          <a:blip r:embed="rId2"/>
          <a:stretch>
            <a:fillRect/>
          </a:stretch>
        </p:blipFill>
        <p:spPr>
          <a:xfrm>
            <a:off x="10569849" y="0"/>
            <a:ext cx="1622151" cy="1597572"/>
          </a:xfrm>
          <a:prstGeom prst="rect">
            <a:avLst/>
          </a:prstGeom>
        </p:spPr>
      </p:pic>
    </p:spTree>
    <p:extLst>
      <p:ext uri="{BB962C8B-B14F-4D97-AF65-F5344CB8AC3E}">
        <p14:creationId xmlns:p14="http://schemas.microsoft.com/office/powerpoint/2010/main" val="30295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CE753B-4BAA-28AA-8761-AFF926F44049}"/>
              </a:ext>
            </a:extLst>
          </p:cNvPr>
          <p:cNvSpPr txBox="1"/>
          <p:nvPr/>
        </p:nvSpPr>
        <p:spPr>
          <a:xfrm>
            <a:off x="0" y="0"/>
            <a:ext cx="10846676"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5" name="TextBox 4">
            <a:extLst>
              <a:ext uri="{FF2B5EF4-FFF2-40B4-BE49-F238E27FC236}">
                <a16:creationId xmlns:a16="http://schemas.microsoft.com/office/drawing/2014/main" id="{0466C809-5781-6989-B537-F4323A5AFFCC}"/>
              </a:ext>
            </a:extLst>
          </p:cNvPr>
          <p:cNvSpPr txBox="1"/>
          <p:nvPr/>
        </p:nvSpPr>
        <p:spPr>
          <a:xfrm>
            <a:off x="84084" y="703366"/>
            <a:ext cx="12023834" cy="4815677"/>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3. Additional Content and Styling:</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Set a different background for the aside, footer, and main content areas.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Adjust font sizes and weights where necessary, particularly in the aside and footer for emphasis.</a:t>
            </a:r>
          </a:p>
          <a:p>
            <a:pPr>
              <a:lnSpc>
                <a:spcPct val="150000"/>
              </a:lnSpc>
            </a:pPr>
            <a:r>
              <a:rPr lang="en-US" sz="2300" b="1" dirty="0">
                <a:latin typeface="Calibri" panose="020F0502020204030204" pitchFamily="34" charset="0"/>
                <a:cs typeface="Calibri" panose="020F0502020204030204" pitchFamily="34" charset="0"/>
              </a:rPr>
              <a:t>4. Final Steps:</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Save your changes and open </a:t>
            </a:r>
            <a:r>
              <a:rPr lang="en-US" sz="2300" b="1" dirty="0">
                <a:latin typeface="Calibri" panose="020F0502020204030204" pitchFamily="34" charset="0"/>
                <a:cs typeface="Calibri" panose="020F0502020204030204" pitchFamily="34" charset="0"/>
              </a:rPr>
              <a:t>index.html </a:t>
            </a:r>
            <a:r>
              <a:rPr lang="en-US" sz="2300" dirty="0">
                <a:latin typeface="Calibri" panose="020F0502020204030204" pitchFamily="34" charset="0"/>
                <a:cs typeface="Calibri" panose="020F0502020204030204" pitchFamily="34" charset="0"/>
              </a:rPr>
              <a:t>to compare with FIGURE 2.</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Add print styles at the bottom of your CSS for proper print formatting.</a:t>
            </a:r>
          </a:p>
          <a:p>
            <a:pPr>
              <a:lnSpc>
                <a:spcPct val="150000"/>
              </a:lnSpc>
            </a:pPr>
            <a:r>
              <a:rPr lang="en-US" sz="2300" b="1" dirty="0">
                <a:latin typeface="Calibri" panose="020F0502020204030204" pitchFamily="34" charset="0"/>
                <a:cs typeface="Calibri" panose="020F0502020204030204" pitchFamily="34" charset="0"/>
              </a:rPr>
              <a:t>5. Preview and Validation:</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Reload the page, check the print preview against FIGURE 3.</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Validate HTML and CSS and fix any identified issues.</a:t>
            </a:r>
            <a:endParaRPr lang="en-AU" sz="23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F80AF407-A79F-BC3E-38B7-663850B72493}"/>
              </a:ext>
            </a:extLst>
          </p:cNvPr>
          <p:cNvPicPr>
            <a:picLocks noChangeAspect="1"/>
          </p:cNvPicPr>
          <p:nvPr/>
        </p:nvPicPr>
        <p:blipFill>
          <a:blip r:embed="rId2"/>
          <a:stretch>
            <a:fillRect/>
          </a:stretch>
        </p:blipFill>
        <p:spPr>
          <a:xfrm>
            <a:off x="10569849" y="0"/>
            <a:ext cx="1622151" cy="1597572"/>
          </a:xfrm>
          <a:prstGeom prst="rect">
            <a:avLst/>
          </a:prstGeom>
        </p:spPr>
      </p:pic>
      <p:sp>
        <p:nvSpPr>
          <p:cNvPr id="3" name="TextBox 2">
            <a:extLst>
              <a:ext uri="{FF2B5EF4-FFF2-40B4-BE49-F238E27FC236}">
                <a16:creationId xmlns:a16="http://schemas.microsoft.com/office/drawing/2014/main" id="{740861CC-C08A-EC51-1841-75D91B4E4926}"/>
              </a:ext>
            </a:extLst>
          </p:cNvPr>
          <p:cNvSpPr txBox="1"/>
          <p:nvPr/>
        </p:nvSpPr>
        <p:spPr>
          <a:xfrm>
            <a:off x="84085" y="5645328"/>
            <a:ext cx="12023833" cy="1154162"/>
          </a:xfrm>
          <a:prstGeom prst="rect">
            <a:avLst/>
          </a:prstGeom>
          <a:noFill/>
        </p:spPr>
        <p:txBody>
          <a:bodyPr wrap="square">
            <a:spAutoFit/>
          </a:bodyPr>
          <a:lstStyle/>
          <a:p>
            <a:r>
              <a:rPr lang="en-AU" sz="2300" b="1" dirty="0">
                <a:latin typeface="Calibri" panose="020F0502020204030204" pitchFamily="34" charset="0"/>
                <a:cs typeface="Calibri" panose="020F0502020204030204" pitchFamily="34" charset="0"/>
              </a:rPr>
              <a:t>Additional Recommendations</a:t>
            </a:r>
          </a:p>
          <a:p>
            <a:pPr marL="342900" indent="-342900">
              <a:buFont typeface="Arial" panose="020B0604020202020204" pitchFamily="34" charset="0"/>
              <a:buChar char="•"/>
            </a:pPr>
            <a:r>
              <a:rPr lang="en-AU" sz="2300" dirty="0">
                <a:latin typeface="Calibri" panose="020F0502020204030204" pitchFamily="34" charset="0"/>
                <a:cs typeface="Calibri" panose="020F0502020204030204" pitchFamily="34" charset="0"/>
              </a:rPr>
              <a:t>Use developer tools to experiment with different layouts and font stacks.</a:t>
            </a:r>
          </a:p>
          <a:p>
            <a:pPr marL="342900" indent="-342900">
              <a:buFont typeface="Arial" panose="020B0604020202020204" pitchFamily="34" charset="0"/>
              <a:buChar char="•"/>
            </a:pPr>
            <a:r>
              <a:rPr lang="en-AU" sz="2300" dirty="0">
                <a:latin typeface="Calibri" panose="020F0502020204030204" pitchFamily="34" charset="0"/>
                <a:cs typeface="Calibri" panose="020F0502020204030204" pitchFamily="34" charset="0"/>
              </a:rPr>
              <a:t>Engage in peer reviews for feedback on your design choices.</a:t>
            </a:r>
          </a:p>
        </p:txBody>
      </p:sp>
    </p:spTree>
    <p:extLst>
      <p:ext uri="{BB962C8B-B14F-4D97-AF65-F5344CB8AC3E}">
        <p14:creationId xmlns:p14="http://schemas.microsoft.com/office/powerpoint/2010/main" val="191231830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0C2554-4E77-1DD4-4595-83CF1D6E7C76}"/>
              </a:ext>
            </a:extLst>
          </p:cNvPr>
          <p:cNvPicPr>
            <a:picLocks noChangeAspect="1"/>
          </p:cNvPicPr>
          <p:nvPr/>
        </p:nvPicPr>
        <p:blipFill rotWithShape="1">
          <a:blip r:embed="rId2"/>
          <a:srcRect l="14416" t="62544" r="60801" b="27254"/>
          <a:stretch>
            <a:fillRect/>
          </a:stretch>
        </p:blipFill>
        <p:spPr>
          <a:xfrm>
            <a:off x="5106440" y="3019425"/>
            <a:ext cx="7085560" cy="1640616"/>
          </a:xfrm>
          <a:prstGeom prst="rect">
            <a:avLst/>
          </a:prstGeom>
          <a:ln>
            <a:solidFill>
              <a:srgbClr val="FF0000"/>
            </a:solidFill>
          </a:ln>
        </p:spPr>
      </p:pic>
      <p:pic>
        <p:nvPicPr>
          <p:cNvPr id="3" name="Picture 2">
            <a:extLst>
              <a:ext uri="{FF2B5EF4-FFF2-40B4-BE49-F238E27FC236}">
                <a16:creationId xmlns:a16="http://schemas.microsoft.com/office/drawing/2014/main" id="{5A6F23B0-1D17-E525-35A9-22F56886D5B7}"/>
              </a:ext>
            </a:extLst>
          </p:cNvPr>
          <p:cNvPicPr>
            <a:picLocks noChangeAspect="1"/>
          </p:cNvPicPr>
          <p:nvPr/>
        </p:nvPicPr>
        <p:blipFill rotWithShape="1">
          <a:blip r:embed="rId3"/>
          <a:srcRect l="12931" t="25593" r="46638" b="56475"/>
          <a:stretch/>
        </p:blipFill>
        <p:spPr>
          <a:xfrm>
            <a:off x="3381375" y="4660041"/>
            <a:ext cx="8810625" cy="2197959"/>
          </a:xfrm>
          <a:prstGeom prst="rect">
            <a:avLst/>
          </a:prstGeom>
          <a:ln>
            <a:solidFill>
              <a:srgbClr val="FF0000"/>
            </a:solidFill>
          </a:ln>
        </p:spPr>
      </p:pic>
      <p:sp>
        <p:nvSpPr>
          <p:cNvPr id="11" name="TextBox 10">
            <a:extLst>
              <a:ext uri="{FF2B5EF4-FFF2-40B4-BE49-F238E27FC236}">
                <a16:creationId xmlns:a16="http://schemas.microsoft.com/office/drawing/2014/main" id="{1F438A5D-2C8D-C1C5-9485-C042C53CA231}"/>
              </a:ext>
            </a:extLst>
          </p:cNvPr>
          <p:cNvSpPr txBox="1"/>
          <p:nvPr/>
        </p:nvSpPr>
        <p:spPr>
          <a:xfrm>
            <a:off x="0" y="0"/>
            <a:ext cx="12192000" cy="4549835"/>
          </a:xfrm>
          <a:prstGeom prst="rect">
            <a:avLst/>
          </a:prstGeom>
          <a:noFill/>
        </p:spPr>
        <p:txBody>
          <a:bodyPr wrap="square">
            <a:spAutoFit/>
          </a:bodyPr>
          <a:lstStyle/>
          <a:p>
            <a:pPr>
              <a:lnSpc>
                <a:spcPct val="150000"/>
              </a:lnSpc>
              <a:buNone/>
            </a:pPr>
            <a:r>
              <a:rPr lang="en-US" sz="2800" dirty="0">
                <a:latin typeface="Calibir"/>
              </a:rPr>
              <a:t>This code creates a simple webpage for a soccer league called Murfreesboro Soccer.</a:t>
            </a:r>
            <a:br>
              <a:rPr lang="en-US" sz="2800" dirty="0">
                <a:latin typeface="Calibir"/>
              </a:rPr>
            </a:br>
            <a:r>
              <a:rPr lang="en-US" sz="2800" dirty="0">
                <a:latin typeface="Calibir"/>
              </a:rPr>
              <a:t>The page includes:</a:t>
            </a:r>
          </a:p>
          <a:p>
            <a:pPr marL="914400" lvl="1" indent="-457200">
              <a:lnSpc>
                <a:spcPct val="150000"/>
              </a:lnSpc>
              <a:buFont typeface="Arial" panose="020B0604020202020204" pitchFamily="34" charset="0"/>
              <a:buChar char="•"/>
            </a:pPr>
            <a:r>
              <a:rPr lang="en-US" sz="2800" dirty="0">
                <a:latin typeface="Calibir"/>
              </a:rPr>
              <a:t>a title </a:t>
            </a:r>
          </a:p>
          <a:p>
            <a:pPr marL="914400" lvl="1" indent="-457200">
              <a:lnSpc>
                <a:spcPct val="150000"/>
              </a:lnSpc>
              <a:buFont typeface="Arial" panose="020B0604020202020204" pitchFamily="34" charset="0"/>
              <a:buChar char="•"/>
            </a:pPr>
            <a:r>
              <a:rPr lang="en-US" sz="2800" dirty="0">
                <a:latin typeface="Calibir"/>
              </a:rPr>
              <a:t>a short message </a:t>
            </a:r>
          </a:p>
          <a:p>
            <a:pPr marL="914400" lvl="1" indent="-457200">
              <a:lnSpc>
                <a:spcPct val="150000"/>
              </a:lnSpc>
              <a:buFont typeface="Arial" panose="020B0604020202020204" pitchFamily="34" charset="0"/>
              <a:buChar char="•"/>
            </a:pPr>
            <a:r>
              <a:rPr lang="en-US" sz="2800" dirty="0">
                <a:latin typeface="Calibir"/>
              </a:rPr>
              <a:t>upcoming match information </a:t>
            </a:r>
          </a:p>
          <a:p>
            <a:pPr marL="914400" lvl="1" indent="-457200">
              <a:lnSpc>
                <a:spcPct val="150000"/>
              </a:lnSpc>
              <a:buFont typeface="Arial" panose="020B0604020202020204" pitchFamily="34" charset="0"/>
              <a:buChar char="•"/>
            </a:pPr>
            <a:r>
              <a:rPr lang="en-US" sz="2800" dirty="0">
                <a:latin typeface="Calibir"/>
              </a:rPr>
              <a:t>contact details</a:t>
            </a:r>
          </a:p>
        </p:txBody>
      </p:sp>
    </p:spTree>
    <p:extLst>
      <p:ext uri="{BB962C8B-B14F-4D97-AF65-F5344CB8AC3E}">
        <p14:creationId xmlns:p14="http://schemas.microsoft.com/office/powerpoint/2010/main" val="374544040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C4F32-BF50-F6BC-0B17-CDB3633569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631679-FFF5-7BC5-39A0-B541753C9183}"/>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D5F304DE-7F71-D46D-0063-04088921CD1A}"/>
              </a:ext>
            </a:extLst>
          </p:cNvPr>
          <p:cNvSpPr txBox="1"/>
          <p:nvPr/>
        </p:nvSpPr>
        <p:spPr>
          <a:xfrm>
            <a:off x="6062664" y="4786792"/>
            <a:ext cx="6129336" cy="2071208"/>
          </a:xfrm>
          <a:prstGeom prst="rect">
            <a:avLst/>
          </a:prstGeom>
          <a:solidFill>
            <a:schemeClr val="bg1"/>
          </a:solidFill>
        </p:spPr>
        <p:txBody>
          <a:bodyPr wrap="square">
            <a:spAutoFit/>
          </a:bodyPr>
          <a:lstStyle/>
          <a:p>
            <a:pPr>
              <a:lnSpc>
                <a:spcPct val="150000"/>
              </a:lnSpc>
              <a:buNone/>
            </a:pPr>
            <a:r>
              <a:rPr lang="en-US" sz="2200" b="1" dirty="0">
                <a:latin typeface="Calibir"/>
              </a:rPr>
              <a:t>1. &lt;!DOCTYPE html&gt;</a:t>
            </a:r>
          </a:p>
          <a:p>
            <a:pPr rtl="0">
              <a:lnSpc>
                <a:spcPct val="150000"/>
              </a:lnSpc>
              <a:buNone/>
            </a:pPr>
            <a:r>
              <a:rPr lang="en-US" sz="2200" dirty="0">
                <a:latin typeface="Calibir"/>
              </a:rPr>
              <a:t>&lt;!DOCTYPE html&gt;</a:t>
            </a:r>
          </a:p>
          <a:p>
            <a:pPr>
              <a:lnSpc>
                <a:spcPct val="150000"/>
              </a:lnSpc>
              <a:buNone/>
            </a:pPr>
            <a:r>
              <a:rPr lang="en-US" sz="2200" dirty="0">
                <a:latin typeface="Calibir"/>
              </a:rPr>
              <a:t>This tells the browser:</a:t>
            </a:r>
          </a:p>
          <a:p>
            <a:pPr>
              <a:lnSpc>
                <a:spcPct val="150000"/>
              </a:lnSpc>
              <a:buNone/>
            </a:pPr>
            <a:r>
              <a:rPr lang="en-US" sz="2200" dirty="0">
                <a:latin typeface="Calibir"/>
              </a:rPr>
              <a:t>“This webpage uses HTML5.”</a:t>
            </a:r>
          </a:p>
        </p:txBody>
      </p:sp>
    </p:spTree>
    <p:extLst>
      <p:ext uri="{BB962C8B-B14F-4D97-AF65-F5344CB8AC3E}">
        <p14:creationId xmlns:p14="http://schemas.microsoft.com/office/powerpoint/2010/main" val="408590261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7969A-26AA-1BE8-34CB-C51E266F18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B0F80E-92C4-26FE-C1C0-E42D78403715}"/>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DEFF5312-8211-07C8-FCE4-4127ABA968A3}"/>
              </a:ext>
            </a:extLst>
          </p:cNvPr>
          <p:cNvSpPr txBox="1"/>
          <p:nvPr/>
        </p:nvSpPr>
        <p:spPr>
          <a:xfrm>
            <a:off x="6062664" y="4786792"/>
            <a:ext cx="6129336" cy="2071208"/>
          </a:xfrm>
          <a:prstGeom prst="rect">
            <a:avLst/>
          </a:prstGeom>
          <a:solidFill>
            <a:schemeClr val="bg1"/>
          </a:solidFill>
        </p:spPr>
        <p:txBody>
          <a:bodyPr wrap="square">
            <a:spAutoFit/>
          </a:bodyPr>
          <a:lstStyle/>
          <a:p>
            <a:pPr>
              <a:lnSpc>
                <a:spcPct val="150000"/>
              </a:lnSpc>
              <a:buNone/>
            </a:pPr>
            <a:r>
              <a:rPr lang="en-US" sz="2200" b="1" dirty="0">
                <a:latin typeface="Calibir"/>
              </a:rPr>
              <a:t>2. HTML opening tag</a:t>
            </a:r>
          </a:p>
          <a:p>
            <a:pPr>
              <a:lnSpc>
                <a:spcPct val="150000"/>
              </a:lnSpc>
            </a:pPr>
            <a:r>
              <a:rPr lang="en-US" sz="2200" dirty="0">
                <a:latin typeface="Calibir"/>
              </a:rPr>
              <a:t>&lt;html lang="</a:t>
            </a:r>
            <a:r>
              <a:rPr lang="en-US" sz="2200" dirty="0" err="1">
                <a:latin typeface="Calibir"/>
              </a:rPr>
              <a:t>en</a:t>
            </a:r>
            <a:r>
              <a:rPr lang="en-US" sz="2200" dirty="0">
                <a:latin typeface="Calibir"/>
              </a:rPr>
              <a:t>"&gt;</a:t>
            </a:r>
          </a:p>
          <a:p>
            <a:pPr marL="342900" indent="-342900">
              <a:lnSpc>
                <a:spcPct val="150000"/>
              </a:lnSpc>
              <a:buFont typeface="Arial" panose="020B0604020202020204" pitchFamily="34" charset="0"/>
              <a:buChar char="•"/>
            </a:pPr>
            <a:r>
              <a:rPr lang="en-US" sz="2200" dirty="0">
                <a:latin typeface="Calibir"/>
              </a:rPr>
              <a:t>&lt;html&gt; starts the webpage </a:t>
            </a:r>
          </a:p>
          <a:p>
            <a:pPr marL="342900" indent="-342900">
              <a:lnSpc>
                <a:spcPct val="150000"/>
              </a:lnSpc>
              <a:buFont typeface="Arial" panose="020B0604020202020204" pitchFamily="34" charset="0"/>
              <a:buChar char="•"/>
            </a:pPr>
            <a:r>
              <a:rPr lang="en-US" sz="2200" dirty="0">
                <a:latin typeface="Calibir"/>
              </a:rPr>
              <a:t>lang="</a:t>
            </a:r>
            <a:r>
              <a:rPr lang="en-US" sz="2200" dirty="0" err="1">
                <a:latin typeface="Calibir"/>
              </a:rPr>
              <a:t>en</a:t>
            </a:r>
            <a:r>
              <a:rPr lang="en-US" sz="2200" dirty="0">
                <a:latin typeface="Calibir"/>
              </a:rPr>
              <a:t>" means the page is written in English</a:t>
            </a:r>
          </a:p>
        </p:txBody>
      </p:sp>
    </p:spTree>
    <p:extLst>
      <p:ext uri="{BB962C8B-B14F-4D97-AF65-F5344CB8AC3E}">
        <p14:creationId xmlns:p14="http://schemas.microsoft.com/office/powerpoint/2010/main" val="52969087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96CE0-F085-0F8A-AE55-607E56412C5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DA1FDA-6B52-3368-A0D4-4E75774C39BB}"/>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8E0697E2-897E-76AC-AB1D-D84F95F0A56E}"/>
              </a:ext>
            </a:extLst>
          </p:cNvPr>
          <p:cNvSpPr txBox="1"/>
          <p:nvPr/>
        </p:nvSpPr>
        <p:spPr>
          <a:xfrm>
            <a:off x="6062664" y="4786792"/>
            <a:ext cx="6129336" cy="2071208"/>
          </a:xfrm>
          <a:prstGeom prst="rect">
            <a:avLst/>
          </a:prstGeom>
          <a:solidFill>
            <a:schemeClr val="bg1"/>
          </a:solidFill>
        </p:spPr>
        <p:txBody>
          <a:bodyPr wrap="square">
            <a:spAutoFit/>
          </a:bodyPr>
          <a:lstStyle/>
          <a:p>
            <a:pPr>
              <a:lnSpc>
                <a:spcPct val="150000"/>
              </a:lnSpc>
              <a:buNone/>
            </a:pPr>
            <a:r>
              <a:rPr lang="en-US" sz="2200" b="1" dirty="0">
                <a:latin typeface="Calibir"/>
              </a:rPr>
              <a:t>3. Head section</a:t>
            </a:r>
          </a:p>
          <a:p>
            <a:pPr>
              <a:lnSpc>
                <a:spcPct val="150000"/>
              </a:lnSpc>
            </a:pPr>
            <a:r>
              <a:rPr lang="en-US" sz="2200" dirty="0">
                <a:latin typeface="Calibir"/>
              </a:rPr>
              <a:t>&lt;head&gt;</a:t>
            </a:r>
          </a:p>
          <a:p>
            <a:pPr>
              <a:lnSpc>
                <a:spcPct val="150000"/>
              </a:lnSpc>
              <a:buNone/>
            </a:pPr>
            <a:r>
              <a:rPr lang="en-US" sz="2200" dirty="0">
                <a:latin typeface="Calibir"/>
              </a:rPr>
              <a:t>The &lt;head&gt; contains webpage information that is not directly shown on the page.</a:t>
            </a:r>
          </a:p>
        </p:txBody>
      </p:sp>
    </p:spTree>
    <p:extLst>
      <p:ext uri="{BB962C8B-B14F-4D97-AF65-F5344CB8AC3E}">
        <p14:creationId xmlns:p14="http://schemas.microsoft.com/office/powerpoint/2010/main" val="331761088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144BF-BDA8-DCAD-C441-06E54FE146D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A8F1EA-8FC0-CDEC-3E0D-32783E8939D0}"/>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FC1D7818-BCD8-97D5-C199-8270CCEDDF48}"/>
              </a:ext>
            </a:extLst>
          </p:cNvPr>
          <p:cNvSpPr txBox="1"/>
          <p:nvPr/>
        </p:nvSpPr>
        <p:spPr>
          <a:xfrm>
            <a:off x="6062664" y="4786792"/>
            <a:ext cx="6129336" cy="2071208"/>
          </a:xfrm>
          <a:prstGeom prst="rect">
            <a:avLst/>
          </a:prstGeom>
          <a:solidFill>
            <a:schemeClr val="bg1"/>
          </a:solidFill>
        </p:spPr>
        <p:txBody>
          <a:bodyPr wrap="square">
            <a:spAutoFit/>
          </a:bodyPr>
          <a:lstStyle/>
          <a:p>
            <a:pPr>
              <a:lnSpc>
                <a:spcPct val="150000"/>
              </a:lnSpc>
              <a:buNone/>
            </a:pPr>
            <a:r>
              <a:rPr lang="en-US" sz="2200" b="1" dirty="0">
                <a:latin typeface="Calibir"/>
              </a:rPr>
              <a:t>Character encoding</a:t>
            </a:r>
          </a:p>
          <a:p>
            <a:pPr>
              <a:lnSpc>
                <a:spcPct val="150000"/>
              </a:lnSpc>
            </a:pPr>
            <a:r>
              <a:rPr lang="en-US" sz="2200" dirty="0">
                <a:latin typeface="Calibir"/>
              </a:rPr>
              <a:t>&lt;meta charset="UTF-8"&gt;</a:t>
            </a:r>
          </a:p>
          <a:p>
            <a:pPr>
              <a:lnSpc>
                <a:spcPct val="150000"/>
              </a:lnSpc>
              <a:buNone/>
            </a:pPr>
            <a:r>
              <a:rPr lang="en-US" sz="2200" dirty="0">
                <a:latin typeface="Calibir"/>
              </a:rPr>
              <a:t>Allows the webpage to correctly display text and symbols.</a:t>
            </a:r>
          </a:p>
        </p:txBody>
      </p:sp>
    </p:spTree>
    <p:extLst>
      <p:ext uri="{BB962C8B-B14F-4D97-AF65-F5344CB8AC3E}">
        <p14:creationId xmlns:p14="http://schemas.microsoft.com/office/powerpoint/2010/main" val="31721427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32866-72AC-E297-BAD4-D9656A1C58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1FC0C9-7752-D57A-6B3E-CFCD5820A84F}"/>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367DDB94-79D1-E799-1E8F-DC07D5DE19B8}"/>
              </a:ext>
            </a:extLst>
          </p:cNvPr>
          <p:cNvSpPr txBox="1"/>
          <p:nvPr/>
        </p:nvSpPr>
        <p:spPr>
          <a:xfrm>
            <a:off x="6062664" y="4278961"/>
            <a:ext cx="6129336" cy="2579039"/>
          </a:xfrm>
          <a:prstGeom prst="rect">
            <a:avLst/>
          </a:prstGeom>
          <a:solidFill>
            <a:schemeClr val="bg1"/>
          </a:solidFill>
        </p:spPr>
        <p:txBody>
          <a:bodyPr wrap="square">
            <a:spAutoFit/>
          </a:bodyPr>
          <a:lstStyle/>
          <a:p>
            <a:pPr>
              <a:lnSpc>
                <a:spcPct val="150000"/>
              </a:lnSpc>
              <a:buNone/>
            </a:pPr>
            <a:r>
              <a:rPr lang="en-US" sz="2200" b="1" dirty="0">
                <a:latin typeface="Calibir"/>
              </a:rPr>
              <a:t>Page title</a:t>
            </a:r>
          </a:p>
          <a:p>
            <a:pPr>
              <a:lnSpc>
                <a:spcPct val="150000"/>
              </a:lnSpc>
            </a:pPr>
            <a:r>
              <a:rPr lang="en-US" sz="2200" dirty="0">
                <a:latin typeface="Calibir"/>
              </a:rPr>
              <a:t>&lt;title&gt;Murfreesboro Regional Soccer League&lt;/title&gt;</a:t>
            </a:r>
          </a:p>
          <a:p>
            <a:pPr>
              <a:lnSpc>
                <a:spcPct val="150000"/>
              </a:lnSpc>
              <a:buNone/>
            </a:pPr>
            <a:r>
              <a:rPr lang="en-US" sz="2200" dirty="0">
                <a:latin typeface="Calibir"/>
              </a:rPr>
              <a:t>This text appears:</a:t>
            </a:r>
          </a:p>
          <a:p>
            <a:pPr marL="342900" indent="-342900">
              <a:lnSpc>
                <a:spcPct val="150000"/>
              </a:lnSpc>
              <a:buFont typeface="Arial" panose="020B0604020202020204" pitchFamily="34" charset="0"/>
              <a:buChar char="•"/>
            </a:pPr>
            <a:r>
              <a:rPr lang="en-US" sz="2200" dirty="0">
                <a:latin typeface="Calibir"/>
              </a:rPr>
              <a:t>on the browser tab </a:t>
            </a:r>
          </a:p>
          <a:p>
            <a:pPr marL="342900" indent="-342900">
              <a:lnSpc>
                <a:spcPct val="150000"/>
              </a:lnSpc>
              <a:buFont typeface="Arial" panose="020B0604020202020204" pitchFamily="34" charset="0"/>
              <a:buChar char="•"/>
            </a:pPr>
            <a:r>
              <a:rPr lang="en-US" sz="2200" dirty="0">
                <a:latin typeface="Calibir"/>
              </a:rPr>
              <a:t>in search engine results</a:t>
            </a:r>
          </a:p>
        </p:txBody>
      </p:sp>
    </p:spTree>
    <p:extLst>
      <p:ext uri="{BB962C8B-B14F-4D97-AF65-F5344CB8AC3E}">
        <p14:creationId xmlns:p14="http://schemas.microsoft.com/office/powerpoint/2010/main" val="155866180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C7C63-05EE-5EB1-1509-BABA0E40597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82E83D-AAD5-6359-D8A6-47E64E810D6D}"/>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814B0731-2087-E540-2D43-61F0E702F14E}"/>
              </a:ext>
            </a:extLst>
          </p:cNvPr>
          <p:cNvSpPr txBox="1"/>
          <p:nvPr/>
        </p:nvSpPr>
        <p:spPr>
          <a:xfrm>
            <a:off x="6096000" y="1231973"/>
            <a:ext cx="6129336" cy="5626027"/>
          </a:xfrm>
          <a:prstGeom prst="rect">
            <a:avLst/>
          </a:prstGeom>
          <a:solidFill>
            <a:schemeClr val="bg1"/>
          </a:solidFill>
        </p:spPr>
        <p:txBody>
          <a:bodyPr wrap="square">
            <a:spAutoFit/>
          </a:bodyPr>
          <a:lstStyle/>
          <a:p>
            <a:pPr>
              <a:lnSpc>
                <a:spcPct val="150000"/>
              </a:lnSpc>
              <a:buNone/>
            </a:pPr>
            <a:r>
              <a:rPr lang="en-US" sz="2200" b="1" dirty="0">
                <a:latin typeface="Calibir"/>
              </a:rPr>
              <a:t>CSS stylesheet</a:t>
            </a:r>
          </a:p>
          <a:p>
            <a:pPr>
              <a:lnSpc>
                <a:spcPct val="150000"/>
              </a:lnSpc>
            </a:pPr>
            <a:r>
              <a:rPr lang="en-US" sz="2200" dirty="0">
                <a:latin typeface="Calibir"/>
              </a:rPr>
              <a:t>&lt;link </a:t>
            </a:r>
            <a:r>
              <a:rPr lang="en-US" sz="2200" dirty="0" err="1">
                <a:latin typeface="Calibir"/>
              </a:rPr>
              <a:t>rel</a:t>
            </a:r>
            <a:r>
              <a:rPr lang="en-US" sz="2200" dirty="0">
                <a:latin typeface="Calibir"/>
              </a:rPr>
              <a:t>="stylesheet" </a:t>
            </a:r>
            <a:r>
              <a:rPr lang="en-US" sz="2200" dirty="0" err="1">
                <a:latin typeface="Calibir"/>
              </a:rPr>
              <a:t>href</a:t>
            </a:r>
            <a:r>
              <a:rPr lang="en-US" sz="2200" dirty="0">
                <a:latin typeface="Calibir"/>
              </a:rPr>
              <a:t>="Responsive and Print-Ready CSS for a Modern Web Layout.css"&gt;</a:t>
            </a:r>
          </a:p>
          <a:p>
            <a:pPr>
              <a:lnSpc>
                <a:spcPct val="150000"/>
              </a:lnSpc>
              <a:buNone/>
            </a:pPr>
            <a:r>
              <a:rPr lang="en-US" sz="2200" dirty="0">
                <a:latin typeface="Calibir"/>
              </a:rPr>
              <a:t>This connects the webpage to a CSS file.</a:t>
            </a:r>
          </a:p>
          <a:p>
            <a:pPr>
              <a:lnSpc>
                <a:spcPct val="150000"/>
              </a:lnSpc>
              <a:buNone/>
            </a:pPr>
            <a:r>
              <a:rPr lang="en-US" sz="2200" dirty="0">
                <a:latin typeface="Calibir"/>
              </a:rPr>
              <a:t>The CSS file controls:</a:t>
            </a:r>
          </a:p>
          <a:p>
            <a:pPr marL="800100" lvl="1" indent="-342900">
              <a:lnSpc>
                <a:spcPct val="150000"/>
              </a:lnSpc>
              <a:buFont typeface="Arial" panose="020B0604020202020204" pitchFamily="34" charset="0"/>
              <a:buChar char="•"/>
            </a:pPr>
            <a:r>
              <a:rPr lang="en-US" sz="2200" dirty="0" err="1">
                <a:latin typeface="Calibir"/>
              </a:rPr>
              <a:t>colours</a:t>
            </a:r>
            <a:r>
              <a:rPr lang="en-US" sz="2200" dirty="0">
                <a:latin typeface="Calibir"/>
              </a:rPr>
              <a:t> </a:t>
            </a:r>
          </a:p>
          <a:p>
            <a:pPr marL="800100" lvl="1" indent="-342900">
              <a:lnSpc>
                <a:spcPct val="150000"/>
              </a:lnSpc>
              <a:buFont typeface="Arial" panose="020B0604020202020204" pitchFamily="34" charset="0"/>
              <a:buChar char="•"/>
            </a:pPr>
            <a:r>
              <a:rPr lang="en-US" sz="2200" dirty="0">
                <a:latin typeface="Calibir"/>
              </a:rPr>
              <a:t>layout </a:t>
            </a:r>
          </a:p>
          <a:p>
            <a:pPr marL="800100" lvl="1" indent="-342900">
              <a:lnSpc>
                <a:spcPct val="150000"/>
              </a:lnSpc>
              <a:buFont typeface="Arial" panose="020B0604020202020204" pitchFamily="34" charset="0"/>
              <a:buChar char="•"/>
            </a:pPr>
            <a:r>
              <a:rPr lang="en-US" sz="2200" dirty="0">
                <a:latin typeface="Calibir"/>
              </a:rPr>
              <a:t>spacing </a:t>
            </a:r>
          </a:p>
          <a:p>
            <a:pPr marL="800100" lvl="1" indent="-342900">
              <a:lnSpc>
                <a:spcPct val="150000"/>
              </a:lnSpc>
              <a:buFont typeface="Arial" panose="020B0604020202020204" pitchFamily="34" charset="0"/>
              <a:buChar char="•"/>
            </a:pPr>
            <a:r>
              <a:rPr lang="en-US" sz="2200" dirty="0">
                <a:latin typeface="Calibir"/>
              </a:rPr>
              <a:t>fonts </a:t>
            </a:r>
          </a:p>
          <a:p>
            <a:pPr marL="800100" lvl="1" indent="-342900">
              <a:lnSpc>
                <a:spcPct val="150000"/>
              </a:lnSpc>
              <a:buFont typeface="Arial" panose="020B0604020202020204" pitchFamily="34" charset="0"/>
              <a:buChar char="•"/>
            </a:pPr>
            <a:r>
              <a:rPr lang="en-US" sz="2200" dirty="0">
                <a:latin typeface="Calibir"/>
              </a:rPr>
              <a:t>responsive design </a:t>
            </a:r>
          </a:p>
          <a:p>
            <a:pPr marL="800100" lvl="1" indent="-342900">
              <a:lnSpc>
                <a:spcPct val="150000"/>
              </a:lnSpc>
              <a:buFont typeface="Arial" panose="020B0604020202020204" pitchFamily="34" charset="0"/>
              <a:buChar char="•"/>
            </a:pPr>
            <a:r>
              <a:rPr lang="en-US" sz="2200" dirty="0">
                <a:latin typeface="Calibir"/>
              </a:rPr>
              <a:t>print-friendly formatting</a:t>
            </a:r>
          </a:p>
        </p:txBody>
      </p:sp>
    </p:spTree>
    <p:extLst>
      <p:ext uri="{BB962C8B-B14F-4D97-AF65-F5344CB8AC3E}">
        <p14:creationId xmlns:p14="http://schemas.microsoft.com/office/powerpoint/2010/main" val="381380135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66B87-961F-0EA6-6492-EAA7A21779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30523A6-2DF1-47B8-4651-674F3DA10E5F}"/>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87E04AE0-DF97-499C-1033-FD9E677D7DC2}"/>
              </a:ext>
            </a:extLst>
          </p:cNvPr>
          <p:cNvSpPr txBox="1"/>
          <p:nvPr/>
        </p:nvSpPr>
        <p:spPr>
          <a:xfrm>
            <a:off x="6062664" y="4786792"/>
            <a:ext cx="6129336" cy="2071208"/>
          </a:xfrm>
          <a:prstGeom prst="rect">
            <a:avLst/>
          </a:prstGeom>
          <a:solidFill>
            <a:schemeClr val="bg1"/>
          </a:solidFill>
        </p:spPr>
        <p:txBody>
          <a:bodyPr wrap="square">
            <a:spAutoFit/>
          </a:bodyPr>
          <a:lstStyle/>
          <a:p>
            <a:pPr>
              <a:lnSpc>
                <a:spcPct val="150000"/>
              </a:lnSpc>
              <a:buNone/>
            </a:pPr>
            <a:r>
              <a:rPr lang="en-US" sz="2200" b="1" dirty="0">
                <a:latin typeface="Calibir"/>
              </a:rPr>
              <a:t>4. Body section</a:t>
            </a:r>
          </a:p>
          <a:p>
            <a:pPr>
              <a:lnSpc>
                <a:spcPct val="150000"/>
              </a:lnSpc>
            </a:pPr>
            <a:r>
              <a:rPr lang="en-US" sz="2200" dirty="0">
                <a:latin typeface="Calibir"/>
              </a:rPr>
              <a:t>&lt;body&gt;</a:t>
            </a:r>
          </a:p>
          <a:p>
            <a:pPr>
              <a:lnSpc>
                <a:spcPct val="150000"/>
              </a:lnSpc>
              <a:buNone/>
            </a:pPr>
            <a:r>
              <a:rPr lang="en-US" sz="2200" dirty="0">
                <a:latin typeface="Calibir"/>
              </a:rPr>
              <a:t>Everything inside the body is visible on the webpage.</a:t>
            </a:r>
          </a:p>
        </p:txBody>
      </p:sp>
    </p:spTree>
    <p:extLst>
      <p:ext uri="{BB962C8B-B14F-4D97-AF65-F5344CB8AC3E}">
        <p14:creationId xmlns:p14="http://schemas.microsoft.com/office/powerpoint/2010/main" val="335687013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9BFE4-E710-21BB-0254-9C7A131BFF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15F61B0-B405-8147-0960-3F634B332698}"/>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1F5B3573-2371-1DEF-981D-D59287E71300}"/>
              </a:ext>
            </a:extLst>
          </p:cNvPr>
          <p:cNvSpPr txBox="1"/>
          <p:nvPr/>
        </p:nvSpPr>
        <p:spPr>
          <a:xfrm>
            <a:off x="6096000" y="5294623"/>
            <a:ext cx="6129336" cy="1563377"/>
          </a:xfrm>
          <a:prstGeom prst="rect">
            <a:avLst/>
          </a:prstGeom>
          <a:solidFill>
            <a:schemeClr val="bg1"/>
          </a:solidFill>
        </p:spPr>
        <p:txBody>
          <a:bodyPr wrap="square">
            <a:spAutoFit/>
          </a:bodyPr>
          <a:lstStyle/>
          <a:p>
            <a:pPr>
              <a:lnSpc>
                <a:spcPct val="150000"/>
              </a:lnSpc>
              <a:buNone/>
            </a:pPr>
            <a:r>
              <a:rPr lang="en-US" sz="2200" b="1" dirty="0">
                <a:latin typeface="Calibir"/>
              </a:rPr>
              <a:t>5. Header section</a:t>
            </a:r>
          </a:p>
          <a:p>
            <a:pPr>
              <a:lnSpc>
                <a:spcPct val="150000"/>
              </a:lnSpc>
            </a:pPr>
            <a:r>
              <a:rPr lang="en-US" sz="2200" dirty="0">
                <a:latin typeface="Calibir"/>
              </a:rPr>
              <a:t>&lt;header&gt;</a:t>
            </a:r>
          </a:p>
          <a:p>
            <a:pPr>
              <a:lnSpc>
                <a:spcPct val="150000"/>
              </a:lnSpc>
              <a:buNone/>
            </a:pPr>
            <a:r>
              <a:rPr lang="en-US" sz="2200" dirty="0">
                <a:latin typeface="Calibir"/>
              </a:rPr>
              <a:t>The header is the top part of the webpage.</a:t>
            </a:r>
          </a:p>
        </p:txBody>
      </p:sp>
    </p:spTree>
    <p:extLst>
      <p:ext uri="{BB962C8B-B14F-4D97-AF65-F5344CB8AC3E}">
        <p14:creationId xmlns:p14="http://schemas.microsoft.com/office/powerpoint/2010/main" val="283920573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63F15-AC47-D235-674D-6225670491D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26732B-1BD1-DFDB-7617-2538756415AA}"/>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566F8D05-76C6-6F23-666D-DE7BC94F53CF}"/>
              </a:ext>
            </a:extLst>
          </p:cNvPr>
          <p:cNvSpPr txBox="1"/>
          <p:nvPr/>
        </p:nvSpPr>
        <p:spPr>
          <a:xfrm>
            <a:off x="6062664" y="4786792"/>
            <a:ext cx="6129336" cy="2071208"/>
          </a:xfrm>
          <a:prstGeom prst="rect">
            <a:avLst/>
          </a:prstGeom>
          <a:solidFill>
            <a:schemeClr val="bg1"/>
          </a:solidFill>
        </p:spPr>
        <p:txBody>
          <a:bodyPr wrap="square">
            <a:spAutoFit/>
          </a:bodyPr>
          <a:lstStyle/>
          <a:p>
            <a:pPr>
              <a:lnSpc>
                <a:spcPct val="150000"/>
              </a:lnSpc>
              <a:buNone/>
            </a:pPr>
            <a:r>
              <a:rPr lang="en-US" sz="2200" b="1" dirty="0">
                <a:latin typeface="Calibir"/>
              </a:rPr>
              <a:t>Main heading</a:t>
            </a:r>
          </a:p>
          <a:p>
            <a:pPr>
              <a:lnSpc>
                <a:spcPct val="150000"/>
              </a:lnSpc>
            </a:pPr>
            <a:r>
              <a:rPr lang="en-US" sz="2200" dirty="0">
                <a:latin typeface="Calibir"/>
              </a:rPr>
              <a:t>&lt;h1 style="text-shadow: 0px </a:t>
            </a:r>
            <a:r>
              <a:rPr lang="en-US" sz="2200" dirty="0" err="1">
                <a:latin typeface="Calibir"/>
              </a:rPr>
              <a:t>0px</a:t>
            </a:r>
            <a:r>
              <a:rPr lang="en-US" sz="2200" dirty="0">
                <a:latin typeface="Calibir"/>
              </a:rPr>
              <a:t> 10px ivory;"&gt;</a:t>
            </a:r>
          </a:p>
          <a:p>
            <a:pPr>
              <a:lnSpc>
                <a:spcPct val="150000"/>
              </a:lnSpc>
              <a:buNone/>
            </a:pPr>
            <a:r>
              <a:rPr lang="en-US" sz="2200" dirty="0">
                <a:latin typeface="Calibir"/>
              </a:rPr>
              <a:t>This creates the main title:</a:t>
            </a:r>
          </a:p>
          <a:p>
            <a:pPr>
              <a:lnSpc>
                <a:spcPct val="150000"/>
              </a:lnSpc>
              <a:buNone/>
            </a:pPr>
            <a:r>
              <a:rPr lang="en-US" sz="2200" b="1" dirty="0">
                <a:latin typeface="Calibir"/>
              </a:rPr>
              <a:t>Murfreesboro Soccer</a:t>
            </a:r>
            <a:endParaRPr lang="en-US" sz="2200" dirty="0">
              <a:latin typeface="Calibir"/>
            </a:endParaRPr>
          </a:p>
        </p:txBody>
      </p:sp>
    </p:spTree>
    <p:extLst>
      <p:ext uri="{BB962C8B-B14F-4D97-AF65-F5344CB8AC3E}">
        <p14:creationId xmlns:p14="http://schemas.microsoft.com/office/powerpoint/2010/main" val="7878085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2B532-B4D9-B973-EF80-FCF23B58207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BF49D9-DF75-2747-CC97-49619415CDDF}"/>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19DC716E-9F19-A44F-D781-EF0C3310D799}"/>
              </a:ext>
            </a:extLst>
          </p:cNvPr>
          <p:cNvSpPr txBox="1"/>
          <p:nvPr/>
        </p:nvSpPr>
        <p:spPr>
          <a:xfrm>
            <a:off x="6062664" y="3771129"/>
            <a:ext cx="6129336" cy="3086871"/>
          </a:xfrm>
          <a:prstGeom prst="rect">
            <a:avLst/>
          </a:prstGeom>
          <a:solidFill>
            <a:schemeClr val="bg1"/>
          </a:solidFill>
        </p:spPr>
        <p:txBody>
          <a:bodyPr wrap="square">
            <a:spAutoFit/>
          </a:bodyPr>
          <a:lstStyle/>
          <a:p>
            <a:pPr>
              <a:lnSpc>
                <a:spcPct val="150000"/>
              </a:lnSpc>
              <a:buNone/>
            </a:pPr>
            <a:r>
              <a:rPr lang="en-US" sz="2200" b="1" dirty="0">
                <a:latin typeface="Calibir"/>
              </a:rPr>
              <a:t>Inline CSS styling</a:t>
            </a:r>
          </a:p>
          <a:p>
            <a:pPr>
              <a:lnSpc>
                <a:spcPct val="150000"/>
              </a:lnSpc>
            </a:pPr>
            <a:r>
              <a:rPr lang="en-US" sz="2200" dirty="0">
                <a:latin typeface="Calibir"/>
              </a:rPr>
              <a:t>style="text-shadow: 0px </a:t>
            </a:r>
            <a:r>
              <a:rPr lang="en-US" sz="2200" dirty="0" err="1">
                <a:latin typeface="Calibir"/>
              </a:rPr>
              <a:t>0px</a:t>
            </a:r>
            <a:r>
              <a:rPr lang="en-US" sz="2200" dirty="0">
                <a:latin typeface="Calibir"/>
              </a:rPr>
              <a:t> 10px ivory;"</a:t>
            </a:r>
          </a:p>
          <a:p>
            <a:pPr>
              <a:lnSpc>
                <a:spcPct val="150000"/>
              </a:lnSpc>
              <a:buNone/>
            </a:pPr>
            <a:r>
              <a:rPr lang="en-US" sz="2200" dirty="0">
                <a:latin typeface="Calibir"/>
              </a:rPr>
              <a:t>This adds a glowing shadow effect behind the text.</a:t>
            </a:r>
          </a:p>
          <a:p>
            <a:pPr marL="800100" lvl="1" indent="-342900">
              <a:lnSpc>
                <a:spcPct val="150000"/>
              </a:lnSpc>
              <a:buFont typeface="Arial" panose="020B0604020202020204" pitchFamily="34" charset="0"/>
              <a:buChar char="•"/>
            </a:pPr>
            <a:r>
              <a:rPr lang="en-US" sz="2200" dirty="0">
                <a:latin typeface="Calibir"/>
              </a:rPr>
              <a:t>0px </a:t>
            </a:r>
            <a:r>
              <a:rPr lang="en-US" sz="2200" dirty="0" err="1">
                <a:latin typeface="Calibir"/>
              </a:rPr>
              <a:t>0px</a:t>
            </a:r>
            <a:r>
              <a:rPr lang="en-US" sz="2200" dirty="0">
                <a:latin typeface="Calibir"/>
              </a:rPr>
              <a:t> = shadow position </a:t>
            </a:r>
          </a:p>
          <a:p>
            <a:pPr marL="800100" lvl="1" indent="-342900">
              <a:lnSpc>
                <a:spcPct val="150000"/>
              </a:lnSpc>
              <a:buFont typeface="Arial" panose="020B0604020202020204" pitchFamily="34" charset="0"/>
              <a:buChar char="•"/>
            </a:pPr>
            <a:r>
              <a:rPr lang="en-US" sz="2200" dirty="0">
                <a:latin typeface="Calibir"/>
              </a:rPr>
              <a:t>10px = blur amount </a:t>
            </a:r>
          </a:p>
          <a:p>
            <a:pPr marL="800100" lvl="1" indent="-342900">
              <a:lnSpc>
                <a:spcPct val="150000"/>
              </a:lnSpc>
              <a:buFont typeface="Arial" panose="020B0604020202020204" pitchFamily="34" charset="0"/>
              <a:buChar char="•"/>
            </a:pPr>
            <a:r>
              <a:rPr lang="en-US" sz="2200" dirty="0">
                <a:latin typeface="Calibir"/>
              </a:rPr>
              <a:t>ivory = shadow </a:t>
            </a:r>
            <a:r>
              <a:rPr lang="en-US" sz="2200" dirty="0" err="1">
                <a:latin typeface="Calibir"/>
              </a:rPr>
              <a:t>colour</a:t>
            </a:r>
            <a:endParaRPr lang="en-US" sz="2200" dirty="0">
              <a:latin typeface="Calibir"/>
            </a:endParaRPr>
          </a:p>
        </p:txBody>
      </p:sp>
    </p:spTree>
    <p:extLst>
      <p:ext uri="{BB962C8B-B14F-4D97-AF65-F5344CB8AC3E}">
        <p14:creationId xmlns:p14="http://schemas.microsoft.com/office/powerpoint/2010/main" val="149018751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22D31-07B7-92F6-2A00-1CBD1D2652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6394A9-390F-BE1A-F8D0-A269265B6163}"/>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4DC9114B-B603-750F-CFC4-2C1B49F4064C}"/>
              </a:ext>
            </a:extLst>
          </p:cNvPr>
          <p:cNvSpPr txBox="1"/>
          <p:nvPr/>
        </p:nvSpPr>
        <p:spPr>
          <a:xfrm>
            <a:off x="6062664" y="3771129"/>
            <a:ext cx="6129336" cy="3086871"/>
          </a:xfrm>
          <a:prstGeom prst="rect">
            <a:avLst/>
          </a:prstGeom>
          <a:solidFill>
            <a:schemeClr val="bg1"/>
          </a:solidFill>
        </p:spPr>
        <p:txBody>
          <a:bodyPr wrap="square">
            <a:spAutoFit/>
          </a:bodyPr>
          <a:lstStyle/>
          <a:p>
            <a:pPr>
              <a:lnSpc>
                <a:spcPct val="150000"/>
              </a:lnSpc>
              <a:buNone/>
            </a:pPr>
            <a:r>
              <a:rPr lang="en-US" sz="2200" b="1" dirty="0">
                <a:latin typeface="Calibir"/>
              </a:rPr>
              <a:t>Italic text</a:t>
            </a:r>
          </a:p>
          <a:p>
            <a:pPr>
              <a:lnSpc>
                <a:spcPct val="150000"/>
              </a:lnSpc>
            </a:pPr>
            <a:r>
              <a:rPr lang="en-US" sz="2200" dirty="0">
                <a:latin typeface="Calibir"/>
              </a:rPr>
              <a:t>&lt;p style="font-style: italic;"&gt;Join our league today!&lt;/p&gt;</a:t>
            </a:r>
          </a:p>
          <a:p>
            <a:pPr>
              <a:lnSpc>
                <a:spcPct val="150000"/>
              </a:lnSpc>
              <a:buNone/>
            </a:pPr>
            <a:r>
              <a:rPr lang="en-US" sz="2200" dirty="0">
                <a:latin typeface="Calibir"/>
              </a:rPr>
              <a:t>This creates a paragraph in italic style.</a:t>
            </a:r>
          </a:p>
          <a:p>
            <a:pPr>
              <a:lnSpc>
                <a:spcPct val="150000"/>
              </a:lnSpc>
              <a:buNone/>
            </a:pPr>
            <a:r>
              <a:rPr lang="en-US" sz="2200" dirty="0">
                <a:latin typeface="Calibir"/>
              </a:rPr>
              <a:t>The message encourages people to join the soccer league.</a:t>
            </a:r>
          </a:p>
        </p:txBody>
      </p:sp>
    </p:spTree>
    <p:extLst>
      <p:ext uri="{BB962C8B-B14F-4D97-AF65-F5344CB8AC3E}">
        <p14:creationId xmlns:p14="http://schemas.microsoft.com/office/powerpoint/2010/main" val="302983248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0191E-F374-674E-13B3-7992A109568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E8D23C6-ADEC-C471-E9FC-CB791782313D}"/>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D937E789-934E-119C-B2B4-7ACB427CEF6A}"/>
              </a:ext>
            </a:extLst>
          </p:cNvPr>
          <p:cNvSpPr txBox="1"/>
          <p:nvPr/>
        </p:nvSpPr>
        <p:spPr>
          <a:xfrm>
            <a:off x="6062664" y="3771129"/>
            <a:ext cx="6129336" cy="3086871"/>
          </a:xfrm>
          <a:prstGeom prst="rect">
            <a:avLst/>
          </a:prstGeom>
          <a:solidFill>
            <a:schemeClr val="bg1"/>
          </a:solidFill>
        </p:spPr>
        <p:txBody>
          <a:bodyPr wrap="square">
            <a:spAutoFit/>
          </a:bodyPr>
          <a:lstStyle/>
          <a:p>
            <a:pPr>
              <a:lnSpc>
                <a:spcPct val="150000"/>
              </a:lnSpc>
              <a:buNone/>
            </a:pPr>
            <a:r>
              <a:rPr lang="en-US" sz="2200" b="1" dirty="0">
                <a:latin typeface="Calibir"/>
              </a:rPr>
              <a:t>6. Aside section</a:t>
            </a:r>
          </a:p>
          <a:p>
            <a:pPr>
              <a:lnSpc>
                <a:spcPct val="150000"/>
              </a:lnSpc>
            </a:pPr>
            <a:r>
              <a:rPr lang="en-US" sz="2200" dirty="0">
                <a:latin typeface="Calibir"/>
              </a:rPr>
              <a:t>&lt;aside&gt;</a:t>
            </a:r>
          </a:p>
          <a:p>
            <a:pPr>
              <a:lnSpc>
                <a:spcPct val="150000"/>
              </a:lnSpc>
              <a:buNone/>
            </a:pPr>
            <a:r>
              <a:rPr lang="en-US" sz="2200" dirty="0">
                <a:latin typeface="Calibir"/>
              </a:rPr>
              <a:t>The &lt;aside&gt; section contains extra or side information.</a:t>
            </a:r>
          </a:p>
          <a:p>
            <a:pPr>
              <a:lnSpc>
                <a:spcPct val="150000"/>
              </a:lnSpc>
              <a:buNone/>
            </a:pPr>
            <a:r>
              <a:rPr lang="en-US" sz="2200" dirty="0">
                <a:latin typeface="Calibir"/>
              </a:rPr>
              <a:t>In this case:</a:t>
            </a:r>
          </a:p>
          <a:p>
            <a:pPr marL="342900" indent="-342900">
              <a:lnSpc>
                <a:spcPct val="150000"/>
              </a:lnSpc>
              <a:buFont typeface="Arial" panose="020B0604020202020204" pitchFamily="34" charset="0"/>
              <a:buChar char="•"/>
            </a:pPr>
            <a:r>
              <a:rPr lang="en-US" sz="2200" dirty="0">
                <a:latin typeface="Calibir"/>
              </a:rPr>
              <a:t>upcoming matches information</a:t>
            </a:r>
          </a:p>
        </p:txBody>
      </p:sp>
    </p:spTree>
    <p:extLst>
      <p:ext uri="{BB962C8B-B14F-4D97-AF65-F5344CB8AC3E}">
        <p14:creationId xmlns:p14="http://schemas.microsoft.com/office/powerpoint/2010/main" val="102388813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AC97D-3A19-0A2C-E171-7AF7110595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662E4A-FBB6-F923-3762-76F3784C2ED2}"/>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82F06CB4-D27A-833A-1746-C2E63D19FA98}"/>
              </a:ext>
            </a:extLst>
          </p:cNvPr>
          <p:cNvSpPr txBox="1"/>
          <p:nvPr/>
        </p:nvSpPr>
        <p:spPr>
          <a:xfrm>
            <a:off x="6062664" y="3771129"/>
            <a:ext cx="6129336" cy="3086871"/>
          </a:xfrm>
          <a:prstGeom prst="rect">
            <a:avLst/>
          </a:prstGeom>
          <a:solidFill>
            <a:schemeClr val="bg1"/>
          </a:solidFill>
        </p:spPr>
        <p:txBody>
          <a:bodyPr wrap="square">
            <a:spAutoFit/>
          </a:bodyPr>
          <a:lstStyle/>
          <a:p>
            <a:pPr>
              <a:lnSpc>
                <a:spcPct val="150000"/>
              </a:lnSpc>
              <a:buNone/>
            </a:pPr>
            <a:r>
              <a:rPr lang="en-US" sz="2200" b="1" dirty="0">
                <a:latin typeface="Calibir"/>
              </a:rPr>
              <a:t>side heading</a:t>
            </a:r>
          </a:p>
          <a:p>
            <a:pPr>
              <a:lnSpc>
                <a:spcPct val="150000"/>
              </a:lnSpc>
            </a:pPr>
            <a:r>
              <a:rPr lang="en-US" sz="2200" dirty="0">
                <a:latin typeface="Calibir"/>
              </a:rPr>
              <a:t>&lt;h2&gt;Upcoming Matches&lt;/h2&gt;</a:t>
            </a:r>
          </a:p>
          <a:p>
            <a:pPr>
              <a:lnSpc>
                <a:spcPct val="150000"/>
              </a:lnSpc>
              <a:buNone/>
            </a:pPr>
            <a:r>
              <a:rPr lang="en-US" sz="2200" dirty="0">
                <a:latin typeface="Calibir"/>
              </a:rPr>
              <a:t>A smaller heading for the matches section.</a:t>
            </a:r>
          </a:p>
          <a:p>
            <a:pPr>
              <a:lnSpc>
                <a:spcPct val="150000"/>
              </a:lnSpc>
              <a:buNone/>
            </a:pPr>
            <a:r>
              <a:rPr lang="en-US" sz="2200" b="1" dirty="0">
                <a:latin typeface="Calibir"/>
              </a:rPr>
              <a:t>Aside paragraph</a:t>
            </a:r>
          </a:p>
          <a:p>
            <a:pPr>
              <a:lnSpc>
                <a:spcPct val="150000"/>
              </a:lnSpc>
            </a:pPr>
            <a:r>
              <a:rPr lang="en-US" sz="2200" dirty="0">
                <a:latin typeface="Calibir"/>
              </a:rPr>
              <a:t>&lt;p&gt;Check out the latest match schedules!&lt;/p&gt;</a:t>
            </a:r>
          </a:p>
          <a:p>
            <a:pPr>
              <a:lnSpc>
                <a:spcPct val="150000"/>
              </a:lnSpc>
              <a:buNone/>
            </a:pPr>
            <a:r>
              <a:rPr lang="en-US" sz="2200" dirty="0">
                <a:latin typeface="Calibir"/>
              </a:rPr>
              <a:t>This tells visitors to look at the match schedule.</a:t>
            </a:r>
          </a:p>
        </p:txBody>
      </p:sp>
    </p:spTree>
    <p:extLst>
      <p:ext uri="{BB962C8B-B14F-4D97-AF65-F5344CB8AC3E}">
        <p14:creationId xmlns:p14="http://schemas.microsoft.com/office/powerpoint/2010/main" val="55225940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61B67-BE92-9040-20F1-B2DB64E1EB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D375345-2B51-6B38-A953-9C10DF2B2705}"/>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F39F7A64-71CA-D597-920A-4AC8BABCDB13}"/>
              </a:ext>
            </a:extLst>
          </p:cNvPr>
          <p:cNvSpPr txBox="1"/>
          <p:nvPr/>
        </p:nvSpPr>
        <p:spPr>
          <a:xfrm>
            <a:off x="6062664" y="3263298"/>
            <a:ext cx="6129336" cy="3594702"/>
          </a:xfrm>
          <a:prstGeom prst="rect">
            <a:avLst/>
          </a:prstGeom>
          <a:solidFill>
            <a:schemeClr val="bg1"/>
          </a:solidFill>
        </p:spPr>
        <p:txBody>
          <a:bodyPr wrap="square">
            <a:spAutoFit/>
          </a:bodyPr>
          <a:lstStyle/>
          <a:p>
            <a:pPr>
              <a:lnSpc>
                <a:spcPct val="150000"/>
              </a:lnSpc>
              <a:buNone/>
            </a:pPr>
            <a:r>
              <a:rPr lang="en-US" sz="2200" b="1" dirty="0">
                <a:latin typeface="Calibir"/>
              </a:rPr>
              <a:t>7. Footer section</a:t>
            </a:r>
          </a:p>
          <a:p>
            <a:pPr>
              <a:lnSpc>
                <a:spcPct val="150000"/>
              </a:lnSpc>
            </a:pPr>
            <a:r>
              <a:rPr lang="en-US" sz="2200" dirty="0">
                <a:latin typeface="Calibir"/>
              </a:rPr>
              <a:t>&lt;footer&gt;</a:t>
            </a:r>
          </a:p>
          <a:p>
            <a:pPr>
              <a:lnSpc>
                <a:spcPct val="150000"/>
              </a:lnSpc>
              <a:buNone/>
            </a:pPr>
            <a:r>
              <a:rPr lang="en-US" sz="2200" dirty="0">
                <a:latin typeface="Calibir"/>
              </a:rPr>
              <a:t>The footer is the bottom part of the webpage.</a:t>
            </a:r>
          </a:p>
          <a:p>
            <a:pPr>
              <a:lnSpc>
                <a:spcPct val="150000"/>
              </a:lnSpc>
              <a:buNone/>
            </a:pPr>
            <a:r>
              <a:rPr lang="en-US" sz="2200" b="1" dirty="0">
                <a:latin typeface="Calibir"/>
              </a:rPr>
              <a:t>Contact information</a:t>
            </a:r>
          </a:p>
          <a:p>
            <a:pPr>
              <a:lnSpc>
                <a:spcPct val="150000"/>
              </a:lnSpc>
            </a:pPr>
            <a:r>
              <a:rPr lang="en-US" sz="2200" dirty="0">
                <a:latin typeface="Calibir"/>
              </a:rPr>
              <a:t>&lt;p&gt;Contact us: soccer@murfreesboro.org&lt;/p&gt;</a:t>
            </a:r>
          </a:p>
          <a:p>
            <a:pPr>
              <a:lnSpc>
                <a:spcPct val="150000"/>
              </a:lnSpc>
              <a:buNone/>
            </a:pPr>
            <a:r>
              <a:rPr lang="en-US" sz="2200" dirty="0">
                <a:latin typeface="Calibir"/>
              </a:rPr>
              <a:t>Displays the contact email address for the soccer league.</a:t>
            </a:r>
          </a:p>
        </p:txBody>
      </p:sp>
    </p:spTree>
    <p:extLst>
      <p:ext uri="{BB962C8B-B14F-4D97-AF65-F5344CB8AC3E}">
        <p14:creationId xmlns:p14="http://schemas.microsoft.com/office/powerpoint/2010/main" val="257873955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20A81-3E7C-9159-1C3A-C06D3068DE9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296C0E-C3EE-F400-F02E-9B4ACC93BF94}"/>
              </a:ext>
            </a:extLst>
          </p:cNvPr>
          <p:cNvSpPr txBox="1"/>
          <p:nvPr/>
        </p:nvSpPr>
        <p:spPr>
          <a:xfrm>
            <a:off x="0" y="-5417"/>
            <a:ext cx="12192000" cy="6863417"/>
          </a:xfrm>
          <a:prstGeom prst="rect">
            <a:avLst/>
          </a:prstGeom>
          <a:solidFill>
            <a:schemeClr val="tx1"/>
          </a:solidFill>
        </p:spPr>
        <p:txBody>
          <a:bodyPr wrap="square">
            <a:spAutoFit/>
          </a:bodyPr>
          <a:lstStyle/>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DOCTYPE</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lang</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a:t>
            </a:r>
            <a:r>
              <a:rPr lang="en-AU" sz="2000" b="0" dirty="0" err="1">
                <a:solidFill>
                  <a:srgbClr val="A5D6FF"/>
                </a:solidFill>
                <a:effectLst/>
                <a:latin typeface="Consolas" panose="020B0609020204030204" pitchFamily="49" charset="0"/>
              </a:rPr>
              <a:t>en</a:t>
            </a:r>
            <a:r>
              <a:rPr lang="en-AU" sz="2000" b="0" dirty="0">
                <a:solidFill>
                  <a:srgbClr val="A5D6FF"/>
                </a:solidFill>
                <a:effectLst/>
                <a:latin typeface="Consolas" panose="020B0609020204030204" pitchFamily="49" charset="0"/>
              </a:rPr>
              <a:t>"</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meta</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charset</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"UTF-8"</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Regional Soccer League</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title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link</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rel</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"stylesheet"</a:t>
            </a:r>
            <a:r>
              <a:rPr lang="en-AU" sz="2000" b="0" dirty="0">
                <a:solidFill>
                  <a:srgbClr val="BBBEBF"/>
                </a:solidFill>
                <a:effectLst/>
                <a:latin typeface="Consolas" panose="020B0609020204030204" pitchFamily="49" charset="0"/>
              </a:rPr>
              <a:t> </a:t>
            </a:r>
            <a:r>
              <a:rPr lang="en-AU" sz="2000" b="0" dirty="0" err="1">
                <a:solidFill>
                  <a:srgbClr val="9CDCFE"/>
                </a:solidFill>
                <a:effectLst/>
                <a:latin typeface="Consolas" panose="020B0609020204030204" pitchFamily="49" charset="0"/>
              </a:rPr>
              <a:t>href</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"Responsive and Print-Ready CSS for a Modern Web Layout.css"</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"text-shadow: 0px </a:t>
            </a:r>
            <a:r>
              <a:rPr lang="en-AU" sz="2000" b="0" dirty="0" err="1">
                <a:solidFill>
                  <a:srgbClr val="A5D6FF"/>
                </a:solidFill>
                <a:effectLst/>
                <a:latin typeface="Consolas" panose="020B0609020204030204" pitchFamily="49" charset="0"/>
              </a:rPr>
              <a:t>0px</a:t>
            </a:r>
            <a:r>
              <a:rPr lang="en-AU" sz="2000" b="0" dirty="0">
                <a:solidFill>
                  <a:srgbClr val="A5D6FF"/>
                </a:solidFill>
                <a:effectLst/>
                <a:latin typeface="Consolas" panose="020B0609020204030204" pitchFamily="49" charset="0"/>
              </a:rPr>
              <a:t> 10px ivory;"</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Murfreesboro Soccer</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h1</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BBBEBF"/>
                </a:solidFill>
                <a:effectLst/>
                <a:latin typeface="Consolas" panose="020B0609020204030204" pitchFamily="49" charset="0"/>
              </a:rPr>
              <a:t> </a:t>
            </a:r>
            <a:r>
              <a:rPr lang="en-AU" sz="2000" b="0" dirty="0">
                <a:solidFill>
                  <a:srgbClr val="9CDCFE"/>
                </a:solidFill>
                <a:effectLst/>
                <a:latin typeface="Consolas" panose="020B0609020204030204" pitchFamily="49" charset="0"/>
              </a:rPr>
              <a:t>style</a:t>
            </a:r>
            <a:r>
              <a:rPr lang="en-AU" sz="2000" b="0" dirty="0">
                <a:solidFill>
                  <a:srgbClr val="BBBEBF"/>
                </a:solidFill>
                <a:effectLst/>
                <a:latin typeface="Consolas" panose="020B0609020204030204" pitchFamily="49" charset="0"/>
              </a:rPr>
              <a:t>=</a:t>
            </a:r>
            <a:r>
              <a:rPr lang="en-AU" sz="2000" b="0" dirty="0">
                <a:solidFill>
                  <a:srgbClr val="A5D6FF"/>
                </a:solidFill>
                <a:effectLst/>
                <a:latin typeface="Consolas" panose="020B0609020204030204" pitchFamily="49" charset="0"/>
              </a:rPr>
              <a:t>"font-style: italic;"</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Join our league today!</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header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Upcoming Matches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h2</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Check out the latest match schedules!</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aside</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r>
              <a:rPr lang="en-AU" sz="2000" b="0" dirty="0">
                <a:solidFill>
                  <a:srgbClr val="BBBEBF"/>
                </a:solidFill>
                <a:effectLst/>
                <a:latin typeface="Consolas" panose="020B0609020204030204" pitchFamily="49" charset="0"/>
              </a:rPr>
              <a:t>Contact us: soccer@murfreesboro.org</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p</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BBBEBF"/>
                </a:solidFill>
                <a:effectLst/>
                <a:latin typeface="Consolas" panose="020B0609020204030204" pitchFamily="49" charset="0"/>
              </a:rPr>
              <a:t>    </a:t>
            </a: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footer</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body</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a:p>
            <a:pPr>
              <a:buNone/>
            </a:pPr>
            <a:r>
              <a:rPr lang="en-AU" sz="2000" b="0" dirty="0">
                <a:solidFill>
                  <a:srgbClr val="808080"/>
                </a:solidFill>
                <a:effectLst/>
                <a:latin typeface="Consolas" panose="020B0609020204030204" pitchFamily="49" charset="0"/>
              </a:rPr>
              <a:t>&lt;/</a:t>
            </a:r>
            <a:r>
              <a:rPr lang="en-AU" sz="2000" b="0" dirty="0">
                <a:solidFill>
                  <a:srgbClr val="7EE787"/>
                </a:solidFill>
                <a:effectLst/>
                <a:latin typeface="Consolas" panose="020B0609020204030204" pitchFamily="49" charset="0"/>
              </a:rPr>
              <a:t>html</a:t>
            </a:r>
            <a:r>
              <a:rPr lang="en-AU" sz="2000" b="0" dirty="0">
                <a:solidFill>
                  <a:srgbClr val="808080"/>
                </a:solidFill>
                <a:effectLst/>
                <a:latin typeface="Consolas" panose="020B0609020204030204" pitchFamily="49" charset="0"/>
              </a:rPr>
              <a:t>&gt;</a:t>
            </a:r>
            <a:endParaRPr lang="en-AU" sz="200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FF53DF4E-6CF8-F833-40FA-CB74739C6ECC}"/>
              </a:ext>
            </a:extLst>
          </p:cNvPr>
          <p:cNvSpPr txBox="1"/>
          <p:nvPr/>
        </p:nvSpPr>
        <p:spPr>
          <a:xfrm>
            <a:off x="6096000" y="4786792"/>
            <a:ext cx="6129336" cy="2071208"/>
          </a:xfrm>
          <a:prstGeom prst="rect">
            <a:avLst/>
          </a:prstGeom>
          <a:solidFill>
            <a:schemeClr val="bg1"/>
          </a:solidFill>
        </p:spPr>
        <p:txBody>
          <a:bodyPr wrap="square">
            <a:spAutoFit/>
          </a:bodyPr>
          <a:lstStyle/>
          <a:p>
            <a:pPr>
              <a:lnSpc>
                <a:spcPct val="150000"/>
              </a:lnSpc>
              <a:buNone/>
            </a:pPr>
            <a:r>
              <a:rPr lang="en-US" sz="2200" b="1" dirty="0">
                <a:latin typeface="Calibir"/>
              </a:rPr>
              <a:t>8. Closing tags</a:t>
            </a:r>
          </a:p>
          <a:p>
            <a:pPr>
              <a:lnSpc>
                <a:spcPct val="150000"/>
              </a:lnSpc>
            </a:pPr>
            <a:r>
              <a:rPr lang="en-US" sz="2200" dirty="0">
                <a:latin typeface="Calibir"/>
              </a:rPr>
              <a:t>&lt;/body&gt;</a:t>
            </a:r>
            <a:br>
              <a:rPr lang="en-US" sz="2200" dirty="0">
                <a:latin typeface="Calibir"/>
              </a:rPr>
            </a:br>
            <a:r>
              <a:rPr lang="en-US" sz="2200" dirty="0">
                <a:latin typeface="Calibir"/>
              </a:rPr>
              <a:t>&lt;/html&gt;</a:t>
            </a:r>
          </a:p>
          <a:p>
            <a:pPr>
              <a:lnSpc>
                <a:spcPct val="150000"/>
              </a:lnSpc>
              <a:buNone/>
            </a:pPr>
            <a:r>
              <a:rPr lang="en-US" sz="2200" dirty="0">
                <a:latin typeface="Calibir"/>
              </a:rPr>
              <a:t>These close the webpage structure properly.</a:t>
            </a:r>
          </a:p>
        </p:txBody>
      </p:sp>
    </p:spTree>
    <p:extLst>
      <p:ext uri="{BB962C8B-B14F-4D97-AF65-F5344CB8AC3E}">
        <p14:creationId xmlns:p14="http://schemas.microsoft.com/office/powerpoint/2010/main" val="92064294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CE95CF0-A6E7-A803-0634-45B26BE7E75B}"/>
              </a:ext>
            </a:extLst>
          </p:cNvPr>
          <p:cNvSpPr txBox="1"/>
          <p:nvPr/>
        </p:nvSpPr>
        <p:spPr>
          <a:xfrm>
            <a:off x="0" y="0"/>
            <a:ext cx="10846676"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8" name="Picture 7">
            <a:extLst>
              <a:ext uri="{FF2B5EF4-FFF2-40B4-BE49-F238E27FC236}">
                <a16:creationId xmlns:a16="http://schemas.microsoft.com/office/drawing/2014/main" id="{2E5DC027-BAB0-9EF9-4E72-BE2B2FAD0C0E}"/>
              </a:ext>
            </a:extLst>
          </p:cNvPr>
          <p:cNvPicPr>
            <a:picLocks noChangeAspect="1"/>
          </p:cNvPicPr>
          <p:nvPr/>
        </p:nvPicPr>
        <p:blipFill rotWithShape="1">
          <a:blip r:embed="rId2"/>
          <a:srcRect b="34100"/>
          <a:stretch/>
        </p:blipFill>
        <p:spPr>
          <a:xfrm>
            <a:off x="0" y="654269"/>
            <a:ext cx="12192000" cy="4519448"/>
          </a:xfrm>
          <a:prstGeom prst="rect">
            <a:avLst/>
          </a:prstGeom>
        </p:spPr>
      </p:pic>
      <p:sp>
        <p:nvSpPr>
          <p:cNvPr id="9" name="TextBox 8">
            <a:extLst>
              <a:ext uri="{FF2B5EF4-FFF2-40B4-BE49-F238E27FC236}">
                <a16:creationId xmlns:a16="http://schemas.microsoft.com/office/drawing/2014/main" id="{ABB8E2CC-31AF-8F77-411A-E2DF1447302B}"/>
              </a:ext>
            </a:extLst>
          </p:cNvPr>
          <p:cNvSpPr txBox="1"/>
          <p:nvPr/>
        </p:nvSpPr>
        <p:spPr>
          <a:xfrm>
            <a:off x="147145" y="5173717"/>
            <a:ext cx="12044855" cy="568361"/>
          </a:xfrm>
          <a:prstGeom prst="rect">
            <a:avLst/>
          </a:prstGeom>
          <a:noFill/>
        </p:spPr>
        <p:txBody>
          <a:bodyPr wrap="square" rtlCol="0">
            <a:spAutoFit/>
          </a:bodyPr>
          <a:lstStyle/>
          <a:p>
            <a:pPr>
              <a:lnSpc>
                <a:spcPct val="150000"/>
              </a:lnSpc>
            </a:pPr>
            <a:r>
              <a:rPr lang="en-US" sz="2300" dirty="0">
                <a:latin typeface="Calibri" panose="020F0502020204030204" pitchFamily="34" charset="0"/>
                <a:cs typeface="Calibri" panose="020F0502020204030204" pitchFamily="34" charset="0"/>
              </a:rPr>
              <a:t>The website specifically target potential participants and fans of the soccer league in Murfreesboro.</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0467544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B1BC1F-E475-FF17-1B3D-D5A5E78ABE3F}"/>
              </a:ext>
            </a:extLst>
          </p:cNvPr>
          <p:cNvSpPr txBox="1"/>
          <p:nvPr/>
        </p:nvSpPr>
        <p:spPr>
          <a:xfrm>
            <a:off x="47296" y="615986"/>
            <a:ext cx="10213389" cy="16970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Lecture 6 covers more CSS basics with a focus on enhancing web design through advanced styling techniques. The lecture covers various aspects of CSS:</a:t>
            </a:r>
          </a:p>
        </p:txBody>
      </p:sp>
      <p:sp>
        <p:nvSpPr>
          <p:cNvPr id="5" name="TextBox 4">
            <a:extLst>
              <a:ext uri="{FF2B5EF4-FFF2-40B4-BE49-F238E27FC236}">
                <a16:creationId xmlns:a16="http://schemas.microsoft.com/office/drawing/2014/main" id="{0EDA831C-3F59-8361-5C78-944EC8508F9C}"/>
              </a:ext>
            </a:extLst>
          </p:cNvPr>
          <p:cNvSpPr txBox="1"/>
          <p:nvPr/>
        </p:nvSpPr>
        <p:spPr>
          <a:xfrm>
            <a:off x="94593" y="0"/>
            <a:ext cx="8976732"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7D44D6D7-2685-F91A-C9F9-D6B7EE4DB48E}"/>
              </a:ext>
            </a:extLst>
          </p:cNvPr>
          <p:cNvSpPr txBox="1"/>
          <p:nvPr/>
        </p:nvSpPr>
        <p:spPr>
          <a:xfrm>
            <a:off x="94593" y="2436597"/>
            <a:ext cx="12097407" cy="391305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1" dirty="0">
                <a:latin typeface="Calibri" panose="020F0502020204030204" pitchFamily="34" charset="0"/>
                <a:cs typeface="Calibri" panose="020F0502020204030204" pitchFamily="34" charset="0"/>
              </a:rPr>
              <a:t>Web Fonts: </a:t>
            </a:r>
            <a:r>
              <a:rPr lang="en-US" sz="2400" dirty="0">
                <a:latin typeface="Calibri" panose="020F0502020204030204" pitchFamily="34" charset="0"/>
                <a:cs typeface="Calibri" panose="020F0502020204030204" pitchFamily="34" charset="0"/>
              </a:rPr>
              <a:t>The lecture discusses the importance of consistent font display across different user devices. Strategies include using font stacks, generic font families, and downloadable fonts with the </a:t>
            </a:r>
            <a:r>
              <a:rPr lang="en-US" sz="2400" b="1" dirty="0">
                <a:latin typeface="Calibri" panose="020F0502020204030204" pitchFamily="34" charset="0"/>
                <a:cs typeface="Calibri" panose="020F0502020204030204" pitchFamily="34" charset="0"/>
              </a:rPr>
              <a:t>@font-face </a:t>
            </a:r>
            <a:r>
              <a:rPr lang="en-US" sz="2400" dirty="0">
                <a:latin typeface="Calibri" panose="020F0502020204030204" pitchFamily="34" charset="0"/>
                <a:cs typeface="Calibri" panose="020F0502020204030204" pitchFamily="34" charset="0"/>
              </a:rPr>
              <a:t>rule to ensure fonts are uniform across platforms.</a:t>
            </a:r>
          </a:p>
          <a:p>
            <a:pPr marL="342900" indent="-342900">
              <a:lnSpc>
                <a:spcPct val="150000"/>
              </a:lnSpc>
              <a:buFont typeface="Arial" panose="020B0604020202020204" pitchFamily="34" charset="0"/>
              <a:buChar char="•"/>
            </a:pPr>
            <a:r>
              <a:rPr lang="en-US" sz="2400" b="1" dirty="0">
                <a:latin typeface="Calibri" panose="020F0502020204030204" pitchFamily="34" charset="0"/>
                <a:cs typeface="Calibri" panose="020F0502020204030204" pitchFamily="34" charset="0"/>
              </a:rPr>
              <a:t>Font Properties: </a:t>
            </a:r>
            <a:r>
              <a:rPr lang="en-US" sz="2400" dirty="0">
                <a:latin typeface="Calibri" panose="020F0502020204030204" pitchFamily="34" charset="0"/>
                <a:cs typeface="Calibri" panose="020F0502020204030204" pitchFamily="34" charset="0"/>
              </a:rPr>
              <a:t>It covers how to declare font families, customize fonts from sources like Google Fonts, and adjust font size and line height for better readability and aesthetic appeal.</a:t>
            </a:r>
          </a:p>
          <a:p>
            <a:pPr marL="342900" indent="-342900">
              <a:lnSpc>
                <a:spcPct val="150000"/>
              </a:lnSpc>
              <a:buFont typeface="Arial" panose="020B0604020202020204" pitchFamily="34" charset="0"/>
              <a:buChar char="•"/>
            </a:pPr>
            <a:r>
              <a:rPr lang="en-US" sz="2400" b="1" dirty="0">
                <a:latin typeface="Calibri" panose="020F0502020204030204" pitchFamily="34" charset="0"/>
                <a:cs typeface="Calibri" panose="020F0502020204030204" pitchFamily="34" charset="0"/>
              </a:rPr>
              <a:t>Text Styling: </a:t>
            </a:r>
            <a:r>
              <a:rPr lang="en-US" sz="2400" dirty="0">
                <a:latin typeface="Calibri" panose="020F0502020204030204" pitchFamily="34" charset="0"/>
                <a:cs typeface="Calibri" panose="020F0502020204030204" pitchFamily="34" charset="0"/>
              </a:rPr>
              <a:t>Techniques to implement bold and italics using CSS properties like </a:t>
            </a:r>
            <a:r>
              <a:rPr lang="en-US" sz="2400" b="1" dirty="0">
                <a:latin typeface="Calibri" panose="020F0502020204030204" pitchFamily="34" charset="0"/>
                <a:cs typeface="Calibri" panose="020F0502020204030204" pitchFamily="34" charset="0"/>
              </a:rPr>
              <a:t>font-weight </a:t>
            </a:r>
            <a:r>
              <a:rPr lang="en-US" sz="2400" dirty="0">
                <a:latin typeface="Calibri" panose="020F0502020204030204" pitchFamily="34" charset="0"/>
                <a:cs typeface="Calibri" panose="020F0502020204030204" pitchFamily="34" charset="0"/>
              </a:rPr>
              <a:t>and </a:t>
            </a:r>
            <a:r>
              <a:rPr lang="en-US" sz="2400" b="1" dirty="0">
                <a:latin typeface="Calibri" panose="020F0502020204030204" pitchFamily="34" charset="0"/>
                <a:cs typeface="Calibri" panose="020F0502020204030204" pitchFamily="34" charset="0"/>
              </a:rPr>
              <a:t>font-style</a:t>
            </a:r>
            <a:r>
              <a:rPr lang="en-US" sz="2400" dirty="0">
                <a:latin typeface="Calibri" panose="020F0502020204030204" pitchFamily="34" charset="0"/>
                <a:cs typeface="Calibri" panose="020F0502020204030204" pitchFamily="34" charset="0"/>
              </a:rPr>
              <a:t>, often with the </a:t>
            </a:r>
            <a:r>
              <a:rPr lang="en-US" sz="2400" b="1" dirty="0">
                <a:latin typeface="Calibri" panose="020F0502020204030204" pitchFamily="34" charset="0"/>
                <a:cs typeface="Calibri" panose="020F0502020204030204" pitchFamily="34" charset="0"/>
              </a:rPr>
              <a:t>span</a:t>
            </a:r>
            <a:r>
              <a:rPr lang="en-US" sz="2400" dirty="0">
                <a:latin typeface="Calibri" panose="020F0502020204030204" pitchFamily="34" charset="0"/>
                <a:cs typeface="Calibri" panose="020F0502020204030204" pitchFamily="34" charset="0"/>
              </a:rPr>
              <a:t> element to target specific text sections.</a:t>
            </a:r>
          </a:p>
        </p:txBody>
      </p:sp>
    </p:spTree>
    <p:extLst>
      <p:ext uri="{BB962C8B-B14F-4D97-AF65-F5344CB8AC3E}">
        <p14:creationId xmlns:p14="http://schemas.microsoft.com/office/powerpoint/2010/main" val="170989584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8976732"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7D44D6D7-2685-F91A-C9F9-D6B7EE4DB48E}"/>
              </a:ext>
            </a:extLst>
          </p:cNvPr>
          <p:cNvSpPr txBox="1"/>
          <p:nvPr/>
        </p:nvSpPr>
        <p:spPr>
          <a:xfrm>
            <a:off x="0" y="1564238"/>
            <a:ext cx="12097407" cy="446705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1" dirty="0">
                <a:latin typeface="Calibri" panose="020F0502020204030204" pitchFamily="34" charset="0"/>
                <a:cs typeface="Calibri" panose="020F0502020204030204" pitchFamily="34" charset="0"/>
              </a:rPr>
              <a:t>Pseudo-Elements: </a:t>
            </a:r>
            <a:r>
              <a:rPr lang="en-US" sz="2400" dirty="0">
                <a:latin typeface="Calibri" panose="020F0502020204030204" pitchFamily="34" charset="0"/>
                <a:cs typeface="Calibri" panose="020F0502020204030204" pitchFamily="34" charset="0"/>
              </a:rPr>
              <a:t>The use of CSS pseudo-elements such as </a:t>
            </a:r>
            <a:r>
              <a:rPr lang="en-US" sz="2400" b="1" dirty="0">
                <a:latin typeface="Calibri" panose="020F0502020204030204" pitchFamily="34" charset="0"/>
                <a:cs typeface="Calibri" panose="020F0502020204030204" pitchFamily="34" charset="0"/>
              </a:rPr>
              <a:t>:first-letter </a:t>
            </a:r>
            <a:r>
              <a:rPr lang="en-US" sz="2400" dirty="0">
                <a:latin typeface="Calibri" panose="020F0502020204030204" pitchFamily="34" charset="0"/>
                <a:cs typeface="Calibri" panose="020F0502020204030204" pitchFamily="34" charset="0"/>
              </a:rPr>
              <a:t>and </a:t>
            </a:r>
            <a:r>
              <a:rPr lang="en-US" sz="2400" b="1" dirty="0">
                <a:latin typeface="Calibri" panose="020F0502020204030204" pitchFamily="34" charset="0"/>
                <a:cs typeface="Calibri" panose="020F0502020204030204" pitchFamily="34" charset="0"/>
              </a:rPr>
              <a:t>:first-line </a:t>
            </a:r>
            <a:r>
              <a:rPr lang="en-US" sz="2400" dirty="0">
                <a:latin typeface="Calibri" panose="020F0502020204030204" pitchFamily="34" charset="0"/>
                <a:cs typeface="Calibri" panose="020F0502020204030204" pitchFamily="34" charset="0"/>
              </a:rPr>
              <a:t>to style specific parts of text, such as creating a drop cap effect.</a:t>
            </a:r>
          </a:p>
          <a:p>
            <a:pPr marL="342900" indent="-342900">
              <a:lnSpc>
                <a:spcPct val="150000"/>
              </a:lnSpc>
              <a:buFont typeface="Arial" panose="020B0604020202020204" pitchFamily="34" charset="0"/>
              <a:buChar char="•"/>
            </a:pPr>
            <a:r>
              <a:rPr lang="en-US" sz="2400" b="1" dirty="0">
                <a:latin typeface="Calibri" panose="020F0502020204030204" pitchFamily="34" charset="0"/>
                <a:cs typeface="Calibri" panose="020F0502020204030204" pitchFamily="34" charset="0"/>
              </a:rPr>
              <a:t>Color Specification: </a:t>
            </a:r>
            <a:r>
              <a:rPr lang="en-US" sz="2400" dirty="0">
                <a:latin typeface="Calibri" panose="020F0502020204030204" pitchFamily="34" charset="0"/>
                <a:cs typeface="Calibri" panose="020F0502020204030204" pitchFamily="34" charset="0"/>
              </a:rPr>
              <a:t>Explains different methods to specify text and background colors using names, hexadecimal, RGB, and HSL values.</a:t>
            </a:r>
          </a:p>
          <a:p>
            <a:pPr marL="342900" indent="-342900">
              <a:lnSpc>
                <a:spcPct val="150000"/>
              </a:lnSpc>
              <a:buFont typeface="Arial" panose="020B0604020202020204" pitchFamily="34" charset="0"/>
              <a:buChar char="•"/>
            </a:pPr>
            <a:r>
              <a:rPr lang="en-US" sz="2400" b="1" dirty="0">
                <a:latin typeface="Calibri" panose="020F0502020204030204" pitchFamily="34" charset="0"/>
                <a:cs typeface="Calibri" panose="020F0502020204030204" pitchFamily="34" charset="0"/>
              </a:rPr>
              <a:t>Shadows: </a:t>
            </a:r>
            <a:r>
              <a:rPr lang="en-US" sz="2400" dirty="0">
                <a:latin typeface="Calibri" panose="020F0502020204030204" pitchFamily="34" charset="0"/>
                <a:cs typeface="Calibri" panose="020F0502020204030204" pitchFamily="34" charset="0"/>
              </a:rPr>
              <a:t>Introduces </a:t>
            </a:r>
            <a:r>
              <a:rPr lang="en-US" sz="2400" b="1" dirty="0">
                <a:latin typeface="Calibri" panose="020F0502020204030204" pitchFamily="34" charset="0"/>
                <a:cs typeface="Calibri" panose="020F0502020204030204" pitchFamily="34" charset="0"/>
              </a:rPr>
              <a:t>text-shadow</a:t>
            </a:r>
            <a:r>
              <a:rPr lang="en-US" sz="2400" dirty="0">
                <a:latin typeface="Calibri" panose="020F0502020204030204" pitchFamily="34" charset="0"/>
                <a:cs typeface="Calibri" panose="020F0502020204030204" pitchFamily="34" charset="0"/>
              </a:rPr>
              <a:t> and </a:t>
            </a:r>
            <a:r>
              <a:rPr lang="en-US" sz="2400" b="1" dirty="0">
                <a:latin typeface="Calibri" panose="020F0502020204030204" pitchFamily="34" charset="0"/>
                <a:cs typeface="Calibri" panose="020F0502020204030204" pitchFamily="34" charset="0"/>
              </a:rPr>
              <a:t>box-shadow</a:t>
            </a:r>
            <a:r>
              <a:rPr lang="en-US" sz="2400" dirty="0">
                <a:latin typeface="Calibri" panose="020F0502020204030204" pitchFamily="34" charset="0"/>
                <a:cs typeface="Calibri" panose="020F0502020204030204" pitchFamily="34" charset="0"/>
              </a:rPr>
              <a:t> properties to add depth to text and elements, enhancing visual hierarchy.</a:t>
            </a:r>
          </a:p>
          <a:p>
            <a:pPr marL="342900" indent="-342900">
              <a:lnSpc>
                <a:spcPct val="150000"/>
              </a:lnSpc>
              <a:buFont typeface="Arial" panose="020B0604020202020204" pitchFamily="34" charset="0"/>
              <a:buChar char="•"/>
            </a:pPr>
            <a:r>
              <a:rPr lang="en-US" sz="2400" b="1" dirty="0">
                <a:latin typeface="Calibri" panose="020F0502020204030204" pitchFamily="34" charset="0"/>
                <a:cs typeface="Calibri" panose="020F0502020204030204" pitchFamily="34" charset="0"/>
              </a:rPr>
              <a:t>Media Queries: </a:t>
            </a:r>
            <a:r>
              <a:rPr lang="en-US" sz="2400" dirty="0">
                <a:latin typeface="Calibri" panose="020F0502020204030204" pitchFamily="34" charset="0"/>
                <a:cs typeface="Calibri" panose="020F0502020204030204" pitchFamily="34" charset="0"/>
              </a:rPr>
              <a:t>Discusses the use of media queries to tailor content to different devices, ensuring a responsive and tailored user experience.</a:t>
            </a:r>
          </a:p>
        </p:txBody>
      </p:sp>
    </p:spTree>
    <p:extLst>
      <p:ext uri="{BB962C8B-B14F-4D97-AF65-F5344CB8AC3E}">
        <p14:creationId xmlns:p14="http://schemas.microsoft.com/office/powerpoint/2010/main" val="2302409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7D44D6D7-2685-F91A-C9F9-D6B7EE4DB48E}"/>
              </a:ext>
            </a:extLst>
          </p:cNvPr>
          <p:cNvSpPr txBox="1"/>
          <p:nvPr/>
        </p:nvSpPr>
        <p:spPr>
          <a:xfrm>
            <a:off x="0" y="492443"/>
            <a:ext cx="11004332" cy="34052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These CSS basics are crucial for web designers to create visually appealing and functionally robust web pages.</a:t>
            </a:r>
          </a:p>
          <a:p>
            <a:pPr>
              <a:lnSpc>
                <a:spcPct val="150000"/>
              </a:lnSpc>
            </a:pPr>
            <a:r>
              <a:rPr lang="en-US" sz="2600" b="1" dirty="0">
                <a:latin typeface="Calibri" panose="020F0502020204030204" pitchFamily="34" charset="0"/>
                <a:cs typeface="Calibri" panose="020F0502020204030204" pitchFamily="34" charset="0"/>
              </a:rPr>
              <a:t>Next Practical Example: Web Design for an Australian Cultural Festival</a:t>
            </a:r>
          </a:p>
          <a:p>
            <a:pPr marL="34290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Let's apply these concepts to design a webpage for an Australian cultural festival. The page will feature custom fonts, color schemes reflective of the Australian landscape, and responsive design elements tailored for various devices.</a:t>
            </a:r>
          </a:p>
        </p:txBody>
      </p:sp>
      <p:sp>
        <p:nvSpPr>
          <p:cNvPr id="6" name="TextBox 5">
            <a:extLst>
              <a:ext uri="{FF2B5EF4-FFF2-40B4-BE49-F238E27FC236}">
                <a16:creationId xmlns:a16="http://schemas.microsoft.com/office/drawing/2014/main" id="{CF65FF16-D454-51DB-1989-FB5DE0D66718}"/>
              </a:ext>
            </a:extLst>
          </p:cNvPr>
          <p:cNvSpPr txBox="1"/>
          <p:nvPr/>
        </p:nvSpPr>
        <p:spPr>
          <a:xfrm>
            <a:off x="0" y="4205448"/>
            <a:ext cx="6190592" cy="461665"/>
          </a:xfrm>
          <a:prstGeom prst="rect">
            <a:avLst/>
          </a:prstGeom>
          <a:noFill/>
        </p:spPr>
        <p:txBody>
          <a:bodyPr wrap="square">
            <a:spAutoFit/>
          </a:bodyPr>
          <a:lstStyle/>
          <a:p>
            <a:pPr algn="l"/>
            <a:r>
              <a:rPr lang="en-US" sz="2400" b="1" i="0" dirty="0">
                <a:solidFill>
                  <a:srgbClr val="0D0D0D"/>
                </a:solidFill>
                <a:effectLst/>
                <a:highlight>
                  <a:srgbClr val="FFFFFF"/>
                </a:highlight>
                <a:latin typeface="Calibri" panose="020F0502020204030204" pitchFamily="34" charset="0"/>
                <a:cs typeface="Calibri" panose="020F0502020204030204" pitchFamily="34" charset="0"/>
              </a:rPr>
              <a:t>HTML and CSS Code:</a:t>
            </a:r>
          </a:p>
        </p:txBody>
      </p:sp>
      <p:pic>
        <p:nvPicPr>
          <p:cNvPr id="8" name="Picture 7">
            <a:extLst>
              <a:ext uri="{FF2B5EF4-FFF2-40B4-BE49-F238E27FC236}">
                <a16:creationId xmlns:a16="http://schemas.microsoft.com/office/drawing/2014/main" id="{1052A919-60D1-1A5B-F773-3D6E6FC34300}"/>
              </a:ext>
            </a:extLst>
          </p:cNvPr>
          <p:cNvPicPr>
            <a:picLocks noChangeAspect="1"/>
          </p:cNvPicPr>
          <p:nvPr/>
        </p:nvPicPr>
        <p:blipFill rotWithShape="1">
          <a:blip r:embed="rId3"/>
          <a:srcRect l="5603" t="38678" r="12415" b="27735"/>
          <a:stretch/>
        </p:blipFill>
        <p:spPr>
          <a:xfrm>
            <a:off x="753521" y="4667113"/>
            <a:ext cx="9350146" cy="2154712"/>
          </a:xfrm>
          <a:prstGeom prst="rect">
            <a:avLst/>
          </a:prstGeom>
          <a:ln>
            <a:solidFill>
              <a:srgbClr val="FF0000"/>
            </a:solidFill>
          </a:ln>
        </p:spPr>
      </p:pic>
    </p:spTree>
    <p:extLst>
      <p:ext uri="{BB962C8B-B14F-4D97-AF65-F5344CB8AC3E}">
        <p14:creationId xmlns:p14="http://schemas.microsoft.com/office/powerpoint/2010/main" val="128675637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2" y="0"/>
            <a:ext cx="9963807"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pic>
        <p:nvPicPr>
          <p:cNvPr id="8" name="Picture 7">
            <a:extLst>
              <a:ext uri="{FF2B5EF4-FFF2-40B4-BE49-F238E27FC236}">
                <a16:creationId xmlns:a16="http://schemas.microsoft.com/office/drawing/2014/main" id="{1052A919-60D1-1A5B-F773-3D6E6FC34300}"/>
              </a:ext>
            </a:extLst>
          </p:cNvPr>
          <p:cNvPicPr>
            <a:picLocks noChangeAspect="1"/>
          </p:cNvPicPr>
          <p:nvPr/>
        </p:nvPicPr>
        <p:blipFill rotWithShape="1">
          <a:blip r:embed="rId3"/>
          <a:srcRect l="5603" t="38678" r="12415" b="27735"/>
          <a:stretch/>
        </p:blipFill>
        <p:spPr>
          <a:xfrm>
            <a:off x="449826" y="817711"/>
            <a:ext cx="11292348" cy="2602287"/>
          </a:xfrm>
          <a:prstGeom prst="rect">
            <a:avLst/>
          </a:prstGeom>
          <a:ln>
            <a:solidFill>
              <a:srgbClr val="FF0000"/>
            </a:solidFill>
          </a:ln>
        </p:spPr>
      </p:pic>
      <p:sp>
        <p:nvSpPr>
          <p:cNvPr id="10" name="TextBox 9">
            <a:extLst>
              <a:ext uri="{FF2B5EF4-FFF2-40B4-BE49-F238E27FC236}">
                <a16:creationId xmlns:a16="http://schemas.microsoft.com/office/drawing/2014/main" id="{3A1EE0AE-DAF3-B870-F408-8EF0A5EB1FE8}"/>
              </a:ext>
            </a:extLst>
          </p:cNvPr>
          <p:cNvSpPr txBox="1"/>
          <p:nvPr/>
        </p:nvSpPr>
        <p:spPr>
          <a:xfrm>
            <a:off x="53428" y="3650527"/>
            <a:ext cx="12138572" cy="2610843"/>
          </a:xfrm>
          <a:prstGeom prst="rect">
            <a:avLst/>
          </a:prstGeom>
          <a:noFill/>
          <a:ln>
            <a:solidFill>
              <a:srgbClr val="FF0000"/>
            </a:solidFill>
          </a:ln>
        </p:spPr>
        <p:txBody>
          <a:bodyPr wrap="square">
            <a:spAutoFit/>
          </a:bodyPr>
          <a:lstStyle/>
          <a:p>
            <a:pPr>
              <a:lnSpc>
                <a:spcPct val="150000"/>
              </a:lnSpc>
            </a:pPr>
            <a:r>
              <a:rPr lang="en-AU" sz="2800" dirty="0">
                <a:latin typeface="Calibri" panose="020F0502020204030204" pitchFamily="34" charset="0"/>
                <a:cs typeface="Calibri" panose="020F0502020204030204" pitchFamily="34" charset="0"/>
              </a:rPr>
              <a:t>This example uses a custom Google Font, a </a:t>
            </a:r>
            <a:r>
              <a:rPr lang="en-AU" sz="2800" dirty="0" err="1">
                <a:latin typeface="Calibri" panose="020F0502020204030204" pitchFamily="34" charset="0"/>
                <a:cs typeface="Calibri" panose="020F0502020204030204" pitchFamily="34" charset="0"/>
              </a:rPr>
              <a:t>color</a:t>
            </a:r>
            <a:r>
              <a:rPr lang="en-AU" sz="2800" dirty="0">
                <a:latin typeface="Calibri" panose="020F0502020204030204" pitchFamily="34" charset="0"/>
                <a:cs typeface="Calibri" panose="020F0502020204030204" pitchFamily="34" charset="0"/>
              </a:rPr>
              <a:t> palette inspired by Australia's natural beauty, shadows to enhance text readability against bright </a:t>
            </a:r>
            <a:r>
              <a:rPr lang="en-AU" sz="2800" dirty="0" err="1">
                <a:latin typeface="Calibri" panose="020F0502020204030204" pitchFamily="34" charset="0"/>
                <a:cs typeface="Calibri" panose="020F0502020204030204" pitchFamily="34" charset="0"/>
              </a:rPr>
              <a:t>colors</a:t>
            </a:r>
            <a:r>
              <a:rPr lang="en-AU" sz="2800" dirty="0">
                <a:latin typeface="Calibri" panose="020F0502020204030204" pitchFamily="34" charset="0"/>
                <a:cs typeface="Calibri" panose="020F0502020204030204" pitchFamily="34" charset="0"/>
              </a:rPr>
              <a:t>, and a media query to ensure the content looks great on both desktops and mobile devices.</a:t>
            </a:r>
          </a:p>
        </p:txBody>
      </p:sp>
    </p:spTree>
    <p:extLst>
      <p:ext uri="{BB962C8B-B14F-4D97-AF65-F5344CB8AC3E}">
        <p14:creationId xmlns:p14="http://schemas.microsoft.com/office/powerpoint/2010/main" val="177291156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2" y="0"/>
            <a:ext cx="11223895"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FE286E6D-ABA8-CE16-6514-F0B387070DFB}"/>
              </a:ext>
            </a:extLst>
          </p:cNvPr>
          <p:cNvPicPr>
            <a:picLocks noChangeAspect="1"/>
          </p:cNvPicPr>
          <p:nvPr/>
        </p:nvPicPr>
        <p:blipFill rotWithShape="1">
          <a:blip r:embed="rId2"/>
          <a:srcRect l="4756" t="7180" r="2409" b="10569"/>
          <a:stretch/>
        </p:blipFill>
        <p:spPr>
          <a:xfrm>
            <a:off x="0" y="781945"/>
            <a:ext cx="12192000" cy="6076055"/>
          </a:xfrm>
          <a:prstGeom prst="rect">
            <a:avLst/>
          </a:prstGeom>
        </p:spPr>
      </p:pic>
      <p:sp>
        <p:nvSpPr>
          <p:cNvPr id="13" name="TextBox 12">
            <a:extLst>
              <a:ext uri="{FF2B5EF4-FFF2-40B4-BE49-F238E27FC236}">
                <a16:creationId xmlns:a16="http://schemas.microsoft.com/office/drawing/2014/main" id="{6988C9A9-1ED3-DBD3-97C1-9DA35A61161E}"/>
              </a:ext>
            </a:extLst>
          </p:cNvPr>
          <p:cNvSpPr txBox="1"/>
          <p:nvPr/>
        </p:nvSpPr>
        <p:spPr>
          <a:xfrm>
            <a:off x="6096000" y="1081668"/>
            <a:ext cx="6095999" cy="4284763"/>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&lt;meta name="viewport" content="width=device-width, initial-scale=1.0"&gt;: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This viewport meta tag ensures the page is scaled correctly on all devices, especially on mobiles. It sets the width of the viewport to match the device’s width and initializes the zoom level to 1.0.</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0817918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0913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FE286E6D-ABA8-CE16-6514-F0B387070DFB}"/>
              </a:ext>
            </a:extLst>
          </p:cNvPr>
          <p:cNvPicPr>
            <a:picLocks noChangeAspect="1"/>
          </p:cNvPicPr>
          <p:nvPr/>
        </p:nvPicPr>
        <p:blipFill rotWithShape="1">
          <a:blip r:embed="rId2"/>
          <a:srcRect l="4756" t="7180" r="2409" b="10569"/>
          <a:stretch/>
        </p:blipFill>
        <p:spPr>
          <a:xfrm>
            <a:off x="0" y="781945"/>
            <a:ext cx="12192000" cy="6076055"/>
          </a:xfrm>
          <a:prstGeom prst="rect">
            <a:avLst/>
          </a:prstGeom>
        </p:spPr>
      </p:pic>
      <p:sp>
        <p:nvSpPr>
          <p:cNvPr id="13" name="TextBox 12">
            <a:extLst>
              <a:ext uri="{FF2B5EF4-FFF2-40B4-BE49-F238E27FC236}">
                <a16:creationId xmlns:a16="http://schemas.microsoft.com/office/drawing/2014/main" id="{6988C9A9-1ED3-DBD3-97C1-9DA35A61161E}"/>
              </a:ext>
            </a:extLst>
          </p:cNvPr>
          <p:cNvSpPr txBox="1"/>
          <p:nvPr/>
        </p:nvSpPr>
        <p:spPr>
          <a:xfrm>
            <a:off x="6096000" y="1081668"/>
            <a:ext cx="6095999" cy="3222934"/>
          </a:xfrm>
          <a:prstGeom prst="rect">
            <a:avLst/>
          </a:prstGeom>
          <a:no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&lt;link </a:t>
            </a:r>
            <a:r>
              <a:rPr lang="en-US" sz="2300" b="1" dirty="0" err="1">
                <a:latin typeface="Calibri" panose="020F0502020204030204" pitchFamily="34" charset="0"/>
                <a:cs typeface="Calibri" panose="020F0502020204030204" pitchFamily="34" charset="0"/>
              </a:rPr>
              <a:t>href</a:t>
            </a:r>
            <a:r>
              <a:rPr lang="en-US" sz="2300" b="1" dirty="0">
                <a:latin typeface="Calibri" panose="020F0502020204030204" pitchFamily="34" charset="0"/>
                <a:cs typeface="Calibri" panose="020F0502020204030204" pitchFamily="34" charset="0"/>
              </a:rPr>
              <a:t>="https://fonts.googleapis.com/</a:t>
            </a:r>
            <a:r>
              <a:rPr lang="en-US" sz="2300" b="1" dirty="0" err="1">
                <a:latin typeface="Calibri" panose="020F0502020204030204" pitchFamily="34" charset="0"/>
                <a:cs typeface="Calibri" panose="020F0502020204030204" pitchFamily="34" charset="0"/>
              </a:rPr>
              <a:t>css?family</a:t>
            </a:r>
            <a:r>
              <a:rPr lang="en-US" sz="2300" b="1" dirty="0">
                <a:latin typeface="Calibri" panose="020F0502020204030204" pitchFamily="34" charset="0"/>
                <a:cs typeface="Calibri" panose="020F0502020204030204" pitchFamily="34" charset="0"/>
              </a:rPr>
              <a:t>=Roboto:400,700" </a:t>
            </a:r>
            <a:r>
              <a:rPr lang="en-US" sz="2300" b="1" dirty="0" err="1">
                <a:latin typeface="Calibri" panose="020F0502020204030204" pitchFamily="34" charset="0"/>
                <a:cs typeface="Calibri" panose="020F0502020204030204" pitchFamily="34" charset="0"/>
              </a:rPr>
              <a:t>rel</a:t>
            </a:r>
            <a:r>
              <a:rPr lang="en-US" sz="2300" b="1" dirty="0">
                <a:latin typeface="Calibri" panose="020F0502020204030204" pitchFamily="34" charset="0"/>
                <a:cs typeface="Calibri" panose="020F0502020204030204" pitchFamily="34" charset="0"/>
              </a:rPr>
              <a:t>="stylesheet"&gt;: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This link imports the Roboto font from Google Fonts, including the normal (400) and bold (700) font weights.</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523598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2" y="0"/>
            <a:ext cx="10309495"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FE286E6D-ABA8-CE16-6514-F0B387070DFB}"/>
              </a:ext>
            </a:extLst>
          </p:cNvPr>
          <p:cNvPicPr>
            <a:picLocks noChangeAspect="1"/>
          </p:cNvPicPr>
          <p:nvPr/>
        </p:nvPicPr>
        <p:blipFill rotWithShape="1">
          <a:blip r:embed="rId2"/>
          <a:srcRect l="4756" t="7180" r="2409" b="10569"/>
          <a:stretch/>
        </p:blipFill>
        <p:spPr>
          <a:xfrm>
            <a:off x="0" y="781945"/>
            <a:ext cx="12192000" cy="6076055"/>
          </a:xfrm>
          <a:prstGeom prst="rect">
            <a:avLst/>
          </a:prstGeom>
        </p:spPr>
      </p:pic>
      <p:sp>
        <p:nvSpPr>
          <p:cNvPr id="13" name="TextBox 12">
            <a:extLst>
              <a:ext uri="{FF2B5EF4-FFF2-40B4-BE49-F238E27FC236}">
                <a16:creationId xmlns:a16="http://schemas.microsoft.com/office/drawing/2014/main" id="{6988C9A9-1ED3-DBD3-97C1-9DA35A61161E}"/>
              </a:ext>
            </a:extLst>
          </p:cNvPr>
          <p:cNvSpPr txBox="1"/>
          <p:nvPr/>
        </p:nvSpPr>
        <p:spPr>
          <a:xfrm>
            <a:off x="6096000" y="1081668"/>
            <a:ext cx="6095999" cy="4815677"/>
          </a:xfrm>
          <a:prstGeom prst="rect">
            <a:avLst/>
          </a:prstGeom>
          <a:solidFill>
            <a:schemeClr val="bg1"/>
          </a:solidFill>
        </p:spPr>
        <p:txBody>
          <a:bodyPr wrap="square" rtlCol="0">
            <a:spAutoFit/>
          </a:bodyPr>
          <a:lstStyle/>
          <a:p>
            <a:pPr>
              <a:lnSpc>
                <a:spcPct val="150000"/>
              </a:lnSpc>
            </a:pPr>
            <a:r>
              <a:rPr lang="en-US" sz="2300" b="1" dirty="0">
                <a:latin typeface="Calibri" panose="020F0502020204030204" pitchFamily="34" charset="0"/>
                <a:cs typeface="Calibri" panose="020F0502020204030204" pitchFamily="34" charset="0"/>
              </a:rPr>
              <a:t>&lt;style&gt;: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This tag contains the CSS used to style the HTML content.</a:t>
            </a:r>
          </a:p>
          <a:p>
            <a:pPr marL="342900" indent="-342900">
              <a:lnSpc>
                <a:spcPct val="150000"/>
              </a:lnSpc>
              <a:buFont typeface="Arial" panose="020B0604020202020204" pitchFamily="34" charset="0"/>
              <a:buChar char="•"/>
            </a:pPr>
            <a:r>
              <a:rPr lang="en-US" sz="2300" b="1" dirty="0">
                <a:latin typeface="Calibri" panose="020F0502020204030204" pitchFamily="34" charset="0"/>
                <a:cs typeface="Calibri" panose="020F0502020204030204" pitchFamily="34" charset="0"/>
              </a:rPr>
              <a:t>body:</a:t>
            </a:r>
          </a:p>
          <a:p>
            <a:pPr marL="800100" lvl="1"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Sets the font family to 'Roboto', with a fallback to any available sans-serif font if Roboto isn't loaded. The background color is set to a light cream (#</a:t>
            </a:r>
            <a:r>
              <a:rPr lang="en-US" sz="2300" b="1" dirty="0">
                <a:latin typeface="Calibri" panose="020F0502020204030204" pitchFamily="34" charset="0"/>
                <a:cs typeface="Calibri" panose="020F0502020204030204" pitchFamily="34" charset="0"/>
              </a:rPr>
              <a:t>FFF7E6</a:t>
            </a:r>
            <a:r>
              <a:rPr lang="en-US" sz="2300" dirty="0">
                <a:latin typeface="Calibri" panose="020F0502020204030204" pitchFamily="34" charset="0"/>
                <a:cs typeface="Calibri" panose="020F0502020204030204" pitchFamily="34" charset="0"/>
              </a:rPr>
              <a:t>), and the text color to dark grey (#</a:t>
            </a:r>
            <a:r>
              <a:rPr lang="en-US" sz="2300" b="1" dirty="0">
                <a:latin typeface="Calibri" panose="020F0502020204030204" pitchFamily="34" charset="0"/>
                <a:cs typeface="Calibri" panose="020F0502020204030204" pitchFamily="34" charset="0"/>
              </a:rPr>
              <a:t>333</a:t>
            </a:r>
            <a:r>
              <a:rPr lang="en-US" sz="2300" dirty="0">
                <a:latin typeface="Calibri" panose="020F0502020204030204" pitchFamily="34" charset="0"/>
                <a:cs typeface="Calibri" panose="020F0502020204030204" pitchFamily="34" charset="0"/>
              </a:rPr>
              <a:t>).</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5817141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1547280"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FE286E6D-ABA8-CE16-6514-F0B387070DFB}"/>
              </a:ext>
            </a:extLst>
          </p:cNvPr>
          <p:cNvPicPr>
            <a:picLocks noChangeAspect="1"/>
          </p:cNvPicPr>
          <p:nvPr/>
        </p:nvPicPr>
        <p:blipFill rotWithShape="1">
          <a:blip r:embed="rId2"/>
          <a:srcRect l="4756" t="7180" r="2409" b="10569"/>
          <a:stretch/>
        </p:blipFill>
        <p:spPr>
          <a:xfrm>
            <a:off x="0" y="781945"/>
            <a:ext cx="12192000" cy="6076055"/>
          </a:xfrm>
          <a:prstGeom prst="rect">
            <a:avLst/>
          </a:prstGeom>
        </p:spPr>
      </p:pic>
      <p:sp>
        <p:nvSpPr>
          <p:cNvPr id="13" name="TextBox 12">
            <a:extLst>
              <a:ext uri="{FF2B5EF4-FFF2-40B4-BE49-F238E27FC236}">
                <a16:creationId xmlns:a16="http://schemas.microsoft.com/office/drawing/2014/main" id="{6988C9A9-1ED3-DBD3-97C1-9DA35A61161E}"/>
              </a:ext>
            </a:extLst>
          </p:cNvPr>
          <p:cNvSpPr txBox="1"/>
          <p:nvPr/>
        </p:nvSpPr>
        <p:spPr>
          <a:xfrm>
            <a:off x="6096000" y="1081668"/>
            <a:ext cx="6095999" cy="4284763"/>
          </a:xfrm>
          <a:prstGeom prst="rect">
            <a:avLst/>
          </a:prstGeom>
          <a:solidFill>
            <a:schemeClr val="bg1"/>
          </a:solidFill>
        </p:spPr>
        <p:txBody>
          <a:bodyPr wrap="square" rtlCol="0">
            <a:spAutoFit/>
          </a:bodyPr>
          <a:lstStyle/>
          <a:p>
            <a:pPr marL="342900" indent="-342900">
              <a:lnSpc>
                <a:spcPct val="150000"/>
              </a:lnSpc>
              <a:buFont typeface="Arial" panose="020B0604020202020204" pitchFamily="34" charset="0"/>
              <a:buChar char="•"/>
            </a:pPr>
            <a:r>
              <a:rPr lang="en-US" sz="2300" b="1" dirty="0">
                <a:latin typeface="Calibri" panose="020F0502020204030204" pitchFamily="34" charset="0"/>
                <a:cs typeface="Calibri" panose="020F0502020204030204" pitchFamily="34" charset="0"/>
              </a:rPr>
              <a:t>header:</a:t>
            </a:r>
          </a:p>
          <a:p>
            <a:pPr marL="800100" lvl="1"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Styles the </a:t>
            </a:r>
            <a:r>
              <a:rPr lang="en-US" sz="2300" b="1" dirty="0">
                <a:latin typeface="Calibri" panose="020F0502020204030204" pitchFamily="34" charset="0"/>
                <a:cs typeface="Calibri" panose="020F0502020204030204" pitchFamily="34" charset="0"/>
              </a:rPr>
              <a:t>&lt;header&gt; </a:t>
            </a:r>
            <a:r>
              <a:rPr lang="en-US" sz="2300" dirty="0">
                <a:latin typeface="Calibri" panose="020F0502020204030204" pitchFamily="34" charset="0"/>
                <a:cs typeface="Calibri" panose="020F0502020204030204" pitchFamily="34" charset="0"/>
              </a:rPr>
              <a:t>element with a teal background color </a:t>
            </a:r>
            <a:r>
              <a:rPr lang="en-US" sz="2300" b="1" dirty="0">
                <a:latin typeface="Calibri" panose="020F0502020204030204" pitchFamily="34" charset="0"/>
                <a:cs typeface="Calibri" panose="020F0502020204030204" pitchFamily="34" charset="0"/>
              </a:rPr>
              <a:t>(#008B8B</a:t>
            </a:r>
            <a:r>
              <a:rPr lang="en-US" sz="2300" dirty="0">
                <a:latin typeface="Calibri" panose="020F0502020204030204" pitchFamily="34" charset="0"/>
                <a:cs typeface="Calibri" panose="020F0502020204030204" pitchFamily="34" charset="0"/>
              </a:rPr>
              <a:t>), white text color </a:t>
            </a:r>
            <a:r>
              <a:rPr lang="en-US" sz="2300" b="1" dirty="0">
                <a:latin typeface="Calibri" panose="020F0502020204030204" pitchFamily="34" charset="0"/>
                <a:cs typeface="Calibri" panose="020F0502020204030204" pitchFamily="34" charset="0"/>
              </a:rPr>
              <a:t>(#FFF)</a:t>
            </a:r>
            <a:r>
              <a:rPr lang="en-US" sz="2300" dirty="0">
                <a:latin typeface="Calibri" panose="020F0502020204030204" pitchFamily="34" charset="0"/>
                <a:cs typeface="Calibri" panose="020F0502020204030204" pitchFamily="34" charset="0"/>
              </a:rPr>
              <a:t>, and a text shadow that creates a soft dark shadow around the text, improving readability on the colored background. Padding is added for spacing, and the text is centered.</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4758006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554822"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FE286E6D-ABA8-CE16-6514-F0B387070DFB}"/>
              </a:ext>
            </a:extLst>
          </p:cNvPr>
          <p:cNvPicPr>
            <a:picLocks noChangeAspect="1"/>
          </p:cNvPicPr>
          <p:nvPr/>
        </p:nvPicPr>
        <p:blipFill rotWithShape="1">
          <a:blip r:embed="rId2"/>
          <a:srcRect l="4756" t="7180" r="2409" b="10569"/>
          <a:stretch/>
        </p:blipFill>
        <p:spPr>
          <a:xfrm>
            <a:off x="0" y="781945"/>
            <a:ext cx="12192000" cy="6076055"/>
          </a:xfrm>
          <a:prstGeom prst="rect">
            <a:avLst/>
          </a:prstGeom>
        </p:spPr>
      </p:pic>
      <p:sp>
        <p:nvSpPr>
          <p:cNvPr id="13" name="TextBox 12">
            <a:extLst>
              <a:ext uri="{FF2B5EF4-FFF2-40B4-BE49-F238E27FC236}">
                <a16:creationId xmlns:a16="http://schemas.microsoft.com/office/drawing/2014/main" id="{6988C9A9-1ED3-DBD3-97C1-9DA35A61161E}"/>
              </a:ext>
            </a:extLst>
          </p:cNvPr>
          <p:cNvSpPr txBox="1"/>
          <p:nvPr/>
        </p:nvSpPr>
        <p:spPr>
          <a:xfrm>
            <a:off x="6096000" y="1081668"/>
            <a:ext cx="6095999" cy="2692019"/>
          </a:xfrm>
          <a:prstGeom prst="rect">
            <a:avLst/>
          </a:prstGeom>
          <a:solidFill>
            <a:schemeClr val="bg1"/>
          </a:solidFill>
        </p:spPr>
        <p:txBody>
          <a:bodyPr wrap="square" rtlCol="0">
            <a:spAutoFit/>
          </a:bodyPr>
          <a:lstStyle/>
          <a:p>
            <a:pPr marL="342900" indent="-342900">
              <a:lnSpc>
                <a:spcPct val="150000"/>
              </a:lnSpc>
              <a:buFont typeface="Arial" panose="020B0604020202020204" pitchFamily="34" charset="0"/>
              <a:buChar char="•"/>
            </a:pPr>
            <a:r>
              <a:rPr lang="en-US" sz="2300" b="1" dirty="0">
                <a:latin typeface="Calibri" panose="020F0502020204030204" pitchFamily="34" charset="0"/>
                <a:cs typeface="Calibri" panose="020F0502020204030204" pitchFamily="34" charset="0"/>
              </a:rPr>
              <a:t>h1:</a:t>
            </a:r>
          </a:p>
          <a:p>
            <a:pPr marL="800100" lvl="1"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The main heading is styled with a font size of 2.5 rem (rem units are relative to the root html element size), and the text is transformed to uppercase for emphasis.</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3058807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465612"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FE286E6D-ABA8-CE16-6514-F0B387070DFB}"/>
              </a:ext>
            </a:extLst>
          </p:cNvPr>
          <p:cNvPicPr>
            <a:picLocks noChangeAspect="1"/>
          </p:cNvPicPr>
          <p:nvPr/>
        </p:nvPicPr>
        <p:blipFill rotWithShape="1">
          <a:blip r:embed="rId2"/>
          <a:srcRect l="4756" t="7180" r="2409" b="10569"/>
          <a:stretch/>
        </p:blipFill>
        <p:spPr>
          <a:xfrm>
            <a:off x="0" y="781945"/>
            <a:ext cx="12192000" cy="6076055"/>
          </a:xfrm>
          <a:prstGeom prst="rect">
            <a:avLst/>
          </a:prstGeom>
        </p:spPr>
      </p:pic>
      <p:sp>
        <p:nvSpPr>
          <p:cNvPr id="13" name="TextBox 12">
            <a:extLst>
              <a:ext uri="{FF2B5EF4-FFF2-40B4-BE49-F238E27FC236}">
                <a16:creationId xmlns:a16="http://schemas.microsoft.com/office/drawing/2014/main" id="{6988C9A9-1ED3-DBD3-97C1-9DA35A61161E}"/>
              </a:ext>
            </a:extLst>
          </p:cNvPr>
          <p:cNvSpPr txBox="1"/>
          <p:nvPr/>
        </p:nvSpPr>
        <p:spPr>
          <a:xfrm>
            <a:off x="6096000" y="1081668"/>
            <a:ext cx="6095999" cy="3222934"/>
          </a:xfrm>
          <a:prstGeom prst="rect">
            <a:avLst/>
          </a:prstGeom>
          <a:solidFill>
            <a:schemeClr val="bg1"/>
          </a:solidFill>
        </p:spPr>
        <p:txBody>
          <a:bodyPr wrap="square" rtlCol="0">
            <a:spAutoFit/>
          </a:bodyPr>
          <a:lstStyle/>
          <a:p>
            <a:pPr marL="342900" indent="-342900">
              <a:lnSpc>
                <a:spcPct val="150000"/>
              </a:lnSpc>
              <a:buFont typeface="Arial" panose="020B0604020202020204" pitchFamily="34" charset="0"/>
              <a:buChar char="•"/>
            </a:pPr>
            <a:r>
              <a:rPr lang="en-US" sz="2300" b="1" dirty="0">
                <a:latin typeface="Calibri" panose="020F0502020204030204" pitchFamily="34" charset="0"/>
                <a:cs typeface="Calibri" panose="020F0502020204030204" pitchFamily="34" charset="0"/>
              </a:rPr>
              <a:t>.content:</a:t>
            </a:r>
          </a:p>
          <a:p>
            <a:pPr marL="800100" lvl="1"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This class styles any element it is applied to (here, a </a:t>
            </a:r>
            <a:r>
              <a:rPr lang="en-US" sz="2300" b="1" dirty="0">
                <a:latin typeface="Calibri" panose="020F0502020204030204" pitchFamily="34" charset="0"/>
                <a:cs typeface="Calibri" panose="020F0502020204030204" pitchFamily="34" charset="0"/>
              </a:rPr>
              <a:t>&lt;div&gt;</a:t>
            </a:r>
            <a:r>
              <a:rPr lang="en-US" sz="2300" dirty="0">
                <a:latin typeface="Calibri" panose="020F0502020204030204" pitchFamily="34" charset="0"/>
                <a:cs typeface="Calibri" panose="020F0502020204030204" pitchFamily="34" charset="0"/>
              </a:rPr>
              <a:t>), adding padding for spacing and a box shadow for a 3D effect, making the element appear elevated from the rest of the content.</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18411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1603036"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FE286E6D-ABA8-CE16-6514-F0B387070DFB}"/>
              </a:ext>
            </a:extLst>
          </p:cNvPr>
          <p:cNvPicPr>
            <a:picLocks noChangeAspect="1"/>
          </p:cNvPicPr>
          <p:nvPr/>
        </p:nvPicPr>
        <p:blipFill rotWithShape="1">
          <a:blip r:embed="rId2"/>
          <a:srcRect l="4756" t="7180" r="2409" b="10569"/>
          <a:stretch/>
        </p:blipFill>
        <p:spPr>
          <a:xfrm>
            <a:off x="0" y="781945"/>
            <a:ext cx="12192000" cy="6076055"/>
          </a:xfrm>
          <a:prstGeom prst="rect">
            <a:avLst/>
          </a:prstGeom>
        </p:spPr>
      </p:pic>
      <p:sp>
        <p:nvSpPr>
          <p:cNvPr id="13" name="TextBox 12">
            <a:extLst>
              <a:ext uri="{FF2B5EF4-FFF2-40B4-BE49-F238E27FC236}">
                <a16:creationId xmlns:a16="http://schemas.microsoft.com/office/drawing/2014/main" id="{6988C9A9-1ED3-DBD3-97C1-9DA35A61161E}"/>
              </a:ext>
            </a:extLst>
          </p:cNvPr>
          <p:cNvSpPr txBox="1"/>
          <p:nvPr/>
        </p:nvSpPr>
        <p:spPr>
          <a:xfrm>
            <a:off x="6096000" y="1081668"/>
            <a:ext cx="6095999" cy="4815677"/>
          </a:xfrm>
          <a:prstGeom prst="rect">
            <a:avLst/>
          </a:prstGeom>
          <a:solidFill>
            <a:schemeClr val="bg1"/>
          </a:solidFill>
        </p:spPr>
        <p:txBody>
          <a:bodyPr wrap="square" rtlCol="0">
            <a:spAutoFit/>
          </a:bodyPr>
          <a:lstStyle/>
          <a:p>
            <a:pPr marL="342900" indent="-342900">
              <a:lnSpc>
                <a:spcPct val="150000"/>
              </a:lnSpc>
              <a:buFont typeface="Arial" panose="020B0604020202020204" pitchFamily="34" charset="0"/>
              <a:buChar char="•"/>
            </a:pPr>
            <a:r>
              <a:rPr lang="en-US" sz="2300" b="1" dirty="0">
                <a:latin typeface="Calibri" panose="020F0502020204030204" pitchFamily="34" charset="0"/>
                <a:cs typeface="Calibri" panose="020F0502020204030204" pitchFamily="34" charset="0"/>
              </a:rPr>
              <a:t>@media (max-width: 768px):</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This is a media query that applies styles based on the condition described. If the viewport width is 768 pixels or less (common for tablets and mobile devices), the styles inside the query are applied.</a:t>
            </a:r>
          </a:p>
          <a:p>
            <a:pPr marL="800100" lvl="1"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Inside this media query, the font size of </a:t>
            </a:r>
            <a:r>
              <a:rPr lang="en-US" sz="2300" b="1" dirty="0">
                <a:latin typeface="Calibri" panose="020F0502020204030204" pitchFamily="34" charset="0"/>
                <a:cs typeface="Calibri" panose="020F0502020204030204" pitchFamily="34" charset="0"/>
              </a:rPr>
              <a:t>&lt;h1&gt; </a:t>
            </a:r>
            <a:r>
              <a:rPr lang="en-US" sz="2300" dirty="0">
                <a:latin typeface="Calibri" panose="020F0502020204030204" pitchFamily="34" charset="0"/>
                <a:cs typeface="Calibri" panose="020F0502020204030204" pitchFamily="34" charset="0"/>
              </a:rPr>
              <a:t>is reduced to 2 rem, making it more appropriate for smaller screens.</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742527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66633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FE286E6D-ABA8-CE16-6514-F0B387070DFB}"/>
              </a:ext>
            </a:extLst>
          </p:cNvPr>
          <p:cNvPicPr>
            <a:picLocks noChangeAspect="1"/>
          </p:cNvPicPr>
          <p:nvPr/>
        </p:nvPicPr>
        <p:blipFill rotWithShape="1">
          <a:blip r:embed="rId2"/>
          <a:srcRect l="4756" t="7180" r="2409" b="10569"/>
          <a:stretch/>
        </p:blipFill>
        <p:spPr>
          <a:xfrm>
            <a:off x="0" y="781945"/>
            <a:ext cx="12192000" cy="6076055"/>
          </a:xfrm>
          <a:prstGeom prst="rect">
            <a:avLst/>
          </a:prstGeom>
        </p:spPr>
      </p:pic>
      <p:sp>
        <p:nvSpPr>
          <p:cNvPr id="2" name="TextBox 1">
            <a:extLst>
              <a:ext uri="{FF2B5EF4-FFF2-40B4-BE49-F238E27FC236}">
                <a16:creationId xmlns:a16="http://schemas.microsoft.com/office/drawing/2014/main" id="{279AC45D-5B33-D686-8CD3-21C474F1638F}"/>
              </a:ext>
            </a:extLst>
          </p:cNvPr>
          <p:cNvSpPr txBox="1"/>
          <p:nvPr/>
        </p:nvSpPr>
        <p:spPr>
          <a:xfrm>
            <a:off x="6096001" y="781945"/>
            <a:ext cx="6095999" cy="6046271"/>
          </a:xfrm>
          <a:prstGeom prst="rect">
            <a:avLst/>
          </a:prstGeom>
          <a:solidFill>
            <a:schemeClr val="bg1"/>
          </a:solidFill>
          <a:ln>
            <a:solidFill>
              <a:srgbClr val="FF0000"/>
            </a:solidFill>
          </a:ln>
        </p:spPr>
        <p:txBody>
          <a:bodyPr wrap="square" rtlCol="0">
            <a:spAutoFit/>
          </a:bodyPr>
          <a:lstStyle/>
          <a:p>
            <a:pPr marL="342900"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HTML Body Content</a:t>
            </a:r>
          </a:p>
          <a:p>
            <a:pPr marL="342900"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&lt;body&gt;:</a:t>
            </a:r>
          </a:p>
          <a:p>
            <a:pPr marL="342900" indent="-342900">
              <a:lnSpc>
                <a:spcPct val="150000"/>
              </a:lnSpc>
              <a:buFont typeface="Arial" panose="020B0604020202020204" pitchFamily="34" charset="0"/>
              <a:buChar char="•"/>
            </a:pPr>
            <a:r>
              <a:rPr lang="en-US" sz="2000" dirty="0">
                <a:latin typeface="Calibri" panose="020F0502020204030204" pitchFamily="34" charset="0"/>
                <a:cs typeface="Calibri" panose="020F0502020204030204" pitchFamily="34" charset="0"/>
              </a:rPr>
              <a:t>This tag encompasses all the visible content of the HTML document.</a:t>
            </a:r>
          </a:p>
          <a:p>
            <a:pPr marL="342900"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&lt;header&gt;:</a:t>
            </a:r>
          </a:p>
          <a:p>
            <a:pPr marL="800100" lvl="1" indent="-342900">
              <a:lnSpc>
                <a:spcPct val="150000"/>
              </a:lnSpc>
              <a:buFont typeface="Arial" panose="020B0604020202020204" pitchFamily="34" charset="0"/>
              <a:buChar char="•"/>
            </a:pPr>
            <a:r>
              <a:rPr lang="en-US" sz="2000" dirty="0">
                <a:latin typeface="Calibri" panose="020F0502020204030204" pitchFamily="34" charset="0"/>
                <a:cs typeface="Calibri" panose="020F0502020204030204" pitchFamily="34" charset="0"/>
              </a:rPr>
              <a:t>Contains the main heading of the page wrapped in an &lt;h1&gt; tag, greeting visitors and indicating the theme of the content.</a:t>
            </a:r>
          </a:p>
          <a:p>
            <a:pPr marL="342900" indent="-342900">
              <a:lnSpc>
                <a:spcPct val="150000"/>
              </a:lnSpc>
              <a:buFont typeface="Arial" panose="020B0604020202020204" pitchFamily="34" charset="0"/>
              <a:buChar char="•"/>
            </a:pPr>
            <a:r>
              <a:rPr lang="en-US" sz="2000" b="1" dirty="0">
                <a:latin typeface="Calibri" panose="020F0502020204030204" pitchFamily="34" charset="0"/>
                <a:cs typeface="Calibri" panose="020F0502020204030204" pitchFamily="34" charset="0"/>
              </a:rPr>
              <a:t>&lt;div class="content"&gt;:</a:t>
            </a:r>
          </a:p>
          <a:p>
            <a:pPr marL="800100" lvl="1" indent="-342900">
              <a:lnSpc>
                <a:spcPct val="150000"/>
              </a:lnSpc>
              <a:buFont typeface="Arial" panose="020B0604020202020204" pitchFamily="34" charset="0"/>
              <a:buChar char="•"/>
            </a:pPr>
            <a:r>
              <a:rPr lang="en-US" sz="2000" dirty="0">
                <a:latin typeface="Calibri" panose="020F0502020204030204" pitchFamily="34" charset="0"/>
                <a:cs typeface="Calibri" panose="020F0502020204030204" pitchFamily="34" charset="0"/>
              </a:rPr>
              <a:t>A division or section in HTML that contains a paragraph describing the event, styled with the class .content for specific styling as defined in the CSS.</a:t>
            </a:r>
            <a:endParaRPr lang="en-AU" sz="200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AF865D01-7372-6EAF-37D3-F4C640A01AAA}"/>
              </a:ext>
            </a:extLst>
          </p:cNvPr>
          <p:cNvPicPr>
            <a:picLocks noChangeAspect="1"/>
          </p:cNvPicPr>
          <p:nvPr/>
        </p:nvPicPr>
        <p:blipFill>
          <a:blip r:embed="rId3"/>
          <a:stretch>
            <a:fillRect/>
          </a:stretch>
        </p:blipFill>
        <p:spPr>
          <a:xfrm>
            <a:off x="10260685" y="0"/>
            <a:ext cx="1931315" cy="1902052"/>
          </a:xfrm>
          <a:prstGeom prst="rect">
            <a:avLst/>
          </a:prstGeom>
        </p:spPr>
      </p:pic>
    </p:spTree>
    <p:extLst>
      <p:ext uri="{BB962C8B-B14F-4D97-AF65-F5344CB8AC3E}">
        <p14:creationId xmlns:p14="http://schemas.microsoft.com/office/powerpoint/2010/main" val="155508467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57712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FE286E6D-ABA8-CE16-6514-F0B387070DFB}"/>
              </a:ext>
            </a:extLst>
          </p:cNvPr>
          <p:cNvPicPr>
            <a:picLocks noChangeAspect="1"/>
          </p:cNvPicPr>
          <p:nvPr/>
        </p:nvPicPr>
        <p:blipFill rotWithShape="1">
          <a:blip r:embed="rId2"/>
          <a:srcRect l="4756" t="7180" r="2409" b="10569"/>
          <a:stretch/>
        </p:blipFill>
        <p:spPr>
          <a:xfrm>
            <a:off x="0" y="781945"/>
            <a:ext cx="12192000" cy="6076055"/>
          </a:xfrm>
          <a:prstGeom prst="rect">
            <a:avLst/>
          </a:prstGeom>
        </p:spPr>
      </p:pic>
      <p:sp>
        <p:nvSpPr>
          <p:cNvPr id="2" name="TextBox 1">
            <a:extLst>
              <a:ext uri="{FF2B5EF4-FFF2-40B4-BE49-F238E27FC236}">
                <a16:creationId xmlns:a16="http://schemas.microsoft.com/office/drawing/2014/main" id="{279AC45D-5B33-D686-8CD3-21C474F1638F}"/>
              </a:ext>
            </a:extLst>
          </p:cNvPr>
          <p:cNvSpPr txBox="1"/>
          <p:nvPr/>
        </p:nvSpPr>
        <p:spPr>
          <a:xfrm>
            <a:off x="6096001" y="1094179"/>
            <a:ext cx="6095999" cy="4549835"/>
          </a:xfrm>
          <a:prstGeom prst="rect">
            <a:avLst/>
          </a:prstGeom>
          <a:solidFill>
            <a:schemeClr val="bg1"/>
          </a:solidFill>
          <a:ln>
            <a:solidFill>
              <a:srgbClr val="FF0000"/>
            </a:solidFill>
          </a:ln>
        </p:spPr>
        <p:txBody>
          <a:bodyPr wrap="square" rtlCol="0">
            <a:spAutoFit/>
          </a:bodyPr>
          <a:lstStyle/>
          <a:p>
            <a:pPr marL="34290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This markup and styling collectively create a responsive, aesthetically pleasing webpage for promoting the Australian Cultural Festival, utilizing advanced CSS properties and HTML structure techniques taught in the lecture.</a:t>
            </a:r>
            <a:endParaRPr lang="en-A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586088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088C9-352E-1100-D8F6-F8A38D55AC3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B12A453-C4D7-3B5A-834F-CD3D395F8A49}"/>
              </a:ext>
            </a:extLst>
          </p:cNvPr>
          <p:cNvSpPr txBox="1"/>
          <p:nvPr/>
        </p:nvSpPr>
        <p:spPr>
          <a:xfrm>
            <a:off x="94593" y="0"/>
            <a:ext cx="1057712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6 - 7 Tutorial</a:t>
            </a:r>
            <a:endParaRPr lang="en-AU" sz="2600" b="1"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9F78BB63-995B-1DE3-BD68-41B7AA5084CA}"/>
              </a:ext>
            </a:extLst>
          </p:cNvPr>
          <p:cNvPicPr>
            <a:picLocks noChangeAspect="1"/>
          </p:cNvPicPr>
          <p:nvPr/>
        </p:nvPicPr>
        <p:blipFill rotWithShape="1">
          <a:blip r:embed="rId2"/>
          <a:srcRect b="11332"/>
          <a:stretch/>
        </p:blipFill>
        <p:spPr>
          <a:xfrm>
            <a:off x="555523" y="872108"/>
            <a:ext cx="11080954" cy="5526738"/>
          </a:xfrm>
          <a:prstGeom prst="rect">
            <a:avLst/>
          </a:prstGeom>
        </p:spPr>
      </p:pic>
    </p:spTree>
    <p:extLst>
      <p:ext uri="{BB962C8B-B14F-4D97-AF65-F5344CB8AC3E}">
        <p14:creationId xmlns:p14="http://schemas.microsoft.com/office/powerpoint/2010/main" val="116166050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4" name="TextBox 3">
            <a:extLst>
              <a:ext uri="{FF2B5EF4-FFF2-40B4-BE49-F238E27FC236}">
                <a16:creationId xmlns:a16="http://schemas.microsoft.com/office/drawing/2014/main" id="{23213942-22DA-A23D-71F1-F7F6867FEFB4}"/>
              </a:ext>
            </a:extLst>
          </p:cNvPr>
          <p:cNvSpPr txBox="1"/>
          <p:nvPr/>
        </p:nvSpPr>
        <p:spPr>
          <a:xfrm>
            <a:off x="94593" y="780585"/>
            <a:ext cx="11636490" cy="3903504"/>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Task 2: Update HTML Document</a:t>
            </a:r>
          </a:p>
          <a:p>
            <a:pPr marL="342900" indent="-3429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Title Update: </a:t>
            </a:r>
            <a:r>
              <a:rPr lang="en-US" sz="2800" dirty="0">
                <a:latin typeface="Calibri" panose="020F0502020204030204" pitchFamily="34" charset="0"/>
                <a:cs typeface="Calibri" panose="020F0502020204030204" pitchFamily="34" charset="0"/>
              </a:rPr>
              <a:t>We'll add a title.</a:t>
            </a:r>
          </a:p>
          <a:p>
            <a:pPr marL="342900" indent="-3429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Footer Update: </a:t>
            </a:r>
            <a:r>
              <a:rPr lang="en-US" sz="2800" dirty="0">
                <a:latin typeface="Calibri" panose="020F0502020204030204" pitchFamily="34" charset="0"/>
                <a:cs typeface="Calibri" panose="020F0502020204030204" pitchFamily="34" charset="0"/>
              </a:rPr>
              <a:t>Update the footer to include your name and today's date.</a:t>
            </a:r>
          </a:p>
          <a:p>
            <a:pPr>
              <a:lnSpc>
                <a:spcPct val="150000"/>
              </a:lnSpc>
            </a:pPr>
            <a:r>
              <a:rPr lang="en-US" sz="2800" b="1" dirty="0">
                <a:latin typeface="Calibri" panose="020F0502020204030204" pitchFamily="34" charset="0"/>
                <a:cs typeface="Calibri" panose="020F0502020204030204" pitchFamily="34" charset="0"/>
              </a:rPr>
              <a:t>Task 3: Update CSS Document</a:t>
            </a:r>
          </a:p>
          <a:p>
            <a:pPr marL="342900" indent="-3429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Comment Update:</a:t>
            </a:r>
            <a:r>
              <a:rPr lang="en-US" sz="2800" dirty="0">
                <a:latin typeface="Calibri" panose="020F0502020204030204" pitchFamily="34" charset="0"/>
                <a:cs typeface="Calibri" panose="020F0502020204030204" pitchFamily="34" charset="0"/>
              </a:rPr>
              <a:t> Modify the CSS file comment to include your name and today's date.</a:t>
            </a:r>
            <a:endParaRPr lang="en-AU" sz="28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304467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anim calcmode="lin" valueType="num">
                                      <p:cBhvr additive="base">
                                        <p:cTn id="1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4" name="TextBox 3">
            <a:extLst>
              <a:ext uri="{FF2B5EF4-FFF2-40B4-BE49-F238E27FC236}">
                <a16:creationId xmlns:a16="http://schemas.microsoft.com/office/drawing/2014/main" id="{23213942-22DA-A23D-71F1-F7F6867FEFB4}"/>
              </a:ext>
            </a:extLst>
          </p:cNvPr>
          <p:cNvSpPr txBox="1"/>
          <p:nvPr/>
        </p:nvSpPr>
        <p:spPr>
          <a:xfrm>
            <a:off x="94593" y="780585"/>
            <a:ext cx="11636490" cy="4549835"/>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Task 4 to 7: Add Semantic Elements and Content</a:t>
            </a:r>
          </a:p>
          <a:p>
            <a:pPr marL="342900" indent="-3429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Section, Article, and Aside: </a:t>
            </a:r>
            <a:r>
              <a:rPr lang="en-US" sz="2800" dirty="0">
                <a:latin typeface="Calibri" panose="020F0502020204030204" pitchFamily="34" charset="0"/>
                <a:cs typeface="Calibri" panose="020F0502020204030204" pitchFamily="34" charset="0"/>
              </a:rPr>
              <a:t>Add a section element with two article elements inside, and update the aside element positioning within the HTML structure.</a:t>
            </a:r>
          </a:p>
          <a:p>
            <a:pPr>
              <a:lnSpc>
                <a:spcPct val="150000"/>
              </a:lnSpc>
            </a:pPr>
            <a:r>
              <a:rPr lang="en-US" sz="2800" b="1" dirty="0">
                <a:latin typeface="Calibri" panose="020F0502020204030204" pitchFamily="34" charset="0"/>
                <a:cs typeface="Calibri" panose="020F0502020204030204" pitchFamily="34" charset="0"/>
              </a:rPr>
              <a:t>Task 8: CSS Styling</a:t>
            </a:r>
          </a:p>
          <a:p>
            <a:pPr marL="342900" indent="-3429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Add CSS Rules: </a:t>
            </a:r>
            <a:r>
              <a:rPr lang="en-US" sz="2800" dirty="0">
                <a:latin typeface="Calibri" panose="020F0502020204030204" pitchFamily="34" charset="0"/>
                <a:cs typeface="Calibri" panose="020F0502020204030204" pitchFamily="34" charset="0"/>
              </a:rPr>
              <a:t>Add style rules for section, article, and aside elements.</a:t>
            </a:r>
          </a:p>
          <a:p>
            <a:pPr>
              <a:lnSpc>
                <a:spcPct val="150000"/>
              </a:lnSpc>
            </a:pPr>
            <a:r>
              <a:rPr lang="en-US" sz="2800" b="1" dirty="0">
                <a:latin typeface="Calibri" panose="020F0502020204030204" pitchFamily="34" charset="0"/>
                <a:cs typeface="Calibri" panose="020F0502020204030204" pitchFamily="34" charset="0"/>
              </a:rPr>
              <a:t>Task 11 &amp; 12: Validate HTML and CSS</a:t>
            </a:r>
          </a:p>
          <a:p>
            <a:pPr marL="34290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Validate HTML and CSS using the W3C validator</a:t>
            </a:r>
            <a:endParaRPr lang="en-A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190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 calcmode="lin" valueType="num">
                                      <p:cBhvr additive="base">
                                        <p:cTn id="3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4" name="TextBox 3">
            <a:extLst>
              <a:ext uri="{FF2B5EF4-FFF2-40B4-BE49-F238E27FC236}">
                <a16:creationId xmlns:a16="http://schemas.microsoft.com/office/drawing/2014/main" id="{23213942-22DA-A23D-71F1-F7F6867FEFB4}"/>
              </a:ext>
            </a:extLst>
          </p:cNvPr>
          <p:cNvSpPr txBox="1"/>
          <p:nvPr/>
        </p:nvSpPr>
        <p:spPr>
          <a:xfrm>
            <a:off x="94593" y="780585"/>
            <a:ext cx="11636490" cy="3257174"/>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Task 14: Discuss CSS Float Property</a:t>
            </a:r>
          </a:p>
          <a:p>
            <a:pPr marL="342900" indent="-3429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Explanation of float property </a:t>
            </a:r>
            <a:r>
              <a:rPr lang="en-US" sz="2800" dirty="0">
                <a:latin typeface="Calibri" panose="020F0502020204030204" pitchFamily="34" charset="0"/>
                <a:cs typeface="Calibri" panose="020F0502020204030204" pitchFamily="34" charset="0"/>
              </a:rPr>
              <a:t>and alternative methods such as Flexbox or Grid.</a:t>
            </a:r>
          </a:p>
          <a:p>
            <a:pPr>
              <a:lnSpc>
                <a:spcPct val="150000"/>
              </a:lnSpc>
            </a:pPr>
            <a:r>
              <a:rPr lang="en-US" sz="2800" b="1" dirty="0">
                <a:latin typeface="Calibri" panose="020F0502020204030204" pitchFamily="34" charset="0"/>
                <a:cs typeface="Calibri" panose="020F0502020204030204" pitchFamily="34" charset="0"/>
              </a:rPr>
              <a:t>We'll start by making the necessary changes to the HTML and CSS files and then provide the updated code. Here is the revised HTML code:</a:t>
            </a:r>
            <a:endParaRPr lang="en-AU" sz="28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5EC81E4-528B-D859-C6EE-C55D50C34AA8}"/>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2131571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barn(inVertical)">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4" name="TextBox 3">
            <a:extLst>
              <a:ext uri="{FF2B5EF4-FFF2-40B4-BE49-F238E27FC236}">
                <a16:creationId xmlns:a16="http://schemas.microsoft.com/office/drawing/2014/main" id="{23213942-22DA-A23D-71F1-F7F6867FEFB4}"/>
              </a:ext>
            </a:extLst>
          </p:cNvPr>
          <p:cNvSpPr txBox="1"/>
          <p:nvPr/>
        </p:nvSpPr>
        <p:spPr>
          <a:xfrm>
            <a:off x="94593" y="780585"/>
            <a:ext cx="11636490" cy="568361"/>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Learn Webpage Design</a:t>
            </a:r>
            <a:endParaRPr lang="en-AU" sz="230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E5782B67-EFF7-72AF-F9B3-E530000C10CC}"/>
              </a:ext>
            </a:extLst>
          </p:cNvPr>
          <p:cNvPicPr>
            <a:picLocks noChangeAspect="1"/>
          </p:cNvPicPr>
          <p:nvPr/>
        </p:nvPicPr>
        <p:blipFill rotWithShape="1">
          <a:blip r:embed="rId2"/>
          <a:srcRect l="2500" t="4905" r="776" b="7127"/>
          <a:stretch/>
        </p:blipFill>
        <p:spPr>
          <a:xfrm>
            <a:off x="939303" y="1348946"/>
            <a:ext cx="10313394" cy="5276192"/>
          </a:xfrm>
          <a:prstGeom prst="rect">
            <a:avLst/>
          </a:prstGeom>
        </p:spPr>
      </p:pic>
    </p:spTree>
    <p:extLst>
      <p:ext uri="{BB962C8B-B14F-4D97-AF65-F5344CB8AC3E}">
        <p14:creationId xmlns:p14="http://schemas.microsoft.com/office/powerpoint/2010/main" val="387803013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Weeks 6 - 7 Tutorial</a:t>
            </a:r>
          </a:p>
        </p:txBody>
      </p:sp>
      <p:sp>
        <p:nvSpPr>
          <p:cNvPr id="4" name="TextBox 3">
            <a:extLst>
              <a:ext uri="{FF2B5EF4-FFF2-40B4-BE49-F238E27FC236}">
                <a16:creationId xmlns:a16="http://schemas.microsoft.com/office/drawing/2014/main" id="{23213942-22DA-A23D-71F1-F7F6867FEFB4}"/>
              </a:ext>
            </a:extLst>
          </p:cNvPr>
          <p:cNvSpPr txBox="1"/>
          <p:nvPr/>
        </p:nvSpPr>
        <p:spPr>
          <a:xfrm>
            <a:off x="94593" y="780585"/>
            <a:ext cx="11636490" cy="568361"/>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Learn Webpage Design</a:t>
            </a:r>
            <a:endParaRPr lang="en-AU" sz="23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7C0295F5-BB51-F602-EC53-53A07A80F980}"/>
              </a:ext>
            </a:extLst>
          </p:cNvPr>
          <p:cNvPicPr>
            <a:picLocks noChangeAspect="1"/>
          </p:cNvPicPr>
          <p:nvPr/>
        </p:nvPicPr>
        <p:blipFill rotWithShape="1">
          <a:blip r:embed="rId2"/>
          <a:srcRect r="1811" b="5594"/>
          <a:stretch/>
        </p:blipFill>
        <p:spPr>
          <a:xfrm>
            <a:off x="94593" y="1525927"/>
            <a:ext cx="9553904" cy="5166992"/>
          </a:xfrm>
          <a:prstGeom prst="rect">
            <a:avLst/>
          </a:prstGeom>
        </p:spPr>
      </p:pic>
      <p:sp>
        <p:nvSpPr>
          <p:cNvPr id="7" name="TextBox 6">
            <a:extLst>
              <a:ext uri="{FF2B5EF4-FFF2-40B4-BE49-F238E27FC236}">
                <a16:creationId xmlns:a16="http://schemas.microsoft.com/office/drawing/2014/main" id="{0115401F-422F-F18B-1153-0182C27659E0}"/>
              </a:ext>
            </a:extLst>
          </p:cNvPr>
          <p:cNvSpPr txBox="1"/>
          <p:nvPr/>
        </p:nvSpPr>
        <p:spPr>
          <a:xfrm>
            <a:off x="4630994" y="2595716"/>
            <a:ext cx="7561006" cy="2610843"/>
          </a:xfrm>
          <a:prstGeom prst="rect">
            <a:avLst/>
          </a:prstGeom>
          <a:solidFill>
            <a:schemeClr val="bg1"/>
          </a:solidFill>
          <a:ln>
            <a:solidFill>
              <a:srgbClr val="FF0000"/>
            </a:solidFill>
          </a:ln>
        </p:spPr>
        <p:txBody>
          <a:bodyPr wrap="square" rtlCol="0">
            <a:spAutoFit/>
          </a:bodyPr>
          <a:lstStyle/>
          <a:p>
            <a:pPr>
              <a:lnSpc>
                <a:spcPct val="150000"/>
              </a:lnSpc>
            </a:pPr>
            <a:r>
              <a:rPr lang="en-US" sz="2800" dirty="0">
                <a:latin typeface="Calibri" panose="020F0502020204030204" pitchFamily="34" charset="0"/>
                <a:cs typeface="Calibri" panose="020F0502020204030204" pitchFamily="34" charset="0"/>
              </a:rPr>
              <a:t>Please provide your name and today's date to personalize the comments in the HTML and CSS files and let's discuss the float property as per task 14 after updating the CSS.</a:t>
            </a:r>
            <a:endParaRPr lang="en-A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79357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54FAB-B2B9-BDD1-1EFB-D09927157DB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A93DE8-BF9D-0DC9-84F6-2E015EB15836}"/>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B6E4BC7D-259A-2C6C-16A6-2DD23C82A638}"/>
              </a:ext>
            </a:extLst>
          </p:cNvPr>
          <p:cNvSpPr txBox="1"/>
          <p:nvPr/>
        </p:nvSpPr>
        <p:spPr>
          <a:xfrm>
            <a:off x="0" y="492443"/>
            <a:ext cx="12172950" cy="3903504"/>
          </a:xfrm>
          <a:prstGeom prst="rect">
            <a:avLst/>
          </a:prstGeom>
          <a:noFill/>
        </p:spPr>
        <p:txBody>
          <a:bodyPr wrap="square">
            <a:spAutoFit/>
          </a:bodyPr>
          <a:lstStyle/>
          <a:p>
            <a:pPr>
              <a:lnSpc>
                <a:spcPct val="150000"/>
              </a:lnSpc>
              <a:buNone/>
            </a:pPr>
            <a:r>
              <a:rPr lang="en-US" sz="2800" b="1" dirty="0">
                <a:latin typeface="Calibir"/>
              </a:rPr>
              <a:t>Question 1</a:t>
            </a:r>
          </a:p>
          <a:p>
            <a:pPr>
              <a:lnSpc>
                <a:spcPct val="150000"/>
              </a:lnSpc>
              <a:buNone/>
            </a:pPr>
            <a:r>
              <a:rPr lang="en-US" sz="2800" b="1" dirty="0">
                <a:latin typeface="Calibir"/>
              </a:rPr>
              <a:t>What file must you open and save as hours.html in Project 1?</a:t>
            </a:r>
            <a:endParaRPr lang="en-US" sz="2800" dirty="0">
              <a:latin typeface="Calibir"/>
            </a:endParaRPr>
          </a:p>
          <a:p>
            <a:pPr>
              <a:lnSpc>
                <a:spcPct val="150000"/>
              </a:lnSpc>
              <a:buNone/>
            </a:pPr>
            <a:r>
              <a:rPr lang="en-US" sz="2800" dirty="0">
                <a:latin typeface="Calibir"/>
              </a:rPr>
              <a:t>A. .html</a:t>
            </a:r>
            <a:br>
              <a:rPr lang="en-US" sz="2800" dirty="0">
                <a:latin typeface="Calibir"/>
              </a:rPr>
            </a:br>
            <a:r>
              <a:rPr lang="en-US" sz="2800" dirty="0">
                <a:latin typeface="Calibir"/>
              </a:rPr>
              <a:t>B. HTM_E-7.html</a:t>
            </a:r>
            <a:br>
              <a:rPr lang="en-US" sz="2800" dirty="0">
                <a:latin typeface="Calibir"/>
              </a:rPr>
            </a:br>
            <a:r>
              <a:rPr lang="en-US" sz="2800" dirty="0">
                <a:latin typeface="Calibir"/>
              </a:rPr>
              <a:t>C. apply07.html</a:t>
            </a:r>
            <a:br>
              <a:rPr lang="en-US" sz="2800" dirty="0">
                <a:latin typeface="Calibir"/>
              </a:rPr>
            </a:br>
            <a:r>
              <a:rPr lang="en-US" sz="2800" dirty="0">
                <a:latin typeface="Calibir"/>
              </a:rPr>
              <a:t>D. index.html</a:t>
            </a:r>
          </a:p>
        </p:txBody>
      </p:sp>
      <p:sp>
        <p:nvSpPr>
          <p:cNvPr id="8" name="Rectangle: Rounded Corners 7">
            <a:extLst>
              <a:ext uri="{FF2B5EF4-FFF2-40B4-BE49-F238E27FC236}">
                <a16:creationId xmlns:a16="http://schemas.microsoft.com/office/drawing/2014/main" id="{3A6541A6-6AEB-A0DC-655B-B36BE31809FC}"/>
              </a:ext>
            </a:extLst>
          </p:cNvPr>
          <p:cNvSpPr/>
          <p:nvPr/>
        </p:nvSpPr>
        <p:spPr>
          <a:xfrm>
            <a:off x="9525" y="1981200"/>
            <a:ext cx="3057525"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50408ED6-92F9-2E17-239C-3D537786E737}"/>
              </a:ext>
            </a:extLst>
          </p:cNvPr>
          <p:cNvSpPr txBox="1"/>
          <p:nvPr/>
        </p:nvSpPr>
        <p:spPr>
          <a:xfrm>
            <a:off x="3248025" y="2208650"/>
            <a:ext cx="8934450" cy="4649350"/>
          </a:xfrm>
          <a:prstGeom prst="rect">
            <a:avLst/>
          </a:prstGeom>
          <a:noFill/>
        </p:spPr>
        <p:txBody>
          <a:bodyPr wrap="square">
            <a:spAutoFit/>
          </a:bodyPr>
          <a:lstStyle/>
          <a:p>
            <a:pPr>
              <a:lnSpc>
                <a:spcPct val="150000"/>
              </a:lnSpc>
              <a:buNone/>
            </a:pPr>
            <a:r>
              <a:rPr lang="en-US" sz="2500" dirty="0">
                <a:latin typeface="Calibir"/>
              </a:rPr>
              <a:t>The correct file is .html because the project instructions specifically require students to open this starter HTML file and then save it under the new name hours.html.</a:t>
            </a:r>
          </a:p>
          <a:p>
            <a:pPr marL="342900" indent="-342900">
              <a:lnSpc>
                <a:spcPct val="150000"/>
              </a:lnSpc>
              <a:buFont typeface="Arial" panose="020B0604020202020204" pitchFamily="34" charset="0"/>
              <a:buChar char="•"/>
            </a:pPr>
            <a:r>
              <a:rPr lang="en-US" sz="2500" dirty="0">
                <a:latin typeface="Calibir"/>
              </a:rPr>
              <a:t>Option B (HTM_E-7.html) is a different exercise file. </a:t>
            </a:r>
          </a:p>
          <a:p>
            <a:pPr marL="342900" indent="-342900">
              <a:lnSpc>
                <a:spcPct val="150000"/>
              </a:lnSpc>
              <a:buFont typeface="Arial" panose="020B0604020202020204" pitchFamily="34" charset="0"/>
              <a:buChar char="•"/>
            </a:pPr>
            <a:r>
              <a:rPr lang="en-US" sz="2500" dirty="0">
                <a:latin typeface="Calibir"/>
              </a:rPr>
              <a:t>Option C (apply07.html) is not the required starter template. </a:t>
            </a:r>
          </a:p>
          <a:p>
            <a:pPr marL="342900" indent="-342900">
              <a:lnSpc>
                <a:spcPct val="150000"/>
              </a:lnSpc>
              <a:buFont typeface="Arial" panose="020B0604020202020204" pitchFamily="34" charset="0"/>
              <a:buChar char="•"/>
            </a:pPr>
            <a:r>
              <a:rPr lang="en-US" sz="2500" dirty="0">
                <a:latin typeface="Calibir"/>
              </a:rPr>
              <a:t>Option D (index.html) is a common webpage filename, but it is not mentioned in the project instructions. </a:t>
            </a:r>
          </a:p>
          <a:p>
            <a:pPr>
              <a:lnSpc>
                <a:spcPct val="150000"/>
              </a:lnSpc>
              <a:buNone/>
            </a:pPr>
            <a:r>
              <a:rPr lang="en-US" sz="2500" dirty="0">
                <a:latin typeface="Calibir"/>
              </a:rPr>
              <a:t>Therefore, .html is the best and correct answer.</a:t>
            </a:r>
          </a:p>
        </p:txBody>
      </p:sp>
    </p:spTree>
    <p:extLst>
      <p:ext uri="{BB962C8B-B14F-4D97-AF65-F5344CB8AC3E}">
        <p14:creationId xmlns:p14="http://schemas.microsoft.com/office/powerpoint/2010/main" val="248934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1000"/>
                                        <p:tgtEl>
                                          <p:spTgt spid="10">
                                            <p:txEl>
                                              <p:pRg st="1" end="1"/>
                                            </p:txEl>
                                          </p:spTgt>
                                        </p:tgtEl>
                                      </p:cBhvr>
                                    </p:animEffect>
                                    <p:anim calcmode="lin" valueType="num">
                                      <p:cBhvr>
                                        <p:cTn id="13"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1000"/>
                                        <p:tgtEl>
                                          <p:spTgt spid="10">
                                            <p:txEl>
                                              <p:pRg st="2" end="2"/>
                                            </p:txEl>
                                          </p:spTgt>
                                        </p:tgtEl>
                                      </p:cBhvr>
                                    </p:animEffect>
                                    <p:anim calcmode="lin" valueType="num">
                                      <p:cBhvr>
                                        <p:cTn id="1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1000"/>
                                        <p:tgtEl>
                                          <p:spTgt spid="10">
                                            <p:txEl>
                                              <p:pRg st="3" end="3"/>
                                            </p:txEl>
                                          </p:spTgt>
                                        </p:tgtEl>
                                      </p:cBhvr>
                                    </p:animEffect>
                                    <p:anim calcmode="lin" valueType="num">
                                      <p:cBhvr>
                                        <p:cTn id="2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48919-838F-A10E-50AA-6F382A50081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8E93BF7-6136-561C-5C6B-56910E018C58}"/>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A4A9C061-0FCD-CEB6-C3EB-23D523FCA614}"/>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2</a:t>
            </a:r>
          </a:p>
          <a:p>
            <a:pPr>
              <a:lnSpc>
                <a:spcPct val="150000"/>
              </a:lnSpc>
            </a:pPr>
            <a:r>
              <a:rPr lang="en-US" sz="2800" b="1" dirty="0">
                <a:latin typeface="Calibir"/>
              </a:rPr>
              <a:t>Which CSS file must be opened and saved as styles.css in Project 1?</a:t>
            </a:r>
            <a:endParaRPr lang="en-US" sz="2800" dirty="0">
              <a:latin typeface="Calibir"/>
            </a:endParaRPr>
          </a:p>
          <a:p>
            <a:pPr>
              <a:lnSpc>
                <a:spcPct val="150000"/>
              </a:lnSpc>
            </a:pPr>
            <a:r>
              <a:rPr lang="en-US" sz="2800" dirty="0">
                <a:latin typeface="Calibir"/>
              </a:rPr>
              <a:t>A. HTM_E-6.css</a:t>
            </a:r>
            <a:br>
              <a:rPr lang="en-US" sz="2800" dirty="0">
                <a:latin typeface="Calibir"/>
              </a:rPr>
            </a:br>
            <a:r>
              <a:rPr lang="en-US" sz="2800" dirty="0">
                <a:latin typeface="Calibir"/>
              </a:rPr>
              <a:t>B. HTM_E-8.css</a:t>
            </a:r>
            <a:br>
              <a:rPr lang="en-US" sz="2800" dirty="0">
                <a:latin typeface="Calibir"/>
              </a:rPr>
            </a:br>
            <a:r>
              <a:rPr lang="en-US" sz="2800" dirty="0">
                <a:latin typeface="Calibir"/>
              </a:rPr>
              <a:t>C. applystyles07.css</a:t>
            </a:r>
            <a:br>
              <a:rPr lang="en-US" sz="2800" dirty="0">
                <a:latin typeface="Calibir"/>
              </a:rPr>
            </a:br>
            <a:r>
              <a:rPr lang="en-US" sz="2800" dirty="0">
                <a:latin typeface="Calibir"/>
              </a:rPr>
              <a:t>D. main.css</a:t>
            </a:r>
          </a:p>
        </p:txBody>
      </p:sp>
      <p:sp>
        <p:nvSpPr>
          <p:cNvPr id="8" name="Rectangle: Rounded Corners 7">
            <a:extLst>
              <a:ext uri="{FF2B5EF4-FFF2-40B4-BE49-F238E27FC236}">
                <a16:creationId xmlns:a16="http://schemas.microsoft.com/office/drawing/2014/main" id="{63061CD1-7299-D69E-F23B-BA4C88DB44EC}"/>
              </a:ext>
            </a:extLst>
          </p:cNvPr>
          <p:cNvSpPr/>
          <p:nvPr/>
        </p:nvSpPr>
        <p:spPr>
          <a:xfrm>
            <a:off x="9525" y="1981200"/>
            <a:ext cx="3057525"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9C6B7563-D7C4-4C69-B6BC-00442FB62027}"/>
              </a:ext>
            </a:extLst>
          </p:cNvPr>
          <p:cNvSpPr txBox="1"/>
          <p:nvPr/>
        </p:nvSpPr>
        <p:spPr>
          <a:xfrm>
            <a:off x="3314700" y="1981200"/>
            <a:ext cx="8877300" cy="4831579"/>
          </a:xfrm>
          <a:prstGeom prst="rect">
            <a:avLst/>
          </a:prstGeom>
          <a:noFill/>
        </p:spPr>
        <p:txBody>
          <a:bodyPr wrap="square">
            <a:spAutoFit/>
          </a:bodyPr>
          <a:lstStyle/>
          <a:p>
            <a:pPr>
              <a:lnSpc>
                <a:spcPct val="150000"/>
              </a:lnSpc>
            </a:pPr>
            <a:r>
              <a:rPr lang="en-US" sz="2600" dirty="0">
                <a:latin typeface="Calibir"/>
              </a:rPr>
              <a:t>The project directions state that the CSS starter file to be used is HTM_E-6.css, which must then be saved as styles.css.</a:t>
            </a:r>
          </a:p>
          <a:p>
            <a:pPr marL="457200" indent="-457200">
              <a:lnSpc>
                <a:spcPct val="150000"/>
              </a:lnSpc>
              <a:buFont typeface="Arial" panose="020B0604020202020204" pitchFamily="34" charset="0"/>
              <a:buChar char="•"/>
            </a:pPr>
            <a:r>
              <a:rPr lang="en-US" sz="2600" dirty="0">
                <a:latin typeface="Calibir"/>
              </a:rPr>
              <a:t>Option B (HTM_E-8.css) belongs to another activity. </a:t>
            </a:r>
          </a:p>
          <a:p>
            <a:pPr marL="457200" indent="-457200">
              <a:lnSpc>
                <a:spcPct val="150000"/>
              </a:lnSpc>
              <a:buFont typeface="Arial" panose="020B0604020202020204" pitchFamily="34" charset="0"/>
              <a:buChar char="•"/>
            </a:pPr>
            <a:r>
              <a:rPr lang="en-US" sz="2600" dirty="0">
                <a:latin typeface="Calibir"/>
              </a:rPr>
              <a:t>Option C (applystyles07.css) is unrelated to this project setup. </a:t>
            </a:r>
          </a:p>
          <a:p>
            <a:pPr marL="457200" indent="-457200">
              <a:lnSpc>
                <a:spcPct val="150000"/>
              </a:lnSpc>
              <a:buFont typeface="Arial" panose="020B0604020202020204" pitchFamily="34" charset="0"/>
              <a:buChar char="•"/>
            </a:pPr>
            <a:r>
              <a:rPr lang="en-US" sz="2600" dirty="0">
                <a:latin typeface="Calibir"/>
              </a:rPr>
              <a:t>Option D (main.css) is a generic stylesheet name and not the required file. </a:t>
            </a:r>
          </a:p>
          <a:p>
            <a:pPr>
              <a:lnSpc>
                <a:spcPct val="150000"/>
              </a:lnSpc>
            </a:pPr>
            <a:r>
              <a:rPr lang="en-US" sz="2600" dirty="0">
                <a:latin typeface="Calibir"/>
              </a:rPr>
              <a:t>So, HTM_E-6.css is the correct choice.</a:t>
            </a:r>
          </a:p>
        </p:txBody>
      </p:sp>
    </p:spTree>
    <p:extLst>
      <p:ext uri="{BB962C8B-B14F-4D97-AF65-F5344CB8AC3E}">
        <p14:creationId xmlns:p14="http://schemas.microsoft.com/office/powerpoint/2010/main" val="105018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C1132-8726-C0D4-7BA1-C277511251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B8AD6BF-C0E4-775A-3CFC-B4C94E79517D}"/>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E0C12714-5928-8451-964B-2FD114654D1A}"/>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3</a:t>
            </a:r>
          </a:p>
          <a:p>
            <a:pPr>
              <a:lnSpc>
                <a:spcPct val="150000"/>
              </a:lnSpc>
            </a:pPr>
            <a:r>
              <a:rPr lang="en-US" sz="2800" b="1" dirty="0">
                <a:latin typeface="Calibir"/>
              </a:rPr>
              <a:t>Where must your name and today’s date be added?</a:t>
            </a:r>
            <a:endParaRPr lang="en-US" sz="2800" dirty="0">
              <a:latin typeface="Calibir"/>
            </a:endParaRPr>
          </a:p>
          <a:p>
            <a:pPr>
              <a:lnSpc>
                <a:spcPct val="150000"/>
              </a:lnSpc>
            </a:pPr>
            <a:r>
              <a:rPr lang="en-US" sz="2800" dirty="0">
                <a:latin typeface="Calibir"/>
              </a:rPr>
              <a:t>A. In the first comment section of both HTML and CSS files</a:t>
            </a:r>
            <a:br>
              <a:rPr lang="en-US" sz="2800" dirty="0">
                <a:latin typeface="Calibir"/>
              </a:rPr>
            </a:br>
            <a:r>
              <a:rPr lang="en-US" sz="2800" dirty="0">
                <a:latin typeface="Calibir"/>
              </a:rPr>
              <a:t>B. Only in the footer</a:t>
            </a:r>
            <a:br>
              <a:rPr lang="en-US" sz="2800" dirty="0">
                <a:latin typeface="Calibir"/>
              </a:rPr>
            </a:br>
            <a:r>
              <a:rPr lang="en-US" sz="2800" dirty="0">
                <a:latin typeface="Calibir"/>
              </a:rPr>
              <a:t>C. Only inside</a:t>
            </a:r>
            <a:br>
              <a:rPr lang="en-US" sz="2800" dirty="0">
                <a:latin typeface="Calibir"/>
              </a:rPr>
            </a:br>
            <a:r>
              <a:rPr lang="en-US" sz="2800" dirty="0">
                <a:latin typeface="Calibir"/>
              </a:rPr>
              <a:t>D. In a separate notes file</a:t>
            </a:r>
          </a:p>
        </p:txBody>
      </p:sp>
      <p:sp>
        <p:nvSpPr>
          <p:cNvPr id="8" name="Rectangle: Rounded Corners 7">
            <a:extLst>
              <a:ext uri="{FF2B5EF4-FFF2-40B4-BE49-F238E27FC236}">
                <a16:creationId xmlns:a16="http://schemas.microsoft.com/office/drawing/2014/main" id="{053E9AE2-54B4-EF1C-AF56-B4F32565C404}"/>
              </a:ext>
            </a:extLst>
          </p:cNvPr>
          <p:cNvSpPr/>
          <p:nvPr/>
        </p:nvSpPr>
        <p:spPr>
          <a:xfrm>
            <a:off x="9525" y="1981200"/>
            <a:ext cx="8610600"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1A85AA8C-D239-29D1-F294-3F77103C8DE9}"/>
              </a:ext>
            </a:extLst>
          </p:cNvPr>
          <p:cNvSpPr txBox="1"/>
          <p:nvPr/>
        </p:nvSpPr>
        <p:spPr>
          <a:xfrm>
            <a:off x="3657600" y="2406095"/>
            <a:ext cx="8534400" cy="4610365"/>
          </a:xfrm>
          <a:prstGeom prst="rect">
            <a:avLst/>
          </a:prstGeom>
          <a:noFill/>
        </p:spPr>
        <p:txBody>
          <a:bodyPr wrap="square">
            <a:spAutoFit/>
          </a:bodyPr>
          <a:lstStyle/>
          <a:p>
            <a:pPr>
              <a:lnSpc>
                <a:spcPct val="150000"/>
              </a:lnSpc>
            </a:pPr>
            <a:r>
              <a:rPr lang="en-US" sz="2200" dirty="0">
                <a:latin typeface="Calibir"/>
              </a:rPr>
              <a:t>Most web development lab projects require students to place identifying information such as their name and date inside the first comment section of both the HTML and CSS files. This helps instructors verify authorship and maintain proper documentation.</a:t>
            </a:r>
          </a:p>
          <a:p>
            <a:pPr>
              <a:lnSpc>
                <a:spcPct val="150000"/>
              </a:lnSpc>
            </a:pPr>
            <a:r>
              <a:rPr lang="en-US" sz="2200" dirty="0">
                <a:latin typeface="Calibir"/>
              </a:rPr>
              <a:t>Option B is incorrect because the footer is part of the webpage content, not file documentation. </a:t>
            </a:r>
          </a:p>
          <a:p>
            <a:pPr>
              <a:lnSpc>
                <a:spcPct val="150000"/>
              </a:lnSpc>
            </a:pPr>
            <a:r>
              <a:rPr lang="en-US" sz="2200" dirty="0">
                <a:latin typeface="Calibir"/>
              </a:rPr>
              <a:t>Option C is incomplete and unclear. </a:t>
            </a:r>
          </a:p>
          <a:p>
            <a:pPr>
              <a:lnSpc>
                <a:spcPct val="150000"/>
              </a:lnSpc>
            </a:pPr>
            <a:r>
              <a:rPr lang="en-US" sz="2200" dirty="0">
                <a:latin typeface="Calibir"/>
              </a:rPr>
              <a:t>Option D is incorrect because the instructions specifically require the information inside the project files themselves.</a:t>
            </a:r>
          </a:p>
        </p:txBody>
      </p:sp>
    </p:spTree>
    <p:extLst>
      <p:ext uri="{BB962C8B-B14F-4D97-AF65-F5344CB8AC3E}">
        <p14:creationId xmlns:p14="http://schemas.microsoft.com/office/powerpoint/2010/main" val="3745584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D6FDE-41AC-B186-5C64-7397397CDD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9FF6CAD-91FB-71B4-5342-24CA210FD24D}"/>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28C59D97-880C-44EF-A7A1-C86F4327093A}"/>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4</a:t>
            </a:r>
          </a:p>
          <a:p>
            <a:pPr>
              <a:lnSpc>
                <a:spcPct val="150000"/>
              </a:lnSpc>
            </a:pPr>
            <a:r>
              <a:rPr lang="en-US" sz="2800" b="1" dirty="0">
                <a:latin typeface="Calibir"/>
              </a:rPr>
              <a:t>Which Google Font must be added to hours.html?</a:t>
            </a:r>
            <a:endParaRPr lang="en-US" sz="2800" dirty="0">
              <a:latin typeface="Calibir"/>
            </a:endParaRPr>
          </a:p>
          <a:p>
            <a:pPr>
              <a:lnSpc>
                <a:spcPct val="150000"/>
              </a:lnSpc>
            </a:pPr>
            <a:r>
              <a:rPr lang="en-US" sz="2800" dirty="0">
                <a:latin typeface="Calibir"/>
              </a:rPr>
              <a:t>A. Lato</a:t>
            </a:r>
            <a:br>
              <a:rPr lang="en-US" sz="2800" dirty="0">
                <a:latin typeface="Calibir"/>
              </a:rPr>
            </a:br>
            <a:r>
              <a:rPr lang="en-US" sz="2800" dirty="0">
                <a:latin typeface="Calibir"/>
              </a:rPr>
              <a:t>B. Roboto</a:t>
            </a:r>
            <a:br>
              <a:rPr lang="en-US" sz="2800" dirty="0">
                <a:latin typeface="Calibir"/>
              </a:rPr>
            </a:br>
            <a:r>
              <a:rPr lang="en-US" sz="2800" dirty="0">
                <a:latin typeface="Calibir"/>
              </a:rPr>
              <a:t>C. Open Sans</a:t>
            </a:r>
            <a:br>
              <a:rPr lang="en-US" sz="2800" dirty="0">
                <a:latin typeface="Calibir"/>
              </a:rPr>
            </a:br>
            <a:r>
              <a:rPr lang="en-US" sz="2800" dirty="0">
                <a:latin typeface="Calibir"/>
              </a:rPr>
              <a:t>D. Georgia</a:t>
            </a:r>
          </a:p>
        </p:txBody>
      </p:sp>
      <p:sp>
        <p:nvSpPr>
          <p:cNvPr id="8" name="Rectangle: Rounded Corners 7">
            <a:extLst>
              <a:ext uri="{FF2B5EF4-FFF2-40B4-BE49-F238E27FC236}">
                <a16:creationId xmlns:a16="http://schemas.microsoft.com/office/drawing/2014/main" id="{E3072232-6559-EE81-5A42-ED88EA549208}"/>
              </a:ext>
            </a:extLst>
          </p:cNvPr>
          <p:cNvSpPr/>
          <p:nvPr/>
        </p:nvSpPr>
        <p:spPr>
          <a:xfrm>
            <a:off x="9525" y="1981200"/>
            <a:ext cx="8610600"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FF8F8FCC-8A78-C7C5-34AF-B8CCD3A7B7F2}"/>
              </a:ext>
            </a:extLst>
          </p:cNvPr>
          <p:cNvSpPr txBox="1"/>
          <p:nvPr/>
        </p:nvSpPr>
        <p:spPr>
          <a:xfrm>
            <a:off x="3657600" y="2406095"/>
            <a:ext cx="8534400" cy="4467057"/>
          </a:xfrm>
          <a:prstGeom prst="rect">
            <a:avLst/>
          </a:prstGeom>
          <a:noFill/>
        </p:spPr>
        <p:txBody>
          <a:bodyPr wrap="square">
            <a:spAutoFit/>
          </a:bodyPr>
          <a:lstStyle/>
          <a:p>
            <a:pPr>
              <a:lnSpc>
                <a:spcPct val="150000"/>
              </a:lnSpc>
            </a:pPr>
            <a:r>
              <a:rPr lang="en-US" sz="2400" dirty="0">
                <a:latin typeface="Calibir"/>
              </a:rPr>
              <a:t>The required Google Font for the webpage is Lato. This font is commonly chosen because it is clean, modern, and easy to read on websites.</a:t>
            </a:r>
          </a:p>
          <a:p>
            <a:pPr marL="342900" indent="-342900">
              <a:lnSpc>
                <a:spcPct val="150000"/>
              </a:lnSpc>
              <a:buFont typeface="Arial" panose="020B0604020202020204" pitchFamily="34" charset="0"/>
              <a:buChar char="•"/>
            </a:pPr>
            <a:r>
              <a:rPr lang="en-US" sz="2400" dirty="0">
                <a:latin typeface="Calibir"/>
              </a:rPr>
              <a:t>Roboto and Open Sans are also popular web fonts, but they were not specified in this project instructions. </a:t>
            </a:r>
          </a:p>
          <a:p>
            <a:pPr marL="342900" indent="-342900">
              <a:lnSpc>
                <a:spcPct val="150000"/>
              </a:lnSpc>
              <a:buFont typeface="Arial" panose="020B0604020202020204" pitchFamily="34" charset="0"/>
              <a:buChar char="•"/>
            </a:pPr>
            <a:r>
              <a:rPr lang="en-US" sz="2400" dirty="0">
                <a:latin typeface="Calibir"/>
              </a:rPr>
              <a:t>Georgia is not a Google Font; it is a standard serif font included with many operating systems. </a:t>
            </a:r>
          </a:p>
          <a:p>
            <a:pPr>
              <a:lnSpc>
                <a:spcPct val="150000"/>
              </a:lnSpc>
            </a:pPr>
            <a:r>
              <a:rPr lang="en-US" sz="2400" dirty="0">
                <a:latin typeface="Calibir"/>
              </a:rPr>
              <a:t>Thus, Lato is the correct and best answer.</a:t>
            </a:r>
          </a:p>
        </p:txBody>
      </p:sp>
    </p:spTree>
    <p:extLst>
      <p:ext uri="{BB962C8B-B14F-4D97-AF65-F5344CB8AC3E}">
        <p14:creationId xmlns:p14="http://schemas.microsoft.com/office/powerpoint/2010/main" val="550444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D98D7-0E9E-9D3D-3EDD-B04C90CDAF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A75C19D-A2B2-461F-70BF-2FBC18984C6D}"/>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863A9779-37DC-E4EE-70CA-43D3BB53892E}"/>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5</a:t>
            </a:r>
          </a:p>
          <a:p>
            <a:pPr>
              <a:lnSpc>
                <a:spcPct val="150000"/>
              </a:lnSpc>
            </a:pPr>
            <a:r>
              <a:rPr lang="en-US" sz="2800" b="1" dirty="0">
                <a:latin typeface="Calibir"/>
              </a:rPr>
              <a:t>Where should the Google Fonts element be pasted?</a:t>
            </a:r>
            <a:endParaRPr lang="en-US" sz="2800" dirty="0">
              <a:latin typeface="Calibir"/>
            </a:endParaRPr>
          </a:p>
          <a:p>
            <a:pPr>
              <a:lnSpc>
                <a:spcPct val="150000"/>
              </a:lnSpc>
            </a:pPr>
            <a:r>
              <a:rPr lang="en-US" sz="2800" dirty="0">
                <a:latin typeface="Calibir"/>
              </a:rPr>
              <a:t>A. Before the link to the stylesheet</a:t>
            </a:r>
            <a:br>
              <a:rPr lang="en-US" sz="2800" dirty="0">
                <a:latin typeface="Calibir"/>
              </a:rPr>
            </a:br>
            <a:r>
              <a:rPr lang="en-US" sz="2800" dirty="0">
                <a:latin typeface="Calibir"/>
              </a:rPr>
              <a:t>B. After the closing tag</a:t>
            </a:r>
            <a:br>
              <a:rPr lang="en-US" sz="2800" dirty="0">
                <a:latin typeface="Calibir"/>
              </a:rPr>
            </a:br>
            <a:r>
              <a:rPr lang="en-US" sz="2800" dirty="0">
                <a:latin typeface="Calibir"/>
              </a:rPr>
              <a:t>C. Inside the footer</a:t>
            </a:r>
            <a:br>
              <a:rPr lang="en-US" sz="2800" dirty="0">
                <a:latin typeface="Calibir"/>
              </a:rPr>
            </a:br>
            <a:r>
              <a:rPr lang="en-US" sz="2800" dirty="0">
                <a:latin typeface="Calibir"/>
              </a:rPr>
              <a:t>D. At the bottom of the CSS file</a:t>
            </a:r>
          </a:p>
        </p:txBody>
      </p:sp>
      <p:sp>
        <p:nvSpPr>
          <p:cNvPr id="8" name="Rectangle: Rounded Corners 7">
            <a:extLst>
              <a:ext uri="{FF2B5EF4-FFF2-40B4-BE49-F238E27FC236}">
                <a16:creationId xmlns:a16="http://schemas.microsoft.com/office/drawing/2014/main" id="{C63E5F40-1DF5-6204-1F3F-9260F490C60B}"/>
              </a:ext>
            </a:extLst>
          </p:cNvPr>
          <p:cNvSpPr/>
          <p:nvPr/>
        </p:nvSpPr>
        <p:spPr>
          <a:xfrm>
            <a:off x="9525" y="1981200"/>
            <a:ext cx="5314950"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3472939C-8C96-5514-ADE9-BAE895B168D3}"/>
              </a:ext>
            </a:extLst>
          </p:cNvPr>
          <p:cNvSpPr txBox="1"/>
          <p:nvPr/>
        </p:nvSpPr>
        <p:spPr>
          <a:xfrm>
            <a:off x="5324475" y="1739804"/>
            <a:ext cx="6867525" cy="5118196"/>
          </a:xfrm>
          <a:prstGeom prst="rect">
            <a:avLst/>
          </a:prstGeom>
          <a:noFill/>
        </p:spPr>
        <p:txBody>
          <a:bodyPr wrap="square">
            <a:spAutoFit/>
          </a:bodyPr>
          <a:lstStyle/>
          <a:p>
            <a:pPr>
              <a:lnSpc>
                <a:spcPct val="150000"/>
              </a:lnSpc>
            </a:pPr>
            <a:r>
              <a:rPr lang="en-US" sz="2200" dirty="0">
                <a:latin typeface="Calibir"/>
              </a:rPr>
              <a:t>The Google Fonts &lt;link&gt; element should be placed before the stylesheet link in the HTML &lt;head&gt; section. This ensures the font loads first so the CSS file can correctly apply the font styles to the webpage elements.</a:t>
            </a:r>
          </a:p>
          <a:p>
            <a:pPr>
              <a:lnSpc>
                <a:spcPct val="150000"/>
              </a:lnSpc>
            </a:pPr>
            <a:r>
              <a:rPr lang="en-US" sz="2200" dirty="0">
                <a:latin typeface="Calibir"/>
              </a:rPr>
              <a:t>Option B is incorrect because placing it after the closing tag would break proper HTML structure. </a:t>
            </a:r>
          </a:p>
          <a:p>
            <a:pPr>
              <a:lnSpc>
                <a:spcPct val="150000"/>
              </a:lnSpc>
            </a:pPr>
            <a:r>
              <a:rPr lang="en-US" sz="2200" dirty="0">
                <a:latin typeface="Calibir"/>
              </a:rPr>
              <a:t>Option C is wrong because fonts are loaded in the document head, not inside the footer. </a:t>
            </a:r>
          </a:p>
          <a:p>
            <a:pPr>
              <a:lnSpc>
                <a:spcPct val="150000"/>
              </a:lnSpc>
            </a:pPr>
            <a:r>
              <a:rPr lang="en-US" sz="2200" dirty="0">
                <a:latin typeface="Calibir"/>
              </a:rPr>
              <a:t>Option D is incorrect because Google Fonts are linked through HTML, not pasted into the bottom of the CSS file.</a:t>
            </a:r>
          </a:p>
        </p:txBody>
      </p:sp>
    </p:spTree>
    <p:extLst>
      <p:ext uri="{BB962C8B-B14F-4D97-AF65-F5344CB8AC3E}">
        <p14:creationId xmlns:p14="http://schemas.microsoft.com/office/powerpoint/2010/main" val="768421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FE401-A1BE-D235-DFAD-012946AA4DB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029F4CD-CE67-8761-9B26-E5A436860133}"/>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54396D76-A504-AAC6-D695-EA0C85346F44}"/>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6</a:t>
            </a:r>
          </a:p>
          <a:p>
            <a:pPr>
              <a:lnSpc>
                <a:spcPct val="150000"/>
              </a:lnSpc>
            </a:pPr>
            <a:r>
              <a:rPr lang="en-US" sz="2800" b="1" dirty="0">
                <a:latin typeface="Calibir"/>
              </a:rPr>
              <a:t>What background color must be set for the body element in styles.css?</a:t>
            </a:r>
            <a:endParaRPr lang="en-US" sz="2800" dirty="0">
              <a:latin typeface="Calibir"/>
            </a:endParaRPr>
          </a:p>
          <a:p>
            <a:pPr>
              <a:lnSpc>
                <a:spcPct val="150000"/>
              </a:lnSpc>
            </a:pPr>
            <a:r>
              <a:rPr lang="en-US" sz="2800" dirty="0">
                <a:latin typeface="Calibir"/>
              </a:rPr>
              <a:t>A. #fff</a:t>
            </a:r>
            <a:br>
              <a:rPr lang="en-US" sz="2800" dirty="0">
                <a:latin typeface="Calibir"/>
              </a:rPr>
            </a:br>
            <a:r>
              <a:rPr lang="en-US" sz="2800" dirty="0">
                <a:latin typeface="Calibir"/>
              </a:rPr>
              <a:t>B. #000</a:t>
            </a:r>
            <a:br>
              <a:rPr lang="en-US" sz="2800" dirty="0">
                <a:latin typeface="Calibir"/>
              </a:rPr>
            </a:br>
            <a:r>
              <a:rPr lang="en-US" sz="2800" dirty="0">
                <a:latin typeface="Calibir"/>
              </a:rPr>
              <a:t>C. #f15a24</a:t>
            </a:r>
            <a:br>
              <a:rPr lang="en-US" sz="2800" dirty="0">
                <a:latin typeface="Calibir"/>
              </a:rPr>
            </a:br>
            <a:r>
              <a:rPr lang="en-US" sz="2800" dirty="0">
                <a:latin typeface="Calibir"/>
              </a:rPr>
              <a:t>D. </a:t>
            </a:r>
            <a:r>
              <a:rPr lang="en-US" sz="2800" dirty="0" err="1">
                <a:latin typeface="Calibir"/>
              </a:rPr>
              <a:t>rgb</a:t>
            </a:r>
            <a:r>
              <a:rPr lang="en-US" sz="2800" dirty="0">
                <a:latin typeface="Calibir"/>
              </a:rPr>
              <a:t>(106,194,56)</a:t>
            </a:r>
          </a:p>
        </p:txBody>
      </p:sp>
      <p:sp>
        <p:nvSpPr>
          <p:cNvPr id="8" name="Rectangle: Rounded Corners 7">
            <a:extLst>
              <a:ext uri="{FF2B5EF4-FFF2-40B4-BE49-F238E27FC236}">
                <a16:creationId xmlns:a16="http://schemas.microsoft.com/office/drawing/2014/main" id="{69D72CE4-DFD0-46AA-5F84-C44B40BBB244}"/>
              </a:ext>
            </a:extLst>
          </p:cNvPr>
          <p:cNvSpPr/>
          <p:nvPr/>
        </p:nvSpPr>
        <p:spPr>
          <a:xfrm>
            <a:off x="9525" y="1981200"/>
            <a:ext cx="5314950"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051E6F8A-EE34-97EA-9F6F-1FE08F265B51}"/>
              </a:ext>
            </a:extLst>
          </p:cNvPr>
          <p:cNvSpPr txBox="1"/>
          <p:nvPr/>
        </p:nvSpPr>
        <p:spPr>
          <a:xfrm>
            <a:off x="3552825" y="2768848"/>
            <a:ext cx="8639175" cy="3913059"/>
          </a:xfrm>
          <a:prstGeom prst="rect">
            <a:avLst/>
          </a:prstGeom>
          <a:noFill/>
        </p:spPr>
        <p:txBody>
          <a:bodyPr wrap="square">
            <a:spAutoFit/>
          </a:bodyPr>
          <a:lstStyle/>
          <a:p>
            <a:pPr>
              <a:lnSpc>
                <a:spcPct val="150000"/>
              </a:lnSpc>
            </a:pPr>
            <a:r>
              <a:rPr lang="en-US" sz="2400" dirty="0">
                <a:latin typeface="Calibir"/>
              </a:rPr>
              <a:t>The color code #fff represents white in hexadecimal CSS color notation. The project instructions require the webpage body background to be white for a clean and readable design.</a:t>
            </a:r>
          </a:p>
          <a:p>
            <a:pPr marL="342900" indent="-342900">
              <a:lnSpc>
                <a:spcPct val="150000"/>
              </a:lnSpc>
              <a:buFont typeface="Arial" panose="020B0604020202020204" pitchFamily="34" charset="0"/>
              <a:buChar char="•"/>
            </a:pPr>
            <a:r>
              <a:rPr lang="en-US" sz="2400" dirty="0">
                <a:latin typeface="Calibir"/>
              </a:rPr>
              <a:t>#000 represents black, which would create a dark background. </a:t>
            </a:r>
          </a:p>
          <a:p>
            <a:pPr marL="342900" indent="-342900">
              <a:lnSpc>
                <a:spcPct val="150000"/>
              </a:lnSpc>
              <a:buFont typeface="Arial" panose="020B0604020202020204" pitchFamily="34" charset="0"/>
              <a:buChar char="•"/>
            </a:pPr>
            <a:r>
              <a:rPr lang="en-US" sz="2400" dirty="0">
                <a:latin typeface="Calibir"/>
              </a:rPr>
              <a:t>#f15a24 is an orange shade, not the required background color. </a:t>
            </a:r>
          </a:p>
          <a:p>
            <a:pPr marL="342900" indent="-342900">
              <a:lnSpc>
                <a:spcPct val="150000"/>
              </a:lnSpc>
              <a:buFont typeface="Arial" panose="020B0604020202020204" pitchFamily="34" charset="0"/>
              <a:buChar char="•"/>
            </a:pPr>
            <a:r>
              <a:rPr lang="en-US" sz="2400" dirty="0" err="1">
                <a:latin typeface="Calibir"/>
              </a:rPr>
              <a:t>rgb</a:t>
            </a:r>
            <a:r>
              <a:rPr lang="en-US" sz="2400" dirty="0">
                <a:latin typeface="Calibir"/>
              </a:rPr>
              <a:t>(106,194,56) is a green color value. </a:t>
            </a:r>
          </a:p>
          <a:p>
            <a:pPr>
              <a:lnSpc>
                <a:spcPct val="150000"/>
              </a:lnSpc>
            </a:pPr>
            <a:r>
              <a:rPr lang="en-US" sz="2400" dirty="0">
                <a:latin typeface="Calibir"/>
              </a:rPr>
              <a:t>Thus, #fff is the best and correct answer.</a:t>
            </a:r>
          </a:p>
        </p:txBody>
      </p:sp>
    </p:spTree>
    <p:extLst>
      <p:ext uri="{BB962C8B-B14F-4D97-AF65-F5344CB8AC3E}">
        <p14:creationId xmlns:p14="http://schemas.microsoft.com/office/powerpoint/2010/main" val="52624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9B2D9-1379-DF5E-F9B2-FACF8AD16D5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7F0FA8-674A-606C-482F-012FB0F73E9D}"/>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13249C57-64EE-45B0-9831-6293E9877097}"/>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7</a:t>
            </a:r>
          </a:p>
          <a:p>
            <a:pPr>
              <a:lnSpc>
                <a:spcPct val="150000"/>
              </a:lnSpc>
            </a:pPr>
            <a:r>
              <a:rPr lang="en-US" sz="2800" b="1" dirty="0">
                <a:latin typeface="Calibir"/>
              </a:rPr>
              <a:t>What font size must be set for the html element in the reset styles section?</a:t>
            </a:r>
            <a:endParaRPr lang="en-US" sz="2800" dirty="0">
              <a:latin typeface="Calibir"/>
            </a:endParaRPr>
          </a:p>
          <a:p>
            <a:pPr>
              <a:lnSpc>
                <a:spcPct val="150000"/>
              </a:lnSpc>
            </a:pPr>
            <a:r>
              <a:rPr lang="en-US" sz="2800" dirty="0">
                <a:latin typeface="Calibir"/>
              </a:rPr>
              <a:t>A. 12px</a:t>
            </a:r>
            <a:br>
              <a:rPr lang="en-US" sz="2800" dirty="0">
                <a:latin typeface="Calibir"/>
              </a:rPr>
            </a:br>
            <a:r>
              <a:rPr lang="en-US" sz="2800" dirty="0">
                <a:latin typeface="Calibir"/>
              </a:rPr>
              <a:t>B. 10px</a:t>
            </a:r>
            <a:br>
              <a:rPr lang="en-US" sz="2800" dirty="0">
                <a:latin typeface="Calibir"/>
              </a:rPr>
            </a:br>
            <a:r>
              <a:rPr lang="en-US" sz="2800" dirty="0">
                <a:latin typeface="Calibir"/>
              </a:rPr>
              <a:t>C. 16px</a:t>
            </a:r>
            <a:br>
              <a:rPr lang="en-US" sz="2800" dirty="0">
                <a:latin typeface="Calibir"/>
              </a:rPr>
            </a:br>
            <a:r>
              <a:rPr lang="en-US" sz="2800" dirty="0">
                <a:latin typeface="Calibir"/>
              </a:rPr>
              <a:t>D. 1em</a:t>
            </a:r>
          </a:p>
        </p:txBody>
      </p:sp>
      <p:sp>
        <p:nvSpPr>
          <p:cNvPr id="8" name="Rectangle: Rounded Corners 7">
            <a:extLst>
              <a:ext uri="{FF2B5EF4-FFF2-40B4-BE49-F238E27FC236}">
                <a16:creationId xmlns:a16="http://schemas.microsoft.com/office/drawing/2014/main" id="{C9CAD513-296C-5046-5C11-CC0730040A39}"/>
              </a:ext>
            </a:extLst>
          </p:cNvPr>
          <p:cNvSpPr/>
          <p:nvPr/>
        </p:nvSpPr>
        <p:spPr>
          <a:xfrm>
            <a:off x="9525" y="1981200"/>
            <a:ext cx="5314950"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74C40603-D207-0A96-7D9B-D6BB636E0172}"/>
              </a:ext>
            </a:extLst>
          </p:cNvPr>
          <p:cNvSpPr txBox="1"/>
          <p:nvPr/>
        </p:nvSpPr>
        <p:spPr>
          <a:xfrm>
            <a:off x="2066925" y="2747631"/>
            <a:ext cx="10125075" cy="4072269"/>
          </a:xfrm>
          <a:prstGeom prst="rect">
            <a:avLst/>
          </a:prstGeom>
          <a:noFill/>
        </p:spPr>
        <p:txBody>
          <a:bodyPr wrap="square">
            <a:spAutoFit/>
          </a:bodyPr>
          <a:lstStyle/>
          <a:p>
            <a:pPr>
              <a:lnSpc>
                <a:spcPct val="150000"/>
              </a:lnSpc>
            </a:pPr>
            <a:r>
              <a:rPr lang="en-US" sz="2500" dirty="0">
                <a:latin typeface="Calibir"/>
              </a:rPr>
              <a:t>The reset styles section sets a consistent base font size for the webpage. In this project, the required font size for the html element is 12px. This provides a standard starting point for scaling text sizes throughout the site.</a:t>
            </a:r>
          </a:p>
          <a:p>
            <a:pPr marL="800100" lvl="1" indent="-342900">
              <a:lnSpc>
                <a:spcPct val="150000"/>
              </a:lnSpc>
              <a:buFont typeface="Arial" panose="020B0604020202020204" pitchFamily="34" charset="0"/>
              <a:buChar char="•"/>
            </a:pPr>
            <a:r>
              <a:rPr lang="en-US" sz="2500" dirty="0">
                <a:latin typeface="Calibir"/>
              </a:rPr>
              <a:t>10px is smaller than the required size. </a:t>
            </a:r>
          </a:p>
          <a:p>
            <a:pPr marL="800100" lvl="1" indent="-342900">
              <a:lnSpc>
                <a:spcPct val="150000"/>
              </a:lnSpc>
              <a:buFont typeface="Arial" panose="020B0604020202020204" pitchFamily="34" charset="0"/>
              <a:buChar char="•"/>
            </a:pPr>
            <a:r>
              <a:rPr lang="en-US" sz="2500" dirty="0">
                <a:latin typeface="Calibir"/>
              </a:rPr>
              <a:t>16px is the browser default in many cases, but not the specified project value. </a:t>
            </a:r>
          </a:p>
          <a:p>
            <a:pPr marL="800100" lvl="1" indent="-342900">
              <a:lnSpc>
                <a:spcPct val="150000"/>
              </a:lnSpc>
              <a:buFont typeface="Arial" panose="020B0604020202020204" pitchFamily="34" charset="0"/>
              <a:buChar char="•"/>
            </a:pPr>
            <a:r>
              <a:rPr lang="en-US" sz="2500" dirty="0">
                <a:latin typeface="Calibir"/>
              </a:rPr>
              <a:t>1em is a relative measurement, not the exact required size.</a:t>
            </a:r>
          </a:p>
        </p:txBody>
      </p:sp>
    </p:spTree>
    <p:extLst>
      <p:ext uri="{BB962C8B-B14F-4D97-AF65-F5344CB8AC3E}">
        <p14:creationId xmlns:p14="http://schemas.microsoft.com/office/powerpoint/2010/main" val="408679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5AD1D-BC14-9371-42D7-6EB4B9B151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3593F4E-30E5-DE32-EF19-FB5EB89F2404}"/>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6056FBF0-7D19-07EE-66D1-09BF8A1DB3B0}"/>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8</a:t>
            </a:r>
          </a:p>
          <a:p>
            <a:pPr>
              <a:lnSpc>
                <a:spcPct val="150000"/>
              </a:lnSpc>
            </a:pPr>
            <a:r>
              <a:rPr lang="en-US" sz="2800" b="1" dirty="0">
                <a:latin typeface="Calibir"/>
              </a:rPr>
              <a:t>What font size must be set for p elements in the global styles section?</a:t>
            </a:r>
            <a:endParaRPr lang="en-US" sz="2800" dirty="0">
              <a:latin typeface="Calibir"/>
            </a:endParaRPr>
          </a:p>
          <a:p>
            <a:pPr>
              <a:lnSpc>
                <a:spcPct val="150000"/>
              </a:lnSpc>
            </a:pPr>
            <a:r>
              <a:rPr lang="en-US" sz="2800" dirty="0">
                <a:latin typeface="Calibir"/>
              </a:rPr>
              <a:t>A. 1.2em</a:t>
            </a:r>
            <a:br>
              <a:rPr lang="en-US" sz="2800" dirty="0">
                <a:latin typeface="Calibir"/>
              </a:rPr>
            </a:br>
            <a:r>
              <a:rPr lang="en-US" sz="2800" dirty="0">
                <a:latin typeface="Calibir"/>
              </a:rPr>
              <a:t>B. 14px</a:t>
            </a:r>
            <a:br>
              <a:rPr lang="en-US" sz="2800" dirty="0">
                <a:latin typeface="Calibir"/>
              </a:rPr>
            </a:br>
            <a:r>
              <a:rPr lang="en-US" sz="2800" dirty="0">
                <a:latin typeface="Calibir"/>
              </a:rPr>
              <a:t>C. 2em</a:t>
            </a:r>
            <a:br>
              <a:rPr lang="en-US" sz="2800" dirty="0">
                <a:latin typeface="Calibir"/>
              </a:rPr>
            </a:br>
            <a:r>
              <a:rPr lang="en-US" sz="2800" dirty="0">
                <a:latin typeface="Calibir"/>
              </a:rPr>
              <a:t>D. 0.8em</a:t>
            </a:r>
          </a:p>
        </p:txBody>
      </p:sp>
      <p:sp>
        <p:nvSpPr>
          <p:cNvPr id="8" name="Rectangle: Rounded Corners 7">
            <a:extLst>
              <a:ext uri="{FF2B5EF4-FFF2-40B4-BE49-F238E27FC236}">
                <a16:creationId xmlns:a16="http://schemas.microsoft.com/office/drawing/2014/main" id="{766692D8-DA4B-588E-D07E-8AE435E0B601}"/>
              </a:ext>
            </a:extLst>
          </p:cNvPr>
          <p:cNvSpPr/>
          <p:nvPr/>
        </p:nvSpPr>
        <p:spPr>
          <a:xfrm>
            <a:off x="9525" y="1981200"/>
            <a:ext cx="5314950"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D9F0B415-03CE-91C1-A12A-35AEB8289B72}"/>
              </a:ext>
            </a:extLst>
          </p:cNvPr>
          <p:cNvSpPr txBox="1"/>
          <p:nvPr/>
        </p:nvSpPr>
        <p:spPr>
          <a:xfrm>
            <a:off x="2133600" y="3313780"/>
            <a:ext cx="10125075" cy="3594702"/>
          </a:xfrm>
          <a:prstGeom prst="rect">
            <a:avLst/>
          </a:prstGeom>
          <a:noFill/>
        </p:spPr>
        <p:txBody>
          <a:bodyPr wrap="square">
            <a:spAutoFit/>
          </a:bodyPr>
          <a:lstStyle/>
          <a:p>
            <a:pPr>
              <a:lnSpc>
                <a:spcPct val="150000"/>
              </a:lnSpc>
            </a:pPr>
            <a:r>
              <a:rPr lang="en-US" sz="2200" dirty="0">
                <a:latin typeface="Calibir"/>
              </a:rPr>
              <a:t>The project instructions specify that paragraph (p) elements should use a font size of </a:t>
            </a:r>
            <a:r>
              <a:rPr lang="en-US" sz="2200" b="1" dirty="0">
                <a:latin typeface="Calibir"/>
              </a:rPr>
              <a:t>1.2em</a:t>
            </a:r>
            <a:r>
              <a:rPr lang="en-US" sz="2200" dirty="0">
                <a:latin typeface="Calibir"/>
              </a:rPr>
              <a:t> in the global styles section. Using </a:t>
            </a:r>
            <a:r>
              <a:rPr lang="en-US" sz="2200" dirty="0" err="1">
                <a:latin typeface="Calibir"/>
              </a:rPr>
              <a:t>em</a:t>
            </a:r>
            <a:r>
              <a:rPr lang="en-US" sz="2200" dirty="0">
                <a:latin typeface="Calibir"/>
              </a:rPr>
              <a:t> units allows text to scale relative to the base font size, improving responsiveness and readability.</a:t>
            </a:r>
          </a:p>
          <a:p>
            <a:pPr marL="800100" lvl="1" indent="-342900">
              <a:lnSpc>
                <a:spcPct val="150000"/>
              </a:lnSpc>
              <a:buFont typeface="Arial" panose="020B0604020202020204" pitchFamily="34" charset="0"/>
              <a:buChar char="•"/>
            </a:pPr>
            <a:r>
              <a:rPr lang="en-US" sz="2200" b="1" dirty="0">
                <a:latin typeface="Calibir"/>
              </a:rPr>
              <a:t>14px</a:t>
            </a:r>
            <a:r>
              <a:rPr lang="en-US" sz="2200" dirty="0">
                <a:latin typeface="Calibir"/>
              </a:rPr>
              <a:t> is a fixed size and not the required value. </a:t>
            </a:r>
          </a:p>
          <a:p>
            <a:pPr marL="800100" lvl="1" indent="-342900">
              <a:lnSpc>
                <a:spcPct val="150000"/>
              </a:lnSpc>
              <a:buFont typeface="Arial" panose="020B0604020202020204" pitchFamily="34" charset="0"/>
              <a:buChar char="•"/>
            </a:pPr>
            <a:r>
              <a:rPr lang="en-US" sz="2200" b="1" dirty="0">
                <a:latin typeface="Calibir"/>
              </a:rPr>
              <a:t>2em</a:t>
            </a:r>
            <a:r>
              <a:rPr lang="en-US" sz="2200" dirty="0">
                <a:latin typeface="Calibir"/>
              </a:rPr>
              <a:t> would make the text much larger than intended. </a:t>
            </a:r>
          </a:p>
          <a:p>
            <a:pPr marL="800100" lvl="1" indent="-342900">
              <a:lnSpc>
                <a:spcPct val="150000"/>
              </a:lnSpc>
              <a:buFont typeface="Arial" panose="020B0604020202020204" pitchFamily="34" charset="0"/>
              <a:buChar char="•"/>
            </a:pPr>
            <a:r>
              <a:rPr lang="en-US" sz="2200" b="1" dirty="0">
                <a:latin typeface="Calibir"/>
              </a:rPr>
              <a:t>0.8em</a:t>
            </a:r>
            <a:r>
              <a:rPr lang="en-US" sz="2200" dirty="0">
                <a:latin typeface="Calibir"/>
              </a:rPr>
              <a:t> would reduce the paragraph size and make it harder to read. </a:t>
            </a:r>
          </a:p>
          <a:p>
            <a:pPr>
              <a:lnSpc>
                <a:spcPct val="150000"/>
              </a:lnSpc>
            </a:pPr>
            <a:r>
              <a:rPr lang="en-US" sz="2200" dirty="0">
                <a:latin typeface="Calibir"/>
              </a:rPr>
              <a:t>So, </a:t>
            </a:r>
            <a:r>
              <a:rPr lang="en-US" sz="2200" b="1" dirty="0">
                <a:latin typeface="Calibir"/>
              </a:rPr>
              <a:t>1.2em</a:t>
            </a:r>
            <a:r>
              <a:rPr lang="en-US" sz="2200" dirty="0">
                <a:latin typeface="Calibir"/>
              </a:rPr>
              <a:t> is the best and correct answer.</a:t>
            </a:r>
          </a:p>
        </p:txBody>
      </p:sp>
    </p:spTree>
    <p:extLst>
      <p:ext uri="{BB962C8B-B14F-4D97-AF65-F5344CB8AC3E}">
        <p14:creationId xmlns:p14="http://schemas.microsoft.com/office/powerpoint/2010/main" val="283782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5D8E2-8BEF-3D04-E552-1CB8898C68F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6271D17-E735-370A-DDC6-CE5C7EF644E3}"/>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022063AB-7523-98C4-C819-76373544C068}"/>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9</a:t>
            </a:r>
          </a:p>
          <a:p>
            <a:pPr>
              <a:lnSpc>
                <a:spcPct val="150000"/>
              </a:lnSpc>
            </a:pPr>
            <a:r>
              <a:rPr lang="en-US" sz="2800" b="1" dirty="0">
                <a:latin typeface="Calibir"/>
              </a:rPr>
              <a:t>What font size must be set for h1 in the header section?</a:t>
            </a:r>
            <a:endParaRPr lang="en-US" sz="2800" dirty="0">
              <a:latin typeface="Calibir"/>
            </a:endParaRPr>
          </a:p>
          <a:p>
            <a:pPr>
              <a:lnSpc>
                <a:spcPct val="150000"/>
              </a:lnSpc>
            </a:pPr>
            <a:r>
              <a:rPr lang="en-US" sz="2800" dirty="0">
                <a:latin typeface="Calibir"/>
              </a:rPr>
              <a:t>A. 3em</a:t>
            </a:r>
            <a:br>
              <a:rPr lang="en-US" sz="2800" dirty="0">
                <a:latin typeface="Calibir"/>
              </a:rPr>
            </a:br>
            <a:r>
              <a:rPr lang="en-US" sz="2800" dirty="0">
                <a:latin typeface="Calibir"/>
              </a:rPr>
              <a:t>B. 1.5em</a:t>
            </a:r>
            <a:br>
              <a:rPr lang="en-US" sz="2800" dirty="0">
                <a:latin typeface="Calibir"/>
              </a:rPr>
            </a:br>
            <a:r>
              <a:rPr lang="en-US" sz="2800" dirty="0">
                <a:latin typeface="Calibir"/>
              </a:rPr>
              <a:t>C. 2em</a:t>
            </a:r>
            <a:br>
              <a:rPr lang="en-US" sz="2800" dirty="0">
                <a:latin typeface="Calibir"/>
              </a:rPr>
            </a:br>
            <a:r>
              <a:rPr lang="en-US" sz="2800" dirty="0">
                <a:latin typeface="Calibir"/>
              </a:rPr>
              <a:t>D. 4em</a:t>
            </a:r>
          </a:p>
        </p:txBody>
      </p:sp>
      <p:sp>
        <p:nvSpPr>
          <p:cNvPr id="8" name="Rectangle: Rounded Corners 7">
            <a:extLst>
              <a:ext uri="{FF2B5EF4-FFF2-40B4-BE49-F238E27FC236}">
                <a16:creationId xmlns:a16="http://schemas.microsoft.com/office/drawing/2014/main" id="{DAD65639-28F2-F532-AEEA-7938EAB78ED3}"/>
              </a:ext>
            </a:extLst>
          </p:cNvPr>
          <p:cNvSpPr/>
          <p:nvPr/>
        </p:nvSpPr>
        <p:spPr>
          <a:xfrm>
            <a:off x="9525" y="1981200"/>
            <a:ext cx="5314950"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21DA8973-304F-BF7F-40AA-68291A5BE0B2}"/>
              </a:ext>
            </a:extLst>
          </p:cNvPr>
          <p:cNvSpPr txBox="1"/>
          <p:nvPr/>
        </p:nvSpPr>
        <p:spPr>
          <a:xfrm>
            <a:off x="2047875" y="2837123"/>
            <a:ext cx="10125075" cy="4102533"/>
          </a:xfrm>
          <a:prstGeom prst="rect">
            <a:avLst/>
          </a:prstGeom>
          <a:noFill/>
        </p:spPr>
        <p:txBody>
          <a:bodyPr wrap="square">
            <a:spAutoFit/>
          </a:bodyPr>
          <a:lstStyle/>
          <a:p>
            <a:pPr>
              <a:lnSpc>
                <a:spcPct val="150000"/>
              </a:lnSpc>
            </a:pPr>
            <a:r>
              <a:rPr lang="en-US" sz="2200" dirty="0">
                <a:latin typeface="Calibir"/>
              </a:rPr>
              <a:t>The project instructions specify that the h1 heading in the header section should use a font size of </a:t>
            </a:r>
            <a:r>
              <a:rPr lang="en-US" sz="2200" b="1" dirty="0">
                <a:latin typeface="Calibir"/>
              </a:rPr>
              <a:t>3em</a:t>
            </a:r>
            <a:r>
              <a:rPr lang="en-US" sz="2200" dirty="0">
                <a:latin typeface="Calibir"/>
              </a:rPr>
              <a:t>. This size makes the main heading large and prominent, helping it stand out as the primary title of the webpage.</a:t>
            </a:r>
          </a:p>
          <a:p>
            <a:pPr marL="800100" lvl="1" indent="-342900">
              <a:lnSpc>
                <a:spcPct val="150000"/>
              </a:lnSpc>
              <a:buFont typeface="Arial" panose="020B0604020202020204" pitchFamily="34" charset="0"/>
              <a:buChar char="•"/>
            </a:pPr>
            <a:r>
              <a:rPr lang="en-US" sz="2200" b="1" dirty="0">
                <a:latin typeface="Calibir"/>
              </a:rPr>
              <a:t>1.5em</a:t>
            </a:r>
            <a:r>
              <a:rPr lang="en-US" sz="2200" dirty="0">
                <a:latin typeface="Calibir"/>
              </a:rPr>
              <a:t> would make the heading too small for a main title. </a:t>
            </a:r>
          </a:p>
          <a:p>
            <a:pPr marL="800100" lvl="1" indent="-342900">
              <a:lnSpc>
                <a:spcPct val="150000"/>
              </a:lnSpc>
              <a:buFont typeface="Arial" panose="020B0604020202020204" pitchFamily="34" charset="0"/>
              <a:buChar char="•"/>
            </a:pPr>
            <a:r>
              <a:rPr lang="en-US" sz="2200" b="1" dirty="0">
                <a:latin typeface="Calibir"/>
              </a:rPr>
              <a:t>2em</a:t>
            </a:r>
            <a:r>
              <a:rPr lang="en-US" sz="2200" dirty="0">
                <a:latin typeface="Calibir"/>
              </a:rPr>
              <a:t> is larger, but still not the required size. </a:t>
            </a:r>
          </a:p>
          <a:p>
            <a:pPr marL="800100" lvl="1" indent="-342900">
              <a:lnSpc>
                <a:spcPct val="150000"/>
              </a:lnSpc>
              <a:buFont typeface="Arial" panose="020B0604020202020204" pitchFamily="34" charset="0"/>
              <a:buChar char="•"/>
            </a:pPr>
            <a:r>
              <a:rPr lang="en-US" sz="2200" b="1" dirty="0">
                <a:latin typeface="Calibir"/>
              </a:rPr>
              <a:t>4em</a:t>
            </a:r>
            <a:r>
              <a:rPr lang="en-US" sz="2200" dirty="0">
                <a:latin typeface="Calibir"/>
              </a:rPr>
              <a:t> would make the heading excessively large compared to the design requirements. </a:t>
            </a:r>
          </a:p>
          <a:p>
            <a:pPr>
              <a:lnSpc>
                <a:spcPct val="150000"/>
              </a:lnSpc>
            </a:pPr>
            <a:r>
              <a:rPr lang="en-US" sz="2200" dirty="0">
                <a:latin typeface="Calibir"/>
              </a:rPr>
              <a:t>Therefore, </a:t>
            </a:r>
            <a:r>
              <a:rPr lang="en-US" sz="2200" b="1" dirty="0">
                <a:latin typeface="Calibir"/>
              </a:rPr>
              <a:t>3em</a:t>
            </a:r>
            <a:r>
              <a:rPr lang="en-US" sz="2200" dirty="0">
                <a:latin typeface="Calibir"/>
              </a:rPr>
              <a:t> is the correct and best answer.</a:t>
            </a:r>
          </a:p>
        </p:txBody>
      </p:sp>
    </p:spTree>
    <p:extLst>
      <p:ext uri="{BB962C8B-B14F-4D97-AF65-F5344CB8AC3E}">
        <p14:creationId xmlns:p14="http://schemas.microsoft.com/office/powerpoint/2010/main" val="1479374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5F11D-A906-4493-32A6-F524372FC23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057D7CA-CC79-EA50-FDCE-46A6AB4D5583}"/>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A149985E-A49D-91D0-0485-02C26AB5D7DC}"/>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10</a:t>
            </a:r>
          </a:p>
          <a:p>
            <a:pPr>
              <a:lnSpc>
                <a:spcPct val="150000"/>
              </a:lnSpc>
            </a:pPr>
            <a:r>
              <a:rPr lang="en-US" sz="2800" b="1" dirty="0">
                <a:latin typeface="Calibir"/>
              </a:rPr>
              <a:t>What font size must be set for h2 in the main content section?</a:t>
            </a:r>
            <a:endParaRPr lang="en-US" sz="2800" dirty="0">
              <a:latin typeface="Calibir"/>
            </a:endParaRPr>
          </a:p>
          <a:p>
            <a:pPr>
              <a:lnSpc>
                <a:spcPct val="150000"/>
              </a:lnSpc>
            </a:pPr>
            <a:r>
              <a:rPr lang="en-US" sz="2800" dirty="0">
                <a:latin typeface="Calibir"/>
              </a:rPr>
              <a:t>A. 2.4em</a:t>
            </a:r>
            <a:br>
              <a:rPr lang="en-US" sz="2800" dirty="0">
                <a:latin typeface="Calibir"/>
              </a:rPr>
            </a:br>
            <a:r>
              <a:rPr lang="en-US" sz="2800" dirty="0">
                <a:latin typeface="Calibir"/>
              </a:rPr>
              <a:t>B. 1.8em</a:t>
            </a:r>
            <a:br>
              <a:rPr lang="en-US" sz="2800" dirty="0">
                <a:latin typeface="Calibir"/>
              </a:rPr>
            </a:br>
            <a:r>
              <a:rPr lang="en-US" sz="2800" dirty="0">
                <a:latin typeface="Calibir"/>
              </a:rPr>
              <a:t>C. 3em</a:t>
            </a:r>
            <a:br>
              <a:rPr lang="en-US" sz="2800" dirty="0">
                <a:latin typeface="Calibir"/>
              </a:rPr>
            </a:br>
            <a:r>
              <a:rPr lang="en-US" sz="2800" dirty="0">
                <a:latin typeface="Calibir"/>
              </a:rPr>
              <a:t>D. 1em</a:t>
            </a:r>
          </a:p>
        </p:txBody>
      </p:sp>
      <p:sp>
        <p:nvSpPr>
          <p:cNvPr id="8" name="Rectangle: Rounded Corners 7">
            <a:extLst>
              <a:ext uri="{FF2B5EF4-FFF2-40B4-BE49-F238E27FC236}">
                <a16:creationId xmlns:a16="http://schemas.microsoft.com/office/drawing/2014/main" id="{6A3A45C2-2461-8F6D-CF14-A59A713E6457}"/>
              </a:ext>
            </a:extLst>
          </p:cNvPr>
          <p:cNvSpPr/>
          <p:nvPr/>
        </p:nvSpPr>
        <p:spPr>
          <a:xfrm>
            <a:off x="9525" y="1981200"/>
            <a:ext cx="5314950"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755C7886-AE5D-ED11-9A1F-D3270410BB27}"/>
              </a:ext>
            </a:extLst>
          </p:cNvPr>
          <p:cNvSpPr txBox="1"/>
          <p:nvPr/>
        </p:nvSpPr>
        <p:spPr>
          <a:xfrm>
            <a:off x="2047875" y="2837123"/>
            <a:ext cx="10125075" cy="3913059"/>
          </a:xfrm>
          <a:prstGeom prst="rect">
            <a:avLst/>
          </a:prstGeom>
          <a:noFill/>
        </p:spPr>
        <p:txBody>
          <a:bodyPr wrap="square">
            <a:spAutoFit/>
          </a:bodyPr>
          <a:lstStyle/>
          <a:p>
            <a:pPr>
              <a:lnSpc>
                <a:spcPct val="150000"/>
              </a:lnSpc>
            </a:pPr>
            <a:r>
              <a:rPr lang="en-US" sz="2400" dirty="0">
                <a:latin typeface="Calibir"/>
              </a:rPr>
              <a:t>The h2 element in the main content section should be set to </a:t>
            </a:r>
            <a:r>
              <a:rPr lang="en-US" sz="2400" b="1" dirty="0">
                <a:latin typeface="Calibir"/>
              </a:rPr>
              <a:t>2.4em</a:t>
            </a:r>
            <a:r>
              <a:rPr lang="en-US" sz="2400" dirty="0">
                <a:latin typeface="Calibir"/>
              </a:rPr>
              <a:t> according to the stylesheet instructions. This size creates a clear visual hierarchy between the main heading (h1) and secondary headings (h2).</a:t>
            </a:r>
          </a:p>
          <a:p>
            <a:pPr marL="800100" lvl="1" indent="-342900">
              <a:lnSpc>
                <a:spcPct val="150000"/>
              </a:lnSpc>
              <a:buFont typeface="Arial" panose="020B0604020202020204" pitchFamily="34" charset="0"/>
              <a:buChar char="•"/>
            </a:pPr>
            <a:r>
              <a:rPr lang="en-US" sz="2400" b="1" dirty="0">
                <a:latin typeface="Calibir"/>
              </a:rPr>
              <a:t>1.8em</a:t>
            </a:r>
            <a:r>
              <a:rPr lang="en-US" sz="2400" dirty="0">
                <a:latin typeface="Calibir"/>
              </a:rPr>
              <a:t> is smaller than required. </a:t>
            </a:r>
          </a:p>
          <a:p>
            <a:pPr marL="800100" lvl="1" indent="-342900">
              <a:lnSpc>
                <a:spcPct val="150000"/>
              </a:lnSpc>
              <a:buFont typeface="Arial" panose="020B0604020202020204" pitchFamily="34" charset="0"/>
              <a:buChar char="•"/>
            </a:pPr>
            <a:r>
              <a:rPr lang="en-US" sz="2400" b="1" dirty="0">
                <a:latin typeface="Calibir"/>
              </a:rPr>
              <a:t>3em</a:t>
            </a:r>
            <a:r>
              <a:rPr lang="en-US" sz="2400" dirty="0">
                <a:latin typeface="Calibir"/>
              </a:rPr>
              <a:t> would make the h2 as large as the main heading. </a:t>
            </a:r>
          </a:p>
          <a:p>
            <a:pPr marL="800100" lvl="1" indent="-342900">
              <a:lnSpc>
                <a:spcPct val="150000"/>
              </a:lnSpc>
              <a:buFont typeface="Arial" panose="020B0604020202020204" pitchFamily="34" charset="0"/>
              <a:buChar char="•"/>
            </a:pPr>
            <a:r>
              <a:rPr lang="en-US" sz="2400" b="1" dirty="0">
                <a:latin typeface="Calibir"/>
              </a:rPr>
              <a:t>1em</a:t>
            </a:r>
            <a:r>
              <a:rPr lang="en-US" sz="2400" dirty="0">
                <a:latin typeface="Calibir"/>
              </a:rPr>
              <a:t> is too small for a section heading. </a:t>
            </a:r>
          </a:p>
          <a:p>
            <a:pPr>
              <a:lnSpc>
                <a:spcPct val="150000"/>
              </a:lnSpc>
            </a:pPr>
            <a:r>
              <a:rPr lang="en-US" sz="2400" dirty="0">
                <a:latin typeface="Calibir"/>
              </a:rPr>
              <a:t>Thus, </a:t>
            </a:r>
            <a:r>
              <a:rPr lang="en-US" sz="2400" b="1" dirty="0">
                <a:latin typeface="Calibir"/>
              </a:rPr>
              <a:t>2.4em</a:t>
            </a:r>
            <a:r>
              <a:rPr lang="en-US" sz="2400" dirty="0">
                <a:latin typeface="Calibir"/>
              </a:rPr>
              <a:t> is the correct answer.</a:t>
            </a:r>
          </a:p>
        </p:txBody>
      </p:sp>
    </p:spTree>
    <p:extLst>
      <p:ext uri="{BB962C8B-B14F-4D97-AF65-F5344CB8AC3E}">
        <p14:creationId xmlns:p14="http://schemas.microsoft.com/office/powerpoint/2010/main" val="54983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B169D-D4BA-7F98-023A-91D211DB77F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2B7E7F-F164-BFD1-DA55-9870433AEAC1}"/>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F2326D4A-D352-7FB4-E250-79192836C419}"/>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11</a:t>
            </a:r>
          </a:p>
          <a:p>
            <a:pPr>
              <a:lnSpc>
                <a:spcPct val="150000"/>
              </a:lnSpc>
            </a:pPr>
            <a:r>
              <a:rPr lang="en-US" sz="2800" b="1" dirty="0">
                <a:latin typeface="Calibir"/>
              </a:rPr>
              <a:t>What must be wrapped in &lt;span&gt; tags inside the article element?</a:t>
            </a:r>
            <a:endParaRPr lang="en-US" sz="2800" dirty="0">
              <a:latin typeface="Calibir"/>
            </a:endParaRPr>
          </a:p>
          <a:p>
            <a:pPr>
              <a:lnSpc>
                <a:spcPct val="150000"/>
              </a:lnSpc>
            </a:pPr>
            <a:r>
              <a:rPr lang="en-US" sz="2800" dirty="0">
                <a:latin typeface="Calibir"/>
              </a:rPr>
              <a:t>A. Each day of the week and the colon</a:t>
            </a:r>
            <a:br>
              <a:rPr lang="en-US" sz="2800" dirty="0">
                <a:latin typeface="Calibir"/>
              </a:rPr>
            </a:br>
            <a:r>
              <a:rPr lang="en-US" sz="2800" dirty="0">
                <a:latin typeface="Calibir"/>
              </a:rPr>
              <a:t>B. All prices</a:t>
            </a:r>
            <a:br>
              <a:rPr lang="en-US" sz="2800" dirty="0">
                <a:latin typeface="Calibir"/>
              </a:rPr>
            </a:br>
            <a:r>
              <a:rPr lang="en-US" sz="2800" dirty="0">
                <a:latin typeface="Calibir"/>
              </a:rPr>
              <a:t>C. All links</a:t>
            </a:r>
            <a:br>
              <a:rPr lang="en-US" sz="2800" dirty="0">
                <a:latin typeface="Calibir"/>
              </a:rPr>
            </a:br>
            <a:r>
              <a:rPr lang="en-US" sz="2800" dirty="0">
                <a:latin typeface="Calibir"/>
              </a:rPr>
              <a:t>D. The entire paragraph</a:t>
            </a:r>
          </a:p>
        </p:txBody>
      </p:sp>
      <p:sp>
        <p:nvSpPr>
          <p:cNvPr id="8" name="Rectangle: Rounded Corners 7">
            <a:extLst>
              <a:ext uri="{FF2B5EF4-FFF2-40B4-BE49-F238E27FC236}">
                <a16:creationId xmlns:a16="http://schemas.microsoft.com/office/drawing/2014/main" id="{202DD573-6A01-3FFA-3085-7E56C8CDBDDB}"/>
              </a:ext>
            </a:extLst>
          </p:cNvPr>
          <p:cNvSpPr/>
          <p:nvPr/>
        </p:nvSpPr>
        <p:spPr>
          <a:xfrm>
            <a:off x="9524" y="1981200"/>
            <a:ext cx="5743575"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386CC666-712A-2CF1-9859-E635CCB93A45}"/>
              </a:ext>
            </a:extLst>
          </p:cNvPr>
          <p:cNvSpPr txBox="1"/>
          <p:nvPr/>
        </p:nvSpPr>
        <p:spPr>
          <a:xfrm>
            <a:off x="3505200" y="2653644"/>
            <a:ext cx="8667750" cy="4204356"/>
          </a:xfrm>
          <a:prstGeom prst="rect">
            <a:avLst/>
          </a:prstGeom>
          <a:noFill/>
          <a:ln>
            <a:solidFill>
              <a:srgbClr val="FF0000"/>
            </a:solidFill>
          </a:ln>
        </p:spPr>
        <p:txBody>
          <a:bodyPr wrap="square">
            <a:spAutoFit/>
          </a:bodyPr>
          <a:lstStyle/>
          <a:p>
            <a:pPr>
              <a:lnSpc>
                <a:spcPct val="150000"/>
              </a:lnSpc>
            </a:pPr>
            <a:r>
              <a:rPr lang="en-US" dirty="0">
                <a:latin typeface="Calibir"/>
              </a:rPr>
              <a:t>The instructions require that each day of the week and the colon be wrapped in &lt;span&gt; tags inside the article element. This allows those specific text parts to be styled differently using CSS, such as changing their color, weight, or spacing.</a:t>
            </a:r>
          </a:p>
          <a:p>
            <a:pPr>
              <a:lnSpc>
                <a:spcPct val="150000"/>
              </a:lnSpc>
            </a:pPr>
            <a:r>
              <a:rPr lang="en-US" dirty="0">
                <a:latin typeface="Calibir"/>
              </a:rPr>
              <a:t>For example:</a:t>
            </a:r>
          </a:p>
          <a:p>
            <a:pPr>
              <a:lnSpc>
                <a:spcPct val="150000"/>
              </a:lnSpc>
            </a:pPr>
            <a:r>
              <a:rPr lang="en-US" dirty="0">
                <a:latin typeface="Calibir"/>
              </a:rPr>
              <a:t>&lt;span&gt;Monday:&lt;/span&gt;</a:t>
            </a:r>
          </a:p>
          <a:p>
            <a:pPr marL="285750" indent="-285750">
              <a:lnSpc>
                <a:spcPct val="150000"/>
              </a:lnSpc>
              <a:buFont typeface="Arial" panose="020B0604020202020204" pitchFamily="34" charset="0"/>
              <a:buChar char="•"/>
            </a:pPr>
            <a:r>
              <a:rPr lang="en-US" dirty="0">
                <a:latin typeface="Calibir"/>
              </a:rPr>
              <a:t>Option B is incorrect because prices are not the targeted elements. </a:t>
            </a:r>
          </a:p>
          <a:p>
            <a:pPr marL="285750" indent="-285750">
              <a:lnSpc>
                <a:spcPct val="150000"/>
              </a:lnSpc>
              <a:buFont typeface="Arial" panose="020B0604020202020204" pitchFamily="34" charset="0"/>
              <a:buChar char="•"/>
            </a:pPr>
            <a:r>
              <a:rPr lang="en-US" dirty="0">
                <a:latin typeface="Calibir"/>
              </a:rPr>
              <a:t>Option C is wrong because links use &lt;a&gt; tags, not &lt;span&gt; tags for this purpose. </a:t>
            </a:r>
          </a:p>
          <a:p>
            <a:pPr marL="285750" indent="-285750">
              <a:lnSpc>
                <a:spcPct val="150000"/>
              </a:lnSpc>
              <a:buFont typeface="Arial" panose="020B0604020202020204" pitchFamily="34" charset="0"/>
              <a:buChar char="•"/>
            </a:pPr>
            <a:r>
              <a:rPr lang="en-US" dirty="0">
                <a:latin typeface="Calibir"/>
              </a:rPr>
              <a:t>Option D is incorrect because wrapping the whole paragraph would remove the ability to style only selected text. </a:t>
            </a:r>
          </a:p>
          <a:p>
            <a:pPr>
              <a:lnSpc>
                <a:spcPct val="150000"/>
              </a:lnSpc>
            </a:pPr>
            <a:r>
              <a:rPr lang="en-US" dirty="0">
                <a:latin typeface="Calibir"/>
              </a:rPr>
              <a:t>Therefore, A is the best answer.</a:t>
            </a:r>
          </a:p>
        </p:txBody>
      </p:sp>
    </p:spTree>
    <p:extLst>
      <p:ext uri="{BB962C8B-B14F-4D97-AF65-F5344CB8AC3E}">
        <p14:creationId xmlns:p14="http://schemas.microsoft.com/office/powerpoint/2010/main" val="472134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AC499-4199-8F43-3FFD-38ACDB1DF6C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0897E0-52EF-01E3-47CE-4C11F896CC36}"/>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4AC196E2-F372-3CC9-0AB4-988284CD7EAB}"/>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12</a:t>
            </a:r>
          </a:p>
          <a:p>
            <a:pPr>
              <a:lnSpc>
                <a:spcPct val="150000"/>
              </a:lnSpc>
            </a:pPr>
            <a:r>
              <a:rPr lang="en-US" sz="2800" b="1" dirty="0">
                <a:latin typeface="Calibir"/>
              </a:rPr>
              <a:t>What color must span elements inside p (within article) be styled with?</a:t>
            </a:r>
            <a:endParaRPr lang="en-US" sz="2800" dirty="0">
              <a:latin typeface="Calibir"/>
            </a:endParaRPr>
          </a:p>
          <a:p>
            <a:pPr>
              <a:lnSpc>
                <a:spcPct val="150000"/>
              </a:lnSpc>
            </a:pPr>
            <a:r>
              <a:rPr lang="en-US" sz="2800" dirty="0">
                <a:latin typeface="Calibir"/>
              </a:rPr>
              <a:t>A. Green</a:t>
            </a:r>
            <a:br>
              <a:rPr lang="en-US" sz="2800" dirty="0">
                <a:latin typeface="Calibir"/>
              </a:rPr>
            </a:br>
            <a:r>
              <a:rPr lang="en-US" sz="2800" dirty="0">
                <a:latin typeface="Calibir"/>
              </a:rPr>
              <a:t>B. Blue</a:t>
            </a:r>
            <a:br>
              <a:rPr lang="en-US" sz="2800" dirty="0">
                <a:latin typeface="Calibir"/>
              </a:rPr>
            </a:br>
            <a:r>
              <a:rPr lang="en-US" sz="2800" dirty="0">
                <a:latin typeface="Calibir"/>
              </a:rPr>
              <a:t>C. Black</a:t>
            </a:r>
            <a:br>
              <a:rPr lang="en-US" sz="2800" dirty="0">
                <a:latin typeface="Calibir"/>
              </a:rPr>
            </a:br>
            <a:r>
              <a:rPr lang="en-US" sz="2800" dirty="0">
                <a:latin typeface="Calibir"/>
              </a:rPr>
              <a:t>D. #f15a24</a:t>
            </a:r>
          </a:p>
        </p:txBody>
      </p:sp>
      <p:sp>
        <p:nvSpPr>
          <p:cNvPr id="8" name="Rectangle: Rounded Corners 7">
            <a:extLst>
              <a:ext uri="{FF2B5EF4-FFF2-40B4-BE49-F238E27FC236}">
                <a16:creationId xmlns:a16="http://schemas.microsoft.com/office/drawing/2014/main" id="{1FC28E0A-11BA-B5A2-2D5A-660E0BDBCEAA}"/>
              </a:ext>
            </a:extLst>
          </p:cNvPr>
          <p:cNvSpPr/>
          <p:nvPr/>
        </p:nvSpPr>
        <p:spPr>
          <a:xfrm>
            <a:off x="9524" y="1981200"/>
            <a:ext cx="5743575"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C45B6B0B-5A25-DA40-10C4-0AB672C87DDF}"/>
              </a:ext>
            </a:extLst>
          </p:cNvPr>
          <p:cNvSpPr txBox="1"/>
          <p:nvPr/>
        </p:nvSpPr>
        <p:spPr>
          <a:xfrm>
            <a:off x="1924050" y="2785731"/>
            <a:ext cx="10267950" cy="4072269"/>
          </a:xfrm>
          <a:prstGeom prst="rect">
            <a:avLst/>
          </a:prstGeom>
          <a:noFill/>
          <a:ln>
            <a:solidFill>
              <a:srgbClr val="FF0000"/>
            </a:solidFill>
          </a:ln>
        </p:spPr>
        <p:txBody>
          <a:bodyPr wrap="square">
            <a:spAutoFit/>
          </a:bodyPr>
          <a:lstStyle/>
          <a:p>
            <a:pPr>
              <a:lnSpc>
                <a:spcPct val="150000"/>
              </a:lnSpc>
            </a:pPr>
            <a:r>
              <a:rPr lang="en-US" sz="2500" dirty="0">
                <a:latin typeface="Calibir"/>
              </a:rPr>
              <a:t>The CSS instructions specify that span elements inside paragraph tags within the article section should be styled with the color green. This helps highlight important text such as the days of the week.</a:t>
            </a:r>
          </a:p>
          <a:p>
            <a:pPr marL="800100" lvl="1" indent="-342900">
              <a:lnSpc>
                <a:spcPct val="150000"/>
              </a:lnSpc>
              <a:buFont typeface="Arial" panose="020B0604020202020204" pitchFamily="34" charset="0"/>
              <a:buChar char="•"/>
            </a:pPr>
            <a:r>
              <a:rPr lang="en-US" sz="2500" dirty="0">
                <a:latin typeface="Calibir"/>
              </a:rPr>
              <a:t>Blue and Black are not the required styling colors. </a:t>
            </a:r>
          </a:p>
          <a:p>
            <a:pPr marL="800100" lvl="1" indent="-342900">
              <a:lnSpc>
                <a:spcPct val="150000"/>
              </a:lnSpc>
              <a:buFont typeface="Arial" panose="020B0604020202020204" pitchFamily="34" charset="0"/>
              <a:buChar char="•"/>
            </a:pPr>
            <a:r>
              <a:rPr lang="en-US" sz="2500" dirty="0">
                <a:latin typeface="Calibir"/>
              </a:rPr>
              <a:t>#f15a24 is an orange color value and does not match the specified instruction. </a:t>
            </a:r>
          </a:p>
          <a:p>
            <a:pPr>
              <a:lnSpc>
                <a:spcPct val="150000"/>
              </a:lnSpc>
            </a:pPr>
            <a:r>
              <a:rPr lang="en-US" sz="2500" dirty="0">
                <a:latin typeface="Calibir"/>
              </a:rPr>
              <a:t>So, Green is the correct and best answer.</a:t>
            </a:r>
          </a:p>
        </p:txBody>
      </p:sp>
    </p:spTree>
    <p:extLst>
      <p:ext uri="{BB962C8B-B14F-4D97-AF65-F5344CB8AC3E}">
        <p14:creationId xmlns:p14="http://schemas.microsoft.com/office/powerpoint/2010/main" val="328093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4F37B-D284-8CBE-2342-B32E5D46CB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35C7C6-C389-3EC4-CBF2-058842A86AD4}"/>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C6E92875-2059-2EC5-BD99-9F42C05231E4}"/>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13</a:t>
            </a:r>
          </a:p>
          <a:p>
            <a:pPr>
              <a:lnSpc>
                <a:spcPct val="150000"/>
              </a:lnSpc>
            </a:pPr>
            <a:r>
              <a:rPr lang="en-US" sz="2800" b="1" dirty="0">
                <a:latin typeface="Calibir"/>
              </a:rPr>
              <a:t>What text color must the p element inside header use?</a:t>
            </a:r>
            <a:endParaRPr lang="en-US" sz="2800" dirty="0">
              <a:latin typeface="Calibir"/>
            </a:endParaRPr>
          </a:p>
          <a:p>
            <a:pPr>
              <a:lnSpc>
                <a:spcPct val="150000"/>
              </a:lnSpc>
            </a:pPr>
            <a:r>
              <a:rPr lang="en-US" sz="2800" dirty="0">
                <a:latin typeface="Calibir"/>
              </a:rPr>
              <a:t>A. #f15a24</a:t>
            </a:r>
            <a:br>
              <a:rPr lang="en-US" sz="2800" dirty="0">
                <a:latin typeface="Calibir"/>
              </a:rPr>
            </a:br>
            <a:r>
              <a:rPr lang="en-US" sz="2800" dirty="0">
                <a:latin typeface="Calibir"/>
              </a:rPr>
              <a:t>B. #000</a:t>
            </a:r>
            <a:br>
              <a:rPr lang="en-US" sz="2800" dirty="0">
                <a:latin typeface="Calibir"/>
              </a:rPr>
            </a:br>
            <a:r>
              <a:rPr lang="en-US" sz="2800" dirty="0">
                <a:latin typeface="Calibir"/>
              </a:rPr>
              <a:t>C. #fff</a:t>
            </a:r>
            <a:br>
              <a:rPr lang="en-US" sz="2800" dirty="0">
                <a:latin typeface="Calibir"/>
              </a:rPr>
            </a:br>
            <a:r>
              <a:rPr lang="en-US" sz="2800" dirty="0">
                <a:latin typeface="Calibir"/>
              </a:rPr>
              <a:t>D. green</a:t>
            </a:r>
          </a:p>
        </p:txBody>
      </p:sp>
      <p:sp>
        <p:nvSpPr>
          <p:cNvPr id="8" name="Rectangle: Rounded Corners 7">
            <a:extLst>
              <a:ext uri="{FF2B5EF4-FFF2-40B4-BE49-F238E27FC236}">
                <a16:creationId xmlns:a16="http://schemas.microsoft.com/office/drawing/2014/main" id="{39C3E76C-1F37-EE4D-3C77-3E3A71F46FA0}"/>
              </a:ext>
            </a:extLst>
          </p:cNvPr>
          <p:cNvSpPr/>
          <p:nvPr/>
        </p:nvSpPr>
        <p:spPr>
          <a:xfrm>
            <a:off x="9524" y="1981200"/>
            <a:ext cx="5743575"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3605F6E5-D774-21A5-29A0-8F2A8D28F21B}"/>
              </a:ext>
            </a:extLst>
          </p:cNvPr>
          <p:cNvSpPr txBox="1"/>
          <p:nvPr/>
        </p:nvSpPr>
        <p:spPr>
          <a:xfrm>
            <a:off x="1924050" y="2785731"/>
            <a:ext cx="10267950" cy="3913059"/>
          </a:xfrm>
          <a:prstGeom prst="rect">
            <a:avLst/>
          </a:prstGeom>
          <a:noFill/>
          <a:ln>
            <a:solidFill>
              <a:srgbClr val="FF0000"/>
            </a:solidFill>
          </a:ln>
        </p:spPr>
        <p:txBody>
          <a:bodyPr wrap="square">
            <a:spAutoFit/>
          </a:bodyPr>
          <a:lstStyle/>
          <a:p>
            <a:pPr>
              <a:lnSpc>
                <a:spcPct val="150000"/>
              </a:lnSpc>
            </a:pPr>
            <a:r>
              <a:rPr lang="en-US" sz="2400" dirty="0">
                <a:latin typeface="Calibir"/>
              </a:rPr>
              <a:t>The paragraph (p) element inside the header must use the color </a:t>
            </a:r>
            <a:r>
              <a:rPr lang="en-US" sz="2400" b="1" dirty="0">
                <a:latin typeface="Calibir"/>
              </a:rPr>
              <a:t>#f15a24</a:t>
            </a:r>
            <a:r>
              <a:rPr lang="en-US" sz="2400" dirty="0">
                <a:latin typeface="Calibir"/>
              </a:rPr>
              <a:t>, which is a bright orange shade. This color helps the header text stand out and matches the project’s design theme.</a:t>
            </a:r>
          </a:p>
          <a:p>
            <a:pPr marL="800100" lvl="1" indent="-342900">
              <a:lnSpc>
                <a:spcPct val="150000"/>
              </a:lnSpc>
              <a:buFont typeface="Arial" panose="020B0604020202020204" pitchFamily="34" charset="0"/>
              <a:buChar char="•"/>
            </a:pPr>
            <a:r>
              <a:rPr lang="en-US" sz="2400" b="1" dirty="0">
                <a:latin typeface="Calibir"/>
              </a:rPr>
              <a:t>#000</a:t>
            </a:r>
            <a:r>
              <a:rPr lang="en-US" sz="2400" dirty="0">
                <a:latin typeface="Calibir"/>
              </a:rPr>
              <a:t> represents black, which is not the required header text color. </a:t>
            </a:r>
          </a:p>
          <a:p>
            <a:pPr marL="800100" lvl="1" indent="-342900">
              <a:lnSpc>
                <a:spcPct val="150000"/>
              </a:lnSpc>
              <a:buFont typeface="Arial" panose="020B0604020202020204" pitchFamily="34" charset="0"/>
              <a:buChar char="•"/>
            </a:pPr>
            <a:r>
              <a:rPr lang="en-US" sz="2400" b="1" dirty="0">
                <a:latin typeface="Calibir"/>
              </a:rPr>
              <a:t>#fff</a:t>
            </a:r>
            <a:r>
              <a:rPr lang="en-US" sz="2400" dirty="0">
                <a:latin typeface="Calibir"/>
              </a:rPr>
              <a:t> represents white, but the instructions specify orange instead. </a:t>
            </a:r>
          </a:p>
          <a:p>
            <a:pPr marL="800100" lvl="1" indent="-342900">
              <a:lnSpc>
                <a:spcPct val="150000"/>
              </a:lnSpc>
              <a:buFont typeface="Arial" panose="020B0604020202020204" pitchFamily="34" charset="0"/>
              <a:buChar char="•"/>
            </a:pPr>
            <a:r>
              <a:rPr lang="en-US" sz="2400" b="1" dirty="0">
                <a:latin typeface="Calibir"/>
              </a:rPr>
              <a:t>green</a:t>
            </a:r>
            <a:r>
              <a:rPr lang="en-US" sz="2400" dirty="0">
                <a:latin typeface="Calibir"/>
              </a:rPr>
              <a:t> is used elsewhere in the project, not for the header paragraph text. </a:t>
            </a:r>
          </a:p>
          <a:p>
            <a:pPr>
              <a:lnSpc>
                <a:spcPct val="150000"/>
              </a:lnSpc>
            </a:pPr>
            <a:r>
              <a:rPr lang="en-US" sz="2400" dirty="0">
                <a:latin typeface="Calibir"/>
              </a:rPr>
              <a:t>Therefore, </a:t>
            </a:r>
            <a:r>
              <a:rPr lang="en-US" sz="2400" b="1" dirty="0">
                <a:latin typeface="Calibir"/>
              </a:rPr>
              <a:t>#f15a24</a:t>
            </a:r>
            <a:r>
              <a:rPr lang="en-US" sz="2400" dirty="0">
                <a:latin typeface="Calibir"/>
              </a:rPr>
              <a:t> is the correct answer.</a:t>
            </a:r>
          </a:p>
        </p:txBody>
      </p:sp>
    </p:spTree>
    <p:extLst>
      <p:ext uri="{BB962C8B-B14F-4D97-AF65-F5344CB8AC3E}">
        <p14:creationId xmlns:p14="http://schemas.microsoft.com/office/powerpoint/2010/main" val="165372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42462-1B79-4978-990B-366DB61839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254775-1237-5BD3-F235-6037E5CBB48E}"/>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8AD0E95B-CB73-3F9D-A4BD-4CB3C29EC94B}"/>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14</a:t>
            </a:r>
          </a:p>
          <a:p>
            <a:pPr>
              <a:lnSpc>
                <a:spcPct val="150000"/>
              </a:lnSpc>
            </a:pPr>
            <a:r>
              <a:rPr lang="en-US" sz="2800" b="1" dirty="0">
                <a:latin typeface="Calibir"/>
              </a:rPr>
              <a:t>Which RGB color must be used for the container background?</a:t>
            </a:r>
            <a:endParaRPr lang="en-US" sz="2800" dirty="0">
              <a:latin typeface="Calibir"/>
            </a:endParaRPr>
          </a:p>
          <a:p>
            <a:pPr>
              <a:lnSpc>
                <a:spcPct val="150000"/>
              </a:lnSpc>
            </a:pPr>
            <a:r>
              <a:rPr lang="en-US" sz="2800" dirty="0">
                <a:latin typeface="Calibir"/>
              </a:rPr>
              <a:t>A. </a:t>
            </a:r>
            <a:r>
              <a:rPr lang="en-US" sz="2800" dirty="0" err="1">
                <a:latin typeface="Calibir"/>
              </a:rPr>
              <a:t>rgb</a:t>
            </a:r>
            <a:r>
              <a:rPr lang="en-US" sz="2800" dirty="0">
                <a:latin typeface="Calibir"/>
              </a:rPr>
              <a:t>(106,194,56)</a:t>
            </a:r>
            <a:br>
              <a:rPr lang="en-US" sz="2800" dirty="0">
                <a:latin typeface="Calibir"/>
              </a:rPr>
            </a:br>
            <a:r>
              <a:rPr lang="en-US" sz="2800" dirty="0">
                <a:latin typeface="Calibir"/>
              </a:rPr>
              <a:t>B. </a:t>
            </a:r>
            <a:r>
              <a:rPr lang="en-US" sz="2800" dirty="0" err="1">
                <a:latin typeface="Calibir"/>
              </a:rPr>
              <a:t>rgb</a:t>
            </a:r>
            <a:r>
              <a:rPr lang="en-US" sz="2800" dirty="0">
                <a:latin typeface="Calibir"/>
              </a:rPr>
              <a:t>(140,198,63)</a:t>
            </a:r>
            <a:br>
              <a:rPr lang="en-US" sz="2800" dirty="0">
                <a:latin typeface="Calibir"/>
              </a:rPr>
            </a:br>
            <a:r>
              <a:rPr lang="en-US" sz="2800" dirty="0">
                <a:latin typeface="Calibir"/>
              </a:rPr>
              <a:t>C. </a:t>
            </a:r>
            <a:r>
              <a:rPr lang="en-US" sz="2800" dirty="0" err="1">
                <a:latin typeface="Calibir"/>
              </a:rPr>
              <a:t>rgb</a:t>
            </a:r>
            <a:r>
              <a:rPr lang="en-US" sz="2800" dirty="0">
                <a:latin typeface="Calibir"/>
              </a:rPr>
              <a:t>(255,255,255)</a:t>
            </a:r>
            <a:br>
              <a:rPr lang="en-US" sz="2800" dirty="0">
                <a:latin typeface="Calibir"/>
              </a:rPr>
            </a:br>
            <a:r>
              <a:rPr lang="en-US" sz="2800" dirty="0">
                <a:latin typeface="Calibir"/>
              </a:rPr>
              <a:t>D. </a:t>
            </a:r>
            <a:r>
              <a:rPr lang="en-US" sz="2800" dirty="0" err="1">
                <a:latin typeface="Calibir"/>
              </a:rPr>
              <a:t>rgb</a:t>
            </a:r>
            <a:r>
              <a:rPr lang="en-US" sz="2800" dirty="0">
                <a:latin typeface="Calibir"/>
              </a:rPr>
              <a:t>(183,52,0)</a:t>
            </a:r>
          </a:p>
        </p:txBody>
      </p:sp>
      <p:sp>
        <p:nvSpPr>
          <p:cNvPr id="8" name="Rectangle: Rounded Corners 7">
            <a:extLst>
              <a:ext uri="{FF2B5EF4-FFF2-40B4-BE49-F238E27FC236}">
                <a16:creationId xmlns:a16="http://schemas.microsoft.com/office/drawing/2014/main" id="{CB6ED283-3C3D-AB43-11AA-482A8DCBA105}"/>
              </a:ext>
            </a:extLst>
          </p:cNvPr>
          <p:cNvSpPr/>
          <p:nvPr/>
        </p:nvSpPr>
        <p:spPr>
          <a:xfrm>
            <a:off x="9524" y="1981200"/>
            <a:ext cx="5743575"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4C12014A-35E5-E0CD-8B75-67BE1E44C7C6}"/>
              </a:ext>
            </a:extLst>
          </p:cNvPr>
          <p:cNvSpPr txBox="1"/>
          <p:nvPr/>
        </p:nvSpPr>
        <p:spPr>
          <a:xfrm>
            <a:off x="4419600" y="2785731"/>
            <a:ext cx="7772400" cy="3913059"/>
          </a:xfrm>
          <a:prstGeom prst="rect">
            <a:avLst/>
          </a:prstGeom>
          <a:noFill/>
          <a:ln>
            <a:solidFill>
              <a:srgbClr val="FF0000"/>
            </a:solidFill>
          </a:ln>
        </p:spPr>
        <p:txBody>
          <a:bodyPr wrap="square">
            <a:spAutoFit/>
          </a:bodyPr>
          <a:lstStyle/>
          <a:p>
            <a:pPr>
              <a:lnSpc>
                <a:spcPct val="150000"/>
              </a:lnSpc>
            </a:pPr>
            <a:r>
              <a:rPr lang="en-US" sz="2400" dirty="0">
                <a:latin typeface="Calibir"/>
              </a:rPr>
              <a:t>The project instructions specify the container background color as </a:t>
            </a:r>
            <a:r>
              <a:rPr lang="en-US" sz="2400" b="1" dirty="0" err="1">
                <a:latin typeface="Calibir"/>
              </a:rPr>
              <a:t>rgb</a:t>
            </a:r>
            <a:r>
              <a:rPr lang="en-US" sz="2400" b="1" dirty="0">
                <a:latin typeface="Calibir"/>
              </a:rPr>
              <a:t>(106,194,56)</a:t>
            </a:r>
            <a:r>
              <a:rPr lang="en-US" sz="2400" dirty="0">
                <a:latin typeface="Calibir"/>
              </a:rPr>
              <a:t>, which is a green shade used for the main container area.</a:t>
            </a:r>
          </a:p>
          <a:p>
            <a:pPr marL="800100" lvl="1" indent="-342900">
              <a:lnSpc>
                <a:spcPct val="150000"/>
              </a:lnSpc>
              <a:buFont typeface="Arial" panose="020B0604020202020204" pitchFamily="34" charset="0"/>
              <a:buChar char="•"/>
            </a:pPr>
            <a:r>
              <a:rPr lang="en-US" sz="2400" b="1" dirty="0" err="1">
                <a:latin typeface="Calibir"/>
              </a:rPr>
              <a:t>rgb</a:t>
            </a:r>
            <a:r>
              <a:rPr lang="en-US" sz="2400" b="1" dirty="0">
                <a:latin typeface="Calibir"/>
              </a:rPr>
              <a:t>(140,198,63)</a:t>
            </a:r>
            <a:r>
              <a:rPr lang="en-US" sz="2400" dirty="0">
                <a:latin typeface="Calibir"/>
              </a:rPr>
              <a:t> is a different green tone. </a:t>
            </a:r>
          </a:p>
          <a:p>
            <a:pPr marL="800100" lvl="1" indent="-342900">
              <a:lnSpc>
                <a:spcPct val="150000"/>
              </a:lnSpc>
              <a:buFont typeface="Arial" panose="020B0604020202020204" pitchFamily="34" charset="0"/>
              <a:buChar char="•"/>
            </a:pPr>
            <a:r>
              <a:rPr lang="en-US" sz="2400" b="1" dirty="0" err="1">
                <a:latin typeface="Calibir"/>
              </a:rPr>
              <a:t>rgb</a:t>
            </a:r>
            <a:r>
              <a:rPr lang="en-US" sz="2400" b="1" dirty="0">
                <a:latin typeface="Calibir"/>
              </a:rPr>
              <a:t>(255,255,255)</a:t>
            </a:r>
            <a:r>
              <a:rPr lang="en-US" sz="2400" dirty="0">
                <a:latin typeface="Calibir"/>
              </a:rPr>
              <a:t> represents white. </a:t>
            </a:r>
          </a:p>
          <a:p>
            <a:pPr marL="800100" lvl="1" indent="-342900">
              <a:lnSpc>
                <a:spcPct val="150000"/>
              </a:lnSpc>
              <a:buFont typeface="Arial" panose="020B0604020202020204" pitchFamily="34" charset="0"/>
              <a:buChar char="•"/>
            </a:pPr>
            <a:r>
              <a:rPr lang="en-US" sz="2400" b="1" dirty="0" err="1">
                <a:latin typeface="Calibir"/>
              </a:rPr>
              <a:t>rgb</a:t>
            </a:r>
            <a:r>
              <a:rPr lang="en-US" sz="2400" b="1" dirty="0">
                <a:latin typeface="Calibir"/>
              </a:rPr>
              <a:t>(183,52,0)</a:t>
            </a:r>
            <a:r>
              <a:rPr lang="en-US" sz="2400" dirty="0">
                <a:latin typeface="Calibir"/>
              </a:rPr>
              <a:t> is a reddish-orange color. </a:t>
            </a:r>
          </a:p>
          <a:p>
            <a:pPr>
              <a:lnSpc>
                <a:spcPct val="150000"/>
              </a:lnSpc>
            </a:pPr>
            <a:r>
              <a:rPr lang="en-US" sz="2400" dirty="0">
                <a:latin typeface="Calibir"/>
              </a:rPr>
              <a:t>Thus, </a:t>
            </a:r>
            <a:r>
              <a:rPr lang="en-US" sz="2400" b="1" dirty="0" err="1">
                <a:latin typeface="Calibir"/>
              </a:rPr>
              <a:t>rgb</a:t>
            </a:r>
            <a:r>
              <a:rPr lang="en-US" sz="2400" b="1" dirty="0">
                <a:latin typeface="Calibir"/>
              </a:rPr>
              <a:t>(106,194,56)</a:t>
            </a:r>
            <a:r>
              <a:rPr lang="en-US" sz="2400" dirty="0">
                <a:latin typeface="Calibir"/>
              </a:rPr>
              <a:t> is the best and correct answer.</a:t>
            </a:r>
          </a:p>
        </p:txBody>
      </p:sp>
    </p:spTree>
    <p:extLst>
      <p:ext uri="{BB962C8B-B14F-4D97-AF65-F5344CB8AC3E}">
        <p14:creationId xmlns:p14="http://schemas.microsoft.com/office/powerpoint/2010/main" val="157819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39FC9-7C6F-F4F8-2AF1-B3240AE82B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D057B70-A385-CCAB-56F1-3DCEC3B5560D}"/>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B3F233BA-580A-FD52-E5D7-54787412C221}"/>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15</a:t>
            </a:r>
          </a:p>
          <a:p>
            <a:pPr>
              <a:lnSpc>
                <a:spcPct val="150000"/>
              </a:lnSpc>
            </a:pPr>
            <a:r>
              <a:rPr lang="en-US" sz="2800" b="1" dirty="0">
                <a:latin typeface="Calibir"/>
              </a:rPr>
              <a:t>What must the background color of the article element be?</a:t>
            </a:r>
            <a:endParaRPr lang="en-US" sz="2800" dirty="0">
              <a:latin typeface="Calibir"/>
            </a:endParaRPr>
          </a:p>
          <a:p>
            <a:pPr>
              <a:lnSpc>
                <a:spcPct val="150000"/>
              </a:lnSpc>
            </a:pPr>
            <a:r>
              <a:rPr lang="en-US" sz="2800" dirty="0">
                <a:latin typeface="Calibir"/>
              </a:rPr>
              <a:t>A. #fff</a:t>
            </a:r>
            <a:br>
              <a:rPr lang="en-US" sz="2800" dirty="0">
                <a:latin typeface="Calibir"/>
              </a:rPr>
            </a:br>
            <a:r>
              <a:rPr lang="en-US" sz="2800" dirty="0">
                <a:latin typeface="Calibir"/>
              </a:rPr>
              <a:t>B. #000</a:t>
            </a:r>
            <a:br>
              <a:rPr lang="en-US" sz="2800" dirty="0">
                <a:latin typeface="Calibir"/>
              </a:rPr>
            </a:br>
            <a:r>
              <a:rPr lang="en-US" sz="2800" dirty="0">
                <a:latin typeface="Calibir"/>
              </a:rPr>
              <a:t>C. #183440</a:t>
            </a:r>
            <a:br>
              <a:rPr lang="en-US" sz="2800" dirty="0">
                <a:latin typeface="Calibir"/>
              </a:rPr>
            </a:br>
            <a:r>
              <a:rPr lang="en-US" sz="2800" dirty="0">
                <a:latin typeface="Calibir"/>
              </a:rPr>
              <a:t>D. #c8f098</a:t>
            </a:r>
          </a:p>
        </p:txBody>
      </p:sp>
      <p:sp>
        <p:nvSpPr>
          <p:cNvPr id="8" name="Rectangle: Rounded Corners 7">
            <a:extLst>
              <a:ext uri="{FF2B5EF4-FFF2-40B4-BE49-F238E27FC236}">
                <a16:creationId xmlns:a16="http://schemas.microsoft.com/office/drawing/2014/main" id="{A141DE3D-1FFD-91CC-A6C4-74C737F0A9B5}"/>
              </a:ext>
            </a:extLst>
          </p:cNvPr>
          <p:cNvSpPr/>
          <p:nvPr/>
        </p:nvSpPr>
        <p:spPr>
          <a:xfrm>
            <a:off x="9524" y="1981200"/>
            <a:ext cx="5743575"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C87E059B-9F9C-DA94-2426-2BDCBB5064AD}"/>
              </a:ext>
            </a:extLst>
          </p:cNvPr>
          <p:cNvSpPr txBox="1"/>
          <p:nvPr/>
        </p:nvSpPr>
        <p:spPr>
          <a:xfrm>
            <a:off x="2305050" y="2931860"/>
            <a:ext cx="9886950" cy="3913059"/>
          </a:xfrm>
          <a:prstGeom prst="rect">
            <a:avLst/>
          </a:prstGeom>
          <a:noFill/>
          <a:ln>
            <a:solidFill>
              <a:srgbClr val="FF0000"/>
            </a:solidFill>
          </a:ln>
        </p:spPr>
        <p:txBody>
          <a:bodyPr wrap="square">
            <a:spAutoFit/>
          </a:bodyPr>
          <a:lstStyle/>
          <a:p>
            <a:pPr>
              <a:lnSpc>
                <a:spcPct val="150000"/>
              </a:lnSpc>
            </a:pPr>
            <a:r>
              <a:rPr lang="en-US" sz="2400" dirty="0">
                <a:latin typeface="Calibir"/>
              </a:rPr>
              <a:t>The article element background color must be </a:t>
            </a:r>
            <a:r>
              <a:rPr lang="en-US" sz="2400" b="1" dirty="0">
                <a:latin typeface="Calibir"/>
              </a:rPr>
              <a:t>#fff</a:t>
            </a:r>
            <a:r>
              <a:rPr lang="en-US" sz="2400" dirty="0">
                <a:latin typeface="Calibir"/>
              </a:rPr>
              <a:t>, which represents white. A white background improves readability and creates contrast with the surrounding page elements.</a:t>
            </a:r>
          </a:p>
          <a:p>
            <a:pPr marL="800100" lvl="1" indent="-342900">
              <a:lnSpc>
                <a:spcPct val="150000"/>
              </a:lnSpc>
              <a:buFont typeface="Arial" panose="020B0604020202020204" pitchFamily="34" charset="0"/>
              <a:buChar char="•"/>
            </a:pPr>
            <a:r>
              <a:rPr lang="en-US" sz="2400" b="1" dirty="0">
                <a:latin typeface="Calibir"/>
              </a:rPr>
              <a:t>#000</a:t>
            </a:r>
            <a:r>
              <a:rPr lang="en-US" sz="2400" dirty="0">
                <a:latin typeface="Calibir"/>
              </a:rPr>
              <a:t> is black and would make the article too dark. </a:t>
            </a:r>
          </a:p>
          <a:p>
            <a:pPr marL="800100" lvl="1" indent="-342900">
              <a:lnSpc>
                <a:spcPct val="150000"/>
              </a:lnSpc>
              <a:buFont typeface="Arial" panose="020B0604020202020204" pitchFamily="34" charset="0"/>
              <a:buChar char="•"/>
            </a:pPr>
            <a:r>
              <a:rPr lang="en-US" sz="2400" b="1" dirty="0">
                <a:latin typeface="Calibir"/>
              </a:rPr>
              <a:t>#183440</a:t>
            </a:r>
            <a:r>
              <a:rPr lang="en-US" sz="2400" dirty="0">
                <a:latin typeface="Calibir"/>
              </a:rPr>
              <a:t> is a dark blue shade. </a:t>
            </a:r>
          </a:p>
          <a:p>
            <a:pPr marL="800100" lvl="1" indent="-342900">
              <a:lnSpc>
                <a:spcPct val="150000"/>
              </a:lnSpc>
              <a:buFont typeface="Arial" panose="020B0604020202020204" pitchFamily="34" charset="0"/>
              <a:buChar char="•"/>
            </a:pPr>
            <a:r>
              <a:rPr lang="en-US" sz="2400" b="1" dirty="0">
                <a:latin typeface="Calibir"/>
              </a:rPr>
              <a:t>#c8f098</a:t>
            </a:r>
            <a:r>
              <a:rPr lang="en-US" sz="2400" dirty="0">
                <a:latin typeface="Calibir"/>
              </a:rPr>
              <a:t> is a light green color not specified for the article background. </a:t>
            </a:r>
          </a:p>
          <a:p>
            <a:pPr>
              <a:lnSpc>
                <a:spcPct val="150000"/>
              </a:lnSpc>
            </a:pPr>
            <a:r>
              <a:rPr lang="en-US" sz="2400" dirty="0">
                <a:latin typeface="Calibir"/>
              </a:rPr>
              <a:t>Therefore, </a:t>
            </a:r>
            <a:r>
              <a:rPr lang="en-US" sz="2400" b="1" dirty="0">
                <a:latin typeface="Calibir"/>
              </a:rPr>
              <a:t>#fff</a:t>
            </a:r>
            <a:r>
              <a:rPr lang="en-US" sz="2400" dirty="0">
                <a:latin typeface="Calibir"/>
              </a:rPr>
              <a:t> is the correct answer.</a:t>
            </a:r>
          </a:p>
        </p:txBody>
      </p:sp>
    </p:spTree>
    <p:extLst>
      <p:ext uri="{BB962C8B-B14F-4D97-AF65-F5344CB8AC3E}">
        <p14:creationId xmlns:p14="http://schemas.microsoft.com/office/powerpoint/2010/main" val="418663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33A5A-2B29-FFE7-DF39-B117A95E76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8AE3AAD-AF0D-77E5-468A-DE14D302A89F}"/>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5FD9A010-7469-9D37-CFD3-252DBBD1957D}"/>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16</a:t>
            </a:r>
          </a:p>
          <a:p>
            <a:pPr>
              <a:lnSpc>
                <a:spcPct val="150000"/>
              </a:lnSpc>
            </a:pPr>
            <a:r>
              <a:rPr lang="en-US" sz="2800" b="1" dirty="0">
                <a:latin typeface="Calibir"/>
              </a:rPr>
              <a:t>What must be added to the container element in Project 1?</a:t>
            </a:r>
            <a:endParaRPr lang="en-US" sz="2800" dirty="0">
              <a:latin typeface="Calibir"/>
            </a:endParaRPr>
          </a:p>
          <a:p>
            <a:pPr>
              <a:lnSpc>
                <a:spcPct val="150000"/>
              </a:lnSpc>
            </a:pPr>
            <a:r>
              <a:rPr lang="en-US" sz="2800" dirty="0">
                <a:latin typeface="Calibir"/>
              </a:rPr>
              <a:t>A. A box shadow with 0 offsets, 10px blur, #000</a:t>
            </a:r>
            <a:br>
              <a:rPr lang="en-US" sz="2800" dirty="0">
                <a:latin typeface="Calibir"/>
              </a:rPr>
            </a:br>
            <a:r>
              <a:rPr lang="en-US" sz="2800" dirty="0">
                <a:latin typeface="Calibir"/>
              </a:rPr>
              <a:t>B. A border-radius</a:t>
            </a:r>
            <a:br>
              <a:rPr lang="en-US" sz="2800" dirty="0">
                <a:latin typeface="Calibir"/>
              </a:rPr>
            </a:br>
            <a:r>
              <a:rPr lang="en-US" sz="2800" dirty="0">
                <a:latin typeface="Calibir"/>
              </a:rPr>
              <a:t>C. A dotted border</a:t>
            </a:r>
            <a:br>
              <a:rPr lang="en-US" sz="2800" dirty="0">
                <a:latin typeface="Calibir"/>
              </a:rPr>
            </a:br>
            <a:r>
              <a:rPr lang="en-US" sz="2800" dirty="0">
                <a:latin typeface="Calibir"/>
              </a:rPr>
              <a:t>D. A gradient overlay</a:t>
            </a:r>
          </a:p>
        </p:txBody>
      </p:sp>
      <p:sp>
        <p:nvSpPr>
          <p:cNvPr id="8" name="Rectangle: Rounded Corners 7">
            <a:extLst>
              <a:ext uri="{FF2B5EF4-FFF2-40B4-BE49-F238E27FC236}">
                <a16:creationId xmlns:a16="http://schemas.microsoft.com/office/drawing/2014/main" id="{523EAD01-D249-2846-92A5-1788913CA5D4}"/>
              </a:ext>
            </a:extLst>
          </p:cNvPr>
          <p:cNvSpPr/>
          <p:nvPr/>
        </p:nvSpPr>
        <p:spPr>
          <a:xfrm>
            <a:off x="9524" y="1981200"/>
            <a:ext cx="7381876"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BF59699A-1D55-7299-A76B-BA4E8B44E516}"/>
              </a:ext>
            </a:extLst>
          </p:cNvPr>
          <p:cNvSpPr txBox="1"/>
          <p:nvPr/>
        </p:nvSpPr>
        <p:spPr>
          <a:xfrm>
            <a:off x="4257674" y="2646462"/>
            <a:ext cx="8029575" cy="4211538"/>
          </a:xfrm>
          <a:prstGeom prst="rect">
            <a:avLst/>
          </a:prstGeom>
          <a:noFill/>
          <a:ln>
            <a:solidFill>
              <a:srgbClr val="FF0000"/>
            </a:solidFill>
          </a:ln>
        </p:spPr>
        <p:txBody>
          <a:bodyPr wrap="square">
            <a:spAutoFit/>
          </a:bodyPr>
          <a:lstStyle/>
          <a:p>
            <a:pPr>
              <a:lnSpc>
                <a:spcPct val="150000"/>
              </a:lnSpc>
            </a:pPr>
            <a:r>
              <a:rPr lang="en-US" sz="1500" dirty="0">
                <a:latin typeface="Calibir"/>
              </a:rPr>
              <a:t>The container element requires a box shadow with:</a:t>
            </a:r>
          </a:p>
          <a:p>
            <a:pPr marL="742950" lvl="1" indent="-285750">
              <a:lnSpc>
                <a:spcPct val="150000"/>
              </a:lnSpc>
              <a:buFont typeface="Arial" panose="020B0604020202020204" pitchFamily="34" charset="0"/>
              <a:buChar char="•"/>
            </a:pPr>
            <a:r>
              <a:rPr lang="en-US" sz="1500" dirty="0">
                <a:latin typeface="Calibir"/>
              </a:rPr>
              <a:t>0 horizontal offset </a:t>
            </a:r>
          </a:p>
          <a:p>
            <a:pPr marL="742950" lvl="1" indent="-285750">
              <a:lnSpc>
                <a:spcPct val="150000"/>
              </a:lnSpc>
              <a:buFont typeface="Arial" panose="020B0604020202020204" pitchFamily="34" charset="0"/>
              <a:buChar char="•"/>
            </a:pPr>
            <a:r>
              <a:rPr lang="en-US" sz="1500" dirty="0">
                <a:latin typeface="Calibir"/>
              </a:rPr>
              <a:t>0 vertical offset </a:t>
            </a:r>
          </a:p>
          <a:p>
            <a:pPr marL="742950" lvl="1" indent="-285750">
              <a:lnSpc>
                <a:spcPct val="150000"/>
              </a:lnSpc>
              <a:buFont typeface="Arial" panose="020B0604020202020204" pitchFamily="34" charset="0"/>
              <a:buChar char="•"/>
            </a:pPr>
            <a:r>
              <a:rPr lang="en-US" sz="1500" dirty="0">
                <a:latin typeface="Calibir"/>
              </a:rPr>
              <a:t>10px blur radius </a:t>
            </a:r>
          </a:p>
          <a:p>
            <a:pPr marL="742950" lvl="1" indent="-285750">
              <a:lnSpc>
                <a:spcPct val="150000"/>
              </a:lnSpc>
              <a:buFont typeface="Arial" panose="020B0604020202020204" pitchFamily="34" charset="0"/>
              <a:buChar char="•"/>
            </a:pPr>
            <a:r>
              <a:rPr lang="en-US" sz="1500" dirty="0">
                <a:latin typeface="Calibir"/>
              </a:rPr>
              <a:t>#000 (black) color </a:t>
            </a:r>
          </a:p>
          <a:p>
            <a:pPr>
              <a:lnSpc>
                <a:spcPct val="150000"/>
              </a:lnSpc>
            </a:pPr>
            <a:r>
              <a:rPr lang="en-US" sz="1500" dirty="0">
                <a:latin typeface="Calibir"/>
              </a:rPr>
              <a:t>This effect creates depth and helps the container stand out from the background.</a:t>
            </a:r>
          </a:p>
          <a:p>
            <a:pPr>
              <a:lnSpc>
                <a:spcPct val="150000"/>
              </a:lnSpc>
            </a:pPr>
            <a:r>
              <a:rPr lang="en-US" sz="1500" dirty="0">
                <a:latin typeface="Calibir"/>
              </a:rPr>
              <a:t>Example CSS:</a:t>
            </a:r>
          </a:p>
          <a:p>
            <a:pPr>
              <a:lnSpc>
                <a:spcPct val="150000"/>
              </a:lnSpc>
            </a:pPr>
            <a:r>
              <a:rPr lang="en-US" sz="1500" dirty="0">
                <a:latin typeface="Calibir"/>
              </a:rPr>
              <a:t>box-shadow: 0 0 10px #000;</a:t>
            </a:r>
          </a:p>
          <a:p>
            <a:pPr marL="742950" lvl="1" indent="-285750">
              <a:lnSpc>
                <a:spcPct val="150000"/>
              </a:lnSpc>
              <a:buFont typeface="Arial" panose="020B0604020202020204" pitchFamily="34" charset="0"/>
              <a:buChar char="•"/>
            </a:pPr>
            <a:r>
              <a:rPr lang="en-US" sz="1500" dirty="0">
                <a:latin typeface="Calibir"/>
              </a:rPr>
              <a:t>Border-radius only rounds corners and was not the required addition. </a:t>
            </a:r>
          </a:p>
          <a:p>
            <a:pPr marL="742950" lvl="1" indent="-285750">
              <a:lnSpc>
                <a:spcPct val="150000"/>
              </a:lnSpc>
              <a:buFont typeface="Arial" panose="020B0604020202020204" pitchFamily="34" charset="0"/>
              <a:buChar char="•"/>
            </a:pPr>
            <a:r>
              <a:rPr lang="en-US" sz="1500" dirty="0">
                <a:latin typeface="Calibir"/>
              </a:rPr>
              <a:t>Dotted border changes the border style but does not create the shadow effect. </a:t>
            </a:r>
          </a:p>
          <a:p>
            <a:pPr marL="742950" lvl="1" indent="-285750">
              <a:lnSpc>
                <a:spcPct val="150000"/>
              </a:lnSpc>
              <a:buFont typeface="Arial" panose="020B0604020202020204" pitchFamily="34" charset="0"/>
              <a:buChar char="•"/>
            </a:pPr>
            <a:r>
              <a:rPr lang="en-US" sz="1500" dirty="0">
                <a:latin typeface="Calibir"/>
              </a:rPr>
              <a:t>Gradient overlay is unrelated to the project instructions. </a:t>
            </a:r>
          </a:p>
          <a:p>
            <a:pPr>
              <a:lnSpc>
                <a:spcPct val="150000"/>
              </a:lnSpc>
            </a:pPr>
            <a:r>
              <a:rPr lang="en-US" sz="1500" dirty="0">
                <a:latin typeface="Calibir"/>
              </a:rPr>
              <a:t>So, A is the best and correct answer.</a:t>
            </a:r>
          </a:p>
        </p:txBody>
      </p:sp>
    </p:spTree>
    <p:extLst>
      <p:ext uri="{BB962C8B-B14F-4D97-AF65-F5344CB8AC3E}">
        <p14:creationId xmlns:p14="http://schemas.microsoft.com/office/powerpoint/2010/main" val="1852581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A259F-B321-9FC1-AA47-26C2280DDA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979642D-84D4-F753-F894-35257DB8F293}"/>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B77B4016-7F3A-ABFE-7979-B572FD9BD7A9}"/>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17</a:t>
            </a:r>
          </a:p>
          <a:p>
            <a:pPr>
              <a:lnSpc>
                <a:spcPct val="150000"/>
              </a:lnSpc>
            </a:pPr>
            <a:r>
              <a:rPr lang="en-US" sz="2800" b="1" dirty="0">
                <a:latin typeface="Calibir"/>
              </a:rPr>
              <a:t>In Challenge 1, what file must be saved as index.html?</a:t>
            </a:r>
            <a:endParaRPr lang="en-US" sz="2800" dirty="0">
              <a:latin typeface="Calibir"/>
            </a:endParaRPr>
          </a:p>
          <a:p>
            <a:pPr>
              <a:lnSpc>
                <a:spcPct val="150000"/>
              </a:lnSpc>
            </a:pPr>
            <a:r>
              <a:rPr lang="en-US" sz="2800" dirty="0">
                <a:latin typeface="Calibir"/>
              </a:rPr>
              <a:t>A. HTM_E-7.html</a:t>
            </a:r>
            <a:br>
              <a:rPr lang="en-US" sz="2800" dirty="0">
                <a:latin typeface="Calibir"/>
              </a:rPr>
            </a:br>
            <a:r>
              <a:rPr lang="en-US" sz="2800" dirty="0">
                <a:latin typeface="Calibir"/>
              </a:rPr>
              <a:t>B. .html</a:t>
            </a:r>
            <a:br>
              <a:rPr lang="en-US" sz="2800" dirty="0">
                <a:latin typeface="Calibir"/>
              </a:rPr>
            </a:br>
            <a:r>
              <a:rPr lang="en-US" sz="2800" dirty="0">
                <a:latin typeface="Calibir"/>
              </a:rPr>
              <a:t>C. apply07.html</a:t>
            </a:r>
            <a:br>
              <a:rPr lang="en-US" sz="2800" dirty="0">
                <a:latin typeface="Calibir"/>
              </a:rPr>
            </a:br>
            <a:r>
              <a:rPr lang="en-US" sz="2800" dirty="0">
                <a:latin typeface="Calibir"/>
              </a:rPr>
              <a:t>D. HTM_E-6.html</a:t>
            </a:r>
          </a:p>
        </p:txBody>
      </p:sp>
      <p:sp>
        <p:nvSpPr>
          <p:cNvPr id="8" name="Rectangle: Rounded Corners 7">
            <a:extLst>
              <a:ext uri="{FF2B5EF4-FFF2-40B4-BE49-F238E27FC236}">
                <a16:creationId xmlns:a16="http://schemas.microsoft.com/office/drawing/2014/main" id="{0BC49C43-2617-21FC-514B-7DBF3E333DFF}"/>
              </a:ext>
            </a:extLst>
          </p:cNvPr>
          <p:cNvSpPr/>
          <p:nvPr/>
        </p:nvSpPr>
        <p:spPr>
          <a:xfrm>
            <a:off x="9524" y="1981200"/>
            <a:ext cx="7381876"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A161112A-D5F2-1CAD-F32B-9464C31AF759}"/>
              </a:ext>
            </a:extLst>
          </p:cNvPr>
          <p:cNvSpPr txBox="1"/>
          <p:nvPr/>
        </p:nvSpPr>
        <p:spPr>
          <a:xfrm>
            <a:off x="4277381" y="3332262"/>
            <a:ext cx="7915276" cy="3594702"/>
          </a:xfrm>
          <a:prstGeom prst="rect">
            <a:avLst/>
          </a:prstGeom>
          <a:noFill/>
          <a:ln>
            <a:solidFill>
              <a:srgbClr val="FF0000"/>
            </a:solidFill>
          </a:ln>
        </p:spPr>
        <p:txBody>
          <a:bodyPr wrap="square">
            <a:spAutoFit/>
          </a:bodyPr>
          <a:lstStyle/>
          <a:p>
            <a:pPr>
              <a:lnSpc>
                <a:spcPct val="150000"/>
              </a:lnSpc>
            </a:pPr>
            <a:r>
              <a:rPr lang="en-US" sz="2200" dirty="0">
                <a:latin typeface="Calibir"/>
              </a:rPr>
              <a:t>The Challenge 1 instructions require students to open </a:t>
            </a:r>
            <a:r>
              <a:rPr lang="en-US" sz="2200" b="1" dirty="0">
                <a:latin typeface="Calibir"/>
              </a:rPr>
              <a:t>HTM_E-7.html</a:t>
            </a:r>
            <a:r>
              <a:rPr lang="en-US" sz="2200" dirty="0">
                <a:latin typeface="Calibir"/>
              </a:rPr>
              <a:t> and save it as </a:t>
            </a:r>
            <a:r>
              <a:rPr lang="en-US" sz="2200" b="1" dirty="0">
                <a:latin typeface="Calibir"/>
              </a:rPr>
              <a:t>index.html</a:t>
            </a:r>
            <a:r>
              <a:rPr lang="en-US" sz="2200" dirty="0">
                <a:latin typeface="Calibir"/>
              </a:rPr>
              <a:t>. This file acts as the starting HTML document for the challenge project.</a:t>
            </a:r>
          </a:p>
          <a:p>
            <a:pPr marL="800100" lvl="1" indent="-342900">
              <a:lnSpc>
                <a:spcPct val="150000"/>
              </a:lnSpc>
              <a:buFont typeface="Arial" panose="020B0604020202020204" pitchFamily="34" charset="0"/>
              <a:buChar char="•"/>
            </a:pPr>
            <a:r>
              <a:rPr lang="en-US" sz="2200" b="1" dirty="0">
                <a:latin typeface="Calibir"/>
              </a:rPr>
              <a:t>.html</a:t>
            </a:r>
            <a:r>
              <a:rPr lang="en-US" sz="2200" dirty="0">
                <a:latin typeface="Calibir"/>
              </a:rPr>
              <a:t> is used in a different project activity. </a:t>
            </a:r>
          </a:p>
          <a:p>
            <a:pPr marL="800100" lvl="1" indent="-342900">
              <a:lnSpc>
                <a:spcPct val="150000"/>
              </a:lnSpc>
              <a:buFont typeface="Arial" panose="020B0604020202020204" pitchFamily="34" charset="0"/>
              <a:buChar char="•"/>
            </a:pPr>
            <a:r>
              <a:rPr lang="en-US" sz="2200" b="1" dirty="0">
                <a:latin typeface="Calibir"/>
              </a:rPr>
              <a:t>apply07.html</a:t>
            </a:r>
            <a:r>
              <a:rPr lang="en-US" sz="2200" dirty="0">
                <a:latin typeface="Calibir"/>
              </a:rPr>
              <a:t> is not the required starter file. </a:t>
            </a:r>
          </a:p>
          <a:p>
            <a:pPr marL="800100" lvl="1" indent="-342900">
              <a:lnSpc>
                <a:spcPct val="150000"/>
              </a:lnSpc>
              <a:buFont typeface="Arial" panose="020B0604020202020204" pitchFamily="34" charset="0"/>
              <a:buChar char="•"/>
            </a:pPr>
            <a:r>
              <a:rPr lang="en-US" sz="2200" b="1" dirty="0">
                <a:latin typeface="Calibir"/>
              </a:rPr>
              <a:t>HTM_E-6.html</a:t>
            </a:r>
            <a:r>
              <a:rPr lang="en-US" sz="2200" dirty="0">
                <a:latin typeface="Calibir"/>
              </a:rPr>
              <a:t> is unrelated to this specific challenge setup. </a:t>
            </a:r>
          </a:p>
          <a:p>
            <a:pPr>
              <a:lnSpc>
                <a:spcPct val="150000"/>
              </a:lnSpc>
            </a:pPr>
            <a:r>
              <a:rPr lang="en-US" sz="2200" dirty="0">
                <a:latin typeface="Calibir"/>
              </a:rPr>
              <a:t>Therefore, </a:t>
            </a:r>
            <a:r>
              <a:rPr lang="en-US" sz="2200" b="1" dirty="0">
                <a:latin typeface="Calibir"/>
              </a:rPr>
              <a:t>HTM_E-7.html</a:t>
            </a:r>
            <a:r>
              <a:rPr lang="en-US" sz="2200" dirty="0">
                <a:latin typeface="Calibir"/>
              </a:rPr>
              <a:t> is the correct answer.</a:t>
            </a:r>
          </a:p>
        </p:txBody>
      </p:sp>
    </p:spTree>
    <p:extLst>
      <p:ext uri="{BB962C8B-B14F-4D97-AF65-F5344CB8AC3E}">
        <p14:creationId xmlns:p14="http://schemas.microsoft.com/office/powerpoint/2010/main" val="26747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219C4-4A76-489B-2897-25DA9A77BC3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B3AF46-1F70-1214-2711-0885EB330F05}"/>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3D0F4704-E677-CB50-4363-961080C4738C}"/>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18</a:t>
            </a:r>
          </a:p>
          <a:p>
            <a:pPr>
              <a:lnSpc>
                <a:spcPct val="150000"/>
              </a:lnSpc>
            </a:pPr>
            <a:r>
              <a:rPr lang="en-US" sz="2800" b="1" dirty="0">
                <a:latin typeface="Calibir"/>
              </a:rPr>
              <a:t>What background color must be used for the header element in Challenge 1?</a:t>
            </a:r>
            <a:endParaRPr lang="en-US" sz="2800" dirty="0">
              <a:latin typeface="Calibir"/>
            </a:endParaRPr>
          </a:p>
          <a:p>
            <a:pPr>
              <a:lnSpc>
                <a:spcPct val="150000"/>
              </a:lnSpc>
            </a:pPr>
            <a:r>
              <a:rPr lang="en-US" sz="2800" dirty="0">
                <a:latin typeface="Calibir"/>
              </a:rPr>
              <a:t>A. </a:t>
            </a:r>
            <a:r>
              <a:rPr lang="en-US" sz="2800" dirty="0" err="1">
                <a:latin typeface="Calibir"/>
              </a:rPr>
              <a:t>rgb</a:t>
            </a:r>
            <a:r>
              <a:rPr lang="en-US" sz="2800" dirty="0">
                <a:latin typeface="Calibir"/>
              </a:rPr>
              <a:t>(140,198,63)</a:t>
            </a:r>
            <a:br>
              <a:rPr lang="en-US" sz="2800" dirty="0">
                <a:latin typeface="Calibir"/>
              </a:rPr>
            </a:br>
            <a:r>
              <a:rPr lang="en-US" sz="2800" dirty="0">
                <a:latin typeface="Calibir"/>
              </a:rPr>
              <a:t>B. </a:t>
            </a:r>
            <a:r>
              <a:rPr lang="en-US" sz="2800" dirty="0" err="1">
                <a:latin typeface="Calibir"/>
              </a:rPr>
              <a:t>rgb</a:t>
            </a:r>
            <a:r>
              <a:rPr lang="en-US" sz="2800" dirty="0">
                <a:latin typeface="Calibir"/>
              </a:rPr>
              <a:t>(106,194,56)</a:t>
            </a:r>
            <a:br>
              <a:rPr lang="en-US" sz="2800" dirty="0">
                <a:latin typeface="Calibir"/>
              </a:rPr>
            </a:br>
            <a:r>
              <a:rPr lang="en-US" sz="2800" dirty="0">
                <a:latin typeface="Calibir"/>
              </a:rPr>
              <a:t>C. yellow</a:t>
            </a:r>
            <a:br>
              <a:rPr lang="en-US" sz="2800" dirty="0">
                <a:latin typeface="Calibir"/>
              </a:rPr>
            </a:br>
            <a:r>
              <a:rPr lang="en-US" sz="2800" dirty="0">
                <a:latin typeface="Calibir"/>
              </a:rPr>
              <a:t>D. #fff</a:t>
            </a:r>
          </a:p>
        </p:txBody>
      </p:sp>
      <p:sp>
        <p:nvSpPr>
          <p:cNvPr id="8" name="Rectangle: Rounded Corners 7">
            <a:extLst>
              <a:ext uri="{FF2B5EF4-FFF2-40B4-BE49-F238E27FC236}">
                <a16:creationId xmlns:a16="http://schemas.microsoft.com/office/drawing/2014/main" id="{EF02A39B-EBC8-0ECB-69EF-A32BC32A0EF3}"/>
              </a:ext>
            </a:extLst>
          </p:cNvPr>
          <p:cNvSpPr/>
          <p:nvPr/>
        </p:nvSpPr>
        <p:spPr>
          <a:xfrm>
            <a:off x="9524" y="1981200"/>
            <a:ext cx="7381876"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632DB259-D138-B7FB-15F4-EEA505B8CF9F}"/>
              </a:ext>
            </a:extLst>
          </p:cNvPr>
          <p:cNvSpPr txBox="1"/>
          <p:nvPr/>
        </p:nvSpPr>
        <p:spPr>
          <a:xfrm>
            <a:off x="2247900" y="3498939"/>
            <a:ext cx="9925050" cy="3359061"/>
          </a:xfrm>
          <a:prstGeom prst="rect">
            <a:avLst/>
          </a:prstGeom>
          <a:noFill/>
          <a:ln>
            <a:solidFill>
              <a:srgbClr val="FF0000"/>
            </a:solidFill>
          </a:ln>
        </p:spPr>
        <p:txBody>
          <a:bodyPr wrap="square">
            <a:spAutoFit/>
          </a:bodyPr>
          <a:lstStyle/>
          <a:p>
            <a:pPr>
              <a:lnSpc>
                <a:spcPct val="150000"/>
              </a:lnSpc>
            </a:pPr>
            <a:r>
              <a:rPr lang="en-US" sz="2400" dirty="0">
                <a:latin typeface="Calibir"/>
              </a:rPr>
              <a:t>The specified background color for the header element is </a:t>
            </a:r>
            <a:r>
              <a:rPr lang="en-US" sz="2400" b="1" dirty="0" err="1">
                <a:latin typeface="Calibir"/>
              </a:rPr>
              <a:t>rgb</a:t>
            </a:r>
            <a:r>
              <a:rPr lang="en-US" sz="2400" b="1" dirty="0">
                <a:latin typeface="Calibir"/>
              </a:rPr>
              <a:t>(140,198,63)</a:t>
            </a:r>
            <a:r>
              <a:rPr lang="en-US" sz="2400" dirty="0">
                <a:latin typeface="Calibir"/>
              </a:rPr>
              <a:t>, which is a light green shade used in the project design.</a:t>
            </a:r>
          </a:p>
          <a:p>
            <a:pPr marL="628650" indent="-342900">
              <a:lnSpc>
                <a:spcPct val="150000"/>
              </a:lnSpc>
              <a:buFont typeface="Arial" panose="020B0604020202020204" pitchFamily="34" charset="0"/>
              <a:buChar char="•"/>
            </a:pPr>
            <a:r>
              <a:rPr lang="en-US" sz="2400" b="1" dirty="0" err="1">
                <a:latin typeface="Calibir"/>
              </a:rPr>
              <a:t>rgb</a:t>
            </a:r>
            <a:r>
              <a:rPr lang="en-US" sz="2400" b="1" dirty="0">
                <a:latin typeface="Calibir"/>
              </a:rPr>
              <a:t>(106,194,56)</a:t>
            </a:r>
            <a:r>
              <a:rPr lang="en-US" sz="2400" dirty="0">
                <a:latin typeface="Calibir"/>
              </a:rPr>
              <a:t> is a different green color used elsewhere in the project. </a:t>
            </a:r>
          </a:p>
          <a:p>
            <a:pPr marL="628650" indent="-342900">
              <a:lnSpc>
                <a:spcPct val="150000"/>
              </a:lnSpc>
              <a:buFont typeface="Arial" panose="020B0604020202020204" pitchFamily="34" charset="0"/>
              <a:buChar char="•"/>
            </a:pPr>
            <a:r>
              <a:rPr lang="en-US" sz="2400" b="1" dirty="0">
                <a:latin typeface="Calibir"/>
              </a:rPr>
              <a:t>yellow</a:t>
            </a:r>
            <a:r>
              <a:rPr lang="en-US" sz="2400" dirty="0">
                <a:latin typeface="Calibir"/>
              </a:rPr>
              <a:t> is not part of the required color scheme. </a:t>
            </a:r>
          </a:p>
          <a:p>
            <a:pPr marL="628650" indent="-342900">
              <a:lnSpc>
                <a:spcPct val="150000"/>
              </a:lnSpc>
              <a:buFont typeface="Arial" panose="020B0604020202020204" pitchFamily="34" charset="0"/>
              <a:buChar char="•"/>
            </a:pPr>
            <a:r>
              <a:rPr lang="en-US" sz="2400" b="1" dirty="0">
                <a:latin typeface="Calibir"/>
              </a:rPr>
              <a:t>#fff</a:t>
            </a:r>
            <a:r>
              <a:rPr lang="en-US" sz="2400" dirty="0">
                <a:latin typeface="Calibir"/>
              </a:rPr>
              <a:t> represents white and is not the required header background color. </a:t>
            </a:r>
          </a:p>
          <a:p>
            <a:pPr>
              <a:lnSpc>
                <a:spcPct val="150000"/>
              </a:lnSpc>
            </a:pPr>
            <a:r>
              <a:rPr lang="en-US" sz="2400" dirty="0">
                <a:latin typeface="Calibir"/>
              </a:rPr>
              <a:t>Thus, </a:t>
            </a:r>
            <a:r>
              <a:rPr lang="en-US" sz="2400" b="1" dirty="0" err="1">
                <a:latin typeface="Calibir"/>
              </a:rPr>
              <a:t>rgb</a:t>
            </a:r>
            <a:r>
              <a:rPr lang="en-US" sz="2400" b="1" dirty="0">
                <a:latin typeface="Calibir"/>
              </a:rPr>
              <a:t>(140,198,63)</a:t>
            </a:r>
            <a:r>
              <a:rPr lang="en-US" sz="2400" dirty="0">
                <a:latin typeface="Calibir"/>
              </a:rPr>
              <a:t> is the best answer.</a:t>
            </a:r>
          </a:p>
        </p:txBody>
      </p:sp>
    </p:spTree>
    <p:extLst>
      <p:ext uri="{BB962C8B-B14F-4D97-AF65-F5344CB8AC3E}">
        <p14:creationId xmlns:p14="http://schemas.microsoft.com/office/powerpoint/2010/main" val="1520657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9AD5E-71AE-FE3D-A9C0-5A484501F4F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0151341-532B-DD03-0AE9-B03FDF2DFEF7}"/>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3021C056-4C2F-19B5-D75F-1E1053C62FCF}"/>
              </a:ext>
            </a:extLst>
          </p:cNvPr>
          <p:cNvSpPr txBox="1"/>
          <p:nvPr/>
        </p:nvSpPr>
        <p:spPr>
          <a:xfrm>
            <a:off x="0" y="492443"/>
            <a:ext cx="12172950" cy="3903504"/>
          </a:xfrm>
          <a:prstGeom prst="rect">
            <a:avLst/>
          </a:prstGeom>
          <a:noFill/>
        </p:spPr>
        <p:txBody>
          <a:bodyPr wrap="square">
            <a:spAutoFit/>
          </a:bodyPr>
          <a:lstStyle/>
          <a:p>
            <a:pPr>
              <a:lnSpc>
                <a:spcPct val="150000"/>
              </a:lnSpc>
            </a:pPr>
            <a:r>
              <a:rPr lang="en-AU" sz="2800" b="1" dirty="0">
                <a:latin typeface="Calibir"/>
              </a:rPr>
              <a:t>Question 19</a:t>
            </a:r>
          </a:p>
          <a:p>
            <a:pPr>
              <a:lnSpc>
                <a:spcPct val="150000"/>
              </a:lnSpc>
            </a:pPr>
            <a:r>
              <a:rPr lang="en-AU" sz="2800" b="1" dirty="0">
                <a:latin typeface="Calibir"/>
              </a:rPr>
              <a:t>Which font family stack must be used for the h1 element in Challenge 1?</a:t>
            </a:r>
            <a:endParaRPr lang="en-AU" sz="2800" dirty="0">
              <a:latin typeface="Calibir"/>
            </a:endParaRPr>
          </a:p>
          <a:p>
            <a:pPr>
              <a:lnSpc>
                <a:spcPct val="150000"/>
              </a:lnSpc>
            </a:pPr>
            <a:r>
              <a:rPr lang="en-AU" sz="2800" dirty="0">
                <a:latin typeface="Calibir"/>
              </a:rPr>
              <a:t>A. Georgia, "Times New Roman", Times, serif</a:t>
            </a:r>
            <a:br>
              <a:rPr lang="en-AU" sz="2800" dirty="0">
                <a:latin typeface="Calibir"/>
              </a:rPr>
            </a:br>
            <a:r>
              <a:rPr lang="en-AU" sz="2800" dirty="0">
                <a:latin typeface="Calibir"/>
              </a:rPr>
              <a:t>B. Lato, Arial, sans-serif</a:t>
            </a:r>
            <a:br>
              <a:rPr lang="en-AU" sz="2800" dirty="0">
                <a:latin typeface="Calibir"/>
              </a:rPr>
            </a:br>
            <a:r>
              <a:rPr lang="en-AU" sz="2800" dirty="0">
                <a:latin typeface="Calibir"/>
              </a:rPr>
              <a:t>C. Roboto, Helvetica, sans-serif</a:t>
            </a:r>
            <a:br>
              <a:rPr lang="en-AU" sz="2800" dirty="0">
                <a:latin typeface="Calibir"/>
              </a:rPr>
            </a:br>
            <a:r>
              <a:rPr lang="en-AU" sz="2800" dirty="0">
                <a:latin typeface="Calibir"/>
              </a:rPr>
              <a:t>D. Verdana, Arial, sans-serif</a:t>
            </a:r>
          </a:p>
        </p:txBody>
      </p:sp>
      <p:sp>
        <p:nvSpPr>
          <p:cNvPr id="8" name="Rectangle: Rounded Corners 7">
            <a:extLst>
              <a:ext uri="{FF2B5EF4-FFF2-40B4-BE49-F238E27FC236}">
                <a16:creationId xmlns:a16="http://schemas.microsoft.com/office/drawing/2014/main" id="{BDDF3ECB-78DD-E707-F839-A24C7FF6CDCB}"/>
              </a:ext>
            </a:extLst>
          </p:cNvPr>
          <p:cNvSpPr/>
          <p:nvPr/>
        </p:nvSpPr>
        <p:spPr>
          <a:xfrm>
            <a:off x="9524" y="1981200"/>
            <a:ext cx="7381876"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6CE644AC-E260-897F-4844-302FBF65E696}"/>
              </a:ext>
            </a:extLst>
          </p:cNvPr>
          <p:cNvSpPr txBox="1"/>
          <p:nvPr/>
        </p:nvSpPr>
        <p:spPr>
          <a:xfrm>
            <a:off x="4543425" y="2505075"/>
            <a:ext cx="7648575" cy="4404988"/>
          </a:xfrm>
          <a:prstGeom prst="rect">
            <a:avLst/>
          </a:prstGeom>
          <a:noFill/>
          <a:ln>
            <a:solidFill>
              <a:srgbClr val="FF0000"/>
            </a:solidFill>
          </a:ln>
        </p:spPr>
        <p:txBody>
          <a:bodyPr wrap="square">
            <a:spAutoFit/>
          </a:bodyPr>
          <a:lstStyle/>
          <a:p>
            <a:pPr>
              <a:lnSpc>
                <a:spcPct val="150000"/>
              </a:lnSpc>
            </a:pPr>
            <a:r>
              <a:rPr lang="en-US" sz="2100" dirty="0">
                <a:latin typeface="Calibir"/>
              </a:rPr>
              <a:t>The required font-family stack for the h1 element is:</a:t>
            </a:r>
          </a:p>
          <a:p>
            <a:pPr>
              <a:lnSpc>
                <a:spcPct val="150000"/>
              </a:lnSpc>
            </a:pPr>
            <a:r>
              <a:rPr lang="en-US" sz="2100" dirty="0">
                <a:latin typeface="Calibir"/>
              </a:rPr>
              <a:t>Georgia, "Times New Roman", Times, serif</a:t>
            </a:r>
          </a:p>
          <a:p>
            <a:pPr>
              <a:lnSpc>
                <a:spcPct val="150000"/>
              </a:lnSpc>
            </a:pPr>
            <a:r>
              <a:rPr lang="en-US" sz="2100" dirty="0">
                <a:latin typeface="Calibir"/>
              </a:rPr>
              <a:t>This stack uses serif fonts to create a more formal and traditional heading style.</a:t>
            </a:r>
          </a:p>
          <a:p>
            <a:pPr marL="342900" indent="-342900">
              <a:lnSpc>
                <a:spcPct val="150000"/>
              </a:lnSpc>
              <a:buFont typeface="Arial" panose="020B0604020202020204" pitchFamily="34" charset="0"/>
              <a:buChar char="•"/>
            </a:pPr>
            <a:r>
              <a:rPr lang="en-US" sz="2100" b="1" dirty="0">
                <a:latin typeface="Calibir"/>
              </a:rPr>
              <a:t>Lato</a:t>
            </a:r>
            <a:r>
              <a:rPr lang="en-US" sz="2100" dirty="0">
                <a:latin typeface="Calibir"/>
              </a:rPr>
              <a:t>, </a:t>
            </a:r>
            <a:r>
              <a:rPr lang="en-US" sz="2100" b="1" dirty="0">
                <a:latin typeface="Calibir"/>
              </a:rPr>
              <a:t>Roboto</a:t>
            </a:r>
            <a:r>
              <a:rPr lang="en-US" sz="2100" dirty="0">
                <a:latin typeface="Calibir"/>
              </a:rPr>
              <a:t>, and </a:t>
            </a:r>
            <a:r>
              <a:rPr lang="en-US" sz="2100" b="1" dirty="0">
                <a:latin typeface="Calibir"/>
              </a:rPr>
              <a:t>Verdana</a:t>
            </a:r>
            <a:r>
              <a:rPr lang="en-US" sz="2100" dirty="0">
                <a:latin typeface="Calibir"/>
              </a:rPr>
              <a:t> are mainly sans-serif fonts and do not match the required styling. </a:t>
            </a:r>
          </a:p>
          <a:p>
            <a:pPr marL="342900" indent="-342900">
              <a:lnSpc>
                <a:spcPct val="150000"/>
              </a:lnSpc>
              <a:buFont typeface="Arial" panose="020B0604020202020204" pitchFamily="34" charset="0"/>
              <a:buChar char="•"/>
            </a:pPr>
            <a:r>
              <a:rPr lang="en-US" sz="2100" dirty="0">
                <a:latin typeface="Calibir"/>
              </a:rPr>
              <a:t>The provided stack also includes fallback fonts to ensure compatibility across devices and browsers. </a:t>
            </a:r>
          </a:p>
          <a:p>
            <a:pPr>
              <a:lnSpc>
                <a:spcPct val="150000"/>
              </a:lnSpc>
            </a:pPr>
            <a:r>
              <a:rPr lang="en-US" sz="2100" dirty="0">
                <a:latin typeface="Calibir"/>
              </a:rPr>
              <a:t>Therefore, </a:t>
            </a:r>
            <a:r>
              <a:rPr lang="en-US" sz="2100" b="1" dirty="0">
                <a:latin typeface="Calibir"/>
              </a:rPr>
              <a:t>Option A</a:t>
            </a:r>
            <a:r>
              <a:rPr lang="en-US" sz="2100" dirty="0">
                <a:latin typeface="Calibir"/>
              </a:rPr>
              <a:t> is correct.</a:t>
            </a:r>
          </a:p>
        </p:txBody>
      </p:sp>
    </p:spTree>
    <p:extLst>
      <p:ext uri="{BB962C8B-B14F-4D97-AF65-F5344CB8AC3E}">
        <p14:creationId xmlns:p14="http://schemas.microsoft.com/office/powerpoint/2010/main" val="93235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33569-A3D9-F9F6-7E32-BCE75CA3A58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3730391-8BE1-E8B4-1770-F61CC20C432B}"/>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CA3C7132-614C-BCAD-2243-4709C5D90BB8}"/>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20</a:t>
            </a:r>
          </a:p>
          <a:p>
            <a:pPr>
              <a:lnSpc>
                <a:spcPct val="150000"/>
              </a:lnSpc>
            </a:pPr>
            <a:r>
              <a:rPr lang="en-US" sz="2800" b="1" dirty="0">
                <a:latin typeface="Calibir"/>
              </a:rPr>
              <a:t>What is the background color for the aside element in Challenge 1?</a:t>
            </a:r>
            <a:endParaRPr lang="en-US" sz="2800" dirty="0">
              <a:latin typeface="Calibir"/>
            </a:endParaRPr>
          </a:p>
          <a:p>
            <a:pPr>
              <a:lnSpc>
                <a:spcPct val="150000"/>
              </a:lnSpc>
            </a:pPr>
            <a:r>
              <a:rPr lang="en-US" sz="2800" dirty="0">
                <a:latin typeface="Calibir"/>
              </a:rPr>
              <a:t>A. #c8f098</a:t>
            </a:r>
            <a:br>
              <a:rPr lang="en-US" sz="2800" dirty="0">
                <a:latin typeface="Calibir"/>
              </a:rPr>
            </a:br>
            <a:r>
              <a:rPr lang="en-US" sz="2800" dirty="0">
                <a:latin typeface="Calibir"/>
              </a:rPr>
              <a:t>B. #183440</a:t>
            </a:r>
            <a:br>
              <a:rPr lang="en-US" sz="2800" dirty="0">
                <a:latin typeface="Calibir"/>
              </a:rPr>
            </a:br>
            <a:r>
              <a:rPr lang="en-US" sz="2800" dirty="0">
                <a:latin typeface="Calibir"/>
              </a:rPr>
              <a:t>C. #fff</a:t>
            </a:r>
            <a:br>
              <a:rPr lang="en-US" sz="2800" dirty="0">
                <a:latin typeface="Calibir"/>
              </a:rPr>
            </a:br>
            <a:r>
              <a:rPr lang="en-US" sz="2800" dirty="0">
                <a:latin typeface="Calibir"/>
              </a:rPr>
              <a:t>D. #f15a24</a:t>
            </a:r>
          </a:p>
        </p:txBody>
      </p:sp>
      <p:sp>
        <p:nvSpPr>
          <p:cNvPr id="8" name="Rectangle: Rounded Corners 7">
            <a:extLst>
              <a:ext uri="{FF2B5EF4-FFF2-40B4-BE49-F238E27FC236}">
                <a16:creationId xmlns:a16="http://schemas.microsoft.com/office/drawing/2014/main" id="{A87D2E68-BAA8-C617-619A-37D6DCEC208E}"/>
              </a:ext>
            </a:extLst>
          </p:cNvPr>
          <p:cNvSpPr/>
          <p:nvPr/>
        </p:nvSpPr>
        <p:spPr>
          <a:xfrm>
            <a:off x="9524" y="1981200"/>
            <a:ext cx="7381876"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9BC153E3-C519-A7AD-C65D-E9FE36C25988}"/>
              </a:ext>
            </a:extLst>
          </p:cNvPr>
          <p:cNvSpPr txBox="1"/>
          <p:nvPr/>
        </p:nvSpPr>
        <p:spPr>
          <a:xfrm>
            <a:off x="2638425" y="3362812"/>
            <a:ext cx="9553575" cy="3495188"/>
          </a:xfrm>
          <a:prstGeom prst="rect">
            <a:avLst/>
          </a:prstGeom>
          <a:noFill/>
          <a:ln>
            <a:solidFill>
              <a:srgbClr val="FF0000"/>
            </a:solidFill>
          </a:ln>
        </p:spPr>
        <p:txBody>
          <a:bodyPr wrap="square">
            <a:spAutoFit/>
          </a:bodyPr>
          <a:lstStyle/>
          <a:p>
            <a:pPr>
              <a:lnSpc>
                <a:spcPct val="150000"/>
              </a:lnSpc>
            </a:pPr>
            <a:r>
              <a:rPr lang="en-US" sz="2500" dirty="0">
                <a:latin typeface="Calibir"/>
              </a:rPr>
              <a:t>The aside element must use the background color </a:t>
            </a:r>
            <a:r>
              <a:rPr lang="en-US" sz="2500" b="1" dirty="0">
                <a:latin typeface="Calibir"/>
              </a:rPr>
              <a:t>#c8f098</a:t>
            </a:r>
            <a:r>
              <a:rPr lang="en-US" sz="2500" dirty="0">
                <a:latin typeface="Calibir"/>
              </a:rPr>
              <a:t>, which is a light green shade that complements the overall website color theme.</a:t>
            </a:r>
          </a:p>
          <a:p>
            <a:pPr marL="800100" lvl="1" indent="-342900">
              <a:lnSpc>
                <a:spcPct val="150000"/>
              </a:lnSpc>
              <a:buFont typeface="Arial" panose="020B0604020202020204" pitchFamily="34" charset="0"/>
              <a:buChar char="•"/>
            </a:pPr>
            <a:r>
              <a:rPr lang="en-US" sz="2500" b="1" dirty="0">
                <a:latin typeface="Calibir"/>
              </a:rPr>
              <a:t>#183440</a:t>
            </a:r>
            <a:r>
              <a:rPr lang="en-US" sz="2500" dirty="0">
                <a:latin typeface="Calibir"/>
              </a:rPr>
              <a:t> is a dark blue color. </a:t>
            </a:r>
          </a:p>
          <a:p>
            <a:pPr marL="800100" lvl="1" indent="-342900">
              <a:lnSpc>
                <a:spcPct val="150000"/>
              </a:lnSpc>
              <a:buFont typeface="Arial" panose="020B0604020202020204" pitchFamily="34" charset="0"/>
              <a:buChar char="•"/>
            </a:pPr>
            <a:r>
              <a:rPr lang="en-US" sz="2500" b="1" dirty="0">
                <a:latin typeface="Calibir"/>
              </a:rPr>
              <a:t>#fff</a:t>
            </a:r>
            <a:r>
              <a:rPr lang="en-US" sz="2500" dirty="0">
                <a:latin typeface="Calibir"/>
              </a:rPr>
              <a:t> is white and used for other elements. </a:t>
            </a:r>
          </a:p>
          <a:p>
            <a:pPr marL="800100" lvl="1" indent="-342900">
              <a:lnSpc>
                <a:spcPct val="150000"/>
              </a:lnSpc>
              <a:buFont typeface="Arial" panose="020B0604020202020204" pitchFamily="34" charset="0"/>
              <a:buChar char="•"/>
            </a:pPr>
            <a:r>
              <a:rPr lang="en-US" sz="2500" b="1" dirty="0">
                <a:latin typeface="Calibir"/>
              </a:rPr>
              <a:t>#f15a24</a:t>
            </a:r>
            <a:r>
              <a:rPr lang="en-US" sz="2500" dirty="0">
                <a:latin typeface="Calibir"/>
              </a:rPr>
              <a:t> is the orange accent color used elsewhere in the design. </a:t>
            </a:r>
          </a:p>
          <a:p>
            <a:pPr>
              <a:lnSpc>
                <a:spcPct val="150000"/>
              </a:lnSpc>
            </a:pPr>
            <a:r>
              <a:rPr lang="en-US" sz="2500" dirty="0">
                <a:latin typeface="Calibir"/>
              </a:rPr>
              <a:t>So, </a:t>
            </a:r>
            <a:r>
              <a:rPr lang="en-US" sz="2500" b="1" dirty="0">
                <a:latin typeface="Calibir"/>
              </a:rPr>
              <a:t>#c8f098</a:t>
            </a:r>
            <a:r>
              <a:rPr lang="en-US" sz="2500" dirty="0">
                <a:latin typeface="Calibir"/>
              </a:rPr>
              <a:t> is the correct and best answer.</a:t>
            </a:r>
          </a:p>
        </p:txBody>
      </p:sp>
    </p:spTree>
    <p:extLst>
      <p:ext uri="{BB962C8B-B14F-4D97-AF65-F5344CB8AC3E}">
        <p14:creationId xmlns:p14="http://schemas.microsoft.com/office/powerpoint/2010/main" val="49244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3899F-2105-542B-CD28-238BF604141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48B947-0521-226F-5F76-9E1346E5AEB7}"/>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462DCA03-10E9-E194-ACCD-8810A82FEAED}"/>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21</a:t>
            </a:r>
          </a:p>
          <a:p>
            <a:pPr>
              <a:lnSpc>
                <a:spcPct val="150000"/>
              </a:lnSpc>
            </a:pPr>
            <a:r>
              <a:rPr lang="en-US" sz="2800" b="1" dirty="0">
                <a:latin typeface="Calibir"/>
              </a:rPr>
              <a:t>What must be added at the bottom of styles.css in Challenge 1?</a:t>
            </a:r>
            <a:endParaRPr lang="en-US" sz="2800" dirty="0">
              <a:latin typeface="Calibir"/>
            </a:endParaRPr>
          </a:p>
          <a:p>
            <a:pPr>
              <a:lnSpc>
                <a:spcPct val="150000"/>
              </a:lnSpc>
            </a:pPr>
            <a:r>
              <a:rPr lang="en-US" sz="2800" dirty="0">
                <a:latin typeface="Calibir"/>
              </a:rPr>
              <a:t>A. A comment “print styles” and a media query</a:t>
            </a:r>
            <a:br>
              <a:rPr lang="en-US" sz="2800" dirty="0">
                <a:latin typeface="Calibir"/>
              </a:rPr>
            </a:br>
            <a:r>
              <a:rPr lang="en-US" sz="2800" dirty="0">
                <a:latin typeface="Calibir"/>
              </a:rPr>
              <a:t>B. An @import rule</a:t>
            </a:r>
            <a:br>
              <a:rPr lang="en-US" sz="2800" dirty="0">
                <a:latin typeface="Calibir"/>
              </a:rPr>
            </a:br>
            <a:r>
              <a:rPr lang="en-US" sz="2800" dirty="0">
                <a:latin typeface="Calibir"/>
              </a:rPr>
              <a:t>C. A JavaScript link</a:t>
            </a:r>
            <a:br>
              <a:rPr lang="en-US" sz="2800" dirty="0">
                <a:latin typeface="Calibir"/>
              </a:rPr>
            </a:br>
            <a:r>
              <a:rPr lang="en-US" sz="2800" dirty="0">
                <a:latin typeface="Calibir"/>
              </a:rPr>
              <a:t>D. A reset stylesheet</a:t>
            </a:r>
          </a:p>
        </p:txBody>
      </p:sp>
      <p:sp>
        <p:nvSpPr>
          <p:cNvPr id="8" name="Rectangle: Rounded Corners 7">
            <a:extLst>
              <a:ext uri="{FF2B5EF4-FFF2-40B4-BE49-F238E27FC236}">
                <a16:creationId xmlns:a16="http://schemas.microsoft.com/office/drawing/2014/main" id="{7B6EF577-71C0-C8DA-DC16-FC9D959996D2}"/>
              </a:ext>
            </a:extLst>
          </p:cNvPr>
          <p:cNvSpPr/>
          <p:nvPr/>
        </p:nvSpPr>
        <p:spPr>
          <a:xfrm>
            <a:off x="9524" y="1981200"/>
            <a:ext cx="7381876"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73F325C2-FF3E-9DF4-56F9-0329D86C18F4}"/>
              </a:ext>
            </a:extLst>
          </p:cNvPr>
          <p:cNvSpPr txBox="1"/>
          <p:nvPr/>
        </p:nvSpPr>
        <p:spPr>
          <a:xfrm>
            <a:off x="4038600" y="2755467"/>
            <a:ext cx="8153400" cy="4102533"/>
          </a:xfrm>
          <a:prstGeom prst="rect">
            <a:avLst/>
          </a:prstGeom>
          <a:noFill/>
          <a:ln>
            <a:solidFill>
              <a:srgbClr val="FF0000"/>
            </a:solidFill>
          </a:ln>
        </p:spPr>
        <p:txBody>
          <a:bodyPr wrap="square">
            <a:spAutoFit/>
          </a:bodyPr>
          <a:lstStyle/>
          <a:p>
            <a:pPr>
              <a:lnSpc>
                <a:spcPct val="150000"/>
              </a:lnSpc>
            </a:pPr>
            <a:r>
              <a:rPr lang="en-US" sz="2200" dirty="0">
                <a:latin typeface="Calibir"/>
              </a:rPr>
              <a:t>At the bottom of styles.css, the instructions require adding a comment labeled “print styles” along with a print media query. This allows the webpage to have special formatting when printed.</a:t>
            </a:r>
          </a:p>
          <a:p>
            <a:pPr>
              <a:lnSpc>
                <a:spcPct val="150000"/>
              </a:lnSpc>
            </a:pPr>
            <a:r>
              <a:rPr lang="en-US" sz="2200" dirty="0">
                <a:latin typeface="Calibir"/>
              </a:rPr>
              <a:t>Example:</a:t>
            </a:r>
          </a:p>
          <a:p>
            <a:pPr>
              <a:lnSpc>
                <a:spcPct val="150000"/>
              </a:lnSpc>
            </a:pPr>
            <a:r>
              <a:rPr lang="en-US" sz="2200" dirty="0">
                <a:highlight>
                  <a:srgbClr val="FFFF00"/>
                </a:highlight>
                <a:latin typeface="Calibir"/>
              </a:rPr>
              <a:t>/* print styles */</a:t>
            </a:r>
            <a:br>
              <a:rPr lang="en-US" sz="2200" dirty="0">
                <a:highlight>
                  <a:srgbClr val="FFFF00"/>
                </a:highlight>
                <a:latin typeface="Calibir"/>
              </a:rPr>
            </a:br>
            <a:r>
              <a:rPr lang="en-US" sz="2200" dirty="0">
                <a:highlight>
                  <a:srgbClr val="FFFF00"/>
                </a:highlight>
                <a:latin typeface="Calibir"/>
              </a:rPr>
              <a:t>@media print {</a:t>
            </a:r>
            <a:br>
              <a:rPr lang="en-US" sz="2200" dirty="0">
                <a:highlight>
                  <a:srgbClr val="FFFF00"/>
                </a:highlight>
                <a:latin typeface="Calibir"/>
              </a:rPr>
            </a:br>
            <a:r>
              <a:rPr lang="en-US" sz="2200" dirty="0">
                <a:highlight>
                  <a:srgbClr val="FFFF00"/>
                </a:highlight>
                <a:latin typeface="Calibir"/>
              </a:rPr>
              <a:t>   ...</a:t>
            </a:r>
            <a:br>
              <a:rPr lang="en-US" sz="2200" dirty="0">
                <a:highlight>
                  <a:srgbClr val="FFFF00"/>
                </a:highlight>
                <a:latin typeface="Calibir"/>
              </a:rPr>
            </a:br>
            <a:r>
              <a:rPr lang="en-US" sz="2200" dirty="0">
                <a:highlight>
                  <a:srgbClr val="FFFF00"/>
                </a:highlight>
                <a:latin typeface="Calibir"/>
              </a:rPr>
              <a:t>}</a:t>
            </a:r>
          </a:p>
        </p:txBody>
      </p:sp>
    </p:spTree>
    <p:extLst>
      <p:ext uri="{BB962C8B-B14F-4D97-AF65-F5344CB8AC3E}">
        <p14:creationId xmlns:p14="http://schemas.microsoft.com/office/powerpoint/2010/main" val="313223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0042B-1454-466E-00A2-A7A694C3A31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4742E5-B12D-7B8C-A183-720DDBBE84A1}"/>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ACC4AB45-C12E-189C-C16F-307FF2E7D947}"/>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21</a:t>
            </a:r>
          </a:p>
          <a:p>
            <a:pPr>
              <a:lnSpc>
                <a:spcPct val="150000"/>
              </a:lnSpc>
            </a:pPr>
            <a:r>
              <a:rPr lang="en-US" sz="2800" b="1" dirty="0">
                <a:latin typeface="Calibir"/>
              </a:rPr>
              <a:t>What must be added at the bottom of styles.css in Challenge 1?</a:t>
            </a:r>
            <a:endParaRPr lang="en-US" sz="2800" dirty="0">
              <a:latin typeface="Calibir"/>
            </a:endParaRPr>
          </a:p>
          <a:p>
            <a:pPr>
              <a:lnSpc>
                <a:spcPct val="150000"/>
              </a:lnSpc>
            </a:pPr>
            <a:r>
              <a:rPr lang="en-US" sz="2800" dirty="0">
                <a:latin typeface="Calibir"/>
              </a:rPr>
              <a:t>A. A comment “print styles” and a media query</a:t>
            </a:r>
            <a:br>
              <a:rPr lang="en-US" sz="2800" dirty="0">
                <a:latin typeface="Calibir"/>
              </a:rPr>
            </a:br>
            <a:r>
              <a:rPr lang="en-US" sz="2800" dirty="0">
                <a:latin typeface="Calibir"/>
              </a:rPr>
              <a:t>B. An @import rule</a:t>
            </a:r>
            <a:br>
              <a:rPr lang="en-US" sz="2800" dirty="0">
                <a:latin typeface="Calibir"/>
              </a:rPr>
            </a:br>
            <a:r>
              <a:rPr lang="en-US" sz="2800" dirty="0">
                <a:latin typeface="Calibir"/>
              </a:rPr>
              <a:t>C. A JavaScript link</a:t>
            </a:r>
            <a:br>
              <a:rPr lang="en-US" sz="2800" dirty="0">
                <a:latin typeface="Calibir"/>
              </a:rPr>
            </a:br>
            <a:r>
              <a:rPr lang="en-US" sz="2800" dirty="0">
                <a:latin typeface="Calibir"/>
              </a:rPr>
              <a:t>D. A reset stylesheet</a:t>
            </a:r>
          </a:p>
        </p:txBody>
      </p:sp>
      <p:sp>
        <p:nvSpPr>
          <p:cNvPr id="8" name="Rectangle: Rounded Corners 7">
            <a:extLst>
              <a:ext uri="{FF2B5EF4-FFF2-40B4-BE49-F238E27FC236}">
                <a16:creationId xmlns:a16="http://schemas.microsoft.com/office/drawing/2014/main" id="{A88CCA41-B558-71E0-812E-3B09E7382453}"/>
              </a:ext>
            </a:extLst>
          </p:cNvPr>
          <p:cNvSpPr/>
          <p:nvPr/>
        </p:nvSpPr>
        <p:spPr>
          <a:xfrm>
            <a:off x="9524" y="1981200"/>
            <a:ext cx="7381876"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51C3CDA7-39F1-D657-C15D-D6199B0237FC}"/>
              </a:ext>
            </a:extLst>
          </p:cNvPr>
          <p:cNvSpPr txBox="1"/>
          <p:nvPr/>
        </p:nvSpPr>
        <p:spPr>
          <a:xfrm>
            <a:off x="4038600" y="2755467"/>
            <a:ext cx="8153400" cy="3913059"/>
          </a:xfrm>
          <a:prstGeom prst="rect">
            <a:avLst/>
          </a:prstGeom>
          <a:noFill/>
          <a:ln>
            <a:solidFill>
              <a:srgbClr val="FF0000"/>
            </a:solidFill>
          </a:ln>
        </p:spPr>
        <p:txBody>
          <a:bodyPr wrap="square">
            <a:spAutoFit/>
          </a:bodyPr>
          <a:lstStyle/>
          <a:p>
            <a:pPr>
              <a:lnSpc>
                <a:spcPct val="150000"/>
              </a:lnSpc>
            </a:pPr>
            <a:r>
              <a:rPr lang="en-US" sz="2400" b="1" dirty="0">
                <a:latin typeface="Calibir"/>
              </a:rPr>
              <a:t>Option B</a:t>
            </a:r>
            <a:r>
              <a:rPr lang="en-US" sz="2400" dirty="0">
                <a:latin typeface="Calibir"/>
              </a:rPr>
              <a:t> is incorrect because @import is used to import stylesheets, not create print styling. </a:t>
            </a:r>
          </a:p>
          <a:p>
            <a:pPr>
              <a:lnSpc>
                <a:spcPct val="150000"/>
              </a:lnSpc>
            </a:pPr>
            <a:r>
              <a:rPr lang="en-US" sz="2400" b="1" dirty="0">
                <a:latin typeface="Calibir"/>
              </a:rPr>
              <a:t>Option C</a:t>
            </a:r>
            <a:r>
              <a:rPr lang="en-US" sz="2400" dirty="0">
                <a:latin typeface="Calibir"/>
              </a:rPr>
              <a:t> is wrong because JavaScript links belong in HTML, not CSS. </a:t>
            </a:r>
          </a:p>
          <a:p>
            <a:pPr>
              <a:lnSpc>
                <a:spcPct val="150000"/>
              </a:lnSpc>
            </a:pPr>
            <a:r>
              <a:rPr lang="en-US" sz="2400" b="1" dirty="0">
                <a:latin typeface="Calibir"/>
              </a:rPr>
              <a:t>Option D</a:t>
            </a:r>
            <a:r>
              <a:rPr lang="en-US" sz="2400" dirty="0">
                <a:latin typeface="Calibir"/>
              </a:rPr>
              <a:t> is incorrect because reset stylesheets are usually placed at the beginning, not added at the bottom. </a:t>
            </a:r>
          </a:p>
          <a:p>
            <a:pPr>
              <a:lnSpc>
                <a:spcPct val="150000"/>
              </a:lnSpc>
            </a:pPr>
            <a:r>
              <a:rPr lang="en-US" sz="2400" dirty="0">
                <a:latin typeface="Calibir"/>
              </a:rPr>
              <a:t>Therefore, </a:t>
            </a:r>
            <a:r>
              <a:rPr lang="en-US" sz="2400" b="1" dirty="0">
                <a:latin typeface="Calibir"/>
              </a:rPr>
              <a:t>A</a:t>
            </a:r>
            <a:r>
              <a:rPr lang="en-US" sz="2400" dirty="0">
                <a:latin typeface="Calibir"/>
              </a:rPr>
              <a:t> is the correct answer.</a:t>
            </a:r>
          </a:p>
        </p:txBody>
      </p:sp>
    </p:spTree>
    <p:extLst>
      <p:ext uri="{BB962C8B-B14F-4D97-AF65-F5344CB8AC3E}">
        <p14:creationId xmlns:p14="http://schemas.microsoft.com/office/powerpoint/2010/main" val="423219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8AE6A-F374-4DB3-28A7-E74C789D10D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A3572F4-AA7C-5ECE-955E-AB68AC5D0FDB}"/>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3177FECF-FA3B-1457-F85C-63C56457B6DB}"/>
              </a:ext>
            </a:extLst>
          </p:cNvPr>
          <p:cNvSpPr txBox="1"/>
          <p:nvPr/>
        </p:nvSpPr>
        <p:spPr>
          <a:xfrm>
            <a:off x="0" y="492443"/>
            <a:ext cx="12172950" cy="4549835"/>
          </a:xfrm>
          <a:prstGeom prst="rect">
            <a:avLst/>
          </a:prstGeom>
          <a:noFill/>
        </p:spPr>
        <p:txBody>
          <a:bodyPr wrap="square">
            <a:spAutoFit/>
          </a:bodyPr>
          <a:lstStyle/>
          <a:p>
            <a:pPr>
              <a:lnSpc>
                <a:spcPct val="150000"/>
              </a:lnSpc>
            </a:pPr>
            <a:r>
              <a:rPr lang="en-US" sz="2800" b="1" dirty="0">
                <a:latin typeface="Calibir"/>
              </a:rPr>
              <a:t>Question 22</a:t>
            </a:r>
          </a:p>
          <a:p>
            <a:pPr>
              <a:lnSpc>
                <a:spcPct val="150000"/>
              </a:lnSpc>
            </a:pPr>
            <a:r>
              <a:rPr lang="en-US" sz="2800" b="1" dirty="0">
                <a:latin typeface="Calibir"/>
              </a:rPr>
              <a:t>What must the print media query set the background color to for header, aside, body, footer, and container?</a:t>
            </a:r>
            <a:endParaRPr lang="en-US" sz="2800" dirty="0">
              <a:latin typeface="Calibir"/>
            </a:endParaRPr>
          </a:p>
          <a:p>
            <a:pPr>
              <a:lnSpc>
                <a:spcPct val="150000"/>
              </a:lnSpc>
            </a:pPr>
            <a:r>
              <a:rPr lang="en-US" sz="2800" dirty="0">
                <a:latin typeface="Calibir"/>
              </a:rPr>
              <a:t>A. #fff</a:t>
            </a:r>
            <a:br>
              <a:rPr lang="en-US" sz="2800" dirty="0">
                <a:latin typeface="Calibir"/>
              </a:rPr>
            </a:br>
            <a:r>
              <a:rPr lang="en-US" sz="2800" dirty="0">
                <a:latin typeface="Calibir"/>
              </a:rPr>
              <a:t>B. #000</a:t>
            </a:r>
            <a:br>
              <a:rPr lang="en-US" sz="2800" dirty="0">
                <a:latin typeface="Calibir"/>
              </a:rPr>
            </a:br>
            <a:r>
              <a:rPr lang="en-US" sz="2800" dirty="0">
                <a:latin typeface="Calibir"/>
              </a:rPr>
              <a:t>C. #183440</a:t>
            </a:r>
            <a:br>
              <a:rPr lang="en-US" sz="2800" dirty="0">
                <a:latin typeface="Calibir"/>
              </a:rPr>
            </a:br>
            <a:r>
              <a:rPr lang="en-US" sz="2800" dirty="0">
                <a:latin typeface="Calibir"/>
              </a:rPr>
              <a:t>D. #c8f098</a:t>
            </a:r>
          </a:p>
        </p:txBody>
      </p:sp>
      <p:sp>
        <p:nvSpPr>
          <p:cNvPr id="8" name="Rectangle: Rounded Corners 7">
            <a:extLst>
              <a:ext uri="{FF2B5EF4-FFF2-40B4-BE49-F238E27FC236}">
                <a16:creationId xmlns:a16="http://schemas.microsoft.com/office/drawing/2014/main" id="{26CFE7AB-AB3F-02F2-4B2F-D29E796CC51B}"/>
              </a:ext>
            </a:extLst>
          </p:cNvPr>
          <p:cNvSpPr/>
          <p:nvPr/>
        </p:nvSpPr>
        <p:spPr>
          <a:xfrm>
            <a:off x="-19050" y="2505422"/>
            <a:ext cx="2286000"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83ACD6D5-96D1-5F8C-24DC-1BBF62ADEC95}"/>
              </a:ext>
            </a:extLst>
          </p:cNvPr>
          <p:cNvSpPr txBox="1"/>
          <p:nvPr/>
        </p:nvSpPr>
        <p:spPr>
          <a:xfrm>
            <a:off x="2981325" y="2391290"/>
            <a:ext cx="9191625" cy="4467057"/>
          </a:xfrm>
          <a:prstGeom prst="rect">
            <a:avLst/>
          </a:prstGeom>
          <a:noFill/>
          <a:ln>
            <a:solidFill>
              <a:srgbClr val="FF0000"/>
            </a:solidFill>
          </a:ln>
        </p:spPr>
        <p:txBody>
          <a:bodyPr wrap="square">
            <a:spAutoFit/>
          </a:bodyPr>
          <a:lstStyle/>
          <a:p>
            <a:pPr>
              <a:lnSpc>
                <a:spcPct val="150000"/>
              </a:lnSpc>
            </a:pPr>
            <a:r>
              <a:rPr lang="en-US" sz="2400" dirty="0">
                <a:latin typeface="Calibir"/>
              </a:rPr>
              <a:t>The print media query changes the background color of major page elements to #fff (white). This ensures printed pages are clean, readable, and printer-friendly.</a:t>
            </a:r>
          </a:p>
          <a:p>
            <a:pPr marL="800100" lvl="1" indent="-342900">
              <a:lnSpc>
                <a:spcPct val="150000"/>
              </a:lnSpc>
              <a:buFont typeface="Arial" panose="020B0604020202020204" pitchFamily="34" charset="0"/>
              <a:buChar char="•"/>
            </a:pPr>
            <a:r>
              <a:rPr lang="en-US" sz="2400" dirty="0">
                <a:latin typeface="Calibir"/>
              </a:rPr>
              <a:t>#000 would make the background black and waste printer ink. </a:t>
            </a:r>
          </a:p>
          <a:p>
            <a:pPr marL="800100" lvl="1" indent="-342900">
              <a:lnSpc>
                <a:spcPct val="150000"/>
              </a:lnSpc>
              <a:buFont typeface="Arial" panose="020B0604020202020204" pitchFamily="34" charset="0"/>
              <a:buChar char="•"/>
            </a:pPr>
            <a:r>
              <a:rPr lang="en-US" sz="2400" dirty="0">
                <a:latin typeface="Calibir"/>
              </a:rPr>
              <a:t>#183440 is a dark blue color not suitable for print formatting. </a:t>
            </a:r>
          </a:p>
          <a:p>
            <a:pPr marL="800100" lvl="1" indent="-342900">
              <a:lnSpc>
                <a:spcPct val="150000"/>
              </a:lnSpc>
              <a:buFont typeface="Arial" panose="020B0604020202020204" pitchFamily="34" charset="0"/>
              <a:buChar char="•"/>
            </a:pPr>
            <a:r>
              <a:rPr lang="en-US" sz="2400" dirty="0">
                <a:latin typeface="Calibir"/>
              </a:rPr>
              <a:t>#c8f098 is a light green shade used for screen display, not printing. </a:t>
            </a:r>
          </a:p>
          <a:p>
            <a:pPr>
              <a:lnSpc>
                <a:spcPct val="150000"/>
              </a:lnSpc>
            </a:pPr>
            <a:r>
              <a:rPr lang="en-US" sz="2400" dirty="0">
                <a:latin typeface="Calibir"/>
              </a:rPr>
              <a:t>Thus, #fff is the best and correct answer.</a:t>
            </a:r>
          </a:p>
        </p:txBody>
      </p:sp>
    </p:spTree>
    <p:extLst>
      <p:ext uri="{BB962C8B-B14F-4D97-AF65-F5344CB8AC3E}">
        <p14:creationId xmlns:p14="http://schemas.microsoft.com/office/powerpoint/2010/main" val="246977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8ED9-F3B7-FEE3-A80F-F53C98E5FB4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C7EC9F5-EC0F-6D48-686A-2AD8D071051D}"/>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C9BE6B97-3754-767E-909B-1177E861D86A}"/>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23</a:t>
            </a:r>
          </a:p>
          <a:p>
            <a:pPr>
              <a:lnSpc>
                <a:spcPct val="150000"/>
              </a:lnSpc>
            </a:pPr>
            <a:r>
              <a:rPr lang="en-US" sz="2800" b="1" dirty="0">
                <a:latin typeface="Calibir"/>
              </a:rPr>
              <a:t>What border must be added to the header in print mode?</a:t>
            </a:r>
            <a:endParaRPr lang="en-US" sz="2800" dirty="0">
              <a:latin typeface="Calibir"/>
            </a:endParaRPr>
          </a:p>
          <a:p>
            <a:pPr>
              <a:lnSpc>
                <a:spcPct val="150000"/>
              </a:lnSpc>
            </a:pPr>
            <a:r>
              <a:rPr lang="en-US" sz="2800" dirty="0">
                <a:latin typeface="Calibir"/>
              </a:rPr>
              <a:t>A. 2px solid black bottom border</a:t>
            </a:r>
            <a:br>
              <a:rPr lang="en-US" sz="2800" dirty="0">
                <a:latin typeface="Calibir"/>
              </a:rPr>
            </a:br>
            <a:r>
              <a:rPr lang="en-US" sz="2800" dirty="0">
                <a:latin typeface="Calibir"/>
              </a:rPr>
              <a:t>B. 1px dotted border</a:t>
            </a:r>
            <a:br>
              <a:rPr lang="en-US" sz="2800" dirty="0">
                <a:latin typeface="Calibir"/>
              </a:rPr>
            </a:br>
            <a:r>
              <a:rPr lang="en-US" sz="2800" dirty="0">
                <a:latin typeface="Calibir"/>
              </a:rPr>
              <a:t>C. None</a:t>
            </a:r>
            <a:br>
              <a:rPr lang="en-US" sz="2800" dirty="0">
                <a:latin typeface="Calibir"/>
              </a:rPr>
            </a:br>
            <a:r>
              <a:rPr lang="en-US" sz="2800" dirty="0">
                <a:latin typeface="Calibir"/>
              </a:rPr>
              <a:t>D. 3px double border</a:t>
            </a:r>
          </a:p>
        </p:txBody>
      </p:sp>
      <p:sp>
        <p:nvSpPr>
          <p:cNvPr id="8" name="Rectangle: Rounded Corners 7">
            <a:extLst>
              <a:ext uri="{FF2B5EF4-FFF2-40B4-BE49-F238E27FC236}">
                <a16:creationId xmlns:a16="http://schemas.microsoft.com/office/drawing/2014/main" id="{6E79ADDD-0495-1E8E-143A-C1155BF44D31}"/>
              </a:ext>
            </a:extLst>
          </p:cNvPr>
          <p:cNvSpPr/>
          <p:nvPr/>
        </p:nvSpPr>
        <p:spPr>
          <a:xfrm>
            <a:off x="0" y="1911142"/>
            <a:ext cx="5000626"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79E10164-62EC-5FBA-EC80-71FD5A21D7C4}"/>
              </a:ext>
            </a:extLst>
          </p:cNvPr>
          <p:cNvSpPr txBox="1"/>
          <p:nvPr/>
        </p:nvSpPr>
        <p:spPr>
          <a:xfrm>
            <a:off x="5162550" y="1739804"/>
            <a:ext cx="7010400" cy="5118196"/>
          </a:xfrm>
          <a:prstGeom prst="rect">
            <a:avLst/>
          </a:prstGeom>
          <a:noFill/>
          <a:ln>
            <a:solidFill>
              <a:srgbClr val="FF0000"/>
            </a:solidFill>
          </a:ln>
        </p:spPr>
        <p:txBody>
          <a:bodyPr wrap="square">
            <a:spAutoFit/>
          </a:bodyPr>
          <a:lstStyle/>
          <a:p>
            <a:pPr>
              <a:lnSpc>
                <a:spcPct val="150000"/>
              </a:lnSpc>
            </a:pPr>
            <a:r>
              <a:rPr lang="en-US" sz="2200" dirty="0">
                <a:latin typeface="Calibir"/>
              </a:rPr>
              <a:t>In print mode, the header must include a 2px solid black bottom border. This visually separates the header from the rest of the printed content and improves readability.</a:t>
            </a:r>
          </a:p>
          <a:p>
            <a:pPr>
              <a:lnSpc>
                <a:spcPct val="150000"/>
              </a:lnSpc>
            </a:pPr>
            <a:r>
              <a:rPr lang="en-US" sz="2200" dirty="0">
                <a:latin typeface="Calibir"/>
              </a:rPr>
              <a:t>Example CSS:</a:t>
            </a:r>
          </a:p>
          <a:p>
            <a:pPr>
              <a:lnSpc>
                <a:spcPct val="150000"/>
              </a:lnSpc>
            </a:pPr>
            <a:r>
              <a:rPr lang="en-US" sz="2200" dirty="0">
                <a:latin typeface="Calibir"/>
              </a:rPr>
              <a:t>border-bottom: 2px solid black;</a:t>
            </a:r>
          </a:p>
          <a:p>
            <a:pPr marL="342900" indent="-342900">
              <a:lnSpc>
                <a:spcPct val="150000"/>
              </a:lnSpc>
              <a:buFont typeface="Arial" panose="020B0604020202020204" pitchFamily="34" charset="0"/>
              <a:buChar char="•"/>
            </a:pPr>
            <a:r>
              <a:rPr lang="en-US" sz="2200" dirty="0">
                <a:latin typeface="Calibir"/>
              </a:rPr>
              <a:t>1px dotted border does not match the required print style. </a:t>
            </a:r>
          </a:p>
          <a:p>
            <a:pPr marL="342900" indent="-342900">
              <a:lnSpc>
                <a:spcPct val="150000"/>
              </a:lnSpc>
              <a:buFont typeface="Arial" panose="020B0604020202020204" pitchFamily="34" charset="0"/>
              <a:buChar char="•"/>
            </a:pPr>
            <a:r>
              <a:rPr lang="en-US" sz="2200" dirty="0">
                <a:latin typeface="Calibir"/>
              </a:rPr>
              <a:t>None would remove separation between sections. </a:t>
            </a:r>
          </a:p>
          <a:p>
            <a:pPr marL="342900" indent="-342900">
              <a:lnSpc>
                <a:spcPct val="150000"/>
              </a:lnSpc>
              <a:buFont typeface="Arial" panose="020B0604020202020204" pitchFamily="34" charset="0"/>
              <a:buChar char="•"/>
            </a:pPr>
            <a:r>
              <a:rPr lang="en-US" sz="2200" dirty="0">
                <a:latin typeface="Calibir"/>
              </a:rPr>
              <a:t>3px double border is not part of the instructions. </a:t>
            </a:r>
          </a:p>
          <a:p>
            <a:pPr>
              <a:lnSpc>
                <a:spcPct val="150000"/>
              </a:lnSpc>
            </a:pPr>
            <a:r>
              <a:rPr lang="en-US" sz="2200" dirty="0">
                <a:latin typeface="Calibir"/>
              </a:rPr>
              <a:t>Therefore, A is the correct answer.</a:t>
            </a:r>
          </a:p>
        </p:txBody>
      </p:sp>
    </p:spTree>
    <p:extLst>
      <p:ext uri="{BB962C8B-B14F-4D97-AF65-F5344CB8AC3E}">
        <p14:creationId xmlns:p14="http://schemas.microsoft.com/office/powerpoint/2010/main" val="72445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B5367-3C1F-7C3F-803D-7C2A5ACDD69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045FF42-0557-2905-95FF-32AEC0CC5673}"/>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30462BAD-908A-B964-584C-074AD2C9C96E}"/>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24</a:t>
            </a:r>
          </a:p>
          <a:p>
            <a:pPr>
              <a:lnSpc>
                <a:spcPct val="150000"/>
              </a:lnSpc>
            </a:pPr>
            <a:r>
              <a:rPr lang="en-US" sz="2800" b="1" dirty="0">
                <a:latin typeface="Calibir"/>
              </a:rPr>
              <a:t>Which element must receive a left border in print mode?</a:t>
            </a:r>
            <a:endParaRPr lang="en-US" sz="2800" dirty="0">
              <a:latin typeface="Calibir"/>
            </a:endParaRPr>
          </a:p>
          <a:p>
            <a:pPr>
              <a:lnSpc>
                <a:spcPct val="150000"/>
              </a:lnSpc>
            </a:pPr>
            <a:r>
              <a:rPr lang="en-US" sz="2800" dirty="0">
                <a:latin typeface="Calibir"/>
              </a:rPr>
              <a:t>A. aside</a:t>
            </a:r>
            <a:br>
              <a:rPr lang="en-US" sz="2800" dirty="0">
                <a:latin typeface="Calibir"/>
              </a:rPr>
            </a:br>
            <a:r>
              <a:rPr lang="en-US" sz="2800" dirty="0">
                <a:latin typeface="Calibir"/>
              </a:rPr>
              <a:t>B. footer</a:t>
            </a:r>
            <a:br>
              <a:rPr lang="en-US" sz="2800" dirty="0">
                <a:latin typeface="Calibir"/>
              </a:rPr>
            </a:br>
            <a:r>
              <a:rPr lang="en-US" sz="2800" dirty="0">
                <a:latin typeface="Calibir"/>
              </a:rPr>
              <a:t>C. section</a:t>
            </a:r>
            <a:br>
              <a:rPr lang="en-US" sz="2800" dirty="0">
                <a:latin typeface="Calibir"/>
              </a:rPr>
            </a:br>
            <a:r>
              <a:rPr lang="en-US" sz="2800" dirty="0">
                <a:latin typeface="Calibir"/>
              </a:rPr>
              <a:t>D. article</a:t>
            </a:r>
          </a:p>
        </p:txBody>
      </p:sp>
      <p:sp>
        <p:nvSpPr>
          <p:cNvPr id="8" name="Rectangle: Rounded Corners 7">
            <a:extLst>
              <a:ext uri="{FF2B5EF4-FFF2-40B4-BE49-F238E27FC236}">
                <a16:creationId xmlns:a16="http://schemas.microsoft.com/office/drawing/2014/main" id="{3B93AAF9-C9BF-984D-FACC-5CF58007E0C1}"/>
              </a:ext>
            </a:extLst>
          </p:cNvPr>
          <p:cNvSpPr/>
          <p:nvPr/>
        </p:nvSpPr>
        <p:spPr>
          <a:xfrm>
            <a:off x="0" y="1911142"/>
            <a:ext cx="3095625"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67A1D517-9B7E-5081-F82A-36C096F20412}"/>
              </a:ext>
            </a:extLst>
          </p:cNvPr>
          <p:cNvSpPr txBox="1"/>
          <p:nvPr/>
        </p:nvSpPr>
        <p:spPr>
          <a:xfrm>
            <a:off x="4486275" y="1739804"/>
            <a:ext cx="7686675" cy="5196166"/>
          </a:xfrm>
          <a:prstGeom prst="rect">
            <a:avLst/>
          </a:prstGeom>
          <a:noFill/>
          <a:ln>
            <a:solidFill>
              <a:srgbClr val="FF0000"/>
            </a:solidFill>
          </a:ln>
        </p:spPr>
        <p:txBody>
          <a:bodyPr wrap="square">
            <a:spAutoFit/>
          </a:bodyPr>
          <a:lstStyle/>
          <a:p>
            <a:pPr>
              <a:lnSpc>
                <a:spcPct val="150000"/>
              </a:lnSpc>
            </a:pPr>
            <a:r>
              <a:rPr lang="en-US" sz="2800" dirty="0">
                <a:latin typeface="Calibir"/>
              </a:rPr>
              <a:t>The aside element must receive a left border in print mode. This styling helps distinguish sidebar or supplementary content from the main article content when printed.</a:t>
            </a:r>
          </a:p>
          <a:p>
            <a:pPr marL="714375" indent="-457200">
              <a:lnSpc>
                <a:spcPct val="150000"/>
              </a:lnSpc>
              <a:buFont typeface="Arial" panose="020B0604020202020204" pitchFamily="34" charset="0"/>
              <a:buChar char="•"/>
            </a:pPr>
            <a:r>
              <a:rPr lang="en-US" sz="2800" dirty="0">
                <a:latin typeface="Calibir"/>
              </a:rPr>
              <a:t>footer is not assigned the left border. </a:t>
            </a:r>
          </a:p>
          <a:p>
            <a:pPr marL="714375" indent="-457200">
              <a:lnSpc>
                <a:spcPct val="150000"/>
              </a:lnSpc>
              <a:buFont typeface="Arial" panose="020B0604020202020204" pitchFamily="34" charset="0"/>
              <a:buChar char="•"/>
            </a:pPr>
            <a:r>
              <a:rPr lang="en-US" sz="2800" dirty="0">
                <a:latin typeface="Calibir"/>
              </a:rPr>
              <a:t>section and article are main content elements and do not receive this print-specific styling. </a:t>
            </a:r>
          </a:p>
          <a:p>
            <a:pPr>
              <a:lnSpc>
                <a:spcPct val="150000"/>
              </a:lnSpc>
            </a:pPr>
            <a:r>
              <a:rPr lang="en-US" sz="2800" dirty="0">
                <a:latin typeface="Calibir"/>
              </a:rPr>
              <a:t>So, aside is the correct and best answer.</a:t>
            </a:r>
          </a:p>
        </p:txBody>
      </p:sp>
    </p:spTree>
    <p:extLst>
      <p:ext uri="{BB962C8B-B14F-4D97-AF65-F5344CB8AC3E}">
        <p14:creationId xmlns:p14="http://schemas.microsoft.com/office/powerpoint/2010/main" val="76481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C709E-9ED1-C97C-22D4-B3E30C6582E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792FE37-392E-B711-584B-F06884AE52E3}"/>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50813385-9E6E-B9CF-229E-DC96722C0CAA}"/>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25</a:t>
            </a:r>
          </a:p>
          <a:p>
            <a:pPr>
              <a:lnSpc>
                <a:spcPct val="150000"/>
              </a:lnSpc>
            </a:pPr>
            <a:r>
              <a:rPr lang="en-US" sz="2800" b="1" dirty="0">
                <a:latin typeface="Calibir"/>
              </a:rPr>
              <a:t>Which element must receive a left border in print mode?</a:t>
            </a:r>
            <a:endParaRPr lang="en-US" sz="2800" dirty="0">
              <a:latin typeface="Calibir"/>
            </a:endParaRPr>
          </a:p>
          <a:p>
            <a:pPr>
              <a:lnSpc>
                <a:spcPct val="150000"/>
              </a:lnSpc>
            </a:pPr>
            <a:r>
              <a:rPr lang="en-US" sz="2800" dirty="0">
                <a:latin typeface="Calibir"/>
              </a:rPr>
              <a:t>A. aside</a:t>
            </a:r>
            <a:br>
              <a:rPr lang="en-US" sz="2800" dirty="0">
                <a:latin typeface="Calibir"/>
              </a:rPr>
            </a:br>
            <a:r>
              <a:rPr lang="en-US" sz="2800" dirty="0">
                <a:latin typeface="Calibir"/>
              </a:rPr>
              <a:t>B. footer</a:t>
            </a:r>
            <a:br>
              <a:rPr lang="en-US" sz="2800" dirty="0">
                <a:latin typeface="Calibir"/>
              </a:rPr>
            </a:br>
            <a:r>
              <a:rPr lang="en-US" sz="2800" dirty="0">
                <a:latin typeface="Calibir"/>
              </a:rPr>
              <a:t>C. section</a:t>
            </a:r>
            <a:br>
              <a:rPr lang="en-US" sz="2800" dirty="0">
                <a:latin typeface="Calibir"/>
              </a:rPr>
            </a:br>
            <a:r>
              <a:rPr lang="en-US" sz="2800" dirty="0">
                <a:latin typeface="Calibir"/>
              </a:rPr>
              <a:t>D. article</a:t>
            </a:r>
          </a:p>
        </p:txBody>
      </p:sp>
      <p:sp>
        <p:nvSpPr>
          <p:cNvPr id="8" name="Rectangle: Rounded Corners 7">
            <a:extLst>
              <a:ext uri="{FF2B5EF4-FFF2-40B4-BE49-F238E27FC236}">
                <a16:creationId xmlns:a16="http://schemas.microsoft.com/office/drawing/2014/main" id="{E21DC590-C94C-82F7-FB6C-0F5363A6AA50}"/>
              </a:ext>
            </a:extLst>
          </p:cNvPr>
          <p:cNvSpPr/>
          <p:nvPr/>
        </p:nvSpPr>
        <p:spPr>
          <a:xfrm>
            <a:off x="0" y="1911142"/>
            <a:ext cx="1647825"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9B41A99D-1F30-5C30-6D80-A7513A64DC95}"/>
              </a:ext>
            </a:extLst>
          </p:cNvPr>
          <p:cNvSpPr txBox="1"/>
          <p:nvPr/>
        </p:nvSpPr>
        <p:spPr>
          <a:xfrm>
            <a:off x="1914525" y="1739804"/>
            <a:ext cx="10258425" cy="5122941"/>
          </a:xfrm>
          <a:prstGeom prst="rect">
            <a:avLst/>
          </a:prstGeom>
          <a:noFill/>
          <a:ln>
            <a:solidFill>
              <a:srgbClr val="FF0000"/>
            </a:solidFill>
          </a:ln>
        </p:spPr>
        <p:txBody>
          <a:bodyPr wrap="square">
            <a:spAutoFit/>
          </a:bodyPr>
          <a:lstStyle/>
          <a:p>
            <a:pPr>
              <a:lnSpc>
                <a:spcPct val="150000"/>
              </a:lnSpc>
            </a:pPr>
            <a:r>
              <a:rPr lang="en-US" sz="2000" dirty="0">
                <a:latin typeface="Calibir"/>
              </a:rPr>
              <a:t>In print mode, the aside element must receive a left border to visually separate sidebar content from the main content when printed. This improves readability and organization on printed pages.</a:t>
            </a:r>
          </a:p>
          <a:p>
            <a:pPr>
              <a:lnSpc>
                <a:spcPct val="150000"/>
              </a:lnSpc>
            </a:pPr>
            <a:r>
              <a:rPr lang="en-US" sz="2000" dirty="0">
                <a:latin typeface="Calibir"/>
              </a:rPr>
              <a:t>Example CSS:</a:t>
            </a:r>
          </a:p>
          <a:p>
            <a:pPr>
              <a:lnSpc>
                <a:spcPct val="150000"/>
              </a:lnSpc>
            </a:pPr>
            <a:r>
              <a:rPr lang="en-US" sz="2000" dirty="0">
                <a:highlight>
                  <a:srgbClr val="FFFF00"/>
                </a:highlight>
                <a:latin typeface="Calibir"/>
              </a:rPr>
              <a:t>aside {</a:t>
            </a:r>
            <a:br>
              <a:rPr lang="en-US" sz="2000" dirty="0">
                <a:highlight>
                  <a:srgbClr val="FFFF00"/>
                </a:highlight>
                <a:latin typeface="Calibir"/>
              </a:rPr>
            </a:br>
            <a:r>
              <a:rPr lang="en-US" sz="2000" dirty="0">
                <a:highlight>
                  <a:srgbClr val="FFFF00"/>
                </a:highlight>
                <a:latin typeface="Calibir"/>
              </a:rPr>
              <a:t>   border-left: 2px solid black;</a:t>
            </a:r>
            <a:br>
              <a:rPr lang="en-US" sz="2000" dirty="0">
                <a:highlight>
                  <a:srgbClr val="FFFF00"/>
                </a:highlight>
                <a:latin typeface="Calibir"/>
              </a:rPr>
            </a:br>
            <a:r>
              <a:rPr lang="en-US" sz="2000" dirty="0">
                <a:highlight>
                  <a:srgbClr val="FFFF00"/>
                </a:highlight>
                <a:latin typeface="Calibir"/>
              </a:rPr>
              <a:t>}</a:t>
            </a:r>
          </a:p>
          <a:p>
            <a:pPr marL="800100" lvl="1" indent="-342900">
              <a:lnSpc>
                <a:spcPct val="150000"/>
              </a:lnSpc>
              <a:buFont typeface="Arial" panose="020B0604020202020204" pitchFamily="34" charset="0"/>
              <a:buChar char="•"/>
            </a:pPr>
            <a:r>
              <a:rPr lang="en-US" sz="2000" dirty="0">
                <a:latin typeface="Calibir"/>
              </a:rPr>
              <a:t>footer is not styled with a left border in the print layout. </a:t>
            </a:r>
          </a:p>
          <a:p>
            <a:pPr marL="800100" lvl="1" indent="-342900">
              <a:lnSpc>
                <a:spcPct val="150000"/>
              </a:lnSpc>
              <a:buFont typeface="Arial" panose="020B0604020202020204" pitchFamily="34" charset="0"/>
              <a:buChar char="•"/>
            </a:pPr>
            <a:r>
              <a:rPr lang="en-US" sz="2000" dirty="0">
                <a:latin typeface="Calibir"/>
              </a:rPr>
              <a:t>section and article are part of the main content structure and do not receive this specific print styling. </a:t>
            </a:r>
          </a:p>
          <a:p>
            <a:pPr>
              <a:lnSpc>
                <a:spcPct val="150000"/>
              </a:lnSpc>
            </a:pPr>
            <a:r>
              <a:rPr lang="en-US" sz="2000" dirty="0">
                <a:latin typeface="Calibir"/>
              </a:rPr>
              <a:t>Therefore, aside is the correct answer.</a:t>
            </a:r>
          </a:p>
        </p:txBody>
      </p:sp>
    </p:spTree>
    <p:extLst>
      <p:ext uri="{BB962C8B-B14F-4D97-AF65-F5344CB8AC3E}">
        <p14:creationId xmlns:p14="http://schemas.microsoft.com/office/powerpoint/2010/main" val="412555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BFBC8-8555-57CB-9C51-9390A6194B6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D64C870-6650-9B3B-2D03-1A009BF4BCD3}"/>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Lab 3 Practice</a:t>
            </a:r>
          </a:p>
        </p:txBody>
      </p:sp>
      <p:sp>
        <p:nvSpPr>
          <p:cNvPr id="3" name="TextBox 2">
            <a:extLst>
              <a:ext uri="{FF2B5EF4-FFF2-40B4-BE49-F238E27FC236}">
                <a16:creationId xmlns:a16="http://schemas.microsoft.com/office/drawing/2014/main" id="{4B224842-7385-8814-A132-D2044C35ED2D}"/>
              </a:ext>
            </a:extLst>
          </p:cNvPr>
          <p:cNvSpPr txBox="1"/>
          <p:nvPr/>
        </p:nvSpPr>
        <p:spPr>
          <a:xfrm>
            <a:off x="0" y="492443"/>
            <a:ext cx="12172950" cy="3903504"/>
          </a:xfrm>
          <a:prstGeom prst="rect">
            <a:avLst/>
          </a:prstGeom>
          <a:noFill/>
        </p:spPr>
        <p:txBody>
          <a:bodyPr wrap="square">
            <a:spAutoFit/>
          </a:bodyPr>
          <a:lstStyle/>
          <a:p>
            <a:pPr>
              <a:lnSpc>
                <a:spcPct val="150000"/>
              </a:lnSpc>
            </a:pPr>
            <a:r>
              <a:rPr lang="en-US" sz="2800" b="1" dirty="0">
                <a:latin typeface="Calibir"/>
              </a:rPr>
              <a:t>Question 26</a:t>
            </a:r>
          </a:p>
          <a:p>
            <a:pPr>
              <a:lnSpc>
                <a:spcPct val="150000"/>
              </a:lnSpc>
            </a:pPr>
            <a:r>
              <a:rPr lang="en-US" sz="2800" b="1" dirty="0">
                <a:latin typeface="Calibir"/>
              </a:rPr>
              <a:t>What style must printed pages use for margins?</a:t>
            </a:r>
            <a:endParaRPr lang="en-US" sz="2800" dirty="0">
              <a:latin typeface="Calibir"/>
            </a:endParaRPr>
          </a:p>
          <a:p>
            <a:pPr>
              <a:lnSpc>
                <a:spcPct val="150000"/>
              </a:lnSpc>
            </a:pPr>
            <a:r>
              <a:rPr lang="en-US" sz="2800" dirty="0">
                <a:latin typeface="Calibir"/>
              </a:rPr>
              <a:t>A. 1in on all sides</a:t>
            </a:r>
            <a:br>
              <a:rPr lang="en-US" sz="2800" dirty="0">
                <a:latin typeface="Calibir"/>
              </a:rPr>
            </a:br>
            <a:r>
              <a:rPr lang="en-US" sz="2800" dirty="0">
                <a:latin typeface="Calibir"/>
              </a:rPr>
              <a:t>B. 2cm</a:t>
            </a:r>
            <a:br>
              <a:rPr lang="en-US" sz="2800" dirty="0">
                <a:latin typeface="Calibir"/>
              </a:rPr>
            </a:br>
            <a:r>
              <a:rPr lang="en-US" sz="2800" dirty="0">
                <a:latin typeface="Calibir"/>
              </a:rPr>
              <a:t>C. 0.5in</a:t>
            </a:r>
            <a:br>
              <a:rPr lang="en-US" sz="2800" dirty="0">
                <a:latin typeface="Calibir"/>
              </a:rPr>
            </a:br>
            <a:r>
              <a:rPr lang="en-US" sz="2800" dirty="0">
                <a:latin typeface="Calibir"/>
              </a:rPr>
              <a:t>D. Auto</a:t>
            </a:r>
          </a:p>
        </p:txBody>
      </p:sp>
      <p:sp>
        <p:nvSpPr>
          <p:cNvPr id="8" name="Rectangle: Rounded Corners 7">
            <a:extLst>
              <a:ext uri="{FF2B5EF4-FFF2-40B4-BE49-F238E27FC236}">
                <a16:creationId xmlns:a16="http://schemas.microsoft.com/office/drawing/2014/main" id="{75B232BE-10E1-F6A8-148F-CA9745AB1798}"/>
              </a:ext>
            </a:extLst>
          </p:cNvPr>
          <p:cNvSpPr/>
          <p:nvPr/>
        </p:nvSpPr>
        <p:spPr>
          <a:xfrm>
            <a:off x="0" y="1911142"/>
            <a:ext cx="2847975" cy="52387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1DE8B9B8-F39E-CC61-CA02-3E2CE1B3AF83}"/>
              </a:ext>
            </a:extLst>
          </p:cNvPr>
          <p:cNvSpPr txBox="1"/>
          <p:nvPr/>
        </p:nvSpPr>
        <p:spPr>
          <a:xfrm>
            <a:off x="3231357" y="1822647"/>
            <a:ext cx="8960643" cy="5035353"/>
          </a:xfrm>
          <a:prstGeom prst="rect">
            <a:avLst/>
          </a:prstGeom>
          <a:noFill/>
        </p:spPr>
        <p:txBody>
          <a:bodyPr wrap="square">
            <a:spAutoFit/>
          </a:bodyPr>
          <a:lstStyle/>
          <a:p>
            <a:pPr>
              <a:lnSpc>
                <a:spcPct val="150000"/>
              </a:lnSpc>
              <a:buNone/>
            </a:pPr>
            <a:r>
              <a:rPr lang="en-US" dirty="0">
                <a:latin typeface="Calibir"/>
              </a:rPr>
              <a:t>The print stylesheet specifies margins of 1 inch on all sides. This is a standard print formatting practice because it ensures content is readable and fits properly on printed paper without being cut off by printer edges.</a:t>
            </a:r>
          </a:p>
          <a:p>
            <a:pPr>
              <a:lnSpc>
                <a:spcPct val="150000"/>
              </a:lnSpc>
              <a:buNone/>
            </a:pPr>
            <a:r>
              <a:rPr lang="en-US" dirty="0">
                <a:latin typeface="Calibir"/>
              </a:rPr>
              <a:t>Example CSS:</a:t>
            </a:r>
          </a:p>
          <a:p>
            <a:pPr rtl="0">
              <a:lnSpc>
                <a:spcPct val="150000"/>
              </a:lnSpc>
              <a:buNone/>
            </a:pPr>
            <a:r>
              <a:rPr lang="en-US" dirty="0">
                <a:highlight>
                  <a:srgbClr val="FFFF00"/>
                </a:highlight>
                <a:latin typeface="Calibir"/>
              </a:rPr>
              <a:t>@page {</a:t>
            </a:r>
            <a:br>
              <a:rPr lang="en-US" dirty="0">
                <a:highlight>
                  <a:srgbClr val="FFFF00"/>
                </a:highlight>
                <a:latin typeface="Calibir"/>
              </a:rPr>
            </a:br>
            <a:r>
              <a:rPr lang="en-US" dirty="0">
                <a:highlight>
                  <a:srgbClr val="FFFF00"/>
                </a:highlight>
                <a:latin typeface="Calibir"/>
              </a:rPr>
              <a:t>   margin: 1in;</a:t>
            </a:r>
            <a:br>
              <a:rPr lang="en-US" dirty="0">
                <a:highlight>
                  <a:srgbClr val="FFFF00"/>
                </a:highlight>
                <a:latin typeface="Calibir"/>
              </a:rPr>
            </a:br>
            <a:r>
              <a:rPr lang="en-US" dirty="0">
                <a:highlight>
                  <a:srgbClr val="FFFF00"/>
                </a:highlight>
                <a:latin typeface="Calibir"/>
              </a:rPr>
              <a:t>}</a:t>
            </a:r>
          </a:p>
          <a:p>
            <a:pPr marL="742950" lvl="1" indent="-285750">
              <a:lnSpc>
                <a:spcPct val="150000"/>
              </a:lnSpc>
              <a:buFont typeface="Arial" panose="020B0604020202020204" pitchFamily="34" charset="0"/>
              <a:buChar char="•"/>
            </a:pPr>
            <a:r>
              <a:rPr lang="en-US" dirty="0">
                <a:latin typeface="Calibir"/>
              </a:rPr>
              <a:t>2cm is close but not the required setting. </a:t>
            </a:r>
          </a:p>
          <a:p>
            <a:pPr marL="742950" lvl="1" indent="-285750">
              <a:lnSpc>
                <a:spcPct val="150000"/>
              </a:lnSpc>
              <a:buFont typeface="Arial" panose="020B0604020202020204" pitchFamily="34" charset="0"/>
              <a:buChar char="•"/>
            </a:pPr>
            <a:r>
              <a:rPr lang="en-US" dirty="0">
                <a:latin typeface="Calibir"/>
              </a:rPr>
              <a:t>0.5in would create narrower margins than instructed. </a:t>
            </a:r>
          </a:p>
          <a:p>
            <a:pPr marL="742950" lvl="1" indent="-285750">
              <a:lnSpc>
                <a:spcPct val="150000"/>
              </a:lnSpc>
              <a:buFont typeface="Arial" panose="020B0604020202020204" pitchFamily="34" charset="0"/>
              <a:buChar char="•"/>
            </a:pPr>
            <a:r>
              <a:rPr lang="en-US" dirty="0">
                <a:latin typeface="Calibir"/>
              </a:rPr>
              <a:t>Auto leaves margin control to the browser or printer and does not meet the project requirement. </a:t>
            </a:r>
          </a:p>
          <a:p>
            <a:pPr>
              <a:lnSpc>
                <a:spcPct val="150000"/>
              </a:lnSpc>
              <a:buNone/>
            </a:pPr>
            <a:r>
              <a:rPr lang="en-US" dirty="0">
                <a:latin typeface="Calibir"/>
              </a:rPr>
              <a:t>Thus, 1in on all sides is the best and correct answer.</a:t>
            </a:r>
          </a:p>
        </p:txBody>
      </p:sp>
    </p:spTree>
    <p:extLst>
      <p:ext uri="{BB962C8B-B14F-4D97-AF65-F5344CB8AC3E}">
        <p14:creationId xmlns:p14="http://schemas.microsoft.com/office/powerpoint/2010/main" val="368306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FB26E-E4E6-9277-F546-F5A9A65F4D5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2B1819-398A-6A16-1BAD-7C6C9AEEF432}"/>
              </a:ext>
            </a:extLst>
          </p:cNvPr>
          <p:cNvSpPr>
            <a:spLocks noGrp="1"/>
          </p:cNvSpPr>
          <p:nvPr>
            <p:ph type="title"/>
          </p:nvPr>
        </p:nvSpPr>
        <p:spPr>
          <a:xfrm>
            <a:off x="2895600" y="171826"/>
            <a:ext cx="9144000" cy="577517"/>
          </a:xfrm>
        </p:spPr>
        <p:txBody>
          <a:bodyPr>
            <a:noAutofit/>
          </a:bodyPr>
          <a:lstStyle/>
          <a:p>
            <a:r>
              <a:rPr lang="en-US" sz="3500" dirty="0">
                <a:solidFill>
                  <a:schemeClr val="bg1"/>
                </a:solidFill>
                <a:latin typeface="Calibri" panose="020F0502020204030204" pitchFamily="34" charset="0"/>
                <a:cs typeface="Calibri" panose="020F0502020204030204" pitchFamily="34" charset="0"/>
              </a:rPr>
              <a:t>Let’s Answer Your Questions</a:t>
            </a:r>
            <a:endParaRPr lang="en-AU" sz="3500" dirty="0">
              <a:solidFill>
                <a:schemeClr val="bg1"/>
              </a:solidFill>
              <a:latin typeface="Calibri" panose="020F0502020204030204" pitchFamily="34" charset="0"/>
              <a:cs typeface="Calibri" panose="020F0502020204030204" pitchFamily="34" charset="0"/>
            </a:endParaRPr>
          </a:p>
        </p:txBody>
      </p:sp>
      <p:pic>
        <p:nvPicPr>
          <p:cNvPr id="1028" name="Picture 4" descr="Answering Questions In Complete Sentences">
            <a:extLst>
              <a:ext uri="{FF2B5EF4-FFF2-40B4-BE49-F238E27FC236}">
                <a16:creationId xmlns:a16="http://schemas.microsoft.com/office/drawing/2014/main" id="{F3F39DD1-1664-A2BF-97E5-6BA3145EE9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5" y="1340457"/>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84D911-33A5-B864-56FB-887C30BDEF0D}"/>
              </a:ext>
            </a:extLst>
          </p:cNvPr>
          <p:cNvSpPr txBox="1"/>
          <p:nvPr/>
        </p:nvSpPr>
        <p:spPr>
          <a:xfrm>
            <a:off x="169011" y="3293269"/>
            <a:ext cx="11853978" cy="2610843"/>
          </a:xfrm>
          <a:prstGeom prst="rect">
            <a:avLst/>
          </a:prstGeom>
          <a:noFill/>
        </p:spPr>
        <p:txBody>
          <a:bodyPr wrap="square" rtlCol="0">
            <a:spAutoFit/>
          </a:bodyPr>
          <a:lstStyle/>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Live during class</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Ask directly during sessions.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Blackboard Inbox</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structured academic queries.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Email</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formal communications or attachments.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Discussion Forum </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Everyone can see and learn from your question.</a:t>
            </a:r>
          </a:p>
        </p:txBody>
      </p:sp>
    </p:spTree>
    <p:extLst>
      <p:ext uri="{BB962C8B-B14F-4D97-AF65-F5344CB8AC3E}">
        <p14:creationId xmlns:p14="http://schemas.microsoft.com/office/powerpoint/2010/main" val="247536399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742279" y="1275679"/>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5271135" y="1275679"/>
            <a:ext cx="6920865" cy="4543576"/>
          </a:xfrm>
          <a:prstGeom prst="rect">
            <a:avLst/>
          </a:prstGeom>
        </p:spPr>
        <p:txBody>
          <a:bodyPr vert="horz" lIns="68580" tIns="34290" rIns="68580" bIns="34290" rtlCol="0" anchor="t">
            <a:noAutofit/>
          </a:bodyPr>
          <a:lstStyle/>
          <a:p>
            <a:pPr marL="0" marR="0" lvl="0" indent="0" algn="l" defTabSz="685800" rtl="0" eaLnBrk="1" fontAlgn="auto" latinLnBrk="0" hangingPunct="1">
              <a:lnSpc>
                <a:spcPct val="150000"/>
              </a:lnSpc>
              <a:spcBef>
                <a:spcPts val="0"/>
              </a:spcBef>
              <a:spcAft>
                <a:spcPts val="450"/>
              </a:spcAft>
              <a:buClrTx/>
              <a:buSzTx/>
              <a:buFontTx/>
              <a:buNone/>
              <a:tabLst/>
              <a:defRPr/>
            </a:pPr>
            <a:r>
              <a:rPr kumimoji="0" lang="en-US" sz="2800" b="0" i="0" u="none" strike="noStrike" kern="0" cap="none" spc="-20" normalizeH="0" baseline="0" noProof="0" dirty="0">
                <a:ln>
                  <a:noFill/>
                </a:ln>
                <a:solidFill>
                  <a:sysClr val="windowText" lastClr="000000"/>
                </a:solidFill>
                <a:effectLst/>
                <a:uLnTx/>
                <a:uFillTx/>
                <a:latin typeface="Calibri" panose="020F0502020204030204" pitchFamily="34" charset="0"/>
                <a:ea typeface="+mn-ea"/>
                <a:cs typeface="Calibri" panose="020F0502020204030204" pitchFamily="34" charset="0"/>
              </a:rPr>
              <a:t>Happy Learning and Bright Futures Ahead!</a:t>
            </a:r>
          </a:p>
          <a:p>
            <a:pPr marL="0" marR="0" lvl="0" indent="0" algn="l" defTabSz="685800" rtl="0" eaLnBrk="1" fontAlgn="auto" latinLnBrk="0" hangingPunct="1">
              <a:lnSpc>
                <a:spcPct val="150000"/>
              </a:lnSpc>
              <a:spcBef>
                <a:spcPts val="0"/>
              </a:spcBef>
              <a:spcAft>
                <a:spcPts val="45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t> </a:t>
            </a:r>
          </a:p>
          <a:p>
            <a:pPr marL="0" marR="0" lvl="0" indent="-171450" algn="l" defTabSz="685800" rtl="0" eaLnBrk="1" fontAlgn="auto" latinLnBrk="0" hangingPunct="1">
              <a:lnSpc>
                <a:spcPct val="150000"/>
              </a:lnSpc>
              <a:spcBef>
                <a:spcPts val="0"/>
              </a:spcBef>
              <a:spcAft>
                <a:spcPts val="45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pitchFamily="34" charset="0"/>
                <a:ea typeface="+mn-ea"/>
                <a:cs typeface="Calibri" panose="020F0502020204030204" pitchFamily="34" charset="0"/>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2895600" y="-152400"/>
            <a:ext cx="6920865" cy="800732"/>
          </a:xfrm>
          <a:prstGeom prst="rect">
            <a:avLst/>
          </a:prstGeom>
        </p:spPr>
        <p:txBody>
          <a:bodyPr vert="horz" wrap="square" lIns="0" tIns="259588" rIns="0" bIns="0" rtlCol="0">
            <a:spAutoFit/>
          </a:bodyPr>
          <a:lstStyle/>
          <a:p>
            <a:pPr marL="123825">
              <a:spcBef>
                <a:spcPts val="100"/>
              </a:spcBef>
            </a:pPr>
            <a:r>
              <a:rPr lang="en-US" sz="3500" spc="-20" dirty="0">
                <a:solidFill>
                  <a:schemeClr val="bg1"/>
                </a:solidFill>
                <a:latin typeface="Calibri" panose="020F0502020204030204" pitchFamily="34" charset="0"/>
                <a:cs typeface="Calibri" panose="020F0502020204030204" pitchFamily="34" charset="0"/>
              </a:rPr>
              <a:t>Thank You</a:t>
            </a:r>
            <a:endParaRPr sz="3500" spc="-2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2151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3146</TotalTime>
  <Words>22433</Words>
  <Application>Microsoft Office PowerPoint</Application>
  <PresentationFormat>Widescreen</PresentationFormat>
  <Paragraphs>2297</Paragraphs>
  <Slides>205</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205</vt:i4>
      </vt:variant>
    </vt:vector>
  </HeadingPairs>
  <TitlesOfParts>
    <vt:vector size="215" baseType="lpstr">
      <vt:lpstr>Aptos</vt:lpstr>
      <vt:lpstr>Aptos Display</vt:lpstr>
      <vt:lpstr>Arial</vt:lpstr>
      <vt:lpstr>Calibir</vt:lpstr>
      <vt:lpstr>Calibri</vt:lpstr>
      <vt:lpstr>Consolas</vt:lpstr>
      <vt:lpstr>Tahoma</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Farshid Keivanian</dc:creator>
  <cp:lastModifiedBy>Sydney Classroom</cp:lastModifiedBy>
  <cp:revision>650</cp:revision>
  <dcterms:created xsi:type="dcterms:W3CDTF">2024-04-02T03:16:29Z</dcterms:created>
  <dcterms:modified xsi:type="dcterms:W3CDTF">2026-05-28T07:00:49Z</dcterms:modified>
</cp:coreProperties>
</file>